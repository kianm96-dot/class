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2"/>
  </p:notesMasterIdLst>
  <p:handoutMasterIdLst>
    <p:handoutMasterId r:id="rId23"/>
  </p:handoutMasterIdLst>
  <p:sldIdLst>
    <p:sldId id="302" r:id="rId2"/>
    <p:sldId id="301" r:id="rId3"/>
    <p:sldId id="258" r:id="rId4"/>
    <p:sldId id="305" r:id="rId5"/>
    <p:sldId id="260" r:id="rId6"/>
    <p:sldId id="395" r:id="rId29"/>
    <p:sldId id="306" r:id="rId7"/>
    <p:sldId id="270" r:id="rId8"/>
    <p:sldId id="387" r:id="rId9"/>
    <p:sldId id="388" r:id="rId10"/>
    <p:sldId id="396" r:id="rId30"/>
    <p:sldId id="307" r:id="rId11"/>
    <p:sldId id="308" r:id="rId12"/>
    <p:sldId id="389" r:id="rId13"/>
    <p:sldId id="397" r:id="rId31"/>
    <p:sldId id="398" r:id="rId32"/>
    <p:sldId id="399" r:id="rId33"/>
    <p:sldId id="390" r:id="rId14"/>
    <p:sldId id="391" r:id="rId15"/>
    <p:sldId id="393" r:id="rId16"/>
    <p:sldId id="394" r:id="rId17"/>
    <p:sldId id="282" r:id="rId18"/>
    <p:sldId id="324" r:id="rId19"/>
    <p:sldId id="328" r:id="rId20"/>
    <p:sldId id="400" r:id="rId34"/>
    <p:sldId id="401" r:id="rId35"/>
    <p:sldId id="348" r:id="rId21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FFFF00"/>
    <a:srgbClr val="D9E1E9"/>
    <a:srgbClr val="E8F6FD"/>
    <a:srgbClr val="F0FFF6"/>
    <a:srgbClr val="019BFF"/>
    <a:srgbClr val="FFF7EE"/>
    <a:srgbClr val="FFC000"/>
    <a:srgbClr val="FFF2CC"/>
    <a:srgbClr val="BD4D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242" autoAdjust="0"/>
  </p:normalViewPr>
  <p:slideViewPr>
    <p:cSldViewPr snapToGrid="0">
      <p:cViewPr varScale="1">
        <p:scale>
          <a:sx n="111" d="100"/>
          <a:sy n="111" d="100"/>
        </p:scale>
        <p:origin x="534" y="102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본문 핵심</a:t>
            </a:r>
          </a:p>
          <a:p>
            <a:r>
              <a:t>욕구와 당위가 일치할 때도 있지만, 어긋날 때 우리는 갈등하며 무엇이 도덕적인지 판단해야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19쪽 만화</a:t>
            </a:r>
          </a:p>
          <a:p>
            <a:r>
              <a:t>이주 노동자 알리 씨는 숙소 건물에 불이 나자 뛰어들어 주민 10여 명을 대피시키고 화상을 입었다. “사람은 살려야 하잖아요.”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사례 · 의인 이수현</a:t>
            </a:r>
          </a:p>
          <a:p>
            <a:r>
              <a:t>고려대에 다니다 일본에 어학연수를 간 이수현(1974~2001)은 선로에 떨어진 일본인 남성을 구하려고 뛰어내렸고, 사진가 세키네 시로와 함께 열차에 치여 숨졌다.</a:t>
            </a:r>
          </a:p>
          <a:p>
            <a:r>
              <a:t>일본 사회는 크게 감동했다. JR동일본은 역 계단 벽에 추모 동판을 걸었고, 해마다 1월 26일 추도식이 열린다(2026년 25주기). 유족이 위로금을 모아 만든 장학회는 아시아 여러 나라 유학생 1,200여 명을 도왔다.</a:t>
            </a:r>
          </a:p>
          <a:p>
            <a:r>
              <a:t>발문 “그는 그 남자를 알았을까? 무엇이 몸을 움직이게 했을까?” → 몰랐다. 국적도 몰랐다. 후속 “우리는 그의 행동에서 무엇을 배울 수 있을까?”</a:t>
            </a:r>
          </a:p>
          <a:p>
            <a:r>
              <a:t>주의 목숨을 거는 것만 도덕이라고 말하지 않는다. 학생에게 위험한 구조를 권하지 않으며, 119 신고·어른 부르기도 훌륭한 도움임을 꼭 덧붙인다(10장).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사고 실험 · 기게스의 반지 (활동 화면 2)</a:t>
            </a:r>
          </a:p>
          <a:p>
            <a:r>
              <a:t>플라톤의 『국가』에서 글라우콘이 들려주는 이야기. 목동 기게스는 몸을 보이지 않게 하는 반지를 얻자 궁에 들어가 왕을 죽이고 왕이 되었다.</a:t>
            </a:r>
          </a:p>
          <a:p>
            <a:r>
              <a:t>글라우콘의 주장: 사람들은 정의가 좋아서가 아니라 들켜서 벌받는 것이 두려워서 정의롭게 행동할 뿐이다. 반지가 있으면 누구나 기게스처럼 될 것이다.</a:t>
            </a:r>
          </a:p>
          <a:p>
            <a:r>
              <a:t>손을 들게 하지 말고 활동 화면에서 익명으로 고르게 한다. 결과를 보고 “B를 고른 사람이 하고 싶은 일은 무엇일까?”를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6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0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31.em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3.png"/><Relationship Id="rId3" Type="http://schemas.openxmlformats.org/officeDocument/2006/relationships/image" Target="../media/image34.emf"/><Relationship Id="rId4" Type="http://schemas.openxmlformats.org/officeDocument/2006/relationships/image" Target="../media/image35.emf"/><Relationship Id="rId5" Type="http://schemas.openxmlformats.org/officeDocument/2006/relationships/image" Target="../media/image36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42.png"/><Relationship Id="rId6" Type="http://schemas.openxmlformats.org/officeDocument/2006/relationships/slide" Target="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43.emf"/><Relationship Id="rId6" Type="http://schemas.openxmlformats.org/officeDocument/2006/relationships/image" Target="../media/image4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45.png"/><Relationship Id="rId6" Type="http://schemas.openxmlformats.org/officeDocument/2006/relationships/slide" Target="slide17.xml"/><Relationship Id="rId7" Type="http://schemas.openxmlformats.org/officeDocument/2006/relationships/image" Target="../media/image44.png"/><Relationship Id="rId8" Type="http://schemas.openxmlformats.org/officeDocument/2006/relationships/image" Target="../media/image43.em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4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02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2800" b="1" dirty="0">
                <a:solidFill>
                  <a:schemeClr val="bg1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69336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나는 어떻게 살아야 할까</a:t>
            </a:r>
            <a:r>
              <a:rPr lang="en-US" altLang="ko-KR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도덕의 의미와 필요성을 설명할 수 있다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6561203-5AD4-D0C1-BA20-A7201ACE3939}"/>
              </a:ext>
            </a:extLst>
          </p:cNvPr>
          <p:cNvSpPr/>
          <p:nvPr/>
        </p:nvSpPr>
        <p:spPr>
          <a:xfrm>
            <a:off x="787400" y="2933700"/>
            <a:ext cx="10293350" cy="841132"/>
          </a:xfrm>
          <a:prstGeom prst="roundRect">
            <a:avLst/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204394" y="2975356"/>
            <a:ext cx="9629759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도덕적인 삶을 살고자 하는 태도를 지닌다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나는 어떻게 살아야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18" name="타원 17">
            <a:extLst>
              <a:ext uri="{FF2B5EF4-FFF2-40B4-BE49-F238E27FC236}">
                <a16:creationId xmlns:a16="http://schemas.microsoft.com/office/drawing/2014/main" id="{5C28D4DD-371F-4568-9198-B5D58BBCD7F3}"/>
              </a:ext>
            </a:extLst>
          </p:cNvPr>
          <p:cNvSpPr/>
          <p:nvPr/>
        </p:nvSpPr>
        <p:spPr>
          <a:xfrm>
            <a:off x="1010693" y="3300817"/>
            <a:ext cx="106897" cy="106897"/>
          </a:xfrm>
          <a:prstGeom prst="ellipse">
            <a:avLst/>
          </a:prstGeom>
          <a:solidFill>
            <a:srgbClr val="8D7F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나는 어떻게 살아야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94933" y="1762699"/>
            <a:ext cx="5914338" cy="4853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67415"/>
            <a:ext cx="10293350" cy="2492152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5588" y="2966915"/>
            <a:ext cx="978414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내가 승화라면 할머니께 자리를 양보해 드릴 것이다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왜냐하면 예전에 나도 승화처럼 버스에서 서 계시는 할머니 앞에 앉은 적이 있는데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자리에 앉아서 가고 싶은 마음이 커서 모른 척하고 자리를 양보하지 않았더니 버스에서 내릴 때까지 마음이 불편하고 무거웠던 기억이 있기 때문이다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그 후로 나는 버스에서는 항상 노약자에게 자리를 양보했고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그때마다 몸은 조금 힘들었지만 마음은 가볍고 뿌듯하였다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다음 그림을 보고 내가 승화라면 어떻게 행동할지 그 까닭과 함께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나는 어떻게 살아야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  <p:bldP spid="24" grpId="2"/>
      <p:bldP spid="24" grpId="3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욕구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‘버스에서 편하게 앉아서 가고 싶다</a:t>
            </a:r>
            <a:r>
              <a:rPr lang="en-US" altLang="ko-KR" sz="2400" dirty="0">
                <a:latin typeface="+mn-ea"/>
              </a:rPr>
              <a:t>.’</a:t>
            </a:r>
            <a:r>
              <a:rPr lang="ko-KR" altLang="en-US" sz="2400" dirty="0">
                <a:latin typeface="+mn-ea"/>
              </a:rPr>
              <a:t>와 같이 내가 하고 싶은 것</a:t>
            </a:r>
          </a:p>
          <a:p>
            <a:pPr algn="just">
              <a:lnSpc>
                <a:spcPct val="150000"/>
              </a:lnSpc>
            </a:pPr>
            <a:endParaRPr lang="en-US" altLang="ko-KR" sz="24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당위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‘</a:t>
            </a:r>
            <a:r>
              <a:rPr lang="ko-KR" altLang="en-US" sz="2400" dirty="0">
                <a:latin typeface="+mn-ea"/>
              </a:rPr>
              <a:t>버스에서는 노약자에게 자리를 양보해야 한다</a:t>
            </a:r>
            <a:r>
              <a:rPr lang="en-US" altLang="ko-KR" sz="2400" dirty="0">
                <a:latin typeface="+mn-ea"/>
              </a:rPr>
              <a:t>.’</a:t>
            </a:r>
            <a:r>
              <a:rPr lang="ko-KR" altLang="en-US" sz="2400" dirty="0">
                <a:latin typeface="+mn-ea"/>
              </a:rPr>
              <a:t>와 같이 우리가 마땅히 해야 하는 </a:t>
            </a:r>
            <a:r>
              <a:rPr lang="ko-KR" altLang="en-US" sz="2400" dirty="0" smtClean="0">
                <a:latin typeface="+mn-ea"/>
              </a:rPr>
              <a:t>것</a:t>
            </a:r>
            <a:endParaRPr lang="ko-KR" altLang="en-US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하고 싶은 것과 해야 하는 것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나는 어떻게 살아야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42867" y="1721567"/>
            <a:ext cx="6827613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현서네 반은 학급 대항 피구 대회에서 결승에 올랐다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손에 땀을 쥐게 하는 결승전 경기 도중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공을 피하던 현서는 경기장 금을 밟았다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하지만 모두가 빠르게 움직이는 공을 보느라 현서가 금을 밟는 것을 아무도 보지 못하였다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금을 밟으면 아웃이 되는 것이 피구의 규칙이지만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금을 밟았다는 사실을 현서만 말하지 않으면 현서네 반은 피구 대회에서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등을 할 수 있을 것이다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현서는 피구 대회에서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등을 하고 싶은 마음에 금을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밟았다는 사실을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말해야 할지 고민에 빠졌다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나는 어떻게 살아야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9576" y="2625969"/>
            <a:ext cx="4311111" cy="307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/>
              <a:t>1. </a:t>
            </a:r>
            <a:r>
              <a:rPr lang="ko-KR" altLang="en-US" sz="2000" b="1" dirty="0"/>
              <a:t>현서가 ‘하고 싶은 것’과 ‘해야 하는 것’은 무엇인지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나는 어떻게 살아야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6675" y="2658588"/>
            <a:ext cx="9633180" cy="358979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737360" y="3818448"/>
            <a:ext cx="3739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피구 대회에서 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1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등을 하고 싶다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61079" y="3959832"/>
            <a:ext cx="4064739" cy="168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피구 규칙을 어기고 경기장의 금을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밟았다는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것을 사실대로 말해야 한다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28" grpId="0"/>
      <p:bldP spid="28" grpId="1"/>
      <p:bldP spid="29" grpId="0"/>
      <p:bldP spid="29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/>
              <a:t>2. </a:t>
            </a:r>
            <a:r>
              <a:rPr lang="ko-KR" altLang="en-US" sz="2000" b="1" dirty="0"/>
              <a:t>현서처럼 욕구와 당위 사이에서 갈등한 경험을 떠올려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3012773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2791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지난 주말에 우리 집에서 키우는 강아지와 산책하던 중에 강아지가 길에서 배변하였는데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짧게 산책할 생각으로 나간 것이어서 배변 봉투나 휴지 등을 미처 챙기지 못하였다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마침 길에는 아무도 없고 귀찮기도 해서 대변을 치우지 않고 그냥 갈지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아니면 집에 가서 배변 봉투를 챙긴 뒤 다시 와서 대변을 치워야 할지 갈등한 적이 있다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나는 어떻게 살아야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0952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  <p:bldP spid="41" grpId="2"/>
      <p:bldP spid="41" grpId="3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도덕의 의미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사람이 마땅히 따라야 할 도리이자 선과 악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옳고 그름을 판단하는 기준</a:t>
            </a:r>
          </a:p>
          <a:p>
            <a:pPr algn="just">
              <a:lnSpc>
                <a:spcPct val="150000"/>
              </a:lnSpc>
            </a:pPr>
            <a:endParaRPr lang="en-US" altLang="ko-KR" sz="24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도덕의 필요성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lvl="1" indent="-457200"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① 도덕을 통해 사람들 사이에서 일어나는 혼란이나 갈등을 예방하고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타인과 더불어 질서 있고 조화로운 삶을 살 수 있음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2400" dirty="0">
                <a:latin typeface="+mn-ea"/>
              </a:rPr>
              <a:t>② </a:t>
            </a:r>
            <a:r>
              <a:rPr lang="ko-KR" altLang="en-US" sz="2400" dirty="0">
                <a:latin typeface="+mn-ea"/>
              </a:rPr>
              <a:t>도덕을 통해 자신의 잘못을 성찰하여 훌륭한 삶을 살 수 있음</a:t>
            </a:r>
            <a:r>
              <a:rPr lang="en-US" altLang="ko-KR" sz="2400" dirty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도덕의 의미와 필요성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나는 어떻게 살아야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97726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err="1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나는 어떻게 살아야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96677" y="1596520"/>
            <a:ext cx="7745228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진수네 학교는 매주 학급별 급식 순서가 바뀐다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진수네 반은 이번 주에 가장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마지막으로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급식을 먹을 차례이다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하지만 진수는 오늘 다른 반 친한 친구와 같이 밥을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먹고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싶어서 급식 순서를 무시하고 다른 반 친구들 사이에 슬쩍 끼어들어 줄을 섰다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누군가가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“어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?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진수가 왜 다른 반 급식 순서에 줄을 서 있는 거야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?”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라고 불만을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표시하자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이를 본 다른 친구들도 밥을 빨리 먹으려고 급식 순서를 무시한 채 새치기를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하기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시작하였다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급식을 빨리 먹으려는 친구들 사이에 큰소리가 오가고 다툼이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생기면서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복도와 계단은 순식간에 아수라장이 되었다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867" y="2654745"/>
            <a:ext cx="3378135" cy="332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74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진수네 학교 복도와 계단에서 혼란이 발생한 까닭을 써 보자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442250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진수는 다른 반 친한 친구와 같이 밥을 먹고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싶다는 욕구만을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추구해 규칙을 어기고 새치기를 하였다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이에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불만을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품은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다른 몇몇 친구들도 규칙을 지켜야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한다는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당위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즉 도덕 원칙을 무시하고 밥을 빨리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먹고 싶다는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욕구만을 추구하여 복도와 계단에서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혼란이 발생하였다</a:t>
            </a:r>
            <a:r>
              <a:rPr lang="en-US" altLang="ko-KR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나는 어떻게 살아야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3902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45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나에게</a:t>
            </a:r>
            <a:r>
              <a:rPr lang="en-US" altLang="ko-KR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모두에게 이롭기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때문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우리 모두가 도덕적으로 살아갈 때 서로의 이익과 안전을 보장받을 수 있음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dirty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도덕적 의무이기 때문</a:t>
            </a:r>
            <a:endParaRPr lang="en-US" altLang="ko-KR" sz="24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도덕적으로 사는 것은 사람이라면 누구나 지켜야 할 도덕적 의무임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000" dirty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진정한 행복을 추구할 수 있기 때문</a:t>
            </a:r>
            <a:endParaRPr lang="en-US" altLang="ko-KR" sz="24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스스로 도덕적인 행동을 했을 때 누가 알아주지 않아도 뿌듯함을 느낌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내가 도덕적으로 살아야 하는 이유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나는 어떻게 살아야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73383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233" y="4574181"/>
            <a:ext cx="3313424" cy="212365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이주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노동자인 알리 씨는 자신의 숙소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층에 서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불이 난 것을 발견하고 곧바로 건물로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뛰어들었다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latin typeface="+mj-ea"/>
                <a:ea typeface="+mj-ea"/>
              </a:rPr>
              <a:t>다음 만화를 살펴보자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나는 어떻게 살아야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190" y="78272"/>
            <a:ext cx="1353429" cy="28653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7164" y="1603963"/>
            <a:ext cx="3428979" cy="296949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1554" y="1603963"/>
            <a:ext cx="3372723" cy="298249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009548" y="4570273"/>
            <a:ext cx="3293927" cy="204466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알리 씨의 도움으로 건물 안에 있던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주민 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10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여 명이 대피했지만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그는 구조 중에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심한 화상을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입었다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6970" y="1685426"/>
            <a:ext cx="3307170" cy="29010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7643872" y="4570273"/>
            <a:ext cx="3310268" cy="212365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희생을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감수하면서도 이웃을 구한 이유를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묻자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그는 “사람은 살려야 하잖아요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라고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담담히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답하였다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31316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" y="1613182"/>
            <a:ext cx="10239105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다음 </a:t>
            </a:r>
            <a:r>
              <a:rPr lang="en-US" altLang="ko-KR" sz="2000" b="1" dirty="0"/>
              <a:t>&lt;</a:t>
            </a:r>
            <a:r>
              <a:rPr lang="ko-KR" altLang="en-US" sz="2000" b="1" dirty="0"/>
              <a:t>활동 방법</a:t>
            </a:r>
            <a:r>
              <a:rPr lang="en-US" altLang="ko-KR" sz="2000" b="1" dirty="0"/>
              <a:t>&gt;</a:t>
            </a:r>
            <a:r>
              <a:rPr lang="ko-KR" altLang="en-US" sz="2000" b="1" dirty="0"/>
              <a:t>을 참고하여 도덕적인 삶에 대한 선언문을 작성하고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우리 반 도덕 나무를 완성해 보자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  <p:sp>
        <p:nvSpPr>
          <p:cNvPr id="28" name="순서도: 수행의 시작/종료 27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순서도: 수행의 시작/종료 32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35" name="그림 3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1029" y="2196609"/>
            <a:ext cx="487174" cy="487174"/>
          </a:xfrm>
          <a:prstGeom prst="rect">
            <a:avLst/>
          </a:prstGeom>
        </p:spPr>
      </p:pic>
      <p:grpSp>
        <p:nvGrpSpPr>
          <p:cNvPr id="36" name="그룹 3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23553" y="2196609"/>
            <a:ext cx="1087577" cy="495431"/>
            <a:chOff x="10075659" y="2003022"/>
            <a:chExt cx="1156006" cy="495431"/>
          </a:xfrm>
        </p:grpSpPr>
        <p:pic>
          <p:nvPicPr>
            <p:cNvPr id="37" name="그림 3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111266" y="2196609"/>
            <a:ext cx="1282388" cy="495431"/>
            <a:chOff x="10075659" y="2003022"/>
            <a:chExt cx="1178665" cy="495431"/>
          </a:xfrm>
        </p:grpSpPr>
        <p:pic>
          <p:nvPicPr>
            <p:cNvPr id="40" name="그림 39" descr="그린, 다채로움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1" name="TextBox 4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2061" y="2507796"/>
            <a:ext cx="4348014" cy="417907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520349" y="2941408"/>
            <a:ext cx="32046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dirty="0">
                <a:solidFill>
                  <a:srgbClr val="0070C0"/>
                </a:solidFill>
                <a:latin typeface="+mn-ea"/>
              </a:rPr>
              <a:t>도덕적인 삶 </a:t>
            </a:r>
            <a:r>
              <a:rPr lang="ko-KR" altLang="en-US" sz="1400" dirty="0" smtClean="0">
                <a:solidFill>
                  <a:srgbClr val="0070C0"/>
                </a:solidFill>
                <a:latin typeface="+mn-ea"/>
              </a:rPr>
              <a:t>선언문</a:t>
            </a:r>
            <a:endParaRPr lang="ko-KR" altLang="en-US" sz="1400" dirty="0">
              <a:solidFill>
                <a:srgbClr val="0070C0"/>
              </a:solidFill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ko-KR" altLang="en-US" sz="1400" dirty="0">
                <a:solidFill>
                  <a:srgbClr val="0070C0"/>
                </a:solidFill>
                <a:latin typeface="+mn-ea"/>
              </a:rPr>
              <a:t>○학년 ○○반 ○○번 이름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: ▲▲▲</a:t>
            </a:r>
          </a:p>
          <a:p>
            <a:pPr algn="just">
              <a:lnSpc>
                <a:spcPct val="150000"/>
              </a:lnSpc>
            </a:pPr>
            <a:r>
              <a:rPr lang="ko-KR" altLang="en-US" sz="1400" dirty="0">
                <a:solidFill>
                  <a:srgbClr val="0070C0"/>
                </a:solidFill>
                <a:latin typeface="+mn-ea"/>
              </a:rPr>
              <a:t>내가 </a:t>
            </a:r>
            <a:r>
              <a:rPr lang="ko-KR" altLang="en-US" sz="1400" dirty="0" smtClean="0">
                <a:solidFill>
                  <a:srgbClr val="0070C0"/>
                </a:solidFill>
                <a:latin typeface="+mn-ea"/>
              </a:rPr>
              <a:t>도덕적으로 살아야 </a:t>
            </a:r>
            <a:r>
              <a:rPr lang="ko-KR" altLang="en-US" sz="1400" dirty="0">
                <a:solidFill>
                  <a:srgbClr val="0070C0"/>
                </a:solidFill>
                <a:latin typeface="+mn-ea"/>
              </a:rPr>
              <a:t>하는 </a:t>
            </a:r>
            <a:r>
              <a:rPr lang="ko-KR" altLang="en-US" sz="1400" dirty="0" smtClean="0">
                <a:solidFill>
                  <a:srgbClr val="0070C0"/>
                </a:solidFill>
                <a:latin typeface="+mn-ea"/>
              </a:rPr>
              <a:t>이유는 진정한 </a:t>
            </a:r>
            <a:r>
              <a:rPr lang="ko-KR" altLang="en-US" sz="1400" dirty="0">
                <a:solidFill>
                  <a:srgbClr val="0070C0"/>
                </a:solidFill>
                <a:latin typeface="+mn-ea"/>
              </a:rPr>
              <a:t>행복을 추구하기 위해서입니다</a:t>
            </a:r>
            <a:r>
              <a:rPr lang="en-US" altLang="ko-KR" sz="1400" dirty="0" smtClean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1400" dirty="0" smtClean="0">
                <a:solidFill>
                  <a:srgbClr val="0070C0"/>
                </a:solidFill>
                <a:latin typeface="+mn-ea"/>
              </a:rPr>
              <a:t>도덕적으로 </a:t>
            </a:r>
            <a:r>
              <a:rPr lang="ko-KR" altLang="en-US" sz="1400" dirty="0">
                <a:solidFill>
                  <a:srgbClr val="0070C0"/>
                </a:solidFill>
                <a:latin typeface="+mn-ea"/>
              </a:rPr>
              <a:t>살지 </a:t>
            </a:r>
            <a:r>
              <a:rPr lang="ko-KR" altLang="en-US" sz="1400" dirty="0" smtClean="0">
                <a:solidFill>
                  <a:srgbClr val="0070C0"/>
                </a:solidFill>
                <a:latin typeface="+mn-ea"/>
              </a:rPr>
              <a:t>않다면 </a:t>
            </a:r>
            <a:r>
              <a:rPr lang="ko-KR" altLang="en-US" sz="1400" dirty="0">
                <a:solidFill>
                  <a:srgbClr val="0070C0"/>
                </a:solidFill>
                <a:latin typeface="+mn-ea"/>
              </a:rPr>
              <a:t>나의 삶은 </a:t>
            </a:r>
            <a:r>
              <a:rPr lang="ko-KR" altLang="en-US" sz="1400" dirty="0" smtClean="0">
                <a:solidFill>
                  <a:srgbClr val="0070C0"/>
                </a:solidFill>
                <a:latin typeface="+mn-ea"/>
              </a:rPr>
              <a:t>보람과 만족감이 </a:t>
            </a:r>
            <a:r>
              <a:rPr lang="ko-KR" altLang="en-US" sz="1400" dirty="0">
                <a:solidFill>
                  <a:srgbClr val="0070C0"/>
                </a:solidFill>
                <a:latin typeface="+mn-ea"/>
              </a:rPr>
              <a:t>없을 것입니다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0070C0"/>
                </a:solidFill>
                <a:latin typeface="+mn-ea"/>
              </a:rPr>
              <a:t>따라서 </a:t>
            </a:r>
            <a:r>
              <a:rPr lang="ko-KR" altLang="en-US" sz="1400" dirty="0" smtClean="0">
                <a:solidFill>
                  <a:srgbClr val="0070C0"/>
                </a:solidFill>
                <a:latin typeface="+mn-ea"/>
              </a:rPr>
              <a:t>나는 앞으로도 </a:t>
            </a:r>
            <a:r>
              <a:rPr lang="ko-KR" altLang="en-US" sz="1400" dirty="0">
                <a:solidFill>
                  <a:srgbClr val="0070C0"/>
                </a:solidFill>
                <a:latin typeface="+mn-ea"/>
              </a:rPr>
              <a:t>도덕적으로 살아갈 </a:t>
            </a:r>
            <a:r>
              <a:rPr lang="ko-KR" altLang="en-US" sz="1400" dirty="0" smtClean="0">
                <a:solidFill>
                  <a:srgbClr val="0070C0"/>
                </a:solidFill>
                <a:latin typeface="+mn-ea"/>
              </a:rPr>
              <a:t>것을 굳게 </a:t>
            </a:r>
            <a:r>
              <a:rPr lang="ko-KR" altLang="en-US" sz="1400" dirty="0">
                <a:solidFill>
                  <a:srgbClr val="0070C0"/>
                </a:solidFill>
                <a:latin typeface="+mn-ea"/>
              </a:rPr>
              <a:t>다짐합니다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1400" dirty="0">
              <a:solidFill>
                <a:srgbClr val="0070C0"/>
              </a:solidFill>
              <a:latin typeface="+mn-ea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8290" y="2778549"/>
            <a:ext cx="2347279" cy="363756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나는 어떻게 살아야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7377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</p:childTnLst>
        </p:cTn>
      </p:par>
    </p:tnLst>
    <p:bldLst>
      <p:bldP spid="29" grpId="0"/>
      <p:bldP spid="29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" y="1613182"/>
            <a:ext cx="10239105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다음 </a:t>
            </a:r>
            <a:r>
              <a:rPr lang="en-US" altLang="ko-KR" sz="2000" b="1" dirty="0"/>
              <a:t>&lt;</a:t>
            </a:r>
            <a:r>
              <a:rPr lang="ko-KR" altLang="en-US" sz="2000" b="1" dirty="0"/>
              <a:t>활동 방법</a:t>
            </a:r>
            <a:r>
              <a:rPr lang="en-US" altLang="ko-KR" sz="2000" b="1" dirty="0"/>
              <a:t>&gt;</a:t>
            </a:r>
            <a:r>
              <a:rPr lang="ko-KR" altLang="en-US" sz="2000" b="1" dirty="0"/>
              <a:t>을 참고하여 도덕적인 삶에 대한 선언문을 작성하고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우리 반 도덕 나무를 완성해 보자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  <p:sp>
        <p:nvSpPr>
          <p:cNvPr id="28" name="순서도: 수행의 시작/종료 27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순서도: 수행의 시작/종료 32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35" name="그림 3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1029" y="2196609"/>
            <a:ext cx="487174" cy="487174"/>
          </a:xfrm>
          <a:prstGeom prst="rect">
            <a:avLst/>
          </a:prstGeom>
        </p:spPr>
      </p:pic>
      <p:grpSp>
        <p:nvGrpSpPr>
          <p:cNvPr id="36" name="그룹 3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23553" y="2196609"/>
            <a:ext cx="1087577" cy="495431"/>
            <a:chOff x="10075659" y="2003022"/>
            <a:chExt cx="1156006" cy="495431"/>
          </a:xfrm>
        </p:grpSpPr>
        <p:pic>
          <p:nvPicPr>
            <p:cNvPr id="37" name="그림 3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111266" y="2196609"/>
            <a:ext cx="1282388" cy="495431"/>
            <a:chOff x="10075659" y="2003022"/>
            <a:chExt cx="1178665" cy="495431"/>
          </a:xfrm>
        </p:grpSpPr>
        <p:pic>
          <p:nvPicPr>
            <p:cNvPr id="40" name="그림 39" descr="그린, 다채로움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1" name="TextBox 4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2061" y="2507796"/>
            <a:ext cx="4348014" cy="417907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520349" y="2941408"/>
            <a:ext cx="32046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dirty="0">
                <a:solidFill>
                  <a:srgbClr val="0070C0"/>
                </a:solidFill>
                <a:latin typeface="+mn-ea"/>
              </a:rPr>
              <a:t>도덕적인 삶 </a:t>
            </a:r>
            <a:r>
              <a:rPr lang="ko-KR" altLang="en-US" sz="1400" dirty="0" smtClean="0">
                <a:solidFill>
                  <a:srgbClr val="0070C0"/>
                </a:solidFill>
                <a:latin typeface="+mn-ea"/>
              </a:rPr>
              <a:t>선언문</a:t>
            </a:r>
            <a:endParaRPr lang="ko-KR" altLang="en-US" sz="1400" dirty="0">
              <a:solidFill>
                <a:srgbClr val="0070C0"/>
              </a:solidFill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ko-KR" altLang="en-US" sz="1400" dirty="0">
                <a:solidFill>
                  <a:srgbClr val="0070C0"/>
                </a:solidFill>
                <a:latin typeface="+mn-ea"/>
              </a:rPr>
              <a:t>○학년 ○○반 ○○번 이름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: ▲▲▲</a:t>
            </a:r>
          </a:p>
          <a:p>
            <a:pPr algn="just">
              <a:lnSpc>
                <a:spcPct val="150000"/>
              </a:lnSpc>
            </a:pPr>
            <a:r>
              <a:rPr lang="ko-KR" altLang="en-US" sz="1400" dirty="0">
                <a:solidFill>
                  <a:srgbClr val="0070C0"/>
                </a:solidFill>
                <a:latin typeface="+mn-ea"/>
              </a:rPr>
              <a:t>내가 도덕적으로 살아야 하는 </a:t>
            </a:r>
            <a:r>
              <a:rPr lang="ko-KR" altLang="en-US" sz="1400" dirty="0" smtClean="0">
                <a:solidFill>
                  <a:srgbClr val="0070C0"/>
                </a:solidFill>
                <a:latin typeface="+mn-ea"/>
              </a:rPr>
              <a:t>이유는 진정한 </a:t>
            </a:r>
            <a:r>
              <a:rPr lang="ko-KR" altLang="en-US" sz="1400" dirty="0">
                <a:solidFill>
                  <a:srgbClr val="0070C0"/>
                </a:solidFill>
                <a:latin typeface="+mn-ea"/>
              </a:rPr>
              <a:t>행복을 추구하기 위해서입니다</a:t>
            </a:r>
            <a:r>
              <a:rPr lang="en-US" altLang="ko-KR" sz="1400" dirty="0" smtClean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1400" dirty="0" smtClean="0">
                <a:solidFill>
                  <a:srgbClr val="0070C0"/>
                </a:solidFill>
                <a:latin typeface="+mn-ea"/>
              </a:rPr>
              <a:t>도덕적으로 </a:t>
            </a:r>
            <a:r>
              <a:rPr lang="ko-KR" altLang="en-US" sz="1400" dirty="0">
                <a:solidFill>
                  <a:srgbClr val="0070C0"/>
                </a:solidFill>
                <a:latin typeface="+mn-ea"/>
              </a:rPr>
              <a:t>살지 않는다면 나의 삶은 </a:t>
            </a:r>
            <a:r>
              <a:rPr lang="ko-KR" altLang="en-US" sz="1400" dirty="0" smtClean="0">
                <a:solidFill>
                  <a:srgbClr val="0070C0"/>
                </a:solidFill>
                <a:latin typeface="+mn-ea"/>
              </a:rPr>
              <a:t>보람과 만족감이 </a:t>
            </a:r>
            <a:r>
              <a:rPr lang="ko-KR" altLang="en-US" sz="1400" dirty="0">
                <a:solidFill>
                  <a:srgbClr val="0070C0"/>
                </a:solidFill>
                <a:latin typeface="+mn-ea"/>
              </a:rPr>
              <a:t>없을 것입니다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0070C0"/>
                </a:solidFill>
                <a:latin typeface="+mn-ea"/>
              </a:rPr>
              <a:t>따라서 </a:t>
            </a:r>
            <a:r>
              <a:rPr lang="ko-KR" altLang="en-US" sz="1400" dirty="0" smtClean="0">
                <a:solidFill>
                  <a:srgbClr val="0070C0"/>
                </a:solidFill>
                <a:latin typeface="+mn-ea"/>
              </a:rPr>
              <a:t>나는 앞으로도 </a:t>
            </a:r>
            <a:r>
              <a:rPr lang="ko-KR" altLang="en-US" sz="1400" dirty="0">
                <a:solidFill>
                  <a:srgbClr val="0070C0"/>
                </a:solidFill>
                <a:latin typeface="+mn-ea"/>
              </a:rPr>
              <a:t>도덕적으로 살아갈 </a:t>
            </a:r>
            <a:r>
              <a:rPr lang="ko-KR" altLang="en-US" sz="1400" dirty="0" smtClean="0">
                <a:solidFill>
                  <a:srgbClr val="0070C0"/>
                </a:solidFill>
                <a:latin typeface="+mn-ea"/>
              </a:rPr>
              <a:t>것을 굳게 </a:t>
            </a:r>
            <a:r>
              <a:rPr lang="ko-KR" altLang="en-US" sz="1400" dirty="0">
                <a:solidFill>
                  <a:srgbClr val="0070C0"/>
                </a:solidFill>
                <a:latin typeface="+mn-ea"/>
              </a:rPr>
              <a:t>다짐합니다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1400" dirty="0">
              <a:solidFill>
                <a:srgbClr val="0070C0"/>
              </a:solidFill>
              <a:latin typeface="+mn-ea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8290" y="2778549"/>
            <a:ext cx="2347279" cy="363756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나는 어떻게 살아야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Google Shape;229;p6"/>
          <p:cNvSpPr/>
          <p:nvPr/>
        </p:nvSpPr>
        <p:spPr>
          <a:xfrm>
            <a:off x="-5301" y="0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27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422517" y="514984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" name="그림 29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6069" y="765602"/>
            <a:ext cx="473351" cy="47335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9404" y="1599491"/>
            <a:ext cx="109133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 algn="just">
              <a:lnSpc>
                <a:spcPct val="150000"/>
              </a:lnSpc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① 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&lt;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활동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자료 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1&gt;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의 나뭇잎과 열매 모양의 종이 중 하나를 골라 뜯는다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360000" lvl="1" indent="-1080000" algn="just">
              <a:lnSpc>
                <a:spcPct val="150000"/>
              </a:lnSpc>
            </a:pP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②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①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에서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고른 종이에 ‘내가 도덕적으로 살아야 하는 이유’를 고려하여 도덕적인 삶을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살겠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다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는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다짐을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담은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나만의 선언문을 작성한다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③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학급 게시판에 줄기와 가지만으로 이루어진 ‘도덕 나무’를 만들어 붙인다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④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내가 쓴 선언문을 나무 줄기나 가지에 붙여 우리 반 도덕 나무를 완성한다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⑤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완성된 우리 반 도덕 나무를 친구들과 함께 감상한다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03415" y="843124"/>
            <a:ext cx="1362181" cy="495431"/>
            <a:chOff x="10075659" y="2003022"/>
            <a:chExt cx="1156006" cy="495431"/>
          </a:xfrm>
        </p:grpSpPr>
        <p:pic>
          <p:nvPicPr>
            <p:cNvPr id="42" name="그림 41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3" name="TextBox 4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7097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3527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‘내가 도덕적으로 살아야 하는 이유’</a:t>
            </a:r>
            <a:r>
              <a:rPr lang="ko-KR" altLang="en-US" sz="2200" b="1" dirty="0" err="1">
                <a:solidFill>
                  <a:srgbClr val="00B050"/>
                </a:solidFill>
                <a:latin typeface="+mn-ea"/>
              </a:rPr>
              <a:t>를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 잘 이해했는지 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V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표를 하며 점검하고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느낀 점을 써 보자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.</a:t>
            </a:r>
          </a:p>
        </p:txBody>
      </p:sp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3" name="그림 2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40778"/>
            <a:ext cx="487174" cy="487174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40778"/>
            <a:ext cx="1087577" cy="495431"/>
            <a:chOff x="10075659" y="2003022"/>
            <a:chExt cx="1156006" cy="495431"/>
          </a:xfrm>
        </p:grpSpPr>
        <p:pic>
          <p:nvPicPr>
            <p:cNvPr id="25" name="그림 2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961369" y="4495848"/>
            <a:ext cx="81650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도덕적으로 사는 것은 타인뿐만 아니라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나에게도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이로운 일이며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진정한 행복을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추구하는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방법이라는 것을 배웠다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그러므로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앞으로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나의 행복을 위해 도덕적으로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살아야겠다는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결심을 하였다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00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29" name="그룹 28"/>
          <p:cNvGrpSpPr/>
          <p:nvPr/>
        </p:nvGrpSpPr>
        <p:grpSpPr>
          <a:xfrm>
            <a:off x="936087" y="3953767"/>
            <a:ext cx="1328154" cy="458932"/>
            <a:chOff x="877165" y="3739778"/>
            <a:chExt cx="1328154" cy="458932"/>
          </a:xfrm>
        </p:grpSpPr>
        <p:sp>
          <p:nvSpPr>
            <p:cNvPr id="30" name="모서리가 둥근 직사각형 29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48928" y="3739778"/>
              <a:ext cx="1224117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느낀 점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555668"/>
            <a:ext cx="2752219" cy="1088680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4206598" y="2555668"/>
            <a:ext cx="2752219" cy="1088679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604964" y="2555668"/>
            <a:ext cx="3400802" cy="1088680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33409" y="2617521"/>
            <a:ext cx="2452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나에게</a:t>
            </a:r>
            <a:r>
              <a: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,</a:t>
            </a: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모두에게 이롭기 때문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324712" y="2638130"/>
            <a:ext cx="25159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도덕적 의무이기 때문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816296" y="2626212"/>
            <a:ext cx="29781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진정한 행복을 추구할 수 있기 때문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나는 어떻게 살아야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79705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7" grpId="0"/>
      <p:bldP spid="27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2720364" y="5024060"/>
            <a:ext cx="808171" cy="704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40188" y="671335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철학자와 도란도란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4025900" y="654715"/>
            <a:ext cx="765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chemeClr val="tx2"/>
                </a:solidFill>
                <a:latin typeface="+mj-ea"/>
                <a:ea typeface="+mj-ea"/>
              </a:rPr>
              <a:t>왜 도덕적으로 살아야 할까</a:t>
            </a:r>
            <a:r>
              <a:rPr lang="en-US" altLang="ko-KR" sz="2400" b="1" dirty="0" smtClean="0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나는 어떻게 살아야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188" y="1820985"/>
            <a:ext cx="9575095" cy="4454854"/>
          </a:xfrm>
          <a:prstGeom prst="rect">
            <a:avLst/>
          </a:prstGeom>
        </p:spPr>
      </p:pic>
      <p:sp>
        <p:nvSpPr>
          <p:cNvPr id="25" name="타원 24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hlinkClick r:id="rId6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591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40188" y="671335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철학자와 도란도란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0188" y="2236579"/>
            <a:ext cx="7517405" cy="3568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도덕적으로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살아가는 것이 내게 아무런 도움이 안 되는 것 같아 보이기도 하지요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?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하지만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그렇지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않습니다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우리가 가장 중요하게 여겨야 할 점은 그냥 사는 것이 아니라 올바르고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훌륭하게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사는 것입니다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우리가 가치 있는 사람이라면 어떤 일을 하면서 자신이 올바른 일을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행하고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있는지 아니면 올바르지 못한 일을 행하고 있는지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그리고 자신이 훌륭한 사람의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행위를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하는지 아니면 나쁜 사람의 행위를 하는지를 스스로에게 물어야 합니다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28" name="타원 27">
            <a:hlinkClick r:id="" action="ppaction://hlinkshowjump?jump=previous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hlinkClick r:id="" action="ppaction://hlinkshowjump?jump=nextslide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나는 어떻게 살아야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4025900" y="654715"/>
            <a:ext cx="765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chemeClr val="tx2"/>
                </a:solidFill>
                <a:latin typeface="+mj-ea"/>
                <a:ea typeface="+mj-ea"/>
              </a:rPr>
              <a:t>왜 도덕적으로 살아야 할까</a:t>
            </a:r>
            <a:r>
              <a:rPr lang="en-US" altLang="ko-KR" sz="2400" b="1" dirty="0" smtClean="0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5802" y="1504406"/>
            <a:ext cx="3357283" cy="73217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425215"/>
            <a:ext cx="3880188" cy="443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33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40188" y="671335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철학자와 도란도란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52" y="1504406"/>
            <a:ext cx="2867025" cy="714375"/>
          </a:xfrm>
          <a:prstGeom prst="rect">
            <a:avLst/>
          </a:prstGeom>
        </p:spPr>
      </p:pic>
      <p:sp>
        <p:nvSpPr>
          <p:cNvPr id="16" name="타원 15">
            <a:hlinkClick r:id="rId6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hlinkClick r:id="" action="ppaction://hlinkshowjump?jump=previous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나는 어떻게 살아야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4025900" y="654715"/>
            <a:ext cx="765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chemeClr val="tx2"/>
                </a:solidFill>
                <a:latin typeface="+mj-ea"/>
                <a:ea typeface="+mj-ea"/>
              </a:rPr>
              <a:t>왜 도덕적으로 살아야 할까</a:t>
            </a:r>
            <a:r>
              <a:rPr lang="en-US" altLang="ko-KR" sz="2400" b="1" dirty="0" smtClean="0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880188" y="2236579"/>
            <a:ext cx="7517405" cy="2044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제대로 검토하지 않은 삶은 살 가치가 없습니다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따라서 우리는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자신의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삶을 검토함으로써 올바르고 훌륭하게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즉 도덕적으로 살아가야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합니다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이때 우리는 가치 있는 사람이 되며 나아가 가치 있는 삶을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누릴 수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있습니다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425215"/>
            <a:ext cx="3880188" cy="4432785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5802" y="1504406"/>
            <a:ext cx="3357283" cy="73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6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“2.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도덕적인 사람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- </a:t>
            </a:r>
            <a:r>
              <a:rPr lang="en-US" altLang="ko-KR" sz="2800" b="1" dirty="0">
                <a:solidFill>
                  <a:schemeClr val="tx1"/>
                </a:solidFill>
              </a:rPr>
              <a:t>01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도덕적으로 행동하지 못하는 </a:t>
            </a:r>
            <a:endParaRPr lang="en-US" altLang="ko-KR" sz="2800" b="1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2800" b="1" dirty="0" smtClean="0">
                <a:solidFill>
                  <a:schemeClr val="tx1"/>
                </a:solidFill>
              </a:rPr>
              <a:t>원인은 무엇일까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</a:rPr>
              <a:t>를 배워 보아요</a:t>
            </a:r>
            <a:r>
              <a:rPr lang="en-US" altLang="ko-KR" sz="2800" dirty="0" smtClean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하고 싶은 것과 해야 하는 것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나는 어떻게 살아야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욕구와 당위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①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욕구 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‘버스에서 편하게 앉아서 가고 싶다.’와 같이 내가 하고 싶은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시험 기간인데 게임 한 판만 더 하고 싶다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②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당위 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‘버스에서는 노약자에게 자리를 양보해야 한다.’와 같이 우리가 마땅히 해야 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내일 시험이니 지금은 공부해야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욕구와 당위의 갈등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욕구와 당위가 일치할 때도 있지만 욕구와 당위 사이에서 갈등하기도 함. ⇨ 무엇이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도덕적 </a:t>
            </a:r>
            <a:r>
              <a:rPr sz="2400" b="0">
                <a:solidFill>
                  <a:srgbClr val="262626"/>
                </a:solidFill>
              </a:rPr>
              <a:t>인 것인지 판단해야 함.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욕구와 당위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욕구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‘버스에서 편하게 앉아서 가고 싶다.’와 같이 내가 하고 싶은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시험 기간인데 게임 한 판만 더 하고 싶다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당위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‘버스에서는 노약자에게 자리를 양보해야 한다.’와 같이 우리가 마땅히 해야 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내일 시험이니 지금은 공부해야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욕구와 당위의 갈등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욕구와 당위가 일치할 때도 있지만 욕구와 당위 사이에서 갈등하기도 함. ⇨ 무엇이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 것인지 판단해야 함.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욕구와 당위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욕구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‘버스에서 편하게 앉아서 가고 싶다.’와 같이 내가 하고 싶은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시험 기간인데 게임 한 판만 더 하고 싶다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당위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‘버스에서는 노약자에게 자리를 양보해야 한다.’와 같이 우리가 마땅히 해야 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내일 시험이니 지금은 공부해야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욕구와 당위의 갈등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욕구와 당위가 일치할 때도 있지만 욕구와 당위 사이에서 갈등하기도 함. ⇨ 무엇이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 것인지 판단해야 함.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욕구와 당위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욕구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‘버스에서 편하게 앉아서 가고 싶다.’와 같이 내가 하고 싶은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시험 기간인데 게임 한 판만 더 하고 싶다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당위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‘버스에서는 노약자에게 자리를 양보해야 한다.’와 같이 우리가 마땅히 해야 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내일 시험이니 지금은 공부해야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욕구와 당위의 갈등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욕구와 당위가 일치할 때도 있지만 욕구와 당위 사이에서 갈등하기도 함. ⇨ 무엇이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 것인지 판단해야 함.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욕구와 당위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욕구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‘버스에서 편하게 앉아서 가고 싶다.’와 같이 내가 하고 싶은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시험 기간인데 게임 한 판만 더 하고 싶다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당위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‘버스에서는 노약자에게 자리를 양보해야 한다.’와 같이 우리가 마땅히 해야 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내일 시험이니 지금은 공부해야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욕구와 당위의 갈등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욕구와 당위가 일치할 때도 있지만 욕구와 당위 사이에서 갈등하기도 함. ⇨ 무엇이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 것인지 판단해야 함.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욕구와 당위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욕구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‘버스에서 편하게 앉아서 가고 싶다.’와 같이 내가 하고 싶은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시험 기간인데 게임 한 판만 더 하고 싶다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당위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‘버스에서는 노약자에게 자리를 양보해야 한다.’와 같이 우리가 마땅히 해야 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내일 시험이니 지금은 공부해야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욕구와 당위의 갈등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욕구와 당위가 일치할 때도 있지만 욕구와 당위 사이에서 갈등하기도 함. ⇨ 무엇이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도덕적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 것인지 판단해야 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도덕의 의미와 필요성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나는 어떻게 살아야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도덕의 의미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사람이 마땅히 따라야 할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도리 </a:t>
            </a:r>
            <a:r>
              <a:rPr sz="2400" b="0">
                <a:solidFill>
                  <a:srgbClr val="262626"/>
                </a:solidFill>
              </a:rPr>
              <a:t>이자 옳고 그름을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판단 </a:t>
            </a:r>
            <a:r>
              <a:rPr sz="2400" b="0">
                <a:solidFill>
                  <a:srgbClr val="262626"/>
                </a:solidFill>
              </a:rPr>
              <a:t>하는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기준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줄 서기, 약속 지키기, 남의 물건 돌려주기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도덕의 필요성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개인적으로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훌륭한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⑧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삶 </a:t>
            </a:r>
            <a:r>
              <a:rPr sz="2400" b="0">
                <a:solidFill>
                  <a:srgbClr val="262626"/>
                </a:solidFill>
              </a:rPr>
              <a:t>을 살게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공동체의 구성원과 더불어 </a:t>
            </a:r>
            <a:r>
              <a:rPr sz="1439" b="1">
                <a:solidFill>
                  <a:srgbClr val="2F6FD0"/>
                </a:solidFill>
              </a:rPr>
              <a:t>⑨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평화 </a:t>
            </a:r>
            <a:r>
              <a:rPr sz="2400" b="0">
                <a:solidFill>
                  <a:srgbClr val="262626"/>
                </a:solidFill>
              </a:rPr>
              <a:t>롭게 살아가는 데 중요한 역할을 함.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도덕의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사람이 마땅히 따라야 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도리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이자 옳고 그름을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판단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기준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줄 서기, 약속 지키기, 남의 물건 돌려주기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도덕의 필요성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개인적으로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훌륭한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삶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살게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공동체의 구성원과 더불어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평화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롭게 살아가는 데 중요한 역할을 함.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도덕의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사람이 마땅히 따라야 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이자 옳고 그름을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판단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기준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줄 서기, 약속 지키기, 남의 물건 돌려주기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도덕의 필요성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개인적으로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훌륭한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삶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살게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공동체의 구성원과 더불어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평화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롭게 살아가는 데 중요한 역할을 함.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도덕의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사람이 마땅히 따라야 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이자 옳고 그름을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판단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기준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줄 서기, 약속 지키기, 남의 물건 돌려주기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도덕의 필요성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개인적으로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훌륭한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삶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살게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공동체의 구성원과 더불어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평화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롭게 살아가는 데 중요한 역할을 함.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도덕의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사람이 마땅히 따라야 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이자 옳고 그름을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판단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기준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줄 서기, 약속 지키기, 남의 물건 돌려주기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도덕의 필요성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개인적으로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훌륭한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삶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살게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공동체의 구성원과 더불어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평화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롭게 살아가는 데 중요한 역할을 함.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도덕의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사람이 마땅히 따라야 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이자 옳고 그름을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판단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기준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줄 서기, 약속 지키기, 남의 물건 돌려주기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도덕의 필요성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개인적으로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훌륭한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삶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살게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공동체의 구성원과 더불어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평화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롭게 살아가는 데 중요한 역할을 함.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도덕의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사람이 마땅히 따라야 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이자 옳고 그름을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판단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기준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줄 서기, 약속 지키기, 남의 물건 돌려주기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도덕의 필요성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개인적으로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훌륭한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/>
                </a:solidFill>
              </a:rPr>
              <a:t> 삶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살게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공동체의 구성원과 더불어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평화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롭게 살아가는 데 중요한 역할을 함.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도덕의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사람이 마땅히 따라야 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이자 옳고 그름을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판단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기준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줄 서기, 약속 지키기, 남의 물건 돌려주기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도덕의 필요성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개인적으로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훌륭한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삶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살게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공동체의 구성원과 더불어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/>
                </a:solidFill>
              </a:rPr>
              <a:t> 평화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롭게 살아가는 데 중요한 역할을 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내가 도덕적으로 살아야 하는 이유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나는 어떻게 살아야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나에게, 모두에게 이롭기 때문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모두가 도덕적으로 살아갈 때 서로의 </a:t>
            </a:r>
            <a:r>
              <a:rPr sz="1439" b="1">
                <a:solidFill>
                  <a:srgbClr val="2F6FD0"/>
                </a:solidFill>
              </a:rPr>
              <a:t>⑩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이익 </a:t>
            </a:r>
            <a:r>
              <a:rPr sz="2400" b="0">
                <a:solidFill>
                  <a:srgbClr val="262626"/>
                </a:solidFill>
              </a:rPr>
              <a:t>과 안전을 보장받음.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모두 신호를 지키니까 나도 안심하고 길을 건넌다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도덕적 의무이기 때문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도덕적으로 사는 것은 사람이라면 누구나 지켜야 할 도덕적 </a:t>
            </a:r>
            <a:r>
              <a:rPr sz="1439" b="1">
                <a:solidFill>
                  <a:srgbClr val="2F6FD0"/>
                </a:solidFill>
              </a:rPr>
              <a:t>⑪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의무 </a:t>
            </a:r>
            <a:r>
              <a:rPr sz="2400" b="0">
                <a:solidFill>
                  <a:srgbClr val="262626"/>
                </a:solidFill>
              </a:rPr>
              <a:t>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불길 속 이웃을 구한 알리 씨: “사람은 살려야 하잖아요.”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진정한 </a:t>
            </a:r>
            <a:r>
              <a:rPr sz="1439" b="1">
                <a:solidFill>
                  <a:srgbClr val="2F6FD0"/>
                </a:solidFill>
              </a:rPr>
              <a:t>⑫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행복 </a:t>
            </a:r>
            <a:r>
              <a:rPr sz="2400" b="1">
                <a:solidFill>
                  <a:srgbClr val="843C0C"/>
                </a:solidFill>
              </a:rPr>
              <a:t>을 추구할 수 있기 때문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도덕적인 삶을 살아갈 때 뿌듯함과 행복을 느낌.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아무도 안 본 쓰레기를 주웠을 때의 그 기분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나에게, 모두에게 이롭기 때문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모두가 도덕적으로 살아갈 때 서로의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/>
                </a:solidFill>
              </a:rPr>
              <a:t> 이익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안전을 보장받음.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모두 신호를 지키니까 나도 안심하고 길을 건넌다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도덕적 의무이기 때문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도덕적으로 사는 것은 사람이라면 누구나 지켜야 할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⑪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불길 속 이웃을 구한 알리 씨: “사람은 살려야 하잖아요.”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진정한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⑫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행복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을 추구할 수 있기 때문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도덕적인 삶을 살아갈 때 뿌듯함과 행복을 느낌.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아무도 안 본 쓰레기를 주웠을 때의 그 기분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나에게, 모두에게 이롭기 때문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모두가 도덕적으로 살아갈 때 서로의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이익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안전을 보장받음.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모두 신호를 지키니까 나도 안심하고 길을 건넌다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도덕적 의무이기 때문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도덕적으로 사는 것은 사람이라면 누구나 지켜야 할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⑪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불길 속 이웃을 구한 알리 씨: “사람은 살려야 하잖아요.”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진정한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⑫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행복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을 추구할 수 있기 때문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도덕적인 삶을 살아갈 때 뿌듯함과 행복을 느낌.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아무도 안 본 쓰레기를 주웠을 때의 그 기분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나에게, 모두에게 이롭기 때문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모두가 도덕적으로 살아갈 때 서로의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이익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안전을 보장받음.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모두 신호를 지키니까 나도 안심하고 길을 건넌다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도덕적 의무이기 때문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도덕적으로 사는 것은 사람이라면 누구나 지켜야 할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⑪</a:t>
            </a:r>
            <a:r>
              <a:rPr sz="2400" b="1">
                <a:solidFill>
                  <a:srgbClr val="C0392B"/>
                </a:solidFill>
              </a:rPr>
              <a:t> 의무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불길 속 이웃을 구한 알리 씨: “사람은 살려야 하잖아요.”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진정한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⑫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행복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을 추구할 수 있기 때문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도덕적인 삶을 살아갈 때 뿌듯함과 행복을 느낌.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아무도 안 본 쓰레기를 주웠을 때의 그 기분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나에게, 모두에게 이롭기 때문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모두가 도덕적으로 살아갈 때 서로의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이익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안전을 보장받음.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모두 신호를 지키니까 나도 안심하고 길을 건넌다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도덕적 의무이기 때문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도덕적으로 사는 것은 사람이라면 누구나 지켜야 할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⑪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불길 속 이웃을 구한 알리 씨: “사람은 살려야 하잖아요.”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진정한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⑫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행복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을 추구할 수 있기 때문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도덕적인 삶을 살아갈 때 뿌듯함과 행복을 느낌.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아무도 안 본 쓰레기를 주웠을 때의 그 기분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나에게, 모두에게 이롭기 때문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모두가 도덕적으로 살아갈 때 서로의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이익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안전을 보장받음.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모두 신호를 지키니까 나도 안심하고 길을 건넌다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도덕적 의무이기 때문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도덕적으로 사는 것은 사람이라면 누구나 지켜야 할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⑪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불길 속 이웃을 구한 알리 씨: “사람은 살려야 하잖아요.”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진정한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⑫</a:t>
            </a:r>
            <a:r>
              <a:rPr sz="2400" b="1">
                <a:solidFill>
                  <a:srgbClr val="C0392B"/>
                </a:solidFill>
              </a:rPr>
              <a:t> 행복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을 추구할 수 있기 때문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도덕적인 삶을 살아갈 때 뿌듯함과 행복을 느낌.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아무도 안 본 쓰레기를 주웠을 때의 그 기분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나에게, 모두에게 이롭기 때문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모두가 도덕적으로 살아갈 때 서로의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이익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안전을 보장받음.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모두 신호를 지키니까 나도 안심하고 길을 건넌다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도덕적 의무이기 때문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도덕적으로 사는 것은 사람이라면 누구나 지켜야 할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⑪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불길 속 이웃을 구한 알리 씨: “사람은 살려야 하잖아요.”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진정한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⑫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행복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을 추구할 수 있기 때문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도덕적인 삶을 살아갈 때 뿌듯함과 행복을 느낌.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아무도 안 본 쓰레기를 주웠을 때의 그 기분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선로에 떨어진 낯선 사람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나는 어떻게 살아야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2001년 1월 26일 저녁 · 도쿄 신오쿠보역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그때 · 술에 취한 남성이 승강장에서 선로로 떨어지다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이수현 · 26살 한국인 유학생이 선로로 뛰어내리다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세키네 시로 · 일본인 사진가도 함께 내려가다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그리고 · 열차가 들어와 세 사람 모두 숨지다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그는 왜 뛰어내렸을까?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2001년 1월 26일 저녁 · 도쿄 신오쿠보역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그때 · 술에 취한 남성이 승강장에서 선로로 떨어지다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이수현 · 26살 한국인 유학생이 선로로 뛰어내리다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세키네 시로 · 일본인 사진가도 함께 내려가다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그리고 · 열차가 들어와 세 사람 모두 숨지다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그는 왜 뛰어내렸을까?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딜레마 · 나라면?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나는 어떻게 살아야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끼기만 하면 투명 인간이 되는 반지가 내 손에 들어왔다. (플라톤 『국가』 제2권 · 기게스의 반지)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A — 지금처럼 산다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B — 하고 싶은 대로 한다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아무도 모른다면, 나는 달라질까?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끼기만 하면 투명 인간이 되는 반지가 내 손에 들어왔다. (플라톤 『국가』 제2권 · 기게스의 반지)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A — 지금처럼 산다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B — 하고 싶은 대로 한다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아무도 모른다면, 나는 달라질까?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나는 어떻게 살아야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내가 하고 싶은 것을 ‘당위’, 우리가 마땅히 해야 하는 것을 ‘욕구’라고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도덕이란 사람이 마땅히 따라야 할 도리이자 옳고 그름의 판단 기준이다.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서로의 이익과 안전을 보장받으려면 욕구에 따라 살아야 한다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도덕적인 삶을 살아갈 때 뿌듯함과 행복을 느낄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내가 하고 싶은 것을 ‘당위’, 우리가 마땅히 해야 하는 것을 ‘욕구’라고 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도덕이란 사람이 마땅히 따라야 할 도리이자 옳고 그름의 판단 기준이다.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서로의 이익과 안전을 보장받으려면 욕구에 따라 살아야 한다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도덕적인 삶을 살아갈 때 뿌듯함과 행복을 느낄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내가 하고 싶은 것을 ‘당위’, 우리가 마땅히 해야 하는 것을 ‘욕구’라고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도덕이란 사람이 마땅히 따라야 할 도리이자 옳고 그름의 판단 기준이다.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서로의 이익과 안전을 보장받으려면 욕구에 따라 살아야 한다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도덕적인 삶을 살아갈 때 뿌듯함과 행복을 느낄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내가 하고 싶은 것을 ‘당위’, 우리가 마땅히 해야 하는 것을 ‘욕구’라고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도덕이란 사람이 마땅히 따라야 할 도리이자 옳고 그름의 판단 기준이다.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서로의 이익과 안전을 보장받으려면 욕구에 따라 살아야 한다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도덕적인 삶을 살아갈 때 뿌듯함과 행복을 느낄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내가 하고 싶은 것을 ‘당위’, 우리가 마땅히 해야 하는 것을 ‘욕구’라고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도덕이란 사람이 마땅히 따라야 할 도리이자 옳고 그름의 판단 기준이다.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서로의 이익과 안전을 보장받으려면 욕구에 따라 살아야 한다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도덕적인 삶을 살아갈 때 뿌듯함과 행복을 느낄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기게스의 반지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나는 어떻게 살아야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아무도 나를 볼 수 없다면, 나는 달라질까?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① 혼자 생각하기 — 2분 동안 나의 답을 정해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② 짝·모둠과 나누기 — 서로의 까닭을 들어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③ 한 문장으로 발표하기 — “나는 ___ 왜냐하면 ___”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8319</TotalTime>
  <Words>1418</Words>
  <Application>Microsoft Office PowerPoint</Application>
  <PresentationFormat>와이드스크린</PresentationFormat>
  <Paragraphs>207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9" baseType="lpstr">
      <vt:lpstr>AppleSDGothicNeoB00</vt:lpstr>
      <vt:lpstr>굴림</vt:lpstr>
      <vt:lpstr>나눔스퀘어라운드 ExtraBold</vt:lpstr>
      <vt:lpstr>돋움</vt:lpstr>
      <vt:lpstr>Malgun Gothic</vt:lpstr>
      <vt:lpstr>Malgun Gothic</vt:lpstr>
      <vt:lpstr>Arial</vt:lpstr>
      <vt:lpstr>Arial Rounded MT Bold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170</cp:revision>
  <cp:lastPrinted>2024-06-05T04:53:22Z</cp:lastPrinted>
  <dcterms:created xsi:type="dcterms:W3CDTF">2023-10-31T05:50:03Z</dcterms:created>
  <dcterms:modified xsi:type="dcterms:W3CDTF">2025-01-14T02:01:34Z</dcterms:modified>
</cp:coreProperties>
</file>