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59.svg" ContentType="image/svg+xml"/>
  <Override PartName="/ppt/media/image590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01" r:id="rId1"/>
  </p:sldMasterIdLst>
  <p:notesMasterIdLst>
    <p:notesMasterId r:id="rId24"/>
  </p:notesMasterIdLst>
  <p:handoutMasterIdLst>
    <p:handoutMasterId r:id="rId25"/>
  </p:handoutMasterIdLst>
  <p:sldIdLst>
    <p:sldId id="302" r:id="rId2"/>
    <p:sldId id="301" r:id="rId3"/>
    <p:sldId id="258" r:id="rId4"/>
    <p:sldId id="304" r:id="rId5"/>
    <p:sldId id="305" r:id="rId6"/>
    <p:sldId id="260" r:id="rId7"/>
    <p:sldId id="356" r:id="rId31"/>
    <p:sldId id="306" r:id="rId8"/>
    <p:sldId id="270" r:id="rId9"/>
    <p:sldId id="349" r:id="rId10"/>
    <p:sldId id="357" r:id="rId32"/>
    <p:sldId id="358" r:id="rId33"/>
    <p:sldId id="359" r:id="rId34"/>
    <p:sldId id="360" r:id="rId35"/>
    <p:sldId id="307" r:id="rId11"/>
    <p:sldId id="355" r:id="rId12"/>
    <p:sldId id="308" r:id="rId13"/>
    <p:sldId id="350" r:id="rId14"/>
    <p:sldId id="316" r:id="rId15"/>
    <p:sldId id="317" r:id="rId16"/>
    <p:sldId id="318" r:id="rId17"/>
    <p:sldId id="351" r:id="rId18"/>
    <p:sldId id="352" r:id="rId19"/>
    <p:sldId id="353" r:id="rId20"/>
    <p:sldId id="354" r:id="rId21"/>
    <p:sldId id="291" r:id="rId22"/>
    <p:sldId id="361" r:id="rId36"/>
    <p:sldId id="362" r:id="rId37"/>
    <p:sldId id="348" r:id="rId23"/>
  </p:sldIdLst>
  <p:sldSz cx="12192000" cy="6858000"/>
  <p:notesSz cx="6769100" cy="9906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300"/>
    <a:srgbClr val="FFFF00"/>
    <a:srgbClr val="D9E1E9"/>
    <a:srgbClr val="E8F6FD"/>
    <a:srgbClr val="F0FFF6"/>
    <a:srgbClr val="019BFF"/>
    <a:srgbClr val="FFF7EE"/>
    <a:srgbClr val="FFC000"/>
    <a:srgbClr val="FFF2CC"/>
    <a:srgbClr val="BD4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242" autoAdjust="0"/>
  </p:normalViewPr>
  <p:slideViewPr>
    <p:cSldViewPr snapToGrid="0">
      <p:cViewPr varScale="1">
        <p:scale>
          <a:sx n="111" d="100"/>
          <a:sy n="111" d="100"/>
        </p:scale>
        <p:origin x="534" y="102"/>
      </p:cViewPr>
      <p:guideLst/>
    </p:cSldViewPr>
  </p:slideViewPr>
  <p:outlineViewPr>
    <p:cViewPr>
      <p:scale>
        <a:sx n="50" d="100"/>
        <a:sy n="50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8" d="100"/>
          <a:sy n="78" d="100"/>
        </p:scale>
        <p:origin x="5130" y="9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handoutMaster" Target="handoutMasters/handoutMaster1.xml"/><Relationship Id="rId26" Type="http://schemas.openxmlformats.org/officeDocument/2006/relationships/commentAuthors" Target="commentAuthors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33505" y="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4031DAFB-1D56-441C-96DA-9355E83DC247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33505" y="9408641"/>
            <a:ext cx="2934014" cy="49735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67252717-B9B0-4DA0-94D8-A5D10BBAAF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45133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34257" y="0"/>
            <a:ext cx="2933277" cy="497020"/>
          </a:xfrm>
          <a:prstGeom prst="rect">
            <a:avLst/>
          </a:prstGeom>
        </p:spPr>
        <p:txBody>
          <a:bodyPr vert="horz" lIns="91157" tIns="45578" rIns="91157" bIns="45578" rtlCol="0"/>
          <a:lstStyle>
            <a:lvl1pPr algn="r">
              <a:defRPr sz="1200"/>
            </a:lvl1pPr>
          </a:lstStyle>
          <a:p>
            <a:fld id="{81693682-E3F2-4B9F-9BFF-73488D9CBB0F}" type="datetimeFigureOut">
              <a:rPr lang="ko-KR" altLang="en-US" smtClean="0"/>
              <a:t>2025-01-14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2750" y="1238250"/>
            <a:ext cx="5943600" cy="3343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57" tIns="45578" rIns="91157" bIns="4557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6910" y="4767263"/>
            <a:ext cx="5415280" cy="3900488"/>
          </a:xfrm>
          <a:prstGeom prst="rect">
            <a:avLst/>
          </a:prstGeom>
        </p:spPr>
        <p:txBody>
          <a:bodyPr vert="horz" lIns="91157" tIns="45578" rIns="91157" bIns="45578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34257" y="9408981"/>
            <a:ext cx="2933277" cy="497019"/>
          </a:xfrm>
          <a:prstGeom prst="rect">
            <a:avLst/>
          </a:prstGeom>
        </p:spPr>
        <p:txBody>
          <a:bodyPr vert="horz" lIns="91157" tIns="45578" rIns="91157" bIns="45578" rtlCol="0" anchor="b"/>
          <a:lstStyle>
            <a:lvl1pPr algn="r">
              <a:defRPr sz="1200"/>
            </a:lvl1pPr>
          </a:lstStyle>
          <a:p>
            <a:fld id="{19946026-7D4E-45C0-8CA9-CA07BC8C2A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5087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9946026-7D4E-45C0-8CA9-CA07BC8C2A9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255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본문 핵심</a:t>
            </a:r>
          </a:p>
          <a:p>
            <a:r>
              <a:t>현대 사회의 도덕 문제는 다양하고 복잡해서 도덕적으로 무지하면 실천하기 어렵다.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교과서 30쪽 자료</a:t>
            </a:r>
          </a:p>
          <a:p>
            <a:r>
              <a:t>『죄와 벌』의 라스콜니코프는 “해로운 노파를 죽이는 것은 죄가 아니다”라며 끝없이 자기 정당화를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달리와 뱃슨의 실험 (1973)</a:t>
            </a:r>
          </a:p>
          <a:p>
            <a:r>
              <a:t>신학생 67명에게 다른 건물로 가서 짧은 발표를 하라고 했다. 가는 길에 연구자가 꾸민 ‘쓰러진 사람’이 있었다. 착한 사람이 될 공부를 하는 학생들이었고, 절반은 바로 ‘선한 사마리아인’ 이야기를 발표하러 가는 길이었다.</a:t>
            </a:r>
          </a:p>
          <a:p>
            <a:r>
              <a:t>결과를 가른 것은 발표 주제가 아니라 서두름이었다. 서두른 학생 가운데에는 쓰러진 사람을 넘어간 학생도 있었다.</a:t>
            </a:r>
          </a:p>
          <a:p>
            <a:r>
              <a:t>발문 “그들은 나쁜 사람이었을까?” → 아니다. 바쁘면 알아차리지 못한다(도덕적 민감성). 내가 바쁠 때 놓치는 것은?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방관자 효과 · 달리와 라타네 (1968)</a:t>
            </a:r>
          </a:p>
          <a:p>
            <a:r>
              <a:t>대학생들이 인터컴으로 대화하다가 한 사람이 발작을 일으키는 소리를 듣게 했다. 혼자 듣는다고 믿은 학생은 대부분 도우러 나갔지만, 여럿이 듣는다고 믿으면 도우러 나간 비율이 크게 줄었다.</a:t>
            </a:r>
          </a:p>
          <a:p>
            <a:r>
              <a:t>책임 분산: “누군가 하겠지.” 사람이 많을수록 내 책임이 작게 느껴진다 — 교과서의 무관심과 이어진다.</a:t>
            </a:r>
          </a:p>
          <a:p>
            <a:r>
              <a:t>참고 이 연구의 계기가 된 1964년 뉴욕 키티 제노비스 사건은 ‘38명이 보고도 외면했다’고 보도되었지만, 뒤에 그 숫자가 과장되었다는 사실이 밝혀졌다. 사례를 쓸 때도 사실 확인이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학생들이 손으로 ○(머리 위 동그라미) / ✕(팔 엇갈리기)를 먼저 표시한 뒤 클릭해 정답을 보여 준다. ✕ 문장은 어디를 고치면 맞는지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수업실 활동 화면(act.html)과 같은 활동입니다.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22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2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2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2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2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22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22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22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2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2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2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2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Relationship Id="rId3" Type="http://schemas.openxmlformats.org/officeDocument/2006/relationships/image" Target="../media/image2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22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2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2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EDAF0A1-DD83-C282-7B69-306F2FA4B1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766458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E690F88-2FCC-757F-E2DA-8D2FA80F21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8189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BFE4D07-CAE6-9F34-2516-D03E4E4C43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799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670C504-4605-8B32-EDB9-F844853CB7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9691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F0B5473-2474-9855-1573-0667AF55F6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325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1303ABB4-7B2F-BF45-33F2-C5BC9D1DA5D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27038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32B914E-FCBF-B5E8-A986-151AECB9C9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2534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AC559D-9351-FFDC-5FD6-6905153F0A0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5815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22E88B3-C40D-D6C8-98E5-A3189E28050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108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9A6E09-1A97-707B-809A-4014FB600AB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00968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6F3A95A-8DF2-5BD2-C723-37F5B88913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792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AE5A3B-581F-5ABD-B276-44FF935D9C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8499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F7EF85-DB54-CAFB-66DE-9A1E8C8D11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06975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AEBDB76-96FD-D187-6815-00DF30C6FC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48590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2355D5F3-8D5E-8C2C-C199-F5CF6FD2A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2211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A044351-A890-FDB9-7583-855AA966220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6348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60B628C-30B2-64DF-AE3D-6AC220FF49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71070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940701D-0BE2-313E-ECB1-2FAB4145B86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00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4A60459-9AFE-1727-9FA4-8443B465226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64972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51C989B-C2C9-705D-6E3D-ED2498B8DB6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199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 descr="만화 영화, 텍스트, 일러스트레이션, 포유류이(가) 표시된 사진&#10;&#10;자동 생성된 설명">
            <a:extLst>
              <a:ext uri="{FF2B5EF4-FFF2-40B4-BE49-F238E27FC236}">
                <a16:creationId xmlns:a16="http://schemas.microsoft.com/office/drawing/2014/main" id="{4B6BE20C-39D1-CD7C-E6AE-85543EB96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26D681-0427-A46A-FB07-4635D86A39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8741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만화 영화, 텍스트, 포유류, 일러스트레이션이(가) 표시된 사진&#10;&#10;자동 생성된 설명">
            <a:extLst>
              <a:ext uri="{FF2B5EF4-FFF2-40B4-BE49-F238E27FC236}">
                <a16:creationId xmlns:a16="http://schemas.microsoft.com/office/drawing/2014/main" id="{1D5D7313-2547-35A2-9A0C-E713FE3E3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94BDA34-CB2D-A4C2-695C-5CF0D15043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770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9DDE397-4B9A-7897-391B-8E92072A32D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B0147B04-464C-C263-A341-A9E3D894008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5385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9D20E117-DECD-BF3E-BC98-6F809E44A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16A7924-5F72-A178-CE74-5BA94F1D36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6331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59D6BB8-E0AE-AE23-C373-77D47EBD83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C7148CF2-87A1-852E-8851-487689A1D1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4981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8740350C-D289-4CE1-8E48-DC571612E5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407CE18-8E61-BD22-A4B4-14BC057B1CB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84126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7C97BFE2-A6A5-FD1B-5DFD-73870C490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6690AC3-366D-8DED-8E19-B69A9C5BCB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892133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스크린샷, 직사각형, 편지이(가) 표시된 사진&#10;&#10;자동 생성된 설명">
            <a:extLst>
              <a:ext uri="{FF2B5EF4-FFF2-40B4-BE49-F238E27FC236}">
                <a16:creationId xmlns:a16="http://schemas.microsoft.com/office/drawing/2014/main" id="{53D5CF97-6651-838A-72B8-007C02DADB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4A0B80FF-DFAD-059A-EFDB-5199DA791CF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8052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F4685491-DC39-99F5-D745-97CF8C22C8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D24D40A-7A2F-4736-9669-037893A669E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5255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85113FE1-C9FE-FBBC-67CD-6318A096D6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F1719C5-84A3-9062-D9DC-011A2C13FF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3118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545844E-DF85-75D7-BD93-B244F6CCE3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A43C997-8030-A24C-CB73-83FFDB6B2DF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8130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직사각형, 텍스트, 디자인이(가) 표시된 사진&#10;&#10;자동 생성된 설명">
            <a:extLst>
              <a:ext uri="{FF2B5EF4-FFF2-40B4-BE49-F238E27FC236}">
                <a16:creationId xmlns:a16="http://schemas.microsoft.com/office/drawing/2014/main" id="{383D412D-11D3-7C78-81CE-45FBA6AF13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C62A8BF-7776-ABF3-5D4F-63DA1360206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0903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그린, 직사각형, 텍스트이(가) 표시된 사진&#10;&#10;자동 생성된 설명">
            <a:extLst>
              <a:ext uri="{FF2B5EF4-FFF2-40B4-BE49-F238E27FC236}">
                <a16:creationId xmlns:a16="http://schemas.microsoft.com/office/drawing/2014/main" id="{4EA3FE09-D6BA-136A-4614-F32BD02E7C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004CC13-82C5-BFF5-BEA3-0EF25E4770D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30833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디자인, 일러스트레이션이(가) 표시된 사진&#10;&#10;자동 생성된 설명">
            <a:extLst>
              <a:ext uri="{FF2B5EF4-FFF2-40B4-BE49-F238E27FC236}">
                <a16:creationId xmlns:a16="http://schemas.microsoft.com/office/drawing/2014/main" id="{4C8F362E-E92D-8BCC-BE3A-84258DFF758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74EF235-5FCA-E393-B8F0-A1061E50A23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40784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7A207987-66DB-1CC6-1E04-1F3F5897362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F8C82B-8BA1-D7E8-16F5-FB62D53795D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53925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1417BE16-BB63-7967-43D4-86741AF1E9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BA12DC2-8E79-5EC9-8E60-4590D3D6B6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04267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6AF4659C-0939-651C-D60E-92EB6EF3291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9ED340FE-29D6-73B5-718A-E061503411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35853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6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F055596-133C-DA30-8333-779395D2BB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A02B221C-1CD0-46E3-C97D-C75B3317C07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731692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7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5EA4F655-79D0-CD56-82D5-E56187D3F2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3C37260-237C-BAA9-FEC9-761C152F74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6794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8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스크린샷, 텍스트, 직사각형, 디자인이(가) 표시된 사진&#10;&#10;자동 생성된 설명">
            <a:extLst>
              <a:ext uri="{FF2B5EF4-FFF2-40B4-BE49-F238E27FC236}">
                <a16:creationId xmlns:a16="http://schemas.microsoft.com/office/drawing/2014/main" id="{4C242F4D-242B-8EBD-16CC-7F491FD74E2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7FB96BD6-518D-021D-8011-D8023B8A3C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5400" y="-12701"/>
            <a:ext cx="12240000" cy="458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491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818DC526-1BA8-4DD2-8992-988C88BE15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40251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2392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2" r:id="rId1"/>
    <p:sldLayoutId id="2147484094" r:id="rId2"/>
    <p:sldLayoutId id="2147484073" r:id="rId3"/>
    <p:sldLayoutId id="2147484074" r:id="rId4"/>
    <p:sldLayoutId id="2147484075" r:id="rId5"/>
    <p:sldLayoutId id="2147484076" r:id="rId6"/>
    <p:sldLayoutId id="2147484089" r:id="rId7"/>
    <p:sldLayoutId id="2147484091" r:id="rId8"/>
    <p:sldLayoutId id="2147484078" r:id="rId9"/>
    <p:sldLayoutId id="2147484079" r:id="rId10"/>
    <p:sldLayoutId id="2147484092" r:id="rId11"/>
    <p:sldLayoutId id="2147484093" r:id="rId12"/>
    <p:sldLayoutId id="2147484086" r:id="rId13"/>
    <p:sldLayoutId id="2147484081" r:id="rId14"/>
    <p:sldLayoutId id="2147484087" r:id="rId15"/>
    <p:sldLayoutId id="2147484082" r:id="rId16"/>
    <p:sldLayoutId id="2147484088" r:id="rId17"/>
    <p:sldLayoutId id="2147484084" r:id="rId18"/>
    <p:sldLayoutId id="2147484090" r:id="rId19"/>
    <p:sldLayoutId id="2147484085" r:id="rId20"/>
    <p:sldLayoutId id="2147484095" r:id="rId21"/>
    <p:sldLayoutId id="2147484096" r:id="rId22"/>
    <p:sldLayoutId id="2147484097" r:id="rId23"/>
    <p:sldLayoutId id="2147484098" r:id="rId24"/>
    <p:sldLayoutId id="2147484099" r:id="rId25"/>
    <p:sldLayoutId id="2147484100" r:id="rId26"/>
    <p:sldLayoutId id="2147484101" r:id="rId27"/>
    <p:sldLayoutId id="2147484102" r:id="rId28"/>
    <p:sldLayoutId id="2147484103" r:id="rId29"/>
    <p:sldLayoutId id="2147484104" r:id="rId30"/>
    <p:sldLayoutId id="2147484105" r:id="rId31"/>
    <p:sldLayoutId id="2147484106" r:id="rId32"/>
    <p:sldLayoutId id="2147484107" r:id="rId33"/>
    <p:sldLayoutId id="2147484108" r:id="rId34"/>
    <p:sldLayoutId id="2147484109" r:id="rId35"/>
    <p:sldLayoutId id="2147484110" r:id="rId36"/>
    <p:sldLayoutId id="2147484111" r:id="rId37"/>
    <p:sldLayoutId id="2147484112" r:id="rId38"/>
    <p:sldLayoutId id="2147484113" r:id="rId39"/>
    <p:sldLayoutId id="2147484114" r:id="rId40"/>
    <p:sldLayoutId id="2147484050" r:id="rId4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1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10.xml"/><Relationship Id="rId8" Type="http://schemas.openxmlformats.org/officeDocument/2006/relationships/slide" Target="slide1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slide" Target="slide11.xml"/><Relationship Id="rId8" Type="http://schemas.openxmlformats.org/officeDocument/2006/relationships/slide" Target="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0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17.xml"/><Relationship Id="rId8" Type="http://schemas.openxmlformats.org/officeDocument/2006/relationships/slide" Target="slide16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2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18.xml"/><Relationship Id="rId8" Type="http://schemas.openxmlformats.org/officeDocument/2006/relationships/slide" Target="slide17.xml"/><Relationship Id="rId9" Type="http://schemas.openxmlformats.org/officeDocument/2006/relationships/slide" Target="slide16.xml"/><Relationship Id="rId10" Type="http://schemas.openxmlformats.org/officeDocument/2006/relationships/slide" Target="slide19.xml"/><Relationship Id="rId11" Type="http://schemas.openxmlformats.org/officeDocument/2006/relationships/slide" Target="slide2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19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6.xml"/><Relationship Id="rId11" Type="http://schemas.openxmlformats.org/officeDocument/2006/relationships/slide" Target="slide20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image" Target="../media/image28.png"/><Relationship Id="rId6" Type="http://schemas.openxmlformats.org/officeDocument/2006/relationships/image" Target="../media/image29.png"/><Relationship Id="rId7" Type="http://schemas.openxmlformats.org/officeDocument/2006/relationships/slide" Target="slide20.xml"/><Relationship Id="rId8" Type="http://schemas.openxmlformats.org/officeDocument/2006/relationships/slide" Target="slide17.xml"/><Relationship Id="rId9" Type="http://schemas.openxmlformats.org/officeDocument/2006/relationships/slide" Target="slide18.xml"/><Relationship Id="rId10" Type="http://schemas.openxmlformats.org/officeDocument/2006/relationships/slide" Target="slide19.xml"/><Relationship Id="rId11" Type="http://schemas.openxmlformats.org/officeDocument/2006/relationships/slide" Target="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image" Target="../media/image24.png"/><Relationship Id="rId3" Type="http://schemas.openxmlformats.org/officeDocument/2006/relationships/image" Target="../media/image59.sv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image" Target="../media/image3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30.png"/><Relationship Id="rId3" Type="http://schemas.openxmlformats.org/officeDocument/2006/relationships/image" Target="../media/image24.png"/><Relationship Id="rId4" Type="http://schemas.openxmlformats.org/officeDocument/2006/relationships/image" Target="../media/image59.svg"/><Relationship Id="rId5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1944324" y="2059691"/>
            <a:ext cx="1492716" cy="1446550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ko-KR" sz="8800" b="1" dirty="0">
                <a:ln w="22225">
                  <a:noFill/>
                  <a:prstDash val="solid"/>
                </a:ln>
                <a:solidFill>
                  <a:srgbClr val="EC4C79"/>
                </a:solidFill>
                <a:latin typeface="+mj-ea"/>
                <a:ea typeface="+mj-ea"/>
              </a:rPr>
              <a:t>01</a:t>
            </a:r>
            <a:endParaRPr lang="ko-KR" altLang="en-US" sz="8800" b="1" dirty="0">
              <a:ln w="22225">
                <a:noFill/>
                <a:prstDash val="solid"/>
              </a:ln>
              <a:solidFill>
                <a:srgbClr val="EC4C79"/>
              </a:solidFill>
              <a:latin typeface="+mj-ea"/>
              <a:ea typeface="+mj-ea"/>
            </a:endParaRPr>
          </a:p>
        </p:txBody>
      </p:sp>
      <p:pic>
        <p:nvPicPr>
          <p:cNvPr id="14" name="그래픽 13">
            <a:extLst>
              <a:ext uri="{FF2B5EF4-FFF2-40B4-BE49-F238E27FC236}">
                <a16:creationId xmlns:a16="http://schemas.microsoft.com/office/drawing/2014/main" id="{35DACDE9-C2C6-6DAB-E125-F5168FF9B96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6" y="91875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269B94-2C83-35BC-C956-FDFEF072477E}"/>
              </a:ext>
            </a:extLst>
          </p:cNvPr>
          <p:cNvSpPr txBox="1"/>
          <p:nvPr/>
        </p:nvSpPr>
        <p:spPr>
          <a:xfrm>
            <a:off x="382725" y="703659"/>
            <a:ext cx="28015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8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en-US" altLang="ko-KR" sz="2800" b="1" dirty="0" smtClean="0">
                <a:solidFill>
                  <a:schemeClr val="bg1"/>
                </a:solidFill>
                <a:latin typeface="+mj-ea"/>
                <a:ea typeface="+mj-ea"/>
              </a:rPr>
              <a:t> </a:t>
            </a:r>
            <a:r>
              <a:rPr lang="ko-KR" altLang="en-US" sz="2800" b="1" dirty="0" smtClean="0">
                <a:solidFill>
                  <a:schemeClr val="bg1"/>
                </a:solidFill>
                <a:latin typeface="+mj-ea"/>
                <a:ea typeface="+mj-ea"/>
              </a:rPr>
              <a:t>도덕적인 사람</a:t>
            </a:r>
            <a:endParaRPr lang="ko-KR" altLang="en-US" sz="28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en-US" altLang="ko-KR" sz="1100" b="1" dirty="0" smtClean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437040" y="2268741"/>
            <a:ext cx="75618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도덕적으로 행동하지 </a:t>
            </a:r>
            <a:endParaRPr lang="en-US" altLang="ko-KR" sz="5400" b="1" dirty="0" smtClean="0">
              <a:ln w="22225">
                <a:noFill/>
                <a:prstDash val="solid"/>
              </a:ln>
              <a:latin typeface="+mj-ea"/>
              <a:ea typeface="+mj-ea"/>
            </a:endParaRPr>
          </a:p>
          <a:p>
            <a:r>
              <a:rPr lang="ko-KR" altLang="en-US" sz="5400" b="1" dirty="0" smtClean="0">
                <a:ln w="22225">
                  <a:noFill/>
                  <a:prstDash val="solid"/>
                </a:ln>
                <a:latin typeface="+mj-ea"/>
                <a:ea typeface="+mj-ea"/>
              </a:rPr>
              <a:t>못하는 </a:t>
            </a:r>
            <a:r>
              <a:rPr lang="ko-KR" altLang="en-US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원인은 무엇일까</a:t>
            </a:r>
            <a:r>
              <a:rPr lang="en-US" altLang="ko-KR" sz="5400" b="1" dirty="0">
                <a:ln w="22225">
                  <a:noFill/>
                  <a:prstDash val="solid"/>
                </a:ln>
                <a:latin typeface="+mj-ea"/>
                <a:ea typeface="+mj-ea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260975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그룹 17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2943980"/>
            <a:ext cx="10293350" cy="787400"/>
            <a:chOff x="914400" y="2362200"/>
            <a:chExt cx="10293350" cy="787400"/>
          </a:xfrm>
        </p:grpSpPr>
        <p:sp>
          <p:nvSpPr>
            <p:cNvPr id="2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2" name="그래픽 11">
            <a:extLst>
              <a:ext uri="{FF2B5EF4-FFF2-40B4-BE49-F238E27FC236}">
                <a16:creationId xmlns:a16="http://schemas.microsoft.com/office/drawing/2014/main" id="{B49DEA9B-1154-3815-CBC5-0CC2A6AB517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466BC039-4F7A-8EFF-34FB-19EC1D406140}"/>
              </a:ext>
            </a:extLst>
          </p:cNvPr>
          <p:cNvSpPr txBox="1"/>
          <p:nvPr/>
        </p:nvSpPr>
        <p:spPr>
          <a:xfrm>
            <a:off x="1033314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 목표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323387F2-F0F2-2F6D-DB56-EE32593EA49E}"/>
              </a:ext>
            </a:extLst>
          </p:cNvPr>
          <p:cNvGrpSpPr/>
          <p:nvPr/>
        </p:nvGrpSpPr>
        <p:grpSpPr>
          <a:xfrm>
            <a:off x="787400" y="1765300"/>
            <a:ext cx="10293350" cy="787400"/>
            <a:chOff x="914400" y="2362200"/>
            <a:chExt cx="10293350" cy="787400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429C8124-E36A-14C4-0A75-6EEA8AF670C6}"/>
                </a:ext>
              </a:extLst>
            </p:cNvPr>
            <p:cNvSpPr/>
            <p:nvPr/>
          </p:nvSpPr>
          <p:spPr>
            <a:xfrm>
              <a:off x="914400" y="2362200"/>
              <a:ext cx="10293350" cy="787400"/>
            </a:xfrm>
            <a:prstGeom prst="roundRect">
              <a:avLst/>
            </a:prstGeom>
            <a:solidFill>
              <a:srgbClr val="F3F2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5C28D4DD-371F-4568-9198-B5D58BBCD7F3}"/>
                </a:ext>
              </a:extLst>
            </p:cNvPr>
            <p:cNvSpPr/>
            <p:nvPr/>
          </p:nvSpPr>
          <p:spPr>
            <a:xfrm>
              <a:off x="1123950" y="2702452"/>
              <a:ext cx="106897" cy="106897"/>
            </a:xfrm>
            <a:prstGeom prst="ellipse">
              <a:avLst/>
            </a:prstGeom>
            <a:solidFill>
              <a:srgbClr val="8D7FE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7938193-A932-45B4-4A78-75A57E0BE7EA}"/>
              </a:ext>
            </a:extLst>
          </p:cNvPr>
          <p:cNvSpPr txBox="1"/>
          <p:nvPr/>
        </p:nvSpPr>
        <p:spPr>
          <a:xfrm>
            <a:off x="1204394" y="1786422"/>
            <a:ext cx="9228663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spc="-150" dirty="0">
                <a:solidFill>
                  <a:prstClr val="black"/>
                </a:solidFill>
                <a:latin typeface="+mn-ea"/>
              </a:rPr>
              <a:t>도덕적으로 행동하지 못하는 여러 원인을 분석할 수 있다</a:t>
            </a:r>
            <a:r>
              <a:rPr lang="en-US" altLang="ko-KR" sz="2800" b="1" spc="-150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DEFC0A-ECEA-44C9-A48A-4E7115B80B96}"/>
              </a:ext>
            </a:extLst>
          </p:cNvPr>
          <p:cNvSpPr txBox="1"/>
          <p:nvPr/>
        </p:nvSpPr>
        <p:spPr>
          <a:xfrm>
            <a:off x="1204394" y="2975356"/>
            <a:ext cx="9629759" cy="65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800" b="1" dirty="0">
                <a:solidFill>
                  <a:prstClr val="black"/>
                </a:solidFill>
                <a:latin typeface="+mn-ea"/>
              </a:rPr>
              <a:t>일상에서 도덕적으로 행동하는 태도를 지닌다</a:t>
            </a:r>
            <a:r>
              <a:rPr lang="en-US" altLang="ko-KR" sz="2800" b="1" dirty="0">
                <a:solidFill>
                  <a:prstClr val="black"/>
                </a:solidFill>
                <a:latin typeface="+mn-ea"/>
              </a:rPr>
              <a:t>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pic>
        <p:nvPicPr>
          <p:cNvPr id="33" name="그림 32" descr="만화 영화, 곰, 클립아트, 동물 피규어이(가) 표시된 사진&#10;&#10;자동 생성된 설명">
            <a:extLst>
              <a:ext uri="{FF2B5EF4-FFF2-40B4-BE49-F238E27FC236}">
                <a16:creationId xmlns:a16="http://schemas.microsoft.com/office/drawing/2014/main" id="{E0F4FC48-0C07-EF74-A58A-2F6632EE2F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H="1">
            <a:off x="10071099" y="5101659"/>
            <a:ext cx="1582391" cy="1762827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801087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직사각형 35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타원 33">
            <a:hlinkClick r:id="" action="ppaction://hlinkshowjump?jump=nextslide"/>
          </p:cNvPr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4" name="그림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087" y="1631130"/>
            <a:ext cx="10325100" cy="4562475"/>
          </a:xfrm>
          <a:prstGeom prst="rect">
            <a:avLst/>
          </a:prstGeom>
        </p:spPr>
      </p:pic>
      <p:sp>
        <p:nvSpPr>
          <p:cNvPr id="25" name="직사각형 24"/>
          <p:cNvSpPr/>
          <p:nvPr/>
        </p:nvSpPr>
        <p:spPr>
          <a:xfrm>
            <a:off x="10444884" y="1631130"/>
            <a:ext cx="960840" cy="669307"/>
          </a:xfrm>
          <a:prstGeom prst="rect">
            <a:avLst/>
          </a:prstGeom>
          <a:solidFill>
            <a:srgbClr val="E8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6235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직사각형 31"/>
          <p:cNvSpPr/>
          <p:nvPr/>
        </p:nvSpPr>
        <p:spPr>
          <a:xfrm>
            <a:off x="0" y="1440004"/>
            <a:ext cx="11811000" cy="5417996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10039787" y="1763336"/>
            <a:ext cx="1264931" cy="1383051"/>
          </a:xfrm>
          <a:prstGeom prst="rect">
            <a:avLst/>
          </a:prstGeom>
          <a:solidFill>
            <a:srgbClr val="E8F7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hlinkClick r:id="" action="ppaction://hlinkshowjump?jump=previousslide"/>
          </p:cNvPr>
          <p:cNvSpPr/>
          <p:nvPr/>
        </p:nvSpPr>
        <p:spPr>
          <a:xfrm>
            <a:off x="5766101" y="626501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타원 30"/>
          <p:cNvSpPr/>
          <p:nvPr/>
        </p:nvSpPr>
        <p:spPr>
          <a:xfrm>
            <a:off x="6161476" y="6265014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/>
          <p:cNvSpPr/>
          <p:nvPr/>
        </p:nvSpPr>
        <p:spPr>
          <a:xfrm>
            <a:off x="948866" y="1669554"/>
            <a:ext cx="3153234" cy="508718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/>
          <p:cNvSpPr/>
          <p:nvPr/>
        </p:nvSpPr>
        <p:spPr>
          <a:xfrm>
            <a:off x="6279810" y="1581141"/>
            <a:ext cx="4680290" cy="508718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5" name="직사각형 34"/>
          <p:cNvSpPr/>
          <p:nvPr/>
        </p:nvSpPr>
        <p:spPr>
          <a:xfrm>
            <a:off x="9533505" y="2102548"/>
            <a:ext cx="1435100" cy="1618551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직사각형 35"/>
          <p:cNvSpPr/>
          <p:nvPr/>
        </p:nvSpPr>
        <p:spPr>
          <a:xfrm rot="1923637">
            <a:off x="5844331" y="1581285"/>
            <a:ext cx="631214" cy="371318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 rot="20146199">
            <a:off x="3846733" y="1584428"/>
            <a:ext cx="631214" cy="371318"/>
          </a:xfrm>
          <a:prstGeom prst="rect">
            <a:avLst/>
          </a:prstGeom>
          <a:solidFill>
            <a:srgbClr val="E8F6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38" name="그림 3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6087" y="1734425"/>
            <a:ext cx="10448925" cy="453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171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래픽 14">
            <a:extLst>
              <a:ext uri="{FF2B5EF4-FFF2-40B4-BE49-F238E27FC236}">
                <a16:creationId xmlns:a16="http://schemas.microsoft.com/office/drawing/2014/main" id="{98FD0005-EE86-B4E6-6D8C-80A7BEFF3B3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B0FF09-FBC7-1FCE-CA23-911B6BD983E3}"/>
              </a:ext>
            </a:extLst>
          </p:cNvPr>
          <p:cNvSpPr txBox="1"/>
          <p:nvPr/>
        </p:nvSpPr>
        <p:spPr>
          <a:xfrm>
            <a:off x="990282" y="671335"/>
            <a:ext cx="15247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생각 열기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10161353" y="942681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만화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27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3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2967415"/>
            <a:ext cx="10293350" cy="2174739"/>
          </a:xfrm>
          <a:prstGeom prst="roundRect">
            <a:avLst>
              <a:gd name="adj" fmla="val 8608"/>
            </a:avLst>
          </a:prstGeom>
          <a:solidFill>
            <a:srgbClr val="F3F2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65588" y="2966915"/>
            <a:ext cx="9784141" cy="1128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수업 시간에 큰 소리로 떠들며 다른 친구의 공부를 방해했던 일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: </a:t>
            </a: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+mn-ea"/>
              </a:rPr>
              <a:t>다른 친구에게 방해가 된다고 미처 생각하지 못해서이다</a:t>
            </a:r>
            <a:r>
              <a:rPr lang="en-US" altLang="ko-KR" sz="2400" dirty="0">
                <a:solidFill>
                  <a:srgbClr val="0070C0"/>
                </a:solidFill>
                <a:latin typeface="+mn-ea"/>
              </a:rPr>
              <a:t>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다음 그림처럼 도덕적으로 행동하지 못했던 경험과 그렇게 행동한 까닭을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26" name="그림 2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79489"/>
            <a:ext cx="487174" cy="487174"/>
          </a:xfrm>
          <a:prstGeom prst="rect">
            <a:avLst/>
          </a:prstGeom>
        </p:spPr>
      </p:pic>
      <p:grpSp>
        <p:nvGrpSpPr>
          <p:cNvPr id="27" name="그룹 2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79489"/>
            <a:ext cx="1087577" cy="495431"/>
            <a:chOff x="10075659" y="2003022"/>
            <a:chExt cx="1156006" cy="495431"/>
          </a:xfrm>
        </p:grpSpPr>
        <p:pic>
          <p:nvPicPr>
            <p:cNvPr id="31" name="그림 30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3293339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</p:childTnLst>
        </p:cTn>
      </p:par>
    </p:tnLst>
    <p:bldLst>
      <p:bldP spid="24" grpId="0"/>
      <p:bldP spid="2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23314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도덕적 무지</a:t>
            </a:r>
          </a:p>
          <a:p>
            <a:pPr algn="just">
              <a:lnSpc>
                <a:spcPct val="150000"/>
              </a:lnSpc>
            </a:pPr>
            <a:r>
              <a:rPr lang="ko-KR" altLang="en-US" sz="2400" dirty="0">
                <a:latin typeface="+mn-ea"/>
              </a:rPr>
              <a:t>① 어떤 문제를 도덕적인 문제로 생각하지 못하거나 무엇이 옳은지 그른지 알지 </a:t>
            </a:r>
            <a:endParaRPr lang="en-US" altLang="ko-KR" sz="2400" dirty="0" smtClean="0"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못함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b="1" dirty="0">
              <a:solidFill>
                <a:schemeClr val="accent2">
                  <a:lumMod val="50000"/>
                </a:schemeClr>
              </a:solidFill>
              <a:latin typeface="+mn-ea"/>
            </a:endParaRPr>
          </a:p>
          <a:p>
            <a:pPr algn="just">
              <a:lnSpc>
                <a:spcPct val="150000"/>
              </a:lnSpc>
            </a:pPr>
            <a:r>
              <a:rPr lang="ko-KR" altLang="en-US" sz="2400" dirty="0" smtClean="0">
                <a:latin typeface="+mn-ea"/>
              </a:rPr>
              <a:t>② 도덕적으로 </a:t>
            </a:r>
            <a:r>
              <a:rPr lang="ko-KR" altLang="en-US" sz="2400" dirty="0">
                <a:latin typeface="+mn-ea"/>
              </a:rPr>
              <a:t>무지하면 도덕적으로 행동하기 어려움</a:t>
            </a:r>
            <a:r>
              <a:rPr lang="en-US" altLang="ko-KR" sz="2400" dirty="0" smtClean="0">
                <a:latin typeface="+mn-ea"/>
              </a:rPr>
              <a:t>.</a:t>
            </a:r>
            <a:endParaRPr lang="en-US" altLang="ko-KR" sz="240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무엇이 옳거나 그른지 알지 못해서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845481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4136517"/>
            <a:ext cx="6495034" cy="2721483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TextBox 11"/>
          <p:cNvSpPr txBox="1"/>
          <p:nvPr/>
        </p:nvSpPr>
        <p:spPr>
          <a:xfrm>
            <a:off x="2840018" y="1248176"/>
            <a:ext cx="8601887" cy="2631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>
              <a:lnSpc>
                <a:spcPct val="150000"/>
              </a:lnSpc>
            </a:pPr>
            <a:r>
              <a:rPr lang="ko-KR" altLang="en-US" sz="2200" spc="-150" dirty="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지안이는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일상에서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물휴지를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아무렇지 않게 사용하는 편이다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교실 책상을 닦을 때는 물론이고 방 청소를 할 때도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물휴지를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많이 사용한다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왜냐하면 걸레는 빨아서 말려 써야 해서 귀찮지만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물휴지는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사용하고 바로 버릴 수 있어서 편리하기 때문이다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그런데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지안이는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수업 시간에 일회용품 사용에 관해 공부하다가 플라스틱 소재로 만든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물휴지가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분해되기까지</a:t>
            </a:r>
            <a:endParaRPr lang="en-US" altLang="ko-KR" sz="2200" spc="-150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" name="직사각형 3"/>
          <p:cNvSpPr/>
          <p:nvPr/>
        </p:nvSpPr>
        <p:spPr>
          <a:xfrm>
            <a:off x="6495034" y="3804872"/>
            <a:ext cx="4946871" cy="2631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200" spc="-300" dirty="0">
                <a:latin typeface="굴림" panose="020B0600000101010101" pitchFamily="50" charset="-127"/>
                <a:ea typeface="굴림" panose="020B0600000101010101" pitchFamily="50" charset="-127"/>
              </a:rPr>
              <a:t>500</a:t>
            </a:r>
            <a:r>
              <a:rPr lang="ko-KR" altLang="en-US" sz="2200" spc="-300" dirty="0">
                <a:latin typeface="굴림" panose="020B0600000101010101" pitchFamily="50" charset="-127"/>
                <a:ea typeface="굴림" panose="020B0600000101010101" pitchFamily="50" charset="-127"/>
              </a:rPr>
              <a:t>여 년이 필요하고</a:t>
            </a:r>
            <a:r>
              <a:rPr lang="en-US" altLang="ko-KR" sz="2200" spc="-30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300" dirty="0">
                <a:latin typeface="굴림" panose="020B0600000101010101" pitchFamily="50" charset="-127"/>
                <a:ea typeface="굴림" panose="020B0600000101010101" pitchFamily="50" charset="-127"/>
              </a:rPr>
              <a:t>물에 녹지 않아 하수 처리장이 고장 나는 원인이기도 하다는 사실을 알게 되었다</a:t>
            </a:r>
            <a:r>
              <a:rPr lang="en-US" altLang="ko-KR" sz="2200" spc="-30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300" dirty="0" err="1">
                <a:latin typeface="굴림" panose="020B0600000101010101" pitchFamily="50" charset="-127"/>
                <a:ea typeface="굴림" panose="020B0600000101010101" pitchFamily="50" charset="-127"/>
              </a:rPr>
              <a:t>물휴지가</a:t>
            </a:r>
            <a:r>
              <a:rPr lang="ko-KR" altLang="en-US" sz="2200" spc="-300" dirty="0">
                <a:latin typeface="굴림" panose="020B0600000101010101" pitchFamily="50" charset="-127"/>
                <a:ea typeface="굴림" panose="020B0600000101010101" pitchFamily="50" charset="-127"/>
              </a:rPr>
              <a:t> 환경에 미치는 영향을 생각하지 못했던 </a:t>
            </a:r>
            <a:r>
              <a:rPr lang="ko-KR" altLang="en-US" sz="2200" spc="-300" dirty="0" err="1">
                <a:latin typeface="굴림" panose="020B0600000101010101" pitchFamily="50" charset="-127"/>
                <a:ea typeface="굴림" panose="020B0600000101010101" pitchFamily="50" charset="-127"/>
              </a:rPr>
              <a:t>지안이는</a:t>
            </a:r>
            <a:r>
              <a:rPr lang="ko-KR" altLang="en-US" sz="2200" spc="-300" dirty="0">
                <a:latin typeface="굴림" panose="020B0600000101010101" pitchFamily="50" charset="-127"/>
                <a:ea typeface="굴림" panose="020B0600000101010101" pitchFamily="50" charset="-127"/>
              </a:rPr>
              <a:t> 평소 자신의 일회용품 사용 습관을 반성해 보았다</a:t>
            </a:r>
            <a:r>
              <a:rPr lang="en-US" altLang="ko-KR" sz="2200" spc="-3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9369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 err="1"/>
              <a:t>지안이가</a:t>
            </a:r>
            <a:r>
              <a:rPr lang="ko-KR" altLang="en-US" sz="2000" b="1" dirty="0"/>
              <a:t> 일상에서 </a:t>
            </a:r>
            <a:r>
              <a:rPr lang="ko-KR" altLang="en-US" sz="2000" b="1" dirty="0" err="1"/>
              <a:t>물휴지를</a:t>
            </a:r>
            <a:r>
              <a:rPr lang="ko-KR" altLang="en-US" sz="2000" b="1" dirty="0"/>
              <a:t> 무분별하게 사용했던 까닭은 무엇인지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30888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30888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047569"/>
            <a:ext cx="10293350" cy="2438831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3068438"/>
            <a:ext cx="9784141" cy="22370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물휴지가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환경에 미치는 나쁜 영향에 대해 몰랐기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때문이다</a:t>
            </a:r>
            <a:r>
              <a:rPr lang="en-US" altLang="ko-KR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플라스틱 소재로 만든 </a:t>
            </a:r>
            <a:r>
              <a:rPr lang="ko-KR" altLang="en-US" sz="2400" dirty="0" err="1">
                <a:solidFill>
                  <a:srgbClr val="0070C0"/>
                </a:solidFill>
                <a:latin typeface="Arial Rounded MT Bold" panose="020F0704030504030204" pitchFamily="34" charset="0"/>
              </a:rPr>
              <a:t>물휴지가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 분해되기까지 수백 년이 필요하고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,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물에 녹지 않아 하수 처리장이 고장 나는 원인이기도 하다는 사실을 몰랐기 </a:t>
            </a:r>
            <a:r>
              <a:rPr lang="ko-KR" altLang="en-US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때문이다</a:t>
            </a:r>
            <a:r>
              <a:rPr lang="en-US" altLang="ko-KR" sz="2400" dirty="0" smtClean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  <a:endParaRPr lang="ko-KR" altLang="en-US" sz="2400" dirty="0">
              <a:solidFill>
                <a:srgbClr val="0070C0"/>
              </a:solidFill>
              <a:latin typeface="Arial Rounded MT Bold" panose="020F0704030504030204" pitchFamily="34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28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7312415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학습하기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2056" y="1510186"/>
            <a:ext cx="11028475" cy="4131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의지의 나약함</a:t>
            </a:r>
            <a:r>
              <a:rPr lang="en-US" altLang="ko-KR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2500" dirty="0">
                <a:latin typeface="+mn-ea"/>
              </a:rPr>
              <a:t>이기심이나 귀찮음 때문에 나타날 수 있음</a:t>
            </a:r>
            <a:r>
              <a:rPr lang="en-US" altLang="ko-KR" sz="25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자기 정당화</a:t>
            </a:r>
            <a:r>
              <a:rPr lang="en-US" altLang="ko-KR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2500" dirty="0">
                <a:latin typeface="+mn-ea"/>
              </a:rPr>
              <a:t>도덕적이지 못한 행동에 죄책감을 느끼지 않기 위해 그럴듯한 이유를 만들어 자기 행동이 옳다고 믿음</a:t>
            </a:r>
            <a:r>
              <a:rPr lang="en-US" altLang="ko-KR" sz="25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무관심</a:t>
            </a:r>
            <a:r>
              <a:rPr lang="en-US" altLang="ko-KR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2500" dirty="0">
                <a:latin typeface="+mn-ea"/>
              </a:rPr>
              <a:t>다른 사람이 겪는 고통을 내 일이 아니라고 생각하거나 무시하게 함으로써 도덕적 행동을 어렵게 함</a:t>
            </a:r>
            <a:r>
              <a:rPr lang="en-US" altLang="ko-KR" sz="2500" dirty="0">
                <a:latin typeface="+mn-ea"/>
              </a:rPr>
              <a:t>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상황의 압력</a:t>
            </a:r>
            <a:r>
              <a:rPr lang="en-US" altLang="ko-KR" sz="2500" b="1" dirty="0">
                <a:solidFill>
                  <a:schemeClr val="accent2">
                    <a:lumMod val="50000"/>
                  </a:schemeClr>
                </a:solidFill>
                <a:latin typeface="+mn-ea"/>
              </a:rPr>
              <a:t>: </a:t>
            </a:r>
            <a:r>
              <a:rPr lang="ko-KR" altLang="en-US" sz="2500" spc="-150" dirty="0">
                <a:latin typeface="+mn-ea"/>
              </a:rPr>
              <a:t>자신이 속한 집단이 도덕적 행동을 하지 못하도록 압력을 가하거나 도덕적 행동을 비난하는 상황에서는 바람직하게 행동하기 어려움</a:t>
            </a:r>
            <a:r>
              <a:rPr lang="en-US" altLang="ko-KR" sz="2500" spc="-150" dirty="0">
                <a:latin typeface="+mn-ea"/>
              </a:rPr>
              <a:t>.</a:t>
            </a:r>
            <a:endParaRPr lang="en-US" altLang="ko-KR" sz="2400" spc="-150" dirty="0">
              <a:latin typeface="+mn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>
                <a:solidFill>
                  <a:srgbClr val="FFFF00"/>
                </a:solidFill>
                <a:latin typeface="+mn-ea"/>
              </a:rPr>
              <a:t>알면서도 행동으로 옮기기 어려워서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199231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9" name="Picture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087" y="3793230"/>
            <a:ext cx="3402223" cy="236693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0" name="Picture 5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065" y="1788851"/>
            <a:ext cx="3281245" cy="210207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직사각형 1"/>
          <p:cNvSpPr/>
          <p:nvPr/>
        </p:nvSpPr>
        <p:spPr>
          <a:xfrm>
            <a:off x="4429287" y="1477566"/>
            <a:ext cx="6946637" cy="4662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곰과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토끼는 서로 옆집에 사는 친구이다. 같은 학교, 같은 반이어서 매일 아침 학교에 같이 가고 잘 때까지 휴대 전화 메시지로 수다 떠는 친구 사이이다. 그런데 곰은 교문에 가까워지면 토끼를 모르는 척한다. 친구들에게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따돌림당하는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토끼를 모르는 척하는 것이 자기에게 더 이익이 되기 때문이다. 심지어 곰은 “너는 그게 문제야. 왜 그렇게 쌀쌀맞아? 애들한테 조금 더 친근하게 대해 봐.”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라고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 말하며 따돌림의 원인을 토끼에게 돌리기도 한다</a:t>
            </a: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  <a:endParaRPr lang="ko-KR" altLang="en-US" dirty="0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sp>
        <p:nvSpPr>
          <p:cNvPr id="14" name="타원 13">
            <a:hlinkClick r:id="rId7" action="ppaction://hlinksldjump"/>
          </p:cNvPr>
          <p:cNvSpPr/>
          <p:nvPr/>
        </p:nvSpPr>
        <p:spPr>
          <a:xfrm>
            <a:off x="5569293" y="6160168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15" name="타원 14">
            <a:hlinkClick r:id="rId8" action="ppaction://hlinksldjump"/>
          </p:cNvPr>
          <p:cNvSpPr/>
          <p:nvPr/>
        </p:nvSpPr>
        <p:spPr>
          <a:xfrm>
            <a:off x="5955614" y="6145954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7742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7FC7077-6FC2-8E57-EAED-0BADF0605DE5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pic>
        <p:nvPicPr>
          <p:cNvPr id="29" name="Picture 3"/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6087" y="3793230"/>
            <a:ext cx="3402223" cy="2366938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0" name="Picture 5"/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7065" y="1788851"/>
            <a:ext cx="3281245" cy="210207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직사각형 1"/>
          <p:cNvSpPr/>
          <p:nvPr/>
        </p:nvSpPr>
        <p:spPr>
          <a:xfrm>
            <a:off x="4429287" y="1477566"/>
            <a:ext cx="6946637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토끼의 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고통을 알기 때문에 마음이 불편하지만 토끼를 모르는 척하는 곰도, 대다수 아이의 눈치를 보느라 항상 불안해 보이는 </a:t>
            </a:r>
            <a:r>
              <a:rPr lang="ko-KR" altLang="en-US" sz="2200" dirty="0" err="1">
                <a:latin typeface="굴림" panose="020B0600000101010101" pitchFamily="50" charset="-127"/>
                <a:ea typeface="굴림" panose="020B0600000101010101" pitchFamily="50" charset="-127"/>
              </a:rPr>
              <a:t>미어캣들도</a:t>
            </a:r>
            <a:r>
              <a:rPr lang="ko-KR" altLang="en-US" sz="2200" dirty="0">
                <a:latin typeface="굴림" panose="020B0600000101010101" pitchFamily="50" charset="-127"/>
                <a:ea typeface="굴림" panose="020B0600000101010101" pitchFamily="50" charset="-127"/>
              </a:rPr>
              <a:t>, 공부하느라 이런 일에 관심 없는 여우까지, 이 상황에 관해 모두 아무 말도 하지 않는다.                </a:t>
            </a:r>
            <a:endParaRPr lang="en-US" altLang="ko-KR" sz="2200" dirty="0" smtClean="0">
              <a:latin typeface="굴림" panose="020B0600000101010101" pitchFamily="50" charset="-127"/>
              <a:ea typeface="굴림" panose="020B0600000101010101" pitchFamily="50" charset="-127"/>
            </a:endParaRPr>
          </a:p>
          <a:p>
            <a:pPr algn="r">
              <a:lnSpc>
                <a:spcPct val="150000"/>
              </a:lnSpc>
            </a:pPr>
            <a:r>
              <a:rPr lang="ko-KR" altLang="en-US" sz="220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     </a:t>
            </a:r>
            <a:r>
              <a:rPr lang="ko-KR" altLang="en-US" dirty="0" smtClean="0">
                <a:latin typeface="굴림" panose="020B0600000101010101" pitchFamily="50" charset="-127"/>
                <a:ea typeface="굴림" panose="020B0600000101010101" pitchFamily="50" charset="-127"/>
              </a:rPr>
              <a:t>- </a:t>
            </a:r>
            <a:r>
              <a:rPr lang="ko-KR" altLang="en-US" dirty="0">
                <a:latin typeface="굴림" panose="020B0600000101010101" pitchFamily="50" charset="-127"/>
                <a:ea typeface="굴림" panose="020B0600000101010101" pitchFamily="50" charset="-127"/>
              </a:rPr>
              <a:t>이수연, 《달에서 아침을》</a:t>
            </a:r>
          </a:p>
        </p:txBody>
      </p:sp>
      <p:sp>
        <p:nvSpPr>
          <p:cNvPr id="19" name="타원 18">
            <a:hlinkClick r:id="rId7" action="ppaction://hlinksldjump"/>
          </p:cNvPr>
          <p:cNvSpPr/>
          <p:nvPr/>
        </p:nvSpPr>
        <p:spPr>
          <a:xfrm>
            <a:off x="5956935" y="6089965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1" name="타원 20">
            <a:hlinkClick r:id="rId8" action="ppaction://hlinksldjump"/>
          </p:cNvPr>
          <p:cNvSpPr/>
          <p:nvPr/>
        </p:nvSpPr>
        <p:spPr>
          <a:xfrm>
            <a:off x="5546205" y="609148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091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래픽 2">
            <a:extLst>
              <a:ext uri="{FF2B5EF4-FFF2-40B4-BE49-F238E27FC236}">
                <a16:creationId xmlns:a16="http://schemas.microsoft.com/office/drawing/2014/main" id="{F695BB44-4BBC-7E52-5610-8BC39FA97141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041B3F4F-86F9-2158-DD7F-8D9E49FA9043}"/>
              </a:ext>
            </a:extLst>
          </p:cNvPr>
          <p:cNvSpPr txBox="1"/>
          <p:nvPr/>
        </p:nvSpPr>
        <p:spPr>
          <a:xfrm>
            <a:off x="1022556" y="671335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 smtClean="0">
                <a:solidFill>
                  <a:schemeClr val="bg1"/>
                </a:solidFill>
                <a:latin typeface="+mj-ea"/>
                <a:ea typeface="+mj-ea"/>
              </a:rPr>
              <a:t>생각하기</a:t>
            </a:r>
            <a:endParaRPr lang="ko-KR" altLang="en-US" sz="24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000" b="1" dirty="0"/>
              <a:t>곰이 토끼를 돕는 것이 옳다는 것을 알면서도 그렇게 행동하지 못한 까닭은 무엇인지 써 보자</a:t>
            </a:r>
            <a:r>
              <a:rPr lang="en-US" altLang="ko-KR" sz="2000" b="1" dirty="0"/>
              <a:t>.</a:t>
            </a:r>
          </a:p>
        </p:txBody>
      </p:sp>
      <p:pic>
        <p:nvPicPr>
          <p:cNvPr id="36" name="그림 35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289838"/>
            <a:ext cx="487174" cy="487174"/>
          </a:xfrm>
          <a:prstGeom prst="rect">
            <a:avLst/>
          </a:prstGeom>
        </p:spPr>
      </p:pic>
      <p:grpSp>
        <p:nvGrpSpPr>
          <p:cNvPr id="37" name="그룹 36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289838"/>
            <a:ext cx="1087577" cy="495431"/>
            <a:chOff x="10075659" y="2003022"/>
            <a:chExt cx="1156006" cy="495431"/>
          </a:xfrm>
        </p:grpSpPr>
        <p:pic>
          <p:nvPicPr>
            <p:cNvPr id="38" name="그림 37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40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0285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65588" y="3049388"/>
            <a:ext cx="9784141" cy="168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•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토끼의 고통에 관심이 없었기 때문이다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•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토끼와 친하게 지내기 어려운 교실 분위기 때문이다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•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토끼를 도와주면 자신이 손해를 볼까 두려웠기 때문이다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29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39025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7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6"/>
                  </p:tgtEl>
                </p:cond>
              </p:nextCondLst>
            </p:seq>
          </p:childTnLst>
        </p:cTn>
      </p:par>
    </p:tnLst>
    <p:bldLst>
      <p:bldP spid="41" grpId="0"/>
      <p:bldP spid="41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j-ea"/>
                <a:ea typeface="+mj-ea"/>
              </a:rPr>
              <a:t>자료</a:t>
            </a:r>
            <a:r>
              <a:rPr lang="en-US" altLang="ko-KR" sz="2400" b="1" dirty="0" smtClean="0">
                <a:solidFill>
                  <a:srgbClr val="FFFF00"/>
                </a:solidFill>
                <a:latin typeface="+mj-ea"/>
                <a:ea typeface="+mj-ea"/>
              </a:rPr>
              <a:t>+</a:t>
            </a:r>
            <a:endParaRPr lang="ko-KR" altLang="en-US" sz="24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30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729" y="1223040"/>
            <a:ext cx="11499925" cy="6381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2800" b="1" dirty="0">
                <a:ln>
                  <a:solidFill>
                    <a:schemeClr val="tx1"/>
                  </a:solidFill>
                </a:ln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굴림" panose="020B0600000101010101" pitchFamily="50" charset="-127"/>
                <a:ea typeface="굴림" panose="020B0600000101010101" pitchFamily="50" charset="-127"/>
              </a:rPr>
              <a:t>소설 속에서 찾아보는 자기 정당화</a:t>
            </a:r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2D7B1CBA-488F-932A-4141-D046A5A56C89}"/>
              </a:ext>
            </a:extLst>
          </p:cNvPr>
          <p:cNvSpPr/>
          <p:nvPr/>
        </p:nvSpPr>
        <p:spPr>
          <a:xfrm>
            <a:off x="959594" y="2549935"/>
            <a:ext cx="130011" cy="130011"/>
          </a:xfrm>
          <a:prstGeom prst="ellipse">
            <a:avLst/>
          </a:prstGeom>
          <a:solidFill>
            <a:srgbClr val="70AD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576584" y="1961289"/>
            <a:ext cx="11073948" cy="44781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 </a:t>
            </a:r>
            <a:r>
              <a:rPr lang="ko-KR" altLang="en-US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소설 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《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죄와 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》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의 주인공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라스콜니코프는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돈을 빌려주고 높은 이자를 받는 일로 악명이 높은 전당포 노파를 죽이는 것은 죄가 아니라고 끊임없이 스스로 정당화한다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그는 죄책감을 느끼지 않을 뿐만 아니라 자신의 행동을 떳떳하게 여기는 잘못을 저지른다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algn="just">
              <a:lnSpc>
                <a:spcPct val="150000"/>
              </a:lnSpc>
            </a:pPr>
            <a:r>
              <a:rPr lang="en-US" altLang="ko-KR" sz="2200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   “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죄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죄라는 것은 무엇일까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?”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하고 그는 갑자기 미친듯이 큰소리로 말하기 시작하였다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“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내가 그 해로운 노파를 죽인 것을 말하는 거니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그게 죄일까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가난한 사람들의 피만 빨아먹는 이를 죽였으니 마흔 가지의 다른 죄도 용서받아 마땅하다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그게 죄가 된단 말이냐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?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그게 죄가 된다고는 생각지 않아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! ……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지금처럼 뚜렷하게 내 죄가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, 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죄가 아니라는 생각을 해 본 적이 없어</a:t>
            </a:r>
            <a:r>
              <a:rPr lang="en-US" altLang="ko-KR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!”                                       </a:t>
            </a:r>
          </a:p>
          <a:p>
            <a:pPr algn="r">
              <a:lnSpc>
                <a:spcPct val="150000"/>
              </a:lnSpc>
            </a:pP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 -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도스토옙스키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, 《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죄와 벌 </a:t>
            </a:r>
            <a:r>
              <a:rPr lang="en-US" altLang="ko-KR" spc="-150" dirty="0">
                <a:latin typeface="굴림" panose="020B0600000101010101" pitchFamily="50" charset="-127"/>
                <a:ea typeface="굴림" panose="020B0600000101010101" pitchFamily="50" charset="-127"/>
              </a:rPr>
              <a:t>2》</a:t>
            </a:r>
          </a:p>
          <a:p>
            <a:pPr algn="just">
              <a:lnSpc>
                <a:spcPct val="150000"/>
              </a:lnSpc>
            </a:pPr>
            <a:r>
              <a:rPr lang="ko-KR" altLang="en-US" spc="-150" dirty="0" smtClean="0">
                <a:solidFill>
                  <a:srgbClr val="00B05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전당포</a:t>
            </a:r>
            <a:r>
              <a:rPr lang="ko-KR" altLang="en-US" sz="1600" spc="-15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600" spc="-15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물건을 잡고 돈을 빌려주어 이익을 취하는 곳</a:t>
            </a:r>
          </a:p>
        </p:txBody>
      </p:sp>
    </p:spTree>
    <p:extLst>
      <p:ext uri="{BB962C8B-B14F-4D97-AF65-F5344CB8AC3E}">
        <p14:creationId xmlns:p14="http://schemas.microsoft.com/office/powerpoint/2010/main" val="26464572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smtClean="0">
                <a:solidFill>
                  <a:srgbClr val="FF9300"/>
                </a:solidFill>
                <a:latin typeface="+mj-ea"/>
                <a:ea typeface="+mj-ea"/>
              </a:rPr>
              <a:t>부끄러운 하루</a:t>
            </a:r>
            <a:r>
              <a:rPr lang="en-US" altLang="ko-KR" sz="2400" b="1" dirty="0" smtClean="0">
                <a:solidFill>
                  <a:srgbClr val="FF9300"/>
                </a:solidFill>
                <a:latin typeface="+mj-ea"/>
                <a:ea typeface="+mj-ea"/>
              </a:rPr>
              <a:t>, </a:t>
            </a:r>
            <a:r>
              <a:rPr lang="ko-KR" altLang="en-US" sz="2400" b="1" dirty="0" smtClean="0">
                <a:solidFill>
                  <a:srgbClr val="FF9300"/>
                </a:solidFill>
                <a:latin typeface="+mj-ea"/>
                <a:ea typeface="+mj-ea"/>
              </a:rPr>
              <a:t>일기 고쳐 쓰기</a:t>
            </a:r>
            <a:endParaRPr lang="ko-KR" altLang="en-US" sz="2400" b="1" dirty="0">
              <a:solidFill>
                <a:srgbClr val="FF9300"/>
              </a:solidFill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rgbClr val="FFFF00"/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rgbClr val="FFFF00"/>
              </a:solidFill>
              <a:latin typeface="+mj-ea"/>
              <a:ea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6C768E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474699" y="1454901"/>
            <a:ext cx="10901226" cy="5170646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오늘 등굣길에 빈곤 아동을 위해 모금 활동을 하는 자선 단체를 봤는데, </a:t>
            </a:r>
            <a:r>
              <a:rPr lang="ko-KR" altLang="en-US" sz="2200" u="sng" spc="-150" dirty="0">
                <a:latin typeface="굴림" panose="020B0600000101010101" pitchFamily="50" charset="-127"/>
                <a:ea typeface="굴림" panose="020B0600000101010101" pitchFamily="50" charset="-127"/>
              </a:rPr>
              <a:t>관심 없는 일이라서 그냥 지나쳤다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.(    ) 교실로 가던 중, 다리를 다쳐서 계단을 올라가지 못하는 친구를 만났다. 친구가 도와줄 수 있냐고 부탁했지만, </a:t>
            </a:r>
            <a:r>
              <a:rPr lang="ko-KR" altLang="en-US" sz="2200" u="sng" spc="-150" dirty="0">
                <a:latin typeface="굴림" panose="020B0600000101010101" pitchFamily="50" charset="-127"/>
                <a:ea typeface="굴림" panose="020B0600000101010101" pitchFamily="50" charset="-127"/>
              </a:rPr>
              <a:t>귀찮기도 하고 지각하면 나중에 손해를 볼까 봐 걱정되어 거절하였다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.(    ) 내가 너무 도덕적으로 행동하지 않은 것인지 양심의 가책을 느꼈다. </a:t>
            </a:r>
            <a:r>
              <a:rPr lang="ko-KR" altLang="en-US" sz="2200" u="sng" spc="-150" dirty="0">
                <a:latin typeface="굴림" panose="020B0600000101010101" pitchFamily="50" charset="-127"/>
                <a:ea typeface="굴림" panose="020B0600000101010101" pitchFamily="50" charset="-127"/>
              </a:rPr>
              <a:t>하지만 그 친구가 평소에 조심스럽게 행동하지 않아서 생긴 일이라고 생각하니 마음이 편해졌다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.(    ) 저녁 시간에는 침대에 누워서 친한 친구들과 누리 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소통망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(SNS)</a:t>
            </a:r>
            <a:r>
              <a:rPr lang="ko-KR" altLang="en-US" sz="2200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으로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 대화를 나눠서 즐거웠다. 그런데 갑자기 친구들이 우리 반 친구를 흉봐서 불편해졌다. 그만하자고 하고 싶었지만, </a:t>
            </a:r>
            <a:r>
              <a:rPr lang="ko-KR" altLang="en-US" sz="2200" u="sng" spc="-150" dirty="0">
                <a:latin typeface="굴림" panose="020B0600000101010101" pitchFamily="50" charset="-127"/>
                <a:ea typeface="굴림" panose="020B0600000101010101" pitchFamily="50" charset="-127"/>
              </a:rPr>
              <a:t>모두가 그 친구를 흉보는 상황이라서 가만히 있었다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.(    ) 기분을 풀어 보려고 신나는 음악을 틀었다. 옆집 아저씨가 찾아와서 시끄럽다며 화를 내셨다. </a:t>
            </a:r>
            <a:r>
              <a:rPr lang="ko-KR" altLang="en-US" sz="2200" u="sng" spc="-150" dirty="0">
                <a:latin typeface="굴림" panose="020B0600000101010101" pitchFamily="50" charset="-127"/>
                <a:ea typeface="굴림" panose="020B0600000101010101" pitchFamily="50" charset="-127"/>
              </a:rPr>
              <a:t>우리 집에서 음악을 듣는 것이 왜 문제인지 모르겠다</a:t>
            </a:r>
            <a:r>
              <a:rPr lang="ko-KR" altLang="en-US" sz="2200" spc="-150" dirty="0">
                <a:latin typeface="굴림" panose="020B0600000101010101" pitchFamily="50" charset="-127"/>
                <a:ea typeface="굴림" panose="020B0600000101010101" pitchFamily="50" charset="-127"/>
              </a:rPr>
              <a:t>.(      )</a:t>
            </a:r>
          </a:p>
        </p:txBody>
      </p:sp>
    </p:spTree>
    <p:extLst>
      <p:ext uri="{BB962C8B-B14F-4D97-AF65-F5344CB8AC3E}">
        <p14:creationId xmlns:p14="http://schemas.microsoft.com/office/powerpoint/2010/main" val="30971743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>
                <a:latin typeface="+mn-ea"/>
              </a:rPr>
              <a:t>1. </a:t>
            </a:r>
            <a:r>
              <a:rPr lang="ko-KR" altLang="en-US" sz="2000" b="1" dirty="0">
                <a:latin typeface="+mn-ea"/>
              </a:rPr>
              <a:t>윗글에서 밑줄 친 행동의 원인을 </a:t>
            </a:r>
            <a:r>
              <a:rPr lang="en-US" altLang="ko-KR" sz="2000" b="1" dirty="0">
                <a:latin typeface="+mn-ea"/>
              </a:rPr>
              <a:t>&lt;</a:t>
            </a:r>
            <a:r>
              <a:rPr lang="ko-KR" altLang="en-US" sz="2000" b="1" dirty="0">
                <a:latin typeface="+mn-ea"/>
              </a:rPr>
              <a:t>보기</a:t>
            </a:r>
            <a:r>
              <a:rPr lang="en-US" altLang="ko-KR" sz="2000" b="1" dirty="0">
                <a:latin typeface="+mn-ea"/>
              </a:rPr>
              <a:t>&gt;</a:t>
            </a:r>
            <a:r>
              <a:rPr lang="ko-KR" altLang="en-US" sz="2000" b="1" dirty="0">
                <a:latin typeface="+mn-ea"/>
              </a:rPr>
              <a:t>에서 찾아 괄호 안에 기호를 써 보자</a:t>
            </a:r>
            <a:r>
              <a:rPr lang="en-US" altLang="ko-KR" sz="2000" b="1" dirty="0">
                <a:latin typeface="+mn-ea"/>
              </a:rPr>
              <a:t>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</a:rPr>
              <a:t>부끄러운 하루</a:t>
            </a:r>
            <a:r>
              <a:rPr lang="en-US" altLang="ko-KR" sz="2400" b="1" dirty="0">
                <a:solidFill>
                  <a:srgbClr val="FF9300"/>
                </a:solidFill>
                <a:latin typeface="+mj-ea"/>
              </a:rPr>
              <a:t>, </a:t>
            </a:r>
            <a:r>
              <a:rPr lang="ko-KR" altLang="en-US" sz="2400" b="1" dirty="0">
                <a:solidFill>
                  <a:srgbClr val="FF9300"/>
                </a:solidFill>
                <a:latin typeface="+mj-ea"/>
              </a:rPr>
              <a:t>일기 고쳐 쓰기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552402" y="2201362"/>
            <a:ext cx="10901226" cy="3416320"/>
          </a:xfrm>
          <a:prstGeom prst="rect">
            <a:avLst/>
          </a:prstGeom>
          <a:ln w="38100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오늘 등굣길에 빈곤 아동을 위해 모금 활동을 하는 자선 단체를 봤는데, </a:t>
            </a:r>
            <a:r>
              <a:rPr lang="ko-KR" altLang="en-US" u="sng" spc="-150" dirty="0">
                <a:latin typeface="굴림" panose="020B0600000101010101" pitchFamily="50" charset="-127"/>
                <a:ea typeface="굴림" panose="020B0600000101010101" pitchFamily="50" charset="-127"/>
              </a:rPr>
              <a:t>관심 없는 일이라서 그냥 지나쳤다</a:t>
            </a:r>
            <a:r>
              <a:rPr lang="ko-KR" altLang="en-US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.(     )</a:t>
            </a:r>
            <a:r>
              <a:rPr lang="ko-KR" altLang="en-US" dirty="0" smtClean="0">
                <a:solidFill>
                  <a:schemeClr val="tx1"/>
                </a:solidFill>
                <a:latin typeface="Arial Rounded MT Bold" panose="020F0704030504030204" pitchFamily="34" charset="0"/>
              </a:rPr>
              <a:t> </a:t>
            </a:r>
            <a:r>
              <a:rPr lang="ko-KR" altLang="en-US" spc="-150" dirty="0" smtClean="0">
                <a:latin typeface="굴림" panose="020B0600000101010101" pitchFamily="50" charset="-127"/>
                <a:ea typeface="굴림" panose="020B0600000101010101" pitchFamily="50" charset="-127"/>
              </a:rPr>
              <a:t>교실로 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가던 중, 다리를 다쳐서 계단을 올라가지 못하는 친구를 만났다. 친구가 도와줄 수 있냐고 부탁했지만, </a:t>
            </a:r>
            <a:r>
              <a:rPr lang="ko-KR" altLang="en-US" u="sng" spc="-150" dirty="0">
                <a:latin typeface="굴림" panose="020B0600000101010101" pitchFamily="50" charset="-127"/>
                <a:ea typeface="굴림" panose="020B0600000101010101" pitchFamily="50" charset="-127"/>
              </a:rPr>
              <a:t>귀찮기도 하고 지각하면 나중에 손해를 볼까 봐 걱정되어 거절하였다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.(    ) 내가 너무 도덕적으로 행동하지 않은 것인지 양심의 가책을 느꼈다. </a:t>
            </a:r>
            <a:r>
              <a:rPr lang="ko-KR" altLang="en-US" u="sng" spc="-150" dirty="0">
                <a:latin typeface="굴림" panose="020B0600000101010101" pitchFamily="50" charset="-127"/>
                <a:ea typeface="굴림" panose="020B0600000101010101" pitchFamily="50" charset="-127"/>
              </a:rPr>
              <a:t>하지만 그 친구가 평소에 조심스럽게 행동하지 않아서 생긴 일이라고 생각하니 마음이 편해졌다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.(    ) 저녁 시간에는 침대에 누워서 친한 친구들과 누리 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소통망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(SNS)</a:t>
            </a:r>
            <a:r>
              <a:rPr lang="ko-KR" altLang="en-US" spc="-150" dirty="0" err="1">
                <a:latin typeface="굴림" panose="020B0600000101010101" pitchFamily="50" charset="-127"/>
                <a:ea typeface="굴림" panose="020B0600000101010101" pitchFamily="50" charset="-127"/>
              </a:rPr>
              <a:t>으로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 대화를 나눠서 즐거웠다. 그런데 갑자기 친구들이 우리 반 친구를 흉봐서 불편해졌다. 그만하자고 하고 싶었지만, </a:t>
            </a:r>
            <a:r>
              <a:rPr lang="ko-KR" altLang="en-US" u="sng" spc="-150" dirty="0">
                <a:latin typeface="굴림" panose="020B0600000101010101" pitchFamily="50" charset="-127"/>
                <a:ea typeface="굴림" panose="020B0600000101010101" pitchFamily="50" charset="-127"/>
              </a:rPr>
              <a:t>모두가 그 친구를 흉보는 상황이라서 가만히 있었다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.(    ) 기분을 풀어 보려고 신나는 음악을 틀었다. 옆집 아저씨가 찾아와서 시끄럽다며 화를 내셨다. </a:t>
            </a:r>
            <a:r>
              <a:rPr lang="ko-KR" altLang="en-US" u="sng" spc="-150" dirty="0">
                <a:latin typeface="굴림" panose="020B0600000101010101" pitchFamily="50" charset="-127"/>
                <a:ea typeface="굴림" panose="020B0600000101010101" pitchFamily="50" charset="-127"/>
              </a:rPr>
              <a:t>우리 집에서 음악을 듣는 것이 왜 문제인지 모르겠다</a:t>
            </a:r>
            <a:r>
              <a:rPr lang="ko-KR" altLang="en-US" spc="-150" dirty="0">
                <a:latin typeface="굴림" panose="020B0600000101010101" pitchFamily="50" charset="-127"/>
                <a:ea typeface="굴림" panose="020B0600000101010101" pitchFamily="50" charset="-127"/>
              </a:rPr>
              <a:t>.(      )</a:t>
            </a:r>
          </a:p>
        </p:txBody>
      </p:sp>
      <p:pic>
        <p:nvPicPr>
          <p:cNvPr id="21" name="그림 20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10041" y="1655961"/>
            <a:ext cx="487174" cy="487174"/>
          </a:xfrm>
          <a:prstGeom prst="rect">
            <a:avLst/>
          </a:prstGeom>
        </p:spPr>
      </p:pic>
      <p:grpSp>
        <p:nvGrpSpPr>
          <p:cNvPr id="22" name="그룹 21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10092565" y="1655961"/>
            <a:ext cx="1087577" cy="495431"/>
            <a:chOff x="10075659" y="2003022"/>
            <a:chExt cx="1156006" cy="495431"/>
          </a:xfrm>
        </p:grpSpPr>
        <p:pic>
          <p:nvPicPr>
            <p:cNvPr id="23" name="그림 22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2" name="직사각형 1"/>
          <p:cNvSpPr/>
          <p:nvPr/>
        </p:nvSpPr>
        <p:spPr>
          <a:xfrm>
            <a:off x="10551458" y="3478306"/>
            <a:ext cx="286871" cy="3137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/>
          <p:cNvGrpSpPr/>
          <p:nvPr/>
        </p:nvGrpSpPr>
        <p:grpSpPr>
          <a:xfrm>
            <a:off x="979524" y="2260447"/>
            <a:ext cx="10282482" cy="3244006"/>
            <a:chOff x="995432" y="3460378"/>
            <a:chExt cx="10282482" cy="3244006"/>
          </a:xfrm>
        </p:grpSpPr>
        <p:sp>
          <p:nvSpPr>
            <p:cNvPr id="4" name="직사각형 3"/>
            <p:cNvSpPr/>
            <p:nvPr/>
          </p:nvSpPr>
          <p:spPr>
            <a:xfrm>
              <a:off x="10551458" y="3460378"/>
              <a:ext cx="226446" cy="3765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err="1" smtClean="0">
                  <a:solidFill>
                    <a:srgbClr val="FF0000"/>
                  </a:solidFill>
                </a:rPr>
                <a:t>ㄹ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6248399" y="4258236"/>
              <a:ext cx="226446" cy="3765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smtClean="0">
                  <a:solidFill>
                    <a:srgbClr val="FF0000"/>
                  </a:solidFill>
                </a:rPr>
                <a:t>ㄴ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11051468" y="4687325"/>
              <a:ext cx="226446" cy="3765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err="1" smtClean="0">
                  <a:solidFill>
                    <a:srgbClr val="FF0000"/>
                  </a:solidFill>
                </a:rPr>
                <a:t>ㄷ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995432" y="5934636"/>
              <a:ext cx="226446" cy="3765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err="1" smtClean="0">
                  <a:solidFill>
                    <a:srgbClr val="FF0000"/>
                  </a:solidFill>
                </a:rPr>
                <a:t>ㅁ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4258585" y="6327866"/>
              <a:ext cx="226446" cy="3765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b="1" dirty="0" err="1" smtClean="0">
                  <a:solidFill>
                    <a:srgbClr val="FF0000"/>
                  </a:solidFill>
                </a:rPr>
                <a:t>ㄱ</a:t>
              </a:r>
              <a:endParaRPr lang="ko-KR" altLang="en-US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8" name="그룹 7"/>
          <p:cNvGrpSpPr/>
          <p:nvPr/>
        </p:nvGrpSpPr>
        <p:grpSpPr>
          <a:xfrm>
            <a:off x="577802" y="5667652"/>
            <a:ext cx="10901226" cy="854080"/>
            <a:chOff x="552402" y="2058730"/>
            <a:chExt cx="10901226" cy="854080"/>
          </a:xfrm>
        </p:grpSpPr>
        <p:sp>
          <p:nvSpPr>
            <p:cNvPr id="36" name="TextBox 35"/>
            <p:cNvSpPr txBox="1"/>
            <p:nvPr/>
          </p:nvSpPr>
          <p:spPr>
            <a:xfrm>
              <a:off x="552402" y="2312646"/>
              <a:ext cx="10901226" cy="600164"/>
            </a:xfrm>
            <a:prstGeom prst="rect">
              <a:avLst/>
            </a:prstGeom>
            <a:noFill/>
            <a:ln w="50800"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sz="2200" dirty="0" smtClean="0">
                  <a:solidFill>
                    <a:schemeClr val="tx1"/>
                  </a:solidFill>
                  <a:latin typeface="Arial Rounded MT Bold" panose="020F0704030504030204" pitchFamily="34" charset="0"/>
                  <a:ea typeface="+mn-ea"/>
                </a:rPr>
                <a:t>㉠ </a:t>
              </a:r>
              <a:r>
                <a:rPr lang="ko-KR" altLang="en-US" sz="2200" dirty="0">
                  <a:solidFill>
                    <a:schemeClr val="tx1"/>
                  </a:solidFill>
                  <a:latin typeface="Arial Rounded MT Bold" panose="020F0704030504030204" pitchFamily="34" charset="0"/>
                  <a:ea typeface="+mn-ea"/>
                </a:rPr>
                <a:t>도덕적 </a:t>
              </a:r>
              <a:r>
                <a:rPr lang="ko-KR" altLang="en-US" sz="2200" dirty="0" smtClean="0">
                  <a:solidFill>
                    <a:schemeClr val="tx1"/>
                  </a:solidFill>
                  <a:latin typeface="Arial Rounded MT Bold" panose="020F0704030504030204" pitchFamily="34" charset="0"/>
                  <a:ea typeface="+mn-ea"/>
                </a:rPr>
                <a:t>무지    ㉡ </a:t>
              </a:r>
              <a:r>
                <a:rPr lang="ko-KR" altLang="en-US" sz="2200" dirty="0">
                  <a:solidFill>
                    <a:schemeClr val="tx1"/>
                  </a:solidFill>
                  <a:latin typeface="Arial Rounded MT Bold" panose="020F0704030504030204" pitchFamily="34" charset="0"/>
                  <a:ea typeface="+mn-ea"/>
                </a:rPr>
                <a:t>의지의 </a:t>
              </a:r>
              <a:r>
                <a:rPr lang="ko-KR" altLang="en-US" sz="2200" dirty="0" smtClean="0">
                  <a:solidFill>
                    <a:schemeClr val="tx1"/>
                  </a:solidFill>
                  <a:latin typeface="Arial Rounded MT Bold" panose="020F0704030504030204" pitchFamily="34" charset="0"/>
                  <a:ea typeface="+mn-ea"/>
                </a:rPr>
                <a:t>나약함    ㉢ </a:t>
              </a:r>
              <a:r>
                <a:rPr lang="ko-KR" altLang="en-US" sz="2200" dirty="0">
                  <a:solidFill>
                    <a:schemeClr val="tx1"/>
                  </a:solidFill>
                  <a:latin typeface="Arial Rounded MT Bold" panose="020F0704030504030204" pitchFamily="34" charset="0"/>
                  <a:ea typeface="+mn-ea"/>
                </a:rPr>
                <a:t>자기 </a:t>
              </a:r>
              <a:r>
                <a:rPr lang="ko-KR" altLang="en-US" sz="2200" dirty="0" smtClean="0">
                  <a:solidFill>
                    <a:schemeClr val="tx1"/>
                  </a:solidFill>
                  <a:latin typeface="Arial Rounded MT Bold" panose="020F0704030504030204" pitchFamily="34" charset="0"/>
                  <a:ea typeface="+mn-ea"/>
                </a:rPr>
                <a:t>정당화    ㉣ 무관심    ㉤ </a:t>
              </a:r>
              <a:r>
                <a:rPr lang="ko-KR" altLang="en-US" sz="2200" dirty="0">
                  <a:solidFill>
                    <a:schemeClr val="tx1"/>
                  </a:solidFill>
                  <a:latin typeface="Arial Rounded MT Bold" panose="020F0704030504030204" pitchFamily="34" charset="0"/>
                  <a:ea typeface="+mn-ea"/>
                </a:rPr>
                <a:t>상황의 압력</a:t>
              </a: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823351" y="2058730"/>
              <a:ext cx="793807" cy="39408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en-US" altLang="ko-KR" sz="1500" dirty="0">
                  <a:latin typeface="Arial Rounded MT Bold" panose="020F0704030504030204" pitchFamily="34" charset="0"/>
                </a:rPr>
                <a:t>&lt;</a:t>
              </a:r>
              <a:r>
                <a:rPr lang="ko-KR" altLang="en-US" sz="1500" dirty="0">
                  <a:latin typeface="Arial Rounded MT Bold" panose="020F0704030504030204" pitchFamily="34" charset="0"/>
                </a:rPr>
                <a:t>보기</a:t>
              </a:r>
              <a:r>
                <a:rPr lang="en-US" altLang="ko-KR" sz="1500" dirty="0">
                  <a:latin typeface="Arial Rounded MT Bold" panose="020F0704030504030204" pitchFamily="34" charset="0"/>
                </a:rPr>
                <a:t>&gt;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23509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>
                <a:latin typeface="+mn-ea"/>
              </a:rPr>
              <a:t>도덕적인 사람이라면 어떻게 생각하거나 </a:t>
            </a:r>
            <a:r>
              <a:rPr lang="ko-KR" altLang="en-US" sz="2000" b="1" dirty="0" err="1">
                <a:latin typeface="+mn-ea"/>
              </a:rPr>
              <a:t>행동했을지</a:t>
            </a:r>
            <a:r>
              <a:rPr lang="ko-KR" altLang="en-US" sz="2000" b="1" dirty="0">
                <a:latin typeface="+mn-ea"/>
              </a:rPr>
              <a:t> 상상하여 다음 내용을 고쳐 써 보자</a:t>
            </a:r>
            <a:r>
              <a:rPr lang="en-US" altLang="ko-KR" sz="2000" b="1" dirty="0">
                <a:latin typeface="+mn-ea"/>
              </a:rPr>
              <a:t>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564839" y="3045582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54" name="그림 5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925589"/>
            <a:ext cx="487174" cy="487174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925589"/>
            <a:ext cx="1087577" cy="495431"/>
            <a:chOff x="10075659" y="2003022"/>
            <a:chExt cx="1156006" cy="495431"/>
          </a:xfrm>
        </p:grpSpPr>
        <p:pic>
          <p:nvPicPr>
            <p:cNvPr id="56" name="그림 5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6127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65588" y="3633588"/>
            <a:ext cx="9784141" cy="57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→ 빈곤 아동 문제에 관심을 두고 자선 활동에 동참했다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</a:rPr>
              <a:t>부끄러운 하루</a:t>
            </a:r>
            <a:r>
              <a:rPr lang="en-US" altLang="ko-KR" sz="2400" b="1" dirty="0">
                <a:solidFill>
                  <a:srgbClr val="FF9300"/>
                </a:solidFill>
                <a:latin typeface="+mj-ea"/>
              </a:rPr>
              <a:t>, </a:t>
            </a:r>
            <a:r>
              <a:rPr lang="ko-KR" altLang="en-US" sz="2400" b="1" dirty="0">
                <a:solidFill>
                  <a:srgbClr val="FF9300"/>
                </a:solidFill>
                <a:latin typeface="+mj-ea"/>
              </a:rPr>
              <a:t>일기 고쳐 쓰기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7400" y="2782041"/>
            <a:ext cx="7523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b="1" dirty="0">
                <a:ea typeface="굴림" panose="020B0600000101010101" pitchFamily="50" charset="-127"/>
              </a:rPr>
              <a:t>①</a:t>
            </a:r>
            <a:r>
              <a:rPr lang="en-US" altLang="ko-KR" sz="2000" b="1" dirty="0" smtClean="0">
                <a:ea typeface="굴림" panose="020B0600000101010101" pitchFamily="50" charset="-127"/>
              </a:rPr>
              <a:t> </a:t>
            </a:r>
            <a:r>
              <a:rPr lang="ko-KR" altLang="en-US" sz="2000" b="1" dirty="0">
                <a:ea typeface="굴림" panose="020B0600000101010101" pitchFamily="50" charset="-127"/>
              </a:rPr>
              <a:t>관심 없는 일이라서 그냥 지나쳤다</a:t>
            </a:r>
            <a:r>
              <a:rPr lang="en-US" altLang="ko-KR" sz="2000" b="1" dirty="0" smtClean="0">
                <a:ea typeface="굴림" panose="020B0600000101010101" pitchFamily="50" charset="-127"/>
              </a:rPr>
              <a:t>.</a:t>
            </a:r>
            <a:endParaRPr lang="ko-KR" altLang="en-US" sz="2000" b="1" dirty="0">
              <a:solidFill>
                <a:schemeClr val="accent1"/>
              </a:solidFill>
              <a:ea typeface="굴림" panose="020B0600000101010101" pitchFamily="50" charset="-127"/>
            </a:endParaRPr>
          </a:p>
        </p:txBody>
      </p:sp>
      <p:sp>
        <p:nvSpPr>
          <p:cNvPr id="22" name="타원 21">
            <a:hlinkClick r:id="rId7" action="ppaction://hlinksldjump"/>
          </p:cNvPr>
          <p:cNvSpPr/>
          <p:nvPr/>
        </p:nvSpPr>
        <p:spPr>
          <a:xfrm>
            <a:off x="4736366" y="615432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타원 22">
            <a:hlinkClick r:id="rId8" action="ppaction://hlinksldjump"/>
          </p:cNvPr>
          <p:cNvSpPr/>
          <p:nvPr/>
        </p:nvSpPr>
        <p:spPr>
          <a:xfrm>
            <a:off x="5131741" y="615432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8" name="타원 27">
            <a:hlinkClick r:id="rId9" action="ppaction://hlinksldjump"/>
          </p:cNvPr>
          <p:cNvSpPr/>
          <p:nvPr/>
        </p:nvSpPr>
        <p:spPr>
          <a:xfrm>
            <a:off x="5527116" y="615446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4" name="타원 33">
            <a:hlinkClick r:id="rId10" action="ppaction://hlinksldjump"/>
          </p:cNvPr>
          <p:cNvSpPr/>
          <p:nvPr/>
        </p:nvSpPr>
        <p:spPr>
          <a:xfrm>
            <a:off x="5922491" y="615432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5" name="타원 34">
            <a:hlinkClick r:id="rId11" action="ppaction://hlinksldjump"/>
          </p:cNvPr>
          <p:cNvSpPr/>
          <p:nvPr/>
        </p:nvSpPr>
        <p:spPr>
          <a:xfrm>
            <a:off x="6312365" y="615432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38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  <p:bldLst>
      <p:bldP spid="59" grpId="0"/>
      <p:bldP spid="59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>
                <a:latin typeface="+mn-ea"/>
              </a:rPr>
              <a:t>도덕적인 사람이라면 어떻게 생각하거나 </a:t>
            </a:r>
            <a:r>
              <a:rPr lang="ko-KR" altLang="en-US" sz="2000" b="1" dirty="0" err="1">
                <a:latin typeface="+mn-ea"/>
              </a:rPr>
              <a:t>행동했을지</a:t>
            </a:r>
            <a:r>
              <a:rPr lang="ko-KR" altLang="en-US" sz="2000" b="1" dirty="0">
                <a:latin typeface="+mn-ea"/>
              </a:rPr>
              <a:t> 상상하여 다음 내용을 고쳐 써 보자</a:t>
            </a:r>
            <a:r>
              <a:rPr lang="en-US" altLang="ko-KR" sz="2000" b="1" dirty="0">
                <a:latin typeface="+mn-ea"/>
              </a:rPr>
              <a:t>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564839" y="3045582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54" name="그림 5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925589"/>
            <a:ext cx="487174" cy="487174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925589"/>
            <a:ext cx="1087577" cy="495431"/>
            <a:chOff x="10075659" y="2003022"/>
            <a:chExt cx="1156006" cy="495431"/>
          </a:xfrm>
        </p:grpSpPr>
        <p:pic>
          <p:nvPicPr>
            <p:cNvPr id="56" name="그림 5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6127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65588" y="3633588"/>
            <a:ext cx="9784141" cy="57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→ 친구가 안전하게 교실에 올라갈 수 있도록 부탁을 들어주었다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</a:rPr>
              <a:t>부끄러운 하루</a:t>
            </a:r>
            <a:r>
              <a:rPr lang="en-US" altLang="ko-KR" sz="2400" b="1" dirty="0">
                <a:solidFill>
                  <a:srgbClr val="FF9300"/>
                </a:solidFill>
                <a:latin typeface="+mj-ea"/>
              </a:rPr>
              <a:t>, </a:t>
            </a:r>
            <a:r>
              <a:rPr lang="ko-KR" altLang="en-US" sz="2400" b="1" dirty="0">
                <a:solidFill>
                  <a:srgbClr val="FF9300"/>
                </a:solidFill>
                <a:latin typeface="+mj-ea"/>
              </a:rPr>
              <a:t>일기 고쳐 쓰기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7399" y="2756778"/>
            <a:ext cx="8289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spc="-150" dirty="0">
                <a:latin typeface="+mn-ea"/>
              </a:rPr>
              <a:t>② 귀찮기도 하고 지각하면 나중에 손해를 볼까 봐 걱정되어 거절하였다</a:t>
            </a:r>
            <a:r>
              <a:rPr lang="en-US" altLang="ko-KR" sz="2000" spc="-150" dirty="0">
                <a:latin typeface="+mn-ea"/>
              </a:rPr>
              <a:t>.</a:t>
            </a:r>
          </a:p>
        </p:txBody>
      </p:sp>
      <p:sp>
        <p:nvSpPr>
          <p:cNvPr id="22" name="타원 21">
            <a:hlinkClick r:id="rId7" action="ppaction://hlinksldjump"/>
          </p:cNvPr>
          <p:cNvSpPr/>
          <p:nvPr/>
        </p:nvSpPr>
        <p:spPr>
          <a:xfrm>
            <a:off x="5131741" y="6153530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타원 22">
            <a:hlinkClick r:id="rId8" action="ppaction://hlinksldjump"/>
          </p:cNvPr>
          <p:cNvSpPr/>
          <p:nvPr/>
        </p:nvSpPr>
        <p:spPr>
          <a:xfrm>
            <a:off x="4736366" y="615432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8" name="타원 27">
            <a:hlinkClick r:id="rId9" action="ppaction://hlinksldjump"/>
          </p:cNvPr>
          <p:cNvSpPr/>
          <p:nvPr/>
        </p:nvSpPr>
        <p:spPr>
          <a:xfrm>
            <a:off x="5527116" y="615446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4" name="타원 33">
            <a:hlinkClick r:id="rId10" action="ppaction://hlinksldjump"/>
          </p:cNvPr>
          <p:cNvSpPr/>
          <p:nvPr/>
        </p:nvSpPr>
        <p:spPr>
          <a:xfrm>
            <a:off x="5922491" y="615432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5" name="타원 34">
            <a:hlinkClick r:id="rId11" action="ppaction://hlinksldjump"/>
          </p:cNvPr>
          <p:cNvSpPr/>
          <p:nvPr/>
        </p:nvSpPr>
        <p:spPr>
          <a:xfrm>
            <a:off x="6312365" y="615432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7411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  <p:bldLst>
      <p:bldP spid="59" grpId="0"/>
      <p:bldP spid="59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>
                <a:latin typeface="+mn-ea"/>
              </a:rPr>
              <a:t>도덕적인 사람이라면 어떻게 생각하거나 </a:t>
            </a:r>
            <a:r>
              <a:rPr lang="ko-KR" altLang="en-US" sz="2000" b="1" dirty="0" err="1">
                <a:latin typeface="+mn-ea"/>
              </a:rPr>
              <a:t>행동했을지</a:t>
            </a:r>
            <a:r>
              <a:rPr lang="ko-KR" altLang="en-US" sz="2000" b="1" dirty="0">
                <a:latin typeface="+mn-ea"/>
              </a:rPr>
              <a:t> 상상하여 다음 내용을 고쳐 써 보자</a:t>
            </a:r>
            <a:r>
              <a:rPr lang="en-US" altLang="ko-KR" sz="2000" b="1" dirty="0">
                <a:latin typeface="+mn-ea"/>
              </a:rPr>
              <a:t>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564839" y="3045582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54" name="그림 5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925589"/>
            <a:ext cx="487174" cy="487174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925589"/>
            <a:ext cx="1087577" cy="495431"/>
            <a:chOff x="10075659" y="2003022"/>
            <a:chExt cx="1156006" cy="495431"/>
          </a:xfrm>
        </p:grpSpPr>
        <p:pic>
          <p:nvPicPr>
            <p:cNvPr id="56" name="그림 5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6127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65588" y="3633588"/>
            <a:ext cx="9784141" cy="57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→ 나만 생각하는 마음이 부끄러워 반성하였다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</a:rPr>
              <a:t>부끄러운 하루</a:t>
            </a:r>
            <a:r>
              <a:rPr lang="en-US" altLang="ko-KR" sz="2400" b="1" dirty="0">
                <a:solidFill>
                  <a:srgbClr val="FF9300"/>
                </a:solidFill>
                <a:latin typeface="+mj-ea"/>
              </a:rPr>
              <a:t>, </a:t>
            </a:r>
            <a:r>
              <a:rPr lang="ko-KR" altLang="en-US" sz="2400" b="1" dirty="0">
                <a:solidFill>
                  <a:srgbClr val="FF9300"/>
                </a:solidFill>
                <a:latin typeface="+mj-ea"/>
              </a:rPr>
              <a:t>일기 고쳐 쓰기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7399" y="2756778"/>
            <a:ext cx="82899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dirty="0">
                <a:latin typeface="+mn-ea"/>
              </a:rPr>
              <a:t>③ 하지만 그 친구가 평소에 조심스럽게 행동하지 않아서 생긴 일이라고 생각하니 마음이 편해졌다</a:t>
            </a:r>
            <a:r>
              <a:rPr lang="en-US" altLang="ko-KR" sz="2000" dirty="0">
                <a:latin typeface="+mn-ea"/>
              </a:rPr>
              <a:t>.</a:t>
            </a:r>
          </a:p>
        </p:txBody>
      </p:sp>
      <p:sp>
        <p:nvSpPr>
          <p:cNvPr id="22" name="타원 21">
            <a:hlinkClick r:id="rId7" action="ppaction://hlinksldjump"/>
          </p:cNvPr>
          <p:cNvSpPr/>
          <p:nvPr/>
        </p:nvSpPr>
        <p:spPr>
          <a:xfrm>
            <a:off x="5532617" y="615432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타원 22">
            <a:hlinkClick r:id="rId8" action="ppaction://hlinksldjump"/>
          </p:cNvPr>
          <p:cNvSpPr/>
          <p:nvPr/>
        </p:nvSpPr>
        <p:spPr>
          <a:xfrm>
            <a:off x="5142743" y="615432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8" name="타원 27">
            <a:hlinkClick r:id="rId9" action="ppaction://hlinksldjump"/>
          </p:cNvPr>
          <p:cNvSpPr/>
          <p:nvPr/>
        </p:nvSpPr>
        <p:spPr>
          <a:xfrm>
            <a:off x="4752869" y="615432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4" name="타원 33">
            <a:hlinkClick r:id="rId10" action="ppaction://hlinksldjump"/>
          </p:cNvPr>
          <p:cNvSpPr/>
          <p:nvPr/>
        </p:nvSpPr>
        <p:spPr>
          <a:xfrm>
            <a:off x="5922491" y="615432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5" name="타원 34">
            <a:hlinkClick r:id="rId11" action="ppaction://hlinksldjump"/>
          </p:cNvPr>
          <p:cNvSpPr/>
          <p:nvPr/>
        </p:nvSpPr>
        <p:spPr>
          <a:xfrm>
            <a:off x="6312365" y="615432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756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  <p:bldLst>
      <p:bldP spid="59" grpId="0"/>
      <p:bldP spid="59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깊이 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>
                <a:latin typeface="+mn-ea"/>
              </a:rPr>
              <a:t>도덕적인 사람이라면 어떻게 생각하거나 </a:t>
            </a:r>
            <a:r>
              <a:rPr lang="ko-KR" altLang="en-US" sz="2000" b="1" dirty="0" err="1">
                <a:latin typeface="+mn-ea"/>
              </a:rPr>
              <a:t>행동했을지</a:t>
            </a:r>
            <a:r>
              <a:rPr lang="ko-KR" altLang="en-US" sz="2000" b="1" dirty="0">
                <a:latin typeface="+mn-ea"/>
              </a:rPr>
              <a:t> 상상하여 다음 내용을 고쳐 써 보자</a:t>
            </a:r>
            <a:r>
              <a:rPr lang="en-US" altLang="ko-KR" sz="2000" b="1" dirty="0">
                <a:latin typeface="+mn-ea"/>
              </a:rPr>
              <a:t>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564839" y="3045582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54" name="그림 5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925589"/>
            <a:ext cx="487174" cy="487174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925589"/>
            <a:ext cx="1087577" cy="495431"/>
            <a:chOff x="10075659" y="2003022"/>
            <a:chExt cx="1156006" cy="495431"/>
          </a:xfrm>
        </p:grpSpPr>
        <p:pic>
          <p:nvPicPr>
            <p:cNvPr id="56" name="그림 5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6127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65588" y="3633588"/>
            <a:ext cx="9784141" cy="57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→ 친구의 흉을 보지 말자고 용기를 내어 말했다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</a:rPr>
              <a:t>부끄러운 하루</a:t>
            </a:r>
            <a:r>
              <a:rPr lang="en-US" altLang="ko-KR" sz="2400" b="1" dirty="0">
                <a:solidFill>
                  <a:srgbClr val="FF9300"/>
                </a:solidFill>
                <a:latin typeface="+mj-ea"/>
              </a:rPr>
              <a:t>, </a:t>
            </a:r>
            <a:r>
              <a:rPr lang="ko-KR" altLang="en-US" sz="2400" b="1" dirty="0">
                <a:solidFill>
                  <a:srgbClr val="FF9300"/>
                </a:solidFill>
                <a:latin typeface="+mj-ea"/>
              </a:rPr>
              <a:t>일기 고쳐 쓰기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7399" y="2756778"/>
            <a:ext cx="82899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dirty="0">
                <a:latin typeface="+mn-ea"/>
              </a:rPr>
              <a:t>④ 모두가 그 친구를 흉보는 상황이라서 가만히 있었다</a:t>
            </a:r>
            <a:r>
              <a:rPr lang="en-US" altLang="ko-KR" sz="2400" dirty="0"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</p:txBody>
      </p:sp>
      <p:sp>
        <p:nvSpPr>
          <p:cNvPr id="22" name="타원 21">
            <a:hlinkClick r:id="rId7" action="ppaction://hlinksldjump"/>
          </p:cNvPr>
          <p:cNvSpPr/>
          <p:nvPr/>
        </p:nvSpPr>
        <p:spPr>
          <a:xfrm>
            <a:off x="5916990" y="6154329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타원 22">
            <a:hlinkClick r:id="rId8" action="ppaction://hlinksldjump"/>
          </p:cNvPr>
          <p:cNvSpPr/>
          <p:nvPr/>
        </p:nvSpPr>
        <p:spPr>
          <a:xfrm>
            <a:off x="5131741" y="615432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8" name="타원 27">
            <a:hlinkClick r:id="rId9" action="ppaction://hlinksldjump"/>
          </p:cNvPr>
          <p:cNvSpPr/>
          <p:nvPr/>
        </p:nvSpPr>
        <p:spPr>
          <a:xfrm>
            <a:off x="5527116" y="615446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4" name="타원 33">
            <a:hlinkClick r:id="rId10" action="ppaction://hlinksldjump"/>
          </p:cNvPr>
          <p:cNvSpPr/>
          <p:nvPr/>
        </p:nvSpPr>
        <p:spPr>
          <a:xfrm>
            <a:off x="4739117" y="615432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5" name="타원 34">
            <a:hlinkClick r:id="rId11" action="ppaction://hlinksldjump"/>
          </p:cNvPr>
          <p:cNvSpPr/>
          <p:nvPr/>
        </p:nvSpPr>
        <p:spPr>
          <a:xfrm>
            <a:off x="6312365" y="615432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3094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  <p:bldLst>
      <p:bldP spid="59" grpId="0"/>
      <p:bldP spid="59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순서도: 수행의 시작/종료 23">
            <a:extLst>
              <a:ext uri="{FF2B5EF4-FFF2-40B4-BE49-F238E27FC236}">
                <a16:creationId xmlns:a16="http://schemas.microsoft.com/office/drawing/2014/main" id="{9DFB822A-B6F1-2298-D387-61BD7FE98B43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FF93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래픽 2">
            <a:extLst>
              <a:ext uri="{FF2B5EF4-FFF2-40B4-BE49-F238E27FC236}">
                <a16:creationId xmlns:a16="http://schemas.microsoft.com/office/drawing/2014/main" id="{61E84F19-921F-B3E1-20CD-7403BD2ED1A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67A572-5929-17A2-D60C-4C11D984771C}"/>
              </a:ext>
            </a:extLst>
          </p:cNvPr>
          <p:cNvSpPr txBox="1"/>
          <p:nvPr/>
        </p:nvSpPr>
        <p:spPr>
          <a:xfrm>
            <a:off x="979524" y="671335"/>
            <a:ext cx="23839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spc="-150" dirty="0">
                <a:solidFill>
                  <a:schemeClr val="bg1"/>
                </a:solidFill>
                <a:latin typeface="+mj-ea"/>
                <a:ea typeface="+mj-ea"/>
              </a:rPr>
              <a:t>더 깊이 </a:t>
            </a:r>
            <a:r>
              <a:rPr lang="ko-KR" altLang="en-US" sz="2400" b="1" spc="-150" dirty="0" smtClean="0">
                <a:solidFill>
                  <a:schemeClr val="bg1"/>
                </a:solidFill>
                <a:latin typeface="+mj-ea"/>
                <a:ea typeface="+mj-ea"/>
              </a:rPr>
              <a:t>탐구하기</a:t>
            </a:r>
            <a:endParaRPr lang="ko-KR" altLang="en-US" sz="2400" b="1" spc="-15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7400" y="1613182"/>
            <a:ext cx="10239105" cy="9561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ko-KR" sz="2000" b="1" dirty="0" smtClean="0">
                <a:latin typeface="+mn-ea"/>
              </a:rPr>
              <a:t>2. </a:t>
            </a:r>
            <a:r>
              <a:rPr lang="ko-KR" altLang="en-US" sz="2000" b="1" dirty="0">
                <a:latin typeface="+mn-ea"/>
              </a:rPr>
              <a:t>도덕적인 사람이라면 어떻게 생각하거나 </a:t>
            </a:r>
            <a:r>
              <a:rPr lang="ko-KR" altLang="en-US" sz="2000" b="1" dirty="0" err="1">
                <a:latin typeface="+mn-ea"/>
              </a:rPr>
              <a:t>행동했을지</a:t>
            </a:r>
            <a:r>
              <a:rPr lang="ko-KR" altLang="en-US" sz="2000" b="1" dirty="0">
                <a:latin typeface="+mn-ea"/>
              </a:rPr>
              <a:t> 상상하여 다음 내용을 고쳐 써 보자</a:t>
            </a:r>
            <a:r>
              <a:rPr lang="en-US" altLang="ko-KR" sz="2000" b="1" dirty="0">
                <a:latin typeface="+mn-ea"/>
              </a:rPr>
              <a:t>.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2508EF-5B45-FCB1-63DF-BCFA304E8F7C}"/>
              </a:ext>
            </a:extLst>
          </p:cNvPr>
          <p:cNvSpPr txBox="1"/>
          <p:nvPr/>
        </p:nvSpPr>
        <p:spPr>
          <a:xfrm>
            <a:off x="9564839" y="3045582"/>
            <a:ext cx="882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smtClean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예시 답</a:t>
            </a:r>
            <a:endParaRPr lang="ko-KR" altLang="en-US" b="1" dirty="0">
              <a:solidFill>
                <a:schemeClr val="bg1"/>
              </a:solidFill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  <p:pic>
        <p:nvPicPr>
          <p:cNvPr id="54" name="그림 53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51787" y="2925589"/>
            <a:ext cx="487174" cy="487174"/>
          </a:xfrm>
          <a:prstGeom prst="rect">
            <a:avLst/>
          </a:prstGeom>
        </p:spPr>
      </p:pic>
      <p:grpSp>
        <p:nvGrpSpPr>
          <p:cNvPr id="55" name="그룹 54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434311" y="2925589"/>
            <a:ext cx="1087577" cy="495431"/>
            <a:chOff x="10075659" y="2003022"/>
            <a:chExt cx="1156006" cy="495431"/>
          </a:xfrm>
        </p:grpSpPr>
        <p:pic>
          <p:nvPicPr>
            <p:cNvPr id="56" name="그림 55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8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7400" y="3612719"/>
            <a:ext cx="10293350" cy="2129729"/>
          </a:xfrm>
          <a:prstGeom prst="roundRect">
            <a:avLst>
              <a:gd name="adj" fmla="val 8608"/>
            </a:avLst>
          </a:prstGeom>
          <a:solidFill>
            <a:srgbClr val="FFF7E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65588" y="3633588"/>
            <a:ext cx="9784141" cy="575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→ 이웃 생활에서 지켜야 할 예절에 관해 알아보았다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154A385-B13F-711E-8062-D58E9EE68096}"/>
              </a:ext>
            </a:extLst>
          </p:cNvPr>
          <p:cNvSpPr txBox="1"/>
          <p:nvPr/>
        </p:nvSpPr>
        <p:spPr>
          <a:xfrm>
            <a:off x="3563317" y="654715"/>
            <a:ext cx="64843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>
                <a:solidFill>
                  <a:srgbClr val="FF9300"/>
                </a:solidFill>
                <a:latin typeface="+mj-ea"/>
              </a:rPr>
              <a:t>부끄러운 하루</a:t>
            </a:r>
            <a:r>
              <a:rPr lang="en-US" altLang="ko-KR" sz="2400" b="1" dirty="0">
                <a:solidFill>
                  <a:srgbClr val="FF9300"/>
                </a:solidFill>
                <a:latin typeface="+mj-ea"/>
              </a:rPr>
              <a:t>, </a:t>
            </a:r>
            <a:r>
              <a:rPr lang="ko-KR" altLang="en-US" sz="2400" b="1" dirty="0">
                <a:solidFill>
                  <a:srgbClr val="FF9300"/>
                </a:solidFill>
                <a:latin typeface="+mj-ea"/>
              </a:rPr>
              <a:t>일기 고쳐 쓰기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0560433-7D7D-E53F-75DC-9920154898C5}"/>
              </a:ext>
            </a:extLst>
          </p:cNvPr>
          <p:cNvSpPr txBox="1"/>
          <p:nvPr/>
        </p:nvSpPr>
        <p:spPr>
          <a:xfrm>
            <a:off x="9961582" y="942681"/>
            <a:ext cx="816322" cy="338554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algn="ctr"/>
            <a:r>
              <a:rPr lang="ko-KR" altLang="en-US" sz="1600" b="1" dirty="0" smtClean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제시문</a:t>
            </a:r>
            <a:endParaRPr lang="ko-KR" altLang="en-US" sz="1600" b="1" dirty="0">
              <a:solidFill>
                <a:schemeClr val="bg1">
                  <a:lumMod val="50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0124E36-C76D-F382-CB9F-DB094CA4180B}"/>
              </a:ext>
            </a:extLst>
          </p:cNvPr>
          <p:cNvSpPr txBox="1"/>
          <p:nvPr/>
        </p:nvSpPr>
        <p:spPr>
          <a:xfrm>
            <a:off x="10780890" y="936057"/>
            <a:ext cx="595035" cy="338554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r>
              <a:rPr lang="ko-KR" altLang="en-US" sz="1600" b="1" dirty="0">
                <a:solidFill>
                  <a:srgbClr val="FFFF00"/>
                </a:solidFill>
                <a:latin typeface="+mj-ea"/>
                <a:ea typeface="+mj-ea"/>
              </a:rPr>
              <a:t>활동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87399" y="2756778"/>
            <a:ext cx="82899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000" dirty="0">
                <a:latin typeface="+mn-ea"/>
              </a:rPr>
              <a:t>⑤ 우리 집에서 음악을 듣는 것이 왜 문제인지 모르겠다</a:t>
            </a:r>
            <a:r>
              <a:rPr lang="en-US" altLang="ko-KR" sz="2000" dirty="0">
                <a:latin typeface="+mn-ea"/>
              </a:rPr>
              <a:t>.</a:t>
            </a:r>
          </a:p>
        </p:txBody>
      </p:sp>
      <p:sp>
        <p:nvSpPr>
          <p:cNvPr id="22" name="타원 21">
            <a:hlinkClick r:id="rId7" action="ppaction://hlinksldjump"/>
          </p:cNvPr>
          <p:cNvSpPr/>
          <p:nvPr/>
        </p:nvSpPr>
        <p:spPr>
          <a:xfrm>
            <a:off x="6317866" y="6156602"/>
            <a:ext cx="236668" cy="236668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3" name="타원 22">
            <a:hlinkClick r:id="rId8" action="ppaction://hlinksldjump"/>
          </p:cNvPr>
          <p:cNvSpPr/>
          <p:nvPr/>
        </p:nvSpPr>
        <p:spPr>
          <a:xfrm>
            <a:off x="5131741" y="615432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28" name="타원 27">
            <a:hlinkClick r:id="rId9" action="ppaction://hlinksldjump"/>
          </p:cNvPr>
          <p:cNvSpPr/>
          <p:nvPr/>
        </p:nvSpPr>
        <p:spPr>
          <a:xfrm>
            <a:off x="5527116" y="6154465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4" name="타원 33">
            <a:hlinkClick r:id="rId10" action="ppaction://hlinksldjump"/>
          </p:cNvPr>
          <p:cNvSpPr/>
          <p:nvPr/>
        </p:nvSpPr>
        <p:spPr>
          <a:xfrm>
            <a:off x="5922491" y="615432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  <p:sp>
        <p:nvSpPr>
          <p:cNvPr id="35" name="타원 34">
            <a:hlinkClick r:id="rId11" action="ppaction://hlinksldjump"/>
          </p:cNvPr>
          <p:cNvSpPr/>
          <p:nvPr/>
        </p:nvSpPr>
        <p:spPr>
          <a:xfrm>
            <a:off x="4736366" y="6154329"/>
            <a:ext cx="236668" cy="236668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264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5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5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4"/>
                  </p:tgtEl>
                </p:cond>
              </p:nextCondLst>
            </p:seq>
          </p:childTnLst>
        </p:cTn>
      </p:par>
    </p:tnLst>
    <p:bldLst>
      <p:bldP spid="59" grpId="0"/>
      <p:bldP spid="59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사각형: 둥근 모서리 29">
            <a:extLst>
              <a:ext uri="{FF2B5EF4-FFF2-40B4-BE49-F238E27FC236}">
                <a16:creationId xmlns:a16="http://schemas.microsoft.com/office/drawing/2014/main" id="{C631BC03-B762-9123-7FD1-0A60290B94EB}"/>
              </a:ext>
            </a:extLst>
          </p:cNvPr>
          <p:cNvSpPr/>
          <p:nvPr/>
        </p:nvSpPr>
        <p:spPr>
          <a:xfrm>
            <a:off x="782429" y="2440300"/>
            <a:ext cx="8522936" cy="2550288"/>
          </a:xfrm>
          <a:prstGeom prst="roundRect">
            <a:avLst>
              <a:gd name="adj" fmla="val 8608"/>
            </a:avLst>
          </a:prstGeom>
          <a:solidFill>
            <a:schemeClr val="accent6">
              <a:lumMod val="20000"/>
              <a:lumOff val="80000"/>
            </a:schemeClr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spcCol="288000" rtlCol="0" anchor="ctr"/>
          <a:lstStyle/>
          <a:p>
            <a:pPr algn="ctr"/>
            <a:endParaRPr lang="ko-KR" altLang="en-US" dirty="0">
              <a:latin typeface="나눔스퀘어라운드 ExtraBold" panose="020B0600000101010101" pitchFamily="50" charset="-127"/>
              <a:ea typeface="나눔스퀘어라운드 ExtraBold" panose="020B0600000101010101" pitchFamily="50" charset="-127"/>
            </a:endParaRPr>
          </a:p>
        </p:txBody>
      </p:sp>
      <p:sp>
        <p:nvSpPr>
          <p:cNvPr id="14" name="순서도: 수행의 시작/종료 13">
            <a:extLst>
              <a:ext uri="{FF2B5EF4-FFF2-40B4-BE49-F238E27FC236}">
                <a16:creationId xmlns:a16="http://schemas.microsoft.com/office/drawing/2014/main" id="{0C9572D1-DE61-A840-0F97-7BDF6B8F4F4A}"/>
              </a:ext>
            </a:extLst>
          </p:cNvPr>
          <p:cNvSpPr/>
          <p:nvPr/>
        </p:nvSpPr>
        <p:spPr>
          <a:xfrm>
            <a:off x="1764504" y="582930"/>
            <a:ext cx="1775115" cy="585788"/>
          </a:xfrm>
          <a:prstGeom prst="flowChartTerminator">
            <a:avLst/>
          </a:prstGeom>
          <a:solidFill>
            <a:srgbClr val="04CB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5" name="그래픽 14">
            <a:extLst>
              <a:ext uri="{FF2B5EF4-FFF2-40B4-BE49-F238E27FC236}">
                <a16:creationId xmlns:a16="http://schemas.microsoft.com/office/drawing/2014/main" id="{B44B34C4-36B3-18D5-1B79-4D677D4EDBB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06FC953-457F-63EC-153E-F835BABE4C1D}"/>
              </a:ext>
            </a:extLst>
          </p:cNvPr>
          <p:cNvSpPr txBox="1"/>
          <p:nvPr/>
        </p:nvSpPr>
        <p:spPr>
          <a:xfrm>
            <a:off x="1040188" y="671335"/>
            <a:ext cx="244810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스스로 성찰하기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31</a:t>
            </a:r>
            <a:r>
              <a:rPr lang="ko-KR" altLang="en-US" sz="1100" b="1" dirty="0" smtClean="0">
                <a:solidFill>
                  <a:srgbClr val="3DB250"/>
                </a:solidFill>
                <a:latin typeface="+mj-ea"/>
                <a:ea typeface="+mj-ea"/>
              </a:rPr>
              <a:t>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7400" y="1613182"/>
            <a:ext cx="102391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2200" b="1" dirty="0">
                <a:solidFill>
                  <a:srgbClr val="00B050"/>
                </a:solidFill>
                <a:latin typeface="+mn-ea"/>
              </a:rPr>
              <a:t>평소 나의 도덕적 행동을 가로막는 주요 원인과 극복할 방법을 써 보자</a:t>
            </a:r>
            <a:r>
              <a:rPr lang="en-US" altLang="ko-KR" sz="2200" b="1" dirty="0">
                <a:solidFill>
                  <a:srgbClr val="00B050"/>
                </a:solidFill>
                <a:latin typeface="+mn-ea"/>
              </a:rPr>
              <a:t>.</a:t>
            </a:r>
          </a:p>
        </p:txBody>
      </p:sp>
      <p:pic>
        <p:nvPicPr>
          <p:cNvPr id="45" name="그림 44" descr="원, 다채로움, 그래픽, 상징이(가) 표시된 사진&#10;&#10;자동 생성된 설명">
            <a:extLst>
              <a:ext uri="{FF2B5EF4-FFF2-40B4-BE49-F238E27FC236}">
                <a16:creationId xmlns:a16="http://schemas.microsoft.com/office/drawing/2014/main" id="{C65C2315-1DF8-2619-956A-0B81C39746BB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52933" y="2444120"/>
            <a:ext cx="487174" cy="487174"/>
          </a:xfrm>
          <a:prstGeom prst="rect">
            <a:avLst/>
          </a:prstGeom>
        </p:spPr>
      </p:pic>
      <p:grpSp>
        <p:nvGrpSpPr>
          <p:cNvPr id="46" name="그룹 45">
            <a:extLst>
              <a:ext uri="{FF2B5EF4-FFF2-40B4-BE49-F238E27FC236}">
                <a16:creationId xmlns:a16="http://schemas.microsoft.com/office/drawing/2014/main" id="{BD8F7919-81BA-4F6C-659C-1ECE98A49C77}"/>
              </a:ext>
            </a:extLst>
          </p:cNvPr>
          <p:cNvGrpSpPr/>
          <p:nvPr/>
        </p:nvGrpSpPr>
        <p:grpSpPr>
          <a:xfrm>
            <a:off x="9535457" y="2444119"/>
            <a:ext cx="1087577" cy="495431"/>
            <a:chOff x="10075659" y="2003022"/>
            <a:chExt cx="1156006" cy="495431"/>
          </a:xfrm>
        </p:grpSpPr>
        <p:pic>
          <p:nvPicPr>
            <p:cNvPr id="47" name="그림 46" descr="그린, 다채로움, 스크린샷이(가) 표시된 사진&#10;&#10;자동 생성된 설명">
              <a:extLst>
                <a:ext uri="{FF2B5EF4-FFF2-40B4-BE49-F238E27FC236}">
                  <a16:creationId xmlns:a16="http://schemas.microsoft.com/office/drawing/2014/main" id="{ADA002ED-8D7B-65CA-D44C-3A927828DA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0075659" y="2003022"/>
              <a:ext cx="1156006" cy="495431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492508EF-5B45-FCB1-63DF-BCFA304E8F7C}"/>
                </a:ext>
              </a:extLst>
            </p:cNvPr>
            <p:cNvSpPr txBox="1"/>
            <p:nvPr/>
          </p:nvSpPr>
          <p:spPr>
            <a:xfrm>
              <a:off x="10156818" y="2052992"/>
              <a:ext cx="93807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b="1" dirty="0" smtClean="0">
                  <a:solidFill>
                    <a:schemeClr val="bg1"/>
                  </a:solidFill>
                  <a:latin typeface="굴림" panose="020B0600000101010101" pitchFamily="50" charset="-127"/>
                  <a:ea typeface="굴림" panose="020B0600000101010101" pitchFamily="50" charset="-127"/>
                </a:rPr>
                <a:t>예시 답</a:t>
              </a:r>
              <a:endParaRPr lang="ko-KR" altLang="en-US" b="1" dirty="0">
                <a:solidFill>
                  <a:schemeClr val="bg1"/>
                </a:solidFill>
                <a:latin typeface="굴림" panose="020B0600000101010101" pitchFamily="50" charset="-127"/>
                <a:ea typeface="굴림" panose="020B0600000101010101" pitchFamily="50" charset="-127"/>
              </a:endParaRPr>
            </a:p>
          </p:txBody>
        </p:sp>
      </p:grpSp>
      <p:sp>
        <p:nvSpPr>
          <p:cNvPr id="50" name="TextBox 49"/>
          <p:cNvSpPr txBox="1"/>
          <p:nvPr/>
        </p:nvSpPr>
        <p:spPr>
          <a:xfrm>
            <a:off x="935915" y="3222308"/>
            <a:ext cx="8165055" cy="1129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평소에 도덕 문제로 생각하지 못했기 때문이다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  <a:r>
              <a:rPr lang="ko-KR" altLang="en-US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도덕 문제에 관해 좀 더 관심을 기울이겠다</a:t>
            </a:r>
            <a:r>
              <a:rPr lang="en-US" altLang="ko-KR" sz="24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. 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936086" y="2629792"/>
            <a:ext cx="2092863" cy="858697"/>
            <a:chOff x="877165" y="3739778"/>
            <a:chExt cx="1328154" cy="858697"/>
          </a:xfrm>
        </p:grpSpPr>
        <p:sp>
          <p:nvSpPr>
            <p:cNvPr id="2" name="모서리가 둥근 직사각형 1"/>
            <p:cNvSpPr/>
            <p:nvPr/>
          </p:nvSpPr>
          <p:spPr>
            <a:xfrm>
              <a:off x="877165" y="4040219"/>
              <a:ext cx="1328154" cy="158491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948928" y="3739778"/>
              <a:ext cx="1224117" cy="858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ko-KR" altLang="en-US" b="1" dirty="0">
                  <a:solidFill>
                    <a:schemeClr val="accent6">
                      <a:lumMod val="50000"/>
                    </a:schemeClr>
                  </a:solidFill>
                  <a:latin typeface="돋움" panose="020B0600000101010101" pitchFamily="50" charset="-127"/>
                  <a:ea typeface="돋움" panose="020B0600000101010101" pitchFamily="50" charset="-127"/>
                </a:rPr>
                <a:t>원인과 극복 방법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773736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6"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5"/>
                  </p:tgtEl>
                </p:cond>
              </p:nextCondLst>
            </p:seq>
          </p:childTnLst>
        </p:cTn>
      </p:par>
    </p:tnLst>
    <p:bldLst>
      <p:bldP spid="50" grpId="0"/>
      <p:bldP spid="50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/>
        </p:nvSpPr>
        <p:spPr>
          <a:xfrm>
            <a:off x="1271238" y="2086984"/>
            <a:ext cx="9523142" cy="4173967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다음 시간에는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b="1" dirty="0" smtClean="0">
                <a:solidFill>
                  <a:schemeClr val="tx1"/>
                </a:solidFill>
              </a:rPr>
              <a:t>“02. </a:t>
            </a:r>
            <a:r>
              <a:rPr lang="ko-KR" altLang="en-US" sz="2800" b="1" dirty="0">
                <a:solidFill>
                  <a:schemeClr val="tx1"/>
                </a:solidFill>
              </a:rPr>
              <a:t>도덕적인 사람이 </a:t>
            </a:r>
            <a:r>
              <a:rPr lang="ko-KR" altLang="en-US" sz="2800" b="1" dirty="0" smtClean="0">
                <a:solidFill>
                  <a:schemeClr val="tx1"/>
                </a:solidFill>
              </a:rPr>
              <a:t>되려면 어떤 </a:t>
            </a:r>
            <a:r>
              <a:rPr lang="ko-KR" altLang="en-US" sz="2800" b="1" dirty="0">
                <a:solidFill>
                  <a:schemeClr val="tx1"/>
                </a:solidFill>
              </a:rPr>
              <a:t>노력을 </a:t>
            </a:r>
            <a:endParaRPr lang="en-US" altLang="ko-KR" sz="2800" b="1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2800" b="1" dirty="0" smtClean="0">
                <a:solidFill>
                  <a:schemeClr val="tx1"/>
                </a:solidFill>
              </a:rPr>
              <a:t>해야 </a:t>
            </a:r>
            <a:r>
              <a:rPr lang="ko-KR" altLang="en-US" sz="2800" b="1" dirty="0">
                <a:solidFill>
                  <a:schemeClr val="tx1"/>
                </a:solidFill>
              </a:rPr>
              <a:t>할까</a:t>
            </a:r>
            <a:r>
              <a:rPr lang="en-US" altLang="ko-KR" sz="2800" b="1" dirty="0" smtClean="0">
                <a:solidFill>
                  <a:schemeClr val="tx1"/>
                </a:solidFill>
              </a:rPr>
              <a:t>?”</a:t>
            </a:r>
            <a:r>
              <a:rPr lang="ko-KR" altLang="en-US" sz="2800" dirty="0" smtClean="0">
                <a:solidFill>
                  <a:schemeClr val="tx1"/>
                </a:solidFill>
              </a:rPr>
              <a:t>를</a:t>
            </a:r>
            <a:endParaRPr lang="en-US" altLang="ko-KR" sz="2800" dirty="0" smtClean="0">
              <a:solidFill>
                <a:schemeClr val="tx1"/>
              </a:solidFill>
            </a:endParaRPr>
          </a:p>
          <a:p>
            <a:pPr algn="ctr"/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ko-KR" altLang="en-US" sz="2800" dirty="0" smtClean="0">
                <a:solidFill>
                  <a:schemeClr val="tx1"/>
                </a:solidFill>
              </a:rPr>
              <a:t>배워 보아요</a:t>
            </a:r>
            <a:r>
              <a:rPr lang="en-US" altLang="ko-KR" sz="2800" dirty="0" smtClean="0">
                <a:solidFill>
                  <a:schemeClr val="tx1"/>
                </a:solidFill>
              </a:rPr>
              <a:t>.</a:t>
            </a:r>
            <a:endParaRPr lang="ko-KR" altLang="en-US" sz="2800" dirty="0">
              <a:solidFill>
                <a:schemeClr val="tx1"/>
              </a:solidFill>
            </a:endParaRPr>
          </a:p>
        </p:txBody>
      </p:sp>
      <p:pic>
        <p:nvPicPr>
          <p:cNvPr id="2" name="그림 1" descr="동물 피규어, 곰, 클립아트, 만화 영화이(가) 표시된 사진&#10;&#10;자동 생성된 설명">
            <a:extLst>
              <a:ext uri="{FF2B5EF4-FFF2-40B4-BE49-F238E27FC236}">
                <a16:creationId xmlns:a16="http://schemas.microsoft.com/office/drawing/2014/main" id="{D69624B4-0050-04C5-8DBB-1467BBABF8D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541833" y="571002"/>
            <a:ext cx="1743521" cy="1617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0221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무엇이 옳거나 그른지 알지 못해서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28쪽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(1) 도덕적 </a:t>
            </a:r>
            <a:r>
              <a:rPr sz="1439" b="1">
                <a:solidFill>
                  <a:srgbClr val="2F6FD0"/>
                </a:solidFill>
              </a:rPr>
              <a:t>①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무지 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어떤 문제를 도덕적인 문제로 생각하지 못하거나 무엇이 옳은지 그른지 알지 못함.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 사진을 허락 없이 올리면서 “그냥 재밌잖아.” — 초상권 침해인 줄 모른다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도덕적으로 무지하면 도덕적으로 행동하기 어려움.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/>
                </a:solidFill>
              </a:rPr>
              <a:t> 무지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어떤 문제를 도덕적인 문제로 생각하지 못하거나 무엇이 옳은지 그른지 알지 못함.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친구 사진을 허락 없이 올리면서 “그냥 재밌잖아.” — 초상권 침해인 줄 모른다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도덕적으로 무지하면 도덕적으로 행동하기 어려움.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(1) 도덕적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①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무지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어떤 문제를 도덕적인 문제로 생각하지 못하거나 무엇이 옳은지 그른지 알지 못함.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친구 사진을 허락 없이 올리면서 “그냥 재밌잖아.” — 초상권 침해인 줄 모른다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도덕적으로 무지하면 도덕적으로 행동하기 어려움.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</p:bld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알면서도 행동으로 옮기기 어려워서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(1) </a:t>
            </a:r>
            <a:r>
              <a:rPr sz="1439" b="1">
                <a:solidFill>
                  <a:srgbClr val="2F6FD0"/>
                </a:solidFill>
              </a:rPr>
              <a:t>②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의지 </a:t>
            </a:r>
            <a:r>
              <a:rPr sz="2400" b="0">
                <a:solidFill>
                  <a:srgbClr val="262626"/>
                </a:solidFill>
              </a:rPr>
              <a:t>의 나약함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다른 사람을 위하는 마음보다 자기의 이익을 중시하는 이기심이나 귀찮음 등으로 나타남.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의지의 나약함을 이겨 내지 못하면 도덕적으로 행동하기 어려움.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(2) 자기 정당화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/>
                </a:solidFill>
              </a:rPr>
              <a:t>③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자기 </a:t>
            </a:r>
            <a:r>
              <a:rPr sz="2400" b="1">
                <a:solidFill>
                  <a:srgbClr val="843C0C"/>
                </a:solidFill>
              </a:rPr>
              <a:t> </a:t>
            </a:r>
            <a:r>
              <a:rPr sz="1439" b="1">
                <a:solidFill>
                  <a:srgbClr val="2F6FD0"/>
                </a:solidFill>
              </a:rPr>
              <a:t>④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정당화 </a:t>
            </a:r>
            <a:r>
              <a:rPr sz="2400" b="1">
                <a:solidFill>
                  <a:srgbClr val="843C0C"/>
                </a:solidFill>
              </a:rPr>
              <a:t>의 의미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도덕적이지 못한 행동에 죄책감을 느끼지 않기 위해 그럴듯한 이유를 만들어 자기 행동이 옳다고 믿는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“다들 베끼는데 나만 안 하면 손해잖아.”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/>
                </a:solidFill>
              </a:rPr>
              <a:t> 의지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나약함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사람을 위하는 마음보다 자기의 이익을 중시하는 이기심이나 귀찮음 등으로 나타남.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의지의 나약함을 이겨 내지 못하면 도덕적으로 행동하기 어려움.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자기 정당화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정당화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도덕적이지 못한 행동에 죄책감을 느끼지 않기 위해 그럴듯한 이유를 만들어 자기 행동이 옳다고 믿는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“다들 베끼는데 나만 안 하면 손해잖아.”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나약함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사람을 위하는 마음보다 자기의 이익을 중시하는 이기심이나 귀찮음 등으로 나타남.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의지의 나약함을 이겨 내지 못하면 도덕적으로 행동하기 어려움.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자기 정당화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/>
                </a:solidFill>
              </a:rPr>
              <a:t> 자기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정당화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도덕적이지 못한 행동에 죄책감을 느끼지 않기 위해 그럴듯한 이유를 만들어 자기 행동이 옳다고 믿는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“다들 베끼는데 나만 안 하면 손해잖아.”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나약함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사람을 위하는 마음보다 자기의 이익을 중시하는 이기심이나 귀찮음 등으로 나타남.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의지의 나약함을 이겨 내지 못하면 도덕적으로 행동하기 어려움.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자기 정당화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/>
                </a:solidFill>
              </a:rPr>
              <a:t> 정당화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도덕적이지 못한 행동에 죄책감을 느끼지 않기 위해 그럴듯한 이유를 만들어 자기 행동이 옳다고 믿는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“다들 베끼는데 나만 안 하면 손해잖아.”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(1)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②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의지 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의 나약함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사람을 위하는 마음보다 자기의 이익을 중시하는 이기심이나 귀찮음 등으로 나타남.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의지의 나약함을 이겨 내지 못하면 도덕적으로 행동하기 어려움.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(2) 자기 정당화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1439" b="1">
                <a:solidFill>
                  <a:srgbClr val="2F6FD0">
                    <a:alpha val="0"/>
                  </a:srgbClr>
                </a:solidFill>
              </a:rPr>
              <a:t>③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자기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④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정당화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의 의미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도덕적이지 못한 행동에 죄책감을 느끼지 않기 위해 그럴듯한 이유를 만들어 자기 행동이 옳다고 믿는 것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“다들 베끼는데 나만 안 하면 손해잖아.”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빈칸 채우기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b="1" dirty="0" smtClean="0">
                <a:solidFill>
                  <a:srgbClr val="FFFF00"/>
                </a:solidFill>
                <a:latin typeface="+mn-ea"/>
              </a:rPr>
              <a:t>알면서도 행동으로 옮기기 어려워서 (이어서)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/>
                </a:solidFill>
              </a:rPr>
              <a:t>자기 정당화에 빠지면 자기 잘못을 반성하기보다 오히려 떳떳하게 여길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(3) </a:t>
            </a:r>
            <a:r>
              <a:rPr sz="1439" b="1">
                <a:solidFill>
                  <a:srgbClr val="2F6FD0"/>
                </a:solidFill>
              </a:rPr>
              <a:t>⑤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무관심 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다른 사람이 겪는 고통을 내 일이 아니라고 생각하거나 무시하게 함으로써 도덕적 행동을 어렵게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복도에서 넘어진 친구를 보고 “누가 도와주겠지.” 하고 지나감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/>
                </a:solidFill>
              </a:rPr>
              <a:t>(4) 상황의 </a:t>
            </a:r>
            <a:r>
              <a:rPr sz="1439" b="1">
                <a:solidFill>
                  <a:srgbClr val="2F6FD0"/>
                </a:solidFill>
              </a:rPr>
              <a:t>⑥</a:t>
            </a:r>
            <a:r>
              <a:rPr sz="2400" b="1" u="sng">
                <a:solidFill>
                  <a:srgbClr val="FFFFFF"/>
                </a:solidFill>
                <a:uFill>
                  <a:solidFill>
                    <a:srgbClr val="C0392B"/>
                  </a:solidFill>
                </a:uFill>
              </a:rPr>
              <a:t> 압력 </a:t>
            </a:r>
            <a:r>
              <a:rPr sz="2400" b="1">
                <a:solidFill>
                  <a:srgbClr val="843C0C"/>
                </a:solidFill>
              </a:rPr>
              <a:t> : </a:t>
            </a:r>
            <a:r>
              <a:rPr sz="2400" b="0">
                <a:solidFill>
                  <a:srgbClr val="262626"/>
                </a:solidFill>
              </a:rPr>
              <a:t>자신이 속한 집단이 도덕적 행동을 하지 못하도록 압력을 가하거나 도덕적 행동을 비난하는 상황에서는 바람직하게 행동하기 어려움.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단톡방에서 모두 한 친구를 놀릴 때 혼자 “그만하자.”라고 말하기 어렵다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자기 정당화에 빠지면 자기 잘못을 반성하기보다 오히려 떳떳하게 여길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/>
                </a:solidFill>
              </a:rPr>
              <a:t> 무관심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사람이 겪는 고통을 내 일이 아니라고 생각하거나 무시하게 함으로써 도덕적 행동을 어렵게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복도에서 넘어진 친구를 보고 “누가 도와주겠지.” 하고 지나감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(4) 상황의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압력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속한 집단이 도덕적 행동을 하지 못하도록 압력을 가하거나 도덕적 행동을 비난하는 상황에서는 바람직하게 행동하기 어려움.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단톡방에서 모두 한 친구를 놀릴 때 혼자 “그만하자.”라고 말하기 어렵다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자기 정당화에 빠지면 자기 잘못을 반성하기보다 오히려 떳떳하게 여길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무관심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사람이 겪는 고통을 내 일이 아니라고 생각하거나 무시하게 함으로써 도덕적 행동을 어렵게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복도에서 넘어진 친구를 보고 “누가 도와주겠지.” 하고 지나감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(4) 상황의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압력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속한 집단이 도덕적 행동을 하지 못하도록 압력을 가하거나 도덕적 행동을 비난하는 상황에서는 바람직하게 행동하기 어려움.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단톡방에서 모두 한 친구를 놀릴 때 혼자 “그만하자.”라고 말하기 어렵다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자기 정당화에 빠지면 자기 잘못을 반성하기보다 오히려 떳떳하게 여길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무관심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사람이 겪는 고통을 내 일이 아니라고 생각하거나 무시하게 함으로써 도덕적 행동을 어렵게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복도에서 넘어진 친구를 보고 “누가 도와주겠지.” 하고 지나감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(4) 상황의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/>
                </a:solidFill>
              </a:rPr>
              <a:t> 압력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속한 집단이 도덕적 행동을 하지 못하도록 압력을 가하거나 도덕적 행동을 비난하는 상황에서는 바람직하게 행동하기 어려움.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단톡방에서 모두 한 친구를 놀릴 때 혼자 “그만하자.”라고 말하기 어렵다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자기 정당화에 빠지면 자기 잘못을 반성하기보다 오히려 떳떳하게 여길 수 있음.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(3)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⑤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무관심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다른 사람이 겪는 고통을 내 일이 아니라고 생각하거나 무시하게 함으로써 도덕적 행동을 어렵게 함.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>
                    <a:alpha val="0"/>
                  </a:srgbClr>
                </a:solidFill>
              </a:rPr>
              <a:t>💡 복도에서 넘어진 친구를 보고 “누가 도와주겠지.” 하고 지나감</a:t>
            </a:r>
          </a:p>
          <a:p>
            <a:pPr>
              <a:lnSpc>
                <a:spcPct val="130000"/>
              </a:lnSpc>
              <a:spcBef>
                <a:spcPts val="700"/>
              </a:spcBef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(4) 상황의 </a:t>
            </a:r>
            <a:r>
              <a:rPr sz="1439" b="1">
                <a:solidFill>
                  <a:srgbClr val="2F6FD0">
                    <a:alpha val="0"/>
                  </a:srgbClr>
                </a:solidFill>
              </a:rPr>
              <a:t>⑥</a:t>
            </a:r>
            <a:r>
              <a:rPr sz="2400" b="1">
                <a:solidFill>
                  <a:srgbClr val="C0392B">
                    <a:alpha val="0"/>
                  </a:srgbClr>
                </a:solidFill>
              </a:rPr>
              <a:t> 압력 </a:t>
            </a:r>
            <a:r>
              <a:rPr sz="2400" b="1">
                <a:solidFill>
                  <a:srgbClr val="843C0C">
                    <a:alpha val="0"/>
                  </a:srgbClr>
                </a:solidFill>
              </a:rPr>
              <a:t> : </a:t>
            </a:r>
            <a:r>
              <a:rPr sz="2400" b="0">
                <a:solidFill>
                  <a:srgbClr val="262626">
                    <a:alpha val="0"/>
                  </a:srgbClr>
                </a:solidFill>
              </a:rPr>
              <a:t>자신이 속한 집단이 도덕적 행동을 하지 못하도록 압력을 가하거나 도덕적 행동을 비난하는 상황에서는 바람직하게 행동하기 어려움.</a:t>
            </a:r>
          </a:p>
          <a:p>
            <a:pPr>
              <a:lnSpc>
                <a:spcPct val="130000"/>
              </a:lnSpc>
              <a:spcBef>
                <a:spcPts val="100"/>
              </a:spcBef>
            </a:pPr>
            <a:r>
              <a:rPr sz="2100" b="1">
                <a:solidFill>
                  <a:srgbClr val="B45F06"/>
                </a:solidFill>
              </a:rPr>
              <a:t>💡 단톡방에서 모두 한 친구를 놀릴 때 혼자 “그만하자.”라고 말하기 어렵다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설교하러 가던 신학생들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1973년 · 미국 프린스턴 대학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과제 · ‘선한 사마리아인’ 이야기로 짧은 설교하기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가는 길 · 문가에 쓰러져 신음하는 사람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늦었다는 말을 들었을 때 · 10%만 멈춰 도왔다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여유가 있을 때 · 63%가 멈춰 도왔다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>
                    <a:alpha val="0"/>
                  </a:srgbClr>
                </a:solidFill>
              </a:rPr>
              <a:t>❓ 무엇이 그들을 지나치게 했을까?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>
                    <a:alpha val="0"/>
                  </a:srgbClr>
                </a:solidFill>
              </a:rPr>
              <a:t>1973년 · 미국 프린스턴 대학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과제 · ‘선한 사마리아인’ 이야기로 짧은 설교하기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가는 길 · 문가에 쓰러져 신음하는 사람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늦었다는 말을 들었을 때 · 10%만 멈춰 도왔다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여유가 있을 때 · 63%가 멈춰 도왔다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r>
              <a:rPr sz="2400" b="1">
                <a:solidFill>
                  <a:srgbClr val="2F6FD0"/>
                </a:solidFill>
              </a:rPr>
              <a:t>❓ 무엇이 그들을 지나치게 했을까?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더해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900" b="1" dirty="0" smtClean="0">
                <a:solidFill>
                  <a:srgbClr val="FFFF00"/>
                </a:solidFill>
                <a:latin typeface="+mn-ea"/>
              </a:rPr>
              <a:t>옆방에서 누군가 쓰러졌다. 듣고 있는 사람이 나 혼자라면?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29쪽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85% · 혼자 듣는다고 믿을 때 도우러 나갔다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31% · 다른 4명도 듣는다고 믿을 때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1분 체크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학습지 1분 체크 · 맞으면 ○, 틀리면 ✕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1. 도덕적으로 무지하면 도덕적으로 행동하기 쉽다.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2. 다른 사람을 위하는 마음보다 자기 이익을 중시하는 이기심이나 귀찮음 등으로 나타나는 것을 ‘자기 정당화’라고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3. 자기 정당화에 빠지면 자기 잘못을 반성하기보다 오히려 떳떳하게 여길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4. 자신이 속한 집단이 도덕적 행동을 하지 못하도록 압력을 가하거나 도덕적 행동을 비난하는 상황에서는 도덕적으로 행동하기 어렵다.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도덕적으로 무지하면 도덕적으로 행동하기 쉽다.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다른 사람을 위하는 마음보다 자기 이익을 중시하는 이기심이나 귀찮음 등으로 나타나는 것을 ‘자기 정당화’라고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자기 정당화에 빠지면 자기 잘못을 반성하기보다 오히려 떳떳하게 여길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자신이 속한 집단이 도덕적 행동을 하지 못하도록 압력을 가하거나 도덕적 행동을 비난하는 상황에서는 도덕적으로 행동하기 어렵다.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도덕적으로 무지하면 도덕적으로 행동하기 쉽다.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다른 사람을 위하는 마음보다 자기 이익을 중시하는 이기심이나 귀찮음 등으로 나타나는 것을 ‘자기 정당화’라고 한다.  ( ○ / ✕ )</a:t>
            </a:r>
            <a:r>
              <a:rPr sz="2300" b="1">
                <a:solidFill>
                  <a:srgbClr val="C0392B"/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자기 정당화에 빠지면 자기 잘못을 반성하기보다 오히려 떳떳하게 여길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자신이 속한 집단이 도덕적 행동을 하지 못하도록 압력을 가하거나 도덕적 행동을 비난하는 상황에서는 도덕적으로 행동하기 어렵다.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도덕적으로 무지하면 도덕적으로 행동하기 쉽다.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다른 사람을 위하는 마음보다 자기 이익을 중시하는 이기심이나 귀찮음 등으로 나타나는 것을 ‘자기 정당화’라고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자기 정당화에 빠지면 자기 잘못을 반성하기보다 오히려 떳떳하게 여길 수 있다.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자신이 속한 집단이 도덕적 행동을 하지 못하도록 압력을 가하거나 도덕적 행동을 비난하는 상황에서는 도덕적으로 행동하기 어렵다.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1. 도덕적으로 무지하면 도덕적으로 행동하기 쉽다.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2. 다른 사람을 위하는 마음보다 자기 이익을 중시하는 이기심이나 귀찮음 등으로 나타나는 것을 ‘자기 정당화’라고 한다.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✕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3. 자기 정당화에 빠지면 자기 잘못을 반성하기보다 오히려 떳떳하게 여길 수 있다.  ( ○ / ✕ )</a:t>
            </a:r>
            <a:r>
              <a:rPr sz="2300" b="1">
                <a:solidFill>
                  <a:srgbClr val="C0392B">
                    <a:alpha val="0"/>
                  </a:srgbClr>
                </a:solidFill>
              </a:rPr>
              <a:t>   ○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>
                    <a:alpha val="0"/>
                  </a:srgbClr>
                </a:solidFill>
              </a:rPr>
              <a:t>4. 자신이 속한 집단이 도덕적 행동을 하지 못하도록 압력을 가하거나 도덕적 행동을 비난하는 상황에서는 도덕적으로 행동하기 어렵다.  ( ○ / ✕ )</a:t>
            </a:r>
            <a:r>
              <a:rPr sz="2300" b="1">
                <a:solidFill>
                  <a:srgbClr val="C0392B"/>
                </a:solidFill>
              </a:rPr>
              <a:t>   ○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</p:bld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15" name="그림 14" descr="스크린샷, 직사각형, 프레임이(가) 표시된 사진&#10;&#10;자동 생성된 설명">
            <a:extLst>
              <a:ext uri="{FF2B5EF4-FFF2-40B4-BE49-F238E27FC236}">
                <a16:creationId xmlns:a16="http://schemas.microsoft.com/office/drawing/2014/main" id="{1F2BD740-CBE0-6428-785E-A679A26CFAD2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63293" y="671316"/>
            <a:ext cx="14615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2400" b="1" dirty="0">
                <a:solidFill>
                  <a:schemeClr val="bg1"/>
                </a:solidFill>
                <a:latin typeface="+mj-ea"/>
                <a:ea typeface="+mj-ea"/>
              </a:rPr>
              <a:t>함께 해 보기</a:t>
            </a:r>
          </a:p>
        </p:txBody>
      </p:sp>
      <p:pic>
        <p:nvPicPr>
          <p:cNvPr id="2" name="그래픽 1">
            <a:extLst>
              <a:ext uri="{FF2B5EF4-FFF2-40B4-BE49-F238E27FC236}">
                <a16:creationId xmlns:a16="http://schemas.microsoft.com/office/drawing/2014/main" id="{59085718-2868-4EE2-956A-5921C971418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65631" y="78580"/>
            <a:ext cx="1352551" cy="28575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31E673D8-A19D-7053-452F-4D188691D173}"/>
              </a:ext>
            </a:extLst>
          </p:cNvPr>
          <p:cNvSpPr txBox="1"/>
          <p:nvPr/>
        </p:nvSpPr>
        <p:spPr>
          <a:xfrm>
            <a:off x="2753958" y="651297"/>
            <a:ext cx="71538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 smtClean="0">
                <a:solidFill>
                  <a:srgbClr val="FFFF00"/>
                </a:solidFill>
                <a:latin typeface="+mn-ea"/>
              </a:rPr>
              <a:t>여섯 사람과 나</a:t>
            </a:r>
            <a:endParaRPr lang="ko-KR" altLang="en-US" sz="2800" b="1" dirty="0">
              <a:solidFill>
                <a:srgbClr val="FFFF00"/>
              </a:solidFill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509C190-B7A2-2304-F9ED-C5C85F801E57}"/>
              </a:ext>
            </a:extLst>
          </p:cNvPr>
          <p:cNvSpPr txBox="1"/>
          <p:nvPr/>
        </p:nvSpPr>
        <p:spPr>
          <a:xfrm>
            <a:off x="11535395" y="90736"/>
            <a:ext cx="4892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100" b="1" dirty="0" smtClean="0">
                <a:solidFill>
                  <a:srgbClr val="3DB250"/>
                </a:solidFill>
                <a:latin typeface="+mj-ea"/>
                <a:ea typeface="+mj-ea"/>
              </a:rPr>
              <a:t>27쪽</a:t>
            </a:r>
            <a:endParaRPr lang="ko-KR" altLang="en-US" sz="1100" b="1" dirty="0">
              <a:solidFill>
                <a:srgbClr val="3DB250"/>
              </a:solidFill>
              <a:latin typeface="+mj-ea"/>
              <a:ea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2CB891-F7FC-44D4-7331-394197E39634}"/>
              </a:ext>
            </a:extLst>
          </p:cNvPr>
          <p:cNvSpPr txBox="1"/>
          <p:nvPr/>
        </p:nvSpPr>
        <p:spPr>
          <a:xfrm>
            <a:off x="3924500" y="25400"/>
            <a:ext cx="6747580" cy="369332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atin typeface="+mj-ea"/>
                <a:ea typeface="+mj-ea"/>
              </a:rPr>
              <a:t>01. </a:t>
            </a:r>
            <a:r>
              <a:rPr lang="ko-KR" altLang="en-US" b="1" dirty="0">
                <a:latin typeface="+mj-ea"/>
                <a:ea typeface="+mj-ea"/>
              </a:rPr>
              <a:t>도덕적으로 행동하지 못하는 원인은 무엇일까</a:t>
            </a:r>
            <a:r>
              <a:rPr lang="en-US" altLang="ko-KR" b="1" dirty="0">
                <a:latin typeface="+mj-ea"/>
                <a:ea typeface="+mj-ea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867" y="89426"/>
            <a:ext cx="1731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Ⅰ.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자신과의 관계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CBC0A6-D9DC-0DF9-B79B-2AB53AB63FFB}"/>
              </a:ext>
            </a:extLst>
          </p:cNvPr>
          <p:cNvSpPr txBox="1"/>
          <p:nvPr/>
        </p:nvSpPr>
        <p:spPr>
          <a:xfrm>
            <a:off x="2067995" y="89426"/>
            <a:ext cx="14820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b="1" dirty="0">
                <a:solidFill>
                  <a:srgbClr val="6C768E"/>
                </a:solidFill>
                <a:latin typeface="+mj-ea"/>
                <a:ea typeface="+mj-ea"/>
              </a:rPr>
              <a:t>2. </a:t>
            </a:r>
            <a:r>
              <a:rPr lang="ko-KR" altLang="en-US" sz="1000" b="1" dirty="0">
                <a:solidFill>
                  <a:srgbClr val="6C768E"/>
                </a:solidFill>
                <a:latin typeface="+mj-ea"/>
                <a:ea typeface="+mj-ea"/>
              </a:rPr>
              <a:t>도덕적인 사람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DF654BD-7BDA-01EA-D081-AF5C5DA47FBF}"/>
              </a:ext>
            </a:extLst>
          </p:cNvPr>
          <p:cNvSpPr txBox="1"/>
          <p:nvPr/>
        </p:nvSpPr>
        <p:spPr>
          <a:xfrm>
            <a:off x="11140107" y="121514"/>
            <a:ext cx="239168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solidFill>
                  <a:schemeClr val="bg1"/>
                </a:solidFill>
                <a:latin typeface="+mj-ea"/>
                <a:ea typeface="+mj-ea"/>
              </a:rPr>
              <a:t>1</a:t>
            </a:r>
            <a:endParaRPr lang="ko-KR" altLang="en-US" sz="7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1417320"/>
            <a:ext cx="10835640" cy="4983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2400" b="1">
                <a:solidFill>
                  <a:srgbClr val="843C0C"/>
                </a:solidFill>
              </a:rPr>
              <a:t>왼쪽 기준선과 길이가 같은 선은 A, B, C 가운데 무엇일까?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① 혼자 생각하기 — 2분 동안 나의 답을 정해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② 짝·모둠과 나누기 — 서로의 까닭을 들어 보자</a:t>
            </a:r>
          </a:p>
          <a:p>
            <a:pPr>
              <a:lnSpc>
                <a:spcPct val="130000"/>
              </a:lnSpc>
              <a:spcBef>
                <a:spcPts val="800"/>
              </a:spcBef>
            </a:pPr>
            <a:r>
              <a:rPr sz="2400" b="0">
                <a:solidFill>
                  <a:srgbClr val="262626"/>
                </a:solidFill>
              </a:rPr>
              <a:t>③ 한 문장으로 발표하기 — “나는 ___ 왜냐하면 ___”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>
            <a:lumMod val="20000"/>
            <a:lumOff val="80000"/>
          </a:schemeClr>
        </a:solidFill>
        <a:ln>
          <a:solidFill>
            <a:srgbClr val="00A746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8131</TotalTime>
  <Words>1621</Words>
  <Application>Microsoft Office PowerPoint</Application>
  <PresentationFormat>와이드스크린</PresentationFormat>
  <Paragraphs>247</Paragraphs>
  <Slides>22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굴림</vt:lpstr>
      <vt:lpstr>나눔스퀘어라운드 ExtraBold</vt:lpstr>
      <vt:lpstr>돋움</vt:lpstr>
      <vt:lpstr>맑은 고딕</vt:lpstr>
      <vt:lpstr>Arial</vt:lpstr>
      <vt:lpstr>Arial Rounded MT Bold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157</cp:revision>
  <cp:lastPrinted>2024-06-05T04:53:22Z</cp:lastPrinted>
  <dcterms:created xsi:type="dcterms:W3CDTF">2023-10-31T05:50:03Z</dcterms:created>
  <dcterms:modified xsi:type="dcterms:W3CDTF">2025-01-14T02:05:48Z</dcterms:modified>
</cp:coreProperties>
</file>