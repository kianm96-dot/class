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1"/>
  </p:notesMasterIdLst>
  <p:handoutMasterIdLst>
    <p:handoutMasterId r:id="rId22"/>
  </p:handoutMasterIdLst>
  <p:sldIdLst>
    <p:sldId id="302" r:id="rId2"/>
    <p:sldId id="301" r:id="rId3"/>
    <p:sldId id="258" r:id="rId4"/>
    <p:sldId id="362" r:id="rId5"/>
    <p:sldId id="363" r:id="rId6"/>
    <p:sldId id="305" r:id="rId7"/>
    <p:sldId id="260" r:id="rId8"/>
    <p:sldId id="371" r:id="rId28"/>
    <p:sldId id="372" r:id="rId29"/>
    <p:sldId id="306" r:id="rId9"/>
    <p:sldId id="270" r:id="rId10"/>
    <p:sldId id="364" r:id="rId11"/>
    <p:sldId id="365" r:id="rId12"/>
    <p:sldId id="373" r:id="rId30"/>
    <p:sldId id="374" r:id="rId31"/>
    <p:sldId id="375" r:id="rId32"/>
    <p:sldId id="376" r:id="rId33"/>
    <p:sldId id="367" r:id="rId13"/>
    <p:sldId id="368" r:id="rId14"/>
    <p:sldId id="369" r:id="rId15"/>
    <p:sldId id="370" r:id="rId16"/>
    <p:sldId id="307" r:id="rId17"/>
    <p:sldId id="308" r:id="rId18"/>
    <p:sldId id="366" r:id="rId19"/>
    <p:sldId id="377" r:id="rId34"/>
    <p:sldId id="378" r:id="rId35"/>
    <p:sldId id="348" r:id="rId20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FF00"/>
    <a:srgbClr val="D9E1E9"/>
    <a:srgbClr val="E8F6FD"/>
    <a:srgbClr val="F0FFF6"/>
    <a:srgbClr val="019BFF"/>
    <a:srgbClr val="FFF7EE"/>
    <a:srgbClr val="FFC000"/>
    <a:srgbClr val="FFF2CC"/>
    <a:srgbClr val="BD4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6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브릭먼 연구팀(1978)과 쾌락 적응</a:t>
            </a:r>
          </a:p>
          <a:p>
            <a:r>
              <a:t>복권 당첨자 22명과 비교 집단을 조사했더니, 당첨자의 현재 행복은 비교 집단과 뚜렷한 차이가 없었고 친구와의 대화, 아침 식사 같은 일상의 즐거움은 덜 느꼈다.</a:t>
            </a:r>
          </a:p>
          <a:p>
            <a:r>
              <a:t>좋은 일에도 나쁜 일에도 사람은 차츰 익숙해진다(쾌락 적응). 연구가 작고 오래되어 ‘돈은 행복과 상관없다’고 단정하지는 않는다. 다른 연구들은 가난에서 벗어나는 데에는 소득이 큰 도움이 된다고 본다.</a:t>
            </a:r>
          </a:p>
          <a:p>
            <a:r>
              <a:t>발문 “새 휴대폰을 샀을 때의 기쁨은 얼마나 갔나요?”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46쪽 이야기</a:t>
            </a:r>
          </a:p>
          <a:p>
            <a:r>
              <a:t>『크리스마스 캐럴』의 스크루지: 호화 저택에서 혼자 밥을 먹고, 자신의 죽음을 슬퍼하는 사람이 없음을 보고 후회한다 → 관계와 행복.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하버드 성인 발달 연구</a:t>
            </a:r>
          </a:p>
          <a:p>
            <a:r>
              <a:t>1938년 시작해 같은 사람들의 삶을 평생 추적한 연구. 지금은 참가자의 자녀 세대까지 조사한다. 네 번째 책임자 로버트 월딩어는 “좋은 관계가 우리를 더 행복하고 건강하게 한다”고 요약했다(2015 강연).</a:t>
            </a:r>
          </a:p>
          <a:p>
            <a:r>
              <a:t>관계의 수보다 질(믿고 기댈 수 있는가)이 중요했다.</a:t>
            </a:r>
          </a:p>
          <a:p>
            <a:r>
              <a:t>발문 “힘들 때 새벽에 전화할 수 있는 사람이 있나요? 나는 누군가에게 그런 사람인가요?”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4.xml"/><Relationship Id="rId6" Type="http://schemas.openxmlformats.org/officeDocument/2006/relationships/image" Target="../media/image26.png"/><Relationship Id="rId7" Type="http://schemas.openxmlformats.org/officeDocument/2006/relationships/slide" Target="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4.xml"/><Relationship Id="rId6" Type="http://schemas.openxmlformats.org/officeDocument/2006/relationships/image" Target="../media/image28.png"/><Relationship Id="rId7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smtClean="0">
                <a:solidFill>
                  <a:schemeClr val="bg1"/>
                </a:solidFill>
                <a:latin typeface="+mj-ea"/>
                <a:ea typeface="+mj-ea"/>
              </a:rPr>
              <a:t>3 </a:t>
            </a:r>
            <a:r>
              <a:rPr lang="ko-KR" altLang="en-US" sz="2800" b="1" smtClean="0">
                <a:solidFill>
                  <a:schemeClr val="bg1"/>
                </a:solidFill>
                <a:latin typeface="+mj-ea"/>
                <a:ea typeface="+mj-ea"/>
              </a:rPr>
              <a:t>행복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en-US" altLang="ko-KR" sz="1100" b="1" dirty="0" smtClean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7561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행복의 의미는 무엇일까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43980"/>
            <a:ext cx="10293350" cy="787400"/>
            <a:chOff x="914400" y="2362200"/>
            <a:chExt cx="10293350" cy="787400"/>
          </a:xfrm>
        </p:grpSpPr>
        <p:sp>
          <p:nvSpPr>
            <p:cNvPr id="2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spc="-150" dirty="0">
                <a:solidFill>
                  <a:prstClr val="black"/>
                </a:solidFill>
                <a:latin typeface="+mn-ea"/>
              </a:rPr>
              <a:t>행복의 의미를 종합적으로 설명할 수 있다</a:t>
            </a:r>
            <a:r>
              <a:rPr lang="en-US" altLang="ko-KR" sz="2800" b="1" spc="-150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자신의 행복을 소중히 여기는 자세를 지닌다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766101" y="6249603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rId5" action="ppaction://hlinksldjump"/>
          </p:cNvPr>
          <p:cNvSpPr/>
          <p:nvPr/>
        </p:nvSpPr>
        <p:spPr>
          <a:xfrm>
            <a:off x="6161476" y="6249603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444884" y="1631130"/>
            <a:ext cx="960840" cy="669307"/>
          </a:xfrm>
          <a:prstGeom prst="rect">
            <a:avLst/>
          </a:prstGeom>
          <a:solidFill>
            <a:srgbClr val="E8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315753" y="2300436"/>
            <a:ext cx="11382368" cy="3279860"/>
            <a:chOff x="315753" y="2300436"/>
            <a:chExt cx="11382368" cy="3279860"/>
          </a:xfrm>
        </p:grpSpPr>
        <p:pic>
          <p:nvPicPr>
            <p:cNvPr id="29" name="그림 2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5753" y="2300437"/>
              <a:ext cx="11382368" cy="3279859"/>
            </a:xfrm>
            <a:prstGeom prst="rect">
              <a:avLst/>
            </a:prstGeom>
          </p:spPr>
        </p:pic>
        <p:sp>
          <p:nvSpPr>
            <p:cNvPr id="30" name="직사각형 29"/>
            <p:cNvSpPr/>
            <p:nvPr/>
          </p:nvSpPr>
          <p:spPr>
            <a:xfrm>
              <a:off x="10672960" y="2300436"/>
              <a:ext cx="1025161" cy="851035"/>
            </a:xfrm>
            <a:prstGeom prst="rect">
              <a:avLst/>
            </a:prstGeom>
            <a:solidFill>
              <a:srgbClr val="A3DF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타원 26">
            <a:hlinkClick r:id="rId7" action="ppaction://hlinksldjump"/>
          </p:cNvPr>
          <p:cNvSpPr/>
          <p:nvPr/>
        </p:nvSpPr>
        <p:spPr>
          <a:xfrm>
            <a:off x="655685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6135394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previousslide"/>
          </p:cNvPr>
          <p:cNvSpPr/>
          <p:nvPr/>
        </p:nvSpPr>
        <p:spPr>
          <a:xfrm>
            <a:off x="5713937" y="6269571"/>
            <a:ext cx="236668" cy="232111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444884" y="1631130"/>
            <a:ext cx="960840" cy="669307"/>
          </a:xfrm>
          <a:prstGeom prst="rect">
            <a:avLst/>
          </a:prstGeom>
          <a:solidFill>
            <a:srgbClr val="E8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512167" y="1972052"/>
            <a:ext cx="11246455" cy="4090288"/>
            <a:chOff x="512167" y="1972052"/>
            <a:chExt cx="11246455" cy="4090288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2167" y="2020136"/>
              <a:ext cx="11246455" cy="4042204"/>
            </a:xfrm>
            <a:prstGeom prst="rect">
              <a:avLst/>
            </a:prstGeom>
          </p:spPr>
        </p:pic>
        <p:sp>
          <p:nvSpPr>
            <p:cNvPr id="27" name="직사각형 26"/>
            <p:cNvSpPr/>
            <p:nvPr/>
          </p:nvSpPr>
          <p:spPr>
            <a:xfrm>
              <a:off x="712199" y="2010745"/>
              <a:ext cx="8306673" cy="198632"/>
            </a:xfrm>
            <a:prstGeom prst="rect">
              <a:avLst/>
            </a:prstGeom>
            <a:solidFill>
              <a:srgbClr val="E8F7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자유형 30"/>
            <p:cNvSpPr/>
            <p:nvPr/>
          </p:nvSpPr>
          <p:spPr>
            <a:xfrm>
              <a:off x="8963025" y="1972052"/>
              <a:ext cx="2428875" cy="272250"/>
            </a:xfrm>
            <a:custGeom>
              <a:avLst/>
              <a:gdLst>
                <a:gd name="connsiteX0" fmla="*/ 12700 w 2357677"/>
                <a:gd name="connsiteY0" fmla="*/ 22225 h 227118"/>
                <a:gd name="connsiteX1" fmla="*/ 12700 w 2357677"/>
                <a:gd name="connsiteY1" fmla="*/ 22225 h 227118"/>
                <a:gd name="connsiteX2" fmla="*/ 15875 w 2357677"/>
                <a:gd name="connsiteY2" fmla="*/ 82550 h 227118"/>
                <a:gd name="connsiteX3" fmla="*/ 22225 w 2357677"/>
                <a:gd name="connsiteY3" fmla="*/ 114300 h 227118"/>
                <a:gd name="connsiteX4" fmla="*/ 25400 w 2357677"/>
                <a:gd name="connsiteY4" fmla="*/ 212725 h 227118"/>
                <a:gd name="connsiteX5" fmla="*/ 34925 w 2357677"/>
                <a:gd name="connsiteY5" fmla="*/ 219075 h 227118"/>
                <a:gd name="connsiteX6" fmla="*/ 219075 w 2357677"/>
                <a:gd name="connsiteY6" fmla="*/ 222250 h 227118"/>
                <a:gd name="connsiteX7" fmla="*/ 295275 w 2357677"/>
                <a:gd name="connsiteY7" fmla="*/ 222250 h 227118"/>
                <a:gd name="connsiteX8" fmla="*/ 304800 w 2357677"/>
                <a:gd name="connsiteY8" fmla="*/ 215900 h 227118"/>
                <a:gd name="connsiteX9" fmla="*/ 317500 w 2357677"/>
                <a:gd name="connsiteY9" fmla="*/ 212725 h 227118"/>
                <a:gd name="connsiteX10" fmla="*/ 327025 w 2357677"/>
                <a:gd name="connsiteY10" fmla="*/ 206375 h 227118"/>
                <a:gd name="connsiteX11" fmla="*/ 355600 w 2357677"/>
                <a:gd name="connsiteY11" fmla="*/ 196850 h 227118"/>
                <a:gd name="connsiteX12" fmla="*/ 365125 w 2357677"/>
                <a:gd name="connsiteY12" fmla="*/ 193675 h 227118"/>
                <a:gd name="connsiteX13" fmla="*/ 374650 w 2357677"/>
                <a:gd name="connsiteY13" fmla="*/ 190500 h 227118"/>
                <a:gd name="connsiteX14" fmla="*/ 393700 w 2357677"/>
                <a:gd name="connsiteY14" fmla="*/ 177800 h 227118"/>
                <a:gd name="connsiteX15" fmla="*/ 412750 w 2357677"/>
                <a:gd name="connsiteY15" fmla="*/ 171450 h 227118"/>
                <a:gd name="connsiteX16" fmla="*/ 438150 w 2357677"/>
                <a:gd name="connsiteY16" fmla="*/ 165100 h 227118"/>
                <a:gd name="connsiteX17" fmla="*/ 457200 w 2357677"/>
                <a:gd name="connsiteY17" fmla="*/ 155575 h 227118"/>
                <a:gd name="connsiteX18" fmla="*/ 466725 w 2357677"/>
                <a:gd name="connsiteY18" fmla="*/ 149225 h 227118"/>
                <a:gd name="connsiteX19" fmla="*/ 476250 w 2357677"/>
                <a:gd name="connsiteY19" fmla="*/ 146050 h 227118"/>
                <a:gd name="connsiteX20" fmla="*/ 485775 w 2357677"/>
                <a:gd name="connsiteY20" fmla="*/ 139700 h 227118"/>
                <a:gd name="connsiteX21" fmla="*/ 495300 w 2357677"/>
                <a:gd name="connsiteY21" fmla="*/ 136525 h 227118"/>
                <a:gd name="connsiteX22" fmla="*/ 508000 w 2357677"/>
                <a:gd name="connsiteY22" fmla="*/ 130175 h 227118"/>
                <a:gd name="connsiteX23" fmla="*/ 527050 w 2357677"/>
                <a:gd name="connsiteY23" fmla="*/ 123825 h 227118"/>
                <a:gd name="connsiteX24" fmla="*/ 555625 w 2357677"/>
                <a:gd name="connsiteY24" fmla="*/ 111125 h 227118"/>
                <a:gd name="connsiteX25" fmla="*/ 565150 w 2357677"/>
                <a:gd name="connsiteY25" fmla="*/ 107950 h 227118"/>
                <a:gd name="connsiteX26" fmla="*/ 574675 w 2357677"/>
                <a:gd name="connsiteY26" fmla="*/ 101600 h 227118"/>
                <a:gd name="connsiteX27" fmla="*/ 584200 w 2357677"/>
                <a:gd name="connsiteY27" fmla="*/ 98425 h 227118"/>
                <a:gd name="connsiteX28" fmla="*/ 609600 w 2357677"/>
                <a:gd name="connsiteY28" fmla="*/ 92075 h 227118"/>
                <a:gd name="connsiteX29" fmla="*/ 638175 w 2357677"/>
                <a:gd name="connsiteY29" fmla="*/ 85725 h 227118"/>
                <a:gd name="connsiteX30" fmla="*/ 666750 w 2357677"/>
                <a:gd name="connsiteY30" fmla="*/ 79375 h 227118"/>
                <a:gd name="connsiteX31" fmla="*/ 688975 w 2357677"/>
                <a:gd name="connsiteY31" fmla="*/ 76200 h 227118"/>
                <a:gd name="connsiteX32" fmla="*/ 698500 w 2357677"/>
                <a:gd name="connsiteY32" fmla="*/ 73025 h 227118"/>
                <a:gd name="connsiteX33" fmla="*/ 762000 w 2357677"/>
                <a:gd name="connsiteY33" fmla="*/ 63500 h 227118"/>
                <a:gd name="connsiteX34" fmla="*/ 787400 w 2357677"/>
                <a:gd name="connsiteY34" fmla="*/ 60325 h 227118"/>
                <a:gd name="connsiteX35" fmla="*/ 876300 w 2357677"/>
                <a:gd name="connsiteY35" fmla="*/ 53975 h 227118"/>
                <a:gd name="connsiteX36" fmla="*/ 939800 w 2357677"/>
                <a:gd name="connsiteY36" fmla="*/ 50800 h 227118"/>
                <a:gd name="connsiteX37" fmla="*/ 977900 w 2357677"/>
                <a:gd name="connsiteY37" fmla="*/ 47625 h 227118"/>
                <a:gd name="connsiteX38" fmla="*/ 1327150 w 2357677"/>
                <a:gd name="connsiteY38" fmla="*/ 44450 h 227118"/>
                <a:gd name="connsiteX39" fmla="*/ 1584325 w 2357677"/>
                <a:gd name="connsiteY39" fmla="*/ 44450 h 227118"/>
                <a:gd name="connsiteX40" fmla="*/ 1660525 w 2357677"/>
                <a:gd name="connsiteY40" fmla="*/ 50800 h 227118"/>
                <a:gd name="connsiteX41" fmla="*/ 1698625 w 2357677"/>
                <a:gd name="connsiteY41" fmla="*/ 53975 h 227118"/>
                <a:gd name="connsiteX42" fmla="*/ 1771650 w 2357677"/>
                <a:gd name="connsiteY42" fmla="*/ 60325 h 227118"/>
                <a:gd name="connsiteX43" fmla="*/ 1822450 w 2357677"/>
                <a:gd name="connsiteY43" fmla="*/ 63500 h 227118"/>
                <a:gd name="connsiteX44" fmla="*/ 1873250 w 2357677"/>
                <a:gd name="connsiteY44" fmla="*/ 73025 h 227118"/>
                <a:gd name="connsiteX45" fmla="*/ 1905000 w 2357677"/>
                <a:gd name="connsiteY45" fmla="*/ 76200 h 227118"/>
                <a:gd name="connsiteX46" fmla="*/ 1914525 w 2357677"/>
                <a:gd name="connsiteY46" fmla="*/ 79375 h 227118"/>
                <a:gd name="connsiteX47" fmla="*/ 1962150 w 2357677"/>
                <a:gd name="connsiteY47" fmla="*/ 85725 h 227118"/>
                <a:gd name="connsiteX48" fmla="*/ 1997075 w 2357677"/>
                <a:gd name="connsiteY48" fmla="*/ 92075 h 227118"/>
                <a:gd name="connsiteX49" fmla="*/ 2025650 w 2357677"/>
                <a:gd name="connsiteY49" fmla="*/ 98425 h 227118"/>
                <a:gd name="connsiteX50" fmla="*/ 2035175 w 2357677"/>
                <a:gd name="connsiteY50" fmla="*/ 101600 h 227118"/>
                <a:gd name="connsiteX51" fmla="*/ 2073275 w 2357677"/>
                <a:gd name="connsiteY51" fmla="*/ 111125 h 227118"/>
                <a:gd name="connsiteX52" fmla="*/ 2101850 w 2357677"/>
                <a:gd name="connsiteY52" fmla="*/ 123825 h 227118"/>
                <a:gd name="connsiteX53" fmla="*/ 2111375 w 2357677"/>
                <a:gd name="connsiteY53" fmla="*/ 127000 h 227118"/>
                <a:gd name="connsiteX54" fmla="*/ 2130425 w 2357677"/>
                <a:gd name="connsiteY54" fmla="*/ 139700 h 227118"/>
                <a:gd name="connsiteX55" fmla="*/ 2139950 w 2357677"/>
                <a:gd name="connsiteY55" fmla="*/ 142875 h 227118"/>
                <a:gd name="connsiteX56" fmla="*/ 2155825 w 2357677"/>
                <a:gd name="connsiteY56" fmla="*/ 149225 h 227118"/>
                <a:gd name="connsiteX57" fmla="*/ 2171700 w 2357677"/>
                <a:gd name="connsiteY57" fmla="*/ 152400 h 227118"/>
                <a:gd name="connsiteX58" fmla="*/ 2193925 w 2357677"/>
                <a:gd name="connsiteY58" fmla="*/ 161925 h 227118"/>
                <a:gd name="connsiteX59" fmla="*/ 2203450 w 2357677"/>
                <a:gd name="connsiteY59" fmla="*/ 168275 h 227118"/>
                <a:gd name="connsiteX60" fmla="*/ 2222500 w 2357677"/>
                <a:gd name="connsiteY60" fmla="*/ 177800 h 227118"/>
                <a:gd name="connsiteX61" fmla="*/ 2238375 w 2357677"/>
                <a:gd name="connsiteY61" fmla="*/ 190500 h 227118"/>
                <a:gd name="connsiteX62" fmla="*/ 2254250 w 2357677"/>
                <a:gd name="connsiteY62" fmla="*/ 203200 h 227118"/>
                <a:gd name="connsiteX63" fmla="*/ 2266950 w 2357677"/>
                <a:gd name="connsiteY63" fmla="*/ 200025 h 227118"/>
                <a:gd name="connsiteX64" fmla="*/ 2273300 w 2357677"/>
                <a:gd name="connsiteY64" fmla="*/ 190500 h 227118"/>
                <a:gd name="connsiteX65" fmla="*/ 2289175 w 2357677"/>
                <a:gd name="connsiteY65" fmla="*/ 171450 h 227118"/>
                <a:gd name="connsiteX66" fmla="*/ 2298700 w 2357677"/>
                <a:gd name="connsiteY66" fmla="*/ 152400 h 227118"/>
                <a:gd name="connsiteX67" fmla="*/ 2314575 w 2357677"/>
                <a:gd name="connsiteY67" fmla="*/ 133350 h 227118"/>
                <a:gd name="connsiteX68" fmla="*/ 2330450 w 2357677"/>
                <a:gd name="connsiteY68" fmla="*/ 107950 h 227118"/>
                <a:gd name="connsiteX69" fmla="*/ 2343150 w 2357677"/>
                <a:gd name="connsiteY69" fmla="*/ 69850 h 227118"/>
                <a:gd name="connsiteX70" fmla="*/ 2346325 w 2357677"/>
                <a:gd name="connsiteY70" fmla="*/ 60325 h 227118"/>
                <a:gd name="connsiteX71" fmla="*/ 2355850 w 2357677"/>
                <a:gd name="connsiteY71" fmla="*/ 41275 h 227118"/>
                <a:gd name="connsiteX72" fmla="*/ 2352675 w 2357677"/>
                <a:gd name="connsiteY72" fmla="*/ 9525 h 227118"/>
                <a:gd name="connsiteX73" fmla="*/ 2292350 w 2357677"/>
                <a:gd name="connsiteY73" fmla="*/ 12700 h 227118"/>
                <a:gd name="connsiteX74" fmla="*/ 2222500 w 2357677"/>
                <a:gd name="connsiteY74" fmla="*/ 15875 h 227118"/>
                <a:gd name="connsiteX75" fmla="*/ 2171700 w 2357677"/>
                <a:gd name="connsiteY75" fmla="*/ 19050 h 227118"/>
                <a:gd name="connsiteX76" fmla="*/ 2054225 w 2357677"/>
                <a:gd name="connsiteY76" fmla="*/ 22225 h 227118"/>
                <a:gd name="connsiteX77" fmla="*/ 1847850 w 2357677"/>
                <a:gd name="connsiteY77" fmla="*/ 19050 h 227118"/>
                <a:gd name="connsiteX78" fmla="*/ 1733550 w 2357677"/>
                <a:gd name="connsiteY78" fmla="*/ 12700 h 227118"/>
                <a:gd name="connsiteX79" fmla="*/ 733425 w 2357677"/>
                <a:gd name="connsiteY79" fmla="*/ 9525 h 227118"/>
                <a:gd name="connsiteX80" fmla="*/ 609600 w 2357677"/>
                <a:gd name="connsiteY80" fmla="*/ 6350 h 227118"/>
                <a:gd name="connsiteX81" fmla="*/ 266700 w 2357677"/>
                <a:gd name="connsiteY81" fmla="*/ 0 h 227118"/>
                <a:gd name="connsiteX82" fmla="*/ 22225 w 2357677"/>
                <a:gd name="connsiteY82" fmla="*/ 3175 h 227118"/>
                <a:gd name="connsiteX83" fmla="*/ 6350 w 2357677"/>
                <a:gd name="connsiteY83" fmla="*/ 15875 h 227118"/>
                <a:gd name="connsiteX84" fmla="*/ 0 w 2357677"/>
                <a:gd name="connsiteY84" fmla="*/ 34925 h 227118"/>
                <a:gd name="connsiteX85" fmla="*/ 6350 w 2357677"/>
                <a:gd name="connsiteY85" fmla="*/ 47625 h 227118"/>
                <a:gd name="connsiteX86" fmla="*/ 19050 w 2357677"/>
                <a:gd name="connsiteY86" fmla="*/ 66675 h 227118"/>
                <a:gd name="connsiteX87" fmla="*/ 19050 w 2357677"/>
                <a:gd name="connsiteY87" fmla="*/ 76200 h 227118"/>
                <a:gd name="connsiteX88" fmla="*/ 6350 w 2357677"/>
                <a:gd name="connsiteY88" fmla="*/ 92075 h 227118"/>
                <a:gd name="connsiteX89" fmla="*/ 63500 w 2357677"/>
                <a:gd name="connsiteY89" fmla="*/ 98425 h 227118"/>
                <a:gd name="connsiteX90" fmla="*/ 12700 w 2357677"/>
                <a:gd name="connsiteY90" fmla="*/ 22225 h 227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2357677" h="227118">
                  <a:moveTo>
                    <a:pt x="12700" y="22225"/>
                  </a:moveTo>
                  <a:lnTo>
                    <a:pt x="12700" y="22225"/>
                  </a:lnTo>
                  <a:cubicBezTo>
                    <a:pt x="13758" y="42333"/>
                    <a:pt x="14269" y="62478"/>
                    <a:pt x="15875" y="82550"/>
                  </a:cubicBezTo>
                  <a:cubicBezTo>
                    <a:pt x="16791" y="93998"/>
                    <a:pt x="19506" y="103425"/>
                    <a:pt x="22225" y="114300"/>
                  </a:cubicBezTo>
                  <a:cubicBezTo>
                    <a:pt x="23283" y="147108"/>
                    <a:pt x="21450" y="180138"/>
                    <a:pt x="25400" y="212725"/>
                  </a:cubicBezTo>
                  <a:cubicBezTo>
                    <a:pt x="25859" y="216513"/>
                    <a:pt x="31114" y="218888"/>
                    <a:pt x="34925" y="219075"/>
                  </a:cubicBezTo>
                  <a:cubicBezTo>
                    <a:pt x="96243" y="222091"/>
                    <a:pt x="157692" y="221192"/>
                    <a:pt x="219075" y="222250"/>
                  </a:cubicBezTo>
                  <a:cubicBezTo>
                    <a:pt x="250311" y="228497"/>
                    <a:pt x="245919" y="228980"/>
                    <a:pt x="295275" y="222250"/>
                  </a:cubicBezTo>
                  <a:cubicBezTo>
                    <a:pt x="299056" y="221734"/>
                    <a:pt x="301293" y="217403"/>
                    <a:pt x="304800" y="215900"/>
                  </a:cubicBezTo>
                  <a:cubicBezTo>
                    <a:pt x="308811" y="214181"/>
                    <a:pt x="313267" y="213783"/>
                    <a:pt x="317500" y="212725"/>
                  </a:cubicBezTo>
                  <a:cubicBezTo>
                    <a:pt x="320675" y="210608"/>
                    <a:pt x="323538" y="207925"/>
                    <a:pt x="327025" y="206375"/>
                  </a:cubicBezTo>
                  <a:lnTo>
                    <a:pt x="355600" y="196850"/>
                  </a:lnTo>
                  <a:lnTo>
                    <a:pt x="365125" y="193675"/>
                  </a:lnTo>
                  <a:cubicBezTo>
                    <a:pt x="368300" y="192617"/>
                    <a:pt x="371865" y="192356"/>
                    <a:pt x="374650" y="190500"/>
                  </a:cubicBezTo>
                  <a:cubicBezTo>
                    <a:pt x="381000" y="186267"/>
                    <a:pt x="386460" y="180213"/>
                    <a:pt x="393700" y="177800"/>
                  </a:cubicBezTo>
                  <a:cubicBezTo>
                    <a:pt x="400050" y="175683"/>
                    <a:pt x="406256" y="173073"/>
                    <a:pt x="412750" y="171450"/>
                  </a:cubicBezTo>
                  <a:lnTo>
                    <a:pt x="438150" y="165100"/>
                  </a:lnTo>
                  <a:cubicBezTo>
                    <a:pt x="465447" y="146902"/>
                    <a:pt x="430910" y="168720"/>
                    <a:pt x="457200" y="155575"/>
                  </a:cubicBezTo>
                  <a:cubicBezTo>
                    <a:pt x="460613" y="153868"/>
                    <a:pt x="463312" y="150932"/>
                    <a:pt x="466725" y="149225"/>
                  </a:cubicBezTo>
                  <a:cubicBezTo>
                    <a:pt x="469718" y="147728"/>
                    <a:pt x="473257" y="147547"/>
                    <a:pt x="476250" y="146050"/>
                  </a:cubicBezTo>
                  <a:cubicBezTo>
                    <a:pt x="479663" y="144343"/>
                    <a:pt x="482362" y="141407"/>
                    <a:pt x="485775" y="139700"/>
                  </a:cubicBezTo>
                  <a:cubicBezTo>
                    <a:pt x="488768" y="138203"/>
                    <a:pt x="492224" y="137843"/>
                    <a:pt x="495300" y="136525"/>
                  </a:cubicBezTo>
                  <a:cubicBezTo>
                    <a:pt x="499650" y="134661"/>
                    <a:pt x="503606" y="131933"/>
                    <a:pt x="508000" y="130175"/>
                  </a:cubicBezTo>
                  <a:cubicBezTo>
                    <a:pt x="514215" y="127689"/>
                    <a:pt x="521481" y="127538"/>
                    <a:pt x="527050" y="123825"/>
                  </a:cubicBezTo>
                  <a:cubicBezTo>
                    <a:pt x="542144" y="113762"/>
                    <a:pt x="532955" y="118682"/>
                    <a:pt x="555625" y="111125"/>
                  </a:cubicBezTo>
                  <a:cubicBezTo>
                    <a:pt x="558800" y="110067"/>
                    <a:pt x="562365" y="109806"/>
                    <a:pt x="565150" y="107950"/>
                  </a:cubicBezTo>
                  <a:cubicBezTo>
                    <a:pt x="568325" y="105833"/>
                    <a:pt x="571262" y="103307"/>
                    <a:pt x="574675" y="101600"/>
                  </a:cubicBezTo>
                  <a:cubicBezTo>
                    <a:pt x="577668" y="100103"/>
                    <a:pt x="580971" y="99306"/>
                    <a:pt x="584200" y="98425"/>
                  </a:cubicBezTo>
                  <a:cubicBezTo>
                    <a:pt x="592620" y="96129"/>
                    <a:pt x="601321" y="94835"/>
                    <a:pt x="609600" y="92075"/>
                  </a:cubicBezTo>
                  <a:cubicBezTo>
                    <a:pt x="628137" y="85896"/>
                    <a:pt x="610236" y="91313"/>
                    <a:pt x="638175" y="85725"/>
                  </a:cubicBezTo>
                  <a:cubicBezTo>
                    <a:pt x="666717" y="80017"/>
                    <a:pt x="633479" y="84920"/>
                    <a:pt x="666750" y="79375"/>
                  </a:cubicBezTo>
                  <a:cubicBezTo>
                    <a:pt x="674132" y="78145"/>
                    <a:pt x="681567" y="77258"/>
                    <a:pt x="688975" y="76200"/>
                  </a:cubicBezTo>
                  <a:cubicBezTo>
                    <a:pt x="692150" y="75142"/>
                    <a:pt x="695253" y="73837"/>
                    <a:pt x="698500" y="73025"/>
                  </a:cubicBezTo>
                  <a:cubicBezTo>
                    <a:pt x="719309" y="67823"/>
                    <a:pt x="740780" y="65996"/>
                    <a:pt x="762000" y="63500"/>
                  </a:cubicBezTo>
                  <a:cubicBezTo>
                    <a:pt x="770474" y="62503"/>
                    <a:pt x="778910" y="61174"/>
                    <a:pt x="787400" y="60325"/>
                  </a:cubicBezTo>
                  <a:cubicBezTo>
                    <a:pt x="814325" y="57633"/>
                    <a:pt x="850168" y="55427"/>
                    <a:pt x="876300" y="53975"/>
                  </a:cubicBezTo>
                  <a:lnTo>
                    <a:pt x="939800" y="50800"/>
                  </a:lnTo>
                  <a:cubicBezTo>
                    <a:pt x="952519" y="50005"/>
                    <a:pt x="965158" y="47834"/>
                    <a:pt x="977900" y="47625"/>
                  </a:cubicBezTo>
                  <a:lnTo>
                    <a:pt x="1327150" y="44450"/>
                  </a:lnTo>
                  <a:cubicBezTo>
                    <a:pt x="1438962" y="36996"/>
                    <a:pt x="1383089" y="39419"/>
                    <a:pt x="1584325" y="44450"/>
                  </a:cubicBezTo>
                  <a:cubicBezTo>
                    <a:pt x="1609562" y="45081"/>
                    <a:pt x="1635348" y="48511"/>
                    <a:pt x="1660525" y="50800"/>
                  </a:cubicBezTo>
                  <a:lnTo>
                    <a:pt x="1698625" y="53975"/>
                  </a:lnTo>
                  <a:cubicBezTo>
                    <a:pt x="1733618" y="60974"/>
                    <a:pt x="1707664" y="56561"/>
                    <a:pt x="1771650" y="60325"/>
                  </a:cubicBezTo>
                  <a:lnTo>
                    <a:pt x="1822450" y="63500"/>
                  </a:lnTo>
                  <a:cubicBezTo>
                    <a:pt x="1841253" y="68201"/>
                    <a:pt x="1849692" y="70669"/>
                    <a:pt x="1873250" y="73025"/>
                  </a:cubicBezTo>
                  <a:lnTo>
                    <a:pt x="1905000" y="76200"/>
                  </a:lnTo>
                  <a:cubicBezTo>
                    <a:pt x="1908175" y="77258"/>
                    <a:pt x="1911258" y="78649"/>
                    <a:pt x="1914525" y="79375"/>
                  </a:cubicBezTo>
                  <a:cubicBezTo>
                    <a:pt x="1928777" y="82542"/>
                    <a:pt x="1948393" y="84196"/>
                    <a:pt x="1962150" y="85725"/>
                  </a:cubicBezTo>
                  <a:cubicBezTo>
                    <a:pt x="1981580" y="92202"/>
                    <a:pt x="1963738" y="86946"/>
                    <a:pt x="1997075" y="92075"/>
                  </a:cubicBezTo>
                  <a:cubicBezTo>
                    <a:pt x="2004168" y="93166"/>
                    <a:pt x="2018276" y="96318"/>
                    <a:pt x="2025650" y="98425"/>
                  </a:cubicBezTo>
                  <a:cubicBezTo>
                    <a:pt x="2028868" y="99344"/>
                    <a:pt x="2031908" y="100874"/>
                    <a:pt x="2035175" y="101600"/>
                  </a:cubicBezTo>
                  <a:cubicBezTo>
                    <a:pt x="2045887" y="103981"/>
                    <a:pt x="2063652" y="104709"/>
                    <a:pt x="2073275" y="111125"/>
                  </a:cubicBezTo>
                  <a:cubicBezTo>
                    <a:pt x="2088369" y="121188"/>
                    <a:pt x="2079180" y="116268"/>
                    <a:pt x="2101850" y="123825"/>
                  </a:cubicBezTo>
                  <a:cubicBezTo>
                    <a:pt x="2105025" y="124883"/>
                    <a:pt x="2108590" y="125144"/>
                    <a:pt x="2111375" y="127000"/>
                  </a:cubicBezTo>
                  <a:cubicBezTo>
                    <a:pt x="2117725" y="131233"/>
                    <a:pt x="2123185" y="137287"/>
                    <a:pt x="2130425" y="139700"/>
                  </a:cubicBezTo>
                  <a:cubicBezTo>
                    <a:pt x="2133600" y="140758"/>
                    <a:pt x="2136816" y="141700"/>
                    <a:pt x="2139950" y="142875"/>
                  </a:cubicBezTo>
                  <a:cubicBezTo>
                    <a:pt x="2145286" y="144876"/>
                    <a:pt x="2150366" y="147587"/>
                    <a:pt x="2155825" y="149225"/>
                  </a:cubicBezTo>
                  <a:cubicBezTo>
                    <a:pt x="2160994" y="150776"/>
                    <a:pt x="2166408" y="151342"/>
                    <a:pt x="2171700" y="152400"/>
                  </a:cubicBezTo>
                  <a:cubicBezTo>
                    <a:pt x="2195613" y="168342"/>
                    <a:pt x="2165222" y="149624"/>
                    <a:pt x="2193925" y="161925"/>
                  </a:cubicBezTo>
                  <a:cubicBezTo>
                    <a:pt x="2197432" y="163428"/>
                    <a:pt x="2200037" y="166568"/>
                    <a:pt x="2203450" y="168275"/>
                  </a:cubicBezTo>
                  <a:cubicBezTo>
                    <a:pt x="2229740" y="181420"/>
                    <a:pt x="2195203" y="159602"/>
                    <a:pt x="2222500" y="177800"/>
                  </a:cubicBezTo>
                  <a:cubicBezTo>
                    <a:pt x="2240698" y="205097"/>
                    <a:pt x="2216467" y="172973"/>
                    <a:pt x="2238375" y="190500"/>
                  </a:cubicBezTo>
                  <a:cubicBezTo>
                    <a:pt x="2258891" y="206913"/>
                    <a:pt x="2230309" y="195220"/>
                    <a:pt x="2254250" y="203200"/>
                  </a:cubicBezTo>
                  <a:cubicBezTo>
                    <a:pt x="2258483" y="202142"/>
                    <a:pt x="2263319" y="202446"/>
                    <a:pt x="2266950" y="200025"/>
                  </a:cubicBezTo>
                  <a:cubicBezTo>
                    <a:pt x="2270125" y="197908"/>
                    <a:pt x="2270857" y="193431"/>
                    <a:pt x="2273300" y="190500"/>
                  </a:cubicBezTo>
                  <a:cubicBezTo>
                    <a:pt x="2282077" y="179967"/>
                    <a:pt x="2283263" y="183274"/>
                    <a:pt x="2289175" y="171450"/>
                  </a:cubicBezTo>
                  <a:cubicBezTo>
                    <a:pt x="2296335" y="157131"/>
                    <a:pt x="2287326" y="166049"/>
                    <a:pt x="2298700" y="152400"/>
                  </a:cubicBezTo>
                  <a:cubicBezTo>
                    <a:pt x="2305821" y="143855"/>
                    <a:pt x="2310070" y="143485"/>
                    <a:pt x="2314575" y="133350"/>
                  </a:cubicBezTo>
                  <a:cubicBezTo>
                    <a:pt x="2325711" y="108294"/>
                    <a:pt x="2313315" y="119373"/>
                    <a:pt x="2330450" y="107950"/>
                  </a:cubicBezTo>
                  <a:lnTo>
                    <a:pt x="2343150" y="69850"/>
                  </a:lnTo>
                  <a:cubicBezTo>
                    <a:pt x="2344208" y="66675"/>
                    <a:pt x="2344469" y="63110"/>
                    <a:pt x="2346325" y="60325"/>
                  </a:cubicBezTo>
                  <a:cubicBezTo>
                    <a:pt x="2354531" y="48015"/>
                    <a:pt x="2351468" y="54420"/>
                    <a:pt x="2355850" y="41275"/>
                  </a:cubicBezTo>
                  <a:cubicBezTo>
                    <a:pt x="2354792" y="30692"/>
                    <a:pt x="2362374" y="13890"/>
                    <a:pt x="2352675" y="9525"/>
                  </a:cubicBezTo>
                  <a:cubicBezTo>
                    <a:pt x="2334312" y="1262"/>
                    <a:pt x="2312462" y="11719"/>
                    <a:pt x="2292350" y="12700"/>
                  </a:cubicBezTo>
                  <a:lnTo>
                    <a:pt x="2222500" y="15875"/>
                  </a:lnTo>
                  <a:cubicBezTo>
                    <a:pt x="2205557" y="16767"/>
                    <a:pt x="2188654" y="18410"/>
                    <a:pt x="2171700" y="19050"/>
                  </a:cubicBezTo>
                  <a:cubicBezTo>
                    <a:pt x="2132555" y="20527"/>
                    <a:pt x="2093383" y="21167"/>
                    <a:pt x="2054225" y="22225"/>
                  </a:cubicBezTo>
                  <a:lnTo>
                    <a:pt x="1847850" y="19050"/>
                  </a:lnTo>
                  <a:cubicBezTo>
                    <a:pt x="1812852" y="18196"/>
                    <a:pt x="1768212" y="12908"/>
                    <a:pt x="1733550" y="12700"/>
                  </a:cubicBezTo>
                  <a:lnTo>
                    <a:pt x="733425" y="9525"/>
                  </a:lnTo>
                  <a:lnTo>
                    <a:pt x="609600" y="6350"/>
                  </a:lnTo>
                  <a:lnTo>
                    <a:pt x="266700" y="0"/>
                  </a:lnTo>
                  <a:lnTo>
                    <a:pt x="22225" y="3175"/>
                  </a:lnTo>
                  <a:cubicBezTo>
                    <a:pt x="13328" y="3397"/>
                    <a:pt x="9713" y="8308"/>
                    <a:pt x="6350" y="15875"/>
                  </a:cubicBezTo>
                  <a:cubicBezTo>
                    <a:pt x="3632" y="21992"/>
                    <a:pt x="0" y="34925"/>
                    <a:pt x="0" y="34925"/>
                  </a:cubicBezTo>
                  <a:cubicBezTo>
                    <a:pt x="2117" y="39158"/>
                    <a:pt x="3915" y="43566"/>
                    <a:pt x="6350" y="47625"/>
                  </a:cubicBezTo>
                  <a:cubicBezTo>
                    <a:pt x="10277" y="54169"/>
                    <a:pt x="19050" y="59043"/>
                    <a:pt x="19050" y="66675"/>
                  </a:cubicBezTo>
                  <a:lnTo>
                    <a:pt x="19050" y="76200"/>
                  </a:lnTo>
                  <a:lnTo>
                    <a:pt x="6350" y="92075"/>
                  </a:lnTo>
                  <a:lnTo>
                    <a:pt x="63500" y="98425"/>
                  </a:lnTo>
                  <a:lnTo>
                    <a:pt x="12700" y="22225"/>
                  </a:lnTo>
                  <a:close/>
                </a:path>
              </a:pathLst>
            </a:custGeom>
            <a:solidFill>
              <a:srgbClr val="E8F7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타원 27">
            <a:hlinkClick r:id="" action="ppaction://hlinkshowjump?jump=nextslide"/>
          </p:cNvPr>
          <p:cNvSpPr/>
          <p:nvPr/>
        </p:nvSpPr>
        <p:spPr>
          <a:xfrm>
            <a:off x="655685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50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6557940" y="6272250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rId5" action="ppaction://hlinksldjump"/>
          </p:cNvPr>
          <p:cNvSpPr/>
          <p:nvPr/>
        </p:nvSpPr>
        <p:spPr>
          <a:xfrm>
            <a:off x="6161476" y="6272250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444884" y="1631130"/>
            <a:ext cx="960840" cy="669307"/>
          </a:xfrm>
          <a:prstGeom prst="rect">
            <a:avLst/>
          </a:prstGeom>
          <a:solidFill>
            <a:srgbClr val="E8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769" y="2390370"/>
            <a:ext cx="11164000" cy="3791947"/>
          </a:xfrm>
          <a:prstGeom prst="rect">
            <a:avLst/>
          </a:prstGeom>
        </p:spPr>
      </p:pic>
      <p:sp>
        <p:nvSpPr>
          <p:cNvPr id="17" name="타원 16">
            <a:hlinkClick r:id="rId7" action="ppaction://hlinksldjump"/>
          </p:cNvPr>
          <p:cNvSpPr/>
          <p:nvPr/>
        </p:nvSpPr>
        <p:spPr>
          <a:xfrm>
            <a:off x="5773559" y="6272250"/>
            <a:ext cx="228121" cy="24303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82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2882452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966915"/>
            <a:ext cx="9784141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행복은 내가 돈을 많이 벌고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원하는 것들을 가지는 것만으로 설명할 수 없는 그 무엇이기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다음 만화의 마지막 장면에서 학생이 답하지 못한 까닭은 무엇일지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행복의 사전적 의미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500" dirty="0" smtClean="0">
                <a:latin typeface="+mn-ea"/>
              </a:rPr>
              <a:t>생활에서 </a:t>
            </a:r>
            <a:r>
              <a:rPr lang="ko-KR" altLang="en-US" sz="2500" dirty="0">
                <a:latin typeface="+mn-ea"/>
              </a:rPr>
              <a:t>충분한 만족과 기쁨을 느끼어 흐뭇한 상태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500" dirty="0">
                <a:latin typeface="+mn-ea"/>
              </a:rPr>
              <a:t>행복이 무엇인지 한 가지로 단정하여 말하기는 쉽지 않음</a:t>
            </a:r>
            <a:r>
              <a:rPr lang="en-US" altLang="ko-KR" sz="2500" dirty="0">
                <a:latin typeface="+mn-ea"/>
              </a:rPr>
              <a:t>.</a:t>
            </a:r>
            <a:endParaRPr lang="ko-KR" altLang="en-US" sz="25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행복이란</a:t>
            </a:r>
            <a:r>
              <a:rPr lang="en-US" altLang="ko-KR" sz="2800" b="1" dirty="0">
                <a:solidFill>
                  <a:srgbClr val="FFFF00"/>
                </a:solidFill>
                <a:latin typeface="+mn-ea"/>
              </a:rPr>
              <a:t>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319337" y="4137378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 </a:t>
            </a:r>
            <a:endParaRPr lang="ko-KR" altLang="en-US" sz="2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009" y="1910013"/>
            <a:ext cx="9920512" cy="450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나는 언제 행복을 느끼는지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0888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0888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47569"/>
            <a:ext cx="10293350" cy="310868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2556" y="3039089"/>
            <a:ext cx="97430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나는 소설을 보면서 내가 경험해 보지 못한 세상을 간접적으로 경험하고 주인공의 마음을 이해할 수 있을 때 행복하다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5" grpId="0"/>
      <p:bldP spid="2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‘</a:t>
            </a:r>
            <a:r>
              <a:rPr lang="ko-KR" altLang="en-US" sz="2800" b="1" dirty="0" err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행복’이라는</a:t>
            </a: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 감정이 따로 있는 것일까</a:t>
            </a:r>
            <a:r>
              <a:rPr lang="en-US" altLang="ko-KR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576584" y="1961289"/>
            <a:ext cx="11073948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사람들은 흔히 ‘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행복’이라는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이름의 개별적인 감정이 따로 존재한다고 믿는다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우리에게 익숙한 감정들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예를 들어 감사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뿌듯함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평화로움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고요함 말고 ‘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행복’이라는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또 하나의 개별적인 감정이 있다고 믿는 것이다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 때문에 이미 감사를 느끼고 삶의 경이로움에 감탄하며 자연과의 조화가 주는 평안함을 만끽하면서도 여전히 ‘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행복’을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느끼지 못 한다고 생각한다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하지만 행복이란 따로 존재하는 개별적인 감정이 아니라 우리를 기분 좋게 하는 다양한 감정 모두를 일컫는다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최인철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굿 라이프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endParaRPr lang="en-US" altLang="ko-KR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641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행복에 대한 다양한 접근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3475" y="1529226"/>
            <a:ext cx="95201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심리적 접근</a:t>
            </a:r>
            <a: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b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ko-KR" altLang="en-US" sz="2400" dirty="0" smtClean="0">
                <a:latin typeface="Arial Rounded MT Bold" panose="020F0704030504030204" pitchFamily="34" charset="0"/>
              </a:rPr>
              <a:t>행복은 우리의 마음에 따라 좌우됨</a:t>
            </a:r>
            <a:r>
              <a:rPr lang="en-US" altLang="ko-KR" sz="2400" dirty="0" smtClean="0">
                <a:latin typeface="Arial Rounded MT Bold" panose="020F0704030504030204" pitchFamily="34" charset="0"/>
              </a:rPr>
              <a:t>.</a:t>
            </a:r>
            <a:endParaRPr lang="en-US" altLang="ko-KR" sz="2400" dirty="0">
              <a:latin typeface="Arial Rounded MT Bold" panose="020F07040305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사회적 접근</a:t>
            </a:r>
            <a: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b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ko-KR" altLang="en-US" sz="2400" dirty="0" smtClean="0">
                <a:latin typeface="Arial Rounded MT Bold" panose="020F0704030504030204" pitchFamily="34" charset="0"/>
              </a:rPr>
              <a:t>인간관계와 여러 사회적 조건을 갖출 때 우리는 행복하게 살 수 있음</a:t>
            </a:r>
            <a:r>
              <a:rPr lang="en-US" altLang="ko-KR" sz="2400" dirty="0" smtClean="0">
                <a:latin typeface="Arial Rounded MT Bold" panose="020F070403050403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윤리적 접근</a:t>
            </a:r>
            <a: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b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ko-KR" altLang="en-US" sz="2400" dirty="0" smtClean="0">
                <a:latin typeface="Arial Rounded MT Bold" panose="020F0704030504030204" pitchFamily="34" charset="0"/>
              </a:rPr>
              <a:t>개인의 </a:t>
            </a:r>
            <a:r>
              <a:rPr lang="ko-KR" altLang="en-US" sz="2400" dirty="0" err="1" smtClean="0">
                <a:latin typeface="Arial Rounded MT Bold" panose="020F0704030504030204" pitchFamily="34" charset="0"/>
              </a:rPr>
              <a:t>행복뿐</a:t>
            </a:r>
            <a:r>
              <a:rPr lang="ko-KR" altLang="en-US" sz="2400" dirty="0" smtClean="0">
                <a:latin typeface="Arial Rounded MT Bold" panose="020F0704030504030204" pitchFamily="34" charset="0"/>
              </a:rPr>
              <a:t> 아니라 공동체의 행복까지 고려해야 함</a:t>
            </a:r>
            <a:r>
              <a:rPr lang="en-US" altLang="ko-KR" sz="2400" dirty="0" smtClean="0">
                <a:latin typeface="Arial Rounded MT Bold" panose="020F0704030504030204" pitchFamily="34" charset="0"/>
              </a:rPr>
              <a:t>.</a:t>
            </a:r>
            <a:endParaRPr lang="en-US" altLang="ko-KR" sz="24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406316" y="5230972"/>
            <a:ext cx="8162222" cy="1128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행복의 의미를 </a:t>
            </a:r>
            <a:r>
              <a:rPr lang="ko-KR" altLang="en-US" sz="2400" dirty="0">
                <a:latin typeface="+mn-ea"/>
              </a:rPr>
              <a:t>심리적</a:t>
            </a:r>
            <a:r>
              <a:rPr lang="en-US" altLang="ko-KR" sz="2400" dirty="0">
                <a:latin typeface="+mn-ea"/>
              </a:rPr>
              <a:t>·</a:t>
            </a:r>
            <a:r>
              <a:rPr lang="ko-KR" altLang="en-US" sz="2400" dirty="0">
                <a:latin typeface="+mn-ea"/>
              </a:rPr>
              <a:t>사회적</a:t>
            </a:r>
            <a:r>
              <a:rPr lang="en-US" altLang="ko-KR" sz="2400" dirty="0">
                <a:latin typeface="+mn-ea"/>
              </a:rPr>
              <a:t>·</a:t>
            </a:r>
            <a:r>
              <a:rPr lang="ko-KR" altLang="en-US" sz="2400" dirty="0">
                <a:latin typeface="+mn-ea"/>
              </a:rPr>
              <a:t>윤리적 측면에서 </a:t>
            </a:r>
            <a:r>
              <a:rPr lang="ko-KR" altLang="en-US" sz="2400" dirty="0" smtClean="0">
                <a:latin typeface="+mn-ea"/>
              </a:rPr>
              <a:t>종합하여 </a:t>
            </a:r>
            <a:r>
              <a:rPr lang="ko-KR" altLang="en-US" sz="2400" dirty="0">
                <a:latin typeface="+mn-ea"/>
              </a:rPr>
              <a:t>파악할 때 행복의 진정한 의미를 </a:t>
            </a:r>
            <a:r>
              <a:rPr lang="ko-KR" altLang="en-US" sz="2400" dirty="0" smtClean="0">
                <a:latin typeface="+mn-ea"/>
              </a:rPr>
              <a:t>찾아갈 수 </a:t>
            </a:r>
            <a:r>
              <a:rPr lang="ko-KR" altLang="en-US" sz="2400" dirty="0">
                <a:latin typeface="+mn-ea"/>
              </a:rPr>
              <a:t>있음</a:t>
            </a:r>
            <a:r>
              <a:rPr lang="en-US" altLang="ko-KR" sz="2400" dirty="0">
                <a:latin typeface="+mn-ea"/>
              </a:rPr>
              <a:t>.</a:t>
            </a:r>
            <a:endParaRPr lang="ko-KR" altLang="en-US" sz="2400" dirty="0">
              <a:latin typeface="+mn-ea"/>
            </a:endParaRPr>
          </a:p>
        </p:txBody>
      </p:sp>
      <p:sp>
        <p:nvSpPr>
          <p:cNvPr id="21" name="오른쪽 화살표 20"/>
          <p:cNvSpPr/>
          <p:nvPr/>
        </p:nvSpPr>
        <p:spPr>
          <a:xfrm>
            <a:off x="1275348" y="5252734"/>
            <a:ext cx="962526" cy="616016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A7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250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14322" y="1210754"/>
            <a:ext cx="8729841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파홈은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땅을 가지고 싶어 하는 가난한 농부였다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어느 날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파홈은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작은 땅을 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그렇게 바라던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땅 주인이 된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파홈은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행복하였다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그러나 곧 그 땅이 좁다고 생각한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파홈은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계속해서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땅을 사들였고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그가 가진 땅은 이전의 세 배가 되었다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이제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파홈은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부자가 되었지만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자신의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땅이 여전히 좁다고 느꼈고 더 많은 땅을 갖고 싶었다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어느 날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파홈은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땅을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싸게 판다는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사람을 찾아갔다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 사람은 “하루 동안 해가 지기 전까지 걸어갔다 돌아오면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그만큼의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땅을 헐값에 주겠소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말하였다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파홈은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기뻐하며 최대한 많은 땅을 얻고자 온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힘을 다해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걸었다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어느덧 해가 뉘엿뉘엿 지기 시작하자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파홈은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너무 멀리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왔음을 깨닫고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돌아가기 시작했지만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지나치게 무리한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나머지 출발점에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도착하자마자 쓰러져 죽고 말았다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              </a:t>
            </a:r>
          </a:p>
          <a:p>
            <a:pPr algn="r">
              <a:lnSpc>
                <a:spcPct val="150000"/>
              </a:lnSpc>
            </a:pP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톨스토이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사람은 무엇으로 </a:t>
            </a:r>
            <a:r>
              <a:rPr lang="ko-KR" altLang="en-US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사는가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4164" y="2917053"/>
            <a:ext cx="2734752" cy="27413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11420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851" y="1180905"/>
            <a:ext cx="8247201" cy="1043609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0050" y="2272420"/>
            <a:ext cx="10947423" cy="40267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7627" y="2502491"/>
            <a:ext cx="322687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몰입하기</a:t>
            </a:r>
            <a:endParaRPr lang="en-US" altLang="ko-KR" sz="22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/>
            <a:endParaRPr lang="en-US" altLang="ko-KR" sz="2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/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자신이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좋아하는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것에 몰입할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때 행복을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누릴 수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몰입하면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현재의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일에 집중할 수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있으며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과거에 대한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후회나 미래에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대한 불안 등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자신을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둘러싼 여러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걱정을 떨쳐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낼 수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05430" y="2531066"/>
            <a:ext cx="322687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감사하기</a:t>
            </a:r>
            <a:endParaRPr lang="en-US" altLang="ko-KR" sz="22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/>
            <a:endParaRPr lang="en-US" altLang="ko-KR" sz="2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/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일상에서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경험하는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일들에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감사하는 마음을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지녀야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감사하는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마음은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기쁨과 즐거움을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불러올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뿐만 아니라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어려운 상황이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닥쳐오더라도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긍정적인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관점에서 이를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극복할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힘을 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13234" y="2540591"/>
            <a:ext cx="322687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비교하지 않기</a:t>
            </a:r>
            <a:endParaRPr lang="en-US" altLang="ko-KR" sz="22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/>
            <a:endParaRPr lang="en-US" altLang="ko-KR" sz="2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/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타인과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나를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비교하지 않아야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남과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자신을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비교하는 데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익숙한 사람은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열등감에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빠지기 쉽다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다른 사람의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잣대로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자신을 평가하지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않을 때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행복에 한 걸음 더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다가갈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수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글을 </a:t>
            </a:r>
            <a:r>
              <a:rPr lang="ko-KR" altLang="en-US" sz="2000" b="1" dirty="0">
                <a:latin typeface="+mj-ea"/>
                <a:ea typeface="+mj-ea"/>
              </a:rPr>
              <a:t>읽어 보자</a:t>
            </a:r>
            <a:r>
              <a:rPr lang="en-US" altLang="ko-KR" sz="2000" b="1" dirty="0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7484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40018" y="1596520"/>
            <a:ext cx="8601887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스크루지는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언제나 그렇듯 쓸쓸히 혼자 밥을 먹는다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호화로운 저택에는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스크루지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외에 아무도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없다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크리스마스 전날 밤이 깊어지자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스크루지의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꿈속에 유령이 나타난다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유령은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스크루지에게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그의 과거를 보여 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스크루지는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가난하지만 따뜻한 사람이었다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하지만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그는 점점 돈에 집착하였고 그의 곁을 지키던 이들은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하나둘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떠난다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또 다른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유령은 그에게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미래를 보여 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사람들이 ‘어떤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사람’의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죽음을 비웃으며 손가락질하는데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스크루지는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‘어떤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사람’이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자신임을 곧 눈치챈다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자기의 죽음을 슬퍼하는 사람이 아무도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없음을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알게 된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스크루지는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그제야 철저히 혼자였던 자신의 삶을 후회한다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                                   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찰스 디킨스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크리스마스 캐럴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글을 </a:t>
            </a:r>
            <a:r>
              <a:rPr lang="ko-KR" altLang="en-US" sz="2000" b="1" dirty="0">
                <a:latin typeface="+mj-ea"/>
                <a:ea typeface="+mj-ea"/>
              </a:rPr>
              <a:t>읽어 보자</a:t>
            </a:r>
            <a:r>
              <a:rPr lang="en-US" altLang="ko-KR" sz="2000" b="1" dirty="0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514" y="2389994"/>
            <a:ext cx="2825504" cy="38693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1669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만화를 살펴보자</a:t>
            </a:r>
            <a:r>
              <a:rPr lang="en-US" altLang="ko-KR" sz="2000" b="1" dirty="0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690" y="1930401"/>
            <a:ext cx="11793499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11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41898" y="1720452"/>
            <a:ext cx="614463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정신과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의사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헥터의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진료실은 자신이 불행하다고 여기는 환자들로 넘친다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어느 날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헥터는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행복이 무엇인지 자신도 잘 모르기 때문에 환자들을 행복으로 이끌지 못한다는 점을 깨닫고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행복의 의미를 찾기 위해 여행을 떠난다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algn="r">
              <a:lnSpc>
                <a:spcPct val="150000"/>
              </a:lnSpc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피터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첼섬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감독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영화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&lt;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꾸뻬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씨의 행복 여행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직사각형 22"/>
          <p:cNvSpPr/>
          <p:nvPr/>
        </p:nvSpPr>
        <p:spPr>
          <a:xfrm rot="371907">
            <a:off x="6934182" y="2188198"/>
            <a:ext cx="4148489" cy="35035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A7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 smtClean="0">
                <a:solidFill>
                  <a:schemeClr val="tx1"/>
                </a:solidFill>
              </a:rPr>
              <a:t>행복의 의미는 무엇일까</a:t>
            </a:r>
            <a:r>
              <a:rPr lang="en-US" altLang="ko-KR" sz="2000" dirty="0" smtClean="0">
                <a:solidFill>
                  <a:schemeClr val="tx1"/>
                </a:solidFill>
              </a:rPr>
              <a:t>? </a:t>
            </a:r>
            <a:r>
              <a:rPr lang="ko-KR" altLang="en-US" sz="2000" dirty="0">
                <a:solidFill>
                  <a:schemeClr val="tx1"/>
                </a:solidFill>
              </a:rPr>
              <a:t>제가 여행에서 깨달은 것은 별다른 내용이 아니에요</a:t>
            </a:r>
            <a:r>
              <a:rPr lang="en-US" altLang="ko-KR" sz="2000" dirty="0" smtClean="0">
                <a:solidFill>
                  <a:schemeClr val="tx1"/>
                </a:solidFill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schemeClr val="tx1"/>
                </a:solidFill>
              </a:rPr>
              <a:t>자신을 </a:t>
            </a:r>
            <a:r>
              <a:rPr lang="ko-KR" altLang="en-US" sz="2000" dirty="0">
                <a:solidFill>
                  <a:schemeClr val="tx1"/>
                </a:solidFill>
              </a:rPr>
              <a:t>다른 사람과 비교하지 않는 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/>
                </a:solidFill>
              </a:rPr>
              <a:t>있는 그대로 사랑받는 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/>
                </a:solidFill>
              </a:rPr>
              <a:t>온전히 살아 있음을 느끼는 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/>
                </a:solidFill>
              </a:rPr>
              <a:t>좋은 일을 축하할 줄 아는 것</a:t>
            </a:r>
          </a:p>
          <a:p>
            <a:r>
              <a:rPr lang="ko-KR" altLang="en-US" sz="2000" dirty="0">
                <a:solidFill>
                  <a:schemeClr val="tx1"/>
                </a:solidFill>
              </a:rPr>
              <a:t>사람들은 이러한 것을 행복이라고 느꼈죠</a:t>
            </a:r>
            <a:r>
              <a:rPr lang="en-US" altLang="ko-KR" sz="2000" dirty="0" smtClean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다음 글을 읽고 내가 생각하는 행복의 의미와 그 까닭을 쓴 뒤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행복하기 위해 앞으로 해야 할 일을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898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898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28519"/>
            <a:ext cx="10293350" cy="244359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0467" y="3060418"/>
            <a:ext cx="9999801" cy="223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행복이란 내가 지닌 것에 만족할 줄 아는 것이다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왜냐하면 남들과 비교하지 않고 자신이 가진 것에 만족할 때 행복할 수 있기 때문이다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나는 앞으로 하루를 돌아보며 만족과 기쁨을 찾기 위해 노력할 것이다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다음에 제시된 여러 측면에서 행복의 의미를 점검하고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행복을 대하는 나의 태도를 성찰해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40778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40778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5" y="4546283"/>
            <a:ext cx="8165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행복을 단순한 감정 상태라고 생각했었지만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여러 측면에서 그 의미를 찾을 수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있어야겠다</a:t>
            </a:r>
            <a:r>
              <a:rPr lang="en-US" altLang="ko-KR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936086" y="3953767"/>
            <a:ext cx="1635663" cy="458932"/>
            <a:chOff x="877165" y="3739778"/>
            <a:chExt cx="1328154" cy="45893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54762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4206598" y="2854763"/>
            <a:ext cx="2765702" cy="645676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 rot="347225">
            <a:off x="7604964" y="2854762"/>
            <a:ext cx="2889396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35916" y="2904891"/>
            <a:ext cx="24527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심리적 접근</a:t>
            </a:r>
            <a:r>
              <a: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368296" y="2915649"/>
            <a:ext cx="24527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사회적 접근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 rot="369192">
            <a:off x="7787494" y="2914345"/>
            <a:ext cx="24237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윤리적 접근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3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1611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“02. </a:t>
            </a:r>
            <a:r>
              <a:rPr lang="ko-KR" altLang="en-US" sz="2800" b="1" smtClean="0">
                <a:solidFill>
                  <a:schemeClr val="tx1"/>
                </a:solidFill>
              </a:rPr>
              <a:t>삶의 목적과 행복의 관계는 무엇일까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행복이란?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319337" y="4137378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 </a:t>
            </a:r>
            <a:endParaRPr lang="ko-KR" altLang="en-US" sz="25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사전적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생활에서 충분한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만족 </a:t>
            </a:r>
            <a:r>
              <a:rPr sz="2400" b="0">
                <a:solidFill>
                  <a:srgbClr val="262626"/>
                </a:solidFill>
              </a:rPr>
              <a:t>과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기쁨 </a:t>
            </a:r>
            <a:r>
              <a:rPr sz="2400" b="0">
                <a:solidFill>
                  <a:srgbClr val="262626"/>
                </a:solidFill>
              </a:rPr>
              <a:t>을 느끼어 흐뭇한 상태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맛있는 급식, 친구의 칭찬, 끝낸 숙제 — 내가 흐뭇했던 순간들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행복에 관한 생각은 사람마다 다르고 행복이 무엇인지 한 가지로 단정하여 말하기는 쉽지 않음.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사전적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생활에서 충분한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만족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느끼어 흐뭇한 상태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맛있는 급식, 친구의 칭찬, 끝낸 숙제 — 내가 흐뭇했던 순간들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행복에 관한 생각은 사람마다 다르고 행복이 무엇인지 한 가지로 단정하여 말하기는 쉽지 않음.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사전적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생활에서 충분한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만족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기쁨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느끼어 흐뭇한 상태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맛있는 급식, 친구의 칭찬, 끝낸 숙제 — 내가 흐뭇했던 순간들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행복에 관한 생각은 사람마다 다르고 행복이 무엇인지 한 가지로 단정하여 말하기는 쉽지 않음.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사전적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생활에서 충분한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만족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기쁨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느끼어 흐뭇한 상태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맛있는 급식, 친구의 칭찬, 끝낸 숙제 — 내가 흐뭇했던 순간들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행복에 관한 생각은 사람마다 다르고 행복이 무엇인지 한 가지로 단정하여 말하기는 쉽지 않음.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복권에 당첨되면 더 행복할까?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319337" y="4137378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 </a:t>
            </a:r>
            <a:endParaRPr lang="ko-KR" altLang="en-US" sz="25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1978년 · 미국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비교 · 큰 복권 당첨자와 이웃 주민의 행복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결과 · 당첨자가 뚜렷하게 더 행복하지 않았다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게다가 · 일상의 작은 즐거움은 오히려 덜 느꼈다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까닭 · 큰 기쁨에도 사람은 금세 익숙해진다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그렇다면 오래가는 행복은 어디서 올까?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1978년 · 미국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비교 · 큰 복권 당첨자와 이웃 주민의 행복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결과 · 당첨자가 뚜렷하게 더 행복하지 않았다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게다가 · 일상의 작은 즐거움은 오히려 덜 느꼈다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까닭 · 큰 기쁨에도 사람은 금세 익숙해진다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그렇다면 오래가는 행복은 어디서 올까?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행복에 대한 다양한 접근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319337" y="4137378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 </a:t>
            </a:r>
            <a:endParaRPr lang="ko-KR" altLang="en-US" sz="25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심리적 접근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최소한의 물질적 욕구를 충족해도 행복하지 않다면 행복은 마음에 좌우됨을 알아야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같은 떡볶이도 친구와 웃으며 먹으면 더 맛있다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① 몰입하기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자신이 좋아하는 것에 몰입하면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과거 </a:t>
            </a:r>
            <a:r>
              <a:rPr sz="2400" b="0">
                <a:solidFill>
                  <a:srgbClr val="262626"/>
                </a:solidFill>
              </a:rPr>
              <a:t>에 대한 후회나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미래 </a:t>
            </a:r>
            <a:r>
              <a:rPr sz="2400" b="0">
                <a:solidFill>
                  <a:srgbClr val="262626"/>
                </a:solidFill>
              </a:rPr>
              <a:t>에 대한 불안을 떨쳐 낼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그림에 푹 빠지면 시험 걱정을 잠시 잊는다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② 감사하기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감사는 그 자체로 기쁨과 즐거움을 불러올 뿐만 아니라 어려운 상황을 극복하게 해 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심리적 접근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최소한의 물질적 욕구를 충족해도 행복하지 않다면 행복은 마음에 좌우됨을 알아야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같은 떡볶이도 친구와 웃으며 먹으면 더 맛있다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몰입하기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좋아하는 것에 몰입하면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과거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대한 후회나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미래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대한 불안을 떨쳐 낼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그림에 푹 빠지면 시험 걱정을 잠시 잊는다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감사하기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감사는 그 자체로 기쁨과 즐거움을 불러올 뿐만 아니라 어려운 상황을 극복하게 해 줌.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심리적 접근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최소한의 물질적 욕구를 충족해도 행복하지 않다면 행복은 마음에 좌우됨을 알아야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같은 떡볶이도 친구와 웃으며 먹으면 더 맛있다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몰입하기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좋아하는 것에 몰입하면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과거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대한 후회나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미래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대한 불안을 떨쳐 낼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그림에 푹 빠지면 시험 걱정을 잠시 잊는다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감사하기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감사는 그 자체로 기쁨과 즐거움을 불러올 뿐만 아니라 어려운 상황을 극복하게 해 줌.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심리적 접근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최소한의 물질적 욕구를 충족해도 행복하지 않다면 행복은 마음에 좌우됨을 알아야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같은 떡볶이도 친구와 웃으며 먹으면 더 맛있다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몰입하기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좋아하는 것에 몰입하면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과거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대한 후회나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미래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대한 불안을 떨쳐 낼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그림에 푹 빠지면 시험 걱정을 잠시 잊는다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감사하기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감사는 그 자체로 기쁨과 즐거움을 불러올 뿐만 아니라 어려운 상황을 극복하게 해 줌.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심리적 접근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최소한의 물질적 욕구를 충족해도 행복하지 않다면 행복은 마음에 좌우됨을 알아야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같은 떡볶이도 친구와 웃으며 먹으면 더 맛있다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몰입하기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좋아하는 것에 몰입하면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과거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대한 후회나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미래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대한 불안을 떨쳐 낼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그림에 푹 빠지면 시험 걱정을 잠시 잊는다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감사하기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감사는 그 자체로 기쁨과 즐거움을 불러올 뿐만 아니라 어려운 상황을 극복하게 해 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행복에 대한 다양한 접근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319337" y="4137378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 </a:t>
            </a:r>
            <a:endParaRPr lang="ko-KR" altLang="en-US" sz="25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③ 비교하지 않기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남과 자신을 비교하여 열등감에 빠지는 대신 다른 사람의 잣대로 자신을 평가하지 않아야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SNS 속 친구의 여행 사진과 내 방을 비교하지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사회적 접근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서로를 정서적으로 지지해 주는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인간관계 </a:t>
            </a:r>
            <a:r>
              <a:rPr sz="2400" b="0">
                <a:solidFill>
                  <a:srgbClr val="262626"/>
                </a:solidFill>
              </a:rPr>
              <a:t> 맺기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힘들 때 연락할 친구 한 명, 아플 때 갈 수 있는 병원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자유, 복지, 정의 등을 구현하는 사회적 조건 마련하기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③ 비교하지 않기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남과 자신을 비교하여 열등감에 빠지는 대신 다른 사람의 잣대로 자신을 평가하지 않아야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SNS 속 친구의 여행 사진과 내 방을 비교하지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사회적 접근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서로를 정서적으로 지지해 주는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인간관계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맺기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힘들 때 연락할 친구 한 명, 아플 때 갈 수 있는 병원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자유, 복지, 정의 등을 구현하는 사회적 조건 마련하기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③ 비교하지 않기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남과 자신을 비교하여 열등감에 빠지는 대신 다른 사람의 잣대로 자신을 평가하지 않아야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SNS 속 친구의 여행 사진과 내 방을 비교하지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사회적 접근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서로를 정서적으로 지지해 주는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인간관계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맺기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힘들 때 연락할 친구 한 명, 아플 때 갈 수 있는 병원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자유, 복지, 정의 등을 구현하는 사회적 조건 마련하기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③ 비교하지 않기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남과 자신을 비교하여 열등감에 빠지는 대신 다른 사람의 잣대로 자신을 평가하지 않아야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SNS 속 친구의 여행 사진과 내 방을 비교하지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사회적 접근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서로를 정서적으로 지지해 주는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인간관계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맺기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힘들 때 연락할 친구 한 명, 아플 때 갈 수 있는 병원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자유, 복지, 정의 등을 구현하는 사회적 조건 마련하기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행복에 대한 다양한 접근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319337" y="4137378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 </a:t>
            </a:r>
            <a:endParaRPr lang="ko-KR" altLang="en-US" sz="25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윤리적 접근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훌륭한 성품, 이타심, 사랑, 자비 등을 추구하기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개인의 행복뿐 아니라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공동체 </a:t>
            </a:r>
            <a:r>
              <a:rPr sz="2400" b="0">
                <a:solidFill>
                  <a:srgbClr val="262626"/>
                </a:solidFill>
              </a:rPr>
              <a:t>의 행복까지 고려하기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나 혼자 편하려고 교실을 어지르면 반 전체가 불편하다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행복의 의미를 심리적·사회적·윤리적 측면에서 종합하여 파악할 때 행복의 진정한 의미를 찾아갈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마음가짐 + 좋은 관계와 제도 + 함께 행복하기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윤리적 접근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훌륭한 성품, 이타심, 사랑, 자비 등을 추구하기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개인의 행복뿐 아니라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공동체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행복까지 고려하기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나 혼자 편하려고 교실을 어지르면 반 전체가 불편하다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행복의 의미를 심리적·사회적·윤리적 측면에서 종합하여 파악할 때 행복의 진정한 의미를 찾아갈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마음가짐 + 좋은 관계와 제도 + 함께 행복하기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윤리적 접근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훌륭한 성품, 이타심, 사랑, 자비 등을 추구하기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개인의 행복뿐 아니라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공동체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행복까지 고려하기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나 혼자 편하려고 교실을 어지르면 반 전체가 불편하다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행복의 의미를 심리적·사회적·윤리적 측면에서 종합하여 파악할 때 행복의 진정한 의미를 찾아갈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마음가짐 + 좋은 관계와 제도 + 함께 행복하기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윤리적 접근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훌륭한 성품, 이타심, 사랑, 자비 등을 추구하기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개인의 행복뿐 아니라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공동체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행복까지 고려하기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나 혼자 편하려고 교실을 어지르면 반 전체가 불편하다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행복의 의미를 심리적·사회적·윤리적 측면에서 종합하여 파악할 때 행복의 진정한 의미를 찾아갈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마음가짐 + 좋은 관계와 제도 + 함께 행복하기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80년 넘게 724명의 삶을 따라가다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319337" y="4137378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 </a:t>
            </a:r>
            <a:endParaRPr lang="ko-KR" altLang="en-US" sz="25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1938년부터 지금까지 · 미국 하버드 대학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두 무리 · 하버드 대학생과 보스턴 가난한 동네의 소년들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물은 것 · 건강, 일, 가족, 친구, 마음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결론 · 좋은 관계가 더 행복하고 건강하게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특히 · 50살에 관계가 좋던 사람이 80살에 가장 건강했다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나에게 그런 관계는 누구일까?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1938년부터 지금까지 · 미국 하버드 대학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두 무리 · 하버드 대학생과 보스턴 가난한 동네의 소년들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물은 것 · 건강, 일, 가족, 친구, 마음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결론 · 좋은 관계가 더 행복하고 건강하게 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특히 · 50살에 관계가 좋던 사람이 80살에 가장 건강했다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나에게 그런 관계는 누구일까?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319337" y="4137378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 </a:t>
            </a:r>
            <a:endParaRPr lang="ko-KR" altLang="en-US" sz="25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행복에 관한 사람들의 생각은 비슷하므로 행복이 무엇인지 단정해서 말할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최소한의 물질적 욕구를 충족하면 우리는 온전한 행복을 느낀다.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여러 가지 사회적 조건을 마련할 때 우리는 행복에 이를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행복한 삶을 살려면 행복의 의미를 심리적·사회적·윤리적 측면에서 종합적으로 파악해야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행복에 관한 사람들의 생각은 비슷하므로 행복이 무엇인지 단정해서 말할 수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최소한의 물질적 욕구를 충족하면 우리는 온전한 행복을 느낀다.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여러 가지 사회적 조건을 마련할 때 우리는 행복에 이를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행복한 삶을 살려면 행복의 의미를 심리적·사회적·윤리적 측면에서 종합적으로 파악해야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행복에 관한 사람들의 생각은 비슷하므로 행복이 무엇인지 단정해서 말할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최소한의 물질적 욕구를 충족하면 우리는 온전한 행복을 느낀다.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여러 가지 사회적 조건을 마련할 때 우리는 행복에 이를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행복한 삶을 살려면 행복의 의미를 심리적·사회적·윤리적 측면에서 종합적으로 파악해야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행복에 관한 사람들의 생각은 비슷하므로 행복이 무엇인지 단정해서 말할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최소한의 물질적 욕구를 충족하면 우리는 온전한 행복을 느낀다.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여러 가지 사회적 조건을 마련할 때 우리는 행복에 이를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행복한 삶을 살려면 행복의 의미를 심리적·사회적·윤리적 측면에서 종합적으로 파악해야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행복에 관한 사람들의 생각은 비슷하므로 행복이 무엇인지 단정해서 말할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최소한의 물질적 욕구를 충족하면 우리는 온전한 행복을 느낀다.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여러 가지 사회적 조건을 마련할 때 우리는 행복에 이를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행복한 삶을 살려면 행복의 의미를 심리적·사회적·윤리적 측면에서 종합적으로 파악해야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나의 행복 시간표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행복의 의미는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319337" y="4137378"/>
            <a:ext cx="2936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 </a:t>
            </a:r>
            <a:endParaRPr lang="ko-KR" altLang="en-US" sz="25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주말 하루, 자유 시간 6시간을 어떻게 나눌까?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① 혼자 생각하기 — 2분 동안 나의 답을 정해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② 짝·모둠과 나누기 — 서로의 까닭을 들어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③ 한 문장으로 발표하기 — “나는 ___ 왜냐하면 ___”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8175</TotalTime>
  <Words>1088</Words>
  <Application>Microsoft Office PowerPoint</Application>
  <PresentationFormat>와이드스크린</PresentationFormat>
  <Paragraphs>189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165</cp:revision>
  <cp:lastPrinted>2024-06-05T04:53:22Z</cp:lastPrinted>
  <dcterms:created xsi:type="dcterms:W3CDTF">2023-10-31T05:50:03Z</dcterms:created>
  <dcterms:modified xsi:type="dcterms:W3CDTF">2025-01-14T02:07:39Z</dcterms:modified>
</cp:coreProperties>
</file>