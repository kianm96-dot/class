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9"/>
  </p:notesMasterIdLst>
  <p:handoutMasterIdLst>
    <p:handoutMasterId r:id="rId30"/>
  </p:handoutMasterIdLst>
  <p:sldIdLst>
    <p:sldId id="302" r:id="rId2"/>
    <p:sldId id="301" r:id="rId3"/>
    <p:sldId id="258" r:id="rId4"/>
    <p:sldId id="371" r:id="rId5"/>
    <p:sldId id="305" r:id="rId6"/>
    <p:sldId id="260" r:id="rId7"/>
    <p:sldId id="386" r:id="rId36"/>
    <p:sldId id="387" r:id="rId37"/>
    <p:sldId id="388" r:id="rId38"/>
    <p:sldId id="384" r:id="rId8"/>
    <p:sldId id="306" r:id="rId9"/>
    <p:sldId id="270" r:id="rId10"/>
    <p:sldId id="372" r:id="rId11"/>
    <p:sldId id="365" r:id="rId12"/>
    <p:sldId id="389" r:id="rId39"/>
    <p:sldId id="390" r:id="rId40"/>
    <p:sldId id="391" r:id="rId41"/>
    <p:sldId id="364" r:id="rId13"/>
    <p:sldId id="307" r:id="rId14"/>
    <p:sldId id="385" r:id="rId15"/>
    <p:sldId id="308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381" r:id="rId25"/>
    <p:sldId id="382" r:id="rId26"/>
    <p:sldId id="383" r:id="rId27"/>
    <p:sldId id="392" r:id="rId42"/>
    <p:sldId id="393" r:id="rId43"/>
    <p:sldId id="348" r:id="rId28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FF00"/>
    <a:srgbClr val="D9E1E9"/>
    <a:srgbClr val="E8F6FD"/>
    <a:srgbClr val="F0FFF6"/>
    <a:srgbClr val="019BFF"/>
    <a:srgbClr val="FFF7EE"/>
    <a:srgbClr val="FFC000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6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사례 · 빅터 프랭클(1905~1997)</a:t>
            </a:r>
          </a:p>
          <a:p>
            <a:r>
              <a:t>빈의 정신과 의사. 1942년 가족과 함께 테레지엔슈타트 수용소로 끌려갔고 아우슈비츠 등을 거쳐 1945년 풀려났다. 아버지, 어머니, 아내는 수용소에서 목숨을 잃었다.</a:t>
            </a:r>
          </a:p>
          <a:p>
            <a:r>
              <a:t>그는 수용소에서도 삶의 의미를 붙든 사람들이 더 잘 견뎠다고 보았고, 니체의 말 “왜 살아야 하는지 아는 사람은 거의 어떤 상황도 견딜 수 있다”를 즐겨 인용했다. 풀려난 이듬해 이 경험을 책으로 썼다.</a:t>
            </a:r>
          </a:p>
          <a:p>
            <a:r>
              <a:t>발문 “모든 것을 빼앗겨도 빼앗기지 않는 것은?” → 어떤 태도를 고를지의 자유, 삶의 의미.</a:t>
            </a:r>
          </a:p>
          <a:p>
            <a:r>
              <a:t>수용소의 참상은 자세히 묘사하지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50쪽 자료</a:t>
            </a:r>
          </a:p>
          <a:p>
            <a:r>
              <a:t>밀: “만족한 돼지보다 불만족한 인간이, 만족한 바보보다 불만족한 소크라테스가 낫다.” 질적으로 높은 쾌락 → 본래적 가치.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사례 · 이태석 신부</a:t>
            </a:r>
          </a:p>
          <a:p>
            <a:r>
              <a:t>부산에서 태어나 의대를 졸업한 뒤 사제가 되었다. 2001년부터 남수단 톤즈에서 진료하고 학교를 세우고 음악을 가르쳤다. 휴가차 귀국했다가 대장암 진단을 받고 2010년 세상을 떠났다. 그의 제자들 가운데 여러 명이 의사가 되었다.</a:t>
            </a:r>
          </a:p>
          <a:p>
            <a:r>
              <a:t>발문 세 가지 기준에 대어 보기 → 흥미와 적성(의술, 음악), 본래적 가치(생명, 사랑), 사회에 미치는 영향(마을 전체).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slide" Target="slide7.xml"/><Relationship Id="rId7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1.png"/><Relationship Id="rId6" Type="http://schemas.openxmlformats.org/officeDocument/2006/relationships/slide" Target="slide8.xml"/><Relationship Id="rId7" Type="http://schemas.openxmlformats.org/officeDocument/2006/relationships/slide" Target="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8.xml"/><Relationship Id="rId8" Type="http://schemas.openxmlformats.org/officeDocument/2006/relationships/slide" Target="slide19.xml"/><Relationship Id="rId9" Type="http://schemas.openxmlformats.org/officeDocument/2006/relationships/slide" Target="slide21.xml"/><Relationship Id="rId10" Type="http://schemas.openxmlformats.org/officeDocument/2006/relationships/slide" Target="slide20.xml"/><Relationship Id="rId11" Type="http://schemas.openxmlformats.org/officeDocument/2006/relationships/slide" Target="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7.xml"/><Relationship Id="rId8" Type="http://schemas.openxmlformats.org/officeDocument/2006/relationships/slide" Target="slide19.xml"/><Relationship Id="rId9" Type="http://schemas.openxmlformats.org/officeDocument/2006/relationships/slide" Target="slide21.xml"/><Relationship Id="rId10" Type="http://schemas.openxmlformats.org/officeDocument/2006/relationships/slide" Target="slide20.xml"/><Relationship Id="rId11" Type="http://schemas.openxmlformats.org/officeDocument/2006/relationships/slide" Target="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8.xml"/><Relationship Id="rId8" Type="http://schemas.openxmlformats.org/officeDocument/2006/relationships/slide" Target="slide17.xml"/><Relationship Id="rId9" Type="http://schemas.openxmlformats.org/officeDocument/2006/relationships/slide" Target="slide21.xml"/><Relationship Id="rId10" Type="http://schemas.openxmlformats.org/officeDocument/2006/relationships/slide" Target="slide20.xml"/><Relationship Id="rId11" Type="http://schemas.openxmlformats.org/officeDocument/2006/relationships/slide" Target="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8.xml"/><Relationship Id="rId8" Type="http://schemas.openxmlformats.org/officeDocument/2006/relationships/slide" Target="slide19.xml"/><Relationship Id="rId9" Type="http://schemas.openxmlformats.org/officeDocument/2006/relationships/slide" Target="slide21.xml"/><Relationship Id="rId10" Type="http://schemas.openxmlformats.org/officeDocument/2006/relationships/slide" Target="slide17.xml"/><Relationship Id="rId11" Type="http://schemas.openxmlformats.org/officeDocument/2006/relationships/slide" Target="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8.xml"/><Relationship Id="rId8" Type="http://schemas.openxmlformats.org/officeDocument/2006/relationships/slide" Target="slide19.xml"/><Relationship Id="rId9" Type="http://schemas.openxmlformats.org/officeDocument/2006/relationships/slide" Target="slide17.xml"/><Relationship Id="rId10" Type="http://schemas.openxmlformats.org/officeDocument/2006/relationships/slide" Target="slide20.xml"/><Relationship Id="rId11" Type="http://schemas.openxmlformats.org/officeDocument/2006/relationships/slide" Target="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8.xml"/><Relationship Id="rId8" Type="http://schemas.openxmlformats.org/officeDocument/2006/relationships/slide" Target="slide19.xml"/><Relationship Id="rId9" Type="http://schemas.openxmlformats.org/officeDocument/2006/relationships/slide" Target="slide21.xml"/><Relationship Id="rId10" Type="http://schemas.openxmlformats.org/officeDocument/2006/relationships/slide" Target="slide20.xml"/><Relationship Id="rId11" Type="http://schemas.openxmlformats.org/officeDocument/2006/relationships/slide" Target="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1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slide" Target="slide26.xml"/><Relationship Id="rId6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slide" Target="slide24.xml"/><Relationship Id="rId6" Type="http://schemas.openxmlformats.org/officeDocument/2006/relationships/slide" Target="slide25.xml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행복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en-US" altLang="ko-KR" sz="1100" b="1" dirty="0" smtClean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618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삶의 목적과 행복의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관계는 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43980"/>
            <a:ext cx="10293350" cy="787400"/>
            <a:chOff x="914400" y="2362200"/>
            <a:chExt cx="10293350" cy="787400"/>
          </a:xfrm>
        </p:grpSpPr>
        <p:sp>
          <p:nvSpPr>
            <p:cNvPr id="2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spc="-150" dirty="0">
                <a:solidFill>
                  <a:prstClr val="black"/>
                </a:solidFill>
                <a:latin typeface="+mn-ea"/>
              </a:rPr>
              <a:t>삶의 목적과 행복의 관계를 설명할 수 있다</a:t>
            </a:r>
            <a:r>
              <a:rPr lang="en-US" altLang="ko-KR" sz="2800" b="1" spc="-150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삶의 목적 설정 시 고려할 점을 말할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947546" y="641709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342921" y="641709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444884" y="1631130"/>
            <a:ext cx="960840" cy="669307"/>
          </a:xfrm>
          <a:prstGeom prst="rect">
            <a:avLst/>
          </a:prstGeom>
          <a:solidFill>
            <a:srgbClr val="E8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1548232" y="1581615"/>
            <a:ext cx="9591875" cy="4807042"/>
            <a:chOff x="1366787" y="1560169"/>
            <a:chExt cx="9591875" cy="4807042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6787" y="1563929"/>
              <a:ext cx="9591875" cy="4803282"/>
            </a:xfrm>
            <a:prstGeom prst="rect">
              <a:avLst/>
            </a:prstGeom>
          </p:spPr>
        </p:pic>
        <p:sp>
          <p:nvSpPr>
            <p:cNvPr id="27" name="직사각형 26"/>
            <p:cNvSpPr/>
            <p:nvPr/>
          </p:nvSpPr>
          <p:spPr>
            <a:xfrm>
              <a:off x="9933272" y="1560169"/>
              <a:ext cx="1025390" cy="711393"/>
            </a:xfrm>
            <a:prstGeom prst="rect">
              <a:avLst/>
            </a:prstGeom>
            <a:solidFill>
              <a:srgbClr val="FFF7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444884" y="1631130"/>
            <a:ext cx="960840" cy="669307"/>
          </a:xfrm>
          <a:prstGeom prst="rect">
            <a:avLst/>
          </a:prstGeom>
          <a:solidFill>
            <a:srgbClr val="E8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236" y="1671230"/>
            <a:ext cx="10145575" cy="5091101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>
          <a:xfrm>
            <a:off x="6273503" y="6415411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884435" y="6415411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32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882452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줄무늬 애벌레는 행복하지 않을 것 같다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자신이 주체적으로 삶의 목적을 세우고 그것을 이루기 위해 노력하는 것이 아니라 남들을 따라 살며 성취감을 느낄 수 없기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줄무늬 애벌레는 행복할지 생각해 보고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그렇게 생각한 까닭과 함께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삶의 목적과 행복의 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33474" y="1882040"/>
            <a:ext cx="93195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삶의 </a:t>
            </a: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목적이 있을 때 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/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</a:br>
            <a:r>
              <a:rPr lang="ko-KR" altLang="en-US" sz="2400" dirty="0" smtClean="0">
                <a:latin typeface="+mn-ea"/>
              </a:rPr>
              <a:t>자신이 원하는 일을 </a:t>
            </a:r>
            <a:r>
              <a:rPr lang="ko-KR" altLang="en-US" sz="2400" dirty="0">
                <a:latin typeface="+mn-ea"/>
              </a:rPr>
              <a:t>하면서 보람 있고 </a:t>
            </a:r>
            <a:r>
              <a:rPr lang="en-US" altLang="ko-KR" sz="2400" dirty="0" smtClean="0">
                <a:latin typeface="+mn-ea"/>
              </a:rPr>
              <a:t/>
            </a:r>
            <a:br>
              <a:rPr lang="en-US" altLang="ko-KR" sz="2400" dirty="0" smtClean="0">
                <a:latin typeface="+mn-ea"/>
              </a:rPr>
            </a:br>
            <a:r>
              <a:rPr lang="ko-KR" altLang="en-US" sz="2400" dirty="0" smtClean="0">
                <a:latin typeface="+mn-ea"/>
              </a:rPr>
              <a:t>행복한 삶을 살 </a:t>
            </a:r>
            <a:r>
              <a:rPr lang="ko-KR" altLang="en-US" sz="2400" dirty="0">
                <a:latin typeface="+mn-ea"/>
              </a:rPr>
              <a:t>수 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삶의 </a:t>
            </a: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목적을 세운 사람의 태도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분명한 </a:t>
            </a:r>
            <a:r>
              <a:rPr lang="ko-KR" altLang="en-US" sz="2400" dirty="0">
                <a:latin typeface="+mn-ea"/>
              </a:rPr>
              <a:t>동기와 강한 책임감을 지님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유혹과 </a:t>
            </a:r>
            <a:r>
              <a:rPr lang="ko-KR" altLang="en-US" sz="2400" dirty="0">
                <a:latin typeface="+mn-ea"/>
              </a:rPr>
              <a:t>충동을 이겨 냄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역경을 </a:t>
            </a:r>
            <a:r>
              <a:rPr lang="ko-KR" altLang="en-US" sz="2400" dirty="0">
                <a:latin typeface="+mn-ea"/>
              </a:rPr>
              <a:t>극복해 냄</a:t>
            </a:r>
            <a:r>
              <a:rPr lang="en-US" altLang="ko-KR" sz="2400" dirty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41767" y="1468688"/>
            <a:ext cx="7849607" cy="3568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김우수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씨는 보육원에서 살다가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12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세 때 뛰쳐나와 떠돌이 생활을 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그러다가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세상이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너무나 싫고 화가 나서 홧김에 범죄를 저질렀고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결국 교도소에 들어갔다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모든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것을 놓아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버리고 싶었던 순간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우수 씨는 소년 소녀 가장과 고아들의 사연을 모아 놓은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책을 우연히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읽고 새로운 인생을 살기로 결심한다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가정 폭력과 빈곤으로 힘들게 살아가는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어린이들을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돕겠다는 삶의 목적을 세운 것이다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176" y="1468688"/>
            <a:ext cx="3362812" cy="504184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8" name="타원 17">
            <a:hlinkClick r:id="rId6" action="ppaction://hlinksldjump"/>
          </p:cNvPr>
          <p:cNvSpPr/>
          <p:nvPr/>
        </p:nvSpPr>
        <p:spPr>
          <a:xfrm>
            <a:off x="5779978" y="6081026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9" name="타원 18">
            <a:hlinkClick r:id="rId7" action="ppaction://hlinksldjump"/>
          </p:cNvPr>
          <p:cNvSpPr/>
          <p:nvPr/>
        </p:nvSpPr>
        <p:spPr>
          <a:xfrm>
            <a:off x="6175353" y="6081026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21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41767" y="1468688"/>
            <a:ext cx="7849607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우수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씨는 중국집에서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철가방을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들고 배달을 하면서 번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70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만 원의 월급을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아이들에게 아낌없이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나누어 주었다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가난한 사람도 누군가와 나눌 수 있음을 알게 해 준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아이들과의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만남은 그의 삶을 송두리째 바꾸어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놓았다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태어나서 누군가에게 처음으로 들어 본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고맙다는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인사는 평생 외로웠던 우수 씨에게 세상 누구보다 행복한 나날을 선물했고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앞으로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더욱 열심히 살아야 하는 이유가 되었다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윤학렬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감독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영화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철가방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우수 씨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176" y="1468688"/>
            <a:ext cx="3362812" cy="504184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8" name="타원 17">
            <a:hlinkClick r:id="rId6" action="ppaction://hlinksldjump"/>
          </p:cNvPr>
          <p:cNvSpPr/>
          <p:nvPr/>
        </p:nvSpPr>
        <p:spPr>
          <a:xfrm>
            <a:off x="6005424" y="6071972"/>
            <a:ext cx="226337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9" name="타원 18">
            <a:hlinkClick r:id="rId7" action="ppaction://hlinksldjump"/>
          </p:cNvPr>
          <p:cNvSpPr/>
          <p:nvPr/>
        </p:nvSpPr>
        <p:spPr>
          <a:xfrm>
            <a:off x="5585987" y="6071972"/>
            <a:ext cx="226337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/>
              <a:t>1. </a:t>
            </a:r>
            <a:r>
              <a:rPr lang="ko-KR" altLang="en-US" sz="2000" b="1" dirty="0" err="1"/>
              <a:t>김우수</a:t>
            </a:r>
            <a:r>
              <a:rPr lang="ko-KR" altLang="en-US" sz="2000" b="1" dirty="0"/>
              <a:t> 씨의 인생은 삶의 목적을 세운 후 어떻게 달라졌는지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888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888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47569"/>
            <a:ext cx="10293350" cy="310868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2556" y="3039089"/>
            <a:ext cx="9743075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삶의 목적을 세우기 전에는 세상이 싫고 화가 많았으나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삶의 목적을 세운 후에는 열심히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살아가야겠다고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다짐했고 행복이 넘쳤다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5" grpId="0"/>
      <p:bldP spid="2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33155" y="2834231"/>
            <a:ext cx="10293350" cy="162548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/>
              <a:t>2. </a:t>
            </a:r>
            <a:r>
              <a:rPr lang="ko-KR" altLang="en-US" sz="2000" b="1" dirty="0"/>
              <a:t>내가 세운 목적을 이루었던 경험을 떠올려 보고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그때 기분이 어땠는지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888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888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33155" y="4962666"/>
            <a:ext cx="10293350" cy="169163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7399" y="4562555"/>
            <a:ext cx="228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u"/>
            </a:pPr>
            <a:r>
              <a:rPr lang="ko-KR" altLang="en-US" sz="2000" dirty="0" smtClean="0"/>
              <a:t>그때의 기분</a:t>
            </a:r>
            <a:endParaRPr lang="en-US" altLang="ko-KR" sz="20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87400" y="2728190"/>
            <a:ext cx="8505322" cy="3936440"/>
            <a:chOff x="787400" y="2728190"/>
            <a:chExt cx="8505322" cy="3936440"/>
          </a:xfrm>
        </p:grpSpPr>
        <p:sp>
          <p:nvSpPr>
            <p:cNvPr id="22" name="TextBox 21"/>
            <p:cNvSpPr txBox="1"/>
            <p:nvPr/>
          </p:nvSpPr>
          <p:spPr>
            <a:xfrm>
              <a:off x="787400" y="2728190"/>
              <a:ext cx="850532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세상에 도움을 주는 사람이 되어야겠다는 목적을 세우고</a:t>
              </a:r>
              <a:r>
                <a:rPr lang="en-US" altLang="ko-KR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, </a:t>
              </a: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실행 방안을 찾던 중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기아로 </a:t>
              </a: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굶주리고 있는 제</a:t>
              </a:r>
              <a:r>
                <a:rPr lang="en-US" altLang="ko-KR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3</a:t>
              </a: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세계 어린이를 돕는 기부 활동이 있다는 것을 알게 되었다</a:t>
              </a:r>
              <a:r>
                <a:rPr lang="en-US" altLang="ko-KR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87400" y="4910304"/>
              <a:ext cx="850532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용돈 중에서 매달 일정 금액을 기부해야 해서 부담이 되었지만</a:t>
              </a:r>
              <a:r>
                <a:rPr lang="en-US" altLang="ko-KR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, </a:t>
              </a: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남을 도울 수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있고 세상을 </a:t>
              </a: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조금 더 낫게 만들었다는 생각에 마음이 뿌듯하고 행복하였다</a:t>
              </a:r>
              <a:r>
                <a:rPr lang="en-US" altLang="ko-KR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.</a:t>
              </a:r>
              <a:endPara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4" name="TextBox 27"/>
          <p:cNvSpPr txBox="1"/>
          <p:nvPr/>
        </p:nvSpPr>
        <p:spPr>
          <a:xfrm>
            <a:off x="792832" y="2316943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dirty="0" smtClean="0">
                <a:latin typeface="+mn-ea"/>
              </a:rPr>
              <a:t>목적을 이룬 일</a:t>
            </a:r>
            <a:endParaRPr lang="ko-KR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421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삶의 목적 설정 시 고려할 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63293" y="1845833"/>
            <a:ext cx="95201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흥미와 적성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/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ko-KR" altLang="en-US" sz="2400" dirty="0" smtClean="0">
                <a:latin typeface="Arial Rounded MT Bold" panose="020F0704030504030204" pitchFamily="34" charset="0"/>
              </a:rPr>
              <a:t>좋아하는 일과 잘하는 일이 무엇인지 탐색함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본래적 가치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/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ko-KR" altLang="en-US" sz="2400" dirty="0" smtClean="0">
                <a:latin typeface="Arial Rounded MT Bold" panose="020F0704030504030204" pitchFamily="34" charset="0"/>
              </a:rPr>
              <a:t>도구적 가치보다 본래적 가치가 담긴 삶의 목적을 추구함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사회에 미치는 영향</a:t>
            </a:r>
            <a: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/>
            </a:r>
            <a:br>
              <a:rPr lang="en-US" altLang="ko-KR" sz="2400" b="1" dirty="0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ko-KR" altLang="en-US" sz="2400" dirty="0" smtClean="0">
                <a:latin typeface="Arial Rounded MT Bold" panose="020F0704030504030204" pitchFamily="34" charset="0"/>
              </a:rPr>
              <a:t>다른 사람에게 해를 끼치지 않고 나아가 공동체에 보탬이 되는지 생각해 봄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.</a:t>
            </a:r>
            <a:endParaRPr lang="en-US" altLang="ko-KR" sz="24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25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삶의 목적을 설정할 때 어떤 가치를 고려해야 할까</a:t>
            </a:r>
            <a:r>
              <a:rPr lang="en-US" altLang="ko-KR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576584" y="1961289"/>
            <a:ext cx="11073948" cy="4583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영국의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사상가 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(Mill, J. S.)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은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공리주의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라는 책에서 “만족한 돼지보다는 불만족한 인간이 되는 것이 낫고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만족한 바보보다는 불만족한 소크라테스가 되는 것이 낫다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말하였다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만족한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돼지와 만족한 바보는 음식과 같은 것이 주는 질적으로 낮은 쾌락에만 관심이 있는 사람을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불만족한 인간이나 불만족한 소크라테스는 진리 추구 같은 것이 주는 질적으로 높은 쾌락에 관심이 있는 사람을 뜻한다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밀은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유능한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판단자라면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질적으로 높은 쾌락을 선택할 것이라고 했으며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질적으로 높은 쾌락을 추구할 때 행복할 수 있다고 보았다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밀의 주장에 따른다면 질적으로 높은 쾌락으로 이끌어 주는 평화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사랑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진리 같은 본래적 가치를 고려하여 삶의 목적을 설정해야 하지 않을까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641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8303663" y="2368430"/>
            <a:ext cx="3511109" cy="2529496"/>
            <a:chOff x="7467600" y="2470033"/>
            <a:chExt cx="4724400" cy="3419475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67600" y="2470033"/>
              <a:ext cx="4724400" cy="3419475"/>
            </a:xfrm>
            <a:prstGeom prst="rect">
              <a:avLst/>
            </a:prstGeom>
          </p:spPr>
        </p:pic>
        <p:sp>
          <p:nvSpPr>
            <p:cNvPr id="21" name="직사각형 20"/>
            <p:cNvSpPr/>
            <p:nvPr/>
          </p:nvSpPr>
          <p:spPr>
            <a:xfrm>
              <a:off x="7467600" y="3782728"/>
              <a:ext cx="723499" cy="2117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818171" y="1809602"/>
            <a:ext cx="7583445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7913" indent="-1077913"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선생님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여러분은 꿈이 무엇인가요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1077913" indent="-1077913"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   영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과학자가 되고 싶습니다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1077913" indent="-1077913"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민   준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교수가 되고 싶습니다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1077913" indent="-1077913"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서   원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백만장자가 되고 싶습니다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1077913" indent="-1077913"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선생님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여러분에게는 모두 꿈이 있군요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여러분이 꿈을 이루기를 바랍니다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그런데 여러분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!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과학자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교수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백만장자가 된 다음에는 무엇을 할 것인가요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8303663" y="2368430"/>
            <a:ext cx="3511109" cy="2529496"/>
            <a:chOff x="7467600" y="2470033"/>
            <a:chExt cx="4724400" cy="3419475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67600" y="2470033"/>
              <a:ext cx="4724400" cy="3419475"/>
            </a:xfrm>
            <a:prstGeom prst="rect">
              <a:avLst/>
            </a:prstGeom>
          </p:spPr>
        </p:pic>
        <p:sp>
          <p:nvSpPr>
            <p:cNvPr id="21" name="직사각형 20"/>
            <p:cNvSpPr/>
            <p:nvPr/>
          </p:nvSpPr>
          <p:spPr>
            <a:xfrm>
              <a:off x="7467600" y="3782728"/>
              <a:ext cx="723499" cy="2117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492248" y="2277644"/>
            <a:ext cx="7981796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87425" indent="-987425"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선생님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꿈을 징검다리 삼아 더 의미 있는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발걸음을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한 번 더 내디뎌야 합니다.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삶의 목적을 설정할 때에는 단순히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개인적 차원의 만족감이나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훌륭함을 넘어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이타적인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것까지 고려해야 합니다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삶의 목적을 설정할 때는 타인과 사회에 미치는 영향을 고려하세요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03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선생님의 말씀과 관련하여 </a:t>
            </a:r>
            <a:r>
              <a:rPr lang="ko-KR" altLang="en-US" sz="2000" b="1" dirty="0"/>
              <a:t>삶의 목적을 설정할 때 고려해야 할 점을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898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898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28519"/>
            <a:ext cx="10293350" cy="244359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0467" y="3060418"/>
            <a:ext cx="99998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나의 꿈이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사회에 어떤 의미를 지니는지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고려해야 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즉</a:t>
            </a:r>
            <a:r>
              <a: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삶의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목적을 설정할 때 자신만을 생각하는 차원을 넘어서 사회에 어떻게 좋은 영향을 미칠 수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있는지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고려해야 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행복한 삶을 위한 목적 세우기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3100960" y="1416001"/>
            <a:ext cx="5907239" cy="5441999"/>
            <a:chOff x="4005269" y="2434776"/>
            <a:chExt cx="4015991" cy="4042587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05269" y="2434776"/>
              <a:ext cx="4015991" cy="4042587"/>
            </a:xfrm>
            <a:prstGeom prst="rect">
              <a:avLst/>
            </a:prstGeom>
          </p:spPr>
        </p:pic>
        <p:sp>
          <p:nvSpPr>
            <p:cNvPr id="27" name="직사각형 26"/>
            <p:cNvSpPr/>
            <p:nvPr/>
          </p:nvSpPr>
          <p:spPr>
            <a:xfrm>
              <a:off x="4005269" y="6343048"/>
              <a:ext cx="585982" cy="1343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2318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행복한 삶을 위한 목적 세우기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5588" y="3633588"/>
            <a:ext cx="978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나는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그림 그리기를 좋아하고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잘한다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4700688" y="6071087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타원 22">
            <a:hlinkClick r:id="rId7" action="ppaction://hlinksldjump"/>
          </p:cNvPr>
          <p:cNvSpPr/>
          <p:nvPr/>
        </p:nvSpPr>
        <p:spPr>
          <a:xfrm>
            <a:off x="509606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6" name="타원 35">
            <a:hlinkClick r:id="rId8" action="ppaction://hlinksldjump"/>
          </p:cNvPr>
          <p:cNvSpPr/>
          <p:nvPr/>
        </p:nvSpPr>
        <p:spPr>
          <a:xfrm>
            <a:off x="549143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7" name="타원 36">
            <a:hlinkClick r:id="rId9" action="ppaction://hlinksldjump"/>
          </p:cNvPr>
          <p:cNvSpPr/>
          <p:nvPr/>
        </p:nvSpPr>
        <p:spPr>
          <a:xfrm>
            <a:off x="628218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38" name="타원 37">
            <a:hlinkClick r:id="rId10" action="ppaction://hlinksldjump"/>
          </p:cNvPr>
          <p:cNvSpPr/>
          <p:nvPr/>
        </p:nvSpPr>
        <p:spPr>
          <a:xfrm>
            <a:off x="588681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9" name="타원 38">
            <a:hlinkClick r:id="rId11" action="ppaction://hlinksldjump"/>
          </p:cNvPr>
          <p:cNvSpPr/>
          <p:nvPr/>
        </p:nvSpPr>
        <p:spPr>
          <a:xfrm>
            <a:off x="667756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24372" y="1726890"/>
            <a:ext cx="10743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/>
              <a:t>1</a:t>
            </a:r>
            <a:r>
              <a:rPr lang="ko-KR" altLang="en-US" sz="2000" b="1" dirty="0"/>
              <a:t>층에서 출발하여 단계에 따라 삶의 목적을 세우고 이를 실현하기 위해 노력할 점을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2" name="직사각형 1"/>
          <p:cNvSpPr/>
          <p:nvPr/>
        </p:nvSpPr>
        <p:spPr>
          <a:xfrm>
            <a:off x="722972" y="2873056"/>
            <a:ext cx="289708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층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흥미와 적성 파악하기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6198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>
                <a:solidFill>
                  <a:schemeClr val="bg1"/>
                </a:solidFill>
                <a:latin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ko-KR" altLang="en-US" sz="2000" b="1" dirty="0">
              <a:latin typeface="+mn-ea"/>
            </a:endParaRP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행복한 삶을 위한 목적 세우기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5588" y="3633588"/>
            <a:ext cx="978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나는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친구와의 우정이 가장 소중하다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5096063" y="6071087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타원 22">
            <a:hlinkClick r:id="rId7" action="ppaction://hlinksldjump"/>
          </p:cNvPr>
          <p:cNvSpPr/>
          <p:nvPr/>
        </p:nvSpPr>
        <p:spPr>
          <a:xfrm>
            <a:off x="470068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6" name="타원 35">
            <a:hlinkClick r:id="rId8" action="ppaction://hlinksldjump"/>
          </p:cNvPr>
          <p:cNvSpPr/>
          <p:nvPr/>
        </p:nvSpPr>
        <p:spPr>
          <a:xfrm>
            <a:off x="549143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7" name="타원 36">
            <a:hlinkClick r:id="rId9" action="ppaction://hlinksldjump"/>
          </p:cNvPr>
          <p:cNvSpPr/>
          <p:nvPr/>
        </p:nvSpPr>
        <p:spPr>
          <a:xfrm>
            <a:off x="628218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38" name="타원 37">
            <a:hlinkClick r:id="rId10" action="ppaction://hlinksldjump"/>
          </p:cNvPr>
          <p:cNvSpPr/>
          <p:nvPr/>
        </p:nvSpPr>
        <p:spPr>
          <a:xfrm>
            <a:off x="588681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9" name="타원 38">
            <a:hlinkClick r:id="rId11" action="ppaction://hlinksldjump"/>
          </p:cNvPr>
          <p:cNvSpPr/>
          <p:nvPr/>
        </p:nvSpPr>
        <p:spPr>
          <a:xfrm>
            <a:off x="667756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22972" y="2873056"/>
            <a:ext cx="361363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층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소중히 여기는 가치 쓰기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4372" y="1726890"/>
            <a:ext cx="10743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/>
              <a:t>1</a:t>
            </a:r>
            <a:r>
              <a:rPr lang="ko-KR" altLang="en-US" sz="2000" b="1" dirty="0"/>
              <a:t>층에서 출발하여 단계에 따라 삶의 목적을 세우고 이를 실현하기 위해 노력할 점을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1095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>
                <a:solidFill>
                  <a:schemeClr val="bg1"/>
                </a:solidFill>
                <a:latin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행복한 삶을 위한 목적 세우기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5588" y="3633588"/>
            <a:ext cx="978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친구와의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우정을 그린 만화가가 되자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5491438" y="6071087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타원 22">
            <a:hlinkClick r:id="rId7" action="ppaction://hlinksldjump"/>
          </p:cNvPr>
          <p:cNvSpPr/>
          <p:nvPr/>
        </p:nvSpPr>
        <p:spPr>
          <a:xfrm>
            <a:off x="509606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6" name="타원 35">
            <a:hlinkClick r:id="rId8" action="ppaction://hlinksldjump"/>
          </p:cNvPr>
          <p:cNvSpPr/>
          <p:nvPr/>
        </p:nvSpPr>
        <p:spPr>
          <a:xfrm>
            <a:off x="470068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7" name="타원 36">
            <a:hlinkClick r:id="rId9" action="ppaction://hlinksldjump"/>
          </p:cNvPr>
          <p:cNvSpPr/>
          <p:nvPr/>
        </p:nvSpPr>
        <p:spPr>
          <a:xfrm>
            <a:off x="628218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38" name="타원 37">
            <a:hlinkClick r:id="rId10" action="ppaction://hlinksldjump"/>
          </p:cNvPr>
          <p:cNvSpPr/>
          <p:nvPr/>
        </p:nvSpPr>
        <p:spPr>
          <a:xfrm>
            <a:off x="588681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9" name="타원 38">
            <a:hlinkClick r:id="rId11" action="ppaction://hlinksldjump"/>
          </p:cNvPr>
          <p:cNvSpPr/>
          <p:nvPr/>
        </p:nvSpPr>
        <p:spPr>
          <a:xfrm>
            <a:off x="667756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22972" y="2873056"/>
            <a:ext cx="3613638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층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삶의 목적 설정하기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4372" y="1726890"/>
            <a:ext cx="10743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/>
              <a:t>1</a:t>
            </a:r>
            <a:r>
              <a:rPr lang="ko-KR" altLang="en-US" sz="2000" b="1" dirty="0"/>
              <a:t>층에서 출발하여 단계에 따라 삶의 목적을 세우고 이를 실현하기 위해 노력할 점을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2064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>
                <a:solidFill>
                  <a:schemeClr val="bg1"/>
                </a:solidFill>
                <a:latin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행복한 삶을 위한 목적 세우기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5588" y="3633588"/>
            <a:ext cx="978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여러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사람이 내 만화를 보고 영향을 받을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5886813" y="6071087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타원 22">
            <a:hlinkClick r:id="rId7" action="ppaction://hlinksldjump"/>
          </p:cNvPr>
          <p:cNvSpPr/>
          <p:nvPr/>
        </p:nvSpPr>
        <p:spPr>
          <a:xfrm>
            <a:off x="509606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6" name="타원 35">
            <a:hlinkClick r:id="rId8" action="ppaction://hlinksldjump"/>
          </p:cNvPr>
          <p:cNvSpPr/>
          <p:nvPr/>
        </p:nvSpPr>
        <p:spPr>
          <a:xfrm>
            <a:off x="549143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7" name="타원 36">
            <a:hlinkClick r:id="rId9" action="ppaction://hlinksldjump"/>
          </p:cNvPr>
          <p:cNvSpPr/>
          <p:nvPr/>
        </p:nvSpPr>
        <p:spPr>
          <a:xfrm>
            <a:off x="628218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38" name="타원 37">
            <a:hlinkClick r:id="rId10" action="ppaction://hlinksldjump"/>
          </p:cNvPr>
          <p:cNvSpPr/>
          <p:nvPr/>
        </p:nvSpPr>
        <p:spPr>
          <a:xfrm>
            <a:off x="470068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9" name="타원 38">
            <a:hlinkClick r:id="rId11" action="ppaction://hlinksldjump"/>
          </p:cNvPr>
          <p:cNvSpPr/>
          <p:nvPr/>
        </p:nvSpPr>
        <p:spPr>
          <a:xfrm>
            <a:off x="667756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22972" y="2873056"/>
            <a:ext cx="476846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층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그 목적이 사회에 미치는 영향 파악하기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4372" y="1726890"/>
            <a:ext cx="10743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/>
              <a:t>1</a:t>
            </a:r>
            <a:r>
              <a:rPr lang="ko-KR" altLang="en-US" sz="2000" b="1" dirty="0"/>
              <a:t>층에서 출발하여 단계에 따라 삶의 목적을 세우고 이를 실현하기 위해 노력할 점을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7955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>
                <a:solidFill>
                  <a:schemeClr val="bg1"/>
                </a:solidFill>
                <a:latin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행복한 삶을 위한 목적 세우기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5588" y="3629339"/>
            <a:ext cx="10074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우정뿐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아니라 사랑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정의 같은 가치를 담은 만화를 그리는 작가가 되자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6282188" y="6071087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타원 22">
            <a:hlinkClick r:id="rId7" action="ppaction://hlinksldjump"/>
          </p:cNvPr>
          <p:cNvSpPr/>
          <p:nvPr/>
        </p:nvSpPr>
        <p:spPr>
          <a:xfrm>
            <a:off x="509606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6" name="타원 35">
            <a:hlinkClick r:id="rId8" action="ppaction://hlinksldjump"/>
          </p:cNvPr>
          <p:cNvSpPr/>
          <p:nvPr/>
        </p:nvSpPr>
        <p:spPr>
          <a:xfrm>
            <a:off x="549143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7" name="타원 36">
            <a:hlinkClick r:id="rId9" action="ppaction://hlinksldjump"/>
          </p:cNvPr>
          <p:cNvSpPr/>
          <p:nvPr/>
        </p:nvSpPr>
        <p:spPr>
          <a:xfrm>
            <a:off x="470068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38" name="타원 37">
            <a:hlinkClick r:id="rId10" action="ppaction://hlinksldjump"/>
          </p:cNvPr>
          <p:cNvSpPr/>
          <p:nvPr/>
        </p:nvSpPr>
        <p:spPr>
          <a:xfrm>
            <a:off x="588681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9" name="타원 38">
            <a:hlinkClick r:id="rId11" action="ppaction://hlinksldjump"/>
          </p:cNvPr>
          <p:cNvSpPr/>
          <p:nvPr/>
        </p:nvSpPr>
        <p:spPr>
          <a:xfrm>
            <a:off x="667756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22972" y="2873056"/>
            <a:ext cx="4768466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5</a:t>
            </a:r>
            <a:r>
              <a:rPr lang="ko-KR" altLang="en-US" dirty="0">
                <a:latin typeface="+mn-ea"/>
              </a:rPr>
              <a:t>층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삶의 목적 수정하기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4372" y="1726890"/>
            <a:ext cx="10743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/>
              <a:t>1</a:t>
            </a:r>
            <a:r>
              <a:rPr lang="ko-KR" altLang="en-US" sz="2000" b="1" dirty="0"/>
              <a:t>층에서 출발하여 단계에 따라 삶의 목적을 세우고 이를 실현하기 위해 노력할 점을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6990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>
                <a:solidFill>
                  <a:schemeClr val="bg1"/>
                </a:solidFill>
                <a:latin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27" name="그림 2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3" name="그림 3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행복한 삶을 위한 목적 세우기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9524" y="3629339"/>
            <a:ext cx="10074519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미술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공부를 열심히 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endParaRPr lang="en-US" altLang="ko-KR" sz="2400" dirty="0" smtClean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매일 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1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시간씩 그림 연습을 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6677563" y="6071087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타원 22">
            <a:hlinkClick r:id="rId7" action="ppaction://hlinksldjump"/>
          </p:cNvPr>
          <p:cNvSpPr/>
          <p:nvPr/>
        </p:nvSpPr>
        <p:spPr>
          <a:xfrm>
            <a:off x="509606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6" name="타원 35">
            <a:hlinkClick r:id="rId8" action="ppaction://hlinksldjump"/>
          </p:cNvPr>
          <p:cNvSpPr/>
          <p:nvPr/>
        </p:nvSpPr>
        <p:spPr>
          <a:xfrm>
            <a:off x="549143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7" name="타원 36">
            <a:hlinkClick r:id="rId9" action="ppaction://hlinksldjump"/>
          </p:cNvPr>
          <p:cNvSpPr/>
          <p:nvPr/>
        </p:nvSpPr>
        <p:spPr>
          <a:xfrm>
            <a:off x="628218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38" name="타원 37">
            <a:hlinkClick r:id="rId10" action="ppaction://hlinksldjump"/>
          </p:cNvPr>
          <p:cNvSpPr/>
          <p:nvPr/>
        </p:nvSpPr>
        <p:spPr>
          <a:xfrm>
            <a:off x="5886813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9" name="타원 38">
            <a:hlinkClick r:id="rId11" action="ppaction://hlinksldjump"/>
          </p:cNvPr>
          <p:cNvSpPr/>
          <p:nvPr/>
        </p:nvSpPr>
        <p:spPr>
          <a:xfrm>
            <a:off x="4700688" y="607108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22971" y="2873056"/>
            <a:ext cx="516384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6</a:t>
            </a:r>
            <a:r>
              <a:rPr lang="ko-KR" altLang="en-US" dirty="0">
                <a:latin typeface="+mn-ea"/>
              </a:rPr>
              <a:t>층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삶의 목적을 이루기 위해 노력할 점 쓰기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4372" y="1726890"/>
            <a:ext cx="10743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/>
              <a:t>1</a:t>
            </a:r>
            <a:r>
              <a:rPr lang="ko-KR" altLang="en-US" sz="2000" b="1" dirty="0"/>
              <a:t>층에서 출발하여 단계에 따라 삶의 목적을 세우고 이를 실현하기 위해 노력할 점을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8005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삶의 목적과 행복의 관계를 알고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삶의 목적을 설정할 때 본래적 가치를 고려하는가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행복한 삶을 살아가기 위해 본래적 가치를 고려하여 바람직한 삶의 목적을 세우고 이루어 가기 위해 노력해야겠다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4569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2720364" y="5024060"/>
            <a:ext cx="808171" cy="704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737360" y="1605498"/>
            <a:ext cx="805815" cy="309027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원하는 것을 가지면 행복하지 않을까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5" name="타원 24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8457" y="1356916"/>
            <a:ext cx="9968705" cy="48993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6387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원하는 것을 가지면 행복하지 않을까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1870" y="2487542"/>
            <a:ext cx="75174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사람들은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대개 몸이 안락한 것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맛이 좋은 것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아름다운 옷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아름다운 색깔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아름다운 음악 등을 즐겁다고 생각합니다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반면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맛있는 음식을 먹지 못하는 것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아름다운 옷을 입지 못하는 것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아름다운 색깔을 보지 못하는 것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아름다운 음악을 듣지 못하는 것 등을 괴롭다고 생각합니다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그렇기에 부자가 되면 행복해질 것이라고 생각할지 모릅니다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8" name="타원 27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" action="ppaction://hlinkshowjump?jump=nextslide"/>
          </p:cNvPr>
          <p:cNvSpPr/>
          <p:nvPr/>
        </p:nvSpPr>
        <p:spPr>
          <a:xfrm>
            <a:off x="642985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940" y="1609494"/>
            <a:ext cx="2572109" cy="620373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487542"/>
            <a:ext cx="3612074" cy="43656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217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40188" y="671335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철학자와 도란도란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4025900" y="654715"/>
            <a:ext cx="765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2"/>
                </a:solidFill>
                <a:latin typeface="+mj-ea"/>
                <a:ea typeface="+mj-ea"/>
              </a:rPr>
              <a:t>원하는 것을 가지면 행복하지 않을까</a:t>
            </a:r>
            <a:r>
              <a:rPr lang="en-US" altLang="ko-KR" sz="2400" b="1" dirty="0">
                <a:solidFill>
                  <a:schemeClr val="tx2"/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3802" y="2487542"/>
            <a:ext cx="7517405" cy="3568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하지만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부유한 사람이라도 몸을 괴롭히면서 바쁘게 일하느라 많은 재산을 쌓아 놓고서도 다 쓰지 못하는데 이것이 몸을 위하는 것이라고 보기는 어렵습니다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세상 사람들이 즐기는 것을 보면 나는 그들이 즐기는 것이 진짜 즐거운 것인지 아니면 즐겁지 않은 것인지 잘 모르겠습니다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행복해지려면 우리는 무엇을 바라고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무엇을 버려야 할까요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또 무엇을 좋아하고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무엇을 싫어해야 할까요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sp>
        <p:nvSpPr>
          <p:cNvPr id="28" name="타원 27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426155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rId6" action="ppaction://hlinksldjump"/>
          </p:cNvPr>
          <p:cNvSpPr/>
          <p:nvPr/>
        </p:nvSpPr>
        <p:spPr>
          <a:xfrm>
            <a:off x="6032628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940" y="1609494"/>
            <a:ext cx="2572109" cy="620373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487542"/>
            <a:ext cx="3612074" cy="43656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3692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“1.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가정 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- 02.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가정이란 무엇이며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,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 </a:t>
            </a:r>
            <a:endParaRPr lang="en-US" altLang="ko-KR" sz="28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2800" b="1" dirty="0" smtClean="0">
                <a:solidFill>
                  <a:schemeClr val="tx1"/>
                </a:solidFill>
              </a:rPr>
              <a:t>어떤 갈등이 발생할 수 있을까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삶의 목적과 행복의 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삶의 목적을 세우는 일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삶의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방향 </a:t>
            </a:r>
            <a:r>
              <a:rPr sz="2400" b="0">
                <a:solidFill>
                  <a:srgbClr val="262626"/>
                </a:solidFill>
              </a:rPr>
              <a:t>을 정하는 일과 같음.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삶의 목적을 세우고 이루어 나갈 때 보람 있고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행복한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삶 </a:t>
            </a:r>
            <a:r>
              <a:rPr sz="2400" b="0">
                <a:solidFill>
                  <a:srgbClr val="262626"/>
                </a:solidFill>
              </a:rPr>
              <a:t>을 살아갈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“동물을 지키는 사람이 될래.” → 봉사 동아리도, 과학 공부도 의미가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삶의 목적을 세운 사람의 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분명한 동기와 강한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책임감 </a:t>
            </a:r>
            <a:r>
              <a:rPr sz="2400" b="0">
                <a:solidFill>
                  <a:srgbClr val="262626"/>
                </a:solidFill>
              </a:rPr>
              <a:t>을 지님.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유혹과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충동 </a:t>
            </a:r>
            <a:r>
              <a:rPr sz="2400" b="0">
                <a:solidFill>
                  <a:srgbClr val="262626"/>
                </a:solidFill>
              </a:rPr>
              <a:t>을 이겨 냄.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삶의 목적을 세우는 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방향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정하는 일과 같음.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삶의 목적을 세우고 이루어 나갈 때 보람 있고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“동물을 지키는 사람이 될래.” → 봉사 동아리도, 과학 공부도 의미가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삶의 목적을 세운 사람의 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분명한 동기와 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책임감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유혹과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충동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이겨 냄.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삶의 목적을 세우는 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정하는 일과 같음.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삶의 목적을 세우고 이루어 나갈 때 보람 있고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행복한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“동물을 지키는 사람이 될래.” → 봉사 동아리도, 과학 공부도 의미가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삶의 목적을 세운 사람의 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분명한 동기와 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책임감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유혹과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충동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이겨 냄.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삶의 목적을 세우는 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정하는 일과 같음.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삶의 목적을 세우고 이루어 나갈 때 보람 있고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“동물을 지키는 사람이 될래.” → 봉사 동아리도, 과학 공부도 의미가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삶의 목적을 세운 사람의 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분명한 동기와 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책임감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유혹과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충동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이겨 냄.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삶의 목적을 세우는 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정하는 일과 같음.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삶의 목적을 세우고 이루어 나갈 때 보람 있고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“동물을 지키는 사람이 될래.” → 봉사 동아리도, 과학 공부도 의미가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삶의 목적을 세운 사람의 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분명한 동기와 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책임감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유혹과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충동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이겨 냄.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삶의 목적을 세우는 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정하는 일과 같음.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삶의 목적을 세우고 이루어 나갈 때 보람 있고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“동물을 지키는 사람이 될래.” → 봉사 동아리도, 과학 공부도 의미가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삶의 목적을 세운 사람의 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분명한 동기와 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책임감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유혹과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충동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이겨 냄.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삶의 목적을 세우는 일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정하는 일과 같음.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삶의 목적을 세우고 이루어 나갈 때 보람 있고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행복한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삶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살아갈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“동물을 지키는 사람이 될래.” → 봉사 동아리도, 과학 공부도 의미가 생긴다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삶의 목적을 세운 사람의 태도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분명한 동기와 강한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책임감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지님.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유혹과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충동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이겨 냄.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삶의 목적과 행복의 관계 (이어서)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③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역경 </a:t>
            </a:r>
            <a:r>
              <a:rPr sz="2400" b="0">
                <a:solidFill>
                  <a:srgbClr val="262626"/>
                </a:solidFill>
              </a:rPr>
              <a:t>을 극복해 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국가대표를 꿈꾸는 선수는 새벽 훈련을 거르지 않는다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역경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극복해 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국가대표를 꿈꾸는 선수는 새벽 훈련을 거르지 않는다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③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역경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극복해 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국가대표를 꿈꾸는 선수는 새벽 훈련을 거르지 않는다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수용소에서 의미를 붙든 의사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1942~1945 · 나치 강제 수용소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1942 · 유대인이라는 까닭으로 가족과 함께 수용소로 끌려가다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그곳에서 · 빼앗긴 원고를 종잇조각에 다시 쓰고 동료를 돌보다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1945 · 살아남았지만 부모와 아내를 잃다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1946 · 『죽음의 수용소에서』를 쓰다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무엇이 그를 견디게 했을까?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1942~1945 · 나치 강제 수용소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1942 · 유대인이라는 까닭으로 가족과 함께 수용소로 끌려가다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그곳에서 · 빼앗긴 원고를 종잇조각에 다시 쓰고 동료를 돌보다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1945 · 살아남았지만 부모와 아내를 잃다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1946 · 『죽음의 수용소에서』를 쓰다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무엇이 그를 견디게 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삶의 목적 설정 시 고려할 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흥미와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적성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 그리기가 좋고 칭찬도 자주 듣는다 → 디자인 쪽 진로 탐색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내가 좋아하는 일이 무엇인지, 잘할 수 있는 일이 무엇인지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이를 토대로 삶의 목적을 설정하고 실현해 나갈 때 큰 만족을 느낄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본래적 </a:t>
            </a:r>
            <a:r>
              <a:rPr sz="2400" b="1">
                <a:solidFill>
                  <a:srgbClr val="843C0C"/>
                </a:solidFill>
              </a:rPr>
              <a:t> 가치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“돈을 많이 벌래”보다 “아픈 사람을 낫게 하고 싶어”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자신이 소중히 여기는 가치를 고려해야 함.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흥미와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적성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 그리기가 좋고 칭찬도 자주 듣는다 → 디자인 쪽 진로 탐색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내가 좋아하는 일이 무엇인지, 잘할 수 있는 일이 무엇인지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이를 토대로 삶의 목적을 설정하고 실현해 나갈 때 큰 만족을 느낄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가치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“돈을 많이 벌래”보다 “아픈 사람을 낫게 하고 싶어”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소중히 여기는 가치를 고려해야 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흥미와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적성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그림 그리기가 좋고 칭찬도 자주 듣는다 → 디자인 쪽 진로 탐색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내가 좋아하는 일이 무엇인지, 잘할 수 있는 일이 무엇인지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이를 토대로 삶의 목적을 설정하고 실현해 나갈 때 큰 만족을 느낄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가치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“돈을 많이 벌래”보다 “아픈 사람을 낫게 하고 싶어”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소중히 여기는 가치를 고려해야 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흥미와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적성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 그리기가 좋고 칭찬도 자주 듣는다 → 디자인 쪽 진로 탐색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내가 좋아하는 일이 무엇인지, 잘할 수 있는 일이 무엇인지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이를 토대로 삶의 목적을 설정하고 실현해 나갈 때 큰 만족을 느낄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본래적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가치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“돈을 많이 벌래”보다 “아픈 사람을 낫게 하고 싶어”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소중히 여기는 가치를 고려해야 함.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흥미와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적성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그림 그리기가 좋고 칭찬도 자주 듣는다 → 디자인 쪽 진로 탐색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내가 좋아하는 일이 무엇인지, 잘할 수 있는 일이 무엇인지 탐색해야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이를 토대로 삶의 목적을 설정하고 실현해 나갈 때 큰 만족을 느낄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가치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“돈을 많이 벌래”보다 “아픈 사람을 낫게 하고 싶어”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자신이 소중히 여기는 가치를 고려해야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삶의 목적 설정 시 고려할 점 (이어서)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이때 돈, 명예, 지위 같은 </a:t>
            </a:r>
            <a:r>
              <a:rPr sz="1439" b="1">
                <a:solidFill>
                  <a:srgbClr val="2F6FD0"/>
                </a:solidFill>
              </a:rPr>
              <a:t>⑨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도구적 </a:t>
            </a:r>
            <a:r>
              <a:rPr sz="2400" b="0">
                <a:solidFill>
                  <a:srgbClr val="262626"/>
                </a:solidFill>
              </a:rPr>
              <a:t> 가치보다 자유, 사랑, 정의, 평화처럼 </a:t>
            </a:r>
            <a:r>
              <a:rPr sz="1439" b="1">
                <a:solidFill>
                  <a:srgbClr val="2F6FD0"/>
                </a:solidFill>
              </a:rPr>
              <a:t>⑩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본래적 </a:t>
            </a:r>
            <a:r>
              <a:rPr sz="2400" b="0">
                <a:solidFill>
                  <a:srgbClr val="262626"/>
                </a:solidFill>
              </a:rPr>
              <a:t> 가치를 추구해야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사회에 미치는 영향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삶의 목적이 </a:t>
            </a:r>
            <a:r>
              <a:rPr sz="1439" b="1">
                <a:solidFill>
                  <a:srgbClr val="2F6FD0"/>
                </a:solidFill>
              </a:rPr>
              <a:t>⑪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타인 </a:t>
            </a:r>
            <a:r>
              <a:rPr sz="2400" b="0">
                <a:solidFill>
                  <a:srgbClr val="262626"/>
                </a:solidFill>
              </a:rPr>
              <a:t>과 사회에 미치는 영향을 고려해야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다른 사람에게 해를 끼치지 않고 나아가 </a:t>
            </a:r>
            <a:r>
              <a:rPr sz="1439" b="1">
                <a:solidFill>
                  <a:srgbClr val="2F6FD0"/>
                </a:solidFill>
              </a:rPr>
              <a:t>⑫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공동체 </a:t>
            </a:r>
            <a:r>
              <a:rPr sz="2400" b="0">
                <a:solidFill>
                  <a:srgbClr val="262626"/>
                </a:solidFill>
              </a:rPr>
              <a:t>에 보탬이 되는지 생각해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조회 수를 위해 남을 깎아내리는 영상 크리에이터는 곤란하다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이때 돈, 명예, 지위 같은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/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가치보다 자유, 사랑, 정의, 평화처럼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추구해야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사회에 미치는 영향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삶의 목적이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타인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사회에 미치는 영향을 고려해야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다른 사람에게 해를 끼치지 않고 나아가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보탬이 되는지 생각해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조회 수를 위해 남을 깎아내리는 영상 크리에이터는 곤란하다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이때 돈, 명예, 지위 같은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가치보다 자유, 사랑, 정의, 평화처럼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/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추구해야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사회에 미치는 영향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삶의 목적이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타인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사회에 미치는 영향을 고려해야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다른 사람에게 해를 끼치지 않고 나아가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보탬이 되는지 생각해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조회 수를 위해 남을 깎아내리는 영상 크리에이터는 곤란하다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이때 돈, 명예, 지위 같은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가치보다 자유, 사랑, 정의, 평화처럼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추구해야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사회에 미치는 영향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삶의 목적이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/>
                </a:solidFill>
              </a:rPr>
              <a:t> 타인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사회에 미치는 영향을 고려해야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다른 사람에게 해를 끼치지 않고 나아가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보탬이 되는지 생각해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조회 수를 위해 남을 깎아내리는 영상 크리에이터는 곤란하다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이때 돈, 명예, 지위 같은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가치보다 자유, 사랑, 정의, 평화처럼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추구해야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사회에 미치는 영향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삶의 목적이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타인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사회에 미치는 영향을 고려해야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다른 사람에게 해를 끼치지 않고 나아가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/>
                </a:solidFill>
              </a:rPr>
              <a:t> 공동체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보탬이 되는지 생각해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조회 수를 위해 남을 깎아내리는 영상 크리에이터는 곤란하다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이때 돈, 명예, 지위 같은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도구적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가치보다 자유, 사랑, 정의, 평화처럼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본래적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추구해야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사회에 미치는 영향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삶의 목적이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타인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사회에 미치는 영향을 고려해야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다른 사람에게 해를 끼치지 않고 나아가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공동체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보탬이 되는지 생각해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조회 수를 위해 남을 깎아내리는 영상 크리에이터는 곤란하다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의사가 된 신부, 이태석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1962~2010 · 아프리카 남수단 톤즈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의대 졸업 · 의사가 된 뒤 다시 신학을 공부해 신부가 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2001 · 내전으로 무너진 남수단 톤즈로 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톤즈에서 · 병원과 학교를 짓고, 아이들과 브라스 밴드를 만들다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2010 · 대장암으로 세상을 떠나다 · 다큐멘터리 「울지마 톤즈」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그의 삶의 목적은 무엇이었을까?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1962~2010 · 아프리카 남수단 톤즈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의대 졸업 · 의사가 된 뒤 다시 신학을 공부해 신부가 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2001 · 내전으로 무너진 남수단 톤즈로 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톤즈에서 · 병원과 학교를 짓고, 아이들과 브라스 밴드를 만들다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2010 · 대장암으로 세상을 떠나다 · 다큐멘터리 「울지마 톤즈」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그의 삶의 목적은 무엇이었을까?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삶의 목적을 세우는 일은 삶의 방향을 정하는 일과 같다.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삶의 목적을 세운 사람은 유혹과 충동에 약하다.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자유, 사랑, 정의, 평화는 도구적 가치이다.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삶의 목적이 공동체에 보탬이 되는지 생각해 보아야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삶의 목적을 세우는 일은 삶의 방향을 정하는 일과 같다.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삶의 목적을 세운 사람은 유혹과 충동에 약하다.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자유, 사랑, 정의, 평화는 도구적 가치이다.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삶의 목적이 공동체에 보탬이 되는지 생각해 보아야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삶의 목적을 세우는 일은 삶의 방향을 정하는 일과 같다.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삶의 목적을 세운 사람은 유혹과 충동에 약하다.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자유, 사랑, 정의, 평화는 도구적 가치이다.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삶의 목적이 공동체에 보탬이 되는지 생각해 보아야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삶의 목적을 세우는 일은 삶의 방향을 정하는 일과 같다.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삶의 목적을 세운 사람은 유혹과 충동에 약하다.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자유, 사랑, 정의, 평화는 도구적 가치이다.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삶의 목적이 공동체에 보탬이 되는지 생각해 보아야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삶의 목적을 세우는 일은 삶의 방향을 정하는 일과 같다.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삶의 목적을 세운 사람은 유혹과 충동에 약하다.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자유, 사랑, 정의, 평화는 도구적 가치이다.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삶의 목적이 공동체에 보탬이 되는지 생각해 보아야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가치 저울과 삶의 목적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행복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삶의 목적과 행복의 관계는 무엇일까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en-US" altLang="ko-KR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다른 것을 얻기 위한 수단일까, 그 자체로 소중할까? 카드를 눌러 칸을 옮겨 보자.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① 혼자 생각하기 — 2분 동안 나의 답을 정해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② 짝·모둠과 나누기 — 서로의 까닭을 들어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③ 한 문장으로 발표하기 — “나는 ___ 왜냐하면 ___”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8396</TotalTime>
  <Words>1573</Words>
  <Application>Microsoft Office PowerPoint</Application>
  <PresentationFormat>와이드스크린</PresentationFormat>
  <Paragraphs>284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182</cp:revision>
  <cp:lastPrinted>2024-06-05T04:53:22Z</cp:lastPrinted>
  <dcterms:created xsi:type="dcterms:W3CDTF">2023-10-31T05:50:03Z</dcterms:created>
  <dcterms:modified xsi:type="dcterms:W3CDTF">2025-01-10T06:34:22Z</dcterms:modified>
</cp:coreProperties>
</file>