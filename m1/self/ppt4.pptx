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1"/>
  </p:notesMasterIdLst>
  <p:handoutMasterIdLst>
    <p:handoutMasterId r:id="rId22"/>
  </p:handoutMasterIdLst>
  <p:sldIdLst>
    <p:sldId id="302" r:id="rId2"/>
    <p:sldId id="301" r:id="rId3"/>
    <p:sldId id="258" r:id="rId4"/>
    <p:sldId id="305" r:id="rId5"/>
    <p:sldId id="260" r:id="rId6"/>
    <p:sldId id="366" r:id="rId28"/>
    <p:sldId id="367" r:id="rId29"/>
    <p:sldId id="368" r:id="rId30"/>
    <p:sldId id="306" r:id="rId7"/>
    <p:sldId id="270" r:id="rId8"/>
    <p:sldId id="307" r:id="rId9"/>
    <p:sldId id="362" r:id="rId10"/>
    <p:sldId id="308" r:id="rId11"/>
    <p:sldId id="355" r:id="rId12"/>
    <p:sldId id="369" r:id="rId31"/>
    <p:sldId id="370" r:id="rId32"/>
    <p:sldId id="356" r:id="rId13"/>
    <p:sldId id="363" r:id="rId14"/>
    <p:sldId id="364" r:id="rId15"/>
    <p:sldId id="365" r:id="rId16"/>
    <p:sldId id="359" r:id="rId17"/>
    <p:sldId id="360" r:id="rId18"/>
    <p:sldId id="361" r:id="rId19"/>
    <p:sldId id="371" r:id="rId33"/>
    <p:sldId id="372" r:id="rId34"/>
    <p:sldId id="348" r:id="rId20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7FE4"/>
    <a:srgbClr val="FF9300"/>
    <a:srgbClr val="FFFF00"/>
    <a:srgbClr val="D9E1E9"/>
    <a:srgbClr val="E8F6FD"/>
    <a:srgbClr val="F0FFF6"/>
    <a:srgbClr val="019BFF"/>
    <a:srgbClr val="FFF7EE"/>
    <a:srgbClr val="FFC000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6242" autoAdjust="0"/>
  </p:normalViewPr>
  <p:slideViewPr>
    <p:cSldViewPr snapToGrid="0">
      <p:cViewPr varScale="1">
        <p:scale>
          <a:sx n="111" d="100"/>
          <a:sy n="111" d="100"/>
        </p:scale>
        <p:origin x="534" y="102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commentAuthors" Target="commentAuthors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덕은 습관에서</a:t>
            </a:r>
          </a:p>
          <a:p>
            <a:r>
              <a:t>아리스토텔레스는 집 짓는 사람이 집을 지으며 목수가 되고 악기를 연주하며 연주자가 되듯, 덕도 행동을 되풀이하여 몸에 밴다고 보았다. 그래서 어릴 때부터 어떤 습관을 들이느냐가 매우 중요하다고 했다.</a:t>
            </a:r>
          </a:p>
          <a:p>
            <a:r>
              <a:t>발문 “운동이나 악기를 배울 때와 착한 사람이 되는 것은 무엇이 닮았을까?”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35쪽 읽기</a:t>
            </a:r>
          </a:p>
          <a:p>
            <a:r>
              <a:t>벤저민 프랭클린은 수첩 한 쪽마다 지킬 덕목을 적고, 잘못한 날은 검은 점을 찍으며 스스로를 돌아보았다(『프랭클린 자서전』). 활동 화면 4의 ‘인격 자화상’과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사례 · 태안 기름 유출 사고</a:t>
            </a:r>
          </a:p>
          <a:p>
            <a:r>
              <a:t>2007년 12월 7일 태안 앞바다에서 유조선 허베이 스피리트호와 크레인선이 충돌해 많은 원유가 쏟아졌다. 해안이 검게 덮였고, 전국에서 약 123만 명의 자원봉사자가 찾아와 손으로 기름을 닦았다.</a:t>
            </a:r>
          </a:p>
          <a:p>
            <a:r>
              <a:t>2022년 11월 이 과정에서 만들어진 민간 기록 22만여 건이 유네스코 세계기록유산 아시아·태평양 지역목록에 올랐다.</a:t>
            </a:r>
          </a:p>
          <a:p>
            <a:r>
              <a:t>발문 “123만 명 가운데 한 사람이었다면, 무엇을 느꼈을까?” → 공감, 책임감, 연대. 한 사람의 인격이 모여 공동체의 품격이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8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0.png"/><Relationship Id="rId6" Type="http://schemas.openxmlformats.org/officeDocument/2006/relationships/slide" Target="slide8.xml"/><Relationship Id="rId7" Type="http://schemas.openxmlformats.org/officeDocument/2006/relationships/slide" Target="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0.png"/><Relationship Id="rId6" Type="http://schemas.openxmlformats.org/officeDocument/2006/relationships/slide" Target="slide9.xml"/><Relationship Id="rId7" Type="http://schemas.openxmlformats.org/officeDocument/2006/relationships/slide" Target="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8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2.png"/><Relationship Id="rId6" Type="http://schemas.openxmlformats.org/officeDocument/2006/relationships/slide" Target="slide12.xml"/><Relationship Id="rId7" Type="http://schemas.openxmlformats.org/officeDocument/2006/relationships/slide" Target="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slide" Target="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8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8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8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8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8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8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8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02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도덕적인 사람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en-US" altLang="ko-KR" sz="1100" b="1" dirty="0" smtClean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75618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도덕적인 사람이 되려면 </a:t>
            </a:r>
          </a:p>
          <a:p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어떤 노력을 해야 할까</a:t>
            </a:r>
            <a:r>
              <a:rPr lang="en-US" altLang="ko-KR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2943980"/>
            <a:ext cx="10293350" cy="787400"/>
            <a:chOff x="914400" y="2362200"/>
            <a:chExt cx="10293350" cy="787400"/>
          </a:xfrm>
        </p:grpSpPr>
        <p:sp>
          <p:nvSpPr>
            <p:cNvPr id="2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spc="-150" dirty="0">
                <a:solidFill>
                  <a:prstClr val="black"/>
                </a:solidFill>
                <a:latin typeface="+mn-ea"/>
              </a:rPr>
              <a:t>도덕적인 사람의 특성을 설명할 수 있다</a:t>
            </a:r>
            <a:r>
              <a:rPr lang="en-US" altLang="ko-KR" sz="2800" b="1" spc="-150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204394" y="2975356"/>
            <a:ext cx="9629759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도덕적인 사람이 되려고 노력하는 자세를 지닌다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도덕적인 사람이 되려면 어떤 노력을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0444884" y="1631130"/>
            <a:ext cx="960840" cy="669307"/>
          </a:xfrm>
          <a:prstGeom prst="rect">
            <a:avLst/>
          </a:prstGeom>
          <a:solidFill>
            <a:srgbClr val="E8F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도덕적인 사람이 되려면 어떤 노력을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782289" y="1578141"/>
            <a:ext cx="10577049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제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2차 세계 대전 중, 독일군 점령지인 폴란드에 독일인 사업가 오스카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쉰들러가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찾아온다. 유대인을 고용하면 인건비를 줄여 큰돈을 벌 수 있다고 생각했기 때문이다. 그런데 독일군이 유대인에게 저지르는 만행을 보며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쉰들러는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양심의 가책을 느끼고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자신의 공장에 유대인을 고용하여 수용소에서 구해 내기 시작하였다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독일군에게 협력하는 척하며 유대인을 구하는 과정에서 그는 전 재산을 모두 써 버렸지만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후회하지 않았다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그가 수용소에서 구한 유대인은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1,000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명이 넘었다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전쟁이 끝나자 그는 독일군에게 협력했다는 이유로 연합군에게 쫓기는 신세가 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그러한 상황에서도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쉰들러는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유대인을 한 명이라도 더 구하지 못한 것을 아쉬워한다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r">
              <a:lnSpc>
                <a:spcPct val="150000"/>
              </a:lnSpc>
            </a:pP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스티븐 스필버그 감독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영화 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〈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쉰들러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리스트</a:t>
            </a: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〉</a:t>
            </a: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097982" y="942681"/>
            <a:ext cx="742511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spc="-150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32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67415"/>
            <a:ext cx="10293350" cy="2882452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5588" y="2966915"/>
            <a:ext cx="9784141" cy="2790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자신의 이익만을 중시하는 이기심이나 유대인의 고통에 대한 무관심을 극복하고 유대인의 생명을 구하기 위해 희생하는 도덕적인 사람으로 변화하였다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경제적인 이익만을 추구하던 사람에서 생명 등과 같은 보편적 가치를 추구하는 도덕적인 사람으로 변화하였다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다음은 영화 </a:t>
            </a:r>
            <a:r>
              <a:rPr lang="en-US" altLang="ko-KR" sz="2000" b="1" dirty="0"/>
              <a:t>&lt;</a:t>
            </a:r>
            <a:r>
              <a:rPr lang="ko-KR" altLang="en-US" sz="2000" b="1" dirty="0" err="1"/>
              <a:t>쉰들러</a:t>
            </a:r>
            <a:r>
              <a:rPr lang="ko-KR" altLang="en-US" sz="2000" b="1" dirty="0"/>
              <a:t> 리스트</a:t>
            </a:r>
            <a:r>
              <a:rPr lang="en-US" altLang="ko-KR" sz="2000" b="1" dirty="0"/>
              <a:t>&gt;</a:t>
            </a:r>
            <a:r>
              <a:rPr lang="ko-KR" altLang="en-US" sz="2000" b="1" dirty="0"/>
              <a:t>의 줄거리이다</a:t>
            </a:r>
            <a:r>
              <a:rPr lang="en-US" altLang="ko-KR" sz="2000" b="1" dirty="0"/>
              <a:t>. </a:t>
            </a:r>
            <a:r>
              <a:rPr lang="ko-KR" altLang="en-US" sz="2000" b="1" dirty="0"/>
              <a:t>주인공인 </a:t>
            </a:r>
            <a:r>
              <a:rPr lang="ko-KR" altLang="en-US" sz="2000" b="1" dirty="0" err="1"/>
              <a:t>쉰들러가</a:t>
            </a:r>
            <a:r>
              <a:rPr lang="ko-KR" altLang="en-US" sz="2000" b="1" dirty="0"/>
              <a:t> 양심의 가책을 느낀 뒤 어떤 사람으로 변화했는지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도덕적인 사람이 되려면 어떤 노력을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097982" y="942681"/>
            <a:ext cx="742511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spc="-150" dirty="0" smtClean="0">
                <a:solidFill>
                  <a:srgbClr val="8D7FE4"/>
                </a:solidFill>
                <a:latin typeface="+mj-ea"/>
                <a:ea typeface="+mj-ea"/>
              </a:rPr>
              <a:t>제시문</a:t>
            </a:r>
            <a:endParaRPr lang="ko-KR" altLang="en-US" sz="1600" b="1" spc="-150" dirty="0">
              <a:solidFill>
                <a:srgbClr val="8D7FE4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40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039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보편적 가치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추구하기</a:t>
            </a:r>
            <a:r>
              <a:rPr lang="en-US" altLang="ko-KR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/>
            </a:r>
            <a:br>
              <a:rPr lang="en-US" altLang="ko-KR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</a:br>
            <a:r>
              <a:rPr lang="ko-KR" altLang="en-US" sz="2400" dirty="0" smtClean="0">
                <a:latin typeface="+mn-ea"/>
              </a:rPr>
              <a:t>도덕적인 </a:t>
            </a:r>
            <a:r>
              <a:rPr lang="ko-KR" altLang="en-US" sz="2400" dirty="0">
                <a:latin typeface="+mn-ea"/>
              </a:rPr>
              <a:t>사람은 오로지 자기에게만 이익이 되는 가치보다 보편적 가치를 추구함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이타적인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마음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지니기</a:t>
            </a:r>
            <a:r>
              <a:rPr lang="en-US" altLang="ko-KR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/>
            </a:r>
            <a:br>
              <a:rPr lang="en-US" altLang="ko-KR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</a:br>
            <a:r>
              <a:rPr lang="ko-KR" altLang="en-US" sz="2400" dirty="0" smtClean="0">
                <a:latin typeface="+mn-ea"/>
              </a:rPr>
              <a:t>자기중심적인 </a:t>
            </a:r>
            <a:r>
              <a:rPr lang="ko-KR" altLang="en-US" sz="2400" dirty="0">
                <a:latin typeface="+mn-ea"/>
              </a:rPr>
              <a:t>태도를 버리고 다른 사람을 위하는 마음을 지님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도덕적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신념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따르기</a:t>
            </a:r>
            <a:r>
              <a:rPr lang="en-US" altLang="ko-KR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/>
            </a:r>
            <a:br>
              <a:rPr lang="en-US" altLang="ko-KR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</a:br>
            <a:r>
              <a:rPr lang="ko-KR" altLang="en-US" sz="2400" dirty="0" smtClean="0">
                <a:latin typeface="+mn-ea"/>
              </a:rPr>
              <a:t>도덕적인 </a:t>
            </a:r>
            <a:r>
              <a:rPr lang="ko-KR" altLang="en-US" sz="2400" dirty="0">
                <a:latin typeface="+mn-ea"/>
              </a:rPr>
              <a:t>사람은 도덕적 신념에 따라 살아감</a:t>
            </a:r>
            <a:r>
              <a:rPr lang="en-US" altLang="ko-KR" sz="2400" dirty="0">
                <a:latin typeface="+mn-ea"/>
              </a:rPr>
              <a:t>.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도덕적인 사람의 특성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도덕적인 사람이 되려면 어떤 노력을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도덕적인 사람이 되려면 어떤 노력을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4763" y="1405318"/>
            <a:ext cx="8920591" cy="545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내 주변에 있는 도덕적인 사람은 누구인지 쓰고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그렇게 생각한 까닭과 본받을 점을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0888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0888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047569"/>
            <a:ext cx="10293350" cy="3108682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33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도덕적인 사람이 되려면 어떤 노력을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340" y="3137052"/>
            <a:ext cx="101621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latin typeface="Arial Rounded MT Bold" panose="020F0704030504030204" pitchFamily="34" charset="0"/>
              </a:rPr>
              <a:t>도덕적인 사람</a:t>
            </a:r>
            <a:r>
              <a:rPr lang="en-US" altLang="ko-KR" sz="2400" b="1" dirty="0" smtClean="0">
                <a:latin typeface="Arial Rounded MT Bold" panose="020F0704030504030204" pitchFamily="34" charset="0"/>
              </a:rPr>
              <a:t>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latin typeface="Arial Rounded MT Bold" panose="020F0704030504030204" pitchFamily="34" charset="0"/>
              </a:rPr>
              <a:t>그렇게 생각한 까닭</a:t>
            </a:r>
            <a:r>
              <a:rPr lang="en-US" altLang="ko-KR" sz="2400" b="1" dirty="0" smtClean="0">
                <a:latin typeface="Arial Rounded MT Bold" panose="020F0704030504030204" pitchFamily="34" charset="0"/>
              </a:rPr>
              <a:t>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b="1" dirty="0">
              <a:latin typeface="Arial Rounded MT Bold" panose="020F070403050403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400" b="1" dirty="0" smtClean="0">
              <a:latin typeface="Arial Rounded MT Bold" panose="020F070403050403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 smtClean="0">
                <a:latin typeface="Arial Rounded MT Bold" panose="020F0704030504030204" pitchFamily="34" charset="0"/>
              </a:rPr>
              <a:t>본받을 점</a:t>
            </a:r>
            <a:r>
              <a:rPr lang="en-US" altLang="ko-KR" sz="2400" b="1" dirty="0" smtClean="0">
                <a:latin typeface="Arial Rounded MT Bold" panose="020F0704030504030204" pitchFamily="34" charset="0"/>
              </a:rPr>
              <a:t>:</a:t>
            </a:r>
            <a:endParaRPr lang="en-US" altLang="ko-KR" sz="2400" b="1" dirty="0">
              <a:latin typeface="Arial Rounded MT Bold" panose="020F0704030504030204" pitchFamily="34" charset="0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2671589" y="3158312"/>
            <a:ext cx="7721625" cy="2828742"/>
            <a:chOff x="2671589" y="3158312"/>
            <a:chExt cx="7721625" cy="2828742"/>
          </a:xfrm>
        </p:grpSpPr>
        <p:sp>
          <p:nvSpPr>
            <p:cNvPr id="24" name="TextBox 23"/>
            <p:cNvSpPr txBox="1"/>
            <p:nvPr/>
          </p:nvSpPr>
          <p:spPr>
            <a:xfrm>
              <a:off x="3274931" y="3158312"/>
              <a:ext cx="70067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400" dirty="0" smtClean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부모님</a:t>
              </a:r>
              <a:endPara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956254" y="3737380"/>
              <a:ext cx="643696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주변의 가난한 이웃들에게 꾸준히 기부하시고 주말에는 봉사 </a:t>
              </a:r>
              <a:r>
                <a:rPr lang="ko-KR" altLang="en-US" sz="2400" dirty="0" smtClean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활동도 </a:t>
              </a:r>
              <a:r>
                <a:rPr lang="ko-KR" altLang="en-US" sz="2400" dirty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하시기 때문</a:t>
              </a:r>
              <a:endPara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671589" y="5340723"/>
              <a:ext cx="76100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주변의 이웃을 사랑하고 배려하는 이타적인 마음</a:t>
              </a:r>
              <a:endPara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870773" y="1477566"/>
            <a:ext cx="8505151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ko-KR" altLang="en-US" sz="220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장기려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박사는 다른 무엇보다 환자의 생명을 소중히 여긴 의사였다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그가 부유한 삶이 보장된 길을 포기하고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시골 마을에 작은 병원을 차려 가난하여 병을 치료받지 못하는 환자를 돌보기로 결심한 것도 그 때문이었다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한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농부가 입원했을 때의 일이다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농부는 병이 다 낫고도 입원비를 낼 돈이 없어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퇴원할 수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없었다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농부의 사정을 안타깝게 여긴 장 박사는 농부가 입원비를 내지 않도록 하려고 “내가 밤에 문을 열어 놓을 테니 살짝 도망치세요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.”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라고 제안하였다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다음 날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장 박사가 병원 뒷문을 열어 놓고 차비까지 쥐여 주자 농부는 고마움에 한없이 눈물을 흘렸다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en-US" altLang="ko-KR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도덕적인 사람이 되려면 어떤 노력을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53464" y="2437138"/>
            <a:ext cx="3524237" cy="3434472"/>
          </a:xfrm>
          <a:prstGeom prst="rect">
            <a:avLst/>
          </a:prstGeom>
        </p:spPr>
      </p:pic>
      <p:sp>
        <p:nvSpPr>
          <p:cNvPr id="13" name="타원 12">
            <a:hlinkClick r:id="rId6" action="ppaction://hlinksldjump"/>
          </p:cNvPr>
          <p:cNvSpPr/>
          <p:nvPr/>
        </p:nvSpPr>
        <p:spPr>
          <a:xfrm>
            <a:off x="5807534" y="6198721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4" name="타원 13">
            <a:hlinkClick r:id="rId7" action="ppaction://hlinksldjump"/>
          </p:cNvPr>
          <p:cNvSpPr/>
          <p:nvPr/>
        </p:nvSpPr>
        <p:spPr>
          <a:xfrm>
            <a:off x="6202909" y="6198721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74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870773" y="1477566"/>
            <a:ext cx="850515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가난한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이웃을 위해 아낌없이 자기 것을 나누었던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장기려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박사의 봉사는 그가 세상을 떠나는 날까지 계속되었다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아직도 사람들은 그를 도덕적인 사람으로 기억하며 존경하고 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endParaRPr lang="en-US" altLang="ko-KR" sz="220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지강유철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《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장기려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그 사람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》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도덕적인 사람이 되려면 어떤 노력을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53464" y="2437138"/>
            <a:ext cx="3524237" cy="3434472"/>
          </a:xfrm>
          <a:prstGeom prst="rect">
            <a:avLst/>
          </a:prstGeom>
        </p:spPr>
      </p:pic>
      <p:sp>
        <p:nvSpPr>
          <p:cNvPr id="15" name="타원 14">
            <a:hlinkClick r:id="rId6" action="ppaction://hlinksldjump"/>
          </p:cNvPr>
          <p:cNvSpPr/>
          <p:nvPr/>
        </p:nvSpPr>
        <p:spPr>
          <a:xfrm>
            <a:off x="5956935" y="6089965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6" name="타원 15">
            <a:hlinkClick r:id="rId7" action="ppaction://hlinksldjump"/>
          </p:cNvPr>
          <p:cNvSpPr/>
          <p:nvPr/>
        </p:nvSpPr>
        <p:spPr>
          <a:xfrm>
            <a:off x="5546205" y="609148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499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err="1"/>
              <a:t>장기려</a:t>
            </a:r>
            <a:r>
              <a:rPr lang="ko-KR" altLang="en-US" sz="2000" b="1" dirty="0"/>
              <a:t> 박사를 도덕적인 사람으로 볼 수 있는 까닭은 무엇인지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898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898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0285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30467" y="3060418"/>
            <a:ext cx="99998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생명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자유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평등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정의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평화와 같은 보편적 가치를 추구하고 있기 때문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어려운 주변 사람들을 도와주려는 이타적인 마음을 지니고 있기 때문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병든 사람들을 위해 헌신하겠다는 도덕적 신념에 따라 살기 때문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34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도덕적인 사람이 되려면 어떤 노력을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3902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039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도덕적 앎과 도덕적 사고 능력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지니기</a:t>
            </a:r>
            <a:r>
              <a:rPr lang="en-US" altLang="ko-KR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/>
            </a:r>
            <a:br>
              <a:rPr lang="en-US" altLang="ko-KR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</a:br>
            <a:r>
              <a:rPr lang="ko-KR" altLang="en-US" sz="2400" spc="-150" dirty="0" smtClean="0">
                <a:latin typeface="+mn-ea"/>
              </a:rPr>
              <a:t>도덕적으로 </a:t>
            </a:r>
            <a:r>
              <a:rPr lang="ko-KR" altLang="en-US" sz="2400" spc="-150" dirty="0">
                <a:latin typeface="+mn-ea"/>
              </a:rPr>
              <a:t>행동하려면 어떤 상황이 도덕적 문제 상황임을 알고</a:t>
            </a:r>
            <a:r>
              <a:rPr lang="en-US" altLang="ko-KR" sz="2400" spc="-150" dirty="0">
                <a:latin typeface="+mn-ea"/>
              </a:rPr>
              <a:t>, </a:t>
            </a:r>
            <a:r>
              <a:rPr lang="ko-KR" altLang="en-US" sz="2400" spc="-150" dirty="0">
                <a:latin typeface="+mn-ea"/>
              </a:rPr>
              <a:t>무엇이 옳고 그른지 명확하게 판단할 수 있어야 함</a:t>
            </a:r>
            <a:r>
              <a:rPr lang="en-US" altLang="ko-KR" sz="2400" spc="-150" dirty="0">
                <a:latin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도덕적 성찰하기</a:t>
            </a:r>
            <a:r>
              <a:rPr lang="en-US" altLang="ko-KR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/>
            </a:r>
            <a:br>
              <a:rPr lang="en-US" altLang="ko-KR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</a:br>
            <a:r>
              <a:rPr lang="ko-KR" altLang="en-US" sz="2400" dirty="0" smtClean="0">
                <a:latin typeface="+mn-ea"/>
              </a:rPr>
              <a:t>마음을 </a:t>
            </a:r>
            <a:r>
              <a:rPr lang="ko-KR" altLang="en-US" sz="2400" dirty="0">
                <a:latin typeface="+mn-ea"/>
              </a:rPr>
              <a:t>반성하고 살펴 생각과 행동에 잘못이나 부족함이 없는지 살펴봄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도덕적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실천 의지와 용기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기르기</a:t>
            </a:r>
            <a:r>
              <a:rPr lang="en-US" altLang="ko-KR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 </a:t>
            </a:r>
            <a:br>
              <a:rPr lang="en-US" altLang="ko-KR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</a:br>
            <a:r>
              <a:rPr lang="ko-KR" altLang="en-US" sz="2400" dirty="0" smtClean="0">
                <a:latin typeface="+mn-ea"/>
              </a:rPr>
              <a:t>이기심이나 </a:t>
            </a:r>
            <a:r>
              <a:rPr lang="ko-KR" altLang="en-US" sz="2400" dirty="0">
                <a:latin typeface="+mn-ea"/>
              </a:rPr>
              <a:t>귀찮음 등을 극복하고 도덕적 행동을 실천하도록 도와줌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도덕적인 사람이 되기 위한 노력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도덕적인 사람이 되려면 어떤 노력을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4352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16077" y="1820772"/>
            <a:ext cx="2875432" cy="4256839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15795" y="1617785"/>
            <a:ext cx="8601887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 나는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언제나 잘못을 저지르지 않고 살기를 바랐다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그러나 나는 곧 </a:t>
            </a: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그것이 </a:t>
            </a:r>
            <a:r>
              <a:rPr lang="ko-KR" altLang="en-US" sz="2200" spc="-150" smtClean="0">
                <a:latin typeface="굴림" panose="020B0600000101010101" pitchFamily="50" charset="-127"/>
                <a:ea typeface="굴림" panose="020B0600000101010101" pitchFamily="50" charset="-127"/>
              </a:rPr>
              <a:t>무척 어려운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일임을 알아챘다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한 가지 잘못을 저지르지 않으려고 조심하다 보면 어느새 다른 잘못을 저지르는 나를 발견하고 이따금 당황하고는 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 하루하루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내가 실천한 바를 살펴볼 필요가 있다고 생각한 나는 다음과 같은 방법을 생각해 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조그마한 수첩 한 쪽마다 내가 지켜야 할 덕목을 차례대로 적고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일주일 동안 어떤 덕목에서 잘못을 저질렀다면 검은색 점으로 표시하였다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                            </a:t>
            </a:r>
            <a:endParaRPr lang="en-US" altLang="ko-KR" sz="2200" spc="-1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벤저민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 프랭클린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《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벤저민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 프랭클린 자서전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보자</a:t>
            </a:r>
            <a:r>
              <a:rPr lang="en-US" altLang="ko-KR" sz="2000" b="1" dirty="0" smtClean="0">
                <a:latin typeface="+mj-ea"/>
                <a:ea typeface="+mj-ea"/>
              </a:rPr>
              <a:t>. 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도덕적인 사람이 되려면 어떤 노력을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14391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599006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5577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92508EF-5B45-FCB1-63DF-BCFA304E8F7C}"/>
              </a:ext>
            </a:extLst>
          </p:cNvPr>
          <p:cNvSpPr txBox="1"/>
          <p:nvPr/>
        </p:nvSpPr>
        <p:spPr>
          <a:xfrm>
            <a:off x="9510664" y="2369926"/>
            <a:ext cx="882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답</a:t>
            </a:r>
            <a:endParaRPr lang="ko-KR" altLang="en-US" b="1" dirty="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18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-300" dirty="0" smtClean="0">
                <a:solidFill>
                  <a:srgbClr val="FF9300"/>
                </a:solidFill>
                <a:latin typeface="+mj-ea"/>
                <a:ea typeface="+mj-ea"/>
              </a:rPr>
              <a:t>도덕적인 사람으로 성장하기 위한 좌우명 명찰 만들기</a:t>
            </a:r>
            <a:endParaRPr lang="ko-KR" altLang="en-US" sz="2400" b="1" spc="-300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도덕적인 사람이 되려면 어떤 노력을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4371" y="1687542"/>
            <a:ext cx="101477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b="1" dirty="0"/>
              <a:t>1. </a:t>
            </a:r>
            <a:r>
              <a:rPr lang="ko-KR" altLang="en-US" sz="2000" b="1" dirty="0"/>
              <a:t>도덕적인 사람의 특성 중 내가 실천하고 싶은 특성 한 가지를 고르고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관련 명언이나 문구 등을 찾아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855" y="2718623"/>
            <a:ext cx="9801225" cy="2057400"/>
          </a:xfrm>
          <a:prstGeom prst="rect">
            <a:avLst/>
          </a:prstGeom>
        </p:spPr>
      </p:pic>
      <p:sp>
        <p:nvSpPr>
          <p:cNvPr id="31" name="타원 30">
            <a:hlinkClick r:id="rId6" action="ppaction://hlinksldjump"/>
          </p:cNvPr>
          <p:cNvSpPr/>
          <p:nvPr/>
        </p:nvSpPr>
        <p:spPr>
          <a:xfrm>
            <a:off x="5581198" y="6081026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2" name="타원 31">
            <a:hlinkClick r:id="rId7" action="ppaction://hlinksldjump"/>
          </p:cNvPr>
          <p:cNvSpPr/>
          <p:nvPr/>
        </p:nvSpPr>
        <p:spPr>
          <a:xfrm>
            <a:off x="5976573" y="6081026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3888" y="89232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38600" y="120010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10360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599006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5577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92508EF-5B45-FCB1-63DF-BCFA304E8F7C}"/>
              </a:ext>
            </a:extLst>
          </p:cNvPr>
          <p:cNvSpPr txBox="1"/>
          <p:nvPr/>
        </p:nvSpPr>
        <p:spPr>
          <a:xfrm>
            <a:off x="9510664" y="2369926"/>
            <a:ext cx="882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답</a:t>
            </a:r>
            <a:endParaRPr lang="ko-KR" altLang="en-US" b="1" dirty="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18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-300" dirty="0" smtClean="0">
                <a:solidFill>
                  <a:srgbClr val="FF9300"/>
                </a:solidFill>
                <a:latin typeface="+mj-ea"/>
                <a:ea typeface="+mj-ea"/>
              </a:rPr>
              <a:t>도덕적인 사람으로 성장하기 위한 좌우명 명찰 만들기</a:t>
            </a:r>
            <a:endParaRPr lang="ko-KR" altLang="en-US" sz="2400" b="1" spc="-300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도덕적인 사람이 되려면 어떤 노력을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5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5057" y="5310121"/>
            <a:ext cx="10293350" cy="733966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6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650534"/>
            <a:ext cx="10293350" cy="733966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24371" y="1687542"/>
            <a:ext cx="100007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b="1" dirty="0"/>
              <a:t>1. </a:t>
            </a:r>
            <a:r>
              <a:rPr lang="ko-KR" altLang="en-US" sz="2000" b="1" dirty="0"/>
              <a:t>도덕적인 사람의 특성 중 내가 실천하고 싶은 특성 한 가지를 고르고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관련 명언이나 문구 등을 찾아 써 보자</a:t>
            </a:r>
            <a:r>
              <a:rPr lang="en-US" altLang="ko-KR" sz="2000" b="1" dirty="0"/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971" y="3022597"/>
            <a:ext cx="9810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 smtClean="0"/>
              <a:t>• </a:t>
            </a:r>
            <a:r>
              <a:rPr lang="ko-KR" altLang="en-US" sz="2000" dirty="0" smtClean="0"/>
              <a:t>도덕적인 </a:t>
            </a:r>
            <a:r>
              <a:rPr lang="ko-KR" altLang="en-US" sz="2000" dirty="0"/>
              <a:t>사람의 </a:t>
            </a:r>
            <a:r>
              <a:rPr lang="ko-KR" altLang="en-US" sz="2000" dirty="0" smtClean="0"/>
              <a:t>특성</a:t>
            </a:r>
            <a:endParaRPr lang="en-US" altLang="ko-KR" sz="2000" dirty="0"/>
          </a:p>
        </p:txBody>
      </p:sp>
      <p:grpSp>
        <p:nvGrpSpPr>
          <p:cNvPr id="22" name="그룹 21"/>
          <p:cNvGrpSpPr/>
          <p:nvPr/>
        </p:nvGrpSpPr>
        <p:grpSpPr>
          <a:xfrm>
            <a:off x="966189" y="3700224"/>
            <a:ext cx="10748010" cy="2183218"/>
            <a:chOff x="966189" y="4077906"/>
            <a:chExt cx="10748010" cy="2183218"/>
          </a:xfrm>
        </p:grpSpPr>
        <p:sp>
          <p:nvSpPr>
            <p:cNvPr id="23" name="TextBox 22"/>
            <p:cNvSpPr txBox="1"/>
            <p:nvPr/>
          </p:nvSpPr>
          <p:spPr>
            <a:xfrm>
              <a:off x="966189" y="4077906"/>
              <a:ext cx="10734675" cy="5750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400" dirty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이타적인 마음 지니기</a:t>
              </a:r>
              <a:endPara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79524" y="5614793"/>
              <a:ext cx="1073467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400" dirty="0" smtClean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오른손이 </a:t>
              </a:r>
              <a:r>
                <a:rPr lang="ko-KR" altLang="en-US" sz="2400" dirty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하는 일을 왼손이 모르게 하라</a:t>
              </a:r>
              <a:r>
                <a:rPr lang="en-US" altLang="ko-KR" sz="2400" dirty="0">
                  <a:solidFill>
                    <a:srgbClr val="0070C0"/>
                  </a:solidFill>
                  <a:latin typeface="Arial Rounded MT Bold" panose="020F0704030504030204" pitchFamily="34" charset="0"/>
                </a:rPr>
                <a:t>.</a:t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811306" y="4559484"/>
            <a:ext cx="9810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 smtClean="0"/>
              <a:t>• </a:t>
            </a:r>
            <a:r>
              <a:rPr lang="ko-KR" altLang="en-US" sz="2000" dirty="0"/>
              <a:t>관련 명언이나 문구 등</a:t>
            </a:r>
            <a:endParaRPr lang="en-US" altLang="ko-KR" sz="2000" dirty="0"/>
          </a:p>
        </p:txBody>
      </p:sp>
      <p:pic>
        <p:nvPicPr>
          <p:cNvPr id="34" name="그림 33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1050" y="3038651"/>
            <a:ext cx="487174" cy="487174"/>
          </a:xfrm>
          <a:prstGeom prst="rect">
            <a:avLst/>
          </a:prstGeom>
        </p:spPr>
      </p:pic>
      <p:grpSp>
        <p:nvGrpSpPr>
          <p:cNvPr id="35" name="그룹 34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003574" y="3038650"/>
            <a:ext cx="1087577" cy="495431"/>
            <a:chOff x="10075659" y="2003022"/>
            <a:chExt cx="1156006" cy="495431"/>
          </a:xfrm>
        </p:grpSpPr>
        <p:pic>
          <p:nvPicPr>
            <p:cNvPr id="36" name="그림 3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8" name="타원 37"/>
          <p:cNvSpPr/>
          <p:nvPr/>
        </p:nvSpPr>
        <p:spPr>
          <a:xfrm>
            <a:off x="5956935" y="6089965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9" name="타원 38">
            <a:hlinkClick r:id="rId7" action="ppaction://hlinksldjump"/>
          </p:cNvPr>
          <p:cNvSpPr/>
          <p:nvPr/>
        </p:nvSpPr>
        <p:spPr>
          <a:xfrm>
            <a:off x="5546205" y="609148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3888" y="89232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38600" y="120010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94506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599006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5577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18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-300" dirty="0" smtClean="0">
                <a:solidFill>
                  <a:srgbClr val="FF9300"/>
                </a:solidFill>
                <a:latin typeface="+mj-ea"/>
                <a:ea typeface="+mj-ea"/>
              </a:rPr>
              <a:t>도덕적인 사람으로 성장하기 위한 좌우명 명찰 만들기</a:t>
            </a:r>
            <a:endParaRPr lang="ko-KR" altLang="en-US" sz="2400" b="1" spc="-300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도덕적인 사람이 되려면 어떤 노력을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9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19734" y="2383926"/>
            <a:ext cx="6744322" cy="733966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24371" y="1687542"/>
            <a:ext cx="10147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b="1" dirty="0" smtClean="0"/>
              <a:t>2. 1</a:t>
            </a:r>
            <a:r>
              <a:rPr lang="ko-KR" altLang="en-US" sz="2000" b="1" dirty="0" smtClean="0"/>
              <a:t>의 내용을 활용하여 나만의 좌우명을 만들어 써 보자</a:t>
            </a:r>
            <a:r>
              <a:rPr lang="en-US" altLang="ko-KR" sz="2000" b="1" dirty="0" smtClean="0"/>
              <a:t>.</a:t>
            </a:r>
            <a:endParaRPr lang="en-US" altLang="ko-KR" sz="20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854968" y="2377303"/>
            <a:ext cx="6451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왼손도 알 만큼 남을 돕는 사람이 되자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pic>
        <p:nvPicPr>
          <p:cNvPr id="41" name="그림 4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85309" y="2415227"/>
            <a:ext cx="487174" cy="487174"/>
          </a:xfrm>
          <a:prstGeom prst="rect">
            <a:avLst/>
          </a:prstGeom>
        </p:spPr>
      </p:pic>
      <p:grpSp>
        <p:nvGrpSpPr>
          <p:cNvPr id="42" name="그룹 41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7667833" y="2415226"/>
            <a:ext cx="1087577" cy="495431"/>
            <a:chOff x="10075659" y="2003022"/>
            <a:chExt cx="1156006" cy="495431"/>
          </a:xfrm>
        </p:grpSpPr>
        <p:pic>
          <p:nvPicPr>
            <p:cNvPr id="44" name="그림 43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46" name="그림 45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968" y="4282027"/>
            <a:ext cx="3069532" cy="234675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3888" y="89232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38600" y="120010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4370" y="3881917"/>
            <a:ext cx="101477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b="1" dirty="0" smtClean="0"/>
              <a:t>3. </a:t>
            </a:r>
            <a:r>
              <a:rPr lang="en-US" altLang="ko-KR" sz="2000" b="1" dirty="0"/>
              <a:t>&lt;</a:t>
            </a:r>
            <a:r>
              <a:rPr lang="ko-KR" altLang="en-US" sz="2000" b="1" dirty="0"/>
              <a:t>활동 자료</a:t>
            </a:r>
            <a:r>
              <a:rPr lang="en-US" altLang="ko-KR" sz="2000" b="1" dirty="0"/>
              <a:t>2&gt;</a:t>
            </a:r>
            <a:r>
              <a:rPr lang="ko-KR" altLang="en-US" sz="2000" b="1" dirty="0"/>
              <a:t>를 활용하여 </a:t>
            </a:r>
            <a:r>
              <a:rPr lang="en-US" altLang="ko-KR" sz="2000" b="1" dirty="0"/>
              <a:t>(2)</a:t>
            </a:r>
            <a:r>
              <a:rPr lang="ko-KR" altLang="en-US" sz="2000" b="1" dirty="0"/>
              <a:t>에 쓴 좌우명을 담은 명찰을 만들어 보자</a:t>
            </a:r>
            <a:r>
              <a:rPr lang="en-US" altLang="ko-KR" sz="20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3407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  <p:bldLst>
      <p:bldP spid="31" grpId="0"/>
      <p:bldP spid="31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다음 물음에 답하며 자신의 모습을 성찰해 보자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74242"/>
            <a:ext cx="10293350" cy="116069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40188" y="2445911"/>
            <a:ext cx="9809541" cy="943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나는 도덕적인 사람의 특성을 얼마나 지니고 있는가</a:t>
            </a:r>
            <a:r>
              <a:rPr lang="en-US" altLang="ko-KR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나는 도덕적인 사람이 되기 위해 어떤 노력을 기울이는가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45" name="그림 4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30020"/>
            <a:ext cx="487174" cy="48717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3930019"/>
            <a:ext cx="1087577" cy="495431"/>
            <a:chOff x="10075659" y="2003022"/>
            <a:chExt cx="1156006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935915" y="4546283"/>
            <a:ext cx="8165055" cy="168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그동안 물질적 가치만 추구했던 것은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아닌지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반성해 보았다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나는 도덕적인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사람이 되기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위해 보편적인 가치를 추구할 것이다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936087" y="3953767"/>
            <a:ext cx="1328154" cy="507831"/>
            <a:chOff x="877165" y="3739778"/>
            <a:chExt cx="1328154" cy="507831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8928" y="3739778"/>
              <a:ext cx="122411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나의 성찰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도덕적인 사람이 되려면 어떤 노력을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3888" y="89232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38600" y="120010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99629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순서도: 수행의 시작/종료 16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3228145" y="578256"/>
            <a:ext cx="1547055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순서도: 수행의 시작/종료 17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4096987" y="578256"/>
            <a:ext cx="1757548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02088" y="671335"/>
            <a:ext cx="3916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일상에서 실천하는 도덕 교실</a:t>
            </a:r>
            <a:endParaRPr lang="ko-KR" altLang="en-US" sz="16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4720988" y="806138"/>
            <a:ext cx="7697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 smtClean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ko-KR" sz="1400" b="1" spc="-150" dirty="0" smtClean="0">
                <a:solidFill>
                  <a:srgbClr val="FFFF00"/>
                </a:solidFill>
                <a:latin typeface="+mj-ea"/>
                <a:ea typeface="+mj-ea"/>
              </a:rPr>
              <a:t>&lt;</a:t>
            </a:r>
            <a:r>
              <a:rPr lang="ko-KR" altLang="en-US" sz="1400" b="1" spc="-150" dirty="0" smtClean="0">
                <a:solidFill>
                  <a:srgbClr val="FFFF00"/>
                </a:solidFill>
                <a:latin typeface="+mj-ea"/>
                <a:ea typeface="+mj-ea"/>
              </a:rPr>
              <a:t>인성</a:t>
            </a:r>
            <a:r>
              <a:rPr lang="en-US" altLang="ko-KR" sz="1400" b="1" spc="-150" dirty="0" smtClean="0">
                <a:solidFill>
                  <a:srgbClr val="FFFF00"/>
                </a:solidFill>
                <a:latin typeface="+mj-ea"/>
                <a:ea typeface="+mj-ea"/>
              </a:rPr>
              <a:t>&gt;</a:t>
            </a:r>
            <a:endParaRPr lang="ko-KR" altLang="en-US" sz="14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도덕적인 사람이 되려면 어떤 노력을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5854535" y="654715"/>
            <a:ext cx="5816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chemeClr val="tx2"/>
                </a:solidFill>
                <a:latin typeface="+mj-ea"/>
                <a:ea typeface="+mj-ea"/>
              </a:rPr>
              <a:t>사람을 아름답게 만드는 것은 무엇일까</a:t>
            </a:r>
            <a:r>
              <a:rPr lang="en-US" altLang="ko-KR" sz="2400" b="1" dirty="0" smtClean="0">
                <a:solidFill>
                  <a:schemeClr val="tx2"/>
                </a:solidFill>
                <a:latin typeface="+mj-ea"/>
                <a:ea typeface="+mj-ea"/>
              </a:rPr>
              <a:t>?</a:t>
            </a:r>
            <a:endParaRPr lang="ko-KR" altLang="en-US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502023" y="1499732"/>
            <a:ext cx="11033372" cy="1536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영화배우로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많은 사랑을 받았던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오드리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헵번은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영화계에서 은퇴한 뒤 도덕적인 행동으로 다시 한번 사랑받는다. 다음 이야기를 읽고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오드리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헵번이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아름다운 사람이었던 까닭을 생각해 보자.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80" y="3367577"/>
            <a:ext cx="788441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영화배우로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잘 알려진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오드리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헵번은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가난과 굶주림으로 어린 시절을 어렵게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보냈다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굶주림에 메말라 가던 그를 살린 것은 어떤 구호 단체가 전달한 구호 물품과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식량이었다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훗날 그는 어린 시절을 회상하며 말하였다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271463" algn="just">
              <a:lnSpc>
                <a:spcPct val="150000"/>
              </a:lnSpc>
            </a:pP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“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절망의 늪에서 저를 구해 준 분들을 위해 이제 제가 봉사할 차례입니다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.”</a:t>
            </a:r>
            <a:endParaRPr lang="ko-KR" altLang="en-US" sz="22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23006" y="2519435"/>
            <a:ext cx="3667440" cy="4491669"/>
          </a:xfrm>
          <a:prstGeom prst="rect">
            <a:avLst/>
          </a:prstGeom>
        </p:spPr>
      </p:pic>
      <p:sp>
        <p:nvSpPr>
          <p:cNvPr id="23" name="타원 22"/>
          <p:cNvSpPr/>
          <p:nvPr/>
        </p:nvSpPr>
        <p:spPr>
          <a:xfrm>
            <a:off x="5779978" y="6081026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4" name="타원 23">
            <a:hlinkClick r:id="" action="ppaction://hlinkshowjump?jump=nextslide"/>
          </p:cNvPr>
          <p:cNvSpPr/>
          <p:nvPr/>
        </p:nvSpPr>
        <p:spPr>
          <a:xfrm>
            <a:off x="6175353" y="6081026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38600" y="120010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930816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2362" y="4994960"/>
            <a:ext cx="3412883" cy="1996116"/>
          </a:xfrm>
          <a:prstGeom prst="rect">
            <a:avLst/>
          </a:prstGeom>
        </p:spPr>
      </p:pic>
      <p:sp>
        <p:nvSpPr>
          <p:cNvPr id="3" name="순서도: 수행의 시작/종료 2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2032857" y="582930"/>
            <a:ext cx="1891643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F97713A-86B2-E8BF-B2F6-F3B5B8C0A25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4" y="90736"/>
            <a:ext cx="4892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7" name="순서도: 수행의 시작/종료 16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3228145" y="578256"/>
            <a:ext cx="1547055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순서도: 수행의 시작/종료 17">
            <a:extLst>
              <a:ext uri="{FF2B5EF4-FFF2-40B4-BE49-F238E27FC236}">
                <a16:creationId xmlns:a16="http://schemas.microsoft.com/office/drawing/2014/main" id="{F13C6DC5-F032-5B8D-8005-E8B073C4F2A0}"/>
              </a:ext>
            </a:extLst>
          </p:cNvPr>
          <p:cNvSpPr/>
          <p:nvPr/>
        </p:nvSpPr>
        <p:spPr>
          <a:xfrm>
            <a:off x="4025735" y="578256"/>
            <a:ext cx="1828800" cy="585788"/>
          </a:xfrm>
          <a:prstGeom prst="flowChartTerminator">
            <a:avLst/>
          </a:prstGeom>
          <a:solidFill>
            <a:srgbClr val="01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1002088" y="671335"/>
            <a:ext cx="3916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일상에서 실천하는 도덕 교실</a:t>
            </a:r>
            <a:endParaRPr lang="ko-KR" altLang="en-US" sz="16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566718-F408-AFA2-67E1-91FF700FEBA4}"/>
              </a:ext>
            </a:extLst>
          </p:cNvPr>
          <p:cNvSpPr txBox="1"/>
          <p:nvPr/>
        </p:nvSpPr>
        <p:spPr>
          <a:xfrm>
            <a:off x="4720988" y="806138"/>
            <a:ext cx="7697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pc="-150" dirty="0" smtClean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ko-KR" sz="1400" b="1" spc="-150" dirty="0" smtClean="0">
                <a:solidFill>
                  <a:srgbClr val="FFFF00"/>
                </a:solidFill>
                <a:latin typeface="+mj-ea"/>
                <a:ea typeface="+mj-ea"/>
              </a:rPr>
              <a:t>&lt;</a:t>
            </a:r>
            <a:r>
              <a:rPr lang="ko-KR" altLang="en-US" sz="1400" b="1" spc="-150" dirty="0" smtClean="0">
                <a:solidFill>
                  <a:srgbClr val="FFFF00"/>
                </a:solidFill>
                <a:latin typeface="+mj-ea"/>
                <a:ea typeface="+mj-ea"/>
              </a:rPr>
              <a:t>인성</a:t>
            </a:r>
            <a:r>
              <a:rPr lang="en-US" altLang="ko-KR" sz="1400" b="1" spc="-150" dirty="0" smtClean="0">
                <a:solidFill>
                  <a:srgbClr val="FFFF00"/>
                </a:solidFill>
                <a:latin typeface="+mj-ea"/>
                <a:ea typeface="+mj-ea"/>
              </a:rPr>
              <a:t>&gt;</a:t>
            </a:r>
            <a:endParaRPr lang="ko-KR" altLang="en-US" sz="1400" b="1" spc="-15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도덕적인 사람이 되려면 어떤 노력을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475818" y="1691118"/>
            <a:ext cx="8490339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은퇴한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뒤 그는 성공한 배우로서의 안락한 삶을 뒤로하고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가난과 굶주림을 겪는 빈곤한 나라의 어린이들을 위해 남은 삶을 헌신하였다</a:t>
            </a: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marL="271463" algn="just">
              <a:lnSpc>
                <a:spcPct val="150000"/>
              </a:lnSpc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“어린이 한 명을 구하는 것은 축복입니다</a:t>
            </a: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어린이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백만 명을 구하는 것은 신이 주신 기회입니다</a:t>
            </a: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.”</a:t>
            </a:r>
          </a:p>
          <a:p>
            <a:pPr algn="just">
              <a:lnSpc>
                <a:spcPct val="150000"/>
              </a:lnSpc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오드리</a:t>
            </a:r>
            <a:r>
              <a:rPr lang="ko-KR" altLang="en-US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헵번의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이 말은 전 세계 신문 머리기사가 되었고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세계적인 기부 문화를 불러일으켰다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훌륭한 사람만이 할 수 있는 일이라고 생각하던 구호 운동에 일반인도 힘을 보탤 수 있다는 인식이 널리 퍼진 것이다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 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사람을 진정 아름답게 만드는 것은 도덕적인 행동이 아닐까</a:t>
            </a: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?    </a:t>
            </a:r>
          </a:p>
          <a:p>
            <a:pPr algn="r">
              <a:lnSpc>
                <a:spcPct val="150000"/>
              </a:lnSpc>
            </a:pP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알렉산더 워커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《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아름다운 인생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오드리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헵번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》</a:t>
            </a:r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876093" y="4417257"/>
            <a:ext cx="1239305" cy="495431"/>
            <a:chOff x="10075659" y="2003022"/>
            <a:chExt cx="1156006" cy="495431"/>
          </a:xfrm>
        </p:grpSpPr>
        <p:pic>
          <p:nvPicPr>
            <p:cNvPr id="20" name="그림 19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96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spc="-150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실천 톡톡</a:t>
              </a:r>
              <a:endParaRPr lang="ko-KR" altLang="en-US" b="1" spc="-150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8" name="모서리가 둥근 사각형 설명선 27"/>
          <p:cNvSpPr/>
          <p:nvPr/>
        </p:nvSpPr>
        <p:spPr>
          <a:xfrm>
            <a:off x="9419980" y="2396639"/>
            <a:ext cx="2151529" cy="1753497"/>
          </a:xfrm>
          <a:prstGeom prst="wedgeRoundRectCallout">
            <a:avLst>
              <a:gd name="adj1" fmla="val 8564"/>
              <a:gd name="adj2" fmla="val 61886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우리의 일상을 </a:t>
            </a:r>
            <a:endParaRPr lang="en-US" altLang="ko-KR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되돌아보고 </a:t>
            </a:r>
            <a:endParaRPr lang="en-US" altLang="ko-KR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아름다운 사람의 모습에 한 걸음 </a:t>
            </a:r>
            <a:endParaRPr lang="en-US" altLang="ko-KR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더 다가갈 방법을 </a:t>
            </a:r>
            <a:endParaRPr lang="en-US" altLang="ko-KR" dirty="0" smtClean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+mn-ea"/>
              </a:rPr>
              <a:t>실천해 </a:t>
            </a:r>
            <a:r>
              <a:rPr lang="ko-KR" altLang="en-US" dirty="0">
                <a:solidFill>
                  <a:schemeClr val="tx1"/>
                </a:solidFill>
                <a:latin typeface="+mn-ea"/>
              </a:rPr>
              <a:t>보자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9" name="그림 28" descr="클립아트, 곰, 만화 영화이(가) 표시된 사진&#10;&#10;자동 생성된 설명">
            <a:extLst>
              <a:ext uri="{FF2B5EF4-FFF2-40B4-BE49-F238E27FC236}">
                <a16:creationId xmlns:a16="http://schemas.microsoft.com/office/drawing/2014/main" id="{7E57931C-BC2D-94A0-17C9-B8C790C398E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54312" y="4776162"/>
            <a:ext cx="1951723" cy="208183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5854535" y="654715"/>
            <a:ext cx="5816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chemeClr val="tx2"/>
                </a:solidFill>
                <a:latin typeface="+mj-ea"/>
                <a:ea typeface="+mj-ea"/>
              </a:rPr>
              <a:t>사람을 아름답게 만드는 것은 무엇일까</a:t>
            </a:r>
            <a:r>
              <a:rPr lang="en-US" altLang="ko-KR" sz="2400" b="1" dirty="0" smtClean="0">
                <a:solidFill>
                  <a:schemeClr val="tx2"/>
                </a:solidFill>
                <a:latin typeface="+mj-ea"/>
                <a:ea typeface="+mj-ea"/>
              </a:rPr>
              <a:t>?</a:t>
            </a:r>
            <a:endParaRPr lang="ko-KR" altLang="en-US" sz="2400" b="1" dirty="0">
              <a:solidFill>
                <a:schemeClr val="tx2"/>
              </a:solidFill>
              <a:latin typeface="+mj-ea"/>
              <a:ea typeface="+mj-ea"/>
            </a:endParaRPr>
          </a:p>
        </p:txBody>
      </p:sp>
      <p:sp>
        <p:nvSpPr>
          <p:cNvPr id="24" name="타원 23"/>
          <p:cNvSpPr/>
          <p:nvPr/>
        </p:nvSpPr>
        <p:spPr>
          <a:xfrm>
            <a:off x="6187779" y="6071015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5" name="타원 24">
            <a:hlinkClick r:id="" action="ppaction://hlinkshowjump?jump=nextslide"/>
          </p:cNvPr>
          <p:cNvSpPr/>
          <p:nvPr/>
        </p:nvSpPr>
        <p:spPr>
          <a:xfrm>
            <a:off x="5736201" y="6068250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38600" y="120010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02794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“3.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행복 </a:t>
            </a:r>
            <a:r>
              <a:rPr lang="en-US" altLang="ko-KR" sz="2800" b="1" smtClean="0">
                <a:solidFill>
                  <a:schemeClr val="tx1"/>
                </a:solidFill>
              </a:rPr>
              <a:t>- 01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. </a:t>
            </a:r>
            <a:r>
              <a:rPr lang="ko-KR" altLang="en-US" sz="2800" b="1" dirty="0">
                <a:solidFill>
                  <a:schemeClr val="tx1"/>
                </a:solidFill>
              </a:rPr>
              <a:t>행복의 의미는 무엇일까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</a:rPr>
              <a:t>를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</a:rPr>
              <a:t>.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40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도덕적인 사람의 특성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도덕적인 사람이 되려면 어떤 노력을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보편적 가치 추구하기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①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보편적 </a:t>
            </a:r>
            <a:r>
              <a:rPr sz="2400" b="1">
                <a:solidFill>
                  <a:srgbClr val="843C0C"/>
                </a:solidFill>
              </a:rPr>
              <a:t> 가치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언제 어디서나 모든 사람이 추구해야 하는 도덕적인 가치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내 반만 이기면 되는 게 아니라 공정한 경기 규칙을 지킨다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② 도덕적인 사람은 오로지 자기에게만 이익이 되는 가치보다 보편적 가치를 추구함.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이타적인 마음 지니기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주변 사람들의 어려움과 필요에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관심 </a:t>
            </a:r>
            <a:r>
              <a:rPr sz="2400" b="0">
                <a:solidFill>
                  <a:srgbClr val="262626"/>
                </a:solidFill>
              </a:rPr>
              <a:t>을 두고 도와주려고 함.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보편적 가치 추구하기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보편적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가치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언제 어디서나 모든 사람이 추구해야 하는 도덕적인 가치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내 반만 이기면 되는 게 아니라 공정한 경기 규칙을 지킨다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도덕적인 사람은 오로지 자기에게만 이익이 되는 가치보다 보편적 가치를 추구함.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이타적인 마음 지니기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주변 사람들의 어려움과 필요에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관심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두고 도와주려고 함.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보편적 가치 추구하기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보편적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가치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언제 어디서나 모든 사람이 추구해야 하는 도덕적인 가치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내 반만 이기면 되는 게 아니라 공정한 경기 규칙을 지킨다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도덕적인 사람은 오로지 자기에게만 이익이 되는 가치보다 보편적 가치를 추구함.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이타적인 마음 지니기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주변 사람들의 어려움과 필요에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관심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두고 도와주려고 함.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보편적 가치 추구하기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보편적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가치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언제 어디서나 모든 사람이 추구해야 하는 도덕적인 가치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내 반만 이기면 되는 게 아니라 공정한 경기 규칙을 지킨다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② 도덕적인 사람은 오로지 자기에게만 이익이 되는 가치보다 보편적 가치를 추구함.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이타적인 마음 지니기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주변 사람들의 어려움과 필요에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관심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두고 도와주려고 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40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도덕적인 사람의 특성 (이어서)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도덕적인 사람이 되려면 어떤 노력을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자기중심적인 </a:t>
            </a:r>
            <a:r>
              <a:rPr sz="2400" b="0">
                <a:solidFill>
                  <a:srgbClr val="262626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태도 </a:t>
            </a:r>
            <a:r>
              <a:rPr sz="2400" b="0">
                <a:solidFill>
                  <a:srgbClr val="262626"/>
                </a:solidFill>
              </a:rPr>
              <a:t>를 버리고 다른 사람을 위하는 마음을 지님.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모둠 발표에서 말 못 한 친구에게 먼저 차례를 넘긴다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도덕적 신념 따르기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도덕적 </a:t>
            </a:r>
            <a:r>
              <a:rPr sz="2400" b="1">
                <a:solidFill>
                  <a:srgbClr val="843C0C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신념 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도덕적으로 옳다고 여기는 것을 굳게 믿고 그것을 실현하려는 강한 의지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“다들 해도 나는 시험 부정은 안 해.”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도덕적인 사람은 도덕적 신념에 따라 살아감.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자기중심적인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태도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버리고 다른 사람을 위하는 마음을 지님.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모둠 발표에서 말 못 한 친구에게 먼저 차례를 넘긴다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도덕적 신념 따르기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도덕적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신념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도덕적으로 옳다고 여기는 것을 굳게 믿고 그것을 실현하려는 강한 의지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“다들 해도 나는 시험 부정은 안 해.”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도덕적인 사람은 도덕적 신념에 따라 살아감.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자기중심적인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태도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버리고 다른 사람을 위하는 마음을 지님.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모둠 발표에서 말 못 한 친구에게 먼저 차례를 넘긴다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도덕적 신념 따르기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도덕적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신념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도덕적으로 옳다고 여기는 것을 굳게 믿고 그것을 실현하려는 강한 의지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“다들 해도 나는 시험 부정은 안 해.”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도덕적인 사람은 도덕적 신념에 따라 살아감.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자기중심적인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태도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버리고 다른 사람을 위하는 마음을 지님.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모둠 발표에서 말 못 한 친구에게 먼저 차례를 넘긴다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도덕적 신념 따르기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도덕적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신념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도덕적으로 옳다고 여기는 것을 굳게 믿고 그것을 실현하려는 강한 의지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“다들 해도 나는 시험 부정은 안 해.”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도덕적인 사람은 도덕적 신념에 따라 살아감.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자기중심적인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태도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버리고 다른 사람을 위하는 마음을 지님.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모둠 발표에서 말 못 한 친구에게 먼저 차례를 넘긴다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도덕적 신념 따르기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도덕적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신념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도덕적으로 옳다고 여기는 것을 굳게 믿고 그것을 실현하려는 강한 의지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“다들 해도 나는 시험 부정은 안 해.”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도덕적인 사람은 도덕적 신념에 따라 살아감.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자기중심적인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태도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버리고 다른 사람을 위하는 마음을 지님.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모둠 발표에서 말 못 한 친구에게 먼저 차례를 넘긴다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도덕적 신념 따르기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도덕적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신념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도덕적으로 옳다고 여기는 것을 굳게 믿고 그것을 실현하려는 강한 의지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“다들 해도 나는 시험 부정은 안 해.”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도덕적인 사람은 도덕적 신념에 따라 살아감.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자기중심적인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태도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버리고 다른 사람을 위하는 마음을 지님.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모둠 발표에서 말 못 한 친구에게 먼저 차례를 넘긴다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도덕적 신념 따르기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도덕적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신념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도덕적으로 옳다고 여기는 것을 굳게 믿고 그것을 실현하려는 강한 의지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“다들 해도 나는 시험 부정은 안 해.”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도덕적인 사람은 도덕적 신념에 따라 살아감.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40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사상가의 말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34쪽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도덕적인 사람이 되려면 어떤 노력을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“우리는 정의로운 일을 함으로써 정의롭게 되고, 용감한 일을 함으로써 용감해진다”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— 아리스토텔레스, 『니코마코스 윤리학』 제2권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덕은 습관으로 자란다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40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도덕적인 사람이 되기 위한 노력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도덕적인 사람이 되려면 어떤 노력을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도덕적 </a:t>
            </a:r>
            <a:r>
              <a:rPr sz="1439" b="1">
                <a:solidFill>
                  <a:srgbClr val="2F6FD0"/>
                </a:solidFill>
              </a:rPr>
              <a:t>⑦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앎 </a:t>
            </a:r>
            <a:r>
              <a:rPr sz="2400" b="1">
                <a:solidFill>
                  <a:srgbClr val="843C0C"/>
                </a:solidFill>
              </a:rPr>
              <a:t>과 도덕적 </a:t>
            </a:r>
            <a:r>
              <a:rPr sz="1439" b="1">
                <a:solidFill>
                  <a:srgbClr val="2F6FD0"/>
                </a:solidFill>
              </a:rPr>
              <a:t>⑧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사고 </a:t>
            </a:r>
            <a:r>
              <a:rPr sz="2400" b="1">
                <a:solidFill>
                  <a:srgbClr val="843C0C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⑨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능력 </a:t>
            </a:r>
            <a:r>
              <a:rPr sz="2400" b="1">
                <a:solidFill>
                  <a:srgbClr val="843C0C"/>
                </a:solidFill>
              </a:rPr>
              <a:t> 지니기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도덕적으로 행동하려면 어떤 상황이 도덕적 문제 상황임을 알고, 무엇이 옳고 그른지 명확하게 판단할 수 있어야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‘이 장난이 친구에게 상처가 될까?’를 먼저 따져 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도덕적 </a:t>
            </a:r>
            <a:r>
              <a:rPr sz="1439" b="1">
                <a:solidFill>
                  <a:srgbClr val="2F6FD0"/>
                </a:solidFill>
              </a:rPr>
              <a:t>⑩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성찰 </a:t>
            </a:r>
            <a:r>
              <a:rPr sz="2400" b="1">
                <a:solidFill>
                  <a:srgbClr val="843C0C"/>
                </a:solidFill>
              </a:rPr>
              <a:t>하기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마음을 반성하고 살펴 생각과 행동에 잘못이나 부족함이 없는지 살펴봄.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하루를 마치며 세 가지 질문 — 증자의 일일삼성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도덕적 </a:t>
            </a:r>
            <a:r>
              <a:rPr sz="1439" b="1">
                <a:solidFill>
                  <a:srgbClr val="2F6FD0"/>
                </a:solidFill>
              </a:rPr>
              <a:t>⑪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실천 </a:t>
            </a:r>
            <a:r>
              <a:rPr sz="2400" b="1">
                <a:solidFill>
                  <a:srgbClr val="843C0C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⑫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의지 </a:t>
            </a:r>
            <a:r>
              <a:rPr sz="2400" b="1">
                <a:solidFill>
                  <a:srgbClr val="843C0C"/>
                </a:solidFill>
              </a:rPr>
              <a:t>와 </a:t>
            </a:r>
            <a:r>
              <a:rPr sz="1439" b="1">
                <a:solidFill>
                  <a:srgbClr val="2F6FD0"/>
                </a:solidFill>
              </a:rPr>
              <a:t>⑬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용기 </a:t>
            </a:r>
            <a:r>
              <a:rPr sz="2400" b="1">
                <a:solidFill>
                  <a:srgbClr val="843C0C"/>
                </a:solidFill>
              </a:rPr>
              <a:t> 기르기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이기심이나 귀찮음 등을 극복하고 도덕적 행동을 실천하도록 도와줌.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떨리지만 손을 들고 “그건 잘못된 것 같아.”라고 말하기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/>
                </a:solidFill>
              </a:rPr>
              <a:t> 앎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과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사고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능력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지니기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도덕적으로 행동하려면 어떤 상황이 도덕적 문제 상황임을 알고, 무엇이 옳고 그른지 명확하게 판단할 수 있어야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‘이 장난이 친구에게 상처가 될까?’를 먼저 따져 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마음을 반성하고 살펴 생각과 행동에 잘못이나 부족함이 없는지 살펴봄.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하루를 마치며 세 가지 질문 — 증자의 일일삼성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⑪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실천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⑫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⑬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용기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기르기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이기심이나 귀찮음 등을 극복하고 도덕적 행동을 실천하도록 도와줌.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떨리지만 손을 들고 “그건 잘못된 것 같아.”라고 말하기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앎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과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/>
                </a:solidFill>
              </a:rPr>
              <a:t> 사고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능력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지니기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도덕적으로 행동하려면 어떤 상황이 도덕적 문제 상황임을 알고, 무엇이 옳고 그른지 명확하게 판단할 수 있어야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‘이 장난이 친구에게 상처가 될까?’를 먼저 따져 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마음을 반성하고 살펴 생각과 행동에 잘못이나 부족함이 없는지 살펴봄.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하루를 마치며 세 가지 질문 — 증자의 일일삼성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⑪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실천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⑫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⑬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용기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기르기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이기심이나 귀찮음 등을 극복하고 도덕적 행동을 실천하도록 도와줌.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떨리지만 손을 들고 “그건 잘못된 것 같아.”라고 말하기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앎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과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사고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/>
                </a:solidFill>
              </a:rPr>
              <a:t> 능력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지니기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도덕적으로 행동하려면 어떤 상황이 도덕적 문제 상황임을 알고, 무엇이 옳고 그른지 명확하게 판단할 수 있어야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‘이 장난이 친구에게 상처가 될까?’를 먼저 따져 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마음을 반성하고 살펴 생각과 행동에 잘못이나 부족함이 없는지 살펴봄.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하루를 마치며 세 가지 질문 — 증자의 일일삼성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⑪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실천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⑫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⑬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용기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기르기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이기심이나 귀찮음 등을 극복하고 도덕적 행동을 실천하도록 도와줌.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떨리지만 손을 들고 “그건 잘못된 것 같아.”라고 말하기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앎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과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사고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능력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지니기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도덕적으로 행동하려면 어떤 상황이 도덕적 문제 상황임을 알고, 무엇이 옳고 그른지 명확하게 판단할 수 있어야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‘이 장난이 친구에게 상처가 될까?’를 먼저 따져 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마음을 반성하고 살펴 생각과 행동에 잘못이나 부족함이 없는지 살펴봄.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하루를 마치며 세 가지 질문 — 증자의 일일삼성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⑪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실천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⑫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⑬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용기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기르기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이기심이나 귀찮음 등을 극복하고 도덕적 행동을 실천하도록 도와줌.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떨리지만 손을 들고 “그건 잘못된 것 같아.”라고 말하기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앎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과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사고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능력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지니기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도덕적으로 행동하려면 어떤 상황이 도덕적 문제 상황임을 알고, 무엇이 옳고 그른지 명확하게 판단할 수 있어야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‘이 장난이 친구에게 상처가 될까?’를 먼저 따져 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/>
                </a:solidFill>
              </a:rPr>
              <a:t> 성찰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마음을 반성하고 살펴 생각과 행동에 잘못이나 부족함이 없는지 살펴봄.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하루를 마치며 세 가지 질문 — 증자의 일일삼성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⑪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실천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⑫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⑬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용기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기르기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이기심이나 귀찮음 등을 극복하고 도덕적 행동을 실천하도록 도와줌.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떨리지만 손을 들고 “그건 잘못된 것 같아.”라고 말하기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앎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과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사고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능력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지니기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도덕적으로 행동하려면 어떤 상황이 도덕적 문제 상황임을 알고, 무엇이 옳고 그른지 명확하게 판단할 수 있어야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‘이 장난이 친구에게 상처가 될까?’를 먼저 따져 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마음을 반성하고 살펴 생각과 행동에 잘못이나 부족함이 없는지 살펴봄.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하루를 마치며 세 가지 질문 — 증자의 일일삼성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⑪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실천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⑫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⑬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용기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기르기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이기심이나 귀찮음 등을 극복하고 도덕적 행동을 실천하도록 도와줌.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떨리지만 손을 들고 “그건 잘못된 것 같아.”라고 말하기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앎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과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사고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능력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지니기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도덕적으로 행동하려면 어떤 상황이 도덕적 문제 상황임을 알고, 무엇이 옳고 그른지 명확하게 판단할 수 있어야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‘이 장난이 친구에게 상처가 될까?’를 먼저 따져 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마음을 반성하고 살펴 생각과 행동에 잘못이나 부족함이 없는지 살펴봄.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하루를 마치며 세 가지 질문 — 증자의 일일삼성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⑪</a:t>
            </a:r>
            <a:r>
              <a:rPr sz="2400" b="1">
                <a:solidFill>
                  <a:srgbClr val="C0392B"/>
                </a:solidFill>
              </a:rPr>
              <a:t> 실천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⑫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⑬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용기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기르기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이기심이나 귀찮음 등을 극복하고 도덕적 행동을 실천하도록 도와줌.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떨리지만 손을 들고 “그건 잘못된 것 같아.”라고 말하기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앎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과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사고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능력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지니기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도덕적으로 행동하려면 어떤 상황이 도덕적 문제 상황임을 알고, 무엇이 옳고 그른지 명확하게 판단할 수 있어야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‘이 장난이 친구에게 상처가 될까?’를 먼저 따져 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마음을 반성하고 살펴 생각과 행동에 잘못이나 부족함이 없는지 살펴봄.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하루를 마치며 세 가지 질문 — 증자의 일일삼성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⑪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실천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⑫</a:t>
            </a:r>
            <a:r>
              <a:rPr sz="2400" b="1">
                <a:solidFill>
                  <a:srgbClr val="C0392B"/>
                </a:solidFill>
              </a:rPr>
              <a:t> 의지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⑬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용기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기르기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이기심이나 귀찮음 등을 극복하고 도덕적 행동을 실천하도록 도와줌.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떨리지만 손을 들고 “그건 잘못된 것 같아.”라고 말하기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앎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과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사고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능력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지니기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도덕적으로 행동하려면 어떤 상황이 도덕적 문제 상황임을 알고, 무엇이 옳고 그른지 명확하게 판단할 수 있어야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‘이 장난이 친구에게 상처가 될까?’를 먼저 따져 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마음을 반성하고 살펴 생각과 행동에 잘못이나 부족함이 없는지 살펴봄.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하루를 마치며 세 가지 질문 — 증자의 일일삼성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⑪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실천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⑫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⑬</a:t>
            </a:r>
            <a:r>
              <a:rPr sz="2400" b="1">
                <a:solidFill>
                  <a:srgbClr val="C0392B"/>
                </a:solidFill>
              </a:rPr>
              <a:t> 용기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기르기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이기심이나 귀찮음 등을 극복하고 도덕적 행동을 실천하도록 도와줌.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떨리지만 손을 들고 “그건 잘못된 것 같아.”라고 말하기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앎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과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⑧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사고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⑨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능력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지니기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도덕적으로 행동하려면 어떤 상황이 도덕적 문제 상황임을 알고, 무엇이 옳고 그른지 명확하게 판단할 수 있어야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‘이 장난이 친구에게 상처가 될까?’를 먼저 따져 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⑩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성찰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하기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마음을 반성하고 살펴 생각과 행동에 잘못이나 부족함이 없는지 살펴봄.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하루를 마치며 세 가지 질문 — 증자의 일일삼성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⑪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실천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⑫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⑬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용기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기르기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이기심이나 귀찮음 등을 극복하고 도덕적 행동을 실천하도록 도와줌.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떨리지만 손을 들고 “그건 잘못된 것 같아.”라고 말하기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40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기름 덮인 바다에 모인 123만 명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도덕적인 사람이 되려면 어떤 노력을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2007년 12월 · 충남 태안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12월 7일 · 유조선과 해상 크레인이 부딪혀 원유가 바다로 쏟아지다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그 겨울 · 전국에서 모인 사람들이 흡착포로 바위를 닦다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123만 명 · 자원봉사로 되살린 바다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2022 · 그 기록 22만여 건이 유네스코 세계기록유산 아시아·태평양 목록에 오르다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무엇이 그들을 겨울 바다로 오게 했을까?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2007년 12월 · 충남 태안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12월 7일 · 유조선과 해상 크레인이 부딪혀 원유가 바다로 쏟아지다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그 겨울 · 전국에서 모인 사람들이 흡착포로 바위를 닦다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123만 명 · 자원봉사로 되살린 바다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2022 · 그 기록 22만여 건이 유네스코 세계기록유산 아시아·태평양 목록에 오르다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무엇이 그들을 겨울 바다로 오게 했을까?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40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도덕적인 사람이 되려면 어떤 노력을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언제 어디서나 모든 사람이 추구해야 하는 도덕적인 가치를 ‘보편적 가치’라고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자기중심적인 태도를 버리고 다른 사람을 위하는 마음을 ‘이기적인 마음’이라고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도덕적 신념이란 도덕적으로 옳다고 여기는 것을 굳게 믿고 그것을 실현하려는 강한 의지를 말한다.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도덕적으로 행동하려면 어떤 상황이 도덕적 문제 상황인지 알고, 무엇이 옳거나 그른지 판단할 수 있어야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언제 어디서나 모든 사람이 추구해야 하는 도덕적인 가치를 ‘보편적 가치’라고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자기중심적인 태도를 버리고 다른 사람을 위하는 마음을 ‘이기적인 마음’이라고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도덕적 신념이란 도덕적으로 옳다고 여기는 것을 굳게 믿고 그것을 실현하려는 강한 의지를 말한다.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도덕적으로 행동하려면 어떤 상황이 도덕적 문제 상황인지 알고, 무엇이 옳거나 그른지 판단할 수 있어야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언제 어디서나 모든 사람이 추구해야 하는 도덕적인 가치를 ‘보편적 가치’라고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자기중심적인 태도를 버리고 다른 사람을 위하는 마음을 ‘이기적인 마음’이라고 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도덕적 신념이란 도덕적으로 옳다고 여기는 것을 굳게 믿고 그것을 실현하려는 강한 의지를 말한다.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도덕적으로 행동하려면 어떤 상황이 도덕적 문제 상황인지 알고, 무엇이 옳거나 그른지 판단할 수 있어야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언제 어디서나 모든 사람이 추구해야 하는 도덕적인 가치를 ‘보편적 가치’라고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자기중심적인 태도를 버리고 다른 사람을 위하는 마음을 ‘이기적인 마음’이라고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도덕적 신념이란 도덕적으로 옳다고 여기는 것을 굳게 믿고 그것을 실현하려는 강한 의지를 말한다.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도덕적으로 행동하려면 어떤 상황이 도덕적 문제 상황인지 알고, 무엇이 옳거나 그른지 판단할 수 있어야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언제 어디서나 모든 사람이 추구해야 하는 도덕적인 가치를 ‘보편적 가치’라고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자기중심적인 태도를 버리고 다른 사람을 위하는 마음을 ‘이기적인 마음’이라고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도덕적 신념이란 도덕적으로 옳다고 여기는 것을 굳게 믿고 그것을 실현하려는 강한 의지를 말한다.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도덕적으로 행동하려면 어떤 상황이 도덕적 문제 상황인지 알고, 무엇이 옳거나 그른지 판단할 수 있어야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40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나의 인격 자화상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32쪽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도덕적인 사람이 되려면 어떤 노력을 해야 할까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얼굴 대신 마음을 그려 보자. 요즘의 나는 얼마나 자주 그렇게 행동할까?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① 혼자 생각하기 — 2분 동안 나의 답을 정해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② 짝·모둠과 나누기 — 서로의 까닭을 들어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③ 한 문장으로 발표하기 — “나는 ___ 왜냐하면 ___”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8148</TotalTime>
  <Words>1331</Words>
  <Application>Microsoft Office PowerPoint</Application>
  <PresentationFormat>와이드스크린</PresentationFormat>
  <Paragraphs>212</Paragraphs>
  <Slides>19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7" baseType="lpstr">
      <vt:lpstr>굴림</vt:lpstr>
      <vt:lpstr>나눔스퀘어라운드 ExtraBold</vt:lpstr>
      <vt:lpstr>돋움</vt:lpstr>
      <vt:lpstr>맑은 고딕</vt:lpstr>
      <vt:lpstr>Arial</vt:lpstr>
      <vt:lpstr>Arial Rounded MT Bold</vt:lpstr>
      <vt:lpstr>Wingdings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163</cp:revision>
  <cp:lastPrinted>2024-06-05T04:53:22Z</cp:lastPrinted>
  <dcterms:created xsi:type="dcterms:W3CDTF">2023-10-31T05:50:03Z</dcterms:created>
  <dcterms:modified xsi:type="dcterms:W3CDTF">2025-01-14T02:06:51Z</dcterms:modified>
</cp:coreProperties>
</file>