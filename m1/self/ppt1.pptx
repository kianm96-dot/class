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1"/>
  </p:notesMasterIdLst>
  <p:handoutMasterIdLst>
    <p:handoutMasterId r:id="rId22"/>
  </p:handoutMasterIdLst>
  <p:sldIdLst>
    <p:sldId id="302" r:id="rId2"/>
    <p:sldId id="301" r:id="rId3"/>
    <p:sldId id="258" r:id="rId4"/>
    <p:sldId id="305" r:id="rId5"/>
    <p:sldId id="260" r:id="rId6"/>
    <p:sldId id="401" r:id="rId28"/>
    <p:sldId id="402" r:id="rId29"/>
    <p:sldId id="387" r:id="rId7"/>
    <p:sldId id="389" r:id="rId8"/>
    <p:sldId id="390" r:id="rId9"/>
    <p:sldId id="391" r:id="rId10"/>
    <p:sldId id="393" r:id="rId11"/>
    <p:sldId id="313" r:id="rId12"/>
    <p:sldId id="400" r:id="rId13"/>
    <p:sldId id="403" r:id="rId30"/>
    <p:sldId id="404" r:id="rId31"/>
    <p:sldId id="405" r:id="rId32"/>
    <p:sldId id="394" r:id="rId14"/>
    <p:sldId id="395" r:id="rId15"/>
    <p:sldId id="396" r:id="rId16"/>
    <p:sldId id="397" r:id="rId17"/>
    <p:sldId id="399" r:id="rId18"/>
    <p:sldId id="398" r:id="rId19"/>
    <p:sldId id="406" r:id="rId33"/>
    <p:sldId id="407" r:id="rId34"/>
    <p:sldId id="348" r:id="rId20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684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사회적 자아를 바르게 알 때 공동체 속 역할과 의무를 파악해 원만한 사회생활을 할 수 있다. 두 자아 중 어느 한쪽만을 ‘나’라고 할 수 없다 → 조화롭게 이해하기.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자아의 의미와 유형 (교과서 11~15쪽)</a:t>
            </a:r>
          </a:p>
          <a:p>
            <a:r>
              <a:t>자아: ‘나는 누구인가’에 답을 찾아 가며 확인하는 나의 모습.</a:t>
            </a:r>
          </a:p>
          <a:p>
            <a:r>
              <a:t>개인적 자아: 성격, 신체적 특징, 소망 등으로 나를 인식하는 것. 사회적 자아: 가족·학급·사회 같은 공동체의 구성원으로서 나를 이해하는 것.</a:t>
            </a:r>
          </a:p>
          <a:p>
            <a:r>
              <a:t>칠판에 적은 말을 두 묶음으로 옮겨 본다. 키·성격·꿈(개인적), 누구의 딸·반장·축구부(사회적).</a:t>
            </a:r>
          </a:p>
          <a:p>
            <a:r>
              <a:t>발문 “어느 한쪽만 보면 어떻게 될까?” → 나만 보거나, 남의 눈에만 맞추게 된다. 나를 탐구할 때는 두 자아를 균형 있게 이해해야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어떤 가치관을 지니느냐에 따라 삶의 의미와 방향이 달라지고, 올바른 가치관은 다른 사람에게도 좋은 영향을 준다.</a:t>
            </a:r>
          </a:p>
          <a:p>
            <a:r>
              <a:t>교과서 14쪽 이태석 신부와 제자 토마스 타반 아콧 이야기를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사례 · 말랄라 유사프자이</a:t>
            </a:r>
          </a:p>
          <a:p>
            <a:r>
              <a:t>2009년 11살 때 BBC 우르두어 블로그에 가명으로 탈레반 지배 아래 학교에 가지 못하는 여자아이들의 삶을 썼다. 2012년 10월 9일 하굣길 스쿨버스에서 총격을 받고 영국에서 치료받았다.</a:t>
            </a:r>
          </a:p>
          <a:p>
            <a:r>
              <a:t>2013년 7월 유엔 연설: “한 명의 어린이, 한 명의 교사, 한 권의 책, 한 자루의 펜이 세상을 바꿀 수 있습니다.” 2014년 노벨 평화상(인도의 카일라시 사티아르티와 공동).</a:t>
            </a:r>
          </a:p>
          <a:p>
            <a:r>
              <a:t>발문 “그녀가 가장 소중히 여긴 가치는?” → 교육, 평등, 용기. 후속 “가치관이 분명하면 두려움이 없어질까?” → 두려움은 있었지만 가치가 더 컸다.</a:t>
            </a:r>
          </a:p>
          <a:p>
            <a:r>
              <a:t>폭력 장면은 말로만 짧게 전하고 자세히 묘사하지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emf"/><Relationship Id="rId6" Type="http://schemas.openxmlformats.org/officeDocument/2006/relationships/image" Target="../media/image27.emf"/><Relationship Id="rId7" Type="http://schemas.openxmlformats.org/officeDocument/2006/relationships/image" Target="../media/image28.emf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" Target="slide7.xml"/><Relationship Id="rId8" Type="http://schemas.openxmlformats.org/officeDocument/2006/relationships/image" Target="../media/image39.emf"/><Relationship Id="rId9" Type="http://schemas.openxmlformats.org/officeDocument/2006/relationships/slide" Target="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" Target="slide6.xml"/><Relationship Id="rId8" Type="http://schemas.openxmlformats.org/officeDocument/2006/relationships/slide" Target="slide8.xml"/><Relationship Id="rId9" Type="http://schemas.openxmlformats.org/officeDocument/2006/relationships/image" Target="../media/image40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" Target="slide7.xml"/><Relationship Id="rId8" Type="http://schemas.openxmlformats.org/officeDocument/2006/relationships/slide" Target="slide6.xml"/><Relationship Id="rId9" Type="http://schemas.openxmlformats.org/officeDocument/2006/relationships/image" Target="../media/image41.emf"/><Relationship Id="rId10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44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7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49.png"/><Relationship Id="rId8" Type="http://schemas.openxmlformats.org/officeDocument/2006/relationships/image" Target="../media/image50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5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51.png"/><Relationship Id="rId8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나는 어떤 사람일까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자아의 의미와 유형을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29336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자신의 삶과 가치관을 성찰하여 바람직한 자아를 형성할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나는 어떤 사람일까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525" y="2283521"/>
            <a:ext cx="3643200" cy="5247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99" y="4554426"/>
            <a:ext cx="2930400" cy="68310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347" y="4554426"/>
            <a:ext cx="3247200" cy="504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음식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색깔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노래로 ‘나’를 </a:t>
            </a:r>
            <a:r>
              <a:rPr lang="ko-KR" altLang="en-US" sz="2000" b="1" dirty="0" smtClean="0"/>
              <a:t>표현한다면</a:t>
            </a:r>
            <a:r>
              <a:rPr lang="en-US" altLang="ko-KR" sz="2000" b="1" dirty="0" smtClean="0"/>
              <a:t>?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7799" y="2808221"/>
            <a:ext cx="4266491" cy="334095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2129" y="2325949"/>
            <a:ext cx="498396" cy="40058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9313" y="4074378"/>
            <a:ext cx="438485" cy="41611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4997" y="4074378"/>
            <a:ext cx="442975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1974444" y="4975101"/>
            <a:ext cx="9258283" cy="83600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r>
              <a:rPr lang="ko-KR" alt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여자친구의 </a:t>
            </a:r>
            <a:r>
              <a:rPr lang="en-US" altLang="ko-KR" dirty="0">
                <a:solidFill>
                  <a:srgbClr val="0070C0"/>
                </a:solidFill>
                <a:latin typeface="Arial Rounded MT Bold" panose="020F0704030504030204" pitchFamily="34" charset="0"/>
              </a:rPr>
              <a:t>&lt;</a:t>
            </a:r>
            <a:r>
              <a:rPr lang="ko-KR" alt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유리 구슬</a:t>
            </a:r>
            <a:r>
              <a:rPr lang="en-US" altLang="ko-KR" dirty="0">
                <a:solidFill>
                  <a:srgbClr val="0070C0"/>
                </a:solidFill>
                <a:latin typeface="Arial Rounded MT Bold" panose="020F0704030504030204" pitchFamily="34" charset="0"/>
              </a:rPr>
              <a:t>&gt;: </a:t>
            </a:r>
            <a:r>
              <a:rPr lang="ko-KR" alt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이 노래의 가사처럼 나는 쉽게 깨지지 않는 단단한 마음을 지니고 있기 때문이다</a:t>
            </a:r>
            <a:r>
              <a:rPr lang="en-US" altLang="ko-KR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dirty="0"/>
          </a:p>
        </p:txBody>
      </p: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1999805" y="4039074"/>
            <a:ext cx="9258283" cy="83600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r>
              <a:rPr lang="ko-KR" alt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파란색</a:t>
            </a:r>
            <a:r>
              <a:rPr lang="en-US" altLang="ko-KR" dirty="0">
                <a:solidFill>
                  <a:srgbClr val="0070C0"/>
                </a:solidFill>
                <a:latin typeface="Arial Rounded MT Bold" panose="020F0704030504030204" pitchFamily="34" charset="0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파란색 바다나 하늘을 보면 눈이 편안한 것처럼 나도 함께 있을 때 편안한 느낌을 주는 사람이기 때문이다</a:t>
            </a:r>
            <a:r>
              <a:rPr lang="en-US" altLang="ko-KR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음식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색깔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노래로 ‘나’를 다양하게 표현해 보고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그 까닭을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1999805" y="3045675"/>
            <a:ext cx="9258283" cy="83600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just">
              <a:lnSpc>
                <a:spcPct val="150000"/>
              </a:lnSpc>
            </a:pPr>
            <a:r>
              <a:rPr lang="ko-KR" altLang="en-US" dirty="0" err="1">
                <a:solidFill>
                  <a:srgbClr val="0070C0"/>
                </a:solidFill>
                <a:latin typeface="+mn-ea"/>
              </a:rPr>
              <a:t>민트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+mn-ea"/>
              </a:rPr>
              <a:t>초코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 아이스크림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시원한 </a:t>
            </a:r>
            <a:r>
              <a:rPr lang="ko-KR" altLang="en-US" dirty="0" err="1">
                <a:solidFill>
                  <a:srgbClr val="0070C0"/>
                </a:solidFill>
                <a:latin typeface="+mn-ea"/>
              </a:rPr>
              <a:t>민트와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+mn-ea"/>
              </a:rPr>
              <a:t>달달한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srgbClr val="0070C0"/>
                </a:solidFill>
                <a:latin typeface="+mn-ea"/>
              </a:rPr>
              <a:t>초코의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 조합처럼 나도 시원시원한 성격이지만 </a:t>
            </a:r>
            <a:r>
              <a:rPr lang="ko-KR" altLang="en-US" dirty="0" smtClean="0">
                <a:solidFill>
                  <a:srgbClr val="0070C0"/>
                </a:solidFill>
                <a:latin typeface="+mn-ea"/>
              </a:rPr>
              <a:t>다정한 </a:t>
            </a:r>
            <a:r>
              <a:rPr lang="ko-KR" altLang="en-US" dirty="0">
                <a:solidFill>
                  <a:srgbClr val="0070C0"/>
                </a:solidFill>
                <a:latin typeface="+mn-ea"/>
              </a:rPr>
              <a:t>면도 있기 때문이다</a:t>
            </a:r>
            <a:r>
              <a:rPr lang="en-US" altLang="ko-KR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020" y="3139974"/>
            <a:ext cx="757621" cy="61987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020" y="4067886"/>
            <a:ext cx="685169" cy="64910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91" y="5025033"/>
            <a:ext cx="663698" cy="63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38" grpId="0" animBg="1"/>
      <p:bldP spid="38" grpId="1" animBg="1"/>
      <p:bldP spid="28" grpId="0" animBg="1"/>
      <p:bldP spid="2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40257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자아의 의미 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내가 누구인지에 관한 답을 찾는 과정에서 확인하는 나의 </a:t>
            </a:r>
            <a:r>
              <a:rPr lang="ko-KR" altLang="en-US" sz="2400" dirty="0" smtClean="0">
                <a:latin typeface="+mn-ea"/>
              </a:rPr>
              <a:t>모습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자아의 유형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개인적 자아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자신의 성격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신체적 특징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소망 등을 바탕으로 자신을 인식하는 </a:t>
            </a:r>
            <a:r>
              <a:rPr lang="ko-KR" altLang="en-US" sz="2400" dirty="0" smtClean="0">
                <a:latin typeface="+mn-ea"/>
              </a:rPr>
              <a:t>것</a:t>
            </a:r>
            <a:endParaRPr lang="en-US" altLang="ko-KR" sz="2400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>
                <a:latin typeface="+mn-ea"/>
              </a:rPr>
              <a:t>사회적 </a:t>
            </a:r>
            <a:r>
              <a:rPr lang="ko-KR" altLang="en-US" sz="2400" b="1" dirty="0" smtClean="0">
                <a:latin typeface="+mn-ea"/>
              </a:rPr>
              <a:t>자아</a:t>
            </a:r>
            <a:r>
              <a:rPr lang="en-US" altLang="ko-KR" sz="2400" b="1" dirty="0" smtClean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2400" dirty="0" smtClean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자신이 속한 사회와 공동체의 구성원으로서 자신을 이해하는 것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 알아 가기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1</a:t>
            </a:r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자신의 모습을 돌아보며 다음 물음에 답해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17" name="그림 1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2092267"/>
            <a:ext cx="487174" cy="4871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648155" y="2092267"/>
            <a:ext cx="1087577" cy="495431"/>
            <a:chOff x="10075659" y="2003022"/>
            <a:chExt cx="1156006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32" name="타원 31"/>
          <p:cNvSpPr/>
          <p:nvPr/>
        </p:nvSpPr>
        <p:spPr>
          <a:xfrm>
            <a:off x="5792732" y="6438900"/>
            <a:ext cx="219075" cy="2190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7" action="ppaction://hlinksldjump"/>
          </p:cNvPr>
          <p:cNvSpPr/>
          <p:nvPr/>
        </p:nvSpPr>
        <p:spPr>
          <a:xfrm>
            <a:off x="6216594" y="6438900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3626" y="2578927"/>
            <a:ext cx="9556362" cy="3784641"/>
          </a:xfrm>
          <a:prstGeom prst="rect">
            <a:avLst/>
          </a:prstGeom>
        </p:spPr>
      </p:pic>
      <p:sp>
        <p:nvSpPr>
          <p:cNvPr id="35" name="타원 34">
            <a:hlinkClick r:id="rId9" action="ppaction://hlinksldjump"/>
          </p:cNvPr>
          <p:cNvSpPr/>
          <p:nvPr/>
        </p:nvSpPr>
        <p:spPr>
          <a:xfrm>
            <a:off x="6640456" y="6413050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1737361" y="3288376"/>
            <a:ext cx="4067754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대체로 긍정적인 편이지만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가끔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고민거리가 생기면 걱정이 많아지기도 한다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 rot="166828">
            <a:off x="6490754" y="3445248"/>
            <a:ext cx="4067754" cy="223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섬세하고 눈치가 빠른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편이라 친구들에게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필요한 것을 잘 알아차리고 적절한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도움을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줄 수 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62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1</a:t>
            </a:r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자신의 모습을 돌아보며 다음 물음에 답해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17" name="그림 1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2092267"/>
            <a:ext cx="487174" cy="4871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648155" y="2092267"/>
            <a:ext cx="1087577" cy="495431"/>
            <a:chOff x="10075659" y="2003022"/>
            <a:chExt cx="1156006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32" name="타원 31"/>
          <p:cNvSpPr/>
          <p:nvPr/>
        </p:nvSpPr>
        <p:spPr>
          <a:xfrm>
            <a:off x="6234426" y="6413048"/>
            <a:ext cx="219075" cy="2190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7" action="ppaction://hlinksldjump"/>
          </p:cNvPr>
          <p:cNvSpPr/>
          <p:nvPr/>
        </p:nvSpPr>
        <p:spPr>
          <a:xfrm>
            <a:off x="5828397" y="6413049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hlinkClick r:id="rId8" action="ppaction://hlinksldjump"/>
          </p:cNvPr>
          <p:cNvSpPr/>
          <p:nvPr/>
        </p:nvSpPr>
        <p:spPr>
          <a:xfrm>
            <a:off x="6640455" y="6413047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352" y="2622258"/>
            <a:ext cx="9109150" cy="36130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2093" y="3440820"/>
            <a:ext cx="36770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친구들과 함께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노래방에 </a:t>
            </a:r>
            <a:r>
              <a:rPr lang="ko-KR" altLang="en-US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가서 좋아하는 노래를 실컷 부를 때가 가장 </a:t>
            </a: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즐겁다</a:t>
            </a:r>
            <a:r>
              <a:rPr lang="en-US" altLang="ko-KR" sz="20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69770" y="3228430"/>
            <a:ext cx="364073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요즘은 내가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좋아하는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가수를 가장 소중하게 생각한다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내가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속상할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때나 힘들 때 그 가수의 노래를 들으면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위로가 되기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때문이다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742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4" grpId="0"/>
      <p:bldP spid="2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1</a:t>
            </a:r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자신의 모습을 돌아보며 다음 물음에 답해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17" name="그림 1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2092267"/>
            <a:ext cx="487174" cy="4871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648155" y="2092267"/>
            <a:ext cx="1087577" cy="495431"/>
            <a:chOff x="10075659" y="2003022"/>
            <a:chExt cx="1156006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32" name="타원 31"/>
          <p:cNvSpPr/>
          <p:nvPr/>
        </p:nvSpPr>
        <p:spPr>
          <a:xfrm>
            <a:off x="6639381" y="6438899"/>
            <a:ext cx="219075" cy="2190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hlinkClick r:id="rId7" action="ppaction://hlinksldjump"/>
          </p:cNvPr>
          <p:cNvSpPr/>
          <p:nvPr/>
        </p:nvSpPr>
        <p:spPr>
          <a:xfrm>
            <a:off x="6216594" y="6438900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hlinkClick r:id="rId8" action="ppaction://hlinksldjump"/>
          </p:cNvPr>
          <p:cNvSpPr/>
          <p:nvPr/>
        </p:nvSpPr>
        <p:spPr>
          <a:xfrm>
            <a:off x="5792732" y="6438899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655" y="2622259"/>
            <a:ext cx="9200137" cy="36398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51443" y="3356527"/>
            <a:ext cx="392772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나는 방송국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프로듀서가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되고 싶다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내가 좋아하는 가수들을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위한 음악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프로그램을 만들고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그들의 무대를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준비하고 촬영하는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일을 한다면 정말 뿌듯할 것 같다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56" y="2583884"/>
            <a:ext cx="4687694" cy="366285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95761" y="3190953"/>
            <a:ext cx="42178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우리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가족은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집안일을 분담하였는데 나는 </a:t>
            </a:r>
            <a:r>
              <a:rPr lang="ko-KR" altLang="en-US" sz="2000" dirty="0" err="1">
                <a:solidFill>
                  <a:srgbClr val="0070C0"/>
                </a:solidFill>
                <a:latin typeface="+mn-ea"/>
              </a:rPr>
              <a:t>그중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 빨래를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맡아서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하고 있다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학교에서는 학급 회장으로서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수업 시간에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인사하는 일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종례 시간에 가정 </a:t>
            </a:r>
            <a:r>
              <a:rPr lang="ko-KR" altLang="en-US" sz="2000" dirty="0" smtClean="0">
                <a:solidFill>
                  <a:srgbClr val="0070C0"/>
                </a:solidFill>
                <a:latin typeface="+mn-ea"/>
              </a:rPr>
              <a:t>통신문을 나누어 </a:t>
            </a:r>
            <a:r>
              <a:rPr lang="ko-KR" altLang="en-US" sz="2000" dirty="0">
                <a:solidFill>
                  <a:srgbClr val="0070C0"/>
                </a:solidFill>
                <a:latin typeface="+mn-ea"/>
              </a:rPr>
              <a:t>주는 일 등 다양한 일을 맡아서 하고 있다</a:t>
            </a:r>
            <a:r>
              <a:rPr lang="en-US" altLang="ko-KR" sz="20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0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682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1" grpId="0"/>
      <p:bldP spid="2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5258" y="2065033"/>
            <a:ext cx="8106324" cy="367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2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위 그림 속 두 사람의 개인적 자아와 사회적 자아를 찾아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577" y="2558770"/>
            <a:ext cx="10788892" cy="33128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802434" y="3460295"/>
            <a:ext cx="3794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활발하고 </a:t>
            </a:r>
            <a:r>
              <a:rPr lang="ko-KR" altLang="en-US" sz="16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외향적인 성격이다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16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99128" y="3321795"/>
            <a:ext cx="3927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3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학년 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1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반 학생이다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춤 동아리 회장이며</a:t>
            </a:r>
            <a:r>
              <a:rPr lang="en-US" altLang="ko-KR" sz="16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16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연습실을 관리하는 역할을 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맡고 있다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16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98643" y="4542651"/>
            <a:ext cx="40733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</a:t>
            </a:r>
            <a:r>
              <a:rPr lang="ko-KR" altLang="en-US" sz="16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어릴 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때부터 </a:t>
            </a:r>
            <a:r>
              <a:rPr lang="ko-KR" altLang="en-US" sz="16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춤추는 것을 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좋아하였다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부끄러움이 많은 </a:t>
            </a:r>
            <a:r>
              <a:rPr lang="ko-KR" altLang="en-US" sz="16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성격이다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학교 축제 때 </a:t>
            </a:r>
            <a:r>
              <a:rPr lang="ko-KR" altLang="en-US" sz="16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멋진 공연을 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하고 </a:t>
            </a:r>
            <a:r>
              <a:rPr lang="ko-KR" altLang="en-US" sz="16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싶어한다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16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99128" y="4718161"/>
            <a:ext cx="4073339" cy="783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1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학년 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6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반 학생이다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</a:t>
            </a:r>
            <a:r>
              <a:rPr lang="ko-KR" altLang="en-US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춤 동아리 신입 </a:t>
            </a:r>
            <a:r>
              <a:rPr lang="ko-KR" altLang="en-US" sz="16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구성원이다</a:t>
            </a:r>
            <a:r>
              <a:rPr lang="en-US" altLang="ko-K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16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80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가치관의 의미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Arial Rounded MT Bold" panose="020F0704030504030204" pitchFamily="34" charset="0"/>
              </a:rPr>
              <a:t>자신이 소중히 여기는 가치를 바탕으로 자신의 삶과 세상을 바라보는 태도나 </a:t>
            </a:r>
            <a:r>
              <a:rPr lang="ko-KR" altLang="en-US" sz="2400" dirty="0" smtClean="0">
                <a:latin typeface="Arial Rounded MT Bold" panose="020F0704030504030204" pitchFamily="34" charset="0"/>
              </a:rPr>
              <a:t>관점</a:t>
            </a:r>
            <a:endParaRPr lang="en-US" altLang="ko-KR" sz="2400" dirty="0" smtClean="0">
              <a:latin typeface="Arial Rounded MT Bold" panose="020F07040305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latin typeface="Arial Rounded MT Bold" panose="020F07040305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나의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삶과 가치관을 성찰하는 것의 중요성</a:t>
            </a:r>
            <a:endParaRPr lang="ko-KR" altLang="en-US" sz="25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Arial Rounded MT Bold" panose="020F0704030504030204" pitchFamily="34" charset="0"/>
              </a:rPr>
              <a:t>어떤 가치관을 지니느냐에 따라 삶의 의미와 방향은 크게 달라짐</a:t>
            </a:r>
            <a:r>
              <a:rPr lang="en-US" altLang="ko-KR" sz="2400" dirty="0">
                <a:latin typeface="Arial Rounded MT Bold" panose="020F0704030504030204" pitchFamily="34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Arial Rounded MT Bold" panose="020F0704030504030204" pitchFamily="34" charset="0"/>
              </a:rPr>
              <a:t>도덕적으로 올바른 가치관을 지니면 타인에게도 좋은 영향을 줄 수 있음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>
                <a:latin typeface="Arial Rounded MT Bold" panose="020F0704030504030204" pitchFamily="34" charset="0"/>
              </a:rPr>
              <a:t> </a:t>
            </a:r>
            <a:r>
              <a:rPr lang="ko-KR" altLang="en-US" sz="2400" dirty="0">
                <a:latin typeface="Arial Rounded MT Bold" panose="020F0704030504030204" pitchFamily="34" charset="0"/>
              </a:rPr>
              <a:t>자신의 삶과 가치관의 성찰을 통해 도덕적으로 올바른 삶을 살 수 있음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  <a:endParaRPr lang="en-US" altLang="ko-KR" sz="2400" dirty="0">
              <a:latin typeface="Arial Rounded MT Bold" panose="020F0704030504030204" pitchFamily="34" charset="0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삶과 가치관 성찰하기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5541204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가치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사람들이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소중하게 생각하여 얻고자 하는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것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2" name="그림 21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3" name="TextBox 2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4" name="타원 23"/>
          <p:cNvSpPr/>
          <p:nvPr/>
        </p:nvSpPr>
        <p:spPr>
          <a:xfrm>
            <a:off x="3640586" y="2136143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나의 삶과 가치관을 성찰하는 것의 중요성</a:t>
            </a:r>
            <a:endParaRPr lang="ko-KR" altLang="en-US" sz="25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Arial Rounded MT Bold" panose="020F0704030504030204" pitchFamily="34" charset="0"/>
              </a:rPr>
              <a:t>어떤 가치관을 지니느냐에 따라 삶의 의미와 방향은 크게 달라짐</a:t>
            </a:r>
            <a:r>
              <a:rPr lang="en-US" altLang="ko-KR" sz="2400" dirty="0">
                <a:latin typeface="Arial Rounded MT Bold" panose="020F0704030504030204" pitchFamily="34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Arial Rounded MT Bold" panose="020F0704030504030204" pitchFamily="34" charset="0"/>
              </a:rPr>
              <a:t>도덕적으로 올바른 가치관을 지니면 타인에게도 좋은 영향을 줄 수 있음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dirty="0">
                <a:latin typeface="Arial Rounded MT Bold" panose="020F0704030504030204" pitchFamily="34" charset="0"/>
              </a:rPr>
              <a:t> </a:t>
            </a:r>
            <a:r>
              <a:rPr lang="ko-KR" altLang="en-US" sz="2400" dirty="0">
                <a:latin typeface="Arial Rounded MT Bold" panose="020F0704030504030204" pitchFamily="34" charset="0"/>
              </a:rPr>
              <a:t>자신의 삶과 가치관의 성찰을 통해 도덕적으로 올바른 삶을 살 수 있음</a:t>
            </a:r>
            <a:r>
              <a:rPr lang="en-US" altLang="ko-KR" sz="2400" dirty="0" smtClean="0">
                <a:latin typeface="Arial Rounded MT Bold" panose="020F0704030504030204" pitchFamily="34" charset="0"/>
              </a:rPr>
              <a:t>.</a:t>
            </a:r>
            <a:endParaRPr lang="en-US" altLang="ko-KR" sz="2400" dirty="0">
              <a:latin typeface="Arial Rounded MT Bold" panose="020F0704030504030204" pitchFamily="34" charset="0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삶과 가치관 성찰하기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18" name="타원 17"/>
          <p:cNvSpPr/>
          <p:nvPr/>
        </p:nvSpPr>
        <p:spPr>
          <a:xfrm>
            <a:off x="1667529" y="2151535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22056" y="4218798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가치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사람들이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소중하게 생각하여 얻고자 하는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것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2" name="그림 21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3" name="TextBox 2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4" name="타원 23"/>
          <p:cNvSpPr/>
          <p:nvPr/>
        </p:nvSpPr>
        <p:spPr>
          <a:xfrm>
            <a:off x="2710555" y="3278254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618148" y="4590028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가치관 </a:t>
            </a:r>
            <a:r>
              <a:rPr lang="ko-KR" altLang="en-US" sz="1600" dirty="0" smtClean="0">
                <a:solidFill>
                  <a:prstClr val="black"/>
                </a:solidFill>
                <a:latin typeface="+mn-ea"/>
              </a:rPr>
              <a:t>자신이 소중히 여기는 가치를 바탕으로 자신의 삶과 세상을 바라보는 태도나 관점</a:t>
            </a:r>
            <a:endParaRPr lang="ko-KR" altLang="en-US" sz="16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6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7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8" name="그림 27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30" name="그림 29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22055" y="2016924"/>
            <a:ext cx="52992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물질적 가치와 정신적 가치</a:t>
            </a:r>
            <a:endParaRPr lang="en-US" altLang="ko-KR" sz="20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21100" y="2011422"/>
            <a:ext cx="50377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도구적 가치와 본래적 가치</a:t>
            </a:r>
            <a:endParaRPr lang="en-US" altLang="ko-KR" sz="2000" b="1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aphicFrame>
        <p:nvGraphicFramePr>
          <p:cNvPr id="34" name="표 33"/>
          <p:cNvGraphicFramePr>
            <a:graphicFrameLocks noGrp="1"/>
          </p:cNvGraphicFramePr>
          <p:nvPr/>
        </p:nvGraphicFramePr>
        <p:xfrm>
          <a:off x="990731" y="2586996"/>
          <a:ext cx="4777086" cy="3591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6620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3580466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7955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물질적 </a:t>
                      </a:r>
                      <a:endParaRPr lang="en-US" altLang="ko-KR" dirty="0" smtClean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가치</a:t>
                      </a:r>
                      <a:endParaRPr lang="en-US" altLang="ko-KR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살아가는 데 필요한 옷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음식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주택 등과 같은 물질과 이를 통해 얻는 만족감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79555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정신적 </a:t>
                      </a:r>
                      <a:endParaRPr lang="en-US" altLang="ko-KR" dirty="0" smtClean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가치</a:t>
                      </a:r>
                      <a:endParaRPr lang="ko-KR" altLang="en-US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지혜로움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선함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아름다움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거룩함 등과 같이 정신적 활동을 통해 얻는 가치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graphicFrame>
        <p:nvGraphicFramePr>
          <p:cNvPr id="35" name="표 34"/>
          <p:cNvGraphicFramePr>
            <a:graphicFrameLocks noGrp="1"/>
          </p:cNvGraphicFramePr>
          <p:nvPr/>
        </p:nvGraphicFramePr>
        <p:xfrm>
          <a:off x="6530885" y="2570922"/>
          <a:ext cx="4757264" cy="35947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656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3565608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17973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도구적 </a:t>
                      </a:r>
                      <a:endParaRPr lang="en-US" altLang="ko-KR" dirty="0" smtClean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가치</a:t>
                      </a:r>
                      <a:endParaRPr lang="en-US" altLang="ko-KR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음악을 듣기 위해 산 전자 제품처럼 어떤 목적을 이루기 위한 수단이 되는 가치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7973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본래적 </a:t>
                      </a:r>
                      <a:endParaRPr lang="en-US" altLang="ko-KR" dirty="0" smtClean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dirty="0" smtClean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가치</a:t>
                      </a:r>
                      <a:endParaRPr lang="ko-KR" altLang="en-US" dirty="0">
                        <a:latin typeface="돋움" panose="020B0600000101010101" pitchFamily="50" charset="-127"/>
                        <a:ea typeface="돋움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ct val="150000"/>
                        </a:lnSpc>
                      </a:pP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다른 무엇을 위한 수단이 아닌</a:t>
                      </a:r>
                      <a:r>
                        <a:rPr lang="en-US" altLang="ko-KR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돋움" panose="020B0600000101010101" pitchFamily="50" charset="-127"/>
                          <a:ea typeface="돋움" panose="020B0600000101010101" pitchFamily="50" charset="-127"/>
                        </a:rPr>
                        <a:t>생명과 같이 그 자체로 목적이 되는 가치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657698" y="1133260"/>
            <a:ext cx="787403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 smtClean="0">
                <a:solidFill>
                  <a:schemeClr val="accent6">
                    <a:lumMod val="50000"/>
                  </a:schemeClr>
                </a:solidFill>
                <a:latin typeface="+mn-ea"/>
              </a:rPr>
              <a:t>가치의 유형</a:t>
            </a:r>
            <a:endParaRPr lang="en-US" altLang="ko-KR" sz="22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4878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04" y="4388164"/>
            <a:ext cx="4679576" cy="2224528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0018" y="1596520"/>
            <a:ext cx="86018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이태석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신부는 의과 대학을 졸업한 뒤 의사가 되었고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오랜 전쟁에 따른 극심한 가난과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질병으로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고통받는 사람들을 돕는 것이 가치 있는 일이라고 여겼다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그래서 그는 남수단 공화국의 작은 도시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톤즈에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병원을 지어 사람들을 치료하고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학교를 세워 어린아이들을 교육하며 자신의 가치관을 실현하였다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또한 사람들과 함께 밴드를 결성하여 어려운 상황에서도 그들이 웃음을 잃지 않도록 도왔다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</a:t>
            </a:r>
            <a:r>
              <a:rPr lang="ko-KR" altLang="en-US" sz="2000" b="1" dirty="0" smtClean="0">
                <a:latin typeface="+mj-ea"/>
                <a:ea typeface="+mj-ea"/>
              </a:rPr>
              <a:t>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15" name="타원 14"/>
          <p:cNvSpPr/>
          <p:nvPr/>
        </p:nvSpPr>
        <p:spPr>
          <a:xfrm>
            <a:off x="6070526" y="6413048"/>
            <a:ext cx="219075" cy="2190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hlinkClick r:id="" action="ppaction://hlinkshowjump?jump=nextslide"/>
          </p:cNvPr>
          <p:cNvSpPr/>
          <p:nvPr/>
        </p:nvSpPr>
        <p:spPr>
          <a:xfrm>
            <a:off x="6476556" y="6413050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28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0018" y="1596520"/>
            <a:ext cx="86018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이태석 신부가 보여 준 봉사와 나눔의 가치관은 고스란히 제자들에게로 이어졌다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그의 제자였던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토마스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타반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아콧은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환자들을 향한 이태석 신부의 따뜻한 마음과 희생정신에 깊은 감명을 받았고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자신도 전쟁과 가난으로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고통받는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사람들을 도우며 살겠다는 계획을 세우고 의과 대학에 진학하였다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강성옥 감독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영화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울지마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톤즈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2〉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</a:t>
            </a:r>
            <a:r>
              <a:rPr lang="ko-KR" altLang="en-US" sz="2000" b="1" dirty="0" smtClean="0">
                <a:latin typeface="+mj-ea"/>
                <a:ea typeface="+mj-ea"/>
              </a:rPr>
              <a:t>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15" name="타원 14"/>
          <p:cNvSpPr/>
          <p:nvPr/>
        </p:nvSpPr>
        <p:spPr>
          <a:xfrm>
            <a:off x="6436336" y="6405513"/>
            <a:ext cx="219075" cy="2190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hlinkClick r:id="" action="ppaction://hlinkshowjump?jump=previousslide"/>
          </p:cNvPr>
          <p:cNvSpPr/>
          <p:nvPr/>
        </p:nvSpPr>
        <p:spPr>
          <a:xfrm>
            <a:off x="6053861" y="6393617"/>
            <a:ext cx="219075" cy="21907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114799"/>
            <a:ext cx="4982057" cy="273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4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1. </a:t>
            </a:r>
            <a:r>
              <a:rPr lang="ko-KR" altLang="en-US" sz="2000" b="1" dirty="0"/>
              <a:t>다음 단어를 활용하여 내가 추구하는 도덕적 가치관을 완성한 뒤 </a:t>
            </a:r>
            <a:r>
              <a:rPr lang="ko-KR" altLang="en-US" sz="2000" b="1" dirty="0" err="1"/>
              <a:t>말풍선에</a:t>
            </a:r>
            <a:r>
              <a:rPr lang="ko-KR" altLang="en-US" sz="2000" b="1" dirty="0"/>
              <a:t>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17" name="그림 1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6520" y="2283415"/>
            <a:ext cx="487174" cy="4871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779044" y="2283415"/>
            <a:ext cx="1087577" cy="495431"/>
            <a:chOff x="10075659" y="2003022"/>
            <a:chExt cx="1156006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576" y="3005619"/>
            <a:ext cx="10346312" cy="3645271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7831" y="2504865"/>
            <a:ext cx="6882840" cy="179424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914565" y="4442383"/>
            <a:ext cx="42558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‘</a:t>
            </a:r>
            <a:r>
              <a:rPr lang="ko-KR" altLang="en-US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정직하게 </a:t>
            </a:r>
            <a:r>
              <a:rPr lang="ko-KR" alt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행동해야 한다</a:t>
            </a:r>
            <a:r>
              <a:rPr lang="en-US" altLang="ko-KR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.’</a:t>
            </a:r>
            <a:endParaRPr lang="en-US" altLang="ko-KR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09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34" grpId="0"/>
      <p:bldP spid="3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2. 1</a:t>
            </a:r>
            <a:r>
              <a:rPr lang="ko-KR" altLang="en-US" sz="2000" b="1" dirty="0"/>
              <a:t>에 쓴 나의 가치관에 비추어 최근 나의 행동을 성찰해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4" name="그림 2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09119"/>
            <a:ext cx="10293350" cy="270955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2004" y="2817376"/>
            <a:ext cx="978414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어제 나는 친구와 빨리 놀고 싶은 마음에 문제 풀이 숙제를 답안지를 보고 베껴서 제출하였다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내가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답안지를 보고 베낀 것을 아무도 모르지만 스스로 부끄러운 마음이 들었다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5" name="그림 34" descr="그린, 다채로움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9282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2. 1</a:t>
            </a:r>
            <a:r>
              <a:rPr lang="ko-KR" altLang="en-US" sz="2000" b="1" dirty="0"/>
              <a:t>에 쓴 나의 가치관에 비추어 최근 나의 행동을 성찰해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4" name="그림 2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09119"/>
            <a:ext cx="10293350" cy="270955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2004" y="2817376"/>
            <a:ext cx="978414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어제 나는 친구와 빨리 놀고 싶은 마음에 문제 풀이 숙제를 답안지를 보고 베껴서 제출하였다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내가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답안지를 보고 베낀 것을 아무도 모르지만 스스로 부끄러운 마음이 들었다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37" name="Google Shape;229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38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2867" y="402316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9" name="그림 38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58088" y="549564"/>
            <a:ext cx="473351" cy="473351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798832" y="1062428"/>
            <a:ext cx="1282388" cy="495431"/>
            <a:chOff x="10075656" y="2003022"/>
            <a:chExt cx="1178665" cy="495431"/>
          </a:xfrm>
        </p:grpSpPr>
        <p:pic>
          <p:nvPicPr>
            <p:cNvPr id="41" name="그림 4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6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88503" y="1643514"/>
            <a:ext cx="10913340" cy="482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잘한 점은 스스로 격려하고</a:t>
            </a:r>
            <a:r>
              <a:rPr lang="en-US" altLang="ko-KR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, </a:t>
            </a: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잘못한 점은 반성해 보아요</a:t>
            </a:r>
            <a:r>
              <a:rPr lang="en-US" altLang="ko-KR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734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/>
              <a:t>3. </a:t>
            </a:r>
            <a:r>
              <a:rPr lang="ko-KR" altLang="en-US" sz="2000" b="1" dirty="0"/>
              <a:t>나의 가치관을 실천하기 위해 앞으로 어떻게 행동할지 나의 다짐을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17" name="그림 1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96520" y="2283415"/>
            <a:ext cx="487174" cy="4871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779044" y="2283415"/>
            <a:ext cx="1087577" cy="495431"/>
            <a:chOff x="10075659" y="2003022"/>
            <a:chExt cx="1156006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1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34191" y="2936303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2379" y="2957172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다른 사람에게 보이기 위해서가 아니라 스스로에게도 떳떳할 수 있도록 언제나 정직하게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말하고 행동해야겠다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400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나는 어떻게 살아야 할까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 알아 가기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자아 </a:t>
            </a:r>
            <a:r>
              <a:rPr sz="2400" b="1">
                <a:solidFill>
                  <a:srgbClr val="843C0C"/>
                </a:solidFill>
              </a:rPr>
              <a:t>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내가 누구인지에 관한 답을 찾는 과정에서 확인하는 나의 모습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누구지?” 하고 일기장에 적어 보는 순간, 이미 자아를 찾고 있는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자아의 유형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개인적 </a:t>
            </a:r>
            <a:r>
              <a:rPr sz="2400" b="1">
                <a:solidFill>
                  <a:srgbClr val="843C0C"/>
                </a:solidFill>
              </a:rPr>
              <a:t> 자아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자신의 성격, 신체적 특징, 소망 등을 바탕으로 자신을 인식하는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키가 크고 웃음이 많고, 수의사가 되고 싶어.”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②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사회적 </a:t>
            </a:r>
            <a:r>
              <a:rPr sz="2400" b="1">
                <a:solidFill>
                  <a:srgbClr val="843C0C"/>
                </a:solidFill>
              </a:rPr>
              <a:t> 자아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자신이 속한 사회와 공동체의 구성원으로서 자신을 이해하는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1학년 3반 학생이고, 축구부 주장이고, 동생의 형이야.”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자아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누구인지에 관한 답을 찾는 과정에서 확인하는 나의 모습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누구지?” 하고 일기장에 적어 보는 순간, 이미 자아를 찾고 있는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자아의 유형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성격, 신체적 특징, 소망 등을 바탕으로 자신을 인식하는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키가 크고 웃음이 많고, 수의사가 되고 싶어.”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사회와 공동체의 구성원으로서 자신을 이해하는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1학년 3반 학생이고, 축구부 주장이고, 동생의 형이야.”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누구인지에 관한 답을 찾는 과정에서 확인하는 나의 모습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“나는 누구지?” 하고 일기장에 적어 보는 순간, 이미 자아를 찾고 있는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자아의 유형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성격, 신체적 특징, 소망 등을 바탕으로 자신을 인식하는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키가 크고 웃음이 많고, 수의사가 되고 싶어.”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사회와 공동체의 구성원으로서 자신을 이해하는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1학년 3반 학생이고, 축구부 주장이고, 동생의 형이야.”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누구인지에 관한 답을 찾는 과정에서 확인하는 나의 모습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누구지?” 하고 일기장에 적어 보는 순간, 이미 자아를 찾고 있는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자아의 유형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개인적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성격, 신체적 특징, 소망 등을 바탕으로 자신을 인식하는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키가 크고 웃음이 많고, 수의사가 되고 싶어.”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사회와 공동체의 구성원으로서 자신을 이해하는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1학년 3반 학생이고, 축구부 주장이고, 동생의 형이야.”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누구인지에 관한 답을 찾는 과정에서 확인하는 나의 모습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누구지?” 하고 일기장에 적어 보는 순간, 이미 자아를 찾고 있는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자아의 유형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성격, 신체적 특징, 소망 등을 바탕으로 자신을 인식하는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“나는 키가 크고 웃음이 많고, 수의사가 되고 싶어.”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사회와 공동체의 구성원으로서 자신을 이해하는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1학년 3반 학생이고, 축구부 주장이고, 동생의 형이야.”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누구인지에 관한 답을 찾는 과정에서 확인하는 나의 모습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누구지?” 하고 일기장에 적어 보는 순간, 이미 자아를 찾고 있는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자아의 유형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성격, 신체적 특징, 소망 등을 바탕으로 자신을 인식하는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키가 크고 웃음이 많고, 수의사가 되고 싶어.”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사회적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사회와 공동체의 구성원으로서 자신을 이해하는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1학년 3반 학생이고, 축구부 주장이고, 동생의 형이야.”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누구인지에 관한 답을 찾는 과정에서 확인하는 나의 모습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누구지?” 하고 일기장에 적어 보는 순간, 이미 자아를 찾고 있는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자아의 유형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개인적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성격, 신체적 특징, 소망 등을 바탕으로 자신을 인식하는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“나는 키가 크고 웃음이 많고, 수의사가 되고 싶어.”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②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사회적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자아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사회와 공동체의 구성원으로서 자신을 이해하는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“나는 1학년 3반 학생이고, 축구부 주장이고, 동생의 형이야.”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나를 보는 두 가지 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개인적 자아 · 성격 · 몸 · 소망으로 본 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사회적 자아 · 공동체의 한 사람으로서 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삶과 가치관 성찰하기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어떤 가치관을 지니는지 성찰함에 따라 삶의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의미 </a:t>
            </a:r>
            <a:r>
              <a:rPr sz="2400" b="0">
                <a:solidFill>
                  <a:srgbClr val="262626"/>
                </a:solidFill>
              </a:rPr>
              <a:t>와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방향 </a:t>
            </a:r>
            <a:r>
              <a:rPr sz="2400" b="0">
                <a:solidFill>
                  <a:srgbClr val="262626"/>
                </a:solidFill>
              </a:rPr>
              <a:t>은 크게 달라짐.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이태석 신부의 봉사하는 삶 → 제자 토마스가 의사의 길을 걷다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*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가치관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자신이 소중히 여기는 가치를 바탕으로 자신의 삶과 세상을 바라보는 태도나 관점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수행 평가도 ‘점수’를 중시하면 빨리, ‘정직’을 중시하면 내 힘으로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도덕적으로 올바른 가치관을 지니면 타인에게도 좋은 영향을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자신의 삶과 가치관의 성찰을 통해 도덕적으로 올바른 삶을 살 수 있음.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어떤 가치관을 지니는지 성찰함에 따라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크게 달라짐.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이태석 신부의 봉사하는 삶 → 제자 토마스가 의사의 길을 걷다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*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소중히 여기는 가치를 바탕으로 자신의 삶과 세상을 바라보는 태도나 관점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수행 평가도 ‘점수’를 중시하면 빨리, ‘정직’을 중시하면 내 힘으로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도덕적으로 올바른 가치관을 지니면 타인에게도 좋은 영향을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자신의 삶과 가치관의 성찰을 통해 도덕적으로 올바른 삶을 살 수 있음.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어떤 가치관을 지니는지 성찰함에 따라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크게 달라짐.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이태석 신부의 봉사하는 삶 → 제자 토마스가 의사의 길을 걷다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*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소중히 여기는 가치를 바탕으로 자신의 삶과 세상을 바라보는 태도나 관점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수행 평가도 ‘점수’를 중시하면 빨리, ‘정직’을 중시하면 내 힘으로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도덕적으로 올바른 가치관을 지니면 타인에게도 좋은 영향을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자신의 삶과 가치관의 성찰을 통해 도덕적으로 올바른 삶을 살 수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어떤 가치관을 지니는지 성찰함에 따라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크게 달라짐.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이태석 신부의 봉사하는 삶 → 제자 토마스가 의사의 길을 걷다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*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소중히 여기는 가치를 바탕으로 자신의 삶과 세상을 바라보는 태도나 관점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수행 평가도 ‘점수’를 중시하면 빨리, ‘정직’을 중시하면 내 힘으로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도덕적으로 올바른 가치관을 지니면 타인에게도 좋은 영향을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자신의 삶과 가치관의 성찰을 통해 도덕적으로 올바른 삶을 살 수 있음.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어떤 가치관을 지니는지 성찰함에 따라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크게 달라짐.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이태석 신부의 봉사하는 삶 → 제자 토마스가 의사의 길을 걷다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*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가치관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소중히 여기는 가치를 바탕으로 자신의 삶과 세상을 바라보는 태도나 관점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같은 수행 평가도 ‘점수’를 중시하면 빨리, ‘정직’을 중시하면 내 힘으로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도덕적으로 올바른 가치관을 지니면 타인에게도 좋은 영향을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자신의 삶과 가치관의 성찰을 통해 도덕적으로 올바른 삶을 살 수 있음.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어떤 가치관을 지니는지 성찰함에 따라 삶의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방향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은 크게 달라짐.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이태석 신부의 봉사하는 삶 → 제자 토마스가 의사의 길을 걷다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*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가치관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소중히 여기는 가치를 바탕으로 자신의 삶과 세상을 바라보는 태도나 관점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같은 수행 평가도 ‘점수’를 중시하면 빨리, ‘정직’을 중시하면 내 힘으로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도덕적으로 올바른 가치관을 지니면 타인에게도 좋은 영향을 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자신의 삶과 가치관의 성찰을 통해 도덕적으로 올바른 삶을 살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삶과 가치관 성찰하기 (이어서)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⇨ 나에 관해 탐구할 때 고려할 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개인적 자아와 사회적 자아를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균형 </a:t>
            </a:r>
            <a:r>
              <a:rPr sz="2400" b="0">
                <a:solidFill>
                  <a:srgbClr val="262626"/>
                </a:solidFill>
              </a:rPr>
              <a:t> 있게 이해해야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남의 기대(반장 역할)만 맞추다 내가 좋아하는 그림을 놓치지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자신의 삶과 가치관을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도덕적인 </a:t>
            </a:r>
            <a:r>
              <a:rPr sz="2400" b="0">
                <a:solidFill>
                  <a:srgbClr val="262626"/>
                </a:solidFill>
              </a:rPr>
              <a:t> 측면에서 성찰해야 함.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나에 관해 탐구할 때 고려할 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개인적 자아와 사회적 자아를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균형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있게 이해해야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남의 기대(반장 역할)만 맞추다 내가 좋아하는 그림을 놓치지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삶과 가치관을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측면에서 성찰해야 함.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나에 관해 탐구할 때 고려할 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개인적 자아와 사회적 자아를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균형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있게 이해해야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남의 기대(반장 역할)만 맞추다 내가 좋아하는 그림을 놓치지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삶과 가치관을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측면에서 성찰해야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나에 관해 탐구할 때 고려할 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개인적 자아와 사회적 자아를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균형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있게 이해해야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남의 기대(반장 역할)만 맞추다 내가 좋아하는 그림을 놓치지 않기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삶과 가치관을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도덕적인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측면에서 성찰해야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“여자아이도 학교에 갈 수 있어야 해요”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2012년 10월 9일 · 파키스탄 스와트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11살 · 여학교를 막는 탈레반의 폭력을 블로그에 쓰다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15살 · 하굣길 버스에서 총에 맞다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16살 · 회복 뒤 유엔에서 연설하다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17살 · 2014년 노벨 평화상, 역대 최연소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무엇이 그녀를 다시 말하게 했을까?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2012년 10월 9일 · 파키스탄 스와트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11살 · 여학교를 막는 탈레반의 폭력을 블로그에 쓰다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15살 · 하굣길 버스에서 총에 맞다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16살 · 회복 뒤 유엔에서 연설하다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17살 · 2014년 노벨 평화상, 역대 최연소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무엇이 그녀를 다시 말하게 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자아란 내가 누구인지에 관한 답을 찾는 과정에서 확인하는 나의 모습이다.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자신이 속한 사회와 공동체의 구성원으로서 자신을 이해하는 것을 ‘사회적 자아’라고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도덕적으로 올바른 가치관을 지니면 타인에게도 좋은 영향을 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나에 관해 탐구할 때는 개인적 자아와 사회적 자아 중 사회적 자아를 더 비중 있게 이해해야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자아란 내가 누구인지에 관한 답을 찾는 과정에서 확인하는 나의 모습이다.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자신이 속한 사회와 공동체의 구성원으로서 자신을 이해하는 것을 ‘사회적 자아’라고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도덕적으로 올바른 가치관을 지니면 타인에게도 좋은 영향을 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나에 관해 탐구할 때는 개인적 자아와 사회적 자아 중 사회적 자아를 더 비중 있게 이해해야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자아란 내가 누구인지에 관한 답을 찾는 과정에서 확인하는 나의 모습이다.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자신이 속한 사회와 공동체의 구성원으로서 자신을 이해하는 것을 ‘사회적 자아’라고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도덕적으로 올바른 가치관을 지니면 타인에게도 좋은 영향을 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나에 관해 탐구할 때는 개인적 자아와 사회적 자아 중 사회적 자아를 더 비중 있게 이해해야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자아란 내가 누구인지에 관한 답을 찾는 과정에서 확인하는 나의 모습이다.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자신이 속한 사회와 공동체의 구성원으로서 자신을 이해하는 것을 ‘사회적 자아’라고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도덕적으로 올바른 가치관을 지니면 타인에게도 좋은 영향을 줄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나에 관해 탐구할 때는 개인적 자아와 사회적 자아 중 사회적 자아를 더 비중 있게 이해해야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자아란 내가 누구인지에 관한 답을 찾는 과정에서 확인하는 나의 모습이다.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자신이 속한 사회와 공동체의 구성원으로서 자신을 이해하는 것을 ‘사회적 자아’라고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도덕적으로 올바른 가치관을 지니면 타인에게도 좋은 영향을 줄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나에 관해 탐구할 때는 개인적 자아와 사회적 자아 중 사회적 자아를 더 비중 있게 이해해야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나의 가치 고르기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427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</a:rPr>
              <a:t>나는 어떤 사람일까</a:t>
            </a:r>
            <a:r>
              <a:rPr lang="en-US" altLang="ko-KR" b="1" dirty="0">
                <a:latin typeface="+mj-ea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16장 가운데 나에게 가장 소중한 것만 남겨 보자.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① 혼자 생각하기 — 2분 동안 나의 답을 정해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② 짝·모둠과 나누기 — 서로의 까닭을 들어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③ 한 문장으로 발표하기 — “나는 ___ 왜냐하면 ___”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8994</TotalTime>
  <Words>1195</Words>
  <Application>Microsoft Office PowerPoint</Application>
  <PresentationFormat>와이드스크린</PresentationFormat>
  <Paragraphs>216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AppleSDGothicNeoB00</vt:lpstr>
      <vt:lpstr>굴림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192</cp:revision>
  <cp:lastPrinted>2024-06-05T04:53:22Z</cp:lastPrinted>
  <dcterms:created xsi:type="dcterms:W3CDTF">2023-10-31T05:50:03Z</dcterms:created>
  <dcterms:modified xsi:type="dcterms:W3CDTF">2025-01-14T02:00:59Z</dcterms:modified>
</cp:coreProperties>
</file>