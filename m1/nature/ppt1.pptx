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media/image591.svg" ContentType="image/svg+xml"/>
  <Override PartName="/ppt/media/image59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1"/>
  </p:notesMasterIdLst>
  <p:handoutMasterIdLst>
    <p:handoutMasterId r:id="rId22"/>
  </p:handoutMasterIdLst>
  <p:sldIdLst>
    <p:sldId id="302" r:id="rId2"/>
    <p:sldId id="301" r:id="rId3"/>
    <p:sldId id="258" r:id="rId4"/>
    <p:sldId id="371" r:id="rId5"/>
    <p:sldId id="305" r:id="rId6"/>
    <p:sldId id="397" r:id="rId37"/>
    <p:sldId id="260" r:id="rId7"/>
    <p:sldId id="388" r:id="rId28"/>
    <p:sldId id="389" r:id="rId29"/>
    <p:sldId id="306" r:id="rId8"/>
    <p:sldId id="387" r:id="rId9"/>
    <p:sldId id="270" r:id="rId10"/>
    <p:sldId id="365" r:id="rId11"/>
    <p:sldId id="390" r:id="rId30"/>
    <p:sldId id="364" r:id="rId12"/>
    <p:sldId id="384" r:id="rId13"/>
    <p:sldId id="391" r:id="rId31"/>
    <p:sldId id="392" r:id="rId32"/>
    <p:sldId id="393" r:id="rId33"/>
    <p:sldId id="394" r:id="rId34"/>
    <p:sldId id="395" r:id="rId35"/>
    <p:sldId id="396" r:id="rId36"/>
    <p:sldId id="307" r:id="rId14"/>
    <p:sldId id="308" r:id="rId15"/>
    <p:sldId id="373" r:id="rId16"/>
    <p:sldId id="374" r:id="rId17"/>
    <p:sldId id="385" r:id="rId18"/>
    <p:sldId id="386" r:id="rId19"/>
    <p:sldId id="398" r:id="rId38"/>
    <p:sldId id="399" r:id="rId39"/>
    <p:sldId id="400" r:id="rId40"/>
    <p:sldId id="401" r:id="rId41"/>
    <p:sldId id="348" r:id="rId20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6F5"/>
    <a:srgbClr val="F0FFF6"/>
    <a:srgbClr val="FF9300"/>
    <a:srgbClr val="FFFF00"/>
    <a:srgbClr val="D9E1E9"/>
    <a:srgbClr val="E8F6FD"/>
    <a:srgbClr val="019BFF"/>
    <a:srgbClr val="FFF7EE"/>
    <a:srgbClr val="FFC000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6" autoAdjust="0"/>
    <p:restoredTop sz="96242" autoAdjust="0"/>
  </p:normalViewPr>
  <p:slideViewPr>
    <p:cSldViewPr snapToGrid="0">
      <p:cViewPr varScale="1">
        <p:scale>
          <a:sx n="111" d="100"/>
          <a:sy n="111" d="100"/>
        </p:scale>
        <p:origin x="534" y="102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177쪽 자료</a:t>
            </a:r>
          </a:p>
          <a:p>
            <a:r>
              <a:t>물고기에게도 위험 자극을 감지하는 기관이 있고, 문어는 상처를 치유하려 하며, 벌은 거미줄에 걸렸던 장소를 피하려 한다는 연구가 있다(《지디넷코리아》, 2022.8.15).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고통을 느끼는 능력</a:t>
            </a:r>
          </a:p>
          <a:p>
            <a:r>
              <a:t>영국의 공리주의자 벤담. 동물을 도덕적으로 고려해야 할 근거를 ‘이성’이 아니라 ‘고통을 느끼는 능력’에서 찾았다.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생명 외경</a:t>
            </a:r>
          </a:p>
          <a:p>
            <a:r>
              <a:t>슈바이처는 회고록 『나의 생애와 사상』에서 이 순간을 적었다. “나는 살려고 하는 생명들 가운데 살려고 하는 생명이다.” 모든 생명을 두려움과 존경의 마음으로 대하라는 뜻.</a:t>
            </a:r>
          </a:p>
          <a:p>
            <a:r>
              <a:t>1952년 노벨 평화상.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가지 입장 (교과서 175~179쪽)</a:t>
            </a:r>
          </a:p>
          <a:p>
            <a:r>
              <a:t>인간 중심주의: 인간만 도덕적 고려 대상(칸트: 동물 학대는 인간의 품성을 해치니 나쁘다는 간접적 의무). 동물 중심주의: 고통을 느끼는 동물까지(벤담, 싱어). 생명 중심주의: 모든 생명체(슈바이처, 테일러). 생태 중심주의: 생태계 전체(레오폴드).</a:t>
            </a:r>
          </a:p>
          <a:p>
            <a:r>
              <a:t>게임 ‘생명 감별사’로 복습.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토론 거리</a:t>
            </a:r>
          </a:p>
          <a:p>
            <a:r>
              <a:t>슈바이처도 사람을 살리기 위해 병균을 죽일 수밖에 없다고 했다. 다만 ‘어쩔 수 없을 때만, 책임을 느끼며’. 생명을 함부로 하지 않는 마음이 핵심.</a:t>
            </a:r>
          </a:p>
          <a:p>
            <a:r>
              <a:t>가볍게 웃으며 시작해 진지하게 마무리.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마음 열기</a:t>
            </a:r>
          </a:p>
          <a:p>
            <a:r>
              <a:t>활동 화면 1의 투표. 돌멩이는 대부분 고르고, 강아지는 거의 고르지 않는다. 그 사이 어디에 선을 그을지가 오늘의 질문.</a:t>
            </a:r>
          </a:p>
          <a:p>
            <a:r>
              <a:t>도덕적 고려 대상: 우리가 행동할 때 그 이익과 처지를 헤아려야 하는 존재.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생명체를 도덕적으로 고려하는 이유를 구분하고, 동물원 존폐를 토의해 보자.</a:t>
            </a:r>
          </a:p>
          <a:p>
            <a:r>
              <a:t>⏱ 다른 입장 친구와 이야기 4분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생명체를 도덕적으로 고려하는 이유를 구분하고, 동물원 존폐를 토의해 보자.</a:t>
            </a:r>
          </a:p>
          <a:p>
            <a:r>
              <a:t>⏱ 다른 입장 친구와 이야기 4분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생명체를 도덕적으로 고려하는 이유를 구분하고, 동물원 존폐를 토의해 보자.</a:t>
            </a:r>
          </a:p>
          <a:p>
            <a:r>
              <a:t>⏱ 다른 입장 친구와 이야기 4분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31.png"/><Relationship Id="rId4" Type="http://schemas.openxmlformats.org/officeDocument/2006/relationships/image" Target="../media/image24.png"/><Relationship Id="rId5" Type="http://schemas.openxmlformats.org/officeDocument/2006/relationships/image" Target="../media/image590.svg"/><Relationship Id="rId6" Type="http://schemas.openxmlformats.org/officeDocument/2006/relationships/image" Target="../media/image3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2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3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01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161745" y="703659"/>
            <a:ext cx="4211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1.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도덕적 고려 대상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en-US" altLang="ko-KR" sz="1100" b="1" dirty="0" smtClean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75618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왜 생명체를 </a:t>
            </a:r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도덕적으로</a:t>
            </a:r>
            <a:endParaRPr lang="en-US" altLang="ko-KR" sz="5400" b="1" dirty="0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고려해야 </a:t>
            </a:r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할까</a:t>
            </a:r>
            <a:r>
              <a:rPr lang="en-US" altLang="ko-KR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>
            <a:extLst>
              <a:ext uri="{FF2B5EF4-FFF2-40B4-BE49-F238E27FC236}">
                <a16:creationId xmlns:a16="http://schemas.microsoft.com/office/drawing/2014/main" id="{B57B4A80-0309-7BD0-AAF8-FF35B30F644B}"/>
              </a:ext>
            </a:extLst>
          </p:cNvPr>
          <p:cNvGrpSpPr/>
          <p:nvPr/>
        </p:nvGrpSpPr>
        <p:grpSpPr>
          <a:xfrm>
            <a:off x="764843" y="3644753"/>
            <a:ext cx="10293350" cy="1573773"/>
            <a:chOff x="914400" y="2362199"/>
            <a:chExt cx="10293350" cy="1573773"/>
          </a:xfrm>
        </p:grpSpPr>
        <p:sp>
          <p:nvSpPr>
            <p:cNvPr id="27" name="사각형: 둥근 모서리 22">
              <a:extLst>
                <a:ext uri="{FF2B5EF4-FFF2-40B4-BE49-F238E27FC236}">
                  <a16:creationId xmlns:a16="http://schemas.microsoft.com/office/drawing/2014/main" id="{D6561203-5AD4-D0C1-BA20-A7201ACE3939}"/>
                </a:ext>
              </a:extLst>
            </p:cNvPr>
            <p:cNvSpPr/>
            <p:nvPr/>
          </p:nvSpPr>
          <p:spPr>
            <a:xfrm>
              <a:off x="914400" y="2362199"/>
              <a:ext cx="10293350" cy="1573773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AAF1AF8C-61C0-A6D4-27A4-8B03BBAB0C4A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57B4A80-0309-7BD0-AAF8-FF35B30F644B}"/>
              </a:ext>
            </a:extLst>
          </p:cNvPr>
          <p:cNvGrpSpPr/>
          <p:nvPr/>
        </p:nvGrpSpPr>
        <p:grpSpPr>
          <a:xfrm>
            <a:off x="820989" y="1759804"/>
            <a:ext cx="10293350" cy="1573773"/>
            <a:chOff x="914400" y="2362199"/>
            <a:chExt cx="10293350" cy="1573773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D6561203-5AD4-D0C1-BA20-A7201ACE3939}"/>
                </a:ext>
              </a:extLst>
            </p:cNvPr>
            <p:cNvSpPr/>
            <p:nvPr/>
          </p:nvSpPr>
          <p:spPr>
            <a:xfrm>
              <a:off x="914400" y="2362199"/>
              <a:ext cx="10293350" cy="1573773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AAF1AF8C-61C0-A6D4-27A4-8B03BBAB0C4A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1301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spc="-150" dirty="0">
                <a:solidFill>
                  <a:prstClr val="black"/>
                </a:solidFill>
                <a:latin typeface="+mn-ea"/>
              </a:rPr>
              <a:t>인간 이외의 생명체를 도덕적으로 고려해야 하는 이유를 말할 수 있다</a:t>
            </a:r>
            <a:r>
              <a:rPr lang="en-US" altLang="ko-KR" sz="2800" b="1" spc="-150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204394" y="3684670"/>
            <a:ext cx="9629759" cy="1301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도덕적 고려 대상을 인간 이외의 생명체로 확장하는 태도를 지닌다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1428332" y="1846653"/>
            <a:ext cx="9353550" cy="4305300"/>
            <a:chOff x="1428332" y="1846653"/>
            <a:chExt cx="9353550" cy="4305300"/>
          </a:xfrm>
        </p:grpSpPr>
        <p:pic>
          <p:nvPicPr>
            <p:cNvPr id="29" name="그림 2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28332" y="1846653"/>
              <a:ext cx="9353550" cy="4305300"/>
            </a:xfrm>
            <a:prstGeom prst="rect">
              <a:avLst/>
            </a:prstGeom>
          </p:spPr>
        </p:pic>
        <p:sp>
          <p:nvSpPr>
            <p:cNvPr id="30" name="직사각형 29"/>
            <p:cNvSpPr/>
            <p:nvPr/>
          </p:nvSpPr>
          <p:spPr>
            <a:xfrm>
              <a:off x="1428332" y="1846653"/>
              <a:ext cx="1013926" cy="734501"/>
            </a:xfrm>
            <a:prstGeom prst="rect">
              <a:avLst/>
            </a:prstGeom>
            <a:solidFill>
              <a:srgbClr val="A4E0FA"/>
            </a:solidFill>
            <a:ln>
              <a:solidFill>
                <a:srgbClr val="A1DEF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6210245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hlinkClick r:id="" action="ppaction://hlinkshowjump?jump=previousslide"/>
          </p:cNvPr>
          <p:cNvSpPr/>
          <p:nvPr/>
        </p:nvSpPr>
        <p:spPr>
          <a:xfrm>
            <a:off x="5787014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8959" y="1761830"/>
            <a:ext cx="9735882" cy="431487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</p:spTree>
    <p:extLst>
      <p:ext uri="{BB962C8B-B14F-4D97-AF65-F5344CB8AC3E}">
        <p14:creationId xmlns:p14="http://schemas.microsoft.com/office/powerpoint/2010/main" val="127932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85838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다음 그림을 보고 동식물을 함부로 대하는 학생들에게 해 줄 수 있는 </a:t>
            </a:r>
            <a:r>
              <a:rPr lang="ko-KR" altLang="en-US" sz="2000" b="1" dirty="0" smtClean="0"/>
              <a:t>말을</a:t>
            </a:r>
            <a:endParaRPr lang="en-US" altLang="ko-KR" sz="2000" b="1" dirty="0" smtClean="0"/>
          </a:p>
          <a:p>
            <a:pPr algn="just">
              <a:lnSpc>
                <a:spcPct val="150000"/>
              </a:lnSpc>
            </a:pPr>
            <a:r>
              <a:rPr lang="ko-KR" altLang="en-US" sz="2000" b="1" dirty="0" smtClean="0"/>
              <a:t>마지막 </a:t>
            </a:r>
            <a:r>
              <a:rPr lang="ko-KR" altLang="en-US" sz="2000" b="1" dirty="0" err="1"/>
              <a:t>말풍선에</a:t>
            </a:r>
            <a:r>
              <a:rPr lang="ko-KR" altLang="en-US" sz="2000" b="1" dirty="0"/>
              <a:t> 써 보자</a:t>
            </a:r>
            <a:r>
              <a:rPr lang="en-US" altLang="ko-KR" sz="2000" b="1" dirty="0"/>
              <a:t>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632273" y="2924889"/>
            <a:ext cx="11050833" cy="2885601"/>
            <a:chOff x="632273" y="2724659"/>
            <a:chExt cx="11050833" cy="3085832"/>
          </a:xfrm>
        </p:grpSpPr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2273" y="2724659"/>
              <a:ext cx="11050833" cy="3085832"/>
            </a:xfrm>
            <a:prstGeom prst="rect">
              <a:avLst/>
            </a:prstGeom>
          </p:spPr>
        </p:pic>
        <p:sp>
          <p:nvSpPr>
            <p:cNvPr id="2" name="직사각형 1"/>
            <p:cNvSpPr/>
            <p:nvPr/>
          </p:nvSpPr>
          <p:spPr>
            <a:xfrm>
              <a:off x="4725909" y="3512745"/>
              <a:ext cx="6650016" cy="19555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92508EF-5B45-FCB1-63DF-BCFA304E8F7C}"/>
              </a:ext>
            </a:extLst>
          </p:cNvPr>
          <p:cNvSpPr txBox="1"/>
          <p:nvPr/>
        </p:nvSpPr>
        <p:spPr>
          <a:xfrm>
            <a:off x="9447648" y="2440813"/>
            <a:ext cx="882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답</a:t>
            </a:r>
            <a:endParaRPr lang="ko-KR" altLang="en-US" b="1" dirty="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42" name="그림 41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2217282"/>
            <a:ext cx="487174" cy="487174"/>
          </a:xfrm>
          <a:prstGeom prst="rect">
            <a:avLst/>
          </a:prstGeom>
        </p:spPr>
      </p:pic>
      <p:grpSp>
        <p:nvGrpSpPr>
          <p:cNvPr id="43" name="그룹 42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2217282"/>
            <a:ext cx="1087577" cy="495431"/>
            <a:chOff x="10075659" y="2003022"/>
            <a:chExt cx="1156006" cy="495431"/>
          </a:xfrm>
        </p:grpSpPr>
        <p:pic>
          <p:nvPicPr>
            <p:cNvPr id="44" name="그림 43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5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890628" y="3755597"/>
            <a:ext cx="64852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동식물을 함부로 대하면 안 돼</a:t>
            </a:r>
            <a:r>
              <a:rPr lang="en-US" altLang="ko-KR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왜냐하면 동식물을 해치는 것은 </a:t>
            </a:r>
            <a:r>
              <a:rPr lang="ko-KR" altLang="en-US" sz="2400" dirty="0" err="1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동식물뿐만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 아니라 인간에게도 해로운 결과를 가져올 수 있기 때문이야</a:t>
            </a:r>
            <a:r>
              <a:rPr lang="en-US" altLang="ko-KR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en-US" altLang="ko-KR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  <p:bldLst>
      <p:bldP spid="30" grpId="0"/>
      <p:bldP spid="3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인간에게 도움이 되기 때문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3474" y="1882040"/>
            <a:ext cx="931956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도덕적 고려의 </a:t>
            </a: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의미  </a:t>
            </a:r>
            <a:r>
              <a:rPr lang="ko-KR" altLang="en-US" sz="2400" dirty="0">
                <a:latin typeface="+mn-ea"/>
              </a:rPr>
              <a:t>도덕적인 기준에 따라 보살피고 대우함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dirty="0" smtClean="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생명체를 </a:t>
            </a:r>
            <a:r>
              <a:rPr lang="ko-KR" altLang="en-US" sz="24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도덕적으로 고려해야 하는 </a:t>
            </a: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이유</a:t>
            </a:r>
            <a:endParaRPr lang="en-US" altLang="ko-KR" sz="24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인간에게 </a:t>
            </a:r>
            <a:r>
              <a:rPr lang="ko-KR" altLang="en-US" sz="2400" dirty="0">
                <a:latin typeface="+mn-ea"/>
              </a:rPr>
              <a:t>도움이 되기 </a:t>
            </a:r>
            <a:r>
              <a:rPr lang="ko-KR" altLang="en-US" sz="2400" dirty="0" smtClean="0">
                <a:latin typeface="+mn-ea"/>
              </a:rPr>
              <a:t>때문</a:t>
            </a:r>
            <a:r>
              <a:rPr lang="en-US" altLang="ko-KR" sz="2400" dirty="0" smtClean="0">
                <a:latin typeface="+mn-ea"/>
              </a:rPr>
              <a:t>: </a:t>
            </a:r>
            <a:r>
              <a:rPr lang="ko-KR" altLang="en-US" sz="2400" dirty="0" smtClean="0">
                <a:latin typeface="+mn-ea"/>
              </a:rPr>
              <a:t>인성 </a:t>
            </a:r>
            <a:r>
              <a:rPr lang="ko-KR" altLang="en-US" sz="2400" dirty="0">
                <a:latin typeface="+mn-ea"/>
              </a:rPr>
              <a:t>함</a:t>
            </a:r>
            <a:r>
              <a:rPr lang="ko-KR" altLang="en-US" sz="2400" dirty="0" smtClean="0">
                <a:latin typeface="+mn-ea"/>
              </a:rPr>
              <a:t>양에 영향을 주고</a:t>
            </a:r>
            <a:r>
              <a:rPr lang="en-US" altLang="ko-KR" sz="2400" dirty="0" smtClean="0">
                <a:latin typeface="+mn-ea"/>
              </a:rPr>
              <a:t>, </a:t>
            </a:r>
            <a:r>
              <a:rPr lang="ko-KR" altLang="en-US" sz="2400" dirty="0" smtClean="0">
                <a:latin typeface="+mn-ea"/>
              </a:rPr>
              <a:t>우리 삶의 토대가 됨</a:t>
            </a:r>
            <a:r>
              <a:rPr lang="en-US" altLang="ko-KR" sz="2400" dirty="0" smtClean="0">
                <a:latin typeface="+mn-ea"/>
              </a:rPr>
              <a:t>.</a:t>
            </a:r>
            <a:endParaRPr lang="ko-KR" altLang="en-US" sz="2400" dirty="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동물도 고통을 느끼기 때문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생명은 그 자체로 소중하기 때문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220450" y="1822560"/>
            <a:ext cx="5557454" cy="4075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◯◯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시는 심리 치료 중인 아동과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우울감이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있는 양육자를 선정하여 반려 식물을 무료로 나누어 주기로 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반려동물과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생활하듯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반려 식물을 곁에 둠으로써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우울감과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스트레스를 해소할 수 있고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식물이 주는 기분 좋은 느낌은 삶의 질을 높여 가족이나 이웃을 사랑하는 마음으로 확장될 수 있기 때문이다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90" y="1844851"/>
            <a:ext cx="4381500" cy="39528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13" name="타원 12"/>
          <p:cNvSpPr/>
          <p:nvPr/>
        </p:nvSpPr>
        <p:spPr>
          <a:xfrm>
            <a:off x="5779978" y="6081026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5" name="타원 14">
            <a:hlinkClick r:id="" action="ppaction://hlinkshowjump?jump=nextslide"/>
          </p:cNvPr>
          <p:cNvSpPr/>
          <p:nvPr/>
        </p:nvSpPr>
        <p:spPr>
          <a:xfrm>
            <a:off x="6175353" y="6081026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220450" y="1822560"/>
            <a:ext cx="5557454" cy="2539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◯◯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시 관계자는 “식물을 바라보는 것만으로도 정서가 안정되고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식물을 키우면서 얻는 기쁨은 삶의 활력소가 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라고 말하였다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- 《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전북일보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》, 2021. 4. 21.</a:t>
            </a: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90" y="1844851"/>
            <a:ext cx="4381500" cy="39528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13" name="타원 12"/>
          <p:cNvSpPr/>
          <p:nvPr/>
        </p:nvSpPr>
        <p:spPr>
          <a:xfrm>
            <a:off x="6193460" y="6070165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5" name="타원 14">
            <a:hlinkClick r:id="" action="ppaction://hlinkshowjump?jump=previousslide"/>
          </p:cNvPr>
          <p:cNvSpPr/>
          <p:nvPr/>
        </p:nvSpPr>
        <p:spPr>
          <a:xfrm>
            <a:off x="5788618" y="6078422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109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spc="-150" dirty="0"/>
              <a:t>반려 동식물을 키운 경험을 떠올려 보고</a:t>
            </a:r>
            <a:r>
              <a:rPr lang="en-US" altLang="ko-KR" sz="2000" b="1" spc="-150" dirty="0"/>
              <a:t>, </a:t>
            </a:r>
            <a:r>
              <a:rPr lang="ko-KR" altLang="en-US" sz="2000" b="1" spc="-150" dirty="0"/>
              <a:t>그 경험이 어떤 점에서 </a:t>
            </a:r>
            <a:r>
              <a:rPr lang="ko-KR" altLang="en-US" sz="2000" b="1" spc="-150" dirty="0" smtClean="0"/>
              <a:t>도움이 되었는지 </a:t>
            </a:r>
            <a:r>
              <a:rPr lang="ko-KR" altLang="en-US" sz="2000" b="1" spc="-150" dirty="0"/>
              <a:t>써 보자</a:t>
            </a:r>
            <a:r>
              <a:rPr lang="en-US" altLang="ko-KR" sz="2000" b="1" spc="-150" dirty="0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0888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0888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047569"/>
            <a:ext cx="10293350" cy="310868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2556" y="3039089"/>
            <a:ext cx="9743075" cy="168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우리 집 </a:t>
            </a:r>
            <a:r>
              <a:rPr lang="ko-KR" altLang="en-US" sz="24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뽀삐는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장난꾸러기 강아지이다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뽀삐와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함께 놀고 있으면 하루 동안 쌓였던 스트레스가 날아가는 느낌이 든다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뽀삐는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그저 평범한 강아지가 아니라 나와 기쁨과 슬픔을 나누는 가족이라고 할 수 있다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25" grpId="0"/>
      <p:bldP spid="2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동물도 고통을 느끼기 때문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63293" y="1845833"/>
            <a:ext cx="95201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2400" b="1" dirty="0" smtClean="0">
              <a:latin typeface="Arial Rounded MT Bold" panose="020F07040305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동물을 도덕적으로 고려해야 하는 까닭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Arial Rounded MT Bold" panose="020F0704030504030204" pitchFamily="34" charset="0"/>
              </a:rPr>
              <a:t>동물도 </a:t>
            </a:r>
            <a:r>
              <a:rPr lang="ko-KR" altLang="en-US" sz="2400" dirty="0">
                <a:latin typeface="Arial Rounded MT Bold" panose="020F0704030504030204" pitchFamily="34" charset="0"/>
              </a:rPr>
              <a:t>인간과 마찬가지로 고통을 느끼는 존재임</a:t>
            </a:r>
            <a:r>
              <a:rPr lang="en-US" altLang="ko-KR" sz="2400" dirty="0" smtClean="0">
                <a:latin typeface="Arial Rounded MT Bold" panose="020F070403050403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Arial Rounded MT Bold" panose="020F0704030504030204" pitchFamily="34" charset="0"/>
              </a:rPr>
              <a:t>동물의 </a:t>
            </a:r>
            <a:r>
              <a:rPr lang="ko-KR" altLang="en-US" sz="2400" dirty="0">
                <a:latin typeface="Arial Rounded MT Bold" panose="020F0704030504030204" pitchFamily="34" charset="0"/>
              </a:rPr>
              <a:t>고통에 무관심하거나 동물에게 고통을 주는 것은 바람직하지 않음</a:t>
            </a:r>
            <a:r>
              <a:rPr lang="en-US" altLang="ko-KR" sz="2400" dirty="0"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</p:spTree>
    <p:extLst>
      <p:ext uri="{BB962C8B-B14F-4D97-AF65-F5344CB8AC3E}">
        <p14:creationId xmlns:p14="http://schemas.microsoft.com/office/powerpoint/2010/main" val="1206250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17478" y="1483354"/>
            <a:ext cx="1657180" cy="1972278"/>
          </a:xfrm>
          <a:prstGeom prst="rect">
            <a:avLst/>
          </a:prstGeom>
        </p:spPr>
      </p:pic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동물도 고통을 느낀다고요</a:t>
            </a:r>
            <a:r>
              <a:rPr lang="en-US" altLang="ko-KR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3093" y="5100007"/>
            <a:ext cx="1165517" cy="1387130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576584" y="1961289"/>
            <a:ext cx="1107394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동물도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고통을 느끼고 복잡한 정신 활동을 한다는 연구 결과가 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 연구에 따르면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물고기에게는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사람과 같은 중앙 신경계가 없지만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위험한 자극을 감지하는 기관은 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물고기 뇌는 작고 구조가 단순하지만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우리 뇌와 다른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방식으로나마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의식 활동을 한다는 것이다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 밖에도 문어는 상처를 치유하려고 행동한다는 연구 결과가 있으며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벌은 거미줄에 걸려 고생했던 장소에 다시 가면 화들짝 놀라는 듯한 행동을 취하며 자리를 피하려 한다는 연구 결과도 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과학이 발달할수록 동물의 의식에 관한 지식은 더 늘어날 수밖에 없다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이에 따라 우리가 도덕적으로 고려하는 대상도 점점 늘어나고 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- 《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지디넷코리아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》, 2022. 8. 15.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</p:spTree>
    <p:extLst>
      <p:ext uri="{BB962C8B-B14F-4D97-AF65-F5344CB8AC3E}">
        <p14:creationId xmlns:p14="http://schemas.microsoft.com/office/powerpoint/2010/main" val="196410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생명은 그 자체로 소중하기 때문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63293" y="1845833"/>
            <a:ext cx="95201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2400" b="1" dirty="0" smtClean="0">
              <a:latin typeface="Arial Rounded MT Bold" panose="020F07040305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생명체를 도덕적으로 고려해야 하는 까닭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Arial Rounded MT Bold" panose="020F0704030504030204" pitchFamily="34" charset="0"/>
              </a:rPr>
              <a:t>인간의 </a:t>
            </a:r>
            <a:r>
              <a:rPr lang="ko-KR" altLang="en-US" sz="2400" dirty="0">
                <a:latin typeface="Arial Rounded MT Bold" panose="020F0704030504030204" pitchFamily="34" charset="0"/>
              </a:rPr>
              <a:t>생명이 소중하듯이 모든 생명체의 생명은 그 자체로 소중함</a:t>
            </a:r>
            <a:r>
              <a:rPr lang="en-US" altLang="ko-KR" sz="2400" dirty="0">
                <a:latin typeface="Arial Rounded MT Bold" panose="020F070403050403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Arial Rounded MT Bold" panose="020F0704030504030204" pitchFamily="34" charset="0"/>
              </a:rPr>
              <a:t>모든 </a:t>
            </a:r>
            <a:r>
              <a:rPr lang="ko-KR" altLang="en-US" sz="2400" dirty="0">
                <a:latin typeface="Arial Rounded MT Bold" panose="020F0704030504030204" pitchFamily="34" charset="0"/>
              </a:rPr>
              <a:t>생명은 그 자체로 소중하기 때문에 인간 이외의 생명체도 도덕적으로 고려해야 함</a:t>
            </a:r>
            <a:r>
              <a:rPr lang="en-US" altLang="ko-KR" sz="2400" dirty="0"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</p:spTree>
    <p:extLst>
      <p:ext uri="{BB962C8B-B14F-4D97-AF65-F5344CB8AC3E}">
        <p14:creationId xmlns:p14="http://schemas.microsoft.com/office/powerpoint/2010/main" val="2570095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1471341" y="1468688"/>
            <a:ext cx="8992470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생명에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대해 외경을 느끼는 사람에게는 생명 자체가 성스러운 것이다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그는 나뭇잎 하나도 함부로 뜯지 않는다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꽃 한 송이도 꺾지 않고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곤충도 밟지 않도록 주의한다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그는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여름밤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램프 옆에서 공부할 때 창문을 닫고 차라리 탁한 공기를 마신다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곤충이 램프 불빛에 날개가 상하여 책상 위에 떨어지는 것을 보지 않기 위해서이다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algn="r">
              <a:lnSpc>
                <a:spcPct val="150000"/>
              </a:lnSpc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슈바이처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문화와 윤리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</a:p>
          <a:p>
            <a:pPr algn="just"/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648"/>
          <a:stretch/>
        </p:blipFill>
        <p:spPr>
          <a:xfrm>
            <a:off x="3924499" y="4461172"/>
            <a:ext cx="6539311" cy="23968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471341" y="4920922"/>
            <a:ext cx="233111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외경 </a:t>
            </a:r>
            <a:r>
              <a:rPr lang="en-US" altLang="ko-KR" b="1" dirty="0" smtClean="0">
                <a:solidFill>
                  <a:schemeClr val="accent6"/>
                </a:solidFill>
              </a:rPr>
              <a:t/>
            </a:r>
            <a:br>
              <a:rPr lang="en-US" altLang="ko-KR" b="1" dirty="0" smtClean="0">
                <a:solidFill>
                  <a:schemeClr val="accent6"/>
                </a:solidFill>
              </a:rPr>
            </a:br>
            <a:r>
              <a:rPr lang="ko-KR" altLang="en-US" sz="1600" dirty="0" smtClean="0"/>
              <a:t>두려워하며 공경함</a:t>
            </a:r>
            <a:r>
              <a:rPr lang="en-US" altLang="ko-KR" sz="1600" dirty="0" smtClean="0"/>
              <a:t>.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8501" y="1519238"/>
            <a:ext cx="179074" cy="16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74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윗글의 ‘</a:t>
            </a:r>
            <a:r>
              <a:rPr lang="ko-KR" altLang="en-US" sz="2000" b="1" dirty="0" err="1"/>
              <a:t>그’가</a:t>
            </a:r>
            <a:r>
              <a:rPr lang="ko-KR" altLang="en-US" sz="2000" b="1" dirty="0"/>
              <a:t> 위와 같이 행동하는 까닭은 무엇인지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898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898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028519"/>
            <a:ext cx="10293350" cy="2443594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30467" y="3060418"/>
            <a:ext cx="9999801" cy="168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‘</a:t>
            </a:r>
            <a:r>
              <a:rPr lang="ko-KR" altLang="en-US" sz="24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그’는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생명을 소중하게 여기는 마음을 바탕으로 혹시나 곤충이 램프 불빛에 다치지 않을까 염려하며 조심하고 있다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이렇게 행동하는 까닭은 그가 생명 자체를 성스럽게 여기며 공경하고 있기 때문이다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</p:spTree>
    <p:extLst>
      <p:ext uri="{BB962C8B-B14F-4D97-AF65-F5344CB8AC3E}">
        <p14:creationId xmlns:p14="http://schemas.microsoft.com/office/powerpoint/2010/main" val="43902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9300"/>
                </a:solidFill>
                <a:latin typeface="+mj-ea"/>
                <a:ea typeface="+mj-ea"/>
              </a:rPr>
              <a:t>동물원 존폐에 관해 토의하기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1552575" y="1504950"/>
            <a:ext cx="8351745" cy="5295900"/>
            <a:chOff x="1552575" y="1504950"/>
            <a:chExt cx="8351745" cy="5295900"/>
          </a:xfrm>
        </p:grpSpPr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06851" y="1612900"/>
              <a:ext cx="8197469" cy="5122507"/>
            </a:xfrm>
            <a:prstGeom prst="rect">
              <a:avLst/>
            </a:prstGeom>
          </p:spPr>
        </p:pic>
        <p:sp>
          <p:nvSpPr>
            <p:cNvPr id="2" name="자유형 1"/>
            <p:cNvSpPr/>
            <p:nvPr/>
          </p:nvSpPr>
          <p:spPr>
            <a:xfrm>
              <a:off x="1552575" y="1504950"/>
              <a:ext cx="428625" cy="5295900"/>
            </a:xfrm>
            <a:custGeom>
              <a:avLst/>
              <a:gdLst>
                <a:gd name="connsiteX0" fmla="*/ 104775 w 428625"/>
                <a:gd name="connsiteY0" fmla="*/ 1647825 h 5295900"/>
                <a:gd name="connsiteX1" fmla="*/ 104775 w 428625"/>
                <a:gd name="connsiteY1" fmla="*/ 1647825 h 5295900"/>
                <a:gd name="connsiteX2" fmla="*/ 171450 w 428625"/>
                <a:gd name="connsiteY2" fmla="*/ 1743075 h 5295900"/>
                <a:gd name="connsiteX3" fmla="*/ 190500 w 428625"/>
                <a:gd name="connsiteY3" fmla="*/ 1771650 h 5295900"/>
                <a:gd name="connsiteX4" fmla="*/ 238125 w 428625"/>
                <a:gd name="connsiteY4" fmla="*/ 1857375 h 5295900"/>
                <a:gd name="connsiteX5" fmla="*/ 266700 w 428625"/>
                <a:gd name="connsiteY5" fmla="*/ 1914525 h 5295900"/>
                <a:gd name="connsiteX6" fmla="*/ 276225 w 428625"/>
                <a:gd name="connsiteY6" fmla="*/ 1943100 h 5295900"/>
                <a:gd name="connsiteX7" fmla="*/ 314325 w 428625"/>
                <a:gd name="connsiteY7" fmla="*/ 2000250 h 5295900"/>
                <a:gd name="connsiteX8" fmla="*/ 333375 w 428625"/>
                <a:gd name="connsiteY8" fmla="*/ 2028825 h 5295900"/>
                <a:gd name="connsiteX9" fmla="*/ 352425 w 428625"/>
                <a:gd name="connsiteY9" fmla="*/ 2105025 h 5295900"/>
                <a:gd name="connsiteX10" fmla="*/ 361950 w 428625"/>
                <a:gd name="connsiteY10" fmla="*/ 2133600 h 5295900"/>
                <a:gd name="connsiteX11" fmla="*/ 371475 w 428625"/>
                <a:gd name="connsiteY11" fmla="*/ 2190750 h 5295900"/>
                <a:gd name="connsiteX12" fmla="*/ 381000 w 428625"/>
                <a:gd name="connsiteY12" fmla="*/ 2228850 h 5295900"/>
                <a:gd name="connsiteX13" fmla="*/ 390525 w 428625"/>
                <a:gd name="connsiteY13" fmla="*/ 2257425 h 5295900"/>
                <a:gd name="connsiteX14" fmla="*/ 400050 w 428625"/>
                <a:gd name="connsiteY14" fmla="*/ 2314575 h 5295900"/>
                <a:gd name="connsiteX15" fmla="*/ 409575 w 428625"/>
                <a:gd name="connsiteY15" fmla="*/ 2352675 h 5295900"/>
                <a:gd name="connsiteX16" fmla="*/ 419100 w 428625"/>
                <a:gd name="connsiteY16" fmla="*/ 2466975 h 5295900"/>
                <a:gd name="connsiteX17" fmla="*/ 428625 w 428625"/>
                <a:gd name="connsiteY17" fmla="*/ 2552700 h 5295900"/>
                <a:gd name="connsiteX18" fmla="*/ 419100 w 428625"/>
                <a:gd name="connsiteY18" fmla="*/ 2952750 h 5295900"/>
                <a:gd name="connsiteX19" fmla="*/ 400050 w 428625"/>
                <a:gd name="connsiteY19" fmla="*/ 3067050 h 5295900"/>
                <a:gd name="connsiteX20" fmla="*/ 390525 w 428625"/>
                <a:gd name="connsiteY20" fmla="*/ 3162300 h 5295900"/>
                <a:gd name="connsiteX21" fmla="*/ 381000 w 428625"/>
                <a:gd name="connsiteY21" fmla="*/ 3228975 h 5295900"/>
                <a:gd name="connsiteX22" fmla="*/ 361950 w 428625"/>
                <a:gd name="connsiteY22" fmla="*/ 3819525 h 5295900"/>
                <a:gd name="connsiteX23" fmla="*/ 381000 w 428625"/>
                <a:gd name="connsiteY23" fmla="*/ 4486275 h 5295900"/>
                <a:gd name="connsiteX24" fmla="*/ 390525 w 428625"/>
                <a:gd name="connsiteY24" fmla="*/ 4524375 h 5295900"/>
                <a:gd name="connsiteX25" fmla="*/ 400050 w 428625"/>
                <a:gd name="connsiteY25" fmla="*/ 4676775 h 5295900"/>
                <a:gd name="connsiteX26" fmla="*/ 409575 w 428625"/>
                <a:gd name="connsiteY26" fmla="*/ 4724400 h 5295900"/>
                <a:gd name="connsiteX27" fmla="*/ 419100 w 428625"/>
                <a:gd name="connsiteY27" fmla="*/ 4876800 h 5295900"/>
                <a:gd name="connsiteX28" fmla="*/ 428625 w 428625"/>
                <a:gd name="connsiteY28" fmla="*/ 4962525 h 5295900"/>
                <a:gd name="connsiteX29" fmla="*/ 419100 w 428625"/>
                <a:gd name="connsiteY29" fmla="*/ 5219700 h 5295900"/>
                <a:gd name="connsiteX30" fmla="*/ 390525 w 428625"/>
                <a:gd name="connsiteY30" fmla="*/ 5276850 h 5295900"/>
                <a:gd name="connsiteX31" fmla="*/ 333375 w 428625"/>
                <a:gd name="connsiteY31" fmla="*/ 5295900 h 5295900"/>
                <a:gd name="connsiteX32" fmla="*/ 190500 w 428625"/>
                <a:gd name="connsiteY32" fmla="*/ 5276850 h 5295900"/>
                <a:gd name="connsiteX33" fmla="*/ 152400 w 428625"/>
                <a:gd name="connsiteY33" fmla="*/ 5267325 h 5295900"/>
                <a:gd name="connsiteX34" fmla="*/ 114300 w 428625"/>
                <a:gd name="connsiteY34" fmla="*/ 5248275 h 5295900"/>
                <a:gd name="connsiteX35" fmla="*/ 85725 w 428625"/>
                <a:gd name="connsiteY35" fmla="*/ 5143500 h 5295900"/>
                <a:gd name="connsiteX36" fmla="*/ 76200 w 428625"/>
                <a:gd name="connsiteY36" fmla="*/ 4914900 h 5295900"/>
                <a:gd name="connsiteX37" fmla="*/ 57150 w 428625"/>
                <a:gd name="connsiteY37" fmla="*/ 4838700 h 5295900"/>
                <a:gd name="connsiteX38" fmla="*/ 47625 w 428625"/>
                <a:gd name="connsiteY38" fmla="*/ 4791075 h 5295900"/>
                <a:gd name="connsiteX39" fmla="*/ 38100 w 428625"/>
                <a:gd name="connsiteY39" fmla="*/ 4762500 h 5295900"/>
                <a:gd name="connsiteX40" fmla="*/ 19050 w 428625"/>
                <a:gd name="connsiteY40" fmla="*/ 4676775 h 5295900"/>
                <a:gd name="connsiteX41" fmla="*/ 9525 w 428625"/>
                <a:gd name="connsiteY41" fmla="*/ 4610100 h 5295900"/>
                <a:gd name="connsiteX42" fmla="*/ 0 w 428625"/>
                <a:gd name="connsiteY42" fmla="*/ 4562475 h 5295900"/>
                <a:gd name="connsiteX43" fmla="*/ 9525 w 428625"/>
                <a:gd name="connsiteY43" fmla="*/ 4114800 h 5295900"/>
                <a:gd name="connsiteX44" fmla="*/ 28575 w 428625"/>
                <a:gd name="connsiteY44" fmla="*/ 3990975 h 5295900"/>
                <a:gd name="connsiteX45" fmla="*/ 38100 w 428625"/>
                <a:gd name="connsiteY45" fmla="*/ 3924300 h 5295900"/>
                <a:gd name="connsiteX46" fmla="*/ 57150 w 428625"/>
                <a:gd name="connsiteY46" fmla="*/ 3810000 h 5295900"/>
                <a:gd name="connsiteX47" fmla="*/ 66675 w 428625"/>
                <a:gd name="connsiteY47" fmla="*/ 3190875 h 5295900"/>
                <a:gd name="connsiteX48" fmla="*/ 76200 w 428625"/>
                <a:gd name="connsiteY48" fmla="*/ 3105150 h 5295900"/>
                <a:gd name="connsiteX49" fmla="*/ 85725 w 428625"/>
                <a:gd name="connsiteY49" fmla="*/ 2857500 h 5295900"/>
                <a:gd name="connsiteX50" fmla="*/ 76200 w 428625"/>
                <a:gd name="connsiteY50" fmla="*/ 2343150 h 5295900"/>
                <a:gd name="connsiteX51" fmla="*/ 85725 w 428625"/>
                <a:gd name="connsiteY51" fmla="*/ 1943100 h 5295900"/>
                <a:gd name="connsiteX52" fmla="*/ 114300 w 428625"/>
                <a:gd name="connsiteY52" fmla="*/ 1790700 h 5295900"/>
                <a:gd name="connsiteX53" fmla="*/ 123825 w 428625"/>
                <a:gd name="connsiteY53" fmla="*/ 1628775 h 5295900"/>
                <a:gd name="connsiteX54" fmla="*/ 95250 w 428625"/>
                <a:gd name="connsiteY54" fmla="*/ 962025 h 5295900"/>
                <a:gd name="connsiteX55" fmla="*/ 85725 w 428625"/>
                <a:gd name="connsiteY55" fmla="*/ 857250 h 5295900"/>
                <a:gd name="connsiteX56" fmla="*/ 76200 w 428625"/>
                <a:gd name="connsiteY56" fmla="*/ 781050 h 5295900"/>
                <a:gd name="connsiteX57" fmla="*/ 85725 w 428625"/>
                <a:gd name="connsiteY57" fmla="*/ 457200 h 5295900"/>
                <a:gd name="connsiteX58" fmla="*/ 95250 w 428625"/>
                <a:gd name="connsiteY58" fmla="*/ 381000 h 5295900"/>
                <a:gd name="connsiteX59" fmla="*/ 123825 w 428625"/>
                <a:gd name="connsiteY59" fmla="*/ 209550 h 5295900"/>
                <a:gd name="connsiteX60" fmla="*/ 142875 w 428625"/>
                <a:gd name="connsiteY60" fmla="*/ 104775 h 5295900"/>
                <a:gd name="connsiteX61" fmla="*/ 161925 w 428625"/>
                <a:gd name="connsiteY61" fmla="*/ 19050 h 5295900"/>
                <a:gd name="connsiteX62" fmla="*/ 190500 w 428625"/>
                <a:gd name="connsiteY62" fmla="*/ 0 h 5295900"/>
                <a:gd name="connsiteX63" fmla="*/ 266700 w 428625"/>
                <a:gd name="connsiteY63" fmla="*/ 19050 h 5295900"/>
                <a:gd name="connsiteX64" fmla="*/ 295275 w 428625"/>
                <a:gd name="connsiteY64" fmla="*/ 38100 h 5295900"/>
                <a:gd name="connsiteX65" fmla="*/ 352425 w 428625"/>
                <a:gd name="connsiteY65" fmla="*/ 66675 h 5295900"/>
                <a:gd name="connsiteX66" fmla="*/ 361950 w 428625"/>
                <a:gd name="connsiteY66" fmla="*/ 95250 h 5295900"/>
                <a:gd name="connsiteX67" fmla="*/ 400050 w 428625"/>
                <a:gd name="connsiteY67" fmla="*/ 171450 h 5295900"/>
                <a:gd name="connsiteX68" fmla="*/ 428625 w 428625"/>
                <a:gd name="connsiteY68" fmla="*/ 247650 h 5295900"/>
                <a:gd name="connsiteX69" fmla="*/ 419100 w 428625"/>
                <a:gd name="connsiteY69" fmla="*/ 390525 h 5295900"/>
                <a:gd name="connsiteX70" fmla="*/ 400050 w 428625"/>
                <a:gd name="connsiteY70" fmla="*/ 466725 h 5295900"/>
                <a:gd name="connsiteX71" fmla="*/ 390525 w 428625"/>
                <a:gd name="connsiteY71" fmla="*/ 542925 h 5295900"/>
                <a:gd name="connsiteX72" fmla="*/ 381000 w 428625"/>
                <a:gd name="connsiteY72" fmla="*/ 819150 h 5295900"/>
                <a:gd name="connsiteX73" fmla="*/ 371475 w 428625"/>
                <a:gd name="connsiteY73" fmla="*/ 866775 h 5295900"/>
                <a:gd name="connsiteX74" fmla="*/ 361950 w 428625"/>
                <a:gd name="connsiteY74" fmla="*/ 933450 h 5295900"/>
                <a:gd name="connsiteX75" fmla="*/ 352425 w 428625"/>
                <a:gd name="connsiteY75" fmla="*/ 981075 h 5295900"/>
                <a:gd name="connsiteX76" fmla="*/ 342900 w 428625"/>
                <a:gd name="connsiteY76" fmla="*/ 1009650 h 5295900"/>
                <a:gd name="connsiteX77" fmla="*/ 314325 w 428625"/>
                <a:gd name="connsiteY77" fmla="*/ 1019175 h 5295900"/>
                <a:gd name="connsiteX78" fmla="*/ 276225 w 428625"/>
                <a:gd name="connsiteY78" fmla="*/ 1057275 h 5295900"/>
                <a:gd name="connsiteX79" fmla="*/ 266700 w 428625"/>
                <a:gd name="connsiteY79" fmla="*/ 1085850 h 5295900"/>
                <a:gd name="connsiteX80" fmla="*/ 238125 w 428625"/>
                <a:gd name="connsiteY80" fmla="*/ 1104900 h 5295900"/>
                <a:gd name="connsiteX81" fmla="*/ 200025 w 428625"/>
                <a:gd name="connsiteY81" fmla="*/ 1162050 h 5295900"/>
                <a:gd name="connsiteX82" fmla="*/ 190500 w 428625"/>
                <a:gd name="connsiteY82" fmla="*/ 1190625 h 5295900"/>
                <a:gd name="connsiteX83" fmla="*/ 171450 w 428625"/>
                <a:gd name="connsiteY83" fmla="*/ 1219200 h 5295900"/>
                <a:gd name="connsiteX84" fmla="*/ 142875 w 428625"/>
                <a:gd name="connsiteY84" fmla="*/ 1314450 h 5295900"/>
                <a:gd name="connsiteX85" fmla="*/ 114300 w 428625"/>
                <a:gd name="connsiteY85" fmla="*/ 1409700 h 5295900"/>
                <a:gd name="connsiteX86" fmla="*/ 104775 w 428625"/>
                <a:gd name="connsiteY86" fmla="*/ 1552575 h 5295900"/>
                <a:gd name="connsiteX87" fmla="*/ 123825 w 428625"/>
                <a:gd name="connsiteY87" fmla="*/ 1466850 h 5295900"/>
                <a:gd name="connsiteX88" fmla="*/ 133350 w 428625"/>
                <a:gd name="connsiteY88" fmla="*/ 1524000 h 5295900"/>
                <a:gd name="connsiteX89" fmla="*/ 76200 w 428625"/>
                <a:gd name="connsiteY89" fmla="*/ 1495425 h 5295900"/>
                <a:gd name="connsiteX90" fmla="*/ 76200 w 428625"/>
                <a:gd name="connsiteY90" fmla="*/ 1495425 h 5295900"/>
                <a:gd name="connsiteX91" fmla="*/ 0 w 428625"/>
                <a:gd name="connsiteY91" fmla="*/ 1571625 h 5295900"/>
                <a:gd name="connsiteX92" fmla="*/ 104775 w 428625"/>
                <a:gd name="connsiteY92" fmla="*/ 1543050 h 5295900"/>
                <a:gd name="connsiteX93" fmla="*/ 104775 w 428625"/>
                <a:gd name="connsiteY93" fmla="*/ 1543050 h 5295900"/>
                <a:gd name="connsiteX94" fmla="*/ 104775 w 428625"/>
                <a:gd name="connsiteY94" fmla="*/ 1647825 h 529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428625" h="5295900">
                  <a:moveTo>
                    <a:pt x="104775" y="1647825"/>
                  </a:moveTo>
                  <a:lnTo>
                    <a:pt x="104775" y="1647825"/>
                  </a:lnTo>
                  <a:lnTo>
                    <a:pt x="171450" y="1743075"/>
                  </a:lnTo>
                  <a:cubicBezTo>
                    <a:pt x="177966" y="1752487"/>
                    <a:pt x="186880" y="1760790"/>
                    <a:pt x="190500" y="1771650"/>
                  </a:cubicBezTo>
                  <a:cubicBezTo>
                    <a:pt x="213810" y="1841579"/>
                    <a:pt x="195351" y="1814601"/>
                    <a:pt x="238125" y="1857375"/>
                  </a:cubicBezTo>
                  <a:cubicBezTo>
                    <a:pt x="262066" y="1929199"/>
                    <a:pt x="229771" y="1840667"/>
                    <a:pt x="266700" y="1914525"/>
                  </a:cubicBezTo>
                  <a:cubicBezTo>
                    <a:pt x="271190" y="1923505"/>
                    <a:pt x="271349" y="1934323"/>
                    <a:pt x="276225" y="1943100"/>
                  </a:cubicBezTo>
                  <a:cubicBezTo>
                    <a:pt x="287344" y="1963114"/>
                    <a:pt x="301625" y="1981200"/>
                    <a:pt x="314325" y="2000250"/>
                  </a:cubicBezTo>
                  <a:cubicBezTo>
                    <a:pt x="320675" y="2009775"/>
                    <a:pt x="329755" y="2017965"/>
                    <a:pt x="333375" y="2028825"/>
                  </a:cubicBezTo>
                  <a:cubicBezTo>
                    <a:pt x="355148" y="2094144"/>
                    <a:pt x="329437" y="2013073"/>
                    <a:pt x="352425" y="2105025"/>
                  </a:cubicBezTo>
                  <a:cubicBezTo>
                    <a:pt x="354860" y="2114765"/>
                    <a:pt x="359772" y="2123799"/>
                    <a:pt x="361950" y="2133600"/>
                  </a:cubicBezTo>
                  <a:cubicBezTo>
                    <a:pt x="366140" y="2152453"/>
                    <a:pt x="367687" y="2171812"/>
                    <a:pt x="371475" y="2190750"/>
                  </a:cubicBezTo>
                  <a:cubicBezTo>
                    <a:pt x="374042" y="2203587"/>
                    <a:pt x="377404" y="2216263"/>
                    <a:pt x="381000" y="2228850"/>
                  </a:cubicBezTo>
                  <a:cubicBezTo>
                    <a:pt x="383758" y="2238504"/>
                    <a:pt x="388347" y="2247624"/>
                    <a:pt x="390525" y="2257425"/>
                  </a:cubicBezTo>
                  <a:cubicBezTo>
                    <a:pt x="394715" y="2276278"/>
                    <a:pt x="396262" y="2295637"/>
                    <a:pt x="400050" y="2314575"/>
                  </a:cubicBezTo>
                  <a:cubicBezTo>
                    <a:pt x="402617" y="2327412"/>
                    <a:pt x="406400" y="2339975"/>
                    <a:pt x="409575" y="2352675"/>
                  </a:cubicBezTo>
                  <a:cubicBezTo>
                    <a:pt x="412750" y="2390775"/>
                    <a:pt x="415475" y="2428915"/>
                    <a:pt x="419100" y="2466975"/>
                  </a:cubicBezTo>
                  <a:cubicBezTo>
                    <a:pt x="421826" y="2495596"/>
                    <a:pt x="428625" y="2523949"/>
                    <a:pt x="428625" y="2552700"/>
                  </a:cubicBezTo>
                  <a:cubicBezTo>
                    <a:pt x="428625" y="2686088"/>
                    <a:pt x="424540" y="2819473"/>
                    <a:pt x="419100" y="2952750"/>
                  </a:cubicBezTo>
                  <a:cubicBezTo>
                    <a:pt x="416607" y="3013826"/>
                    <a:pt x="407256" y="3013005"/>
                    <a:pt x="400050" y="3067050"/>
                  </a:cubicBezTo>
                  <a:cubicBezTo>
                    <a:pt x="395833" y="3098678"/>
                    <a:pt x="394253" y="3130610"/>
                    <a:pt x="390525" y="3162300"/>
                  </a:cubicBezTo>
                  <a:cubicBezTo>
                    <a:pt x="387902" y="3184597"/>
                    <a:pt x="384175" y="3206750"/>
                    <a:pt x="381000" y="3228975"/>
                  </a:cubicBezTo>
                  <a:cubicBezTo>
                    <a:pt x="369132" y="3454464"/>
                    <a:pt x="361950" y="3557218"/>
                    <a:pt x="361950" y="3819525"/>
                  </a:cubicBezTo>
                  <a:cubicBezTo>
                    <a:pt x="361950" y="3882247"/>
                    <a:pt x="344293" y="4284384"/>
                    <a:pt x="381000" y="4486275"/>
                  </a:cubicBezTo>
                  <a:cubicBezTo>
                    <a:pt x="383342" y="4499155"/>
                    <a:pt x="387350" y="4511675"/>
                    <a:pt x="390525" y="4524375"/>
                  </a:cubicBezTo>
                  <a:cubicBezTo>
                    <a:pt x="393700" y="4575175"/>
                    <a:pt x="395224" y="4626105"/>
                    <a:pt x="400050" y="4676775"/>
                  </a:cubicBezTo>
                  <a:cubicBezTo>
                    <a:pt x="401585" y="4692891"/>
                    <a:pt x="408040" y="4708284"/>
                    <a:pt x="409575" y="4724400"/>
                  </a:cubicBezTo>
                  <a:cubicBezTo>
                    <a:pt x="414401" y="4775070"/>
                    <a:pt x="415041" y="4826063"/>
                    <a:pt x="419100" y="4876800"/>
                  </a:cubicBezTo>
                  <a:cubicBezTo>
                    <a:pt x="421393" y="4905459"/>
                    <a:pt x="425450" y="4933950"/>
                    <a:pt x="428625" y="4962525"/>
                  </a:cubicBezTo>
                  <a:cubicBezTo>
                    <a:pt x="425450" y="5048250"/>
                    <a:pt x="424806" y="5134106"/>
                    <a:pt x="419100" y="5219700"/>
                  </a:cubicBezTo>
                  <a:cubicBezTo>
                    <a:pt x="418243" y="5232562"/>
                    <a:pt x="401134" y="5270219"/>
                    <a:pt x="390525" y="5276850"/>
                  </a:cubicBezTo>
                  <a:cubicBezTo>
                    <a:pt x="373497" y="5287493"/>
                    <a:pt x="333375" y="5295900"/>
                    <a:pt x="333375" y="5295900"/>
                  </a:cubicBezTo>
                  <a:cubicBezTo>
                    <a:pt x="250295" y="5287592"/>
                    <a:pt x="255066" y="5291198"/>
                    <a:pt x="190500" y="5276850"/>
                  </a:cubicBezTo>
                  <a:cubicBezTo>
                    <a:pt x="177721" y="5274010"/>
                    <a:pt x="164657" y="5271922"/>
                    <a:pt x="152400" y="5267325"/>
                  </a:cubicBezTo>
                  <a:cubicBezTo>
                    <a:pt x="139105" y="5262339"/>
                    <a:pt x="127000" y="5254625"/>
                    <a:pt x="114300" y="5248275"/>
                  </a:cubicBezTo>
                  <a:cubicBezTo>
                    <a:pt x="90130" y="5175766"/>
                    <a:pt x="99188" y="5210816"/>
                    <a:pt x="85725" y="5143500"/>
                  </a:cubicBezTo>
                  <a:cubicBezTo>
                    <a:pt x="82550" y="5067300"/>
                    <a:pt x="81447" y="4990985"/>
                    <a:pt x="76200" y="4914900"/>
                  </a:cubicBezTo>
                  <a:cubicBezTo>
                    <a:pt x="72856" y="4866418"/>
                    <a:pt x="66740" y="4877059"/>
                    <a:pt x="57150" y="4838700"/>
                  </a:cubicBezTo>
                  <a:cubicBezTo>
                    <a:pt x="53223" y="4822994"/>
                    <a:pt x="51552" y="4806781"/>
                    <a:pt x="47625" y="4791075"/>
                  </a:cubicBezTo>
                  <a:cubicBezTo>
                    <a:pt x="45190" y="4781335"/>
                    <a:pt x="40278" y="4772301"/>
                    <a:pt x="38100" y="4762500"/>
                  </a:cubicBezTo>
                  <a:cubicBezTo>
                    <a:pt x="15749" y="4661920"/>
                    <a:pt x="40492" y="4741101"/>
                    <a:pt x="19050" y="4676775"/>
                  </a:cubicBezTo>
                  <a:cubicBezTo>
                    <a:pt x="15875" y="4654550"/>
                    <a:pt x="13216" y="4632245"/>
                    <a:pt x="9525" y="4610100"/>
                  </a:cubicBezTo>
                  <a:cubicBezTo>
                    <a:pt x="6863" y="4594131"/>
                    <a:pt x="0" y="4578664"/>
                    <a:pt x="0" y="4562475"/>
                  </a:cubicBezTo>
                  <a:cubicBezTo>
                    <a:pt x="0" y="4413216"/>
                    <a:pt x="4198" y="4263964"/>
                    <a:pt x="9525" y="4114800"/>
                  </a:cubicBezTo>
                  <a:cubicBezTo>
                    <a:pt x="13647" y="3999380"/>
                    <a:pt x="15195" y="4064564"/>
                    <a:pt x="28575" y="3990975"/>
                  </a:cubicBezTo>
                  <a:cubicBezTo>
                    <a:pt x="32591" y="3968886"/>
                    <a:pt x="34599" y="3946476"/>
                    <a:pt x="38100" y="3924300"/>
                  </a:cubicBezTo>
                  <a:cubicBezTo>
                    <a:pt x="44124" y="3886147"/>
                    <a:pt x="57150" y="3810000"/>
                    <a:pt x="57150" y="3810000"/>
                  </a:cubicBezTo>
                  <a:cubicBezTo>
                    <a:pt x="60325" y="3603625"/>
                    <a:pt x="61099" y="3397199"/>
                    <a:pt x="66675" y="3190875"/>
                  </a:cubicBezTo>
                  <a:cubicBezTo>
                    <a:pt x="67452" y="3162135"/>
                    <a:pt x="74560" y="3133854"/>
                    <a:pt x="76200" y="3105150"/>
                  </a:cubicBezTo>
                  <a:cubicBezTo>
                    <a:pt x="80913" y="3022674"/>
                    <a:pt x="82550" y="2940050"/>
                    <a:pt x="85725" y="2857500"/>
                  </a:cubicBezTo>
                  <a:cubicBezTo>
                    <a:pt x="82550" y="2686050"/>
                    <a:pt x="76200" y="2514629"/>
                    <a:pt x="76200" y="2343150"/>
                  </a:cubicBezTo>
                  <a:cubicBezTo>
                    <a:pt x="76200" y="2209762"/>
                    <a:pt x="78326" y="2076282"/>
                    <a:pt x="85725" y="1943100"/>
                  </a:cubicBezTo>
                  <a:cubicBezTo>
                    <a:pt x="88754" y="1888580"/>
                    <a:pt x="101566" y="1841635"/>
                    <a:pt x="114300" y="1790700"/>
                  </a:cubicBezTo>
                  <a:cubicBezTo>
                    <a:pt x="117475" y="1736725"/>
                    <a:pt x="124476" y="1682839"/>
                    <a:pt x="123825" y="1628775"/>
                  </a:cubicBezTo>
                  <a:cubicBezTo>
                    <a:pt x="116686" y="1036272"/>
                    <a:pt x="154853" y="1200438"/>
                    <a:pt x="95250" y="962025"/>
                  </a:cubicBezTo>
                  <a:cubicBezTo>
                    <a:pt x="92075" y="927100"/>
                    <a:pt x="89396" y="892126"/>
                    <a:pt x="85725" y="857250"/>
                  </a:cubicBezTo>
                  <a:cubicBezTo>
                    <a:pt x="83045" y="831793"/>
                    <a:pt x="76200" y="806648"/>
                    <a:pt x="76200" y="781050"/>
                  </a:cubicBezTo>
                  <a:cubicBezTo>
                    <a:pt x="76200" y="673053"/>
                    <a:pt x="80588" y="565074"/>
                    <a:pt x="85725" y="457200"/>
                  </a:cubicBezTo>
                  <a:cubicBezTo>
                    <a:pt x="86943" y="431631"/>
                    <a:pt x="91453" y="406314"/>
                    <a:pt x="95250" y="381000"/>
                  </a:cubicBezTo>
                  <a:cubicBezTo>
                    <a:pt x="103845" y="323703"/>
                    <a:pt x="114300" y="266700"/>
                    <a:pt x="123825" y="209550"/>
                  </a:cubicBezTo>
                  <a:cubicBezTo>
                    <a:pt x="151892" y="41145"/>
                    <a:pt x="116250" y="251213"/>
                    <a:pt x="142875" y="104775"/>
                  </a:cubicBezTo>
                  <a:cubicBezTo>
                    <a:pt x="142984" y="104176"/>
                    <a:pt x="152046" y="31399"/>
                    <a:pt x="161925" y="19050"/>
                  </a:cubicBezTo>
                  <a:cubicBezTo>
                    <a:pt x="169076" y="10111"/>
                    <a:pt x="180975" y="6350"/>
                    <a:pt x="190500" y="0"/>
                  </a:cubicBezTo>
                  <a:cubicBezTo>
                    <a:pt x="208614" y="3623"/>
                    <a:pt x="247174" y="9287"/>
                    <a:pt x="266700" y="19050"/>
                  </a:cubicBezTo>
                  <a:cubicBezTo>
                    <a:pt x="276939" y="24170"/>
                    <a:pt x="285036" y="32980"/>
                    <a:pt x="295275" y="38100"/>
                  </a:cubicBezTo>
                  <a:cubicBezTo>
                    <a:pt x="374145" y="77535"/>
                    <a:pt x="270533" y="12080"/>
                    <a:pt x="352425" y="66675"/>
                  </a:cubicBezTo>
                  <a:cubicBezTo>
                    <a:pt x="355600" y="76200"/>
                    <a:pt x="357795" y="86110"/>
                    <a:pt x="361950" y="95250"/>
                  </a:cubicBezTo>
                  <a:cubicBezTo>
                    <a:pt x="373701" y="121103"/>
                    <a:pt x="389503" y="145083"/>
                    <a:pt x="400050" y="171450"/>
                  </a:cubicBezTo>
                  <a:cubicBezTo>
                    <a:pt x="422829" y="228397"/>
                    <a:pt x="413693" y="202855"/>
                    <a:pt x="428625" y="247650"/>
                  </a:cubicBezTo>
                  <a:cubicBezTo>
                    <a:pt x="425450" y="295275"/>
                    <a:pt x="425273" y="343195"/>
                    <a:pt x="419100" y="390525"/>
                  </a:cubicBezTo>
                  <a:cubicBezTo>
                    <a:pt x="415714" y="416487"/>
                    <a:pt x="403297" y="440745"/>
                    <a:pt x="400050" y="466725"/>
                  </a:cubicBezTo>
                  <a:lnTo>
                    <a:pt x="390525" y="542925"/>
                  </a:lnTo>
                  <a:cubicBezTo>
                    <a:pt x="387350" y="635000"/>
                    <a:pt x="386410" y="727179"/>
                    <a:pt x="381000" y="819150"/>
                  </a:cubicBezTo>
                  <a:cubicBezTo>
                    <a:pt x="380049" y="835311"/>
                    <a:pt x="374137" y="850806"/>
                    <a:pt x="371475" y="866775"/>
                  </a:cubicBezTo>
                  <a:cubicBezTo>
                    <a:pt x="367784" y="888920"/>
                    <a:pt x="365641" y="911305"/>
                    <a:pt x="361950" y="933450"/>
                  </a:cubicBezTo>
                  <a:cubicBezTo>
                    <a:pt x="359288" y="949419"/>
                    <a:pt x="356352" y="965369"/>
                    <a:pt x="352425" y="981075"/>
                  </a:cubicBezTo>
                  <a:cubicBezTo>
                    <a:pt x="349990" y="990815"/>
                    <a:pt x="350000" y="1002550"/>
                    <a:pt x="342900" y="1009650"/>
                  </a:cubicBezTo>
                  <a:cubicBezTo>
                    <a:pt x="335800" y="1016750"/>
                    <a:pt x="323850" y="1016000"/>
                    <a:pt x="314325" y="1019175"/>
                  </a:cubicBezTo>
                  <a:cubicBezTo>
                    <a:pt x="288925" y="1095375"/>
                    <a:pt x="327025" y="1006475"/>
                    <a:pt x="276225" y="1057275"/>
                  </a:cubicBezTo>
                  <a:cubicBezTo>
                    <a:pt x="269125" y="1064375"/>
                    <a:pt x="272972" y="1078010"/>
                    <a:pt x="266700" y="1085850"/>
                  </a:cubicBezTo>
                  <a:cubicBezTo>
                    <a:pt x="259549" y="1094789"/>
                    <a:pt x="247650" y="1098550"/>
                    <a:pt x="238125" y="1104900"/>
                  </a:cubicBezTo>
                  <a:cubicBezTo>
                    <a:pt x="215477" y="1172844"/>
                    <a:pt x="247591" y="1090701"/>
                    <a:pt x="200025" y="1162050"/>
                  </a:cubicBezTo>
                  <a:cubicBezTo>
                    <a:pt x="194456" y="1170404"/>
                    <a:pt x="194990" y="1181645"/>
                    <a:pt x="190500" y="1190625"/>
                  </a:cubicBezTo>
                  <a:cubicBezTo>
                    <a:pt x="185380" y="1200864"/>
                    <a:pt x="176099" y="1208739"/>
                    <a:pt x="171450" y="1219200"/>
                  </a:cubicBezTo>
                  <a:cubicBezTo>
                    <a:pt x="150726" y="1265828"/>
                    <a:pt x="155663" y="1271825"/>
                    <a:pt x="142875" y="1314450"/>
                  </a:cubicBezTo>
                  <a:cubicBezTo>
                    <a:pt x="133348" y="1346208"/>
                    <a:pt x="119789" y="1376769"/>
                    <a:pt x="114300" y="1409700"/>
                  </a:cubicBezTo>
                  <a:cubicBezTo>
                    <a:pt x="102018" y="1483390"/>
                    <a:pt x="104775" y="1481629"/>
                    <a:pt x="104775" y="1552575"/>
                  </a:cubicBezTo>
                  <a:lnTo>
                    <a:pt x="123825" y="1466850"/>
                  </a:lnTo>
                  <a:lnTo>
                    <a:pt x="133350" y="1524000"/>
                  </a:lnTo>
                  <a:lnTo>
                    <a:pt x="76200" y="1495425"/>
                  </a:lnTo>
                  <a:lnTo>
                    <a:pt x="76200" y="1495425"/>
                  </a:lnTo>
                  <a:lnTo>
                    <a:pt x="0" y="1571625"/>
                  </a:lnTo>
                  <a:lnTo>
                    <a:pt x="104775" y="1543050"/>
                  </a:lnTo>
                  <a:lnTo>
                    <a:pt x="104775" y="1543050"/>
                  </a:lnTo>
                  <a:lnTo>
                    <a:pt x="104775" y="16478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" name="그림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6450" y="3233737"/>
            <a:ext cx="419100" cy="39052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8850" y="3386137"/>
            <a:ext cx="419100" cy="39052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23183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1</a:t>
            </a:r>
            <a:r>
              <a:rPr lang="en-US" altLang="ko-KR" sz="2000" b="1" dirty="0">
                <a:latin typeface="+mn-ea"/>
              </a:rPr>
              <a:t>. </a:t>
            </a:r>
            <a:r>
              <a:rPr lang="ko-KR" altLang="en-US" sz="2000" b="1" dirty="0">
                <a:latin typeface="+mn-ea"/>
              </a:rPr>
              <a:t>나는 위 세 학생 중 누구의 입장을 가장 지지하는지 이름을 쓰고 그 까닭을 써 </a:t>
            </a:r>
            <a:r>
              <a:rPr lang="ko-KR" altLang="en-US" sz="2000" b="1" dirty="0" smtClean="0">
                <a:latin typeface="+mn-ea"/>
              </a:rPr>
              <a:t>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동물원 존폐에 관해 토의하기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398608"/>
            <a:ext cx="10293350" cy="707988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9170" y="2881750"/>
            <a:ext cx="2022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•</a:t>
            </a:r>
            <a:r>
              <a:rPr lang="ko-KR" altLang="en-US" sz="2000" dirty="0"/>
              <a:t>지지하는 입장</a:t>
            </a:r>
            <a:r>
              <a:rPr lang="en-US" altLang="ko-KR" sz="2000" dirty="0"/>
              <a:t>:</a:t>
            </a:r>
            <a:endParaRPr lang="ko-KR" altLang="en-US" sz="2000" dirty="0"/>
          </a:p>
        </p:txBody>
      </p:sp>
      <p:sp>
        <p:nvSpPr>
          <p:cNvPr id="37" name="TextBox 36"/>
          <p:cNvSpPr txBox="1"/>
          <p:nvPr/>
        </p:nvSpPr>
        <p:spPr>
          <a:xfrm>
            <a:off x="829170" y="4230174"/>
            <a:ext cx="2022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 smtClean="0"/>
              <a:t>•</a:t>
            </a:r>
            <a:r>
              <a:rPr lang="ko-KR" altLang="en-US" sz="2000" dirty="0" smtClean="0"/>
              <a:t>그 </a:t>
            </a:r>
            <a:r>
              <a:rPr lang="ko-KR" altLang="en-US" sz="2000" dirty="0"/>
              <a:t>까닭</a:t>
            </a:r>
            <a:r>
              <a:rPr lang="en-US" altLang="ko-KR" sz="2000" dirty="0"/>
              <a:t>:</a:t>
            </a:r>
            <a:endParaRPr lang="ko-KR" altLang="en-US" sz="2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820612" y="4753861"/>
            <a:ext cx="10293350" cy="1476731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979524" y="3429436"/>
            <a:ext cx="8171135" cy="2662954"/>
            <a:chOff x="979524" y="3429436"/>
            <a:chExt cx="8171135" cy="2662954"/>
          </a:xfrm>
        </p:grpSpPr>
        <p:sp>
          <p:nvSpPr>
            <p:cNvPr id="21" name="TextBox 20"/>
            <p:cNvSpPr txBox="1"/>
            <p:nvPr/>
          </p:nvSpPr>
          <p:spPr>
            <a:xfrm>
              <a:off x="979524" y="3429436"/>
              <a:ext cx="79266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서원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79524" y="4892061"/>
              <a:ext cx="817113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동물원의 생활 환경을 개선함으로써 동물을 볼 때 불편했던 마음의 짐을 덜 수 있다</a:t>
              </a:r>
              <a:r>
                <a:rPr lang="en-US" altLang="ko-KR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.</a:t>
              </a:r>
              <a:endPara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endParaRPr>
            </a:p>
          </p:txBody>
        </p:sp>
      </p:grpSp>
      <p:pic>
        <p:nvPicPr>
          <p:cNvPr id="41" name="그림 4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42" name="그룹 41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43" name="그림 4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198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2. </a:t>
            </a:r>
            <a:r>
              <a:rPr lang="ko-KR" altLang="en-US" sz="2000" b="1" dirty="0">
                <a:latin typeface="+mn-ea"/>
              </a:rPr>
              <a:t>나와 다른 입장을 고른 친구들과 이야기를 나누고 그중 공통된 내용을 정리해 써 보자</a:t>
            </a:r>
            <a:r>
              <a:rPr lang="en-US" altLang="ko-KR" sz="2000" b="1" dirty="0">
                <a:latin typeface="+mn-ea"/>
              </a:rPr>
              <a:t>.</a:t>
            </a:r>
          </a:p>
        </p:txBody>
      </p:sp>
      <p:pic>
        <p:nvPicPr>
          <p:cNvPr id="27" name="그림 26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동물원 존폐에 관해 토의하기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269819"/>
            <a:ext cx="10293350" cy="2479968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79524" y="3269819"/>
            <a:ext cx="9913065" cy="223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동물의 고통을 덜어 주는 것이 동물을 바라보는 인간의 마음도 편하게 하고 동물을 위하는 방법이다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동물이 지닌 소중한 생명의 가치를 존중하는 것이 인간과 동물 모두에게 바람직한 태도이다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54824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23" grpId="0"/>
      <p:bldP spid="2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3527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다음 중 한 가지 입장을 골라 인간 이외의 생명체를 도덕적으로 고려해야 하는 까닭을 성찰해 보자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.</a:t>
            </a:r>
          </a:p>
        </p:txBody>
      </p: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4254208"/>
            <a:ext cx="8522936" cy="2222280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3" name="그림 2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4277660"/>
            <a:ext cx="487174" cy="487174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4277660"/>
            <a:ext cx="1087577" cy="495431"/>
            <a:chOff x="10075659" y="2003022"/>
            <a:chExt cx="1156006" cy="495431"/>
          </a:xfrm>
        </p:grpSpPr>
        <p:pic>
          <p:nvPicPr>
            <p:cNvPr id="25" name="그림 2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35916" y="4713140"/>
            <a:ext cx="8165055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인간의 생명이 소중하듯이 인간 이외의 모든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생명은 그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자체로 소중하기 때문이다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grpSp>
        <p:nvGrpSpPr>
          <p:cNvPr id="29" name="그룹 28"/>
          <p:cNvGrpSpPr/>
          <p:nvPr/>
        </p:nvGrpSpPr>
        <p:grpSpPr>
          <a:xfrm>
            <a:off x="936086" y="4194194"/>
            <a:ext cx="1742945" cy="458932"/>
            <a:chOff x="877165" y="3739778"/>
            <a:chExt cx="1328154" cy="458932"/>
          </a:xfrm>
        </p:grpSpPr>
        <p:sp>
          <p:nvSpPr>
            <p:cNvPr id="30" name="모서리가 둥근 직사각형 29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48928" y="3739778"/>
              <a:ext cx="1224117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성찰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646216"/>
            <a:ext cx="2752219" cy="1154200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4206599" y="2646216"/>
            <a:ext cx="2739634" cy="1135986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 rot="323694">
            <a:off x="7700211" y="2599024"/>
            <a:ext cx="2958068" cy="1086016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86877" y="2751422"/>
            <a:ext cx="2552378" cy="943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인간에게 도움이 </a:t>
            </a:r>
            <a:endParaRPr lang="en-US" altLang="ko-KR" sz="200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되기 때문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350044" y="2715484"/>
            <a:ext cx="24527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동물도 고통을</a:t>
            </a:r>
            <a:endParaRPr lang="en-US" altLang="ko-KR" sz="200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느끼기 때문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 rot="331235">
            <a:off x="7700211" y="2618276"/>
            <a:ext cx="29717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생명은 그 자체로 </a:t>
            </a:r>
            <a:endParaRPr lang="en-US" altLang="ko-KR" sz="200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소중하기 때문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05914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7" grpId="0"/>
      <p:bldP spid="27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“02.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생명체를 도덕적으로 고려하려면 어떻게 </a:t>
            </a:r>
            <a:endParaRPr lang="en-US" altLang="ko-KR" sz="2800" b="1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2800" b="1" dirty="0" smtClean="0">
                <a:solidFill>
                  <a:schemeClr val="tx1"/>
                </a:solidFill>
              </a:rPr>
              <a:t>해야 할까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</a:rPr>
              <a:t>를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왜 생명체를 도덕적으로 고려해야 할까?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도덕적 </a:t>
            </a:r>
            <a:r>
              <a:rPr sz="2400" b="1">
                <a:solidFill>
                  <a:srgbClr val="843C0C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고려 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도덕적인 기준에 따라 보살피고 대우함.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친구가 아파 보이면 무리한 장난을 멈춘다 — 친구를 도덕적으로 고려한 것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⇨ 인간 이외의 생명체를 도덕적으로 고려해야 하는 까닭은?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도덕적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고려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도덕적인 기준에 따라 보살피고 대우함.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친구가 아파 보이면 무리한 장난을 멈춘다 — 친구를 도덕적으로 고려한 것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⇨ 인간 이외의 생명체를 도덕적으로 고려해야 하는 까닭은?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고려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도덕적인 기준에 따라 보살피고 대우함.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친구가 아파 보이면 무리한 장난을 멈춘다 — 친구를 도덕적으로 고려한 것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⇨ 인간 이외의 생명체를 도덕적으로 고려해야 하는 까닭은?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고려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도덕적인 기준에 따라 보살피고 대우함.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친구가 아파 보이면 무리한 장난을 멈춘다 — 친구를 도덕적으로 고려한 것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⇨ 인간 이외의 생명체를 도덕적으로 고려해야 하는 까닭은?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인간에게 도움이 되기 때문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인간 이외의 생명체를 돌보는 일은 우리의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인성 </a:t>
            </a:r>
            <a:r>
              <a:rPr sz="2400" b="0">
                <a:solidFill>
                  <a:srgbClr val="262626"/>
                </a:solidFill>
              </a:rPr>
              <a:t> 함양에 좋은 영향을 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반려동물을 돌보며 배려를 배우고, 숲은 공기를 맑게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인간 이외의 생명체는 우리 삶의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토대 </a:t>
            </a:r>
            <a:r>
              <a:rPr sz="2400" b="0">
                <a:solidFill>
                  <a:srgbClr val="262626"/>
                </a:solidFill>
              </a:rPr>
              <a:t>가 됨.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인간 이외의 생명체를 돌보는 일은 우리의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인성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함양에 좋은 영향을 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반려동물을 돌보며 배려를 배우고, 숲은 공기를 맑게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인간 이외의 생명체는 우리 삶의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토대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가 됨.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인간 이외의 생명체를 돌보는 일은 우리의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함양에 좋은 영향을 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반려동물을 돌보며 배려를 배우고, 숲은 공기를 맑게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인간 이외의 생명체는 우리 삶의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토대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가 됨.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인간 이외의 생명체를 돌보는 일은 우리의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함양에 좋은 영향을 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반려동물을 돌보며 배려를 배우고, 숲은 공기를 맑게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인간 이외의 생명체는 우리 삶의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토대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가 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동물도 고통을 느끼기 때문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인간과 동물 모두 고통을 느낄 수 있다는 점에서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차이 </a:t>
            </a:r>
            <a:r>
              <a:rPr sz="2400" b="0">
                <a:solidFill>
                  <a:srgbClr val="262626"/>
                </a:solidFill>
              </a:rPr>
              <a:t>가 없음.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다른 사람에게 고통을 일으키는 일이 옳지 않은 것처럼 동물의 고통에 무관심하거나 동물에게 고통을 주는 것은 바람직한 태도가 아님.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좁은 철창 속 닭도 아픔과 스트레스를 느낀다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인간과 동물 모두 고통을 느낄 수 있다는 점에서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차이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가 없음.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다른 사람에게 고통을 일으키는 일이 옳지 않은 것처럼 동물의 고통에 무관심하거나 동물에게 고통을 주는 것은 바람직한 태도가 아님.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좁은 철창 속 닭도 아픔과 스트레스를 느낀다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인간과 동물 모두 고통을 느낄 수 있다는 점에서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차이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가 없음.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다른 사람에게 고통을 일으키는 일이 옳지 않은 것처럼 동물의 고통에 무관심하거나 동물에게 고통을 주는 것은 바람직한 태도가 아님.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좁은 철창 속 닭도 아픔과 스트레스를 느낀다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생명은 그 자체로 소중하기 때문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자신의 생명을 지키고자 온갖 노력을 다한다는 점에서 인간과 인간 이외의 생명체 사이에 차이가 없음.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개미도 물에 빠지면 필사적으로 헤엄쳐 나온다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모든 생명은 그 자체로 소중하기 때문에 인간 이외의 생명체도 도덕적으로 고려해야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슈바이처 </a:t>
            </a:r>
            <a:r>
              <a:rPr sz="2400" b="1">
                <a:solidFill>
                  <a:srgbClr val="843C0C"/>
                </a:solidFill>
              </a:rPr>
              <a:t>가 말한 도덕적 고려 방법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슈바이처는 밤에 등불에 날벌레가 타 죽을까 봐 창문을 닫고 일했다고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어쩔 수 없는 상황이 아니라면 다른 생명체를 해치지 말아야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다른 생명체를 해쳐야 하는 상황이라면 그 희생과 책임감과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감사함 </a:t>
            </a:r>
            <a:r>
              <a:rPr sz="2400" b="0">
                <a:solidFill>
                  <a:srgbClr val="262626"/>
                </a:solidFill>
              </a:rPr>
              <a:t>을 느껴야 함.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자신의 생명을 지키고자 온갖 노력을 다한다는 점에서 인간과 인간 이외의 생명체 사이에 차이가 없음.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개미도 물에 빠지면 필사적으로 헤엄쳐 나온다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모든 생명은 그 자체로 소중하기 때문에 인간 이외의 생명체도 도덕적으로 고려해야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슈바이처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가 말한 도덕적 고려 방법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슈바이처는 밤에 등불에 날벌레가 타 죽을까 봐 창문을 닫고 일했다고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어쩔 수 없는 상황이 아니라면 다른 생명체를 해치지 말아야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다른 생명체를 해쳐야 하는 상황이라면 그 희생과 책임감과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감사함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느껴야 함.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자신의 생명을 지키고자 온갖 노력을 다한다는 점에서 인간과 인간 이외의 생명체 사이에 차이가 없음.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개미도 물에 빠지면 필사적으로 헤엄쳐 나온다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모든 생명은 그 자체로 소중하기 때문에 인간 이외의 생명체도 도덕적으로 고려해야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슈바이처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가 말한 도덕적 고려 방법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슈바이처는 밤에 등불에 날벌레가 타 죽을까 봐 창문을 닫고 일했다고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어쩔 수 없는 상황이 아니라면 다른 생명체를 해치지 말아야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다른 생명체를 해쳐야 하는 상황이라면 그 희생과 책임감과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감사함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느껴야 함.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자신의 생명을 지키고자 온갖 노력을 다한다는 점에서 인간과 인간 이외의 생명체 사이에 차이가 없음.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개미도 물에 빠지면 필사적으로 헤엄쳐 나온다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모든 생명은 그 자체로 소중하기 때문에 인간 이외의 생명체도 도덕적으로 고려해야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슈바이처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가 말한 도덕적 고려 방법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슈바이처는 밤에 등불에 날벌레가 타 죽을까 봐 창문을 닫고 일했다고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어쩔 수 없는 상황이 아니라면 다른 생명체를 해치지 말아야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다른 생명체를 해쳐야 하는 상황이라면 그 희생과 책임감과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감사함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느껴야 함.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자신의 생명을 지키고자 온갖 노력을 다한다는 점에서 인간과 인간 이외의 생명체 사이에 차이가 없음.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개미도 물에 빠지면 필사적으로 헤엄쳐 나온다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모든 생명은 그 자체로 소중하기 때문에 인간 이외의 생명체도 도덕적으로 고려해야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슈바이처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가 말한 도덕적 고려 방법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슈바이처는 밤에 등불에 날벌레가 타 죽을까 봐 창문을 닫고 일했다고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어쩔 수 없는 상황이 아니라면 다른 생명체를 해치지 말아야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다른 생명체를 해쳐야 하는 상황이라면 그 희생과 책임감과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감사함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느껴야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00" b="1" dirty="0">
                <a:solidFill>
                  <a:srgbClr val="FFFF00"/>
                </a:solidFill>
                <a:latin typeface="+mn-ea"/>
              </a:rPr>
              <a:t>생명은 그 자체로 소중하기 때문 (이어서)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단순히 </a:t>
            </a:r>
            <a:r>
              <a:rPr sz="1439" b="1">
                <a:solidFill>
                  <a:srgbClr val="2F6FD0"/>
                </a:solidFill>
              </a:rPr>
              <a:t>⑧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즐거움 </a:t>
            </a:r>
            <a:r>
              <a:rPr sz="2400" b="0">
                <a:solidFill>
                  <a:srgbClr val="262626"/>
                </a:solidFill>
              </a:rPr>
              <a:t>이나 만족감을 위해 사냥이나 낚시 등을 하지 말아야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재미로 하는 물고기 잡기 체험 — 잡은 물고기는 어떻게 될까?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단순히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/>
                </a:solidFill>
              </a:rPr>
              <a:t> 즐거움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이나 만족감을 위해 사냥이나 낚시 등을 하지 말아야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재미로 하는 물고기 잡기 체험 — 잡은 물고기는 어떻게 될까?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단순히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즐거움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이나 만족감을 위해 사냥이나 낚시 등을 하지 말아야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재미로 하는 물고기 잡기 체험 — 잡은 물고기는 어떻게 될까?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사상가의 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“문제는 그들이 이성을 쓸 수 있는가, 말할 수 있는가가 아니라 고통을 느낄 수 있는가이다”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— 제러미 벤담, 『도덕과 입법의 원리 서설』(1789)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하마 떼 사이에서 떠오른 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1915년 9월 · 아프리카 가봉 오고웨강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사람 · 의사이자 철학자 알베르트 슈바이처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상황 · 환자를 보러 가던 배 위에서 사흘째 고민했다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순간 · 해 질 녘 하마 떼 곁을 지나며 한 낱말이 떠올랐다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낱말 · ‘생명에 대한 외경’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‘외경’은 어떤 마음일까?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1915년 9월 · 아프리카 가봉 오고웨강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사람 · 의사이자 철학자 알베르트 슈바이처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상황 · 환자를 보러 가던 배 위에서 사흘째 고민했다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순간 · 해 질 녘 하마 떼 곁을 지나며 한 낱말이 떠올랐다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낱말 · ‘생명에 대한 외경’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‘외경’은 어떤 마음일까?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도덕적 고려의 범위, 어디까지?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인간 · 인간 중심주의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동물 · 동물 중심주의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모든 생명 · 생명 중심주의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생태계 · 생태 중심주의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딜레마 · 나라면?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모기가 팔에 앉았다. (생명 중심주의자라면?)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잡는다 — 나를 지키는 것도 중요하다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쫓는다 — 살려는 생명이니 해치지 않는다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생명 존중에도 우선순위가 있을까?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모기가 팔에 앉았다. (생명 중심주의자라면?)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잡는다 — 나를 지키는 것도 중요하다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쫓는다 — 살려는 생명이니 해치지 않는다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생명 존중에도 우선순위가 있을까?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이 중에서 함부로 대해도 되는 것은?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🪨 · 돌멩이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🌳 · 나무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🐟 · 물고기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🐕 · 강아지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도덕적인 기준에 따라 보살피고 대우하는 것을 ‘도덕적 고려’라고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인간 이외의 생명체는 우리 인성 함양에 영향을 주고, 삶의 토대가 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인간과 동물이 느끼는 고통은 서로 다르다는 점에서 차이가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슈바이처에 따르면, 단순히 즐거움이나 만족감을 위한 사냥이나 낚시를 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도덕적인 기준에 따라 보살피고 대우하는 것을 ‘도덕적 고려’라고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인간 이외의 생명체는 우리 인성 함양에 영향을 주고, 삶의 토대가 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인간과 동물이 느끼는 고통은 서로 다르다는 점에서 차이가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슈바이처에 따르면, 단순히 즐거움이나 만족감을 위한 사냥이나 낚시를 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도덕적인 기준에 따라 보살피고 대우하는 것을 ‘도덕적 고려’라고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인간 이외의 생명체는 우리 인성 함양에 영향을 주고, 삶의 토대가 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인간과 동물이 느끼는 고통은 서로 다르다는 점에서 차이가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슈바이처에 따르면, 단순히 즐거움이나 만족감을 위한 사냥이나 낚시를 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도덕적인 기준에 따라 보살피고 대우하는 것을 ‘도덕적 고려’라고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인간 이외의 생명체는 우리 인성 함양에 영향을 주고, 삶의 토대가 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인간과 동물이 느끼는 고통은 서로 다르다는 점에서 차이가 있다.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슈바이처에 따르면, 단순히 즐거움이나 만족감을 위한 사냥이나 낚시를 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도덕적인 기준에 따라 보살피고 대우하는 것을 ‘도덕적 고려’라고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인간 이외의 생명체는 우리 인성 함양에 영향을 주고, 삶의 토대가 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인간과 동물이 느끼는 고통은 서로 다르다는 점에서 차이가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슈바이처에 따르면, 단순히 즐거움이나 만족감을 위한 사냥이나 낚시를 해야 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함부로 대해도 된다고 생각하는 것은?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손을 들어 투표해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🪨 돌멩이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🌳 나무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🐟 물고기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🦟 모기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🐕 강아지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없다   ✋ ____ 명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어떤 이유일까?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인간에게 도움 · 동물도 고통 · 생명 그 자체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식물을 기르면 마음이 안정된다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인간에게 도움 (인성 함양)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물고기도 위험을 감지하는 기관이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동물도 고통 (고통을 느끼는 능력)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풀 한 포기도 살려고 애쓴다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생명 그 자체 (생명 외경)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동식물이 공기와 물을 맑게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인간에게 도움 (삶의 토대)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인간의 고통과 동물의 고통을 평등하게 고려해야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동물도 고통 (싱어)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6. 곤충이 다칠까 봐 창문을 닫는다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생명 그 자체 (슈바이처)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인간에게 도움 · 동물도 고통 · 생명 그 자체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식물을 기르면 마음이 안정된다</a:t>
            </a:r>
            <a:r>
              <a:rPr sz="2300" b="1">
                <a:solidFill>
                  <a:srgbClr val="C0392B"/>
                </a:solidFill>
              </a:rPr>
              <a:t>   → 인간에게 도움 (인성 함양)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물고기도 위험을 감지하는 기관이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동물도 고통 (고통을 느끼는 능력)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풀 한 포기도 살려고 애쓴다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생명 그 자체 (생명 외경)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동식물이 공기와 물을 맑게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인간에게 도움 (삶의 토대)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인간의 고통과 동물의 고통을 평등하게 고려해야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동물도 고통 (싱어)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곤충이 다칠까 봐 창문을 닫는다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생명 그 자체 (슈바이처)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인간에게 도움 · 동물도 고통 · 생명 그 자체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식물을 기르면 마음이 안정된다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인간에게 도움 (인성 함양)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물고기도 위험을 감지하는 기관이 있다</a:t>
            </a:r>
            <a:r>
              <a:rPr sz="2300" b="1">
                <a:solidFill>
                  <a:srgbClr val="C0392B"/>
                </a:solidFill>
              </a:rPr>
              <a:t>   → 동물도 고통 (고통을 느끼는 능력)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풀 한 포기도 살려고 애쓴다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생명 그 자체 (생명 외경)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동식물이 공기와 물을 맑게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인간에게 도움 (삶의 토대)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인간의 고통과 동물의 고통을 평등하게 고려해야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동물도 고통 (싱어)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곤충이 다칠까 봐 창문을 닫는다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생명 그 자체 (슈바이처)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인간에게 도움 · 동물도 고통 · 생명 그 자체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식물을 기르면 마음이 안정된다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인간에게 도움 (인성 함양)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물고기도 위험을 감지하는 기관이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동물도 고통 (고통을 느끼는 능력)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풀 한 포기도 살려고 애쓴다</a:t>
            </a:r>
            <a:r>
              <a:rPr sz="2300" b="1">
                <a:solidFill>
                  <a:srgbClr val="C0392B"/>
                </a:solidFill>
              </a:rPr>
              <a:t>   → 생명 그 자체 (생명 외경)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동식물이 공기와 물을 맑게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인간에게 도움 (삶의 토대)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인간의 고통과 동물의 고통을 평등하게 고려해야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동물도 고통 (싱어)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곤충이 다칠까 봐 창문을 닫는다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생명 그 자체 (슈바이처)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인간에게 도움 · 동물도 고통 · 생명 그 자체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식물을 기르면 마음이 안정된다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인간에게 도움 (인성 함양)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물고기도 위험을 감지하는 기관이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동물도 고통 (고통을 느끼는 능력)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풀 한 포기도 살려고 애쓴다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생명 그 자체 (생명 외경)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동식물이 공기와 물을 맑게 한다</a:t>
            </a:r>
            <a:r>
              <a:rPr sz="2300" b="1">
                <a:solidFill>
                  <a:srgbClr val="C0392B"/>
                </a:solidFill>
              </a:rPr>
              <a:t>   → 인간에게 도움 (삶의 토대)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인간의 고통과 동물의 고통을 평등하게 고려해야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동물도 고통 (싱어)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곤충이 다칠까 봐 창문을 닫는다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생명 그 자체 (슈바이처)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인간에게 도움 · 동물도 고통 · 생명 그 자체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식물을 기르면 마음이 안정된다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인간에게 도움 (인성 함양)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물고기도 위험을 감지하는 기관이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동물도 고통 (고통을 느끼는 능력)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풀 한 포기도 살려고 애쓴다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생명 그 자체 (생명 외경)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동식물이 공기와 물을 맑게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인간에게 도움 (삶의 토대)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인간의 고통과 동물의 고통을 평등하게 고려해야 한다</a:t>
            </a:r>
            <a:r>
              <a:rPr sz="2300" b="1">
                <a:solidFill>
                  <a:srgbClr val="C0392B"/>
                </a:solidFill>
              </a:rPr>
              <a:t>   → 동물도 고통 (싱어)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곤충이 다칠까 봐 창문을 닫는다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생명 그 자체 (슈바이처)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인간에게 도움 · 동물도 고통 · 생명 그 자체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식물을 기르면 마음이 안정된다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인간에게 도움 (인성 함양)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물고기도 위험을 감지하는 기관이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동물도 고통 (고통을 느끼는 능력)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풀 한 포기도 살려고 애쓴다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생명 그 자체 (생명 외경)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동식물이 공기와 물을 맑게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인간에게 도움 (삶의 토대)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인간의 고통과 동물의 고통을 평등하게 고려해야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동물도 고통 (싱어)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곤충이 다칠까 봐 창문을 닫는다</a:t>
            </a:r>
            <a:r>
              <a:rPr sz="2300" b="1">
                <a:solidFill>
                  <a:srgbClr val="C0392B"/>
                </a:solidFill>
              </a:rPr>
              <a:t>   → 생명 그 자체 (슈바이처)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00" b="1" dirty="0">
                <a:solidFill>
                  <a:srgbClr val="FFFF00"/>
                </a:solidFill>
                <a:latin typeface="+mn-ea"/>
              </a:rPr>
              <a:t>동물원 존폐 토의 · 나는 누구를 지지할까?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왜 </a:t>
            </a:r>
            <a:r>
              <a:rPr lang="ko-KR" altLang="en-US" b="1" dirty="0">
                <a:latin typeface="+mj-ea"/>
                <a:ea typeface="+mj-ea"/>
              </a:rPr>
              <a:t>생명체를 </a:t>
            </a:r>
            <a:r>
              <a:rPr lang="ko-KR" altLang="en-US" b="1" dirty="0" smtClean="0">
                <a:latin typeface="+mj-ea"/>
                <a:ea typeface="+mj-ea"/>
              </a:rPr>
              <a:t>도덕적으로 고려해야 </a:t>
            </a:r>
            <a:r>
              <a:rPr lang="ko-KR" altLang="en-US" b="1" dirty="0">
                <a:latin typeface="+mj-ea"/>
                <a:ea typeface="+mj-ea"/>
              </a:rPr>
              <a:t>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손을 들어 투표해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동우 · 가두는 건 옳지 않다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명이 · 고통스러우니 없애자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서원 · 동물 복지 동물원은 필요하다   ✋ ____ 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8495</TotalTime>
  <Words>1085</Words>
  <Application>Microsoft Office PowerPoint</Application>
  <PresentationFormat>와이드스크린</PresentationFormat>
  <Paragraphs>201</Paragraphs>
  <Slides>19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6" baseType="lpstr">
      <vt:lpstr>굴림</vt:lpstr>
      <vt:lpstr>나눔스퀘어라운드 ExtraBold</vt:lpstr>
      <vt:lpstr>돋움</vt:lpstr>
      <vt:lpstr>맑은 고딕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189</cp:revision>
  <cp:lastPrinted>2024-06-05T04:53:22Z</cp:lastPrinted>
  <dcterms:created xsi:type="dcterms:W3CDTF">2023-10-31T05:50:03Z</dcterms:created>
  <dcterms:modified xsi:type="dcterms:W3CDTF">2025-01-10T06:41:47Z</dcterms:modified>
</cp:coreProperties>
</file>