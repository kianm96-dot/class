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3"/>
  </p:notesMasterIdLst>
  <p:handoutMasterIdLst>
    <p:handoutMasterId r:id="rId24"/>
  </p:handoutMasterIdLst>
  <p:sldIdLst>
    <p:sldId id="302" r:id="rId2"/>
    <p:sldId id="301" r:id="rId3"/>
    <p:sldId id="258" r:id="rId4"/>
    <p:sldId id="371" r:id="rId5"/>
    <p:sldId id="305" r:id="rId6"/>
    <p:sldId id="260" r:id="rId7"/>
    <p:sldId id="395" r:id="rId30"/>
    <p:sldId id="396" r:id="rId31"/>
    <p:sldId id="397" r:id="rId32"/>
    <p:sldId id="306" r:id="rId8"/>
    <p:sldId id="387" r:id="rId9"/>
    <p:sldId id="270" r:id="rId10"/>
    <p:sldId id="365" r:id="rId11"/>
    <p:sldId id="398" r:id="rId33"/>
    <p:sldId id="399" r:id="rId34"/>
    <p:sldId id="400" r:id="rId35"/>
    <p:sldId id="401" r:id="rId36"/>
    <p:sldId id="307" r:id="rId12"/>
    <p:sldId id="394" r:id="rId13"/>
    <p:sldId id="308" r:id="rId14"/>
    <p:sldId id="388" r:id="rId15"/>
    <p:sldId id="389" r:id="rId16"/>
    <p:sldId id="390" r:id="rId17"/>
    <p:sldId id="386" r:id="rId18"/>
    <p:sldId id="391" r:id="rId19"/>
    <p:sldId id="392" r:id="rId20"/>
    <p:sldId id="393" r:id="rId21"/>
    <p:sldId id="402" r:id="rId37"/>
    <p:sldId id="403" r:id="rId38"/>
    <p:sldId id="404" r:id="rId39"/>
    <p:sldId id="405" r:id="rId40"/>
    <p:sldId id="348" r:id="rId22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  <p:cmAuthor id="2" name="user" initials="u [2]" lastIdx="1" clrIdx="1">
    <p:extLst>
      <p:ext uri="{19B8F6BF-5375-455C-9EA6-DF929625EA0E}">
        <p15:presenceInfo xmlns:p15="http://schemas.microsoft.com/office/powerpoint/2012/main" userId="2043912ad47853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FF6"/>
    <a:srgbClr val="ECF6F5"/>
    <a:srgbClr val="FF9300"/>
    <a:srgbClr val="FFFF00"/>
    <a:srgbClr val="D9E1E9"/>
    <a:srgbClr val="E8F6FD"/>
    <a:srgbClr val="019BFF"/>
    <a:srgbClr val="FFF7EE"/>
    <a:srgbClr val="FFC000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62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948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농림축산식품부 「반려동물 보호·복지 실태 조사」</a:t>
            </a:r>
          </a:p>
          <a:p>
            <a:r>
              <a:t>2023년 구조된 유실·유기 동물은 약 11만 3천 마리. 입양된 비율은 약 27% 수준. 반려동물을 맞이하는 일은 10~20년을 책임지는 약속.</a:t>
            </a:r>
          </a:p>
          <a:p>
            <a:r>
              <a:t>숫자는 해마다 조금씩 달라진다. 최신 자료를 확인해 말해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184쪽 「동물 보호법」</a:t>
            </a:r>
          </a:p>
          <a:p>
            <a:r>
              <a:t>제9조 적정한 사육·관리 / 제10조 동물 학대 등의 금지 / 제47조 동물 실험의 원칙 — 대체 방법을 먼저 고려하고 필요한 최소한의 동물만 사용(3R 원칙과 연결).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3R 원칙</a:t>
            </a:r>
          </a:p>
          <a:p>
            <a:r>
              <a:t>1959년 영국의 과학자 러셀과 버치가 제안. 동물 실험이 꼭 필요한지, 줄일 수 있는지, 고통을 덜 수 있는지 묻는다. 오늘날 많은 나라의 동물 실험 윤리 기준. 화장품 동물 실험을 금지하는 나라도 늘고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국내 첫 돌고래 방류</a:t>
            </a:r>
          </a:p>
          <a:p>
            <a:r>
              <a:t>2013년 제돌이·춘삼이·삼팔이를 시작으로 여러 돌고래가 제주 바다로 돌아갔다. 등지느러미에 ‘1번’ 표식을 한 제돌이가 야생 무리와 함께 있는 모습이 이후 관찰되었다.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개인적·사회적 실천 방법을 고르고 나만의 서약서를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개인적·사회적 실천 방법을 고르고 나만의 서약서를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개인적·사회적 실천 방법을 고르고 나만의 서약서를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2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6" Type="http://schemas.openxmlformats.org/officeDocument/2006/relationships/image" Target="../media/image590.svg"/><Relationship Id="rId7" Type="http://schemas.openxmlformats.org/officeDocument/2006/relationships/slide" Target="slide18.xml"/><Relationship Id="rId8" Type="http://schemas.openxmlformats.org/officeDocument/2006/relationships/slide" Target="slide19.xml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161745" y="703659"/>
            <a:ext cx="4364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1.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도덕적 고려 대상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en-US" altLang="ko-KR" sz="1100" b="1" dirty="0" smtClean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39" y="2268741"/>
            <a:ext cx="79422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5400" b="1" spc="-300" dirty="0">
                <a:ln w="22225">
                  <a:noFill/>
                  <a:prstDash val="solid"/>
                </a:ln>
                <a:latin typeface="+mj-ea"/>
                <a:ea typeface="+mj-ea"/>
              </a:rPr>
              <a:t>생명체를 도덕적으로 </a:t>
            </a:r>
            <a:r>
              <a:rPr lang="ko-KR" altLang="en-US" sz="5400" b="1" spc="-300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고려하려면 </a:t>
            </a:r>
            <a:r>
              <a:rPr lang="ko-KR" altLang="en-US" sz="5400" b="1" spc="-300" dirty="0">
                <a:ln w="22225">
                  <a:noFill/>
                  <a:prstDash val="solid"/>
                </a:ln>
                <a:latin typeface="+mj-ea"/>
                <a:ea typeface="+mj-ea"/>
              </a:rPr>
              <a:t>어떻게 </a:t>
            </a:r>
            <a:r>
              <a:rPr lang="ko-KR" altLang="en-US" sz="5400" b="1" spc="-300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해야 할까</a:t>
            </a:r>
            <a:r>
              <a:rPr lang="en-US" altLang="ko-KR" sz="5400" b="1" spc="-300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64843" y="3644753"/>
            <a:ext cx="10293350" cy="1573773"/>
            <a:chOff x="914400" y="2362199"/>
            <a:chExt cx="10293350" cy="1573773"/>
          </a:xfrm>
        </p:grpSpPr>
        <p:sp>
          <p:nvSpPr>
            <p:cNvPr id="27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820989" y="1759804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46768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생명체를 도덕적으로 고려하기 위한 실천 방법을 제시할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3684670"/>
            <a:ext cx="956123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생명체가 겪는 고통에 공감하며 생명을 소중히 여기는 태도를 지닌다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00787" y="641266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096162" y="641266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444884" y="1631130"/>
            <a:ext cx="960840" cy="669307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1081283" y="1568591"/>
            <a:ext cx="9851307" cy="4635415"/>
            <a:chOff x="1081283" y="1671229"/>
            <a:chExt cx="9851307" cy="4635415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1283" y="1691963"/>
              <a:ext cx="9851307" cy="4614681"/>
            </a:xfrm>
            <a:prstGeom prst="rect">
              <a:avLst/>
            </a:prstGeom>
          </p:spPr>
        </p:pic>
        <p:sp>
          <p:nvSpPr>
            <p:cNvPr id="24" name="직사각형 23"/>
            <p:cNvSpPr/>
            <p:nvPr/>
          </p:nvSpPr>
          <p:spPr>
            <a:xfrm>
              <a:off x="1081283" y="1671229"/>
              <a:ext cx="728266" cy="1264475"/>
            </a:xfrm>
            <a:prstGeom prst="rect">
              <a:avLst/>
            </a:prstGeom>
            <a:solidFill>
              <a:srgbClr val="F9DDC7"/>
            </a:solidFill>
            <a:ln>
              <a:solidFill>
                <a:srgbClr val="FBDE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444884" y="1631130"/>
            <a:ext cx="960840" cy="669307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0018" y="1638755"/>
            <a:ext cx="9653838" cy="49019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7" name="타원 16"/>
          <p:cNvSpPr/>
          <p:nvPr/>
        </p:nvSpPr>
        <p:spPr>
          <a:xfrm>
            <a:off x="6096312" y="6422061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722720" y="6422061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32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736268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이야기를 읽고 개구리의 생명을 소중하게 생각한 제니퍼가 했던 노력을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087" y="3157123"/>
            <a:ext cx="98748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제니퍼는 과학 시간에 해부 실험에 사용되는 개구리가 고통을 느낄 수 있다는 점을 근거로 해부 실험이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비인도적이라는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입장을 명확하게 밝히고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자신에 대한 부당한 평가에 맞서 개구리 해부 수업의 문제를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세상에 알리고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교육 방법의 변화를 끌어냈다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생명체를 도덕적으로 고려하기 위한 개인적 실천 방법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3474" y="1882040"/>
            <a:ext cx="93195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개인적 실천 방법 </a:t>
            </a: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  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/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</a:br>
            <a:r>
              <a:rPr lang="ko-KR" altLang="en-US" sz="2400" dirty="0" smtClean="0">
                <a:latin typeface="+mn-ea"/>
              </a:rPr>
              <a:t>일상에서 </a:t>
            </a:r>
            <a:r>
              <a:rPr lang="ko-KR" altLang="en-US" sz="2400" dirty="0">
                <a:latin typeface="+mn-ea"/>
              </a:rPr>
              <a:t>다양한 생명체가 고통받거나 희생당하지 않도록 세심하게 관찰하며 도덕적 행동을 실천해야 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일상에서 </a:t>
            </a: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할 수 있는 </a:t>
            </a: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노력</a:t>
            </a: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동물 학대 방지하기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반려 식물 보살피기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식습관 반성하기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의생활 </a:t>
            </a:r>
            <a:r>
              <a:rPr lang="ko-KR" altLang="en-US" sz="2400" dirty="0" smtClean="0">
                <a:latin typeface="+mn-ea"/>
              </a:rPr>
              <a:t>점검하기</a:t>
            </a:r>
            <a:endParaRPr lang="ko-KR" altLang="en-US" sz="2400" dirty="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7299157" y="5005136"/>
            <a:ext cx="4480855" cy="1852863"/>
            <a:chOff x="1491915" y="3734362"/>
            <a:chExt cx="7488455" cy="3123637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91915" y="3734362"/>
              <a:ext cx="7488455" cy="3123637"/>
            </a:xfrm>
            <a:prstGeom prst="rect">
              <a:avLst/>
            </a:prstGeom>
          </p:spPr>
        </p:pic>
        <p:sp>
          <p:nvSpPr>
            <p:cNvPr id="23" name="직사각형 22"/>
            <p:cNvSpPr/>
            <p:nvPr/>
          </p:nvSpPr>
          <p:spPr>
            <a:xfrm>
              <a:off x="7430703" y="6217920"/>
              <a:ext cx="1549667" cy="221381"/>
            </a:xfrm>
            <a:prstGeom prst="rect">
              <a:avLst/>
            </a:prstGeom>
            <a:solidFill>
              <a:srgbClr val="5D92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96914" y="1466239"/>
            <a:ext cx="975534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나는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우연히 아파트 옥상에 올라갔다가 무당벌레들이 잔뜩 죽어 있는 것을 보고 깜짝 놀랐다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무당벌레도 살아갈 수 있는 환경을 만들어야겠다고 결심한 뒤 옥상에 텃밭을 만들어 보았지만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무당벌레들은 여전히 죽어 갔다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그러던 어느 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밤에도 환하게 켜져 있는 아파트 조명 때문에 무당벌레가 죽는다는 것을 알게 되었다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나는 이 사실을 사람들에게 알리기 시작하였다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마침내 아파트 조명을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무당벌레에게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해롭지 않은 특수한 조명으로 바꾸고 나니 더 이상 무당벌레가 죽지 않았다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드디어 우리는 무당벌레와 함께 살게 된 것이다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           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이환희 외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죽지 마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무당벌레야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!》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1. </a:t>
            </a:r>
            <a:r>
              <a:rPr lang="ko-KR" altLang="en-US" sz="2000" b="1" dirty="0"/>
              <a:t>윗글의 주인공이 무당벌레를 살리기 위해 했던 노력을 모두 찾아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888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888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47569"/>
            <a:ext cx="10293350" cy="310868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556" y="3141953"/>
            <a:ext cx="9743075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옥상에 텃밭을 만들어 보았다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아파트 조명 때문에 무당벌레가 죽는다는 사실을 사람들에게 알렸다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아파트 조명을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무당벌레에게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해롭지 않은 특수한 조명으로 바꾸었다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6267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2. </a:t>
            </a:r>
            <a:r>
              <a:rPr lang="ko-KR" altLang="en-US" sz="2000" b="1" dirty="0"/>
              <a:t>생명체를 도덕적으로 고려하기 위해 내가 일상에서 실천할 수 있는 일을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888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888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47569"/>
            <a:ext cx="10293350" cy="310868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556" y="3039089"/>
            <a:ext cx="9743075" cy="223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일상생활 중 주변에서 동물 학대가 발생하는지 살펴본다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동물 실험이나 학대 과정을 거쳐서 만든 제품은 구매하지 않는다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멸종 위기 동물이나 식물 보호를 위해 활동하는 단체에 기부하거나 봉사 활동을 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43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생명체를 도덕적으로 고려하기 위한 사회적 실천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475" y="1463251"/>
            <a:ext cx="959625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인식 개선 캠페인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:</a:t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ko-KR" altLang="en-US" sz="2400" dirty="0" smtClean="0">
                <a:latin typeface="+mn-ea"/>
              </a:rPr>
              <a:t>사람들이 </a:t>
            </a:r>
            <a:r>
              <a:rPr lang="ko-KR" altLang="en-US" sz="2400" dirty="0">
                <a:latin typeface="+mn-ea"/>
              </a:rPr>
              <a:t>인간 이외의 </a:t>
            </a:r>
            <a:r>
              <a:rPr lang="ko-KR" altLang="en-US" sz="2400" dirty="0" smtClean="0">
                <a:latin typeface="+mn-ea"/>
              </a:rPr>
              <a:t>생명체를 도덕적으로 </a:t>
            </a:r>
            <a:r>
              <a:rPr lang="ko-KR" altLang="en-US" sz="2400" dirty="0">
                <a:latin typeface="+mn-ea"/>
              </a:rPr>
              <a:t>고려하도록 </a:t>
            </a:r>
            <a:r>
              <a:rPr lang="ko-KR" altLang="en-US" sz="2400" dirty="0" smtClean="0">
                <a:latin typeface="+mn-ea"/>
              </a:rPr>
              <a:t>인식을 개선하는 </a:t>
            </a:r>
            <a:r>
              <a:rPr lang="ko-KR" altLang="en-US" sz="2400" dirty="0">
                <a:latin typeface="+mn-ea"/>
              </a:rPr>
              <a:t>캠페인을 전개함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 smtClean="0">
                <a:latin typeface="+mn-ea"/>
              </a:rPr>
              <a:t>예</a:t>
            </a:r>
            <a:r>
              <a:rPr lang="en-US" altLang="ko-KR" sz="2400" dirty="0" smtClean="0">
                <a:latin typeface="+mn-ea"/>
              </a:rPr>
              <a:t>)</a:t>
            </a:r>
            <a:r>
              <a:rPr lang="ko-KR" altLang="en-US" sz="2400" dirty="0" smtClean="0">
                <a:latin typeface="+mn-ea"/>
              </a:rPr>
              <a:t> 멸종 </a:t>
            </a:r>
            <a:r>
              <a:rPr lang="ko-KR" altLang="en-US" sz="2400" dirty="0">
                <a:latin typeface="+mn-ea"/>
              </a:rPr>
              <a:t>위기에 처한 동식물 문제를 </a:t>
            </a:r>
            <a:r>
              <a:rPr lang="ko-KR" altLang="en-US" sz="2400" dirty="0" smtClean="0">
                <a:latin typeface="+mn-ea"/>
              </a:rPr>
              <a:t>널리 </a:t>
            </a:r>
            <a:r>
              <a:rPr lang="ko-KR" altLang="en-US" sz="2400" dirty="0">
                <a:latin typeface="+mn-ea"/>
              </a:rPr>
              <a:t>알리고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이들을 보호하기 </a:t>
            </a:r>
            <a:r>
              <a:rPr lang="ko-KR" altLang="en-US" sz="2400" dirty="0" smtClean="0">
                <a:latin typeface="+mn-ea"/>
              </a:rPr>
              <a:t>위한 행사를 </a:t>
            </a:r>
            <a:r>
              <a:rPr lang="ko-KR" altLang="en-US" sz="2400" dirty="0">
                <a:latin typeface="+mn-ea"/>
              </a:rPr>
              <a:t>엶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1000" b="1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법과 제도의 개선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유기 </a:t>
            </a:r>
            <a:r>
              <a:rPr lang="ko-KR" altLang="en-US" sz="2400" dirty="0">
                <a:latin typeface="+mn-ea"/>
              </a:rPr>
              <a:t>동물 관리나 입양 절차 </a:t>
            </a:r>
            <a:r>
              <a:rPr lang="ko-KR" altLang="en-US" sz="2400" dirty="0" smtClean="0">
                <a:latin typeface="+mn-ea"/>
              </a:rPr>
              <a:t>개선 </a:t>
            </a:r>
            <a:r>
              <a:rPr lang="ko-KR" altLang="en-US" sz="2400" dirty="0">
                <a:latin typeface="+mn-ea"/>
              </a:rPr>
              <a:t>등에 관한 제도를 보완함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무분별한 </a:t>
            </a:r>
            <a:r>
              <a:rPr lang="ko-KR" altLang="en-US" sz="2400" dirty="0">
                <a:latin typeface="+mn-ea"/>
              </a:rPr>
              <a:t>동물 실험을 금지함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비위생적인 </a:t>
            </a:r>
            <a:r>
              <a:rPr lang="ko-KR" altLang="en-US" sz="2400" dirty="0">
                <a:latin typeface="+mn-ea"/>
              </a:rPr>
              <a:t>사육 환경을 개선함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각종 </a:t>
            </a:r>
            <a:r>
              <a:rPr lang="ko-KR" altLang="en-US" sz="2400" dirty="0">
                <a:latin typeface="+mn-ea"/>
              </a:rPr>
              <a:t>농약의 남용을 막음</a:t>
            </a:r>
            <a:r>
              <a:rPr lang="en-US" altLang="ko-KR" sz="2400" dirty="0">
                <a:latin typeface="+mn-ea"/>
              </a:rPr>
              <a:t>. 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625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090612" y="1689517"/>
            <a:ext cx="4555958" cy="5102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세계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자연 기금은 국제 비정부 기구로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환경 보전과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회복을 위해 각국의 민간이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협력하는 단체이다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 단체는 ‘자석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포스터’를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이용하여 사람들의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기부를 유도하였다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사람들이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많이 모여드는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곳에 대형 자석 포스터를 놓고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동전을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붙이게 한 뒤 동전이 채워질수록 멸종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위기에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놓인 동물의 형상이 나타나게 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것이다</a:t>
            </a:r>
            <a:endParaRPr lang="ko-KR" altLang="en-US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096" y="1879636"/>
            <a:ext cx="6833855" cy="3331440"/>
          </a:xfrm>
          <a:prstGeom prst="rect">
            <a:avLst/>
          </a:prstGeom>
        </p:spPr>
      </p:pic>
      <p:sp>
        <p:nvSpPr>
          <p:cNvPr id="15" name="타원 1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090612" y="1822560"/>
            <a:ext cx="455595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이는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멸종 위기 동물 보전이라는 의미를 전달하면서 사람들의 기부도 자연스럽게 끌어낸 캠페인으로 꼽힌다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                </a:t>
            </a:r>
            <a:endParaRPr lang="en-US" altLang="ko-KR" sz="2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이수지 외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〈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국내외 기업의 멸종 위기 동물 보호 캠페인 사례 </a:t>
            </a: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연구</a:t>
            </a:r>
            <a:endParaRPr lang="ko-KR" altLang="en-US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096" y="1879636"/>
            <a:ext cx="6833855" cy="3331440"/>
          </a:xfrm>
          <a:prstGeom prst="rect">
            <a:avLst/>
          </a:prstGeom>
        </p:spPr>
      </p:pic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10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/>
              <a:t>1. </a:t>
            </a:r>
            <a:r>
              <a:rPr lang="ko-KR" altLang="en-US" sz="2000" b="1" dirty="0"/>
              <a:t>위와 같은 캠페인이 사회에 어떤 영향을 미칠지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898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898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28519"/>
            <a:ext cx="10293350" cy="244359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0467" y="3060418"/>
            <a:ext cx="999980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멸종 위기 동물 보호의 필요성을 인식하도록 도와준다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멸종 위기 동물 보호에 참여했다는 자긍심을 갖게 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/>
              <a:t>2. </a:t>
            </a:r>
            <a:r>
              <a:rPr lang="ko-KR" altLang="en-US" sz="2000" b="1" dirty="0"/>
              <a:t>위와 같이 동식물을 도덕적으로 고려하기 위한 캠페인 사례를 찾아보고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이에 참여할 방법을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898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898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28519"/>
            <a:ext cx="10293350" cy="295518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0467" y="3060418"/>
            <a:ext cx="9999801" cy="279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국립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생태원의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‘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생태로움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캠페인’은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조깅을 하면서 쓰레기를 줍는 캠페인으로 전국 멸종 위기 동물 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17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종의 서식지를 보호하자는 취지로 진행된다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참여자는 버려진 쓰레기를 주울 때마다 위치와 종류 데이터를 웹 애플리케이션에 입력하여 자신의 활동 데이터를 통해 수거된 쓰레기의 양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특정 위치의 환경 문제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탄소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저감량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등 수치를 파악할 수 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8195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60714"/>
            <a:ext cx="10577253" cy="51972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4537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내가 「동물 </a:t>
            </a:r>
            <a:r>
              <a:rPr lang="ko-KR" altLang="en-US" sz="2000" b="1" dirty="0" err="1"/>
              <a:t>보호법」을</a:t>
            </a:r>
            <a:r>
              <a:rPr lang="ko-KR" altLang="en-US" sz="2000" b="1" dirty="0"/>
              <a:t> 개정한다면 추가하고 싶은 내용을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898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898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28519"/>
            <a:ext cx="10293350" cy="244359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0467" y="3060418"/>
            <a:ext cx="999980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동물 학대에 대한 처벌이 가벼워 동물 학대가 줄어들지 않고 오히려 재범률이 높으므로 동물 학대 시 처벌 내용을 구체적으로 제시하고 싶다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482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물음에 답하면서 자신의 모습을 성찰해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4254208"/>
            <a:ext cx="8522936" cy="2222280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4277660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4277660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6" y="4713140"/>
            <a:ext cx="8165055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평소에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반려동물에게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제때 먹이를 주고 반려동물이 건강하게 지내도록 잘 보살핌으로써 생명체를 도덕적으로 고려하고자 노력할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936086" y="4194194"/>
            <a:ext cx="1742945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71748" y="2445165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4" name="TextBox 40"/>
          <p:cNvSpPr txBox="1"/>
          <p:nvPr/>
        </p:nvSpPr>
        <p:spPr>
          <a:xfrm>
            <a:off x="1124536" y="2516834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생명체를 도덕적으로 고려하기 위해 어떻게 행동하겠는가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사회적 차원에서 생명체를 도덕적으로 고려하는 방법에 어떻게 참여할 것인가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0591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672357" y="65471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야생 동물과 공존하려면 어떻게 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rId5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6" y="578256"/>
            <a:ext cx="1160024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894395" y="578256"/>
            <a:ext cx="1742296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627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30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20700" y="1364665"/>
            <a:ext cx="10858575" cy="1267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눈을 크게 뜨고 주변을 한번 둘러보면 우리가 얼마나 많은 야생 동물과 함께 살고 있는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 알 수 있다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야생 동물과 지혜롭게 공존하는 방법을 알아보자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" name="타원 30">
            <a:hlinkClick r:id="rId6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0593" y="4897925"/>
            <a:ext cx="4236579" cy="19600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517788" y="806138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300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생태 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520700" y="2679056"/>
            <a:ext cx="7532107" cy="32436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94085" y="2783349"/>
            <a:ext cx="7169149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버려진 새끼 새를 만났을 때 어떻게 해야 할까</a:t>
            </a:r>
            <a:r>
              <a:rPr lang="en-US" altLang="ko-KR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새끼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새를 만지거나 집에 데려오는 대신 먼저 둥지가 있는지 주변을 살펴보자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둥지를 찾았다면 새끼 새를 둥지 안으로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조심히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넣어 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만약 둥지를 찾지 못했다면 한 시간 정도 숨어서 지켜봐야 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왜냐하면 부모 새가 근처에 있다가 데려갈 수도 있기 때문이다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754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894395" y="578256"/>
            <a:ext cx="1742296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2720364" y="5024060"/>
            <a:ext cx="808171" cy="704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672357" y="65471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야생 동물과 공존하려면 어떻게 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82930"/>
            <a:ext cx="1547055" cy="581114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타원 33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627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30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47854"/>
            <a:ext cx="4378474" cy="264048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517788" y="806138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300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생태 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4247626" y="2502589"/>
            <a:ext cx="7000914" cy="3239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4533134" y="2602332"/>
            <a:ext cx="6517723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고라니가 우리 집 텃밭을 </a:t>
            </a:r>
            <a:r>
              <a:rPr lang="ko-KR" altLang="en-US" sz="2200" b="1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망쳤어</a:t>
            </a:r>
            <a:r>
              <a:rPr lang="en-US" altLang="ko-KR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!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사람들이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산을 깎아 집을 지으면서 고라니는 원래 살던 땅과 집을 빼앗긴 셈이다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게다가 깊은 산을 많이 훼손해서 고라니들의 먹이가 부족하다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그래서 배가 고픈 고라니가 자꾸만 마을로 내려와 텃밭의 채소를 먹는 것이다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배고픈 고라니를 조금만 이해해 주면 어떨까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493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894395" y="578256"/>
            <a:ext cx="1742296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672357" y="65471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야생 동물과 공존하려면 어떻게 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90462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타원 32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rId8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876093" y="4417257"/>
            <a:ext cx="1239305" cy="495431"/>
            <a:chOff x="10075659" y="2003022"/>
            <a:chExt cx="1156006" cy="495431"/>
          </a:xfrm>
        </p:grpSpPr>
        <p:pic>
          <p:nvPicPr>
            <p:cNvPr id="39" name="그림 3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96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실천 톡톡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7" name="모서리가 둥근 사각형 설명선 6"/>
          <p:cNvSpPr/>
          <p:nvPr/>
        </p:nvSpPr>
        <p:spPr>
          <a:xfrm>
            <a:off x="9239250" y="1919334"/>
            <a:ext cx="2400300" cy="2230803"/>
          </a:xfrm>
          <a:prstGeom prst="wedgeRoundRectCallout">
            <a:avLst>
              <a:gd name="adj1" fmla="val 8564"/>
              <a:gd name="adj2" fmla="val 618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pc="-150" dirty="0">
                <a:solidFill>
                  <a:schemeClr val="tx1"/>
                </a:solidFill>
                <a:latin typeface="+mn-ea"/>
              </a:rPr>
              <a:t>일상에서 동식물을</a:t>
            </a:r>
          </a:p>
          <a:p>
            <a:pPr algn="ctr">
              <a:lnSpc>
                <a:spcPct val="150000"/>
              </a:lnSpc>
            </a:pPr>
            <a:r>
              <a:rPr lang="ko-KR" altLang="en-US" spc="-150" dirty="0">
                <a:solidFill>
                  <a:schemeClr val="tx1"/>
                </a:solidFill>
                <a:latin typeface="+mn-ea"/>
              </a:rPr>
              <a:t> 아끼고 보살피기 </a:t>
            </a:r>
            <a:endParaRPr lang="en-US" altLang="ko-KR" spc="-150" dirty="0" smtClean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pc="-150" dirty="0" smtClean="0">
                <a:solidFill>
                  <a:schemeClr val="tx1"/>
                </a:solidFill>
                <a:latin typeface="+mn-ea"/>
              </a:rPr>
              <a:t>위해 </a:t>
            </a:r>
            <a:r>
              <a:rPr lang="ko-KR" altLang="en-US" spc="-150" dirty="0">
                <a:solidFill>
                  <a:schemeClr val="tx1"/>
                </a:solidFill>
                <a:latin typeface="+mn-ea"/>
              </a:rPr>
              <a:t>할 수 있는 </a:t>
            </a:r>
          </a:p>
          <a:p>
            <a:pPr algn="ctr">
              <a:lnSpc>
                <a:spcPct val="150000"/>
              </a:lnSpc>
            </a:pPr>
            <a:r>
              <a:rPr lang="ko-KR" altLang="en-US" spc="-150" dirty="0">
                <a:solidFill>
                  <a:schemeClr val="tx1"/>
                </a:solidFill>
                <a:latin typeface="+mn-ea"/>
              </a:rPr>
              <a:t>다양한 활동을 찾아</a:t>
            </a:r>
          </a:p>
          <a:p>
            <a:pPr algn="ctr">
              <a:lnSpc>
                <a:spcPct val="150000"/>
              </a:lnSpc>
            </a:pPr>
            <a:r>
              <a:rPr lang="ko-KR" altLang="en-US" spc="-150" dirty="0">
                <a:solidFill>
                  <a:schemeClr val="tx1"/>
                </a:solidFill>
                <a:latin typeface="+mn-ea"/>
              </a:rPr>
              <a:t>실천해 보자</a:t>
            </a:r>
            <a:r>
              <a:rPr lang="en-US" altLang="ko-KR" spc="-15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pc="-15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6" name="그림 45" descr="클립아트, 곰, 만화 영화이(가) 표시된 사진&#10;&#10;자동 생성된 설명">
            <a:extLst>
              <a:ext uri="{FF2B5EF4-FFF2-40B4-BE49-F238E27FC236}">
                <a16:creationId xmlns:a16="http://schemas.microsoft.com/office/drawing/2014/main" id="{7E57931C-BC2D-94A0-17C9-B8C790C398EF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4312" y="4776162"/>
            <a:ext cx="1951723" cy="2081838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417257"/>
            <a:ext cx="4195933" cy="2440743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2802577" y="1555667"/>
            <a:ext cx="6026766" cy="4368059"/>
            <a:chOff x="3067051" y="1673309"/>
            <a:chExt cx="5762292" cy="4254727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3067051" y="1673309"/>
              <a:ext cx="5762292" cy="425472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78781" y="1799494"/>
              <a:ext cx="5160991" cy="39572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b="1" spc="-15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강에서 수달을 만났어</a:t>
              </a:r>
              <a:r>
                <a:rPr lang="en-US" altLang="ko-KR" sz="2200" b="1" spc="-15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!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en-US" sz="2200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  수달은 사람을 무서워하지 않는 편이라서 사람 근처에 자주 나타난다</a:t>
              </a:r>
              <a:r>
                <a:rPr lang="en-US" altLang="ko-KR" sz="2200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200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게다가 귀여운 외모 때문에 큰 관심을 받는다</a:t>
              </a:r>
              <a:r>
                <a:rPr lang="en-US" altLang="ko-KR" sz="2200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200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그런데 사진을 찍겠다며 근처 수풀을 망가뜨리면 안 된다</a:t>
              </a:r>
              <a:r>
                <a:rPr lang="en-US" altLang="ko-KR" sz="2200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200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그것은 수달의 집을 부수는 것과 같기 때문이다</a:t>
              </a:r>
              <a:r>
                <a:rPr lang="en-US" altLang="ko-KR" sz="2200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200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수달을 사랑한다면 적당한 거리를 유지하자</a:t>
              </a:r>
              <a:r>
                <a:rPr lang="en-US" altLang="ko-KR" sz="2200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en-US" altLang="ko-KR" sz="2200" spc="-15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  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pc="-15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- </a:t>
              </a:r>
              <a:r>
                <a:rPr lang="ko-KR" altLang="en-US" spc="-150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마승애</a:t>
              </a:r>
              <a:r>
                <a:rPr lang="en-US" altLang="ko-KR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, 《</a:t>
              </a:r>
              <a:r>
                <a:rPr lang="ko-KR" altLang="en-US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내 이웃의 동물들에게 월세를 주세요</a:t>
              </a:r>
              <a:r>
                <a:rPr lang="en-US" altLang="ko-KR" spc="-150" dirty="0">
                  <a:latin typeface="굴림" panose="020B0600000101010101" pitchFamily="50" charset="-127"/>
                  <a:ea typeface="굴림" panose="020B0600000101010101" pitchFamily="50" charset="-127"/>
                </a:rPr>
                <a:t>》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627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30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517788" y="806138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300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생태 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0292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smtClean="0">
                <a:solidFill>
                  <a:schemeClr val="tx1"/>
                </a:solidFill>
              </a:rPr>
              <a:t>수고하셨습니다</a:t>
            </a:r>
            <a:r>
              <a:rPr lang="en-US" altLang="ko-KR" sz="2800" b="1" smtClean="0">
                <a:solidFill>
                  <a:schemeClr val="tx1"/>
                </a:solidFill>
              </a:rPr>
              <a:t>.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100" b="1" dirty="0">
                <a:solidFill>
                  <a:srgbClr val="FFFF00"/>
                </a:solidFill>
                <a:latin typeface="+mn-ea"/>
              </a:rPr>
              <a:t>생명체를 도덕적으로 고려하기 위한 개인적 실천 방법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일상에서 다양한 생명체가 고통받거나 희생당하지 않도록 세심하게 관찰하며 도덕적 행동을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실천 </a:t>
            </a:r>
            <a:r>
              <a:rPr sz="2400" b="0">
                <a:solidFill>
                  <a:srgbClr val="262626"/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일상에서 할 수 있는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동물 학대 방지하기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동물 학대를 발견하면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신고 </a:t>
            </a:r>
            <a:r>
              <a:rPr sz="2400" b="0">
                <a:solidFill>
                  <a:srgbClr val="262626"/>
                </a:solidFill>
              </a:rPr>
              <a:t>하고, 반려동물 관리와 보호를 소홀히 하지 않는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며칠째 묶여 굶는 개를 보면 지자체·경찰에 신고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반려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식물 </a:t>
            </a:r>
            <a:r>
              <a:rPr sz="2400" b="1">
                <a:solidFill>
                  <a:srgbClr val="843C0C"/>
                </a:solidFill>
              </a:rPr>
              <a:t> 보살피기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제때 물을 주는 일, 햇볕이 필요한 식물은 햇볕에, 그늘에 있어야 하는 식물은 그늘에 두는 것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교실 화분 당번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식습관 반성하기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사육 동물이 열악한 환경에 있지 않도록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동물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복지 </a:t>
            </a:r>
            <a:r>
              <a:rPr sz="2400" b="0">
                <a:solidFill>
                  <a:srgbClr val="262626"/>
                </a:solidFill>
              </a:rPr>
              <a:t>를 고려한 식품을 선택하는 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다양한 생명체가 고통받거나 희생당하지 않도록 세심하게 관찰하며 도덕적 행동을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 할 수 있는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동물 학대 방지하기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 학대를 발견하면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반려동물 관리와 보호를 소홀히 하지 않는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며칠째 묶여 굶는 개를 보면 지자체·경찰에 신고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반려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식물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보살피기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제때 물을 주는 일, 햇볕이 필요한 식물은 햇볕에, 그늘에 있어야 하는 식물은 그늘에 두는 것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교실 화분 당번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식습관 반성하기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사육 동물이 열악한 환경에 있지 않도록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고려한 식품을 선택하는 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다양한 생명체가 고통받거나 희생당하지 않도록 세심하게 관찰하며 도덕적 행동을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 할 수 있는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동물 학대 방지하기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 학대를 발견하면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신고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반려동물 관리와 보호를 소홀히 하지 않는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며칠째 묶여 굶는 개를 보면 지자체·경찰에 신고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반려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식물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보살피기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제때 물을 주는 일, 햇볕이 필요한 식물은 햇볕에, 그늘에 있어야 하는 식물은 그늘에 두는 것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교실 화분 당번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식습관 반성하기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사육 동물이 열악한 환경에 있지 않도록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고려한 식품을 선택하는 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다양한 생명체가 고통받거나 희생당하지 않도록 세심하게 관찰하며 도덕적 행동을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 할 수 있는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동물 학대 방지하기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 학대를 발견하면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반려동물 관리와 보호를 소홀히 하지 않는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며칠째 묶여 굶는 개를 보면 지자체·경찰에 신고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반려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식물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보살피기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제때 물을 주는 일, 햇볕이 필요한 식물은 햇볕에, 그늘에 있어야 하는 식물은 그늘에 두는 것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교실 화분 당번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식습관 반성하기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사육 동물이 열악한 환경에 있지 않도록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고려한 식품을 선택하는 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다양한 생명체가 고통받거나 희생당하지 않도록 세심하게 관찰하며 도덕적 행동을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 할 수 있는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동물 학대 방지하기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 학대를 발견하면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반려동물 관리와 보호를 소홀히 하지 않는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며칠째 묶여 굶는 개를 보면 지자체·경찰에 신고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반려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식물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보살피기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제때 물을 주는 일, 햇볕이 필요한 식물은 햇볕에, 그늘에 있어야 하는 식물은 그늘에 두는 것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교실 화분 당번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식습관 반성하기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사육 동물이 열악한 환경에 있지 않도록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고려한 식품을 선택하는 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다양한 생명체가 고통받거나 희생당하지 않도록 세심하게 관찰하며 도덕적 행동을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 할 수 있는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동물 학대 방지하기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 학대를 발견하면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반려동물 관리와 보호를 소홀히 하지 않는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며칠째 묶여 굶는 개를 보면 지자체·경찰에 신고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반려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식물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보살피기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제때 물을 주는 일, 햇볕이 필요한 식물은 햇볕에, 그늘에 있어야 하는 식물은 그늘에 두는 것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교실 화분 당번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식습관 반성하기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사육 동물이 열악한 환경에 있지 않도록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고려한 식품을 선택하는 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다양한 생명체가 고통받거나 희생당하지 않도록 세심하게 관찰하며 도덕적 행동을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 할 수 있는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동물 학대 방지하기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 학대를 발견하면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반려동물 관리와 보호를 소홀히 하지 않는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며칠째 묶여 굶는 개를 보면 지자체·경찰에 신고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반려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식물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보살피기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제때 물을 주는 일, 햇볕이 필요한 식물은 햇볕에, 그늘에 있어야 하는 식물은 그늘에 두는 것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교실 화분 당번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식습관 반성하기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사육 동물이 열악한 환경에 있지 않도록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고려한 식품을 선택하는 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다양한 생명체가 고통받거나 희생당하지 않도록 세심하게 관찰하며 도덕적 행동을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 할 수 있는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동물 학대 방지하기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 학대를 발견하면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반려동물 관리와 보호를 소홀히 하지 않는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며칠째 묶여 굶는 개를 보면 지자체·경찰에 신고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반려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식물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보살피기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제때 물을 주는 일, 햇볕이 필요한 식물은 햇볕에, 그늘에 있어야 하는 식물은 그늘에 두는 것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교실 화분 당번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식습관 반성하기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사육 동물이 열악한 환경에 있지 않도록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고려한 식품을 선택하는 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다양한 생명체가 고통받거나 희생당하지 않도록 세심하게 관찰하며 도덕적 행동을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일상에서 할 수 있는 노력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동물 학대 방지하기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 학대를 발견하면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반려동물 관리와 보호를 소홀히 하지 않는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며칠째 묶여 굶는 개를 보면 지자체·경찰에 신고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반려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식물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보살피기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제때 물을 주는 일, 햇볕이 필요한 식물은 햇볕에, 그늘에 있어야 하는 식물은 그늘에 두는 것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교실 화분 당번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식습관 반성하기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사육 동물이 열악한 환경에 있지 않도록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고려한 식품을 선택하는 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rgbClr val="FFFF00"/>
                </a:solidFill>
                <a:latin typeface="+mn-ea"/>
              </a:rPr>
              <a:t>생명체를 도덕적으로 고려하기 위한 개인적 실천 방법 (이어서)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의생활 점검하기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옷을 만드는 과정에서 동식물이 고통받지 않는지 점검하고, 해악을 줄이는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살아 있는 거위의 털을 뽑는 ‘라이브 플러킹’ 대신 인증받은 충전재 패딩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의생활 점검하기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옷을 만드는 과정에서 동식물이 고통받지 않는지 점검하고, 해악을 줄이는 일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살아 있는 거위의 털을 뽑는 ‘라이브 플러킹’ 대신 인증받은 충전재 패딩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버려지는 동물들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11만 · 한 해 동안 구조된 유실·유기 동물 (2023, 약 11만 3천 마리)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1/4 · 그 가운데 새 가족을 만난 비율은 약 4분의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100" b="1" dirty="0">
                <a:solidFill>
                  <a:srgbClr val="FFFF00"/>
                </a:solidFill>
                <a:latin typeface="+mn-ea"/>
              </a:rPr>
              <a:t>생명체를 도덕적으로 고려하기 위한 사회적 실천 방법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인식 개선 캠페인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인간 이외의 생명체를 도덕적으로 고려하도록 인식을 개선하는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캠페인 </a:t>
            </a:r>
            <a:r>
              <a:rPr sz="2400" b="0">
                <a:solidFill>
                  <a:srgbClr val="262626"/>
                </a:solidFill>
              </a:rPr>
              <a:t>을 전개함.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멸종 위기 동물 알리기 행사, ‘사지 말고 입양하세요’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사냥이나 각종 개발로 멸종 위기에 처한 동식물 문제를 사회에 널리 알림.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법과 제도의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유기 동물 관리나 입양 절차 개선 등에 관한 제도 보완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인식 개선 캠페인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인간 이외의 생명체를 도덕적으로 고려하도록 인식을 개선하는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캠페인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전개함.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멸종 위기 동물 알리기 행사, ‘사지 말고 입양하세요’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사냥이나 각종 개발로 멸종 위기에 처한 동식물 문제를 사회에 널리 알림.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법과 제도의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유기 동물 관리나 입양 절차 개선 등에 관한 제도 보완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인식 개선 캠페인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인간 이외의 생명체를 도덕적으로 고려하도록 인식을 개선하는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캠페인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전개함.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멸종 위기 동물 알리기 행사, ‘사지 말고 입양하세요’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사냥이나 각종 개발로 멸종 위기에 처한 동식물 문제를 사회에 널리 알림.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법과 제도의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유기 동물 관리나 입양 절차 개선 등에 관한 제도 보완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rgbClr val="FFFF00"/>
                </a:solidFill>
                <a:latin typeface="+mn-ea"/>
              </a:rPr>
              <a:t>생명체를 도덕적으로 고려하기 위한 사회적 실천 방법 (이어서)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무분별한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동물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⑨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실험 </a:t>
            </a:r>
            <a:r>
              <a:rPr sz="2400" b="0">
                <a:solidFill>
                  <a:srgbClr val="262626"/>
                </a:solidFill>
              </a:rPr>
              <a:t> 금지, 비위생적인 사육 환경 개선, 각종 농약의 남용 금지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동물 실험을 거치지 않은 화장품 판매를 허용하는 나라가 늘었다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「동물 보호법」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동물에 대한 도덕적 고려 방법 제시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우리나라는 법을 마련하여 동물의 생명을 보호하고, 안전을 보장하며, </a:t>
            </a:r>
            <a:r>
              <a:rPr sz="1439" b="1">
                <a:solidFill>
                  <a:srgbClr val="2F6FD0"/>
                </a:solidFill>
              </a:rPr>
              <a:t>⑩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복지 </a:t>
            </a:r>
            <a:r>
              <a:rPr sz="2400" b="0">
                <a:solidFill>
                  <a:srgbClr val="262626"/>
                </a:solidFill>
              </a:rPr>
              <a:t>를 증진하고자 힘씀.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「동물 보호법」은 반려동물 등록, 학대 금지와 처벌을 정해 두었다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무분별한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금지, 비위생적인 사육 환경 개선, 각종 농약의 남용 금지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동물 실험을 거치지 않은 화장품 판매를 허용하는 나라가 늘었다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「동물 보호법」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동물에 대한 도덕적 고려 방법 제시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우리나라는 법을 마련하여 동물의 생명을 보호하고, 안전을 보장하며,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증진하고자 힘씀.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「동물 보호법」은 반려동물 등록, 학대 금지와 처벌을 정해 두었다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무분별한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/>
                </a:solidFill>
              </a:rPr>
              <a:t> 실험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금지, 비위생적인 사육 환경 개선, 각종 농약의 남용 금지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동물 실험을 거치지 않은 화장품 판매를 허용하는 나라가 늘었다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「동물 보호법」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동물에 대한 도덕적 고려 방법 제시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우리나라는 법을 마련하여 동물의 생명을 보호하고, 안전을 보장하며,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증진하고자 힘씀.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「동물 보호법」은 반려동물 등록, 학대 금지와 처벌을 정해 두었다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무분별한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금지, 비위생적인 사육 환경 개선, 각종 농약의 남용 금지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동물 실험을 거치지 않은 화장품 판매를 허용하는 나라가 늘었다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「동물 보호법」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동물에 대한 도덕적 고려 방법 제시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우리나라는 법을 마련하여 동물의 생명을 보호하고, 안전을 보장하며,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증진하고자 힘씀.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「동물 보호법」은 반려동물 등록, 학대 금지와 처벌을 정해 두었다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무분별한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금지, 비위생적인 사육 환경 개선, 각종 농약의 남용 금지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동물 실험을 거치지 않은 화장품 판매를 허용하는 나라가 늘었다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「동물 보호법」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동물에 대한 도덕적 고려 방법 제시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우리나라는 법을 마련하여 동물의 생명을 보호하고, 안전을 보장하며,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/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증진하고자 힘씀.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「동물 보호법」은 반려동물 등록, 학대 금지와 처벌을 정해 두었다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무분별한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동물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금지, 비위생적인 사육 환경 개선, 각종 농약의 남용 금지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동물 실험을 거치지 않은 화장품 판매를 허용하는 나라가 늘었다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「동물 보호법」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동물에 대한 도덕적 고려 방법 제시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우리나라는 법을 마련하여 동물의 생명을 보호하고, 안전을 보장하며,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증진하고자 힘씀.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「동물 보호법」은 반려동물 등록, 학대 금지와 처벌을 정해 두었다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동물 실험의 3R 원칙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대체 · Replacement · 다른 방법으로 바꾸기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감소 · Reduction · 쓰는 수 줄이기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개선 · Refinement · 고통 줄이기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제돌이, 바다로 돌아가다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2013년 7월 18일 · 제주 김녕 앞바다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사연 · 남방큰돌고래 제돌이는 불법으로 잡혀 서울대공원에서 공연을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결정 · 시민과 과학자들의 논의 끝에 고향 바다로 돌려보내기로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준비 · 가두리에서 살아 있는 물고기 사냥을 다시 익혔다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지금 · 야생 무리와 함께 헤엄치는 모습이 확인되었다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제돌이에게 ‘좋은 삶’은 어디였을까?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2013년 7월 18일 · 제주 김녕 앞바다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사연 · 남방큰돌고래 제돌이는 불법으로 잡혀 서울대공원에서 공연을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결정 · 시민과 과학자들의 논의 끝에 고향 바다로 돌려보내기로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준비 · 가두리에서 살아 있는 물고기 사냥을 다시 익혔다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지금 · 야생 무리와 함께 헤엄치는 모습이 확인되었다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제돌이에게 ‘좋은 삶’은 어디였을까?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반려동물 관리와 보호를 소홀히 하는 것은 동물 학대가 아니다.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식물은 항상 햇볕이 잘 드는 곳에 두어야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인식 개선 캠페인, 법과 제도의 개선은 생명체를 도덕적으로 고려하기 위한 사회적 방법 중 하나이다.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우리나라는 법을 마련하여 동물 복지를 증진하고자 힘쓰고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반려동물 관리와 보호를 소홀히 하는 것은 동물 학대가 아니다.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식물은 항상 햇볕이 잘 드는 곳에 두어야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인식 개선 캠페인, 법과 제도의 개선은 생명체를 도덕적으로 고려하기 위한 사회적 방법 중 하나이다.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우리나라는 법을 마련하여 동물 복지를 증진하고자 힘쓰고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반려동물 관리와 보호를 소홀히 하는 것은 동물 학대가 아니다.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식물은 항상 햇볕이 잘 드는 곳에 두어야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인식 개선 캠페인, 법과 제도의 개선은 생명체를 도덕적으로 고려하기 위한 사회적 방법 중 하나이다.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우리나라는 법을 마련하여 동물 복지를 증진하고자 힘쓰고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반려동물 관리와 보호를 소홀히 하는 것은 동물 학대가 아니다.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식물은 항상 햇볕이 잘 드는 곳에 두어야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인식 개선 캠페인, 법과 제도의 개선은 생명체를 도덕적으로 고려하기 위한 사회적 방법 중 하나이다.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우리나라는 법을 마련하여 동물 복지를 증진하고자 힘쓰고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반려동물 관리와 보호를 소홀히 하는 것은 동물 학대가 아니다.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식물은 항상 햇볕이 잘 드는 곳에 두어야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인식 개선 캠페인, 법과 제도의 개선은 생명체를 도덕적으로 고려하기 위한 사회적 방법 중 하나이다.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우리나라는 법을 마련하여 동물 복지를 증진하고자 힘쓰고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어떤 실천일까?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동물 학대 방지 · 반려 식물 · 식습관 · 의생활 · 사회적 실천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아픈 반려견을 제때 병원에 데려간다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 학대 방지 (치료 소홀도 학대)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화분에 알맞은 햇볕을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반려 식물 (반려 식물 보살피기)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동물 복지 인증 달걀을 고른다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식습관 (식습관)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인조털 외투를 입는다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의생활 (의생활)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멸종 위기 동물 보호 캠페인에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(인식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동물 보호법 개정을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(법과 제도)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동물 학대 방지 · 반려 식물 · 식습관 · 의생활 · 사회적 실천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아픈 반려견을 제때 병원에 데려간다</a:t>
            </a:r>
            <a:r>
              <a:rPr sz="2300" b="1">
                <a:solidFill>
                  <a:srgbClr val="C0392B"/>
                </a:solidFill>
              </a:rPr>
              <a:t>   → 동물 학대 방지 (치료 소홀도 학대)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화분에 알맞은 햇볕을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반려 식물 (반려 식물 보살피기)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동물 복지 인증 달걀을 고른다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식습관 (식습관)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인조털 외투를 입는다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의생활 (의생활)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멸종 위기 동물 보호 캠페인에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(인식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동물 보호법 개정을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(법과 제도)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동물 학대 방지 · 반려 식물 · 식습관 · 의생활 · 사회적 실천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아픈 반려견을 제때 병원에 데려간다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 학대 방지 (치료 소홀도 학대)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화분에 알맞은 햇볕을 준다</a:t>
            </a:r>
            <a:r>
              <a:rPr sz="2300" b="1">
                <a:solidFill>
                  <a:srgbClr val="C0392B"/>
                </a:solidFill>
              </a:rPr>
              <a:t>   → 반려 식물 (반려 식물 보살피기)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동물 복지 인증 달걀을 고른다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식습관 (식습관)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인조털 외투를 입는다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의생활 (의생활)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멸종 위기 동물 보호 캠페인에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(인식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동물 보호법 개정을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(법과 제도)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동물 학대 방지 · 반려 식물 · 식습관 · 의생활 · 사회적 실천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아픈 반려견을 제때 병원에 데려간다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 학대 방지 (치료 소홀도 학대)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화분에 알맞은 햇볕을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반려 식물 (반려 식물 보살피기)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동물 복지 인증 달걀을 고른다</a:t>
            </a:r>
            <a:r>
              <a:rPr sz="2300" b="1">
                <a:solidFill>
                  <a:srgbClr val="C0392B"/>
                </a:solidFill>
              </a:rPr>
              <a:t>   → 식습관 (식습관)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인조털 외투를 입는다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의생활 (의생활)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멸종 위기 동물 보호 캠페인에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(인식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동물 보호법 개정을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(법과 제도)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동물 학대 방지 · 반려 식물 · 식습관 · 의생활 · 사회적 실천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아픈 반려견을 제때 병원에 데려간다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 학대 방지 (치료 소홀도 학대)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화분에 알맞은 햇볕을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반려 식물 (반려 식물 보살피기)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동물 복지 인증 달걀을 고른다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식습관 (식습관)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인조털 외투를 입는다</a:t>
            </a:r>
            <a:r>
              <a:rPr sz="2300" b="1">
                <a:solidFill>
                  <a:srgbClr val="C0392B"/>
                </a:solidFill>
              </a:rPr>
              <a:t>   → 의생활 (의생활)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멸종 위기 동물 보호 캠페인에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(인식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동물 보호법 개정을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(법과 제도)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동물 학대 방지 · 반려 식물 · 식습관 · 의생활 · 사회적 실천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아픈 반려견을 제때 병원에 데려간다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 학대 방지 (치료 소홀도 학대)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화분에 알맞은 햇볕을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반려 식물 (반려 식물 보살피기)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동물 복지 인증 달걀을 고른다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식습관 (식습관)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인조털 외투를 입는다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의생활 (의생활)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멸종 위기 동물 보호 캠페인에 참여한다</a:t>
            </a:r>
            <a:r>
              <a:rPr sz="2300" b="1">
                <a:solidFill>
                  <a:srgbClr val="C0392B"/>
                </a:solidFill>
              </a:rPr>
              <a:t>   → 사회적 실천 (인식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동물 보호법 개정을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(법과 제도)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동물 학대 방지 · 반려 식물 · 식습관 · 의생활 · 사회적 실천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아픈 반려견을 제때 병원에 데려간다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동물 학대 방지 (치료 소홀도 학대)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화분에 알맞은 햇볕을 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반려 식물 (반려 식물 보살피기)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동물 복지 인증 달걀을 고른다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식습관 (식습관)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인조털 외투를 입는다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의생활 (의생활)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멸종 위기 동물 보호 캠페인에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사회적 실천 (인식 개선)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동물 보호법 개정을 제안한다</a:t>
            </a:r>
            <a:r>
              <a:rPr sz="2300" b="1">
                <a:solidFill>
                  <a:srgbClr val="C0392B"/>
                </a:solidFill>
              </a:rPr>
              <a:t>   → 사회적 실천 (법과 제도)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야생 동물과 공존하기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버려진 새끼 새는 바로 집에 데려와 돌봐야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먼저 둥지를 찾고, 없으면 한 시간쯤 숨어서 부모 새를 기다린다.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수달 사진을 찍으려고 수풀을 헤치면 수달의 집을 부수는 것과 같다.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적당한 거리 두기.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고라니가 마을로 내려오는 것은 살던 곳과 먹이가 줄었기 때문이다.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사람의 개발이 원인.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버려진 새끼 새는 바로 집에 데려와 돌봐야 한다.  ( ○ / ✕ )</a:t>
            </a:r>
            <a:r>
              <a:rPr sz="2300" b="1">
                <a:solidFill>
                  <a:srgbClr val="C0392B"/>
                </a:solidFill>
              </a:rPr>
              <a:t>   ✕  먼저 둥지를 찾고, 없으면 한 시간쯤 숨어서 부모 새를 기다린다.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수달 사진을 찍으려고 수풀을 헤치면 수달의 집을 부수는 것과 같다.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적당한 거리 두기.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고라니가 마을로 내려오는 것은 살던 곳과 먹이가 줄었기 때문이다.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사람의 개발이 원인.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버려진 새끼 새는 바로 집에 데려와 돌봐야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먼저 둥지를 찾고, 없으면 한 시간쯤 숨어서 부모 새를 기다린다.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수달 사진을 찍으려고 수풀을 헤치면 수달의 집을 부수는 것과 같다.  ( ○ / ✕ )</a:t>
            </a:r>
            <a:r>
              <a:rPr sz="2300" b="1">
                <a:solidFill>
                  <a:srgbClr val="C0392B"/>
                </a:solidFill>
              </a:rPr>
              <a:t>   ○  적당한 거리 두기.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고라니가 마을로 내려오는 것은 살던 곳과 먹이가 줄었기 때문이다.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사람의 개발이 원인.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버려진 새끼 새는 바로 집에 데려와 돌봐야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먼저 둥지를 찾고, 없으면 한 시간쯤 숨어서 부모 새를 기다린다.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수달 사진을 찍으려고 수풀을 헤치면 수달의 집을 부수는 것과 같다.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적당한 거리 두기.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고라니가 마을로 내려오는 것은 살던 곳과 먹이가 줄었기 때문이다.  ( ○ / ✕ )</a:t>
            </a:r>
            <a:r>
              <a:rPr sz="2300" b="1">
                <a:solidFill>
                  <a:srgbClr val="C0392B"/>
                </a:solidFill>
              </a:rPr>
              <a:t>   ○  사람의 개발이 원인.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876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생명 존중 서약서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 고려 대상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생명체를 도덕적으로 고려하려면 어떻게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첫째,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길고양이를 괴롭히지 않고 아프면 보호소에 알리겠다.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둘째,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반려동물을 맞이하기 전 10년 뒤까지 생각하겠다.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셋째,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동물 복지 인증 제품을 살펴보겠다.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첫째, 나는</a:t>
            </a:r>
            <a:r>
              <a:rPr sz="2300" b="1">
                <a:solidFill>
                  <a:srgbClr val="C0392B"/>
                </a:solidFill>
              </a:rPr>
              <a:t>   예) 길고양이를 괴롭히지 않고 아프면 보호소에 알리겠다.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둘째,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반려동물을 맞이하기 전 10년 뒤까지 생각하겠다.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셋째,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동물 복지 인증 제품을 살펴보겠다.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첫째,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길고양이를 괴롭히지 않고 아프면 보호소에 알리겠다.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둘째, 나는</a:t>
            </a:r>
            <a:r>
              <a:rPr sz="2300" b="1">
                <a:solidFill>
                  <a:srgbClr val="C0392B"/>
                </a:solidFill>
              </a:rPr>
              <a:t>   예) 반려동물을 맞이하기 전 10년 뒤까지 생각하겠다.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셋째,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동물 복지 인증 제품을 살펴보겠다.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첫째,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길고양이를 괴롭히지 않고 아프면 보호소에 알리겠다.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둘째,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반려동물을 맞이하기 전 10년 뒤까지 생각하겠다.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셋째, 나는</a:t>
            </a:r>
            <a:r>
              <a:rPr sz="2300" b="1">
                <a:solidFill>
                  <a:srgbClr val="C0392B"/>
                </a:solidFill>
              </a:rPr>
              <a:t>   예) 동물 복지 인증 제품을 살펴보겠다.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8636</TotalTime>
  <Words>1258</Words>
  <Application>Microsoft Office PowerPoint</Application>
  <PresentationFormat>와이드스크린</PresentationFormat>
  <Paragraphs>218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191</cp:revision>
  <cp:lastPrinted>2024-06-05T04:53:22Z</cp:lastPrinted>
  <dcterms:created xsi:type="dcterms:W3CDTF">2023-10-31T05:50:03Z</dcterms:created>
  <dcterms:modified xsi:type="dcterms:W3CDTF">2025-01-10T06:42:17Z</dcterms:modified>
</cp:coreProperties>
</file>