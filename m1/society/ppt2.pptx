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8"/>
  </p:notesMasterIdLst>
  <p:handoutMasterIdLst>
    <p:handoutMasterId r:id="rId29"/>
  </p:handoutMasterIdLst>
  <p:sldIdLst>
    <p:sldId id="387" r:id="rId2"/>
    <p:sldId id="388" r:id="rId3"/>
    <p:sldId id="258" r:id="rId4"/>
    <p:sldId id="304" r:id="rId5"/>
    <p:sldId id="305" r:id="rId6"/>
    <p:sldId id="389" r:id="rId7"/>
    <p:sldId id="306" r:id="rId8"/>
    <p:sldId id="270" r:id="rId9"/>
    <p:sldId id="390" r:id="rId10"/>
    <p:sldId id="391" r:id="rId11"/>
    <p:sldId id="260" r:id="rId12"/>
    <p:sldId id="392" r:id="rId13"/>
    <p:sldId id="393" r:id="rId14"/>
    <p:sldId id="399" r:id="rId35"/>
    <p:sldId id="400" r:id="rId36"/>
    <p:sldId id="401" r:id="rId37"/>
    <p:sldId id="402" r:id="rId38"/>
    <p:sldId id="394" r:id="rId15"/>
    <p:sldId id="395" r:id="rId16"/>
    <p:sldId id="396" r:id="rId17"/>
    <p:sldId id="307" r:id="rId18"/>
    <p:sldId id="308" r:id="rId19"/>
    <p:sldId id="397" r:id="rId20"/>
    <p:sldId id="313" r:id="rId21"/>
    <p:sldId id="398" r:id="rId22"/>
    <p:sldId id="403" r:id="rId39"/>
    <p:sldId id="404" r:id="rId40"/>
    <p:sldId id="354" r:id="rId23"/>
    <p:sldId id="282" r:id="rId24"/>
    <p:sldId id="324" r:id="rId25"/>
    <p:sldId id="328" r:id="rId26"/>
    <p:sldId id="405" r:id="rId41"/>
    <p:sldId id="406" r:id="rId42"/>
    <p:sldId id="407" r:id="rId43"/>
    <p:sldId id="408" r:id="rId44"/>
    <p:sldId id="348" r:id="rId27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BE6"/>
    <a:srgbClr val="FFF9E2"/>
    <a:srgbClr val="F1F2F1"/>
    <a:srgbClr val="FF9300"/>
    <a:srgbClr val="FFFF00"/>
    <a:srgbClr val="D9E1E9"/>
    <a:srgbClr val="E8F6FD"/>
    <a:srgbClr val="F0FFF6"/>
    <a:srgbClr val="019BFF"/>
    <a:srgbClr val="FFF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6400" autoAdjust="0"/>
  </p:normalViewPr>
  <p:slideViewPr>
    <p:cSldViewPr snapToGrid="0">
      <p:cViewPr varScale="1">
        <p:scale>
          <a:sx n="111" d="100"/>
          <a:sy n="111" d="100"/>
        </p:scale>
        <p:origin x="624" y="108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03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303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125~126쪽</a:t>
            </a:r>
          </a:p>
          <a:p>
            <a:r>
              <a:t>만화: “여성 지원자 점수가 더 높군. 그래도 남성이 더 일을 잘하지.” → 편견이 취업 차별로. 기사: 식료품에 점자 표기 의무가 없어 시각 장애인이 선택권과 안전을 위협받는다(《파이낸셜뉴스》, 2022.3.21).</a:t>
            </a:r>
          </a:p>
          <a:p>
            <a:r>
              <a:t>자료: 혐오 표현 — 나와 다른 정체성을 지닌 대상을 차별하거나 차별을 부추기는 말과 행동.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몽고메리 버스 보이콧</a:t>
            </a:r>
          </a:p>
          <a:p>
            <a:r>
              <a:t>마틴 루서 킹 목사가 이끈 비폭력 저항. 제도가 인권 침해를 만들 수 있고, 시민의 연대가 제도를 바꿀 수 있음을 보여 준다(도덕② 3차시 킹 목사 편지와 연결).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전태일(1948~1970)</a:t>
            </a:r>
          </a:p>
          <a:p>
            <a:r>
              <a:t>법은 있었지만 지켜지지 않았고 사회는 무관심했다. 그의 죽음은 노동 인권 운동의 출발점이 되었다. 잔혹한 장면 묘사는 피한다.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 핵심</a:t>
            </a:r>
          </a:p>
          <a:p>
            <a:r>
              <a:t>모두의 인권을 지키는 노력은 시혜(은혜를 베풂)가 아니라 인간을 사랑하는 마음을 실천하는 도덕적 의무.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장면 속 인권 침해의 원인을 찾고 해결 방안을 짝지어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장면 속 인권 침해의 원인을 찾고 해결 방안을 짝지어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장면 속 인권 침해의 원인을 찾고 해결 방안을 짝지어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7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7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39.png"/><Relationship Id="rId7" Type="http://schemas.openxmlformats.org/officeDocument/2006/relationships/slide" Target="slide2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40.png"/><Relationship Id="rId7" Type="http://schemas.openxmlformats.org/officeDocument/2006/relationships/image" Target="../media/image4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" Target="slide23.xml"/><Relationship Id="rId3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40.png"/><Relationship Id="rId7" Type="http://schemas.openxmlformats.org/officeDocument/2006/relationships/image" Target="../media/image41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인권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805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인권 침해의 원인과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그 해결 방안은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4143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44422"/>
            <a:ext cx="10293350" cy="787400"/>
            <a:chOff x="914400" y="2362200"/>
            <a:chExt cx="10293350" cy="787400"/>
          </a:xfrm>
        </p:grpSpPr>
        <p:sp>
          <p:nvSpPr>
            <p:cNvPr id="39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2965544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</a:rPr>
              <a:t>인권 감수성을 기르기 위해 노력하는 자세를 </a:t>
            </a:r>
            <a:r>
              <a:rPr lang="ko-KR" altLang="en-US" sz="2800" b="1" dirty="0" smtClean="0">
                <a:solidFill>
                  <a:prstClr val="black"/>
                </a:solidFill>
              </a:rPr>
              <a:t>지닌다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</a:rPr>
              <a:t>인권 침해의 원인과 해결 방안을 제시할 수 있다</a:t>
            </a:r>
            <a:r>
              <a:rPr lang="en-US" altLang="ko-KR" sz="2800" b="1" dirty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1431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7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359534" y="1419792"/>
            <a:ext cx="9091931" cy="5438208"/>
            <a:chOff x="1359534" y="1419792"/>
            <a:chExt cx="9091931" cy="543820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9534" y="1499089"/>
              <a:ext cx="9053529" cy="5358911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9455944" y="1470405"/>
              <a:ext cx="995521" cy="658434"/>
            </a:xfrm>
            <a:prstGeom prst="rect">
              <a:avLst/>
            </a:prstGeom>
            <a:solidFill>
              <a:srgbClr val="FFF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대각선 방향의 모서리가 둥근 사각형 4"/>
            <p:cNvSpPr/>
            <p:nvPr/>
          </p:nvSpPr>
          <p:spPr>
            <a:xfrm rot="5400000">
              <a:off x="9476661" y="1418997"/>
              <a:ext cx="674994" cy="835177"/>
            </a:xfrm>
            <a:prstGeom prst="round2DiagRect">
              <a:avLst>
                <a:gd name="adj1" fmla="val 34195"/>
                <a:gd name="adj2" fmla="val 0"/>
              </a:avLst>
            </a:prstGeom>
            <a:solidFill>
              <a:srgbClr val="F1F2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이등변 삼각형 7"/>
            <p:cNvSpPr/>
            <p:nvPr/>
          </p:nvSpPr>
          <p:spPr>
            <a:xfrm rot="20409098">
              <a:off x="9327864" y="1419792"/>
              <a:ext cx="490462" cy="173788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>
              <a:off x="5766101" y="6265014"/>
              <a:ext cx="236668" cy="23666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hlinkClick r:id="" action="ppaction://hlinkshowjump?jump=nextslide"/>
            </p:cNvPr>
            <p:cNvSpPr/>
            <p:nvPr/>
          </p:nvSpPr>
          <p:spPr>
            <a:xfrm>
              <a:off x="6161476" y="6265014"/>
              <a:ext cx="236668" cy="236668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517" y="1443541"/>
            <a:ext cx="10676872" cy="4733422"/>
          </a:xfrm>
          <a:prstGeom prst="rect">
            <a:avLst/>
          </a:prstGeom>
        </p:spPr>
      </p:pic>
      <p:pic>
        <p:nvPicPr>
          <p:cNvPr id="2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41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292652"/>
            <a:ext cx="10293350" cy="217473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292152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spc="-30" dirty="0" smtClean="0">
                <a:solidFill>
                  <a:srgbClr val="0070C0"/>
                </a:solidFill>
              </a:rPr>
              <a:t>카페에서 어린이의 출입을 제한하여 카페에 들어가지 </a:t>
            </a:r>
            <a:r>
              <a:rPr lang="ko-KR" altLang="en-US" sz="2400" spc="-30" dirty="0">
                <a:solidFill>
                  <a:srgbClr val="0070C0"/>
                </a:solidFill>
              </a:rPr>
              <a:t>못하는 어린이</a:t>
            </a:r>
            <a:endParaRPr lang="en-US" altLang="ko-KR" sz="2400" spc="-30" dirty="0">
              <a:solidFill>
                <a:srgbClr val="0070C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</a:rPr>
              <a:t>가게에서 </a:t>
            </a:r>
            <a:r>
              <a:rPr lang="ko-KR" altLang="en-US" sz="2400" dirty="0" err="1" smtClean="0">
                <a:solidFill>
                  <a:srgbClr val="0070C0"/>
                </a:solidFill>
              </a:rPr>
              <a:t>안내견의</a:t>
            </a:r>
            <a:r>
              <a:rPr lang="ko-KR" altLang="en-US" sz="2400" dirty="0" smtClean="0">
                <a:solidFill>
                  <a:srgbClr val="0070C0"/>
                </a:solidFill>
              </a:rPr>
              <a:t> 출입을 거부하여 </a:t>
            </a:r>
            <a:r>
              <a:rPr lang="ko-KR" altLang="en-US" sz="2400" dirty="0">
                <a:solidFill>
                  <a:srgbClr val="0070C0"/>
                </a:solidFill>
              </a:rPr>
              <a:t>가게에 들어가지 못하는 시각장애인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77184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다음 그림에서 인권이 침해된 사람을 모두 찾아 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○표를 해 보자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 dirty="0"/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04726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04726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21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777" y="1691061"/>
            <a:ext cx="10058400" cy="4407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84944" y="2157782"/>
            <a:ext cx="8601887" cy="2552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유진이는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서연이의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누리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소통망을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보다가 깜짝 놀랐다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서연이가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쉬는 시간에 잠이 든 자신의 모습을 몰래 찍어 허락도 없이 누리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소통망에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올린 것을 발견했기 때문이다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기분이 상한 유진이는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서연이에게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사진을 지워 달라고 했지만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서연이는 귀여워서 올린 것인데 무엇이 문제냐고 물으며 사진을 지워 주지 않았다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</a:t>
            </a:r>
            <a:r>
              <a:rPr lang="ko-KR" altLang="en-US" sz="2000" b="1" dirty="0" smtClean="0">
                <a:latin typeface="+mj-ea"/>
                <a:ea typeface="+mj-ea"/>
              </a:rPr>
              <a:t>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9979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C3697C6-A48E-379A-5E18-F017923535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5" y="2103302"/>
            <a:ext cx="11763375" cy="3806005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3028474" y="2311345"/>
            <a:ext cx="2372264" cy="117731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131992" y="2455588"/>
            <a:ext cx="2168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+mn-ea"/>
              </a:rPr>
              <a:t>여성 지원자 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ko-KR" altLang="en-US" dirty="0" smtClean="0">
                <a:latin typeface="+mn-ea"/>
              </a:rPr>
              <a:t>점수가</a:t>
            </a:r>
            <a:endParaRPr lang="ko-KR" altLang="en-US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더 높군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5682533" y="2455588"/>
            <a:ext cx="3185421" cy="151256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786052" y="2676998"/>
            <a:ext cx="2911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+mn-ea"/>
              </a:rPr>
              <a:t>그래도 여성보다</a:t>
            </a:r>
          </a:p>
          <a:p>
            <a:pPr algn="ctr"/>
            <a:r>
              <a:rPr lang="ko-KR" altLang="en-US" dirty="0">
                <a:latin typeface="+mn-ea"/>
              </a:rPr>
              <a:t>남성이 더 일을 잘하지</a:t>
            </a:r>
            <a:r>
              <a:rPr lang="en-US" altLang="ko-KR" dirty="0">
                <a:latin typeface="+mn-ea"/>
              </a:rPr>
              <a:t>.</a:t>
            </a:r>
          </a:p>
          <a:p>
            <a:pPr algn="ctr"/>
            <a:r>
              <a:rPr lang="ko-KR" altLang="en-US" dirty="0">
                <a:latin typeface="+mn-ea"/>
              </a:rPr>
              <a:t>남자를 </a:t>
            </a:r>
            <a:r>
              <a:rPr lang="ko-KR" altLang="en-US" dirty="0" err="1">
                <a:latin typeface="+mn-ea"/>
              </a:rPr>
              <a:t>뽑아야겠어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1. </a:t>
            </a:r>
            <a:r>
              <a:rPr lang="ko-KR" altLang="en-US" sz="2000" b="1" dirty="0" smtClean="0"/>
              <a:t>위 만화의 </a:t>
            </a:r>
            <a:r>
              <a:rPr lang="ko-KR" altLang="en-US" sz="2000" b="1" dirty="0" err="1" smtClean="0"/>
              <a:t>말풍선에서</a:t>
            </a:r>
            <a:r>
              <a:rPr lang="ko-KR" altLang="en-US" sz="2000" b="1" dirty="0" smtClean="0"/>
              <a:t> 편견을 찾아 밑줄을 그어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그래도 여성보다 남성이 더 일을 잘하지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0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6756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2. 1</a:t>
            </a:r>
            <a:r>
              <a:rPr lang="ko-KR" altLang="en-US" sz="2000" b="1" dirty="0" smtClean="0"/>
              <a:t>에서 찾은 편견으로 어떤 문제가 발생했는지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점수가 낮은 남성 지원자가 합격하고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점수가 높은 여성 지원자가 탈락하는 차별이 발생하였다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0586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15933" y="2006993"/>
            <a:ext cx="8601887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식료품에 점자가 표기되지 않은 경우가 많아 시각 장애인들이 어려움을 겪고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식료품에 점자를 표기했더라도 정확한 정보를 제공하는 경우 또한 드물다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예를 들어 음료에 정확한 제품명이 아니라 그저 ‘탄산’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‘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음료’라고만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점자로 표기되어 있고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신선도가 중요한 유제품에는 유통 기한이 점자로 표기되어 있지 않다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이러한 문제가 해결되지 않는 까닭은 식료품 등의 점자 표기와 관련하여 법으로 정한 의무 조항이 없기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때문이다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</a:t>
            </a:r>
            <a:r>
              <a:rPr lang="ko-KR" altLang="en-US" sz="2000" b="1" dirty="0" smtClean="0">
                <a:latin typeface="+mj-ea"/>
                <a:ea typeface="+mj-ea"/>
              </a:rPr>
              <a:t>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1789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 침해의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2056" y="1512992"/>
            <a:ext cx="110499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인권 감수성 부족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인권 감수성이란</a:t>
            </a:r>
            <a:r>
              <a:rPr lang="en-US" altLang="ko-KR" sz="2400" dirty="0"/>
              <a:t> </a:t>
            </a:r>
            <a:r>
              <a:rPr lang="ko-KR" altLang="en-US" sz="2400" dirty="0"/>
              <a:t>어떤 문제가 발생했을 때 그것이 인권에 관한 문제임을 민감하게 알아차리고</a:t>
            </a:r>
            <a:r>
              <a:rPr lang="en-US" altLang="ko-KR" sz="2400" dirty="0"/>
              <a:t>, </a:t>
            </a:r>
            <a:r>
              <a:rPr lang="ko-KR" altLang="en-US" sz="2400" dirty="0"/>
              <a:t>인권이 침해된 사람의 마음에 공감할 수 있는 능력을 말함</a:t>
            </a:r>
            <a:r>
              <a:rPr lang="en-US" altLang="ko-KR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편견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편견은 개인의 생각에서 그치지 않고 차별적인 말과 행동으로 이어짐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7061" y="5361079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편견</a:t>
            </a:r>
            <a:r>
              <a:rPr lang="ko-KR" altLang="en-US" sz="1600" dirty="0" smtClean="0">
                <a:latin typeface="+mn-ea"/>
              </a:rPr>
              <a:t> 공정하지 못하고 한쪽으로 치우친 생각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622056" y="4393125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 침해의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2056" y="1512992"/>
            <a:ext cx="11049991" cy="1706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사회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제도의 미비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사회 제도가 미비할 때에도 인권 침해가 발생하며</a:t>
            </a:r>
            <a:r>
              <a:rPr lang="en-US" altLang="ko-KR" sz="2400" dirty="0"/>
              <a:t>, </a:t>
            </a:r>
            <a:r>
              <a:rPr lang="ko-KR" altLang="en-US" sz="2400" dirty="0"/>
              <a:t>인권 문제를 그저 남의 일로만 여기는 사회적 분위기는 제도를 개선하는 데 걸림돌이 되기도 함</a:t>
            </a:r>
            <a:r>
              <a:rPr lang="en-US" altLang="ko-KR" sz="2400" dirty="0"/>
              <a:t>.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8731" y="5361482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미비</a:t>
            </a:r>
            <a:r>
              <a:rPr lang="ko-KR" altLang="en-US" sz="1600" dirty="0" smtClean="0">
                <a:latin typeface="+mn-ea"/>
              </a:rPr>
              <a:t> 아직 모두 갖추지 못한 상태에 있음</a:t>
            </a:r>
            <a:r>
              <a:rPr lang="en-US" altLang="ko-KR" sz="1600" dirty="0" smtClean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2381484" y="2203019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7" name="그림 16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18" name="TextBox 1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19" name="타원 18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8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 침해의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2056" y="1538870"/>
            <a:ext cx="110499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ea typeface="+mn-ea"/>
              </a:rPr>
              <a:t>사회 </a:t>
            </a: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ea typeface="+mn-ea"/>
              </a:rPr>
              <a:t>제도의 미비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Arial Rounded MT Bold" panose="020F0704030504030204" pitchFamily="34" charset="0"/>
              </a:rPr>
              <a:t>사회 제도가 미비할 때에도 인권 침해가 발생하며</a:t>
            </a:r>
            <a:r>
              <a:rPr lang="en-US" altLang="ko-KR" sz="2400" dirty="0"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latin typeface="Arial Rounded MT Bold" panose="020F0704030504030204" pitchFamily="34" charset="0"/>
              </a:rPr>
              <a:t>인권 문제를 그저 남의 일로만 여기는 사회적 분위기는 제도를 개선하는 데 걸림돌이 되기도 함</a:t>
            </a:r>
            <a:r>
              <a:rPr lang="en-US" altLang="ko-KR" sz="2400" dirty="0">
                <a:latin typeface="Arial Rounded MT Bold" panose="020F0704030504030204" pitchFamily="34" charset="0"/>
              </a:rPr>
              <a:t>.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8731" y="5361482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미비</a:t>
            </a:r>
            <a:r>
              <a:rPr lang="ko-KR" altLang="en-US" sz="1600" dirty="0" smtClean="0">
                <a:latin typeface="+mn-ea"/>
              </a:rPr>
              <a:t> 아직 모두 갖추지 못한 상태에 있음</a:t>
            </a:r>
            <a:r>
              <a:rPr lang="en-US" altLang="ko-KR" sz="1600" dirty="0" smtClean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2355606" y="2203019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7" name="그림 16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18" name="TextBox 1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19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0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8" name="그림 27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622056" y="1194899"/>
            <a:ext cx="1944697" cy="492328"/>
            <a:chOff x="377032" y="923820"/>
            <a:chExt cx="1944697" cy="492328"/>
          </a:xfrm>
        </p:grpSpPr>
        <p:pic>
          <p:nvPicPr>
            <p:cNvPr id="30" name="그림 29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108654" y="2019251"/>
            <a:ext cx="98555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정치적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·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경제적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·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사회적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·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문화적으로 소외되거나 불리한 위치에 있어서 어려움을 겪는 사람들을 말한다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57698" y="1133260"/>
            <a:ext cx="787403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사회적 약자</a:t>
            </a:r>
            <a:endParaRPr lang="en-US" altLang="ko-KR" sz="22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668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혐오 표현이 왜 문제일까</a:t>
            </a:r>
            <a:r>
              <a:rPr lang="en-US" altLang="ko-KR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6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7354" y="4258340"/>
            <a:ext cx="4228756" cy="2355011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4483963" y="2028174"/>
            <a:ext cx="733869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편견은 종종 혐오 표현으로 나타난다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혐오 표현은 나 혹은 우리와 다른 정체성을 지닌 대상을 차별하거나 그런 차별을 부추기는 말과 행동이다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나 혹은 내가 속한 집단을 다른 사람이 차별하거나 차별을 부추긴다면 어떨까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아마도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그냥 기분 나쁜 데 그치지 않고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같은 사회에서 더불어 살아갈 존재로 인정받지 못한다고 느낄 것이다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또한 이러한 혐오 표현은 차별로 이어져 여러 가지 문제를 낳을 수 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279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110" y="1278702"/>
            <a:ext cx="10164647" cy="4855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6633713" y="1337787"/>
            <a:ext cx="2587925" cy="14312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73966" y="1591768"/>
            <a:ext cx="25074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+mn-ea"/>
              </a:rPr>
              <a:t>날이 </a:t>
            </a:r>
            <a:r>
              <a:rPr lang="ko-KR" altLang="en-US" dirty="0" err="1">
                <a:latin typeface="+mn-ea"/>
              </a:rPr>
              <a:t>추운데도</a:t>
            </a:r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저렇게 얇은 옷을 입고</a:t>
            </a:r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일해야 하다니</a:t>
            </a:r>
            <a:r>
              <a:rPr lang="en-US" altLang="ko-KR" dirty="0" smtClean="0">
                <a:latin typeface="+mn-ea"/>
              </a:rPr>
              <a:t>······.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778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799" y="2363977"/>
            <a:ext cx="10147606" cy="38645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9145213" y="3847381"/>
            <a:ext cx="1740107" cy="162864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9233907" y="3958747"/>
            <a:ext cx="16514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+mn-ea"/>
              </a:rPr>
              <a:t>고객의 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ko-KR" altLang="en-US" dirty="0" smtClean="0">
                <a:latin typeface="+mn-ea"/>
              </a:rPr>
              <a:t>민원 덕분에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ko-KR" altLang="en-US" dirty="0" smtClean="0">
                <a:latin typeface="+mn-ea"/>
              </a:rPr>
              <a:t>따뜻한 옷으로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ko-KR" altLang="en-US" dirty="0" smtClean="0">
                <a:latin typeface="+mn-ea"/>
              </a:rPr>
              <a:t>바뀌었어요</a:t>
            </a:r>
            <a:r>
              <a:rPr lang="en-US" altLang="ko-KR" dirty="0" smtClean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320506" y="3968151"/>
            <a:ext cx="2415396" cy="595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300565" y="3880776"/>
            <a:ext cx="2435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600" dirty="0" smtClean="0">
                <a:latin typeface="+mn-ea"/>
              </a:rPr>
              <a:t>주차 요원들이 따뜻하게 근무할 수 있도록 복장을 변경해 주세요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380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68A259E-B254-ACD4-735A-EDD12F5411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72" b="-199"/>
          <a:stretch/>
        </p:blipFill>
        <p:spPr>
          <a:xfrm>
            <a:off x="0" y="3226279"/>
            <a:ext cx="2863247" cy="3631721"/>
          </a:xfrm>
          <a:prstGeom prst="rect">
            <a:avLst/>
          </a:prstGeom>
        </p:spPr>
      </p:pic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40018" y="1596520"/>
            <a:ext cx="860188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주문을 잊은 음식점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은 치매 환자들이 식당을 운영하는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도전기를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담아낸 프로그램이다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일명 ‘깜빡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인방’은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영업 첫날에는 식탁 위치를 깜빡 잊고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메뉴를 소개하기 어려워하는 등 서툰 모습을 보였다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그러나 마지막 날에는 능숙하게 손님을 안내하고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주문을 받으며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음식을 날랐다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식당을 방문한 손님들은 “치매 환자도 여전히 할 수 있는 일이 많다는 것을 알게 되었다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라며 소감을 전했고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시청자들은 일상에서 치매 환자를 마주할 기회가 없었는데 프로그램 덕분에 마음을 열게 되었다고 말하였다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연합뉴스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2022. 7. 31.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1. </a:t>
            </a:r>
            <a:r>
              <a:rPr lang="ko-KR" altLang="en-US" sz="2000" b="1" dirty="0" smtClean="0"/>
              <a:t>윗글에서 사람들이 치매 환자에게 지녔던 편견이 사라진 까닭을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66013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66013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04694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925563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편견의 대상이 되는 치매 환자들과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직간접적으로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교류하면서 그들을 더 잘 이해하게 되었기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그리고 치매 환자에 관해 알고 있었던 정보가 왜곡된 것임을 깨달았기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9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</a:t>
            </a:r>
            <a:r>
              <a:rPr lang="ko-KR" altLang="en-US" sz="2000" b="1" dirty="0" smtClean="0"/>
              <a:t>나는 어떤 편견을 지니고 있는지 되돌아보고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이러한 편견을 극복하기 위해 앞으로 어떻게 노력할지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04694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925563"/>
            <a:ext cx="9784141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내가 편견을 지니고 있는 집단의 사람들과 만날 기회를 만들기 위해 노력할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또한 내가 지니고 있는 편견이 사실에 기반한 것인지 확인하기 위해 정확한 정보를 찾아보려고 노력할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9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66013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66013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380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 침해의 해결 방안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8934" y="1523783"/>
            <a:ext cx="10991383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인권 감수성 발휘하기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인권 감수성을 발휘하는 사람은 우리 사회의 인권 문제에 민감하게 반응하고</a:t>
            </a:r>
            <a:r>
              <a:rPr lang="en-US" altLang="ko-KR" sz="2400" dirty="0"/>
              <a:t>, </a:t>
            </a:r>
            <a:r>
              <a:rPr lang="ko-KR" altLang="en-US" sz="2400" dirty="0"/>
              <a:t>인권이 침해된 사람의 고통에 공감하며 인권 문제가 발생했을 때 이를 해결하고자 함</a:t>
            </a:r>
            <a:r>
              <a:rPr lang="en-US" altLang="ko-KR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편견 극복하기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내가 편견을 지니지는 않았는지 성찰하고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편견을 만드는 왜곡된 정보를 점검해 보는 등의 노력을 해야 함</a:t>
            </a:r>
            <a:r>
              <a:rPr lang="en-US" altLang="ko-KR" sz="2400" dirty="0" smtClean="0"/>
              <a:t>.</a:t>
            </a:r>
            <a:endParaRPr lang="en-US" altLang="ko-KR" sz="2400" dirty="0"/>
          </a:p>
        </p:txBody>
      </p:sp>
      <p:sp>
        <p:nvSpPr>
          <p:cNvPr id="14" name="타원 1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10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 침해의 해결 방안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560" y="1506531"/>
            <a:ext cx="10991383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인권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친화적 법과 제도 확충하기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ko-KR" sz="2400" dirty="0"/>
              <a:t>‘</a:t>
            </a:r>
            <a:r>
              <a:rPr lang="ko-KR" altLang="en-US" sz="2400" dirty="0"/>
              <a:t>장애인 의무 고용 제도</a:t>
            </a:r>
            <a:r>
              <a:rPr lang="en-US" altLang="ko-KR" sz="2400" dirty="0"/>
              <a:t>’, ‘ </a:t>
            </a:r>
            <a:r>
              <a:rPr lang="ko-KR" altLang="en-US" sz="2400" dirty="0"/>
              <a:t>국민 기초 생활 보장 제도</a:t>
            </a:r>
            <a:r>
              <a:rPr lang="en-US" altLang="ko-KR" sz="2400" dirty="0"/>
              <a:t>’ </a:t>
            </a:r>
            <a:r>
              <a:rPr lang="ko-KR" altLang="en-US" sz="2400" dirty="0"/>
              <a:t>등과 같은 법과 제도를 더 늘려 가야 함</a:t>
            </a:r>
            <a:r>
              <a:rPr lang="en-US" altLang="ko-KR" sz="2400" dirty="0"/>
              <a:t>.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94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2724484"/>
            <a:ext cx="8522936" cy="3523915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591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인권을 보장하는 사회를 만들기 위해 필요한 노력을 생각해 보고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이를 실천하기 위한 나의 다짐을 써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724485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2724485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3283602"/>
            <a:ext cx="8165055" cy="279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인권을 보장하는 사회를 만들기 위해서는 법과 제도를 바꾸고자 하는 사회적 노력도 중요하지만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인권을 보장하고자 하는 개인들의 노력도 중요한 것 같다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앞으로 인권 침해 문제를 그냥 넘어가지 않고 민감하게 알아차리고자 노력할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2734113"/>
            <a:ext cx="1328154" cy="458932"/>
            <a:chOff x="877165" y="3739778"/>
            <a:chExt cx="1328154" cy="458932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다짐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pic>
        <p:nvPicPr>
          <p:cNvPr id="20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343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누구나 자기 의견을 말할 자유가 있지 않을까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pic>
        <p:nvPicPr>
          <p:cNvPr id="17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055840" y="1356916"/>
            <a:ext cx="10058400" cy="5307801"/>
            <a:chOff x="1055840" y="1356916"/>
            <a:chExt cx="10058400" cy="5307801"/>
          </a:xfrm>
        </p:grpSpPr>
        <p:sp>
          <p:nvSpPr>
            <p:cNvPr id="16" name="직사각형 15"/>
            <p:cNvSpPr/>
            <p:nvPr/>
          </p:nvSpPr>
          <p:spPr>
            <a:xfrm>
              <a:off x="2720364" y="5024060"/>
              <a:ext cx="808171" cy="7046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5840" y="1356916"/>
              <a:ext cx="10058400" cy="5307801"/>
            </a:xfrm>
            <a:prstGeom prst="rect">
              <a:avLst/>
            </a:prstGeom>
          </p:spPr>
        </p:pic>
        <p:sp>
          <p:nvSpPr>
            <p:cNvPr id="21" name="타원 20"/>
            <p:cNvSpPr/>
            <p:nvPr/>
          </p:nvSpPr>
          <p:spPr>
            <a:xfrm>
              <a:off x="1846054" y="1733909"/>
              <a:ext cx="918578" cy="67822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783587" y="1833574"/>
              <a:ext cx="102542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dirty="0" smtClean="0">
                  <a:latin typeface="+mn-ea"/>
                </a:rPr>
                <a:t>네 의견은 </a:t>
              </a:r>
              <a:endParaRPr lang="en-US" altLang="ko-KR" sz="1300" dirty="0" smtClean="0">
                <a:latin typeface="+mn-ea"/>
              </a:endParaRPr>
            </a:p>
            <a:p>
              <a:pPr algn="ctr"/>
              <a:r>
                <a:rPr lang="ko-KR" altLang="en-US" sz="1300" dirty="0" smtClean="0">
                  <a:latin typeface="+mn-ea"/>
                </a:rPr>
                <a:t>옳지 않아</a:t>
              </a:r>
              <a:r>
                <a:rPr lang="en-US" altLang="ko-KR" sz="1300" dirty="0" smtClean="0">
                  <a:latin typeface="+mn-ea"/>
                </a:rPr>
                <a:t>.</a:t>
              </a:r>
              <a:endParaRPr lang="ko-KR" altLang="en-US" sz="1300" dirty="0">
                <a:latin typeface="+mn-ea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3089233" y="1428701"/>
              <a:ext cx="1073191" cy="7022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927280" y="1553643"/>
              <a:ext cx="13534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dirty="0" smtClean="0">
                  <a:latin typeface="+mn-ea"/>
                </a:rPr>
                <a:t>맞아</a:t>
              </a:r>
              <a:r>
                <a:rPr lang="en-US" altLang="ko-KR" sz="1300" dirty="0" smtClean="0">
                  <a:latin typeface="+mn-ea"/>
                </a:rPr>
                <a:t>. </a:t>
              </a:r>
              <a:r>
                <a:rPr lang="ko-KR" altLang="en-US" sz="1300" dirty="0" smtClean="0">
                  <a:latin typeface="+mn-ea"/>
                </a:rPr>
                <a:t>그러니까</a:t>
              </a:r>
              <a:endParaRPr lang="en-US" altLang="ko-KR" sz="1300" dirty="0" smtClean="0">
                <a:latin typeface="+mn-ea"/>
              </a:endParaRPr>
            </a:p>
            <a:p>
              <a:pPr algn="ctr"/>
              <a:r>
                <a:rPr lang="ko-KR" altLang="en-US" sz="1300" dirty="0" smtClean="0">
                  <a:latin typeface="+mn-ea"/>
                </a:rPr>
                <a:t>너는 말하지 마</a:t>
              </a:r>
              <a:r>
                <a:rPr lang="en-US" altLang="ko-KR" sz="1300" dirty="0" smtClean="0">
                  <a:latin typeface="+mn-ea"/>
                </a:rPr>
                <a:t>.</a:t>
              </a:r>
              <a:endParaRPr lang="ko-KR" altLang="en-US" sz="1300" dirty="0">
                <a:latin typeface="+mn-ea"/>
              </a:endParaRPr>
            </a:p>
          </p:txBody>
        </p:sp>
        <p:sp>
          <p:nvSpPr>
            <p:cNvPr id="27" name="타원 26"/>
            <p:cNvSpPr/>
            <p:nvPr/>
          </p:nvSpPr>
          <p:spPr>
            <a:xfrm>
              <a:off x="5830621" y="4936331"/>
              <a:ext cx="989279" cy="6330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39101" y="4973117"/>
              <a:ext cx="135341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dirty="0" smtClean="0">
                  <a:latin typeface="+mn-ea"/>
                </a:rPr>
                <a:t>나도 말할</a:t>
              </a:r>
              <a:endParaRPr lang="en-US" altLang="ko-KR" sz="1300" dirty="0" smtClean="0">
                <a:latin typeface="+mn-ea"/>
              </a:endParaRPr>
            </a:p>
            <a:p>
              <a:pPr algn="ctr"/>
              <a:r>
                <a:rPr lang="ko-KR" altLang="en-US" sz="1300" dirty="0" smtClean="0">
                  <a:latin typeface="+mn-ea"/>
                </a:rPr>
                <a:t>자유가 있어</a:t>
              </a:r>
              <a:r>
                <a:rPr lang="en-US" altLang="ko-KR" sz="1300" dirty="0" smtClean="0">
                  <a:latin typeface="+mn-ea"/>
                </a:rPr>
                <a:t>!</a:t>
              </a:r>
              <a:endParaRPr lang="ko-KR" altLang="en-US" sz="1300" dirty="0">
                <a:latin typeface="+mn-ea"/>
              </a:endParaRPr>
            </a:p>
          </p:txBody>
        </p:sp>
        <p:sp>
          <p:nvSpPr>
            <p:cNvPr id="34" name="타원 33"/>
            <p:cNvSpPr/>
            <p:nvPr/>
          </p:nvSpPr>
          <p:spPr>
            <a:xfrm rot="21033983">
              <a:off x="6727381" y="2169949"/>
              <a:ext cx="2927311" cy="1191265"/>
            </a:xfrm>
            <a:prstGeom prst="ellipse">
              <a:avLst/>
            </a:prstGeom>
            <a:solidFill>
              <a:srgbClr val="D2D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타원 34"/>
            <p:cNvSpPr/>
            <p:nvPr/>
          </p:nvSpPr>
          <p:spPr>
            <a:xfrm>
              <a:off x="5455066" y="2011194"/>
              <a:ext cx="2580859" cy="1462256"/>
            </a:xfrm>
            <a:prstGeom prst="ellipse">
              <a:avLst/>
            </a:prstGeom>
            <a:solidFill>
              <a:srgbClr val="D2D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499444" y="2257350"/>
              <a:ext cx="407432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+mn-ea"/>
                </a:rPr>
                <a:t>친구들이 제 의견이 옳지 않다고 말하지도</a:t>
              </a:r>
            </a:p>
            <a:p>
              <a:pPr algn="ctr"/>
              <a:r>
                <a:rPr lang="ko-KR" altLang="en-US" sz="1600" dirty="0">
                  <a:latin typeface="+mn-ea"/>
                </a:rPr>
                <a:t>못하게 해요</a:t>
              </a:r>
              <a:r>
                <a:rPr lang="en-US" altLang="ko-KR" sz="1600" dirty="0">
                  <a:latin typeface="+mn-ea"/>
                </a:rPr>
                <a:t>. </a:t>
              </a:r>
              <a:r>
                <a:rPr lang="ko-KR" altLang="en-US" sz="1600" dirty="0">
                  <a:latin typeface="+mn-ea"/>
                </a:rPr>
                <a:t>제 자유가 침해당하는 </a:t>
              </a:r>
              <a:endParaRPr lang="en-US" altLang="ko-KR" sz="1600" dirty="0" smtClean="0">
                <a:latin typeface="+mn-ea"/>
              </a:endParaRPr>
            </a:p>
            <a:p>
              <a:pPr algn="ctr"/>
              <a:r>
                <a:rPr lang="ko-KR" altLang="en-US" sz="1600" dirty="0" smtClean="0">
                  <a:latin typeface="+mn-ea"/>
                </a:rPr>
                <a:t>기분이에요</a:t>
              </a:r>
              <a:r>
                <a:rPr lang="en-US" altLang="ko-KR" sz="1600" dirty="0" smtClean="0">
                  <a:latin typeface="+mn-ea"/>
                </a:rPr>
                <a:t>. </a:t>
              </a:r>
              <a:r>
                <a:rPr lang="ko-KR" altLang="en-US" sz="1600" dirty="0" smtClean="0">
                  <a:latin typeface="+mn-ea"/>
                </a:rPr>
                <a:t>누구나 </a:t>
              </a:r>
              <a:r>
                <a:rPr lang="ko-KR" altLang="en-US" sz="1600" dirty="0">
                  <a:latin typeface="+mn-ea"/>
                </a:rPr>
                <a:t>자기 의견을 </a:t>
              </a:r>
              <a:endParaRPr lang="en-US" altLang="ko-KR" sz="1600" dirty="0" smtClean="0">
                <a:latin typeface="+mn-ea"/>
              </a:endParaRPr>
            </a:p>
            <a:p>
              <a:pPr algn="ctr"/>
              <a:r>
                <a:rPr lang="ko-KR" altLang="en-US" sz="1600" dirty="0" smtClean="0">
                  <a:latin typeface="+mn-ea"/>
                </a:rPr>
                <a:t>말할 자유가 있지 </a:t>
              </a:r>
              <a:r>
                <a:rPr lang="ko-KR" altLang="en-US" sz="1600" dirty="0">
                  <a:latin typeface="+mn-ea"/>
                </a:rPr>
                <a:t>않나요</a:t>
              </a:r>
              <a:r>
                <a:rPr lang="en-US" altLang="ko-KR" sz="1600" dirty="0">
                  <a:latin typeface="+mn-ea"/>
                </a:rPr>
                <a:t>?</a:t>
              </a:r>
              <a:endParaRPr lang="ko-KR" altLang="en-US" sz="1200" dirty="0">
                <a:latin typeface="+mn-ea"/>
              </a:endParaRPr>
            </a:p>
          </p:txBody>
        </p:sp>
      </p:grpSp>
      <p:sp>
        <p:nvSpPr>
          <p:cNvPr id="25" name="타원 24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rId7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9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타원 27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누구나 자기 의견을 말할 자유가 있지 않을까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pic>
        <p:nvPicPr>
          <p:cNvPr id="26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246" y="1596520"/>
            <a:ext cx="2573430" cy="693359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17680"/>
            <a:ext cx="4372381" cy="4140319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3870503" y="1648858"/>
            <a:ext cx="762401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dirty="0">
                <a:latin typeface="YDVYMjO12"/>
              </a:rPr>
              <a:t>  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우리는 자신의 의견을 자유롭게 표현할 수 있어야 합니다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우리가 어떤 의견을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표현하지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못하도록 억압하였는데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 의견이 오류가 아닌 진리일 수 있기 때문입니다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 경우 우리는 오류를 진리로 대체할 기회를 잃게 됩니다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13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타원 15">
            <a:hlinkClick r:id="rId2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수행의 시작/종료 18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누구나 자기 의견을 말할 자유가 있지 않을까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pic>
        <p:nvPicPr>
          <p:cNvPr id="29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246" y="1596520"/>
            <a:ext cx="2573430" cy="693359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17680"/>
            <a:ext cx="4372381" cy="414031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24500" y="1596520"/>
            <a:ext cx="757001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또한 우리가 억압한 의견이 오류라고 하더라도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우리는 그 의견을 표현할 자유를 보장해야 합니다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우리의 의견이 정말로 진리인지를 확신하려면 우리는 반대 의견에 모두 반박할 수 있어야 하지요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어떤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의견이 오류라고 해서 표현하지 못하도록 억압한다면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우리는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오류와의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충돌을 통해서 진리를 더욱 분명하게 인식할 기회를 놓쳐 버리게 됩니다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그러니 우리에게는 남에게 해를 끼치지 않는다면 어떤 의견이라도 표현할 자유가 있습니다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26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“2.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다양한 문화와 종교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– </a:t>
            </a: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01.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다문화 사회에서는 어떤 문제가 발생할까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 침해의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7061" y="5361079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편견</a:t>
            </a:r>
            <a:r>
              <a:rPr lang="ko-KR" altLang="en-US" sz="1600" dirty="0" smtClean="0">
                <a:latin typeface="+mn-ea"/>
              </a:rPr>
              <a:t> 공정하지 못하고 한쪽으로 치우친 생각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인권 감수성 부족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인권 감수성이란 어떤 문제가 발생했을 때 그것이 인권에 관한 문제임을 민감하게 알아차리고, 인권이 침해된 사람의 마음에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공감 </a:t>
            </a:r>
            <a:r>
              <a:rPr sz="2400" b="0">
                <a:solidFill>
                  <a:srgbClr val="262626"/>
                </a:solidFill>
              </a:rPr>
              <a:t>할 수 있는 능력을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“장애인 화장실이 창고로 쓰이는데, 그게 왜 문제야?”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편견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편견은 개인의 생각에서 그치지 않고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차별 </a:t>
            </a:r>
            <a:r>
              <a:rPr sz="2400" b="0">
                <a:solidFill>
                  <a:srgbClr val="262626"/>
                </a:solidFill>
              </a:rPr>
              <a:t>적인 말과 행동으로 이어짐.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“여자는 수학을 못해.” → 수학 영재반 추천에서 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사회적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약자 </a:t>
            </a:r>
            <a:r>
              <a:rPr sz="2400" b="0">
                <a:solidFill>
                  <a:srgbClr val="262626"/>
                </a:solidFill>
              </a:rPr>
              <a:t>는 정치적·경제적·사회적·문화적으로 소외되거나 불리한 위치에 있어서 어려움을 겪는 사람들을 말함.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 감수성 부족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인권 감수성이란 어떤 문제가 발생했을 때 그것이 인권에 관한 문제임을 민감하게 알아차리고, 인권이 침해된 사람의 마음에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있는 능력을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“장애인 화장실이 창고로 쓰이는데, 그게 왜 문제야?”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편견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편견은 개인의 생각에서 그치지 않고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말과 행동으로 이어짐.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“여자는 수학을 못해.” → 수학 영재반 추천에서 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약자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정치적·경제적·사회적·문화적으로 소외되거나 불리한 위치에 있어서 어려움을 겪는 사람들을 말함.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 감수성 부족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인권 감수성이란 어떤 문제가 발생했을 때 그것이 인권에 관한 문제임을 민감하게 알아차리고, 인권이 침해된 사람의 마음에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있는 능력을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“장애인 화장실이 창고로 쓰이는데, 그게 왜 문제야?”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편견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편견은 개인의 생각에서 그치지 않고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말과 행동으로 이어짐.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“여자는 수학을 못해.” → 수학 영재반 추천에서 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약자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정치적·경제적·사회적·문화적으로 소외되거나 불리한 위치에 있어서 어려움을 겪는 사람들을 말함.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 감수성 부족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인권 감수성이란 어떤 문제가 발생했을 때 그것이 인권에 관한 문제임을 민감하게 알아차리고, 인권이 침해된 사람의 마음에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있는 능력을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“장애인 화장실이 창고로 쓰이는데, 그게 왜 문제야?”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편견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편견은 개인의 생각에서 그치지 않고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말과 행동으로 이어짐.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“여자는 수학을 못해.” → 수학 영재반 추천에서 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약자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정치적·경제적·사회적·문화적으로 소외되거나 불리한 위치에 있어서 어려움을 겪는 사람들을 말함.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 감수성 부족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인권 감수성이란 어떤 문제가 발생했을 때 그것이 인권에 관한 문제임을 민감하게 알아차리고, 인권이 침해된 사람의 마음에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있는 능력을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“장애인 화장실이 창고로 쓰이는데, 그게 왜 문제야?”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편견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편견은 개인의 생각에서 그치지 않고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말과 행동으로 이어짐.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“여자는 수학을 못해.” → 수학 영재반 추천에서 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약자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정치적·경제적·사회적·문화적으로 소외되거나 불리한 위치에 있어서 어려움을 겪는 사람들을 말함.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 감수성 부족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인권 감수성이란 어떤 문제가 발생했을 때 그것이 인권에 관한 문제임을 민감하게 알아차리고, 인권이 침해된 사람의 마음에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있는 능력을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“장애인 화장실이 창고로 쓰이는데, 그게 왜 문제야?”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편견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편견은 개인의 생각에서 그치지 않고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말과 행동으로 이어짐.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“여자는 수학을 못해.” → 수학 영재반 추천에서 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약자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정치적·경제적·사회적·문화적으로 소외되거나 불리한 위치에 있어서 어려움을 겪는 사람들을 말함.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 감수성 부족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인권 감수성이란 어떤 문제가 발생했을 때 그것이 인권에 관한 문제임을 민감하게 알아차리고, 인권이 침해된 사람의 마음에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있는 능력을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“장애인 화장실이 창고로 쓰이는데, 그게 왜 문제야?”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편견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편견은 개인의 생각에서 그치지 않고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말과 행동으로 이어짐.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“여자는 수학을 못해.” → 수학 영재반 추천에서 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약자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정치적·경제적·사회적·문화적으로 소외되거나 불리한 위치에 있어서 어려움을 겪는 사람들을 말함.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 침해의 원인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7061" y="5361079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편견</a:t>
            </a:r>
            <a:r>
              <a:rPr lang="ko-KR" altLang="en-US" sz="1600" dirty="0" smtClean="0">
                <a:latin typeface="+mn-ea"/>
              </a:rPr>
              <a:t> 공정하지 못하고 한쪽으로 치우친 생각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사회 제도의 미비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사회 제도가 제대로 갖추어지지 않을 때에도 인권 침해가 발생할 수 있으며, 인권 문제를 남의 일로만 여기는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사회적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분위기 </a:t>
            </a:r>
            <a:r>
              <a:rPr sz="2400" b="0">
                <a:solidFill>
                  <a:srgbClr val="262626"/>
                </a:solidFill>
              </a:rPr>
              <a:t>는 제도를 개선하고 보완하는 데 걸림돌이 되기도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점자 안내가 없는 버스 정류장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 제도의 미비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 제도가 제대로 갖추어지지 않을 때에도 인권 침해가 발생할 수 있으며, 인권 문제를 남의 일로만 여기는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제도를 개선하고 보완하는 데 걸림돌이 되기도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점자 안내가 없는 버스 정류장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 제도의 미비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 제도가 제대로 갖추어지지 않을 때에도 인권 침해가 발생할 수 있으며, 인권 문제를 남의 일로만 여기는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분위기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제도를 개선하고 보완하는 데 걸림돌이 되기도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점자 안내가 없는 버스 정류장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 제도의 미비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 제도가 제대로 갖추어지지 않을 때에도 인권 침해가 발생할 수 있으며, 인권 문제를 남의 일로만 여기는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제도를 개선하고 보완하는 데 걸림돌이 되기도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점자 안내가 없는 버스 정류장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로자 파크스의 “아니요”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7061" y="5361079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편견</a:t>
            </a:r>
            <a:r>
              <a:rPr lang="ko-KR" altLang="en-US" sz="1600" dirty="0" smtClean="0">
                <a:latin typeface="+mn-ea"/>
              </a:rPr>
              <a:t> 공정하지 못하고 한쪽으로 치우친 생각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1955년 12월 1일 · 미국 앨라배마주 몽고메리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법 · 버스 앞쪽은 백인석, 흑인은 백인에게 자리를 내줘야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그날 · 퇴근길의 로자 파크스는 자리를 양보하라는 요구를 거절했다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결과 · 체포되었고, 흑인 시민들은 381일 동안 버스 타기를 거부했다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1956 · 연방 대법원은 버스 인종 분리가 헌법에 어긋난다고 판결했다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그 법이 ‘법’이었다고 옳은 것이었을까?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1955년 12월 1일 · 미국 앨라배마주 몽고메리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법 · 버스 앞쪽은 백인석, 흑인은 백인에게 자리를 내줘야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그날 · 퇴근길의 로자 파크스는 자리를 양보하라는 요구를 거절했다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결과 · 체포되었고, 흑인 시민들은 381일 동안 버스 타기를 거부했다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1956 · 연방 대법원은 버스 인종 분리가 헌법에 어긋난다고 판결했다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그 법이 ‘법’이었다고 옳은 것이었을까?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“근로 기준법을 지켜라”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7061" y="5361079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편견</a:t>
            </a:r>
            <a:r>
              <a:rPr lang="ko-KR" altLang="en-US" sz="1600" dirty="0" smtClean="0">
                <a:latin typeface="+mn-ea"/>
              </a:rPr>
              <a:t> 공정하지 못하고 한쪽으로 치우친 생각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1970년 11월 13일 · 서울 평화시장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일터 · 열서너 살 ‘시다’들이 먼지 속에서 하루 14시간 넘게 일했다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전태일 · 스물두 살 재단사는 근로 기준법을 공부해 노동 실태를 알렸다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외침 · “우리는 기계가 아니다”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이후 · 노동자의 인권에 대한 사회의 관심이 크게 높아졌다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법이 있어도 지켜지지 않았던 까닭은?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1970년 11월 13일 · 서울 평화시장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일터 · 열서너 살 ‘시다’들이 먼지 속에서 하루 14시간 넘게 일했다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전태일 · 스물두 살 재단사는 근로 기준법을 공부해 노동 실태를 알렸다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외침 · “우리는 기계가 아니다”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이후 · 노동자의 인권에 대한 사회의 관심이 크게 높아졌다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법이 있어도 지켜지지 않았던 까닭은?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 침해의 해결 방안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7061" y="5361079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편견</a:t>
            </a:r>
            <a:r>
              <a:rPr lang="ko-KR" altLang="en-US" sz="1600" dirty="0" smtClean="0">
                <a:latin typeface="+mn-ea"/>
              </a:rPr>
              <a:t> 공정하지 못하고 한쪽으로 치우친 생각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인권 감수성 발휘하기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인권 감수성을 발휘하는 사람은 우리 사회의 인권 문제에 민감하게 반응하고, 인권이 침해된 사람의 고통에 공감하며 인권 문제가 발생했을 때 이를 해결하고자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엘리베이터 없는 역에 민원 넣기, 서명 운동 참여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편견 극복하기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내가 편견을 지니지는 않았는지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성찰 </a:t>
            </a:r>
            <a:r>
              <a:rPr sz="2400" b="0">
                <a:solidFill>
                  <a:srgbClr val="262626"/>
                </a:solidFill>
              </a:rPr>
              <a:t>하고, 편견을 만드는 왜곡된 정보를 점검해 볼 필요가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드라마 속 ‘외국인 노동자는 가난하다’는 장면을 비판적으로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각종 캠페인에 참여하거나 편견의 대상이 되는 집단과 자주 교류하는 것도 도움이 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 감수성 발휘하기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인권 감수성을 발휘하는 사람은 우리 사회의 인권 문제에 민감하게 반응하고, 인권이 침해된 사람의 고통에 공감하며 인권 문제가 발생했을 때 이를 해결하고자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엘리베이터 없는 역에 민원 넣기, 서명 운동 참여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편견 극복하기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내가 편견을 지니지는 않았는지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편견을 만드는 왜곡된 정보를 점검해 볼 필요가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드라마 속 ‘외국인 노동자는 가난하다’는 장면을 비판적으로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각종 캠페인에 참여하거나 편견의 대상이 되는 집단과 자주 교류하는 것도 도움이 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 감수성 발휘하기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인권 감수성을 발휘하는 사람은 우리 사회의 인권 문제에 민감하게 반응하고, 인권이 침해된 사람의 고통에 공감하며 인권 문제가 발생했을 때 이를 해결하고자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엘리베이터 없는 역에 민원 넣기, 서명 운동 참여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편견 극복하기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내가 편견을 지니지는 않았는지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성찰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편견을 만드는 왜곡된 정보를 점검해 볼 필요가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드라마 속 ‘외국인 노동자는 가난하다’는 장면을 비판적으로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각종 캠페인에 참여하거나 편견의 대상이 되는 집단과 자주 교류하는 것도 도움이 됨.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 감수성 발휘하기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인권 감수성을 발휘하는 사람은 우리 사회의 인권 문제에 민감하게 반응하고, 인권이 침해된 사람의 고통에 공감하며 인권 문제가 발생했을 때 이를 해결하고자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엘리베이터 없는 역에 민원 넣기, 서명 운동 참여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편견 극복하기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내가 편견을 지니지는 않았는지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편견을 만드는 왜곡된 정보를 점검해 볼 필요가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드라마 속 ‘외국인 노동자는 가난하다’는 장면을 비판적으로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각종 캠페인에 참여하거나 편견의 대상이 되는 집단과 자주 교류하는 것도 도움이 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 침해의 해결 방안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7061" y="5361079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편견</a:t>
            </a:r>
            <a:r>
              <a:rPr lang="ko-KR" altLang="en-US" sz="1600" dirty="0" smtClean="0">
                <a:latin typeface="+mn-ea"/>
              </a:rPr>
              <a:t> 공정하지 못하고 한쪽으로 치우친 생각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인권 친화적 법과 제도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확충 </a:t>
            </a:r>
            <a:r>
              <a:rPr sz="2400" b="1">
                <a:solidFill>
                  <a:srgbClr val="843C0C"/>
                </a:solidFill>
              </a:rPr>
              <a:t>하기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‘장애인 의무 고용 제도’, ‘국민 기초 생활 보장 제도’ 등과 같은 법과 제도를 더 늘려 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회사는 직원의 일정 비율을 장애인으로 고용해야 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인권 친화적 법과 제도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확충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‘장애인 의무 고용 제도’, ‘국민 기초 생활 보장 제도’ 등과 같은 법과 제도를 더 늘려 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회사는 직원의 일정 비율을 장애인으로 고용해야 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인권 친화적 법과 제도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확충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‘장애인 의무 고용 제도’, ‘국민 기초 생활 보장 제도’ 등과 같은 법과 제도를 더 늘려 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회사는 직원의 일정 비율을 장애인으로 고용해야 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7061" y="5361079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편견</a:t>
            </a:r>
            <a:r>
              <a:rPr lang="ko-KR" altLang="en-US" sz="1600" dirty="0" smtClean="0">
                <a:latin typeface="+mn-ea"/>
              </a:rPr>
              <a:t> 공정하지 못하고 한쪽으로 치우친 생각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차별은 인권을 무시하고 침해하는 행동이다.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대중 매체 속에 숨은 편견은 없는지 비판적으로 검토해 볼 필요는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우리나라는 법으로 인권을 보호해야 함을 분명히 밝히고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인권을 보장하기 위한 노력은 시혜적인 행동이다.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차별은 인권을 무시하고 침해하는 행동이다.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대중 매체 속에 숨은 편견은 없는지 비판적으로 검토해 볼 필요는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우리나라는 법으로 인권을 보호해야 함을 분명히 밝히고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인권을 보장하기 위한 노력은 시혜적인 행동이다.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차별은 인권을 무시하고 침해하는 행동이다.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대중 매체 속에 숨은 편견은 없는지 비판적으로 검토해 볼 필요는 없다.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우리나라는 법으로 인권을 보호해야 함을 분명히 밝히고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인권을 보장하기 위한 노력은 시혜적인 행동이다.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차별은 인권을 무시하고 침해하는 행동이다.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대중 매체 속에 숨은 편견은 없는지 비판적으로 검토해 볼 필요는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우리나라는 법으로 인권을 보호해야 함을 분명히 밝히고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인권을 보장하기 위한 노력은 시혜적인 행동이다.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차별은 인권을 무시하고 침해하는 행동이다.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대중 매체 속에 숨은 편견은 없는지 비판적으로 검토해 볼 필요는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우리나라는 법으로 인권을 보호해야 함을 분명히 밝히고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인권을 보장하기 위한 노력은 시혜적인 행동이다.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원인은 무엇일까?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7061" y="5361079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편견</a:t>
            </a:r>
            <a:r>
              <a:rPr lang="ko-KR" altLang="en-US" sz="1600" dirty="0" smtClean="0">
                <a:latin typeface="+mn-ea"/>
              </a:rPr>
              <a:t> 공정하지 못하고 한쪽으로 치우친 생각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인권 감수성 부족 · 편견 · 사회 제도의 미비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잠든 친구 사진을 몰래 올리고 “귀여워서 그랬는데?”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(인권 문제임을 알아차리지 못함)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“그래도 남성이 일을 더 잘하지.”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(성별에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식료품에 점자 표기 의무가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(제도가 갖추어지지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“저 나라 사람들은 다 게을러.”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(집단에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휠체어가 들어갈 수 없는 건물이 법에 걸리지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(제도의 빈틈)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친구가 놀림당해도 장난이라고 넘긴다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(공감하지 못함)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인권 감수성 부족 · 편견 · 사회 제도의 미비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잠든 친구 사진을 몰래 올리고 “귀여워서 그랬는데?”</a:t>
            </a:r>
            <a:r>
              <a:rPr sz="2300" b="1">
                <a:solidFill>
                  <a:srgbClr val="C0392B"/>
                </a:solidFill>
              </a:rPr>
              <a:t>   → 인권 감수성 부족 (인권 문제임을 알아차리지 못함)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“그래도 남성이 일을 더 잘하지.”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(성별에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식료품에 점자 표기 의무가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(제도가 갖추어지지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“저 나라 사람들은 다 게을러.”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(집단에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휠체어가 들어갈 수 없는 건물이 법에 걸리지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(제도의 빈틈)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친구가 놀림당해도 장난이라고 넘긴다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(공감하지 못함)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인권 감수성 부족 · 편견 · 사회 제도의 미비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잠든 친구 사진을 몰래 올리고 “귀여워서 그랬는데?”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(인권 문제임을 알아차리지 못함)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“그래도 남성이 일을 더 잘하지.”</a:t>
            </a:r>
            <a:r>
              <a:rPr sz="2300" b="1">
                <a:solidFill>
                  <a:srgbClr val="C0392B"/>
                </a:solidFill>
              </a:rPr>
              <a:t>   → 편견 (성별에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식료품에 점자 표기 의무가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(제도가 갖추어지지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“저 나라 사람들은 다 게을러.”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(집단에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휠체어가 들어갈 수 없는 건물이 법에 걸리지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(제도의 빈틈)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친구가 놀림당해도 장난이라고 넘긴다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(공감하지 못함)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인권 감수성 부족 · 편견 · 사회 제도의 미비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잠든 친구 사진을 몰래 올리고 “귀여워서 그랬는데?”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(인권 문제임을 알아차리지 못함)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“그래도 남성이 일을 더 잘하지.”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(성별에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식료품에 점자 표기 의무가 없다</a:t>
            </a:r>
            <a:r>
              <a:rPr sz="2300" b="1">
                <a:solidFill>
                  <a:srgbClr val="C0392B"/>
                </a:solidFill>
              </a:rPr>
              <a:t>   → 사회 제도의 미비 (제도가 갖추어지지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“저 나라 사람들은 다 게을러.”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(집단에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휠체어가 들어갈 수 없는 건물이 법에 걸리지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(제도의 빈틈)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친구가 놀림당해도 장난이라고 넘긴다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(공감하지 못함)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인권 감수성 부족 · 편견 · 사회 제도의 미비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잠든 친구 사진을 몰래 올리고 “귀여워서 그랬는데?”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(인권 문제임을 알아차리지 못함)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“그래도 남성이 일을 더 잘하지.”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(성별에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식료품에 점자 표기 의무가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(제도가 갖추어지지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“저 나라 사람들은 다 게을러.”</a:t>
            </a:r>
            <a:r>
              <a:rPr sz="2300" b="1">
                <a:solidFill>
                  <a:srgbClr val="C0392B"/>
                </a:solidFill>
              </a:rPr>
              <a:t>   → 편견 (집단에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휠체어가 들어갈 수 없는 건물이 법에 걸리지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(제도의 빈틈)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친구가 놀림당해도 장난이라고 넘긴다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(공감하지 못함)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인권 감수성 부족 · 편견 · 사회 제도의 미비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잠든 친구 사진을 몰래 올리고 “귀여워서 그랬는데?”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(인권 문제임을 알아차리지 못함)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“그래도 남성이 일을 더 잘하지.”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(성별에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식료품에 점자 표기 의무가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(제도가 갖추어지지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“저 나라 사람들은 다 게을러.”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(집단에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휠체어가 들어갈 수 없는 건물이 법에 걸리지 않는다</a:t>
            </a:r>
            <a:r>
              <a:rPr sz="2300" b="1">
                <a:solidFill>
                  <a:srgbClr val="C0392B"/>
                </a:solidFill>
              </a:rPr>
              <a:t>   → 사회 제도의 미비 (제도의 빈틈)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친구가 놀림당해도 장난이라고 넘긴다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(공감하지 못함)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인권 감수성 부족 · 편견 · 사회 제도의 미비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잠든 친구 사진을 몰래 올리고 “귀여워서 그랬는데?”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인권 감수성 부족 (인권 문제임을 알아차리지 못함)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“그래도 남성이 일을 더 잘하지.”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(성별에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식료품에 점자 표기 의무가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(제도가 갖추어지지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“저 나라 사람들은 다 게을러.”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편견 (집단에 대한 편견)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휠체어가 들어갈 수 없는 건물이 법에 걸리지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제도의 미비 (제도의 빈틈)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친구가 놀림당해도 장난이라고 넘긴다</a:t>
            </a:r>
            <a:r>
              <a:rPr sz="2300" b="1">
                <a:solidFill>
                  <a:srgbClr val="C0392B"/>
                </a:solidFill>
              </a:rPr>
              <a:t>   → 인권 감수성 부족 (공감하지 못함)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밀의 자유론 OX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7061" y="5361079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편견</a:t>
            </a:r>
            <a:r>
              <a:rPr lang="ko-KR" altLang="en-US" sz="1600" dirty="0" smtClean="0">
                <a:latin typeface="+mn-ea"/>
              </a:rPr>
              <a:t> 공정하지 못하고 한쪽으로 치우친 생각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틀린 의견은 말하지 못하게 막아야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틀린 의견도 토론으로 고쳐지며 진리를 더 분명하게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자유는 다른 사람에게 해를 끼치지 않는 범위에서 보장된다.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해악의 원리.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혐오 표현도 표현의 자유이므로 무엇이든 괜찮다.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다른 사람의 존엄을 해치는 말은 자유의 한계를 넘는다(126쪽 자료).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틀린 의견은 말하지 못하게 막아야 한다.  ( ○ / ✕ )</a:t>
            </a:r>
            <a:r>
              <a:rPr sz="2300" b="1">
                <a:solidFill>
                  <a:srgbClr val="C0392B"/>
                </a:solidFill>
              </a:rPr>
              <a:t>   ✕  틀린 의견도 토론으로 고쳐지며 진리를 더 분명하게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자유는 다른 사람에게 해를 끼치지 않는 범위에서 보장된다.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해악의 원리.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혐오 표현도 표현의 자유이므로 무엇이든 괜찮다.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다른 사람의 존엄을 해치는 말은 자유의 한계를 넘는다(126쪽 자료).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틀린 의견은 말하지 못하게 막아야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틀린 의견도 토론으로 고쳐지며 진리를 더 분명하게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자유는 다른 사람에게 해를 끼치지 않는 범위에서 보장된다.  ( ○ / ✕ )</a:t>
            </a:r>
            <a:r>
              <a:rPr sz="2300" b="1">
                <a:solidFill>
                  <a:srgbClr val="C0392B"/>
                </a:solidFill>
              </a:rPr>
              <a:t>   ○  해악의 원리.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혐오 표현도 표현의 자유이므로 무엇이든 괜찮다.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다른 사람의 존엄을 해치는 말은 자유의 한계를 넘는다(126쪽 자료).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틀린 의견은 말하지 못하게 막아야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틀린 의견도 토론으로 고쳐지며 진리를 더 분명하게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자유는 다른 사람에게 해를 끼치지 않는 범위에서 보장된다.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해악의 원리.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혐오 표현도 표현의 자유이므로 무엇이든 괜찮다.  ( ○ / ✕ )</a:t>
            </a:r>
            <a:r>
              <a:rPr sz="2300" b="1">
                <a:solidFill>
                  <a:srgbClr val="C0392B"/>
                </a:solidFill>
              </a:rPr>
              <a:t>   ✕  다른 사람의 존엄을 해치는 말은 자유의 한계를 넘는다(126쪽 자료).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내 주변의 인권 침해와 해결 방안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인권 침해의 원인과 그 해결 방안은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87061" y="5361079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편견</a:t>
            </a:r>
            <a:r>
              <a:rPr lang="ko-KR" altLang="en-US" sz="1600" dirty="0" smtClean="0">
                <a:latin typeface="+mn-ea"/>
              </a:rPr>
              <a:t> 공정하지 못하고 한쪽으로 치우친 생각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장면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키 작은 친구를 “꼬마”라고 부른다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원인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외모에 대한 편견, 장난이라는 가벼운 생각(인권 감수성 부족)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해결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이름을 불러 주고, 놀림을 보면 그만하자고 말한다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장면</a:t>
            </a:r>
            <a:r>
              <a:rPr sz="2300" b="1">
                <a:solidFill>
                  <a:srgbClr val="C0392B"/>
                </a:solidFill>
              </a:rPr>
              <a:t>   예) 키 작은 친구를 “꼬마”라고 부른다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원인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외모에 대한 편견, 장난이라는 가벼운 생각(인권 감수성 부족)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해결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이름을 불러 주고, 놀림을 보면 그만하자고 말한다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장면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키 작은 친구를 “꼬마”라고 부른다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원인</a:t>
            </a:r>
            <a:r>
              <a:rPr sz="2300" b="1">
                <a:solidFill>
                  <a:srgbClr val="C0392B"/>
                </a:solidFill>
              </a:rPr>
              <a:t>   예) 외모에 대한 편견, 장난이라는 가벼운 생각(인권 감수성 부족)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해결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이름을 불러 주고, 놀림을 보면 그만하자고 말한다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장면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키 작은 친구를 “꼬마”라고 부른다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원인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외모에 대한 편견, 장난이라는 가벼운 생각(인권 감수성 부족)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해결</a:t>
            </a:r>
            <a:r>
              <a:rPr sz="2300" b="1">
                <a:solidFill>
                  <a:srgbClr val="C0392B"/>
                </a:solidFill>
              </a:rPr>
              <a:t>   예) 이름을 불러 주고, 놀림을 보면 그만하자고 말한다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8165</TotalTime>
  <Words>1601</Words>
  <Application>Microsoft Office PowerPoint</Application>
  <PresentationFormat>와이드스크린</PresentationFormat>
  <Paragraphs>269</Paragraphs>
  <Slides>26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6" baseType="lpstr">
      <vt:lpstr>AppleSDGothicNeoB00</vt:lpstr>
      <vt:lpstr>YDVYMjO12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166</cp:revision>
  <cp:lastPrinted>2024-06-05T04:53:22Z</cp:lastPrinted>
  <dcterms:created xsi:type="dcterms:W3CDTF">2023-10-31T05:50:03Z</dcterms:created>
  <dcterms:modified xsi:type="dcterms:W3CDTF">2025-01-10T06:40:10Z</dcterms:modified>
</cp:coreProperties>
</file>