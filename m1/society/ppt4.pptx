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5"/>
  </p:notesMasterIdLst>
  <p:handoutMasterIdLst>
    <p:handoutMasterId r:id="rId26"/>
  </p:handoutMasterIdLst>
  <p:sldIdLst>
    <p:sldId id="387" r:id="rId2"/>
    <p:sldId id="301" r:id="rId3"/>
    <p:sldId id="258" r:id="rId4"/>
    <p:sldId id="305" r:id="rId5"/>
    <p:sldId id="306" r:id="rId6"/>
    <p:sldId id="397" r:id="rId7"/>
    <p:sldId id="270" r:id="rId8"/>
    <p:sldId id="260" r:id="rId9"/>
    <p:sldId id="396" r:id="rId10"/>
    <p:sldId id="398" r:id="rId32"/>
    <p:sldId id="307" r:id="rId11"/>
    <p:sldId id="308" r:id="rId12"/>
    <p:sldId id="388" r:id="rId13"/>
    <p:sldId id="389" r:id="rId14"/>
    <p:sldId id="390" r:id="rId15"/>
    <p:sldId id="399" r:id="rId33"/>
    <p:sldId id="400" r:id="rId34"/>
    <p:sldId id="401" r:id="rId35"/>
    <p:sldId id="364" r:id="rId16"/>
    <p:sldId id="391" r:id="rId17"/>
    <p:sldId id="392" r:id="rId18"/>
    <p:sldId id="393" r:id="rId19"/>
    <p:sldId id="394" r:id="rId20"/>
    <p:sldId id="354" r:id="rId21"/>
    <p:sldId id="386" r:id="rId22"/>
    <p:sldId id="358" r:id="rId23"/>
    <p:sldId id="402" r:id="rId36"/>
    <p:sldId id="403" r:id="rId37"/>
    <p:sldId id="404" r:id="rId38"/>
    <p:sldId id="405" r:id="rId39"/>
    <p:sldId id="380" r:id="rId24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6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CCBB"/>
    <a:srgbClr val="B0DED3"/>
    <a:srgbClr val="FF9300"/>
    <a:srgbClr val="FFFF00"/>
    <a:srgbClr val="D9E1E9"/>
    <a:srgbClr val="E8F6FD"/>
    <a:srgbClr val="F0FFF6"/>
    <a:srgbClr val="019BFF"/>
    <a:srgbClr val="FFF7E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9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996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26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143쪽 기사</a:t>
            </a:r>
          </a:p>
          <a:p>
            <a:r>
              <a:t>서로 다른 종교의 자원봉사자 100여 명이 함께 김장을 해 어려운 이웃에게 나누었다(《국민일보》, 2022.11.23) — 이웃 사랑이라는 보편적 가치로 화합.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윤리적 상대주의의 한계</a:t>
            </a:r>
          </a:p>
          <a:p>
            <a:r>
              <a:t>문화 상대주의가 “무엇이든 괜찮다”는 윤리적 상대주의로 흐르면 안 된다. 인간의 존엄성, 생명, 자유 같은 보편적 가치를 해치는 관습은 비판할 수 있다.</a:t>
            </a:r>
          </a:p>
          <a:p>
            <a:r>
              <a:t>1차시 말랄라(도덕① Ⅰ단원)를 떠올려도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다문화 정책 (교과서 140~142쪽)</a:t>
            </a:r>
          </a:p>
          <a:p>
            <a:r>
              <a:t>동화주의: 이주민이 주류 문화에 적응해 하나가 되기를 바란다(용광로). 사회 통합은 쉬우나 고유 문화를 잃는다. 다문화주의: 여러 문화가 평등하게 공존(샐러드 볼, 모자이크). 다양성을 존중하나 통합이 어렵다는 비판도 있다.</a:t>
            </a:r>
          </a:p>
          <a:p>
            <a:r>
              <a:t>활동 화면 4 투표: 우리 사회는 어느 쪽에 가까울까?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존중할 것과 보편적 가치로 성찰할 것을 가리고, 공존의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존중할 것과 보편적 가치로 성찰할 것을 가리고, 공존의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존중할 것과 보편적 가치로 성찰할 것을 가리고, 공존의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jpeg"/><Relationship Id="rId6" Type="http://schemas.openxmlformats.org/officeDocument/2006/relationships/image" Target="../media/image35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6.png"/><Relationship Id="rId7" Type="http://schemas.openxmlformats.org/officeDocument/2006/relationships/slide" Target="slide19.xml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slide" Target="slide17.xml"/><Relationship Id="rId9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microsoft.com/office/2007/relationships/hdphoto" Target="../media/hdphoto1.wd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15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다양한 문화와 종교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다양한 문화와 종교가 공존하려면 어떻게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해야 할까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9552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876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다양한 문화와 종교를 존중해야 하는 이유를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0904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62026"/>
            <a:ext cx="9876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다양한 문화와 종교가 공존하기 위한 방법을 제시할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4408" y="1500614"/>
            <a:ext cx="7472363" cy="5357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6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0900" y="1781777"/>
            <a:ext cx="5918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A76AA5"/>
                </a:solidFill>
                <a:latin typeface="+mn-ea"/>
              </a:rPr>
              <a:t>당신은 어디에 선을 긋고 있나요</a:t>
            </a:r>
            <a:r>
              <a:rPr lang="en-US" altLang="ko-KR" sz="2400" b="1" dirty="0" smtClean="0">
                <a:solidFill>
                  <a:srgbClr val="A76AA5"/>
                </a:solidFill>
                <a:latin typeface="+mn-ea"/>
              </a:rPr>
              <a:t>?</a:t>
            </a:r>
            <a:endParaRPr lang="ko-KR" altLang="en-US" sz="2400" b="1" dirty="0">
              <a:solidFill>
                <a:srgbClr val="A76AA5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0" y="4563077"/>
            <a:ext cx="5429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53450" y="5286977"/>
            <a:ext cx="60007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0166" y="5667434"/>
            <a:ext cx="60007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28725" y="4563077"/>
            <a:ext cx="725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우리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 rot="234935">
            <a:off x="8428052" y="5286977"/>
            <a:ext cx="725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함께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8268" y="5648334"/>
            <a:ext cx="725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환영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99" y="2723520"/>
            <a:ext cx="10133643" cy="3918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1037" y="3971541"/>
            <a:ext cx="883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배려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다음은 다문화 사회에 관한 인식을 개선하려고 만든 게시물이다</a:t>
            </a:r>
            <a:r>
              <a:rPr lang="en-US" altLang="ko-KR" sz="2000" b="1" dirty="0" smtClean="0"/>
              <a:t>. </a:t>
            </a:r>
            <a:r>
              <a:rPr lang="ko-KR" altLang="en-US" sz="2000" b="1" dirty="0" smtClean="0"/>
              <a:t>빈칸에 이 게시물과 어울리는 단어를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3868" y="212935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16392" y="212935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4947476" y="3971540"/>
            <a:ext cx="1436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더불어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33753" y="3971538"/>
            <a:ext cx="826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행복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87942" y="3971539"/>
            <a:ext cx="919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존중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6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33" grpId="0"/>
      <p:bldP spid="33" grpId="1"/>
      <p:bldP spid="34" grpId="0"/>
      <p:bldP spid="34" grpId="1"/>
      <p:bldP spid="35" grpId="0"/>
      <p:bldP spid="3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0" y="3162378"/>
            <a:ext cx="4750130" cy="36956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“어느 나라에서 왔니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?”, 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한국말은 할 줄 아니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혜영이를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따라다니며 괴롭히는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물음들이다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가나에서 온 어머니와 한국인 아버지 사이에서 태어난 혜영이는 남다른 생김새 때문에 어딜 가나 낯선 시선을 받는다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어느 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혜영이는 집배원 아저씨의 인사에 눈물이 왈칵 쏟아졌다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모두가 어디에서 왔는지 물을 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“안녕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새로 이사 왔구나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넌 이름이 뭐니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라며 유일하게 이름을 물어봐 준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0018" y="1596520"/>
            <a:ext cx="8601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혜영이에요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사람들은 이상해요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사람들은 모두 다 다르게 생겼는데 왜 다들 저만 이상하게 쳐다볼까요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저도 그냥 다르게 생긴 한국인 중 한 명일 뿐이에요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한국 방송 공사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〈TV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동화 빨간 자전거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넌 어느 나라에서 왔니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0" y="3162378"/>
            <a:ext cx="4750130" cy="3695621"/>
          </a:xfrm>
          <a:prstGeom prst="rect">
            <a:avLst/>
          </a:prstGeom>
        </p:spPr>
      </p:pic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혜영이가</a:t>
            </a:r>
            <a:r>
              <a:rPr lang="ko-KR" altLang="en-US" sz="2000" b="1" dirty="0" smtClean="0"/>
              <a:t> 집배원의 인사에 울음을 터뜨린 까닭은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모두가 자신의 겉모습에만 관심을 기울일 때 집배원 아저씨는 있는 그대로의 자신에게 관심을 기울여 준 것이 고마웠기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8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다양한 문화와 종교를 존중해야 하는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43" y="1499607"/>
            <a:ext cx="10923514" cy="459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인간 존엄성 보장을 위해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우리 모두가 동등한 인격체로서 자신의 정체성을 인정받으며 인간답게 살아가려면 다양성이 </a:t>
            </a:r>
            <a:r>
              <a:rPr lang="ko-KR" altLang="en-US" sz="2400" dirty="0" err="1" smtClean="0"/>
              <a:t>존중받는</a:t>
            </a:r>
            <a:r>
              <a:rPr lang="ko-KR" altLang="en-US" sz="2400" dirty="0" smtClean="0"/>
              <a:t> 사회를 만들어야 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사회 통합을 위해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다문화 사회의 갈등을 해소하고 다양한 사람들이 조화롭게 공존하려면 다름을 존중하는 태도가 필요함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다양한 문화와 종교를 존중해야 하는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43" y="1499607"/>
            <a:ext cx="10923514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문화 발전 및 창조를 위해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다양한 문화를 경험하고 나누는 일은 그 자체로 즐거울 뿐만 아니라 여러 문화가 결합하여 이전에 없던 </a:t>
            </a:r>
            <a:r>
              <a:rPr lang="ko-KR" altLang="en-US" sz="2400" dirty="0"/>
              <a:t>새로운 문화를 창조할 기회를 마련해 줌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97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6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26" y="3695362"/>
            <a:ext cx="2888686" cy="23920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" y="5992497"/>
            <a:ext cx="2943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맑은 고딕" panose="020B0503020000020004" pitchFamily="50" charset="-127"/>
              <a:buChar char="↑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전통 의상을 입은 사람들이 행진하는 모습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40018" y="1596520"/>
            <a:ext cx="86018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경상남도 창원시의 한 공원에서 문화 다양성 축제가 열렸다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축제는 여러 나라의 음악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음식 등 다양한 문화를 경험할 기회를 제공하고 이주민들과의 소통의 장을 마련하였다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이번 축제에서는 전통 의상 행진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이주민 가요제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다문화를 주제로 한 그림 그리기 대회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 다양성 영화제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전통 음식 체험 등 다채로운 행사가 진행되었다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축제에 참여한 한 시민은 “문화 다양성이 구현된 지구촌의 축소판을 보는 것 같았다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오마이뉴스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10. 23.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594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위와 같은 다문화 축제가 우리 사회에 미칠 긍정적인 영향에 관해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다양한 문화를 경험하고 이주민들과 소통하는 기회를 마련함으로써 우리와 함께 살아가는 이주민들을 이해할 수 있는 시간이 될 수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8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459856"/>
            <a:ext cx="3278508" cy="23981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김장철을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맞아 형편이 어려운 사람들을 위해 종교계 연합이 김장 행사를 마련하였다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행사에는 서로 다른 종교를 믿는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명의 자원봉사자들이 직접 담근 김치를 나누며 이웃 사랑을 실천하였다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이날 담근 김장 김치는 형편이 어려운 사람들과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노숙인을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위한 무료 급식소에 전달하였다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관계자는 “김장 김치 나눔 행사를 통해 종교계가 모은 정성이 소외된 이웃에게 따뜻한 온기로 전달될 수 있기를 바란다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국민일보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11. 23.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71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다양한 문화와 종교가 공존하기 위한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186" y="1516599"/>
            <a:ext cx="10778967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차이와 다양성 존중하기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이주민에 대한 사회적 편견과 차별은 그들을 이방인으로 구별 짓는 태도에서 비롯되기 때문에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이주민을 </a:t>
            </a:r>
            <a:r>
              <a:rPr lang="ko-KR" altLang="en-US" sz="2400" dirty="0"/>
              <a:t>향한 환대의 </a:t>
            </a:r>
            <a:r>
              <a:rPr lang="ko-KR" altLang="en-US" sz="2400" dirty="0" smtClean="0"/>
              <a:t>태도를 지녀야 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사회 제도 및 분위기 개선하기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법과 제도를 정비하고</a:t>
            </a:r>
            <a:r>
              <a:rPr lang="en-US" altLang="ko-KR" sz="2400" dirty="0" smtClean="0"/>
              <a:t>, </a:t>
            </a:r>
            <a:r>
              <a:rPr lang="ko-KR" altLang="en-US" sz="2400" dirty="0"/>
              <a:t>다양한 </a:t>
            </a:r>
            <a:r>
              <a:rPr lang="ko-KR" altLang="en-US" sz="2400" dirty="0" smtClean="0"/>
              <a:t>캠페인이나 교육 프로그램 등을 통해 다문화를 존중하는 사회 분위기를 조성해야 함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127" y="5714382"/>
            <a:ext cx="712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환대 </a:t>
            </a:r>
            <a:r>
              <a:rPr lang="ko-KR" altLang="en-US" sz="1600" dirty="0" smtClean="0"/>
              <a:t>나의 생활 공간에 찾아온 다른 사람을 반갑게 맞이하고 정성껏 대접함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DD8DD49-D646-22FE-F36C-D66ABC844D46}"/>
              </a:ext>
            </a:extLst>
          </p:cNvPr>
          <p:cNvSpPr/>
          <p:nvPr/>
        </p:nvSpPr>
        <p:spPr>
          <a:xfrm>
            <a:off x="5100266" y="2734252"/>
            <a:ext cx="135968" cy="109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72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다양한 문화와 종교가 공존하기 위한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523" y="1502226"/>
            <a:ext cx="10991383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보편적 가치 추구하기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보편적 </a:t>
            </a:r>
            <a:r>
              <a:rPr lang="ko-KR" altLang="en-US" sz="2400" dirty="0"/>
              <a:t>가치를 바탕으로 다양한 문화와 종교가 공존할 수 있도록 노력해야 함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타원 1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00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모든 문화를 항상 존중해야 할까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69317" y="2166883"/>
            <a:ext cx="1145336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우리는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문화의 고유성을 존중해야 하지만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보편적 가치에 어긋나는 문화까지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무조건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존중해야 하는 것은 아니다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모든 문화는 보편적 가치의 테두리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안에서 공존해야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예를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들어 집안의 명예를 훼손했다는 이유로 가족 구성원을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살해하는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‘명예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살인’과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같은 문화는 인권을 침해하므로 바람직하다고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볼 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없다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발이 작은 여성을 미인으로 여겨 발을 동여매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자라지 않게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했던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전족’은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인권 침해라며 거부 운동이 일어나 현재는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거의 찾아볼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 없다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이처럼 우리는 문화의 고유성을 인정하되 보편적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가치를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기준으로 그 문화를 성찰해 보아야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1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모든 문화를 항상 존중해야 할까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6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293285"/>
            <a:ext cx="4894053" cy="308004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549" y="2527539"/>
            <a:ext cx="4165851" cy="27186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096000" y="5398560"/>
            <a:ext cx="3528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↑ 명예 살인 반대 시위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109608" y="5398560"/>
            <a:ext cx="3528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↑ 전족이 유행하던 시대의 신발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9" name="타원 1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73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824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차이와 다양성 존중을 권장하는 공익 광고 포스터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차이와 다양성 존중을 권장하는 공익 광고 포스터를 만들어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7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495619" y="218352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64020" y="2170449"/>
            <a:ext cx="1282388" cy="508511"/>
            <a:chOff x="10075659" y="2003022"/>
            <a:chExt cx="1178665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hlinkClick r:id="rId7" action="ppaction://hlinksldjump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242461" y="2446253"/>
            <a:ext cx="5064205" cy="4328902"/>
            <a:chOff x="3242461" y="2446253"/>
            <a:chExt cx="5064205" cy="4328902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42461" y="2446253"/>
              <a:ext cx="3502105" cy="4327408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15000" y="2447747"/>
              <a:ext cx="2591666" cy="4327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584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824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차이와 다양성 존중을 권장하는 공익 광고 포스터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차이와 다양성 존중을 권장하는 공익 광고 포스터를 만들어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7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495619" y="218352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64020" y="2170449"/>
            <a:ext cx="1282388" cy="495431"/>
            <a:chOff x="10075659" y="2003022"/>
            <a:chExt cx="1178665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1658" y="2353580"/>
            <a:ext cx="3172139" cy="4504420"/>
          </a:xfrm>
          <a:prstGeom prst="rect">
            <a:avLst/>
          </a:prstGeom>
        </p:spPr>
      </p:pic>
      <p:sp>
        <p:nvSpPr>
          <p:cNvPr id="1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0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055" y="2016924"/>
            <a:ext cx="109133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차이와 다양성 존중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이라는 주제를 표현할 소재를 떠올린다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다음 형식에 맞추어 내용을 구상한다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포스터를 제작하여 교실에 전시한다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포스터의 제작 의도를 돌아가며 발표한다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포스터를 보고 느낀 점을 이야기한다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24" name="그림 2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108655" y="2923125"/>
            <a:ext cx="8021311" cy="140544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86CCBB"/>
              </a:buClr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표제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독자를 주목하게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만들고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본문으로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이끌기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위한 표현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요소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Clr>
                <a:srgbClr val="86CCBB"/>
              </a:buClr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본문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포스터를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통해 알리고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싶은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내용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Clr>
                <a:srgbClr val="86CCBB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시각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자료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포스터의 내용을 가장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잘 보여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줄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수 있는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시각 자료</a:t>
            </a:r>
            <a:endParaRPr lang="ko-KR" altLang="en-US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51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824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차이와 다양성 존중을 권장하는 공익 광고 포스터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차이와 다양성 존중을 권장하는 공익 광고 포스터를 만들어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7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495619" y="218352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64020" y="2170449"/>
            <a:ext cx="1282388" cy="495431"/>
            <a:chOff x="10075659" y="2003022"/>
            <a:chExt cx="1178665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1658" y="2353580"/>
            <a:ext cx="3172139" cy="4504420"/>
          </a:xfrm>
          <a:prstGeom prst="rect">
            <a:avLst/>
          </a:prstGeom>
        </p:spPr>
      </p:pic>
      <p:sp>
        <p:nvSpPr>
          <p:cNvPr id="1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0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 descr="상징, 원, 다채로움, 그린이(가) 표시된 사진&#10;&#10;자동 생성된 설명">
            <a:hlinkClick r:id="rId8" action="ppaction://hlinksldjump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23" name="그림 2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22055" y="2016924"/>
            <a:ext cx="10913340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포스터에 들어갈 시각 자료는 직접 그리거나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잡지나 신문 등에 있는 사진을 잘라서 붙여요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945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1" y="2497315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10444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다양한 문화와 종교가 공존하기 위해 필요한 방법을 실천하기 위한 나의 다짐을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다양한 문화와 종교가 평화롭게 공존하는 사회가 되기 위해서 일단 나부터 차이와 다양성에 열린 마음을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지녀야겠다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20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5034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13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64918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산타 할아버지는 </a:t>
            </a:r>
            <a:r>
              <a:rPr lang="ko-KR" altLang="en-US" sz="2400" b="1" dirty="0" err="1" smtClean="0">
                <a:solidFill>
                  <a:schemeClr val="tx2"/>
                </a:solidFill>
                <a:latin typeface="+mj-ea"/>
                <a:ea typeface="+mj-ea"/>
              </a:rPr>
              <a:t>백인뿐일까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95223" y="1749745"/>
            <a:ext cx="10784052" cy="1390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희고 풍성한 수염</a:t>
            </a: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푸른 눈동자 그리고 한껏 나온 배를 빨간 옷으로 가린 백인 남성</a:t>
            </a: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‘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산타 할아버지</a:t>
            </a: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하면 바로 떠오르는 모습이다</a:t>
            </a: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그러나 다양한 산타를 찾으려는 움직임이 일어나고 있다</a:t>
            </a: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096987" y="3427941"/>
            <a:ext cx="7177736" cy="23661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240182" y="3568618"/>
            <a:ext cx="68913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2021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미국의 유명 놀이동산에서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역사상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처음으로 흑인 산타가 등장하였다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흑인 산타의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등장을 시작으로 아시아계 산타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에스파냐어를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구사하는 산타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수화로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소통하는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산타 등 다양한 산타가 나타났다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01" t="10860" r="14188"/>
          <a:stretch/>
        </p:blipFill>
        <p:spPr>
          <a:xfrm>
            <a:off x="-298939" y="3112090"/>
            <a:ext cx="4715663" cy="3745910"/>
          </a:xfrm>
          <a:prstGeom prst="rect">
            <a:avLst/>
          </a:prstGeom>
        </p:spPr>
      </p:pic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94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/>
          <p:cNvSpPr/>
          <p:nvPr/>
        </p:nvSpPr>
        <p:spPr>
          <a:xfrm>
            <a:off x="599255" y="1620915"/>
            <a:ext cx="8686201" cy="4012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4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64918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산타 할아버지는 </a:t>
            </a:r>
            <a:r>
              <a:rPr lang="ko-KR" altLang="en-US" sz="2400" b="1" dirty="0" err="1" smtClean="0">
                <a:solidFill>
                  <a:schemeClr val="tx2"/>
                </a:solidFill>
                <a:latin typeface="+mj-ea"/>
                <a:ea typeface="+mj-ea"/>
              </a:rPr>
              <a:t>백인뿐일까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87815" y="1745492"/>
            <a:ext cx="8475860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다양한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산타의 출현은 백인 외의 다른 인종 어린이들에게 긍정적인 영향을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미친다고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닮은 모습의 산타를 보고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자존감이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높아진다는 것이다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사실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누구도 산타가 백인이라고 정의한 적은 없다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오히려 산타의 기원인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튀르키예의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성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니콜라스는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구릿빛 피부에 검은 눈을 가진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중동인의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얼굴에 가깝다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우리의 숨은 편견이 다양한 산타의 출현을 늦춘 것은 아닐까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한국일보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12. 22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0" name="그림 29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9419979" y="2165230"/>
            <a:ext cx="2286056" cy="1950243"/>
            <a:chOff x="9419979" y="2165230"/>
            <a:chExt cx="2286056" cy="1950243"/>
          </a:xfrm>
        </p:grpSpPr>
        <p:sp>
          <p:nvSpPr>
            <p:cNvPr id="33" name="모서리가 둥근 사각형 설명선 32"/>
            <p:cNvSpPr/>
            <p:nvPr/>
          </p:nvSpPr>
          <p:spPr>
            <a:xfrm>
              <a:off x="9419980" y="2165230"/>
              <a:ext cx="2286055" cy="1950243"/>
            </a:xfrm>
            <a:prstGeom prst="wedgeRoundRectCallout">
              <a:avLst>
                <a:gd name="adj1" fmla="val 8564"/>
                <a:gd name="adj2" fmla="val 61886"/>
                <a:gd name="adj3" fmla="val 16667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19979" y="2276134"/>
              <a:ext cx="228605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n-ea"/>
                </a:rPr>
                <a:t>나도 모르는</a:t>
              </a:r>
              <a:endParaRPr lang="en-US" altLang="ko-KR" dirty="0">
                <a:latin typeface="+mn-ea"/>
              </a:endParaRPr>
            </a:p>
            <a:p>
              <a:pPr algn="ctr"/>
              <a:r>
                <a:rPr lang="ko-KR" altLang="en-US" dirty="0">
                  <a:latin typeface="+mn-ea"/>
                </a:rPr>
                <a:t>사이에 지니고</a:t>
              </a:r>
              <a:endParaRPr lang="en-US" altLang="ko-KR" dirty="0">
                <a:latin typeface="+mn-ea"/>
              </a:endParaRPr>
            </a:p>
            <a:p>
              <a:pPr algn="ctr"/>
              <a:r>
                <a:rPr lang="ko-KR" altLang="en-US" dirty="0">
                  <a:latin typeface="+mn-ea"/>
                </a:rPr>
                <a:t>있던 편견을 </a:t>
              </a:r>
              <a:r>
                <a:rPr lang="ko-KR" altLang="en-US" dirty="0" smtClean="0">
                  <a:latin typeface="+mn-ea"/>
                </a:rPr>
                <a:t>점검해</a:t>
              </a:r>
              <a:endParaRPr lang="en-US" altLang="ko-KR" dirty="0" smtClean="0">
                <a:latin typeface="+mn-ea"/>
              </a:endParaRPr>
            </a:p>
            <a:p>
              <a:pPr algn="ctr"/>
              <a:r>
                <a:rPr lang="ko-KR" altLang="en-US" dirty="0" smtClean="0">
                  <a:latin typeface="+mn-ea"/>
                </a:rPr>
                <a:t>보고</a:t>
              </a:r>
              <a:r>
                <a:rPr lang="en-US" altLang="ko-KR" dirty="0">
                  <a:latin typeface="+mn-ea"/>
                </a:rPr>
                <a:t>, </a:t>
              </a:r>
              <a:r>
                <a:rPr lang="ko-KR" altLang="en-US" dirty="0" smtClean="0">
                  <a:latin typeface="+mn-ea"/>
                </a:rPr>
                <a:t>일상생활에서</a:t>
              </a:r>
              <a:endParaRPr lang="en-US" altLang="ko-KR" dirty="0" smtClean="0">
                <a:latin typeface="+mn-ea"/>
              </a:endParaRPr>
            </a:p>
            <a:p>
              <a:pPr algn="ctr"/>
              <a:r>
                <a:rPr lang="ko-KR" altLang="en-US" dirty="0" smtClean="0">
                  <a:latin typeface="+mn-ea"/>
                </a:rPr>
                <a:t>다양성 존중을</a:t>
              </a:r>
              <a:endParaRPr lang="en-US" altLang="ko-KR" dirty="0" smtClean="0">
                <a:latin typeface="+mn-ea"/>
              </a:endParaRPr>
            </a:p>
            <a:p>
              <a:pPr algn="ctr"/>
              <a:r>
                <a:rPr lang="ko-KR" altLang="en-US" dirty="0" smtClean="0">
                  <a:latin typeface="+mn-ea"/>
                </a:rPr>
                <a:t>실천해 </a:t>
              </a:r>
              <a:r>
                <a:rPr lang="ko-KR" altLang="en-US" dirty="0">
                  <a:latin typeface="+mn-ea"/>
                </a:rPr>
                <a:t>보자</a:t>
              </a:r>
              <a:r>
                <a:rPr lang="en-US" altLang="ko-KR" dirty="0" smtClean="0">
                  <a:latin typeface="+mn-ea"/>
                </a:rPr>
                <a:t>.</a:t>
              </a:r>
              <a:endParaRPr lang="ko-KR" altLang="en-US" dirty="0"/>
            </a:p>
          </p:txBody>
        </p:sp>
      </p:grp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45" b="98990" l="8252" r="99023">
                        <a14:foregroundMark x1="49620" y1="10887" x2="49620" y2="10887"/>
                        <a14:foregroundMark x1="47991" y1="9652" x2="47991" y2="9652"/>
                        <a14:foregroundMark x1="48100" y1="15600" x2="48100" y2="15600"/>
                        <a14:foregroundMark x1="48643" y1="21212" x2="48643" y2="21212"/>
                        <a14:foregroundMark x1="66775" y1="11336" x2="66775" y2="11336"/>
                        <a14:foregroundMark x1="70793" y1="11336" x2="70793" y2="11336"/>
                        <a14:foregroundMark x1="72530" y1="10662" x2="72530" y2="10662"/>
                        <a14:foregroundMark x1="70250" y1="13244" x2="70250" y2="13244"/>
                        <a14:foregroundMark x1="70575" y1="14815" x2="70575" y2="14815"/>
                        <a14:foregroundMark x1="71770" y1="19080" x2="71770" y2="19080"/>
                        <a14:foregroundMark x1="73398" y1="20202" x2="73398" y2="20202"/>
                        <a14:foregroundMark x1="73398" y1="19753" x2="73398" y2="19753"/>
                        <a14:foregroundMark x1="71661" y1="14141" x2="71661" y2="14141"/>
                        <a14:foregroundMark x1="71661" y1="13580" x2="71661" y2="13580"/>
                        <a14:foregroundMark x1="71661" y1="12121" x2="71661" y2="12121"/>
                        <a14:foregroundMark x1="71770" y1="11672" x2="71770" y2="11672"/>
                        <a14:foregroundMark x1="62324" y1="11785" x2="62324" y2="11785"/>
                        <a14:foregroundMark x1="62106" y1="12795" x2="62106" y2="12795"/>
                        <a14:foregroundMark x1="62106" y1="13692" x2="62106" y2="13692"/>
                        <a14:foregroundMark x1="61889" y1="14590" x2="61889" y2="14590"/>
                        <a14:foregroundMark x1="61672" y1="15488" x2="61672" y2="15488"/>
                        <a14:foregroundMark x1="61564" y1="15600" x2="61564" y2="15600"/>
                        <a14:foregroundMark x1="61564" y1="16049" x2="61564" y2="16049"/>
                        <a14:foregroundMark x1="61455" y1="16723" x2="61455" y2="16723"/>
                        <a14:foregroundMark x1="48643" y1="11897" x2="48643" y2="11897"/>
                        <a14:foregroundMark x1="47991" y1="7183" x2="47991" y2="7183"/>
                        <a14:foregroundMark x1="49403" y1="7632" x2="49403" y2="7632"/>
                        <a14:foregroundMark x1="49186" y1="6173" x2="49186" y2="6173"/>
                        <a14:foregroundMark x1="50923" y1="8642" x2="50923" y2="8642"/>
                        <a14:foregroundMark x1="47340" y1="16274" x2="47340" y2="16274"/>
                        <a14:foregroundMark x1="49403" y1="15825" x2="49403" y2="15825"/>
                        <a14:foregroundMark x1="49186" y1="20539" x2="49186" y2="20539"/>
                        <a14:foregroundMark x1="49729" y1="18967" x2="49729" y2="18967"/>
                        <a14:foregroundMark x1="50054" y1="17172" x2="50054" y2="17172"/>
                        <a14:foregroundMark x1="50597" y1="18631" x2="50597" y2="18631"/>
                        <a14:foregroundMark x1="45277" y1="7183" x2="45277" y2="7183"/>
                        <a14:foregroundMark x1="45168" y1="6622" x2="45168" y2="6622"/>
                        <a14:foregroundMark x1="46254" y1="5387" x2="46254" y2="5387"/>
                        <a14:foregroundMark x1="47014" y1="4714" x2="47014" y2="4714"/>
                        <a14:foregroundMark x1="47340" y1="4377" x2="47340" y2="4377"/>
                        <a14:foregroundMark x1="48751" y1="4377" x2="48751" y2="4377"/>
                        <a14:foregroundMark x1="51031" y1="7295" x2="51031" y2="7295"/>
                        <a14:foregroundMark x1="51031" y1="6958" x2="51031" y2="6958"/>
                        <a14:foregroundMark x1="51357" y1="6622" x2="51357" y2="6622"/>
                        <a14:foregroundMark x1="97503" y1="45118" x2="97503" y2="45118"/>
                        <a14:foregroundMark x1="94680" y1="43659" x2="94680" y2="43659"/>
                        <a14:foregroundMark x1="97503" y1="52750" x2="97503" y2="52750"/>
                        <a14:foregroundMark x1="97611" y1="51066" x2="97611" y2="51066"/>
                        <a14:foregroundMark x1="98046" y1="52301" x2="98046" y2="52301"/>
                        <a14:foregroundMark x1="12161" y1="35802" x2="12161" y2="35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925" y="5138354"/>
            <a:ext cx="1808480" cy="1748514"/>
          </a:xfrm>
          <a:prstGeom prst="rect">
            <a:avLst/>
          </a:prstGeom>
        </p:spPr>
      </p:pic>
      <p:sp>
        <p:nvSpPr>
          <p:cNvPr id="38" name="타원 3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47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통일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- 01.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북한을 어떻게 이해해야 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 smtClean="0">
                <a:solidFill>
                  <a:srgbClr val="FFFF00"/>
                </a:solidFill>
                <a:latin typeface="+mn-ea"/>
              </a:rPr>
              <a:t>다양한 문화와 종교를 존중해야 하는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인간 존엄성 보장을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우리 모두가 동등한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인격체 </a:t>
            </a:r>
            <a:r>
              <a:rPr sz="2400" b="0">
                <a:solidFill>
                  <a:srgbClr val="262626"/>
                </a:solidFill>
              </a:rPr>
              <a:t>로서 자신의 정체성을 인정받으며 인간답게 살아가려면 다양성이 존중받는 사회를 만들어야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히잡을 쓴 친구도 놀림 없이 학교생활을 할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 통합을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나와 다르다는 이유로 다른 문화를 배척하거나 자신만의 문화를 강요하면 사회 구성원 사이에 오해와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문화 발전 및 창조를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다양한 문화를 경험하고 나누는 일은 그 자체로 즐거울 뿐만 아니라 여러 문화가 결합하여 이전에 없던 새로운 문화를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창조 </a:t>
            </a:r>
            <a:r>
              <a:rPr sz="2400" b="0">
                <a:solidFill>
                  <a:srgbClr val="262626"/>
                </a:solidFill>
              </a:rPr>
              <a:t>할 기회를 마련해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김치 타코, 한국 가요에 섞인 라틴 리듬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인간 존엄성 보장을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 모두가 동등한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인격체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 자신의 정체성을 인정받으며 인간답게 살아가려면 다양성이 존중받는 사회를 만들어야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히잡을 쓴 친구도 놀림 없이 학교생활을 할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통합을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다르다는 이유로 다른 문화를 배척하거나 자신만의 문화를 강요하면 사회 구성원 사이에 오해와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문화 발전 및 창조를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문화를 경험하고 나누는 일은 그 자체로 즐거울 뿐만 아니라 여러 문화가 결합하여 이전에 없던 새로운 문화를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창조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기회를 마련해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김치 타코, 한국 가요에 섞인 라틴 리듬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인간 존엄성 보장을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 모두가 동등한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 자신의 정체성을 인정받으며 인간답게 살아가려면 다양성이 존중받는 사회를 만들어야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히잡을 쓴 친구도 놀림 없이 학교생활을 할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통합을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다르다는 이유로 다른 문화를 배척하거나 자신만의 문화를 강요하면 사회 구성원 사이에 오해와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문화 발전 및 창조를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문화를 경험하고 나누는 일은 그 자체로 즐거울 뿐만 아니라 여러 문화가 결합하여 이전에 없던 새로운 문화를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창조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기회를 마련해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김치 타코, 한국 가요에 섞인 라틴 리듬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인간 존엄성 보장을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 모두가 동등한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 자신의 정체성을 인정받으며 인간답게 살아가려면 다양성이 존중받는 사회를 만들어야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히잡을 쓴 친구도 놀림 없이 학교생활을 할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통합을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다르다는 이유로 다른 문화를 배척하거나 자신만의 문화를 강요하면 사회 구성원 사이에 오해와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문화 발전 및 창조를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문화를 경험하고 나누는 일은 그 자체로 즐거울 뿐만 아니라 여러 문화가 결합하여 이전에 없던 새로운 문화를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창조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기회를 마련해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김치 타코, 한국 가요에 섞인 라틴 리듬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인간 존엄성 보장을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 모두가 동등한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 자신의 정체성을 인정받으며 인간답게 살아가려면 다양성이 존중받는 사회를 만들어야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히잡을 쓴 친구도 놀림 없이 학교생활을 할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통합을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다르다는 이유로 다른 문화를 배척하거나 자신만의 문화를 강요하면 사회 구성원 사이에 오해와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문화 발전 및 창조를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문화를 경험하고 나누는 일은 그 자체로 즐거울 뿐만 아니라 여러 문화가 결합하여 이전에 없던 새로운 문화를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창조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기회를 마련해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김치 타코, 한국 가요에 섞인 라틴 리듬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 smtClean="0">
                <a:solidFill>
                  <a:srgbClr val="FFFF00"/>
                </a:solidFill>
                <a:latin typeface="+mn-ea"/>
              </a:rPr>
              <a:t>다양한 문화와 종교가 공존하기 위한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차이와 다양성 존중하기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환대 </a:t>
            </a:r>
            <a:r>
              <a:rPr sz="2400" b="0">
                <a:solidFill>
                  <a:srgbClr val="262626"/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제도 </a:t>
            </a:r>
            <a:r>
              <a:rPr sz="2400" b="1">
                <a:solidFill>
                  <a:srgbClr val="843C0C"/>
                </a:solidFill>
              </a:rPr>
              <a:t> 및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분위기 </a:t>
            </a:r>
            <a:r>
              <a:rPr sz="2400" b="1">
                <a:solidFill>
                  <a:srgbClr val="843C0C"/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분위기 </a:t>
            </a:r>
            <a:r>
              <a:rPr sz="2400" b="0">
                <a:solidFill>
                  <a:srgbClr val="262626"/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보편적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 </a:t>
            </a:r>
            <a:r>
              <a:rPr sz="2400" b="1">
                <a:solidFill>
                  <a:srgbClr val="843C0C"/>
                </a:solidFill>
              </a:rPr>
              <a:t> 추구하기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차이와 다양성 존중하기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차이와 다양성을 존중하고 이주민을 향한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환대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태도를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새로 온 친구에게 먼저 학교 구경을 시켜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개선하기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「다문화 가족 지원법」, 세계 문화 체험 주간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「다문화 가족 지원법」과 같은 법과 제도를 정비해야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다문화 인식 개선을 위한 캠페인, 교육 프로그램 등을 통하여 다문화를 존중하는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조성해야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추구하기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다양한 문화와 종교의 고유성을 존중하면서도 보편적 가치를 바탕으로 공존할 수 있도록 노력해야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“그 나라의 전통이니까 존중해야 해.” 그 전통이 사람을 다치게 한다면? (예: 여성에게 교육을 금지하는 관습)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존중한다 — 모든 문화는 동등하니까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비판한다 — 인간의 존엄은 어디서나 지켜야 하니까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문화 상대주의에도 선이 있을까?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“그 나라의 전통이니까 존중해야 해.” 그 전통이 사람을 다치게 한다면? (예: 여성에게 교육을 금지하는 관습)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존중한다 — 모든 문화는 동등하니까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비판한다 — 인간의 존엄은 어디서나 지켜야 하니까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문화 상대주의에도 선이 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함께 사는 두 가지 그림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🫕 용광로 · 동화주의: 주류 문화에 녹아들기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🥗 샐러드 볼 · 다문화주의: 각자의 문화를 살리며 어울리기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 모두는 서로 다른 문화적 배경을 지니고 살아가지만, 동등한 인격체로서 존중받아야 할 소중한 존재이다.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다양한 사람들이 조화롭게 공존하려면 다름을 존중하는 태도가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이주민에 대한 사회적 편견과 차별은 일방적으로 우리 문화를 따르도록 강요하거나 그들을 이방인으로 구별 짓는 태도에서 비롯된다.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보편적 가치에 어긋나더라도 문화의 고유성을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‘명예 살인’이나 ‘전족’과 같은 문화는 바람직하다고 볼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공존하기 위한 어떤 방법일까?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/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/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/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/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/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/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(보편적 가치)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차이와 다양성 존중 · 제도·분위기 개선 · 보편적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전학 온 친구를 반갑게 맞이하고 이름을 불러 준다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(환대)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「다문화 가족 지원법」을 만들었다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(법과 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서로 다른 종교인이 함께 김장을 나눈다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보편적 가치 추구 (이웃 사랑)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동네에서 문화 다양성 축제를 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제도·분위기 개선 (사회 분위기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“한국 방식만 따라”라고 강요하지 않는다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차이와 다양성 존중 (다양성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인권을 해치는 관습은 바꾸자고 함께 목소리를 낸다</a:t>
            </a:r>
            <a:r>
              <a:rPr sz="2100" b="1">
                <a:solidFill>
                  <a:srgbClr val="C0392B"/>
                </a:solidFill>
              </a:rPr>
              <a:t>   → 보편적 가치 추구 (보편적 가치)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 smtClean="0">
                <a:solidFill>
                  <a:srgbClr val="FFFF00"/>
                </a:solidFill>
                <a:latin typeface="+mn-ea"/>
              </a:rPr>
              <a:t>존중할까, 보편적 가치로 성찰할까? (143쪽 자료)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손으로 밥을 먹는 식사 문화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라마단 기간 낮에 금식하는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명예 살인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전족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(몸을 해치는 풍습)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손으로 밥을 먹는 식사 문화</a:t>
            </a:r>
            <a:r>
              <a:rPr sz="2300" b="1">
                <a:solidFill>
                  <a:srgbClr val="C0392B"/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라마단 기간 낮에 금식하는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명예 살인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전족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(몸을 해치는 풍습)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손으로 밥을 먹는 식사 문화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/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라마단 기간 낮에 금식하는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명예 살인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전족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(몸을 해치는 풍습)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손으로 밥을 먹는 식사 문화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라마단 기간 낮에 금식하는 것</a:t>
            </a:r>
            <a:r>
              <a:rPr sz="2300" b="1">
                <a:solidFill>
                  <a:srgbClr val="C0392B"/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명예 살인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전족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(몸을 해치는 풍습)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손으로 밥을 먹는 식사 문화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라마단 기간 낮에 금식하는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명예 살인</a:t>
            </a:r>
            <a:r>
              <a:rPr sz="2300" b="1">
                <a:solidFill>
                  <a:srgbClr val="C0392B"/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전족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(몸을 해치는 풍습)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존중한다 · 성찰이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손으로 밥을 먹는 식사 문화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(그 사회의 맥락)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여자아이를 학교에 보내지 않는 관습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(교육받을 권리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라마단 기간 낮에 금식하는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존중한다 (종교적 실천)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명예 살인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성찰이 필요하다 (생명과 인권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전족</a:t>
            </a:r>
            <a:r>
              <a:rPr sz="2300" b="1">
                <a:solidFill>
                  <a:srgbClr val="C0392B"/>
                </a:solidFill>
              </a:rPr>
              <a:t>   → 성찰이 필요하다 (몸을 해치는 풍습)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➕ 우리 사회가 가야 할 길은?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다양한 문화와 종교가 공존하려면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다양한 문화와 종교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🫕 용광로 (주류 문화에 녹아들기)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🥗 샐러드 볼 (각자의 문화를 살리며 어울리기)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둘을 섞은 방법   ✋ ____ 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8187</TotalTime>
  <Words>1646</Words>
  <Application>Microsoft Office PowerPoint</Application>
  <PresentationFormat>와이드스크린</PresentationFormat>
  <Paragraphs>252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162</cp:revision>
  <cp:lastPrinted>2024-06-05T04:53:22Z</cp:lastPrinted>
  <dcterms:created xsi:type="dcterms:W3CDTF">2023-10-31T05:50:03Z</dcterms:created>
  <dcterms:modified xsi:type="dcterms:W3CDTF">2025-01-10T06:40:59Z</dcterms:modified>
</cp:coreProperties>
</file>