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2"/>
  </p:notesMasterIdLst>
  <p:handoutMasterIdLst>
    <p:handoutMasterId r:id="rId23"/>
  </p:handoutMasterIdLst>
  <p:sldIdLst>
    <p:sldId id="387" r:id="rId2"/>
    <p:sldId id="301" r:id="rId3"/>
    <p:sldId id="388" r:id="rId4"/>
    <p:sldId id="305" r:id="rId5"/>
    <p:sldId id="306" r:id="rId6"/>
    <p:sldId id="270" r:id="rId7"/>
    <p:sldId id="405" r:id="rId36"/>
    <p:sldId id="260" r:id="rId8"/>
    <p:sldId id="389" r:id="rId9"/>
    <p:sldId id="398" r:id="rId29"/>
    <p:sldId id="307" r:id="rId10"/>
    <p:sldId id="308" r:id="rId11"/>
    <p:sldId id="390" r:id="rId12"/>
    <p:sldId id="391" r:id="rId13"/>
    <p:sldId id="399" r:id="rId30"/>
    <p:sldId id="400" r:id="rId31"/>
    <p:sldId id="392" r:id="rId14"/>
    <p:sldId id="393" r:id="rId15"/>
    <p:sldId id="401" r:id="rId32"/>
    <p:sldId id="402" r:id="rId33"/>
    <p:sldId id="403" r:id="rId34"/>
    <p:sldId id="404" r:id="rId35"/>
    <p:sldId id="394" r:id="rId16"/>
    <p:sldId id="395" r:id="rId17"/>
    <p:sldId id="396" r:id="rId18"/>
    <p:sldId id="397" r:id="rId19"/>
    <p:sldId id="291" r:id="rId20"/>
    <p:sldId id="406" r:id="rId37"/>
    <p:sldId id="407" r:id="rId38"/>
    <p:sldId id="408" r:id="rId39"/>
    <p:sldId id="409" r:id="rId40"/>
    <p:sldId id="380" r:id="rId21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E6F4"/>
    <a:srgbClr val="E0EFD8"/>
    <a:srgbClr val="FFF3D2"/>
    <a:srgbClr val="F3C8D0"/>
    <a:srgbClr val="C1E3D0"/>
    <a:srgbClr val="FFEDA9"/>
    <a:srgbClr val="F8C9CF"/>
    <a:srgbClr val="FFE19B"/>
    <a:srgbClr val="FF9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462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백범 김구의 꿈</a:t>
            </a:r>
          </a:p>
          <a:p>
            <a:r>
              <a:t>「나의 소원」에서 김구는 남의 침략에 가슴이 아팠으니 우리는 남을 침략하지 않는, 높은 문화의 힘을 가진 나라가 되기를 바랐다. 평화 통일이 지향할 나라의 모습과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평화 감수성</a:t>
            </a:r>
          </a:p>
          <a:p>
            <a:r>
              <a:t>비평화적인 요소에 민감하게 반응하며 이해·존중·관용으로 평화의 가치에 공감하는 능력. 통일 직후 갈등을 평화롭게 풀려면 꼭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북한 이탈 주민 친구</a:t>
            </a:r>
          </a:p>
          <a:p>
            <a:r>
              <a:t>통일부에 따르면 북한 이탈 주민 3만 4천여 명이 한국에 들어왔다(2024년 기준). 출신보다 한 사람으로 대하는 것이 마음의 통일의 출발점.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상상 활동</a:t>
            </a:r>
          </a:p>
          <a:p>
            <a:r>
              <a:t>활동 화면 7에서 미래 뉴스 헤드라인을 쓰고 투표로 가장 바라는 미래를 고른다.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스포츠 교류</a:t>
            </a:r>
          </a:p>
          <a:p>
            <a:r>
              <a:t>이 이야기는 영화 「코리아」(2012)로도 만들어졌다. 2018년 평창 동계 올림픽에서는 여자 아이스하키 남북 단일팀이 출전했다.</a:t>
            </a:r>
          </a:p>
          <a:p>
            <a:r>
              <a:t>작은 교류가 쌓여 신뢰가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바람직한 남북 관계와 통일 한국의 모습을 상상해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바람직한 남북 관계와 통일 한국의 모습을 상상해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바람직한 남북 관계와 통일 한국의 모습을 상상해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31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44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24.png"/><Relationship Id="rId7" Type="http://schemas.openxmlformats.org/officeDocument/2006/relationships/image" Target="../media/image59.svg"/><Relationship Id="rId8" Type="http://schemas.openxmlformats.org/officeDocument/2006/relationships/image" Target="../media/image4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slide" Target="slide17.xml"/><Relationship Id="rId5" Type="http://schemas.openxmlformats.org/officeDocument/2006/relationships/image" Target="../media/image24.png"/><Relationship Id="rId6" Type="http://schemas.openxmlformats.org/officeDocument/2006/relationships/image" Target="../media/image59.sv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7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59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24.png"/><Relationship Id="rId6" Type="http://schemas.openxmlformats.org/officeDocument/2006/relationships/image" Target="../media/image59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03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통일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바람직한 남북 관계 및 </a:t>
            </a:r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통일의 방향은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무엇일까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341621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바람직한 남북 관계 및 통일의 방향을 말할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787400" y="2933699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평화 감수성을 길러 미래 지향적인 통일을 추구하는 자세를 지닌다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pic>
        <p:nvPicPr>
          <p:cNvPr id="1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0" y="1418163"/>
            <a:ext cx="11811000" cy="5442219"/>
            <a:chOff x="0" y="1418163"/>
            <a:chExt cx="11811000" cy="5442219"/>
          </a:xfrm>
        </p:grpSpPr>
        <p:sp>
          <p:nvSpPr>
            <p:cNvPr id="40" name="직사각형 39"/>
            <p:cNvSpPr/>
            <p:nvPr/>
          </p:nvSpPr>
          <p:spPr>
            <a:xfrm>
              <a:off x="0" y="1440004"/>
              <a:ext cx="11811000" cy="5417996"/>
            </a:xfrm>
            <a:prstGeom prst="rect">
              <a:avLst/>
            </a:prstGeom>
            <a:solidFill>
              <a:srgbClr val="FFF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38118" y="1461846"/>
              <a:ext cx="3325157" cy="3134174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920001">
              <a:off x="7930713" y="3588690"/>
              <a:ext cx="556291" cy="778205"/>
            </a:xfrm>
            <a:prstGeom prst="rect">
              <a:avLst/>
            </a:prstGeom>
          </p:spPr>
        </p:pic>
        <p:pic>
          <p:nvPicPr>
            <p:cNvPr id="21" name="그림 20"/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513" y="1431985"/>
              <a:ext cx="3390800" cy="3240855"/>
            </a:xfrm>
            <a:prstGeom prst="rect">
              <a:avLst/>
            </a:prstGeom>
          </p:spPr>
        </p:pic>
        <p:pic>
          <p:nvPicPr>
            <p:cNvPr id="22" name="그림 21"/>
            <p:cNvPicPr>
              <a:picLocks noChangeAspect="1"/>
            </p:cNvPicPr>
            <p:nvPr/>
          </p:nvPicPr>
          <p:blipFill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186833" y="4258614"/>
              <a:ext cx="1575261" cy="1890100"/>
            </a:xfrm>
            <a:prstGeom prst="rect">
              <a:avLst/>
            </a:prstGeom>
          </p:spPr>
        </p:pic>
        <p:pic>
          <p:nvPicPr>
            <p:cNvPr id="27" name="그림 26"/>
            <p:cNvPicPr>
              <a:picLocks noChangeAspect="1"/>
            </p:cNvPicPr>
            <p:nvPr/>
          </p:nvPicPr>
          <p:blipFill rotWithShape="1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9401257">
              <a:off x="2658633" y="4404792"/>
              <a:ext cx="468966" cy="43908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54304"/>
            <a:stretch/>
          </p:blipFill>
          <p:spPr>
            <a:xfrm>
              <a:off x="1473245" y="5612307"/>
              <a:ext cx="9376461" cy="1248075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34796">
              <a:off x="7234930" y="4295238"/>
              <a:ext cx="1433223" cy="1962150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/>
          </p:nvPicPr>
          <p:blipFill rotWithShape="1"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90046">
              <a:off x="5317482" y="4187867"/>
              <a:ext cx="1461009" cy="196215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14" cstate="email">
              <a:clrChange>
                <a:clrFrom>
                  <a:srgbClr val="FFF9E3"/>
                </a:clrFrom>
                <a:clrTo>
                  <a:srgbClr val="FFF9E3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98561" y="1418163"/>
              <a:ext cx="3181961" cy="2890069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15" cstate="email">
              <a:clrChange>
                <a:clrFrom>
                  <a:srgbClr val="FFF9E3"/>
                </a:clrFrom>
                <a:clrTo>
                  <a:srgbClr val="FFF9E3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2"/>
            <a:stretch/>
          </p:blipFill>
          <p:spPr>
            <a:xfrm rot="2324068">
              <a:off x="6501530" y="4212329"/>
              <a:ext cx="297547" cy="513143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664234" y="1804866"/>
              <a:ext cx="2208362" cy="1099460"/>
            </a:xfrm>
            <a:prstGeom prst="rect">
              <a:avLst/>
            </a:prstGeom>
            <a:solidFill>
              <a:srgbClr val="F8C9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4995687" y="1814342"/>
              <a:ext cx="2185029" cy="1044443"/>
            </a:xfrm>
            <a:prstGeom prst="rect">
              <a:avLst/>
            </a:prstGeom>
            <a:solidFill>
              <a:srgbClr val="FFED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60432" y="1769820"/>
              <a:ext cx="3184475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smtClean="0"/>
                <a:t>북한에 있는 </a:t>
              </a:r>
              <a:r>
                <a:rPr lang="ko-KR" altLang="en-US" sz="1400" dirty="0" err="1" smtClean="0"/>
                <a:t>개성시에</a:t>
              </a:r>
              <a:endParaRPr lang="en-US" altLang="ko-KR" sz="1400" dirty="0" smtClean="0"/>
            </a:p>
            <a:p>
              <a:pPr algn="ctr"/>
              <a:r>
                <a:rPr lang="ko-KR" altLang="en-US" sz="1400" dirty="0" smtClean="0"/>
                <a:t>여행사를 차릴 거예요</a:t>
              </a:r>
              <a:r>
                <a:rPr lang="en-US" altLang="ko-KR" sz="1400" dirty="0" smtClean="0"/>
                <a:t>.</a:t>
              </a:r>
            </a:p>
            <a:p>
              <a:pPr algn="ctr"/>
              <a:r>
                <a:rPr lang="ko-KR" altLang="en-US" sz="1400" dirty="0" smtClean="0"/>
                <a:t>그래서 누구나 북한을 방문하여</a:t>
              </a:r>
              <a:endParaRPr lang="en-US" altLang="ko-KR" sz="1400" dirty="0" smtClean="0"/>
            </a:p>
            <a:p>
              <a:pPr algn="ctr"/>
              <a:r>
                <a:rPr lang="ko-KR" altLang="en-US" sz="1400" dirty="0" smtClean="0"/>
                <a:t>그동안 접하지 못했던 북한 곳곳의 </a:t>
              </a:r>
              <a:endParaRPr lang="en-US" altLang="ko-KR" sz="1400" dirty="0" smtClean="0"/>
            </a:p>
            <a:p>
              <a:pPr algn="ctr"/>
              <a:r>
                <a:rPr lang="ko-KR" altLang="en-US" sz="1400" dirty="0" smtClean="0"/>
                <a:t>모습을 구경할 수 있게 할 생각이에요</a:t>
              </a:r>
              <a:r>
                <a:rPr lang="en-US" altLang="ko-KR" sz="1400" dirty="0" smtClean="0"/>
                <a:t>.</a:t>
              </a:r>
              <a:endParaRPr lang="ko-KR" altLang="en-US" sz="14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599207" y="1898431"/>
              <a:ext cx="29326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smtClean="0"/>
                <a:t>북한 친구들과 많은 이야기를</a:t>
              </a:r>
              <a:endParaRPr lang="en-US" altLang="ko-KR" sz="1400" dirty="0" smtClean="0"/>
            </a:p>
            <a:p>
              <a:pPr algn="ctr"/>
              <a:r>
                <a:rPr lang="ko-KR" altLang="en-US" sz="1400" dirty="0" smtClean="0"/>
                <a:t>해 보고 싶어요</a:t>
              </a:r>
              <a:r>
                <a:rPr lang="en-US" altLang="ko-KR" sz="1400" dirty="0" smtClean="0"/>
                <a:t>. </a:t>
              </a:r>
              <a:r>
                <a:rPr lang="ko-KR" altLang="en-US" sz="1400" dirty="0" smtClean="0"/>
                <a:t>북한 지역에 살던 또래 친구들이 어떤 생각을 하고 있는지 알아보고 싶어요</a:t>
              </a:r>
              <a:r>
                <a:rPr lang="en-US" altLang="ko-KR" sz="1400" dirty="0" smtClean="0"/>
                <a:t>.</a:t>
              </a:r>
              <a:endParaRPr lang="ko-KR" altLang="en-US" sz="1400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8911087" y="1938099"/>
              <a:ext cx="2459671" cy="914439"/>
            </a:xfrm>
            <a:prstGeom prst="rect">
              <a:avLst/>
            </a:prstGeom>
            <a:solidFill>
              <a:srgbClr val="C1E3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674602" y="1800816"/>
              <a:ext cx="293264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smtClean="0"/>
                <a:t>남한과 북한의 젊은이들의 </a:t>
              </a:r>
              <a:endParaRPr lang="en-US" altLang="ko-KR" sz="1400" dirty="0" smtClean="0"/>
            </a:p>
            <a:p>
              <a:pPr algn="ctr"/>
              <a:r>
                <a:rPr lang="ko-KR" altLang="en-US" sz="1400" dirty="0" smtClean="0"/>
                <a:t>만남을 주선해 보고 싶어요</a:t>
              </a:r>
              <a:r>
                <a:rPr lang="en-US" altLang="ko-KR" sz="1400" dirty="0" smtClean="0"/>
                <a:t>. </a:t>
              </a:r>
            </a:p>
            <a:p>
              <a:pPr algn="ctr"/>
              <a:r>
                <a:rPr lang="ko-KR" altLang="en-US" sz="1400" dirty="0" smtClean="0"/>
                <a:t>각자 다른 환경에서 살던 사람들이</a:t>
              </a:r>
              <a:endParaRPr lang="en-US" altLang="ko-KR" sz="1400" dirty="0" smtClean="0"/>
            </a:p>
            <a:p>
              <a:pPr algn="ctr"/>
              <a:r>
                <a:rPr lang="ko-KR" altLang="en-US" sz="1400" dirty="0" smtClean="0"/>
                <a:t>서로 이해하고 알아 가는 모습이</a:t>
              </a:r>
              <a:endParaRPr lang="en-US" altLang="ko-KR" sz="1400" dirty="0" smtClean="0"/>
            </a:p>
            <a:p>
              <a:pPr algn="ctr"/>
              <a:r>
                <a:rPr lang="ko-KR" altLang="en-US" sz="1400" dirty="0" smtClean="0"/>
                <a:t>아름다울 것 같아요</a:t>
              </a:r>
              <a:r>
                <a:rPr lang="en-US" altLang="ko-KR" sz="1400" dirty="0" smtClean="0"/>
                <a:t>.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0917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FF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다음 그림을 참고하여 통일이 된다면 나는 어떤 일을 하고 싶은지 생각 풍선에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792" y="2087592"/>
            <a:ext cx="10036712" cy="4787994"/>
            <a:chOff x="8792" y="2087592"/>
            <a:chExt cx="10036712" cy="4787994"/>
          </a:xfrm>
        </p:grpSpPr>
        <p:pic>
          <p:nvPicPr>
            <p:cNvPr id="40" name="그림 39"/>
            <p:cNvPicPr>
              <a:picLocks noChangeAspect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1235301">
              <a:off x="506798" y="4772766"/>
              <a:ext cx="1575261" cy="1900267"/>
            </a:xfrm>
            <a:prstGeom prst="rect">
              <a:avLst/>
            </a:prstGeom>
          </p:spPr>
        </p:pic>
        <p:pic>
          <p:nvPicPr>
            <p:cNvPr id="42" name="그림 41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3513467" flipH="1">
              <a:off x="1906015" y="4286772"/>
              <a:ext cx="507468" cy="1008016"/>
            </a:xfrm>
            <a:prstGeom prst="rect">
              <a:avLst/>
            </a:prstGeom>
          </p:spPr>
        </p:pic>
        <p:pic>
          <p:nvPicPr>
            <p:cNvPr id="39" name="그림 38"/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759932" y="2105202"/>
              <a:ext cx="3506512" cy="4699028"/>
            </a:xfrm>
            <a:prstGeom prst="rect">
              <a:avLst/>
            </a:prstGeom>
          </p:spPr>
        </p:pic>
        <p:pic>
          <p:nvPicPr>
            <p:cNvPr id="43" name="그림 42"/>
            <p:cNvPicPr>
              <a:picLocks noChangeAspect="1"/>
            </p:cNvPicPr>
            <p:nvPr/>
          </p:nvPicPr>
          <p:blipFill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200016" y="2107320"/>
              <a:ext cx="3845488" cy="4699028"/>
            </a:xfrm>
            <a:prstGeom prst="rect">
              <a:avLst/>
            </a:prstGeom>
          </p:spPr>
        </p:pic>
        <p:pic>
          <p:nvPicPr>
            <p:cNvPr id="45" name="그림 44"/>
            <p:cNvPicPr>
              <a:picLocks noChangeAspect="1"/>
            </p:cNvPicPr>
            <p:nvPr/>
          </p:nvPicPr>
          <p:blipFill rotWithShape="1"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719779" y="2087592"/>
              <a:ext cx="1146848" cy="414067"/>
            </a:xfrm>
            <a:prstGeom prst="rect">
              <a:avLst/>
            </a:prstGeom>
          </p:spPr>
        </p:pic>
        <p:pic>
          <p:nvPicPr>
            <p:cNvPr id="41" name="그림 40"/>
            <p:cNvPicPr>
              <a:picLocks noChangeAspect="1"/>
            </p:cNvPicPr>
            <p:nvPr/>
          </p:nvPicPr>
          <p:blipFill rotWithShape="1"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4284" b="83682"/>
            <a:stretch/>
          </p:blipFill>
          <p:spPr>
            <a:xfrm>
              <a:off x="8792" y="6429900"/>
              <a:ext cx="5224185" cy="445686"/>
            </a:xfrm>
            <a:prstGeom prst="rect">
              <a:avLst/>
            </a:prstGeom>
          </p:spPr>
        </p:pic>
      </p:grpSp>
      <p:sp>
        <p:nvSpPr>
          <p:cNvPr id="24" name="TextBox 23"/>
          <p:cNvSpPr txBox="1"/>
          <p:nvPr/>
        </p:nvSpPr>
        <p:spPr>
          <a:xfrm>
            <a:off x="3303803" y="2614125"/>
            <a:ext cx="61477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     통일이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된다면 한반도에서 유럽까지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연결된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시베리아 횡단 철도를 타고 유럽으로 여행을 떠나고 싶다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그리고 북한 지역의 맛집을 탐방할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점심은 평양에서 평양냉면을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저녁은 함흥에서 함흥냉면을 먹어 보고 싶다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9039" y="2206964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51563" y="2206964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7374" y="3044981"/>
            <a:ext cx="7177507" cy="7694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분단 이후 처음으로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남북한의 최고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지도자가 만나 통일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이산가족 문제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등을 논의하였다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67374" y="2055490"/>
            <a:ext cx="7177507" cy="7694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세계 탁구 선수권 대회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때 여자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단체전에 남북이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단일팀으로 출전하여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금메달을 획득하였다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67374" y="4234733"/>
            <a:ext cx="7177507" cy="7694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총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20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여 편을 남한과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북한이 함께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만들었고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이후 백여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개 나라에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수출하였다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67373" y="5310590"/>
            <a:ext cx="7177507" cy="7694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분단으로 남한과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북한에서 떨어져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살던 이산가족이 서로</a:t>
            </a:r>
          </a:p>
          <a:p>
            <a:pPr algn="just"/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만날 수 있는 행사를 개최하였다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363673" y="2054537"/>
            <a:ext cx="3600000" cy="720000"/>
          </a:xfrm>
          <a:prstGeom prst="roundRect">
            <a:avLst/>
          </a:prstGeom>
          <a:solidFill>
            <a:srgbClr val="F3C8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남북 탁구 단일팀</a:t>
            </a:r>
            <a:r>
              <a:rPr lang="en-US" altLang="ko-KR" sz="2200" b="1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(1991)</a:t>
            </a:r>
            <a:endParaRPr lang="ko-KR" altLang="en-US" sz="2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363674" y="3044981"/>
            <a:ext cx="3600000" cy="720000"/>
          </a:xfrm>
          <a:prstGeom prst="roundRect">
            <a:avLst/>
          </a:prstGeom>
          <a:solidFill>
            <a:srgbClr val="FFF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최초의 남북 정상 회담</a:t>
            </a:r>
            <a:endParaRPr lang="en-US" altLang="ko-KR" sz="2200" b="1" dirty="0" smtClean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/>
            <a:r>
              <a:rPr lang="en-US" altLang="ko-KR" sz="2200" b="1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(2000)</a:t>
            </a:r>
            <a:endParaRPr lang="ko-KR" altLang="en-US" sz="2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363675" y="4234733"/>
            <a:ext cx="3600000" cy="720000"/>
          </a:xfrm>
          <a:prstGeom prst="roundRect">
            <a:avLst/>
          </a:prstGeom>
          <a:solidFill>
            <a:srgbClr val="E0E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363673" y="5310590"/>
            <a:ext cx="3600000" cy="720000"/>
          </a:xfrm>
          <a:prstGeom prst="roundRect">
            <a:avLst/>
          </a:prstGeom>
          <a:solidFill>
            <a:srgbClr val="CDE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438" y="4241058"/>
            <a:ext cx="3588162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b="1" dirty="0">
                <a:latin typeface="굴림" panose="020B0600000101010101" pitchFamily="50" charset="-127"/>
                <a:ea typeface="굴림" panose="020B0600000101010101" pitchFamily="50" charset="-127"/>
              </a:rPr>
              <a:t>남북 합작 애니메이션</a:t>
            </a:r>
            <a:endParaRPr lang="en-US" altLang="ko-KR" sz="2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/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&lt;</a:t>
            </a:r>
            <a:r>
              <a:rPr lang="ko-KR" altLang="en-US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뽀롱뽀롱 뽀로로</a:t>
            </a:r>
            <a:r>
              <a:rPr lang="en-US" altLang="ko-KR" sz="1900" b="1" dirty="0">
                <a:latin typeface="굴림" panose="020B0600000101010101" pitchFamily="50" charset="-127"/>
                <a:ea typeface="굴림" panose="020B0600000101010101" pitchFamily="50" charset="-127"/>
              </a:rPr>
              <a:t>&gt;(2003~2006)</a:t>
            </a:r>
            <a:endParaRPr lang="ko-KR" altLang="en-US" sz="19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8422" y="5273019"/>
            <a:ext cx="35541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200" b="1" dirty="0">
                <a:latin typeface="굴림" panose="020B0600000101010101" pitchFamily="50" charset="-127"/>
                <a:ea typeface="굴림" panose="020B0600000101010101" pitchFamily="50" charset="-127"/>
              </a:rPr>
              <a:t>제</a:t>
            </a:r>
            <a:r>
              <a:rPr lang="en-US" altLang="ko-KR" sz="2200" b="1" dirty="0">
                <a:latin typeface="굴림" panose="020B0600000101010101" pitchFamily="50" charset="-127"/>
                <a:ea typeface="굴림" panose="020B0600000101010101" pitchFamily="50" charset="-127"/>
              </a:rPr>
              <a:t>21</a:t>
            </a:r>
            <a:r>
              <a:rPr lang="ko-KR" altLang="en-US" sz="2200" b="1" dirty="0">
                <a:latin typeface="굴림" panose="020B0600000101010101" pitchFamily="50" charset="-127"/>
                <a:ea typeface="굴림" panose="020B0600000101010101" pitchFamily="50" charset="-127"/>
              </a:rPr>
              <a:t>차 이산가족 상봉 행사</a:t>
            </a:r>
            <a:endParaRPr lang="en-US" altLang="ko-KR" sz="2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/>
            <a:r>
              <a:rPr lang="en-US" altLang="ko-KR" sz="2200" b="1" dirty="0">
                <a:latin typeface="굴림" panose="020B0600000101010101" pitchFamily="50" charset="-127"/>
                <a:ea typeface="굴림" panose="020B0600000101010101" pitchFamily="50" charset="-127"/>
              </a:rPr>
              <a:t>(2018)</a:t>
            </a:r>
            <a:endParaRPr lang="ko-KR" altLang="en-US" sz="2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위 사례들의 공통점은 무엇인지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586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남한과 북한 사이에 이루어진 다양한 교류</a:t>
            </a:r>
            <a:r>
              <a:rPr lang="en-US" altLang="ko-KR" sz="2400" dirty="0">
                <a:solidFill>
                  <a:srgbClr val="0070C0"/>
                </a:solidFill>
              </a:rPr>
              <a:t>·</a:t>
            </a:r>
            <a:r>
              <a:rPr lang="ko-KR" altLang="en-US" sz="2400" dirty="0">
                <a:solidFill>
                  <a:srgbClr val="0070C0"/>
                </a:solidFill>
              </a:rPr>
              <a:t>협력의 사례이다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9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222012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지속적이고 단계적인 교류</a:t>
            </a:r>
            <a:r>
              <a:rPr lang="en-US" altLang="ko-KR" sz="2500" b="1" dirty="0">
                <a:solidFill>
                  <a:schemeClr val="accent2">
                    <a:lumMod val="50000"/>
                  </a:schemeClr>
                </a:solidFill>
              </a:rPr>
              <a:t>·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협력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갈등 요소가 비교적 적은 분야부터 교류를 시작하면 서로 간의 신뢰를 회복하는 데 도움이 되며</a:t>
            </a:r>
            <a:r>
              <a:rPr lang="en-US" altLang="ko-KR" sz="2400" dirty="0"/>
              <a:t>, </a:t>
            </a:r>
            <a:r>
              <a:rPr lang="ko-KR" altLang="en-US" sz="2400" dirty="0"/>
              <a:t>이때 교류와 협력은 서로 도움을 주고받는 방향으로 진행해야 함</a:t>
            </a:r>
            <a:r>
              <a:rPr lang="en-US" altLang="ko-KR" sz="2400" dirty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편견 해소와 상호 존중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서로에 대한 편견은 통일의 걸림돌이 될 뿐만 아니라 통일 이후 갈등의 씨앗이 될 수 있기 때문에 편견을 버리고 상호 존중하기 위해 노력해야 함</a:t>
            </a:r>
            <a:r>
              <a:rPr lang="en-US" altLang="ko-KR" sz="2400" dirty="0" smtClean="0"/>
              <a:t>.</a:t>
            </a:r>
            <a:endParaRPr lang="en-US" altLang="ko-KR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바람직한 남북 관계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타원 2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22201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긴장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완화와 평화 분위기 조성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군사적 긴장을 완화해야 할 뿐만 아니라 더 나아가 함께 평화를 추구하는 분위기를 만들어 가야 함</a:t>
            </a:r>
            <a:r>
              <a:rPr lang="en-US" altLang="ko-KR" sz="2400" dirty="0"/>
              <a:t>.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바람직한 남북 관계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21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2840019" y="1598453"/>
            <a:ext cx="8601888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 독일이 통일을 이룰 수 있었던 결정적 계기는 제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차 세계 대전 후 독일을 분할 점령했던 미국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소련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영국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프랑스의 동의를 끌어낼 수 있었기 때문이다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전쟁에서 승리한 국가들은 베를린 장벽이 무너지는 순간에도 통일 독일의 국제적 위상 강화를 경계하면서 독일의 통일에 반대하였다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그러나 독일은 통일이 주변 국가의 안보에 위협이 되기보다는 유럽 전체의 평화와 번영의 주춧돌이 될 수 있다고 설득함으로써 통일을 이룰 수 있었다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국립 통일 교육원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《2023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통일 문제 이해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7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173" y="4513300"/>
            <a:ext cx="3781955" cy="234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76923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윗글의 독일 통일 사례에서 우리가 배울 점은 무엇인지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통일은 당사자뿐만 아니라 주변국의 이해관계가 서로 얽혀 있는 문제이기 때문에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통일을 위해서는 주변국의 협력과 지지를 끌어내기 위해 노력해야 한다는 점을 알 수 있다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0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222012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평화적 추진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무력 통일은 남북한 주민의 인간다운 삶을 해칠 뿐만 아니라 세계 평화를 위협하므로 통일은 굳건한 </a:t>
            </a:r>
            <a:r>
              <a:rPr lang="ko-KR" altLang="en-US" sz="2400" dirty="0"/>
              <a:t>안보의 토대 위에서 평화로운 방식으로 이루어야 함</a:t>
            </a:r>
            <a:r>
              <a:rPr lang="en-US" altLang="ko-KR" sz="2400" dirty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국민적 합의에 바탕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통일은 우리 국민 모두의 삶과 직결되는 문제이므로 통일을 진행하는 과정에서 다양한 논의를 거쳐 여러 의견을 충분히 모아야 함</a:t>
            </a:r>
            <a:r>
              <a:rPr lang="en-US" altLang="ko-KR" sz="2400" dirty="0" smtClean="0"/>
              <a:t>.</a:t>
            </a:r>
            <a:endParaRPr lang="en-US" altLang="ko-KR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바람직한 통일의 방향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타원 1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21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222012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국제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사회와 협력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통일은 당사자뿐만 아니라 주변국의 이해관계가 서로 얽혀 있는 문제이므로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한반도 </a:t>
            </a:r>
            <a:r>
              <a:rPr lang="ko-KR" altLang="en-US" sz="2400" dirty="0"/>
              <a:t>통일이 주변국에도 평화와 번영을 가져올 수 있음을 널리 알려 주변국의 협력과 지지를 끌어내야 함</a:t>
            </a:r>
            <a:r>
              <a:rPr lang="en-US" altLang="ko-KR" sz="2400" dirty="0"/>
              <a:t>.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바람직한 통일의 방향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574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222012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자유로운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민주주의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국가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개인의 </a:t>
            </a:r>
            <a:r>
              <a:rPr lang="ko-KR" altLang="en-US" sz="2400" dirty="0"/>
              <a:t>자유와 기본적 권리를 보장하며</a:t>
            </a:r>
            <a:r>
              <a:rPr lang="en-US" altLang="ko-KR" sz="2400" dirty="0"/>
              <a:t>, </a:t>
            </a:r>
            <a:r>
              <a:rPr lang="ko-KR" altLang="en-US" sz="2400" dirty="0"/>
              <a:t>국민의 의사에 따라 국가의 정책을 결정하고 집행하는 </a:t>
            </a:r>
            <a:r>
              <a:rPr lang="ko-KR" altLang="en-US" sz="2400" dirty="0" smtClean="0"/>
              <a:t>국가</a:t>
            </a:r>
            <a:endParaRPr lang="en-US" altLang="ko-KR" sz="2400" dirty="0" smtClean="0"/>
          </a:p>
          <a:p>
            <a:pPr algn="just">
              <a:lnSpc>
                <a:spcPct val="150000"/>
              </a:lnSpc>
            </a:pPr>
            <a:endParaRPr lang="en-US" altLang="ko-KR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정의로운 복지 국가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사회 구성원이 공정한 경쟁을 통해 함께 성장하고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남북한의 </a:t>
            </a:r>
            <a:r>
              <a:rPr lang="ko-KR" altLang="en-US" sz="2400" dirty="0"/>
              <a:t>경제적 격차로 생길 불평등을 완화하고 구성원 모두가 인간답게 살 수 있도록 배려하는 </a:t>
            </a:r>
            <a:r>
              <a:rPr lang="ko-KR" altLang="en-US" sz="2400" dirty="0" smtClean="0"/>
              <a:t>국가</a:t>
            </a:r>
            <a:endParaRPr lang="en-US" altLang="ko-KR" sz="2400" dirty="0" smtClean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통일 한국의 모습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타원 1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69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222012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풍요로운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문화 국가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상호 존중하는 문화를 만들어 나가며</a:t>
            </a:r>
            <a:r>
              <a:rPr lang="en-US" altLang="ko-KR" sz="2400" dirty="0"/>
              <a:t>, </a:t>
            </a:r>
            <a:r>
              <a:rPr lang="ko-KR" altLang="en-US" sz="2400" dirty="0"/>
              <a:t>민족의 전통문화와 남북의 현대 문화를 창조적으로 융합하여 새로운 문화를 가꾸어 나가는 </a:t>
            </a:r>
            <a:r>
              <a:rPr lang="ko-KR" altLang="en-US" sz="2400" dirty="0" smtClean="0"/>
              <a:t>국가</a:t>
            </a:r>
            <a:endParaRPr lang="en-US" altLang="ko-KR" sz="2400" dirty="0" smtClean="0"/>
          </a:p>
          <a:p>
            <a:pPr algn="just">
              <a:lnSpc>
                <a:spcPct val="150000"/>
              </a:lnSpc>
            </a:pPr>
            <a:endParaRPr lang="en-US" altLang="ko-KR" sz="24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평화를 실현하는 국가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평화가 정착되고</a:t>
            </a:r>
            <a:r>
              <a:rPr lang="en-US" altLang="ko-KR" sz="2400" dirty="0"/>
              <a:t>, </a:t>
            </a:r>
            <a:r>
              <a:rPr lang="ko-KR" altLang="en-US" sz="2400" dirty="0" smtClean="0"/>
              <a:t>주변 국가와 </a:t>
            </a:r>
            <a:r>
              <a:rPr lang="ko-KR" altLang="en-US" sz="2400" dirty="0"/>
              <a:t>평화로운 관계를 유지하며 세계 평화에도 기여하는 </a:t>
            </a:r>
            <a:r>
              <a:rPr lang="ko-KR" altLang="en-US" sz="2400" dirty="0" smtClean="0"/>
              <a:t>국가</a:t>
            </a:r>
            <a:endParaRPr lang="en-US" altLang="ko-KR" sz="2400" dirty="0" smtClean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통일 한국의 모습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22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7931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평화로운 통일 한국의 모습을 알리는 연설문 작성하기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11" name="그림 1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82262"/>
            <a:ext cx="487174" cy="487174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82262"/>
            <a:ext cx="1087577" cy="495431"/>
            <a:chOff x="10075659" y="2003022"/>
            <a:chExt cx="1156006" cy="495431"/>
          </a:xfrm>
        </p:grpSpPr>
        <p:pic>
          <p:nvPicPr>
            <p:cNvPr id="20" name="그림 1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04442" y="2793956"/>
            <a:ext cx="10293350" cy="255442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82630" y="2814825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남북한 출신 주민들 간에 의사소통이 잘되지 않아 갈등이 생길 것 같다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</a:rPr>
              <a:t>하지만 서로의 언어를 가르쳐 주는 교육 프로그램을 만드는 등의 노력 끝에 남북한의 언어를 혼합한 신조어가 등장할 정도로 문화가 풍요로워진 모습을 이룰 것 같다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1. </a:t>
            </a:r>
            <a:r>
              <a:rPr lang="ko-KR" altLang="en-US" sz="2000" b="1" dirty="0" err="1" smtClean="0"/>
              <a:t>모둠별로</a:t>
            </a:r>
            <a:r>
              <a:rPr lang="ko-KR" altLang="en-US" sz="2000" b="1" dirty="0" smtClean="0"/>
              <a:t> 평화로운 통일 한국의 모습을 구체적으로 상상하여 토의해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51923" y="2182262"/>
            <a:ext cx="1282388" cy="496801"/>
            <a:chOff x="10075659" y="2003022"/>
            <a:chExt cx="1178665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89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7931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평화로운 통일 한국의 모습을 알리는 연설문 작성하기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11" name="그림 1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82262"/>
            <a:ext cx="487174" cy="487174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82262"/>
            <a:ext cx="1087577" cy="495431"/>
            <a:chOff x="10075659" y="2003022"/>
            <a:chExt cx="1156006" cy="495431"/>
          </a:xfrm>
        </p:grpSpPr>
        <p:pic>
          <p:nvPicPr>
            <p:cNvPr id="20" name="그림 1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04442" y="2793955"/>
            <a:ext cx="10293350" cy="336595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82630" y="2814825"/>
            <a:ext cx="9784141" cy="223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남북한 출신 주민들 간에 의사소통이 잘되지 않아 갈등이 생길 것 같다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하지만 서로의 언어를 가르쳐 주는 교육 프로그램을 만드는 등의 노력 끝에 남북한의 언어를 혼합한 신조어가 등장할 정도로 문화가 풍요로워진 모습을 이룰 것 같다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1. </a:t>
            </a:r>
            <a:r>
              <a:rPr lang="ko-KR" altLang="en-US" sz="2000" b="1" dirty="0" err="1" smtClean="0"/>
              <a:t>모둠별로</a:t>
            </a:r>
            <a:r>
              <a:rPr lang="ko-KR" altLang="en-US" sz="2000" b="1" dirty="0" smtClean="0"/>
              <a:t> 평화로운 통일 한국의 모습을 구체적으로 상상하여 토의해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29" name="타원 28"/>
          <p:cNvSpPr/>
          <p:nvPr/>
        </p:nvSpPr>
        <p:spPr>
          <a:xfrm>
            <a:off x="5590104" y="6244412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" action="ppaction://hlinkshowjump?jump=nextslide"/>
          </p:cNvPr>
          <p:cNvSpPr/>
          <p:nvPr/>
        </p:nvSpPr>
        <p:spPr>
          <a:xfrm>
            <a:off x="5985479" y="6244412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hlinkClick r:id="rId4" action="ppaction://hlinksldjump"/>
          </p:cNvPr>
          <p:cNvSpPr/>
          <p:nvPr/>
        </p:nvSpPr>
        <p:spPr>
          <a:xfrm>
            <a:off x="6380854" y="6244412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54396" y="2167181"/>
            <a:ext cx="1282388" cy="496801"/>
            <a:chOff x="10075659" y="2003022"/>
            <a:chExt cx="1178665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4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5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2" name="그림 31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6" y="1200053"/>
            <a:ext cx="1282388" cy="495431"/>
            <a:chOff x="10075659" y="2003022"/>
            <a:chExt cx="1178665" cy="495431"/>
          </a:xfrm>
        </p:grpSpPr>
        <p:pic>
          <p:nvPicPr>
            <p:cNvPr id="41" name="그림 4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22056" y="1811746"/>
            <a:ext cx="1091334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다음 사항을 고려하면서 상상해 보아요</a:t>
            </a:r>
            <a:r>
              <a:rPr lang="en-US" altLang="ko-KR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① 어떤 갈등이 있었을까요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? </a:t>
            </a:r>
          </a:p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②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그 갈등을 해결하는 방법에는 무엇이 있을까요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③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갈등을 평화롭게 해결한 결과 통일 한국은 어떤 모습을 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이루었을까요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018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12"/>
          <a:stretch/>
        </p:blipFill>
        <p:spPr>
          <a:xfrm>
            <a:off x="688063" y="2357267"/>
            <a:ext cx="10583501" cy="4500733"/>
          </a:xfrm>
          <a:prstGeom prst="rect">
            <a:avLst/>
          </a:prstGeom>
        </p:spPr>
      </p:pic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7931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평화로운 통일 한국의 모습을 알리는 연설문 작성하기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11" name="그림 1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38643"/>
            <a:ext cx="487174" cy="487174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38643"/>
            <a:ext cx="1087577" cy="495431"/>
            <a:chOff x="10075659" y="2003022"/>
            <a:chExt cx="1156006" cy="495431"/>
          </a:xfrm>
        </p:grpSpPr>
        <p:pic>
          <p:nvPicPr>
            <p:cNvPr id="20" name="그림 1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87400" y="1613182"/>
            <a:ext cx="8518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2. </a:t>
            </a:r>
            <a:r>
              <a:rPr lang="ko-KR" altLang="en-US" sz="2000" b="1" dirty="0" smtClean="0"/>
              <a:t>토의한 내용을 바탕으로 연설문을 완성해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631" y="2676619"/>
            <a:ext cx="995706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2000" dirty="0"/>
              <a:t>평화로운 통일 한국 연설문</a:t>
            </a:r>
            <a:endParaRPr lang="en-US" altLang="ko-KR" sz="2000" dirty="0"/>
          </a:p>
          <a:p>
            <a:pPr>
              <a:lnSpc>
                <a:spcPct val="200000"/>
              </a:lnSpc>
            </a:pPr>
            <a:endParaRPr lang="en-US" altLang="ko-KR" sz="500" dirty="0"/>
          </a:p>
          <a:p>
            <a:pPr algn="just">
              <a:lnSpc>
                <a:spcPct val="200000"/>
              </a:lnSpc>
            </a:pPr>
            <a:r>
              <a:rPr lang="ko-KR" altLang="en-US" sz="2000" dirty="0" smtClean="0"/>
              <a:t>  안녕하세요</a:t>
            </a:r>
            <a:r>
              <a:rPr lang="en-US" altLang="ko-KR" sz="2000" dirty="0"/>
              <a:t>. </a:t>
            </a:r>
            <a:r>
              <a:rPr lang="ko-KR" altLang="en-US" sz="2000" dirty="0"/>
              <a:t>우리는 통일 한국의 모습을 소개하려고 이 자리에 섰습니다</a:t>
            </a:r>
            <a:r>
              <a:rPr lang="en-US" altLang="ko-KR" sz="2000" dirty="0"/>
              <a:t>.</a:t>
            </a:r>
          </a:p>
          <a:p>
            <a:pPr algn="just">
              <a:lnSpc>
                <a:spcPct val="200000"/>
              </a:lnSpc>
            </a:pPr>
            <a:r>
              <a:rPr lang="ko-KR" altLang="en-US" sz="2000" dirty="0" smtClean="0"/>
              <a:t>  통일 </a:t>
            </a:r>
            <a:r>
              <a:rPr lang="ko-KR" altLang="en-US" sz="2000" dirty="0"/>
              <a:t>한국의 모습은 오로지 전쟁이 없는 상태만이 아닙니다</a:t>
            </a:r>
            <a:r>
              <a:rPr lang="en-US" altLang="ko-KR" sz="2000" dirty="0"/>
              <a:t>. </a:t>
            </a:r>
            <a:r>
              <a:rPr lang="ko-KR" altLang="en-US" sz="2000" dirty="0"/>
              <a:t>우리는 통일을 </a:t>
            </a:r>
            <a:r>
              <a:rPr lang="ko-KR" altLang="en-US" sz="2000" dirty="0" smtClean="0"/>
              <a:t>통해 </a:t>
            </a:r>
            <a:r>
              <a:rPr lang="ko-KR" altLang="en-US" sz="2000" dirty="0"/>
              <a:t>진정한 평화를 이루었습니다</a:t>
            </a:r>
            <a:r>
              <a:rPr lang="en-US" altLang="ko-KR" sz="2000" dirty="0"/>
              <a:t>. </a:t>
            </a:r>
            <a:r>
              <a:rPr lang="ko-KR" altLang="en-US" sz="2000" dirty="0"/>
              <a:t>이러한 평화를 </a:t>
            </a:r>
            <a:r>
              <a:rPr lang="ko-KR" altLang="en-US" sz="2000" dirty="0" smtClean="0"/>
              <a:t>이루기까지 </a:t>
            </a:r>
            <a:r>
              <a:rPr lang="en-US" altLang="ko-KR" sz="2000" dirty="0" smtClean="0"/>
              <a:t>_________________________________</a:t>
            </a:r>
          </a:p>
          <a:p>
            <a:pPr algn="just">
              <a:lnSpc>
                <a:spcPct val="200000"/>
              </a:lnSpc>
            </a:pPr>
            <a:r>
              <a:rPr lang="en-US" altLang="ko-KR" sz="2000" dirty="0" smtClean="0"/>
              <a:t>_____________________________________________________________</a:t>
            </a:r>
            <a:r>
              <a:rPr lang="ko-KR" altLang="en-US" sz="2000" dirty="0" smtClean="0"/>
              <a:t>과</a:t>
            </a:r>
            <a:r>
              <a:rPr lang="en-US" altLang="ko-KR" sz="2000" dirty="0" smtClean="0"/>
              <a:t>/</a:t>
            </a:r>
            <a:r>
              <a:rPr lang="ko-KR" altLang="en-US" sz="2000" dirty="0"/>
              <a:t>와 같은 갈등이 있었지만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006256" y="4538303"/>
            <a:ext cx="9830742" cy="1451969"/>
            <a:chOff x="1006256" y="4456824"/>
            <a:chExt cx="9830742" cy="1451969"/>
          </a:xfrm>
        </p:grpSpPr>
        <p:sp>
          <p:nvSpPr>
            <p:cNvPr id="32" name="TextBox 31"/>
            <p:cNvSpPr txBox="1"/>
            <p:nvPr/>
          </p:nvSpPr>
          <p:spPr>
            <a:xfrm>
              <a:off x="7287484" y="4456824"/>
              <a:ext cx="35495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20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남북한 출신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주민들 간에 </a:t>
              </a:r>
              <a:endPara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06256" y="5077796"/>
              <a:ext cx="58900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20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의사소통이 </a:t>
              </a: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잘되지 않아 생기는 다툼</a:t>
              </a:r>
              <a:endPara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24" name="타원 2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42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08" y="2435379"/>
            <a:ext cx="10836067" cy="3938261"/>
          </a:xfrm>
          <a:prstGeom prst="rect">
            <a:avLst/>
          </a:prstGeom>
        </p:spPr>
      </p:pic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7931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평화로운 통일 한국의 모습을 알리는 연설문 작성하기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11" name="그림 1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38643"/>
            <a:ext cx="487174" cy="487174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38643"/>
            <a:ext cx="1087577" cy="495431"/>
            <a:chOff x="10075659" y="2003022"/>
            <a:chExt cx="1156006" cy="495431"/>
          </a:xfrm>
        </p:grpSpPr>
        <p:pic>
          <p:nvPicPr>
            <p:cNvPr id="20" name="그림 1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87401" y="1613182"/>
            <a:ext cx="8356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2. </a:t>
            </a:r>
            <a:r>
              <a:rPr lang="ko-KR" altLang="en-US" sz="2000" b="1" dirty="0" smtClean="0"/>
              <a:t>토의한 내용을 바탕으로 연설문을 완성해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422" y="2433893"/>
            <a:ext cx="992037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ko-KR" sz="2000" dirty="0" smtClean="0"/>
              <a:t>___________________________________________________________________</a:t>
            </a:r>
            <a:r>
              <a:rPr lang="ko-KR" altLang="en-US" sz="2000" dirty="0" smtClean="0"/>
              <a:t>과</a:t>
            </a:r>
            <a:r>
              <a:rPr lang="en-US" altLang="ko-KR" sz="2000" dirty="0" smtClean="0"/>
              <a:t>/</a:t>
            </a:r>
            <a:r>
              <a:rPr lang="ko-KR" altLang="en-US" sz="2000" dirty="0" smtClean="0"/>
              <a:t>와 같은 노력으로</a:t>
            </a:r>
            <a:endParaRPr lang="en-US" altLang="ko-KR" sz="2000" dirty="0" smtClean="0"/>
          </a:p>
          <a:p>
            <a:pPr algn="just">
              <a:lnSpc>
                <a:spcPct val="200000"/>
              </a:lnSpc>
            </a:pPr>
            <a:r>
              <a:rPr lang="ko-KR" altLang="en-US" sz="2000" dirty="0" smtClean="0"/>
              <a:t>갈등을 평화롭게 해결하였습니다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그 결과 </a:t>
            </a:r>
            <a:r>
              <a:rPr lang="en-US" altLang="ko-KR" sz="2000" dirty="0" smtClean="0"/>
              <a:t>_____________________________________________</a:t>
            </a:r>
          </a:p>
          <a:p>
            <a:pPr algn="just">
              <a:lnSpc>
                <a:spcPct val="200000"/>
              </a:lnSpc>
            </a:pPr>
            <a:r>
              <a:rPr lang="en-US" altLang="ko-KR" sz="2000" dirty="0" smtClean="0"/>
              <a:t>__________________________________________________________________________________________</a:t>
            </a:r>
          </a:p>
          <a:p>
            <a:pPr algn="just">
              <a:lnSpc>
                <a:spcPct val="200000"/>
              </a:lnSpc>
            </a:pPr>
            <a:r>
              <a:rPr lang="en-US" altLang="ko-KR" sz="2000" dirty="0" smtClean="0"/>
              <a:t>_______________________________________________________________________</a:t>
            </a:r>
            <a:r>
              <a:rPr lang="ko-KR" altLang="en-US" sz="2000" dirty="0" smtClean="0"/>
              <a:t>과</a:t>
            </a:r>
            <a:r>
              <a:rPr lang="en-US" altLang="ko-KR" sz="2000" dirty="0" smtClean="0"/>
              <a:t>/</a:t>
            </a:r>
            <a:r>
              <a:rPr lang="ko-KR" altLang="en-US" sz="2000" dirty="0" smtClean="0"/>
              <a:t>와 같은 모습을</a:t>
            </a:r>
            <a:endParaRPr lang="en-US" altLang="ko-KR" sz="2000" dirty="0" smtClean="0"/>
          </a:p>
          <a:p>
            <a:pPr algn="just">
              <a:lnSpc>
                <a:spcPct val="200000"/>
              </a:lnSpc>
            </a:pPr>
            <a:r>
              <a:rPr lang="ko-KR" altLang="en-US" sz="2000" dirty="0" smtClean="0"/>
              <a:t>이루었습니다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이렇게 갈등을 극복하여 통일 한국은 더욱 평화로워질 수 있었습니다</a:t>
            </a:r>
            <a:r>
              <a:rPr lang="en-US" altLang="ko-KR" sz="2000" dirty="0" smtClean="0"/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280" y="2298132"/>
            <a:ext cx="7125418" cy="71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서로의 언어를 가르쳐 주는 교육 프로그램 만들기</a:t>
            </a:r>
            <a:endParaRPr lang="en-US" altLang="ko-KR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22654" y="3502809"/>
            <a:ext cx="100241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남북한의 언어를 혼합한 신조어가 등장할 정도로 문화가 풍요로워진 모습</a:t>
            </a:r>
            <a:endParaRPr lang="en-US" altLang="ko-KR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타원 22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355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2" grpId="0"/>
      <p:bldP spid="4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4548492"/>
            <a:ext cx="8522936" cy="2127167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답하면서 배운 내용을 점검하고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앞으로 자신이 통일을 위해 노력할 점을 생각하여 써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573414"/>
            <a:ext cx="10293350" cy="167266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645083"/>
            <a:ext cx="98095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바람직한 남북 관계는 무엇일까</a:t>
            </a:r>
            <a:r>
              <a: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바람직한 통일의 방향은 무엇일까</a:t>
            </a:r>
            <a:r>
              <a: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바람직한 통일 한국의 모습은 무엇일까</a:t>
            </a:r>
            <a:r>
              <a: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2080" y="4524129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54604" y="4524128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5116645"/>
            <a:ext cx="8165055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앞으로도 꾸준히 통일에 관심을 가지고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통일에 찬성하는 목소리를 적극적으로 내야겠다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4524129"/>
            <a:ext cx="2730566" cy="1338828"/>
            <a:chOff x="877165" y="3739778"/>
            <a:chExt cx="1328154" cy="1338828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1338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통일을 위해 노력할 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37737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“1.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도덕적 고려 대상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– </a:t>
            </a: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01.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왜 생명체를 도덕적으로 고려해야 할까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바람직한 남북 관계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지속적이고 단계적으로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교류 </a:t>
            </a:r>
            <a:r>
              <a:rPr sz="2400" b="0">
                <a:solidFill>
                  <a:srgbClr val="262626"/>
                </a:solidFill>
              </a:rPr>
              <a:t>하고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협력 </a:t>
            </a:r>
            <a:r>
              <a:rPr sz="2400" b="0">
                <a:solidFill>
                  <a:srgbClr val="262626"/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독일 통일 때 주변국 설득이 큰 몫을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서로에 대한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편견 </a:t>
            </a:r>
            <a:r>
              <a:rPr sz="2400" b="0">
                <a:solidFill>
                  <a:srgbClr val="262626"/>
                </a:solidFill>
              </a:rPr>
              <a:t>을 버리고 상호 존중하는 자세를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 이탈 주민 친구의 말투를 흉내 내지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한반도의 긴장을 완화하고 평화 분위기를 조성해야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지속적이고 단계적으로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교류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협력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독일 통일 때 주변국 설득이 큰 몫을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서로에 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버리고 상호 존중하는 자세를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 이탈 주민 친구의 말투를 흉내 내지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한반도의 긴장을 완화하고 평화 분위기를 조성해야 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지속적이고 단계적으로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교류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협력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독일 통일 때 주변국 설득이 큰 몫을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서로에 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버리고 상호 존중하는 자세를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 이탈 주민 친구의 말투를 흉내 내지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한반도의 긴장을 완화하고 평화 분위기를 조성해야 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지속적이고 단계적으로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교류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협력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독일 통일 때 주변국 설득이 큰 몫을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서로에 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버리고 상호 존중하는 자세를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 이탈 주민 친구의 말투를 흉내 내지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한반도의 긴장을 완화하고 평화 분위기를 조성해야 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지속적이고 단계적으로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교류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협력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독일 통일 때 주변국 설득이 큰 몫을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서로에 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편견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버리고 상호 존중하는 자세를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 이탈 주민 친구의 말투를 흉내 내지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한반도의 긴장을 완화하고 평화 분위기를 조성해야 함.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지속적이고 단계적으로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교류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협력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독일 통일 때 주변국 설득이 큰 몫을 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서로에 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편견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버리고 상호 존중하는 자세를 지녀야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북한 이탈 주민 친구의 말투를 흉내 내지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한반도의 긴장을 완화하고 평화 분위기를 조성해야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바람직한 통일의 방향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굳건한 안보의 토대 위에서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평화 </a:t>
            </a:r>
            <a:r>
              <a:rPr sz="2400" b="0">
                <a:solidFill>
                  <a:srgbClr val="262626"/>
                </a:solidFill>
              </a:rPr>
              <a:t>로운 방식으로 이루어야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전쟁으로 이루는 통일은 통일이 아니다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국민적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합의 </a:t>
            </a:r>
            <a:r>
              <a:rPr sz="2400" b="0">
                <a:solidFill>
                  <a:srgbClr val="262626"/>
                </a:solidFill>
              </a:rPr>
              <a:t>에 바탕을 두어야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국제 사회와의 긴밀한 협력을 바탕으로 이루어야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굳건한 안보의 토대 위에서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평화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로운 방식으로 이루어야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전쟁으로 이루는 통일은 통일이 아니다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국민적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합의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바탕을 두어야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국제 사회와의 긴밀한 협력을 바탕으로 이루어야 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굳건한 안보의 토대 위에서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로운 방식으로 이루어야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전쟁으로 이루는 통일은 통일이 아니다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국민적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합의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바탕을 두어야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국제 사회와의 긴밀한 협력을 바탕으로 이루어야 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굳건한 안보의 토대 위에서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로운 방식으로 이루어야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전쟁으로 이루는 통일은 통일이 아니다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국민적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합의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바탕을 두어야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국제 사회와의 긴밀한 협력을 바탕으로 이루어야 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굳건한 안보의 토대 위에서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로운 방식으로 이루어야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전쟁으로 이루는 통일은 통일이 아니다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국민적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합의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바탕을 두어야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국제 사회와의 긴밀한 협력을 바탕으로 이루어야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사상가의 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“나는 우리나라가 세계에서 가장 아름다운 나라가 되기를 원한다”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김구, 「나의 소원」(『백범일지』, 1947)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한없이 갖고 싶은 것은 높은 문화의 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통일 한국의 모습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자유로운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민주주의 </a:t>
            </a:r>
            <a:r>
              <a:rPr sz="2400" b="1">
                <a:solidFill>
                  <a:srgbClr val="843C0C"/>
                </a:solidFill>
              </a:rPr>
              <a:t> 국가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개인의 자유를 보장하며, 국민의 의사에 따라 국가의 정책을 결정·집행하는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누구나 투표하고 자유롭게 말하는 나라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정의로운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복지 </a:t>
            </a:r>
            <a:r>
              <a:rPr sz="2400" b="1">
                <a:solidFill>
                  <a:srgbClr val="843C0C"/>
                </a:solidFill>
              </a:rPr>
              <a:t> 국가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공정한 경쟁을 통해 함께 성장하고, 남북한의 경제적 격차로 생길 불평등을 완화하고 구성원 모두가 인간답게 살 수 있도록 배려하는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어디서 태어났든 같은 출발선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풍요로운 </a:t>
            </a:r>
            <a:r>
              <a:rPr sz="1439" b="1">
                <a:solidFill>
                  <a:srgbClr val="2F6FD0"/>
                </a:solidFill>
              </a:rPr>
              <a:t>⑨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문화 </a:t>
            </a:r>
            <a:r>
              <a:rPr sz="2400" b="1">
                <a:solidFill>
                  <a:srgbClr val="843C0C"/>
                </a:solidFill>
              </a:rPr>
              <a:t> 국가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상호 존중하는 문화를 만들어 나가며, 민족의 전통문화와 남북의 현대 문화를 창조적으로 융합하여 새로운 문화를 가꾸어 나가는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남북 합동 아리랑 공연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자유로운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민주주의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개인의 자유를 보장하며, 국민의 의사에 따라 국가의 정책을 결정·집행하는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누구나 투표하고 자유롭게 말하는 나라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정의로운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공정한 경쟁을 통해 함께 성장하고, 남북한의 경제적 격차로 생길 불평등을 완화하고 구성원 모두가 인간답게 살 수 있도록 배려하는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어디서 태어났든 같은 출발선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풍요로운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상호 존중하는 문화를 만들어 나가며, 민족의 전통문화와 남북의 현대 문화를 창조적으로 융합하여 새로운 문화를 가꾸어 나가는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남북 합동 아리랑 공연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자유로운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민주주의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개인의 자유를 보장하며, 국민의 의사에 따라 국가의 정책을 결정·집행하는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누구나 투표하고 자유롭게 말하는 나라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정의로운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공정한 경쟁을 통해 함께 성장하고, 남북한의 경제적 격차로 생길 불평등을 완화하고 구성원 모두가 인간답게 살 수 있도록 배려하는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어디서 태어났든 같은 출발선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풍요로운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상호 존중하는 문화를 만들어 나가며, 민족의 전통문화와 남북의 현대 문화를 창조적으로 융합하여 새로운 문화를 가꾸어 나가는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남북 합동 아리랑 공연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자유로운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민주주의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개인의 자유를 보장하며, 국민의 의사에 따라 국가의 정책을 결정·집행하는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누구나 투표하고 자유롭게 말하는 나라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정의로운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복지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공정한 경쟁을 통해 함께 성장하고, 남북한의 경제적 격차로 생길 불평등을 완화하고 구성원 모두가 인간답게 살 수 있도록 배려하는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어디서 태어났든 같은 출발선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풍요로운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상호 존중하는 문화를 만들어 나가며, 민족의 전통문화와 남북의 현대 문화를 창조적으로 융합하여 새로운 문화를 가꾸어 나가는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남북 합동 아리랑 공연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자유로운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민주주의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개인의 자유를 보장하며, 국민의 의사에 따라 국가의 정책을 결정·집행하는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누구나 투표하고 자유롭게 말하는 나라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정의로운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공정한 경쟁을 통해 함께 성장하고, 남북한의 경제적 격차로 생길 불평등을 완화하고 구성원 모두가 인간답게 살 수 있도록 배려하는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어디서 태어났든 같은 출발선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풍요로운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상호 존중하는 문화를 만들어 나가며, 민족의 전통문화와 남북의 현대 문화를 창조적으로 융합하여 새로운 문화를 가꾸어 나가는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남북 합동 아리랑 공연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자유로운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민주주의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개인의 자유를 보장하며, 국민의 의사에 따라 국가의 정책을 결정·집행하는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누구나 투표하고 자유롭게 말하는 나라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정의로운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공정한 경쟁을 통해 함께 성장하고, 남북한의 경제적 격차로 생길 불평등을 완화하고 구성원 모두가 인간답게 살 수 있도록 배려하는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어디서 태어났든 같은 출발선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풍요로운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/>
                </a:solidFill>
              </a:rPr>
              <a:t> 문화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상호 존중하는 문화를 만들어 나가며, 민족의 전통문화와 남북의 현대 문화를 창조적으로 융합하여 새로운 문화를 가꾸어 나가는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남북 합동 아리랑 공연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자유로운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민주주의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개인의 자유를 보장하며, 국민의 의사에 따라 국가의 정책을 결정·집행하는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누구나 투표하고 자유롭게 말하는 나라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정의로운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복지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공정한 경쟁을 통해 함께 성장하고, 남북한의 경제적 격차로 생길 불평등을 완화하고 구성원 모두가 인간답게 살 수 있도록 배려하는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어디서 태어났든 같은 출발선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풍요로운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상호 존중하는 문화를 만들어 나가며, 민족의 전통문화와 남북의 현대 문화를 창조적으로 융합하여 새로운 문화를 가꾸어 나가는 국가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남북 합동 아리랑 공연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통일 한국의 모습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(4) </a:t>
            </a:r>
            <a:r>
              <a:rPr sz="1439" b="1">
                <a:solidFill>
                  <a:srgbClr val="2F6FD0"/>
                </a:solidFill>
              </a:rPr>
              <a:t>⑩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평화 </a:t>
            </a:r>
            <a:r>
              <a:rPr sz="2400" b="1">
                <a:solidFill>
                  <a:srgbClr val="843C0C"/>
                </a:solidFill>
              </a:rPr>
              <a:t>를 실현하는 국가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평화가 정착되어 주변 국가와 평화로운 관계를 유지하며 세계 평화에도 기여하는 국가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/>
                </a:solidFill>
              </a:rPr>
              <a:t> 평화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를 실현하는 국가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평화가 정착되어 주변 국가와 평화로운 관계를 유지하며 세계 평화에도 기여하는 국가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우리 반에 북한에서 온 친구가 전학 왔다. 친구들이 “북한 사투리 써 봐”라며 웃는다.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따라 웃는다 — 호기심일 뿐이라고 생각한다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말린다 — 친구가 불편할 수 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‘마음의 통일’은 어디서 시작될까?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우리 반에 북한에서 온 친구가 전학 왔다. 친구들이 “북한 사투리 써 봐”라며 웃는다.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따라 웃는다 — 호기심일 뿐이라고 생각한다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말린다 — 친구가 불편할 수 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‘마음의 통일’은 어디서 시작될까?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2045년 통일 한국 뉴스 헤드라인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예 · “서울역에서 출발한 기차, 오늘 파리에 도착”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예 · “남북 청소년 축구 리그 개막”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남북 단일팀 ‘코리아’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1991년 4월 · 일본 지바 세계 탁구 선수권 대회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처음 · 광복 뒤 처음으로 남북이 한 팀을 이루었다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국기 · 한반도기 · 노래는 「아리랑」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결승 · 여자 단체전에서 9연패를 노리던 중국을 이겼다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선수 · 남의 현정화, 북의 리분희가 함께 뛰었다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46일 동안 함께한 선수들은 무엇을 느꼈을까?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1991년 4월 · 일본 지바 세계 탁구 선수권 대회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처음 · 광복 뒤 처음으로 남북이 한 팀을 이루었다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국기 · 한반도기 · 노래는 「아리랑」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결승 · 여자 단체전에서 9연패를 노리던 중국을 이겼다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선수 · 남의 현정화, 북의 리분희가 함께 뛰었다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46일 동안 함께한 선수들은 무엇을 느꼈을까?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긴장된 분위기는 서로에 대한 경계심을 높여 갈등과 대립을 낳을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무력 통일은 남북한 주민의 인간다운 삶을 해칠 뿐만 아니라 세계 평화를 위협한다.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통일은 어느 날 갑자기 찾아오는 것이다.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평화 감수성을 길러 서로 이해하고자 노력하면 모두가 조화롭게 살아가는 통일 한국을 만들어 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긴장된 분위기는 서로에 대한 경계심을 높여 갈등과 대립을 낳을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무력 통일은 남북한 주민의 인간다운 삶을 해칠 뿐만 아니라 세계 평화를 위협한다.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통일은 어느 날 갑자기 찾아오는 것이다.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평화 감수성을 길러 서로 이해하고자 노력하면 모두가 조화롭게 살아가는 통일 한국을 만들어 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긴장된 분위기는 서로에 대한 경계심을 높여 갈등과 대립을 낳을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무력 통일은 남북한 주민의 인간다운 삶을 해칠 뿐만 아니라 세계 평화를 위협한다.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통일은 어느 날 갑자기 찾아오는 것이다.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평화 감수성을 길러 서로 이해하고자 노력하면 모두가 조화롭게 살아가는 통일 한국을 만들어 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긴장된 분위기는 서로에 대한 경계심을 높여 갈등과 대립을 낳을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무력 통일은 남북한 주민의 인간다운 삶을 해칠 뿐만 아니라 세계 평화를 위협한다.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통일은 어느 날 갑자기 찾아오는 것이다.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평화 감수성을 길러 서로 이해하고자 노력하면 모두가 조화롭게 살아가는 통일 한국을 만들어 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긴장된 분위기는 서로에 대한 경계심을 높여 갈등과 대립을 낳을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무력 통일은 남북한 주민의 인간다운 삶을 해칠 뿐만 아니라 세계 평화를 위협한다.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통일은 어느 날 갑자기 찾아오는 것이다.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평화 감수성을 길러 서로 이해하고자 노력하면 모두가 조화롭게 살아가는 통일 한국을 만들어 갈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어떤 방향일까?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남북 관계 · 통일의 방향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스포츠·문화처럼 갈등이 적은 분야부터 교류한다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남북 관계 (지속적·단계적 교류)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국민의 의견을 충분히 모은다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(국민적 합의)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주변국의 지지를 얻는다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(국제 사회와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서로에 대한 편견을 버린다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남북 관계 (상호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무력이 아닌 평화로운 방식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(평화적 추진)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남북 관계 · 통일의 방향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스포츠·문화처럼 갈등이 적은 분야부터 교류한다</a:t>
            </a:r>
            <a:r>
              <a:rPr sz="2300" b="1">
                <a:solidFill>
                  <a:srgbClr val="C0392B"/>
                </a:solidFill>
              </a:rPr>
              <a:t>   → 남북 관계 (지속적·단계적 교류)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국민의 의견을 충분히 모은다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(국민적 합의)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주변국의 지지를 얻는다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(국제 사회와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서로에 대한 편견을 버린다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남북 관계 (상호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무력이 아닌 평화로운 방식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(평화적 추진)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남북 관계 · 통일의 방향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스포츠·문화처럼 갈등이 적은 분야부터 교류한다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남북 관계 (지속적·단계적 교류)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국민의 의견을 충분히 모은다</a:t>
            </a:r>
            <a:r>
              <a:rPr sz="2300" b="1">
                <a:solidFill>
                  <a:srgbClr val="C0392B"/>
                </a:solidFill>
              </a:rPr>
              <a:t>   → 통일의 방향 (국민적 합의)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주변국의 지지를 얻는다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(국제 사회와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서로에 대한 편견을 버린다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남북 관계 (상호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무력이 아닌 평화로운 방식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(평화적 추진)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남북 관계 · 통일의 방향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스포츠·문화처럼 갈등이 적은 분야부터 교류한다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남북 관계 (지속적·단계적 교류)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국민의 의견을 충분히 모은다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(국민적 합의)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주변국의 지지를 얻는다</a:t>
            </a:r>
            <a:r>
              <a:rPr sz="2300" b="1">
                <a:solidFill>
                  <a:srgbClr val="C0392B"/>
                </a:solidFill>
              </a:rPr>
              <a:t>   → 통일의 방향 (국제 사회와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서로에 대한 편견을 버린다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남북 관계 (상호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무력이 아닌 평화로운 방식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(평화적 추진)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남북 관계 · 통일의 방향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스포츠·문화처럼 갈등이 적은 분야부터 교류한다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남북 관계 (지속적·단계적 교류)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국민의 의견을 충분히 모은다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(국민적 합의)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주변국의 지지를 얻는다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(국제 사회와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서로에 대한 편견을 버린다</a:t>
            </a:r>
            <a:r>
              <a:rPr sz="2300" b="1">
                <a:solidFill>
                  <a:srgbClr val="C0392B"/>
                </a:solidFill>
              </a:rPr>
              <a:t>   → 남북 관계 (상호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무력이 아닌 평화로운 방식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(평화적 추진)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남북 관계 · 통일의 방향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스포츠·문화처럼 갈등이 적은 분야부터 교류한다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남북 관계 (지속적·단계적 교류)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국민의 의견을 충분히 모은다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(국민적 합의)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주변국의 지지를 얻는다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통일의 방향 (국제 사회와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서로에 대한 편견을 버린다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남북 관계 (상호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무력이 아닌 평화로운 방식</a:t>
            </a:r>
            <a:r>
              <a:rPr sz="2300" b="1">
                <a:solidFill>
                  <a:srgbClr val="C0392B"/>
                </a:solidFill>
              </a:rPr>
              <a:t>   → 통일의 방향 (평화적 추진)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평화로운 통일 한국 연설문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어떤 갈등이 있었나?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남북 출신 주민 사이에 말이 잘 통하지 않았다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어떻게 해결했나?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서로의 말을 가르쳐 주는 교육 프로그램을 만들었다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그 결과는?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남북 말이 섞인 신조어가 생길 만큼 문화가 풍요로워졌다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갈등이 있었나?</a:t>
            </a:r>
            <a:r>
              <a:rPr sz="2300" b="1">
                <a:solidFill>
                  <a:srgbClr val="C0392B"/>
                </a:solidFill>
              </a:rPr>
              <a:t>   예) 남북 출신 주민 사이에 말이 잘 통하지 않았다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어떻게 해결했나?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서로의 말을 가르쳐 주는 교육 프로그램을 만들었다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 결과는?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남북 말이 섞인 신조어가 생길 만큼 문화가 풍요로워졌다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갈등이 있었나?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남북 출신 주민 사이에 말이 잘 통하지 않았다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어떻게 해결했나?</a:t>
            </a:r>
            <a:r>
              <a:rPr sz="2300" b="1">
                <a:solidFill>
                  <a:srgbClr val="C0392B"/>
                </a:solidFill>
              </a:rPr>
              <a:t>   예) 서로의 말을 가르쳐 주는 교육 프로그램을 만들었다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 결과는?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남북 말이 섞인 신조어가 생길 만큼 문화가 풍요로워졌다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갈등이 있었나?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남북 출신 주민 사이에 말이 잘 통하지 않았다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어떻게 해결했나?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서로의 말을 가르쳐 주는 교육 프로그램을 만들었다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 결과는?</a:t>
            </a:r>
            <a:r>
              <a:rPr sz="2300" b="1">
                <a:solidFill>
                  <a:srgbClr val="C0392B"/>
                </a:solidFill>
              </a:rPr>
              <a:t>   예) 남북 말이 섞인 신조어가 생길 만큼 문화가 풍요로워졌다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➕ 가장 바라는 2045년 뉴스는?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03. </a:t>
            </a:r>
            <a:r>
              <a:rPr lang="ko-KR" altLang="en-US" b="1" dirty="0" smtClean="0">
                <a:latin typeface="+mj-ea"/>
                <a:ea typeface="+mj-ea"/>
              </a:rPr>
              <a:t>바람직한 남북 관계 및 통일의 방향은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대륙 횡단 기차 여행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남북 청소년 축구 리그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이산가족이 언제든 만나기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백두산–한라산 국토 순례   ✋ ____ 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8310</TotalTime>
  <Words>1429</Words>
  <Application>Microsoft Office PowerPoint</Application>
  <PresentationFormat>와이드스크린</PresentationFormat>
  <Paragraphs>244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AppleSDGothicNeoB00</vt:lpstr>
      <vt:lpstr>굴림</vt:lpstr>
      <vt:lpstr>나눔스퀘어라운드 ExtraBold</vt:lpstr>
      <vt:lpstr>돋움</vt:lpstr>
      <vt:lpstr>맑은 고딕</vt:lpstr>
      <vt:lpstr>맑은 고딕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167</cp:revision>
  <cp:lastPrinted>2024-06-05T04:53:22Z</cp:lastPrinted>
  <dcterms:created xsi:type="dcterms:W3CDTF">2023-10-31T05:50:03Z</dcterms:created>
  <dcterms:modified xsi:type="dcterms:W3CDTF">2025-01-14T04:04:13Z</dcterms:modified>
</cp:coreProperties>
</file>