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9"/>
  </p:notesMasterIdLst>
  <p:handoutMasterIdLst>
    <p:handoutMasterId r:id="rId20"/>
  </p:handoutMasterIdLst>
  <p:sldIdLst>
    <p:sldId id="302" r:id="rId2"/>
    <p:sldId id="301" r:id="rId3"/>
    <p:sldId id="258" r:id="rId4"/>
    <p:sldId id="305" r:id="rId5"/>
    <p:sldId id="387" r:id="rId6"/>
    <p:sldId id="306" r:id="rId7"/>
    <p:sldId id="270" r:id="rId8"/>
    <p:sldId id="398" r:id="rId31"/>
    <p:sldId id="260" r:id="rId9"/>
    <p:sldId id="393" r:id="rId26"/>
    <p:sldId id="389" r:id="rId10"/>
    <p:sldId id="388" r:id="rId11"/>
    <p:sldId id="394" r:id="rId27"/>
    <p:sldId id="307" r:id="rId12"/>
    <p:sldId id="308" r:id="rId13"/>
    <p:sldId id="390" r:id="rId14"/>
    <p:sldId id="391" r:id="rId15"/>
    <p:sldId id="392" r:id="rId16"/>
    <p:sldId id="395" r:id="rId28"/>
    <p:sldId id="396" r:id="rId29"/>
    <p:sldId id="397" r:id="rId30"/>
    <p:sldId id="355" r:id="rId17"/>
    <p:sldId id="399" r:id="rId32"/>
    <p:sldId id="400" r:id="rId33"/>
    <p:sldId id="401" r:id="rId34"/>
    <p:sldId id="402" r:id="rId35"/>
    <p:sldId id="380" r:id="rId18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7ED"/>
    <a:srgbClr val="8ACA80"/>
    <a:srgbClr val="FF9300"/>
    <a:srgbClr val="FFFF00"/>
    <a:srgbClr val="D9E1E9"/>
    <a:srgbClr val="E8F6FD"/>
    <a:srgbClr val="F0FFF6"/>
    <a:srgbClr val="019BFF"/>
    <a:srgbClr val="FFF7E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4002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153쪽 그림</a:t>
            </a:r>
          </a:p>
          <a:p>
            <a:r>
              <a:t>북한 이탈 주민: 언니 집에 가려 해도 여행 증명서가 필요하고, 당국이 직업을 정해 주어 평생 바꾸기 어렵다 → 이동의 자유, 직업 선택의 자유 침해.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북한 주민은 동포이자 통일의 동반자. 그들이 보편적 가치를 누리며 살 수 있도록 관심을 기울여야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언어의 이질화</a:t>
            </a:r>
          </a:p>
          <a:p>
            <a:r>
              <a:t>분단 80년 가까이 지나며 말이 달라졌다. 다만 ‘얼음보숭이’처럼 남쪽에 알려진 말 가운데 실제로는 잘 쓰지 않는 말도 있다. 남북이 함께 만드는 『겨레말큰사전』 사업(2005~)이 이어지고 있다.</a:t>
            </a:r>
          </a:p>
          <a:p>
            <a:r>
              <a:t>발문 “차이를 ‘틀림’이 아니라 ‘다름’으로 볼 수 있을까?”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적용</a:t>
            </a:r>
          </a:p>
          <a:p>
            <a:r>
              <a:t>활동 화면 5에서 질문을 쓰고, 북한 이탈 청소년 인터뷰 기사(통일부 통일교육원 자료 등)로 답을 찾아본다.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북한을 보는 관점 (교과서 151~153쪽)</a:t>
            </a:r>
          </a:p>
          <a:p>
            <a:r>
              <a:t>북한은 휴전선을 사이에 두고 군사적으로 대치하는 경계의 대상이면서, 평화와 통일을 함께 이루어야 할 협력의 대상이다. 북한 정권과 북한 주민은 구분해서 보아야 한다. 북한 주민은 같은 역사와 언어를 가진 우리의 이웃이자 동포.</a:t>
            </a:r>
          </a:p>
          <a:p>
            <a:r>
              <a:t>한쪽만 보면 지나친 적대감이나 막연한 낙관에 빠진다. 균형 있는 시각.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북한의 두 얼굴을 가려 보고, 보편적 가치로 북한 사회를 살펴보자.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북한의 두 얼굴을 가려 보고, 보편적 가치로 북한 사회를 살펴보자.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북한의 두 얼굴을 가려 보고, 보편적 가치로 북한 사회를 살펴보자.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통일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북한을 어떻게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이해해야 할까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pic>
        <p:nvPicPr>
          <p:cNvPr id="12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북한을 올바르게 이해하려는 자세를 지닌다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보편적 가치의 관점에서 본 북한 사회의 특징을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3998" y="1436935"/>
            <a:ext cx="7643003" cy="54210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8868" y="1708031"/>
            <a:ext cx="3148641" cy="369332"/>
          </a:xfrm>
          <a:prstGeom prst="rect">
            <a:avLst/>
          </a:prstGeom>
          <a:solidFill>
            <a:srgbClr val="8ACA8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n-ea"/>
              </a:rPr>
              <a:t>‘</a:t>
            </a:r>
            <a:r>
              <a:rPr lang="ko-KR" altLang="en-US" b="1" dirty="0" smtClean="0">
                <a:solidFill>
                  <a:schemeClr val="bg1"/>
                </a:solidFill>
                <a:latin typeface="+mn-ea"/>
              </a:rPr>
              <a:t>북한</a:t>
            </a:r>
            <a:r>
              <a:rPr lang="en-US" altLang="ko-KR" b="1" dirty="0" smtClean="0">
                <a:solidFill>
                  <a:schemeClr val="bg1"/>
                </a:solidFill>
                <a:latin typeface="+mn-ea"/>
              </a:rPr>
              <a:t>’ </a:t>
            </a:r>
            <a:r>
              <a:rPr lang="ko-KR" altLang="en-US" b="1" dirty="0" smtClean="0">
                <a:solidFill>
                  <a:schemeClr val="bg1"/>
                </a:solidFill>
                <a:latin typeface="+mn-ea"/>
              </a:rPr>
              <a:t>하면 떠오르는 것은</a:t>
            </a:r>
            <a:r>
              <a:rPr lang="en-US" altLang="ko-KR" b="1" dirty="0" smtClean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68" y="3276861"/>
            <a:ext cx="484457" cy="276999"/>
          </a:xfrm>
          <a:prstGeom prst="rect">
            <a:avLst/>
          </a:prstGeom>
          <a:solidFill>
            <a:srgbClr val="8ACA80"/>
          </a:solidFill>
        </p:spPr>
        <p:txBody>
          <a:bodyPr wrap="square" rtlCol="0">
            <a:spAutoFit/>
          </a:bodyPr>
          <a:lstStyle/>
          <a:p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6519" y="3467361"/>
            <a:ext cx="354282" cy="276999"/>
          </a:xfrm>
          <a:prstGeom prst="rect">
            <a:avLst/>
          </a:prstGeom>
          <a:solidFill>
            <a:srgbClr val="8ACA80"/>
          </a:solidFill>
        </p:spPr>
        <p:txBody>
          <a:bodyPr wrap="square" rtlCol="0">
            <a:spAutoFit/>
          </a:bodyPr>
          <a:lstStyle/>
          <a:p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8853" y="3276861"/>
            <a:ext cx="519921" cy="276999"/>
          </a:xfrm>
          <a:prstGeom prst="rect">
            <a:avLst/>
          </a:prstGeom>
          <a:solidFill>
            <a:srgbClr val="8ACA80"/>
          </a:solidFill>
        </p:spPr>
        <p:txBody>
          <a:bodyPr wrap="square" rtlCol="0">
            <a:spAutoFit/>
          </a:bodyPr>
          <a:lstStyle/>
          <a:p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05327" y="3307639"/>
            <a:ext cx="789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평양냉면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32430" y="3498139"/>
            <a:ext cx="789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bg1"/>
                </a:solidFill>
                <a:latin typeface="+mn-ea"/>
              </a:rPr>
              <a:t>백두산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51655" y="3310814"/>
            <a:ext cx="7892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6·25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전쟁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46757" y="2410486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945" y="2409986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북한 이탈 주민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핵 실험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휴전선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금강산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1" y="1613182"/>
            <a:ext cx="84859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‘</a:t>
            </a:r>
            <a:r>
              <a:rPr lang="ko-KR" altLang="en-US" sz="2000" b="1" dirty="0" smtClean="0"/>
              <a:t>북한</a:t>
            </a:r>
            <a:r>
              <a:rPr lang="en-US" altLang="ko-KR" sz="2000" b="1" dirty="0" smtClean="0"/>
              <a:t>’ </a:t>
            </a:r>
            <a:r>
              <a:rPr lang="ko-KR" altLang="en-US" sz="2000" b="1" dirty="0" smtClean="0"/>
              <a:t>하면 떠오르는 단어를 그림 속 칠판에 자유롭게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1666590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1666590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50898"/>
            <a:ext cx="2849461" cy="29071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0" y="3488512"/>
            <a:ext cx="3099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↓ 포격 피해를 입은 연평도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4355" y="1596520"/>
            <a:ext cx="85175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북한은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2010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월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23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일 오후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34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분 우리 영토인 연평도를 포격하였다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북한은 연평도의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군부대뿐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아니라 민가를 향해 무차별적으로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170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발의 포탄을 쏘았다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우리 군은 이에 즉각 대응하여 사격했지만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 과정에서 우리 해병 두 명이 죽고 열여섯 명이 다쳤으며 연평도 주민도 두 명이 사망하는 등 여러 사상자가 발생하였다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 수많은 건물이 파손되어 주민들은 하루아침에 삶의 터전을 잃었다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국립 통일 교육원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남북 관계 지식 사전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584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79033"/>
            <a:ext cx="3019245" cy="18880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242867" y="3927927"/>
            <a:ext cx="2438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맑은 고딕" panose="020B0503020000020004" pitchFamily="50" charset="-127"/>
              <a:buChar char="↓"/>
            </a:pP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북한의 우표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왼쪽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와 남한의 우표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오른쪽</a:t>
            </a:r>
            <a:r>
              <a:rPr lang="en-US" altLang="ko-KR" sz="16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4355" y="1596520"/>
            <a:ext cx="8517550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우표에는 한 나라의 역사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정치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문화 등이 담겨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남북이 서로 약속한 것도 아닌데 같은 소재의 우표를 만든 경우가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예를 들어 남과 북은 각각 안중근 의사를 추모하는 마음을 담아 기념우표를 만들었다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남과 북의 우표 모양은 다르지만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안중근 의사의 정신을 기리는 마음은 같았다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 밖에도 이순신 장군의 모습이나 첨성대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김홍도의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씨름도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와 같은 문화유산을 담은 우표도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전문가는 “분단 상태가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70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 가까이 이어지고 있지만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그보다 훨씬 긴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천 년의 역사를 함께했기 때문에 같은 소재의 우표를 발행할 수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《KBS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2019. 12.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21.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594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남과 북이 같은 소재의 우표를 발행할 수 있었던 까닭은 무엇인지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분단된 세월보다 훨씬 긴 세월을 함께한 만큼 남과 북은 같은 역사와 문화를 지니고 있기 때문이다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북한에 관한 상반된 시각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056" y="1498201"/>
            <a:ext cx="10991383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경계의 대상 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북한 정권의 군사적 도발은 우리의 생명과 안전을 </a:t>
            </a:r>
            <a:r>
              <a:rPr lang="ko-KR" altLang="en-US" sz="2400" dirty="0" smtClean="0"/>
              <a:t>위협한다는 점에서 북한은 경계의 대상임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pPr algn="just">
              <a:lnSpc>
                <a:spcPct val="150000"/>
              </a:lnSpc>
            </a:pPr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협력의 대상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/>
              <a:t>남과 북은 같은 역사와 문화의 뿌리를 공유하고 있는 하나의 민족으로서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통일을 </a:t>
            </a:r>
            <a:r>
              <a:rPr lang="ko-KR" altLang="en-US" sz="2400" dirty="0"/>
              <a:t>이루기 위해 함께 노력해 나가야 </a:t>
            </a:r>
            <a:r>
              <a:rPr lang="ko-KR" altLang="en-US" sz="2400" dirty="0" smtClean="0"/>
              <a:t>할 협력의 대상이기도 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563" y="1270514"/>
            <a:ext cx="11301922" cy="5509847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2346386" y="1656272"/>
            <a:ext cx="6323162" cy="153550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00466" y="1954599"/>
            <a:ext cx="62150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>
                <a:latin typeface="+mn-ea"/>
              </a:rPr>
              <a:t>북한에서는 언니 집에도 마음대로 가지 못하고 당국의 허락을 받아야 해요</a:t>
            </a:r>
            <a:r>
              <a:rPr lang="en-US" altLang="ko-KR" sz="1600" dirty="0" smtClean="0">
                <a:latin typeface="+mn-ea"/>
              </a:rPr>
              <a:t>. </a:t>
            </a:r>
            <a:r>
              <a:rPr lang="ko-KR" altLang="en-US" sz="1600" dirty="0" smtClean="0">
                <a:latin typeface="+mn-ea"/>
              </a:rPr>
              <a:t>언니네 </a:t>
            </a:r>
            <a:r>
              <a:rPr lang="ko-KR" altLang="en-US" sz="1600" dirty="0">
                <a:latin typeface="+mn-ea"/>
              </a:rPr>
              <a:t>집은 우리 집에서 멀지 않지만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그곳에 가려면 여행 증명서가 있어야 해요</a:t>
            </a:r>
            <a:r>
              <a:rPr lang="en-US" altLang="ko-KR" sz="1600" dirty="0" smtClean="0">
                <a:latin typeface="+mn-ea"/>
              </a:rPr>
              <a:t>. </a:t>
            </a:r>
            <a:r>
              <a:rPr lang="ko-KR" altLang="en-US" sz="1600" dirty="0" smtClean="0">
                <a:latin typeface="+mn-ea"/>
              </a:rPr>
              <a:t>만일 </a:t>
            </a:r>
            <a:r>
              <a:rPr lang="ko-KR" altLang="en-US" sz="1600" dirty="0">
                <a:latin typeface="+mn-ea"/>
              </a:rPr>
              <a:t>증명서 없이 돌아다니다가 검열에 걸리면 벌금을 내야 해요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2894164" y="1469715"/>
            <a:ext cx="2721632" cy="324927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북한 이탈 주민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○○ 씨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045125" y="3838756"/>
            <a:ext cx="6495690" cy="14923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246128" y="4106090"/>
            <a:ext cx="6093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>
                <a:latin typeface="+mn-ea"/>
              </a:rPr>
              <a:t>북한에서는 직업을 자유롭게 선택할 수 없어요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개인이 희망하는 직업을 </a:t>
            </a:r>
            <a:r>
              <a:rPr lang="ko-KR" altLang="en-US" sz="1600" dirty="0" smtClean="0">
                <a:latin typeface="+mn-ea"/>
              </a:rPr>
              <a:t>갖기보다 당국이 </a:t>
            </a:r>
            <a:r>
              <a:rPr lang="ko-KR" altLang="en-US" sz="1600" dirty="0">
                <a:latin typeface="+mn-ea"/>
              </a:rPr>
              <a:t>개인에게 직업을 정해 주는 경우가 많습니다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그리고 직장을 </a:t>
            </a:r>
            <a:r>
              <a:rPr lang="ko-KR" altLang="en-US" sz="1600" dirty="0" smtClean="0">
                <a:latin typeface="+mn-ea"/>
              </a:rPr>
              <a:t>옮기기도 어렵고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보통 처음 배정받은 직업이 평생 유지됩니다</a:t>
            </a:r>
            <a:r>
              <a:rPr lang="en-US" altLang="ko-KR" sz="16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788435" y="3643649"/>
            <a:ext cx="2721632" cy="324927"/>
          </a:xfrm>
          <a:prstGeom prst="roundRect">
            <a:avLst>
              <a:gd name="adj" fmla="val 50000"/>
            </a:avLst>
          </a:prstGeom>
          <a:solidFill>
            <a:srgbClr val="D1D7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북한 이탈 주민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△△ 씨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942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북한에 관한 올바른 이해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056" y="1498201"/>
            <a:ext cx="10991383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균형 있는 이해 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ko-KR" altLang="en-US" sz="2400" dirty="0" smtClean="0"/>
              <a:t>북한을 경계의 대상이자 협력의 대상으로 균형 있게 바라보아야 함</a:t>
            </a:r>
            <a:r>
              <a:rPr lang="en-US" altLang="ko-KR" sz="2400" dirty="0" smtClean="0"/>
              <a:t>.</a:t>
            </a:r>
          </a:p>
          <a:p>
            <a:pPr algn="just"/>
            <a:endParaRPr lang="en-US" altLang="ko-KR" sz="24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객관적 사실에 근거한 이해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주관적 생각이나 잘못된 정보에 근거하지 않고</a:t>
            </a:r>
            <a:r>
              <a:rPr lang="en-US" altLang="ko-KR" sz="2400" dirty="0"/>
              <a:t>, </a:t>
            </a:r>
            <a:r>
              <a:rPr lang="ko-KR" altLang="en-US" sz="2400" dirty="0"/>
              <a:t>북한의 실제 모습을 있는 그대로 </a:t>
            </a:r>
            <a:r>
              <a:rPr lang="ko-KR" altLang="en-US" sz="2400" dirty="0" smtClean="0"/>
              <a:t>바라보아야 </a:t>
            </a:r>
            <a:r>
              <a:rPr lang="ko-KR" altLang="en-US" sz="2400" dirty="0"/>
              <a:t>함</a:t>
            </a:r>
            <a:r>
              <a:rPr lang="en-US" altLang="ko-KR" sz="2400" dirty="0"/>
              <a:t>.</a:t>
            </a:r>
          </a:p>
          <a:p>
            <a:pPr algn="just"/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보편적 가치에 근거한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이해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ko-KR" altLang="en-US" sz="2400" dirty="0" smtClean="0"/>
              <a:t>자유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평등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인권 등과 같은 보편적 가치를 근거로 이해해야 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05092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725809"/>
            <a:ext cx="3045125" cy="19852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24355" y="1596520"/>
            <a:ext cx="85175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북한의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선거는 남한의 선거와 크게 다르다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후보를 등록할 때 남한은 인원 제한이 없지만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북한의 후보는 단 한 명이다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당에서 정한 한 명의 후보에 대해 찬성과 반대를 묻는 방식으로 투표를 하는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이때 찬성하는 경우에는 별다른 표시 없이 투표용지를 그대로 투표함에 넣지만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반대하는 경우에는 투표용지에 펜으로 줄을 그어 표시해야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그런데 반대 의사를 표시하기 위해 펜을 드는 순간 감시 요원에게 적발된다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이것이 북한의 선거에서 찬성률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100</a:t>
            </a:r>
            <a:r>
              <a:rPr lang="en-US" altLang="ko-KR" sz="2200" spc="-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%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 나오는 까닭이다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《MBN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2022. 2.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11.</a:t>
            </a:r>
            <a:endParaRPr lang="en-US" altLang="ko-KR" sz="14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242867" y="3927927"/>
            <a:ext cx="2438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맑은 고딕" panose="020B0503020000020004" pitchFamily="50" charset="-127"/>
              <a:buChar char="↓"/>
            </a:pPr>
            <a:r>
              <a:rPr lang="ko-KR" altLang="en-US" sz="1600" dirty="0">
                <a:latin typeface="맑은 고딕" panose="020B0503020000020004" pitchFamily="50" charset="-127"/>
              </a:rPr>
              <a:t>찬성투표를 강조하는 북한의 </a:t>
            </a:r>
            <a:r>
              <a:rPr lang="ko-KR" altLang="en-US" sz="1600" dirty="0" err="1" smtClean="0">
                <a:latin typeface="맑은 고딕" panose="020B0503020000020004" pitchFamily="50" charset="-127"/>
              </a:rPr>
              <a:t>선거장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6170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북한의 선거 제도를 통해 본 북한 사회의 정치적 특징은 무엇인지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비밀 투표의 원칙이 지켜지지 않는 점을 볼 때 북한 사회는 개인의 정치 활동이 자유롭지 않은 사회임을 알 수 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9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43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보편적 가치의 관점에서 </a:t>
            </a:r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본 북한 사회의 특징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6589" y="1527277"/>
            <a:ext cx="107526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</a:rPr>
              <a:t>정치 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조선 노동당이 모든 국가 기관과 정책을 지배하고 통제하며</a:t>
            </a:r>
            <a:r>
              <a:rPr lang="en-US" altLang="ko-KR" sz="2400" dirty="0"/>
              <a:t>, </a:t>
            </a:r>
            <a:r>
              <a:rPr lang="ko-KR" altLang="en-US" sz="2400" dirty="0"/>
              <a:t>조선 노동당을 이끄는 최고 지도자인 수령에게 모든 권력이 집중된 독채 </a:t>
            </a:r>
            <a:r>
              <a:rPr lang="ko-KR" altLang="en-US" sz="2400" dirty="0" smtClean="0"/>
              <a:t>체제</a:t>
            </a:r>
            <a:endParaRPr lang="en-US" altLang="ko-KR" sz="2400" dirty="0" smtClean="0"/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</a:rPr>
              <a:t>경제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생산과 분배의 모든 과정을 당이 결정하고 감독하는 계획 경제 체제 </a:t>
            </a:r>
            <a:endParaRPr lang="en-US" altLang="ko-KR" sz="2400" dirty="0" smtClean="0"/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89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43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보편적 가치의 관점에서 </a:t>
            </a:r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본 북한 사회의 특징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6589" y="1527277"/>
            <a:ext cx="107526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사회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/>
              <a:t>개인보다 집단을 우선시하는 집단주의 </a:t>
            </a:r>
            <a:r>
              <a:rPr lang="ko-KR" altLang="en-US" sz="2400" dirty="0" smtClean="0"/>
              <a:t>사회</a:t>
            </a:r>
            <a:endParaRPr lang="en-US" altLang="ko-KR" sz="2400" dirty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/>
              <a:t>평등권을 </a:t>
            </a:r>
            <a:r>
              <a:rPr lang="ko-KR" altLang="en-US" sz="2400" dirty="0"/>
              <a:t>제대로 보장하지 않는 </a:t>
            </a:r>
            <a:r>
              <a:rPr lang="ko-KR" altLang="en-US" sz="2400" dirty="0" smtClean="0"/>
              <a:t>사회</a:t>
            </a:r>
            <a:endParaRPr lang="en-US" altLang="ko-KR" sz="2400" dirty="0" smtClean="0"/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</a:rPr>
              <a:t>문화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/>
              <a:t>문화</a:t>
            </a:r>
            <a:r>
              <a:rPr lang="en-US" altLang="ko-KR" sz="2400" dirty="0"/>
              <a:t>·</a:t>
            </a:r>
            <a:r>
              <a:rPr lang="ko-KR" altLang="en-US" sz="2400" dirty="0"/>
              <a:t>예술을 주민들의 사상을 통제하고 당과 지도자의 정권을 유지하는 도구로 활용함</a:t>
            </a:r>
            <a:r>
              <a:rPr lang="en-US" altLang="ko-KR" sz="2400" dirty="0" smtClean="0"/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/>
              <a:t>개인의 자유로운 창작 활동을 막아 북한 주민들의 표현의 자유를 제한함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0" name="그림 19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5" name="TextBox 2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03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43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보편적 가치의 관점에서 </a:t>
            </a:r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본 북한 사회의 특징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6589" y="1527277"/>
            <a:ext cx="107526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</a:rPr>
              <a:t>사회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개인보다 집단을 우선시하는 집단주의 사회</a:t>
            </a:r>
            <a:r>
              <a:rPr lang="en-US" altLang="ko-KR" sz="2400" dirty="0"/>
              <a:t>, </a:t>
            </a:r>
            <a:r>
              <a:rPr lang="ko-KR" altLang="en-US" sz="2400" dirty="0"/>
              <a:t>평등권을 제대로 보장하지 않는 </a:t>
            </a:r>
            <a:r>
              <a:rPr lang="ko-KR" altLang="en-US" sz="2400" dirty="0" smtClean="0"/>
              <a:t>사회</a:t>
            </a:r>
            <a:endParaRPr lang="en-US" altLang="ko-KR" sz="2400" dirty="0" smtClean="0"/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</a:rPr>
              <a:t>문화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문화</a:t>
            </a:r>
            <a:r>
              <a:rPr lang="en-US" altLang="ko-KR" sz="2400" dirty="0"/>
              <a:t>·</a:t>
            </a:r>
            <a:r>
              <a:rPr lang="ko-KR" altLang="en-US" sz="2400" dirty="0"/>
              <a:t>예술을 주민들의 사상을 통제하고 당과 지도자의 정권을 유지하는 도구로 활용함</a:t>
            </a:r>
            <a:r>
              <a:rPr lang="en-US" altLang="ko-KR" sz="2400" dirty="0"/>
              <a:t>.</a:t>
            </a:r>
          </a:p>
        </p:txBody>
      </p:sp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0" name="그림 19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5" name="TextBox 2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6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7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0" name="그림 29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22055" y="2016924"/>
            <a:ext cx="107521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북한 주민의 사회적 계층을 나누는 기준으로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삶의 수준을 결정하는 중요한 잣대로 작용한다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57698" y="1133260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출신 성분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134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측면에서 북한에 관해 바람직하게 이해하고 있는지 점검하고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느낀 점을 써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나는 평소에 북한을 무조건 부정적으로 보았던 것 같다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앞으로 북한을 더욱 균형 있게 이해하고자 노력해야겠다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느낀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1" y="2854762"/>
            <a:ext cx="245613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637255" y="2852240"/>
            <a:ext cx="3531296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62273" y="2854762"/>
            <a:ext cx="3443493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82429" y="2902004"/>
            <a:ext cx="24611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균형 있는 이해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677294" y="2884701"/>
            <a:ext cx="34885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객관적 사실에 근거한 이해</a:t>
            </a:r>
            <a:endParaRPr lang="ko-KR" altLang="en-US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562273" y="2915326"/>
            <a:ext cx="34434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보편적 가치에 근거한 이해</a:t>
            </a:r>
            <a:endParaRPr lang="ko-KR" altLang="en-US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0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415590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도덕적 가치에 기초한 통일의 의미는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북한에 관한 상반된 시각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경계 </a:t>
            </a:r>
            <a:r>
              <a:rPr sz="2400" b="1">
                <a:solidFill>
                  <a:srgbClr val="843C0C"/>
                </a:solidFill>
              </a:rPr>
              <a:t>의 대상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북한 정권의 군사적 도발은 우리의 생명과 안전을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미사일 발사는 경계하고, 이산가족 상봉은 함께 추진한다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협력 </a:t>
            </a:r>
            <a:r>
              <a:rPr sz="2400" b="1">
                <a:solidFill>
                  <a:srgbClr val="843C0C"/>
                </a:solidFill>
              </a:rPr>
              <a:t>의 대상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남과 북은 통일을 이루기 위해 함께 노력해 나가야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경계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대상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북한 정권의 군사적 도발은 우리의 생명과 안전을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미사일 발사는 경계하고, 이산가족 상봉은 함께 추진한다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대상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남과 북은 통일을 이루기 위해 함께 노력해 나가야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대상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북한 정권의 군사적 도발은 우리의 생명과 안전을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미사일 발사는 경계하고, 이산가족 상봉은 함께 추진한다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협력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대상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남과 북은 통일을 이루기 위해 함께 노력해 나가야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대상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북한 정권의 군사적 도발은 우리의 생명과 안전을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미사일 발사는 경계하고, 이산가족 상봉은 함께 추진한다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협력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대상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남과 북은 통일을 이루기 위해 함께 노력해 나가야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북한에 관한 올바른 이해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153쪽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균형 </a:t>
            </a:r>
            <a:r>
              <a:rPr sz="2400" b="1">
                <a:solidFill>
                  <a:srgbClr val="843C0C"/>
                </a:solidFill>
              </a:rPr>
              <a:t> 있는 이해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북한을 경계의 대상이자 협력의 대상으로 균형 있게 바라보아야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객관적 사실에 근거한 이해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주관적 생각이나 잘못된 정보에 근거하지 않고, 북한의 실제 모습을 있는 그대로 객관적으로 바라보아야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“북한 사람은 다 무섭다”는 영상 대신 통계와 증언 확인하기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보편적 가치에 근거한 이해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자유, 평등, 인권 등과 같은 보편적 가치를 근거로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주민의 인권 문제를 같은 사람의 문제로 보기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균형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있는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북한을 경계의 대상이자 협력의 대상으로 균형 있게 바라보아야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객관적 사실에 근거한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주관적 생각이나 잘못된 정보에 근거하지 않고, 북한의 실제 모습을 있는 그대로 객관적으로 바라보아야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“북한 사람은 다 무섭다”는 영상 대신 통계와 증언 확인하기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보편적 가치에 근거한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자유, 평등, 인권 등과 같은 보편적 가치를 근거로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주민의 인권 문제를 같은 사람의 문제로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균형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있는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북한을 경계의 대상이자 협력의 대상으로 균형 있게 바라보아야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객관적 사실에 근거한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주관적 생각이나 잘못된 정보에 근거하지 않고, 북한의 실제 모습을 있는 그대로 객관적으로 바라보아야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“북한 사람은 다 무섭다”는 영상 대신 통계와 증언 확인하기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보편적 가치에 근거한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자유, 평등, 인권 등과 같은 보편적 가치를 근거로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북한 주민의 인권 문제를 같은 사람의 문제로 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균형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있는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북한을 경계의 대상이자 협력의 대상으로 균형 있게 바라보아야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객관적 사실에 근거한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주관적 생각이나 잘못된 정보에 근거하지 않고, 북한의 실제 모습을 있는 그대로 객관적으로 바라보아야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“북한 사람은 다 무섭다”는 영상 대신 통계와 증언 확인하기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보편적 가치에 근거한 이해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자유, 평등, 인권 등과 같은 보편적 가치를 근거로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북한 주민의 인권 문제를 같은 사람의 문제로 보기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n-ea"/>
              </a:rPr>
              <a:t>보편적 가치의 관점에서 본 북한 사회의 특징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(1) 정치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/>
                </a:solidFill>
              </a:rPr>
              <a:t>④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수령 </a:t>
            </a:r>
            <a:r>
              <a:rPr sz="2300" b="0">
                <a:solidFill>
                  <a:srgbClr val="262626"/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(2) 경제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/>
                </a:solidFill>
              </a:rPr>
              <a:t>⑤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계획 </a:t>
            </a:r>
            <a:r>
              <a:rPr sz="2300" b="0">
                <a:solidFill>
                  <a:srgbClr val="262626"/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(3) 사회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개인보다 사회와 집단을 우선시하는 </a:t>
            </a:r>
            <a:r>
              <a:rPr sz="1380" b="1">
                <a:solidFill>
                  <a:srgbClr val="2F6FD0"/>
                </a:solidFill>
              </a:rPr>
              <a:t>⑥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집단주의 </a:t>
            </a:r>
            <a:r>
              <a:rPr sz="2300" b="0">
                <a:solidFill>
                  <a:srgbClr val="262626"/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(4) 문화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문화·예술을 주민들의 사상을 통제하고 당과 지도자의 정권을 유지하는 도구로 활용함.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정치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/>
                </a:solidFill>
              </a:rPr>
              <a:t> 수령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경제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계획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(3) 사회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개인보다 사회와 집단을 우선시하는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집단주의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(4) 문화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문화·예술을 주민들의 사상을 통제하고 당과 지도자의 정권을 유지하는 도구로 활용함.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정치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수령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경제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계획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(3) 사회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개인보다 사회와 집단을 우선시하는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집단주의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(4) 문화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문화·예술을 주민들의 사상을 통제하고 당과 지도자의 정권을 유지하는 도구로 활용함.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정치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수령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경제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/>
                </a:solidFill>
              </a:rPr>
              <a:t> 계획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(3) 사회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개인보다 사회와 집단을 우선시하는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집단주의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(4) 문화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문화·예술을 주민들의 사상을 통제하고 당과 지도자의 정권을 유지하는 도구로 활용함.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정치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수령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경제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계획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(3) 사회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개인보다 사회와 집단을 우선시하는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집단주의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(4) 문화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문화·예술을 주민들의 사상을 통제하고 당과 지도자의 정권을 유지하는 도구로 활용함.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정치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수령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경제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계획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(3) 사회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개인보다 사회와 집단을 우선시하는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300" b="1">
                <a:solidFill>
                  <a:srgbClr val="C0392B"/>
                </a:solidFill>
              </a:rPr>
              <a:t> 집단주의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(4) 문화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문화·예술을 주민들의 사상을 통제하고 당과 지도자의 정권을 유지하는 도구로 활용함.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정치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조선 노동당이 모든 국가 기관과 정책을 지배하고 통제하며, 조선 노동당을 이끄는 최고 지도자인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수령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에게 모든 권력이 집중된 독재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지도자를 비판하는 말 한마디로 처벌받는다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경제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생산과 분배의 모든 과정을 당이 결정하고 감독하는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계획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경제 체제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배급이 끊기자 주민들은 장마당에서 살길을 찾았다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(3) 사회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개인보다 사회와 집단을 우선시하는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집단주의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 사회, 평등권을 제대로 보장하지 않는 사회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부모의 출신 성분이 진학과 직업을 가른다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(4) 문화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문화·예술을 주민들의 사상을 통제하고 당과 지도자의 정권을 유지하는 도구로 활용함.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같은 말, 다른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아이스크림 · → 얼음보숭이? 북에서도 지금은 ‘에스키모’, ‘아이스크림’이라고도 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도시락 · → 곽밥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북한 친구에게 궁금한 것 하나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북한의 두 얼굴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경계 · 군사적으로 맞서는 상대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협력 · 함께 통일을 이룰 동반자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남과 북은 분단된 상태로 오랜 시간이 흘렀지만, 같은 역사와 문화의 뿌리를 공유하고 있는 하나의 민족이다.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북한을 단지 경계의 대상으로만 바라본다면 자칫 북한의 군사적 도발로 우리의 안보가 위험해질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원칙적으로 북한 주민은 개인 재산을 소유할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북한 주민들이 자유, 평등, 인권 등을 제대로 보장받지 못하는 상황을 개선하기 위해 우리는 북한 문제에 지속적으로 관심을 기울여야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남과 북은 분단된 상태로 오랜 시간이 흘렀지만, 같은 역사와 문화의 뿌리를 공유하고 있는 하나의 민족이다.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북한을 단지 경계의 대상으로만 바라본다면 자칫 북한의 군사적 도발로 우리의 안보가 위험해질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원칙적으로 북한 주민은 개인 재산을 소유할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북한 주민들이 자유, 평등, 인권 등을 제대로 보장받지 못하는 상황을 개선하기 위해 우리는 북한 문제에 지속적으로 관심을 기울여야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남과 북은 분단된 상태로 오랜 시간이 흘렀지만, 같은 역사와 문화의 뿌리를 공유하고 있는 하나의 민족이다.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북한을 단지 경계의 대상으로만 바라본다면 자칫 북한의 군사적 도발로 우리의 안보가 위험해질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원칙적으로 북한 주민은 개인 재산을 소유할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북한 주민들이 자유, 평등, 인권 등을 제대로 보장받지 못하는 상황을 개선하기 위해 우리는 북한 문제에 지속적으로 관심을 기울여야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남과 북은 분단된 상태로 오랜 시간이 흘렀지만, 같은 역사와 문화의 뿌리를 공유하고 있는 하나의 민족이다.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북한을 단지 경계의 대상으로만 바라본다면 자칫 북한의 군사적 도발로 우리의 안보가 위험해질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원칙적으로 북한 주민은 개인 재산을 소유할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북한 주민들이 자유, 평등, 인권 등을 제대로 보장받지 못하는 상황을 개선하기 위해 우리는 북한 문제에 지속적으로 관심을 기울여야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남과 북은 분단된 상태로 오랜 시간이 흘렀지만, 같은 역사와 문화의 뿌리를 공유하고 있는 하나의 민족이다.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북한을 단지 경계의 대상으로만 바라본다면 자칫 북한의 군사적 도발로 우리의 안보가 위험해질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원칙적으로 북한 주민은 개인 재산을 소유할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북한 주민들이 자유, 평등, 인권 등을 제대로 보장받지 못하는 상황을 개선하기 위해 우리는 북한 문제에 지속적으로 관심을 기울여야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경계의 대상일까, 협력의 대상일까?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연평도 포격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안중근 의사를 기린 남북의 우표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미사일 발사와 핵 실험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남북 단일팀으로 대회에 나갔다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이산가족 상봉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백령도 경계경보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(평화 위협)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연평도 포격</a:t>
            </a:r>
            <a:r>
              <a:rPr sz="2300" b="1">
                <a:solidFill>
                  <a:srgbClr val="C0392B"/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안중근 의사를 기린 남북의 우표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미사일 발사와 핵 실험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남북 단일팀으로 대회에 나갔다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이산가족 상봉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백령도 경계경보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(평화 위협)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연평도 포격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안중근 의사를 기린 남북의 우표</a:t>
            </a:r>
            <a:r>
              <a:rPr sz="2300" b="1">
                <a:solidFill>
                  <a:srgbClr val="C0392B"/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미사일 발사와 핵 실험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남북 단일팀으로 대회에 나갔다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이산가족 상봉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백령도 경계경보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(평화 위협)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연평도 포격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안중근 의사를 기린 남북의 우표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미사일 발사와 핵 실험</a:t>
            </a:r>
            <a:r>
              <a:rPr sz="2300" b="1">
                <a:solidFill>
                  <a:srgbClr val="C0392B"/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남북 단일팀으로 대회에 나갔다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이산가족 상봉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백령도 경계경보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(평화 위협)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연평도 포격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안중근 의사를 기린 남북의 우표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미사일 발사와 핵 실험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남북 단일팀으로 대회에 나갔다</a:t>
            </a:r>
            <a:r>
              <a:rPr sz="2300" b="1">
                <a:solidFill>
                  <a:srgbClr val="C0392B"/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이산가족 상봉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백령도 경계경보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(평화 위협)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연평도 포격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안중근 의사를 기린 남북의 우표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미사일 발사와 핵 실험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남북 단일팀으로 대회에 나갔다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이산가족 상봉</a:t>
            </a:r>
            <a:r>
              <a:rPr sz="2300" b="1">
                <a:solidFill>
                  <a:srgbClr val="C0392B"/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백령도 경계경보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(평화 위협)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경계 · 협력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연평도 포격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(생명과 안전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안중근 의사를 기린 남북의 우표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(같은 역사와 문화)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미사일 발사와 핵 실험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경계 (안보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남북 단일팀으로 대회에 나갔다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(교류·협력)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이산가족 상봉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협력 (인도적 협력)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백령도 경계경보</a:t>
            </a:r>
            <a:r>
              <a:rPr sz="2300" b="1">
                <a:solidFill>
                  <a:srgbClr val="C0392B"/>
                </a:solidFill>
              </a:rPr>
              <a:t>   → 경계 (평화 위협)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보편적 가치로 본 북한 사회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정치 · 경제 · 사회 · 문화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후보가 한 명뿐인 선거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정치 (독재 체제)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배급이 무너져 식량이 부족하다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경제 (생존권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출신 성분에 따라 교육과 직업이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(평등권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개인의 자유로운 창작이 막혀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문화 (표현의 자유 제한)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일정 나이가 되면 조직에 의무 가입한다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(집단주의)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정치 · 경제 · 사회 · 문화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후보가 한 명뿐인 선거</a:t>
            </a:r>
            <a:r>
              <a:rPr sz="2300" b="1">
                <a:solidFill>
                  <a:srgbClr val="C0392B"/>
                </a:solidFill>
              </a:rPr>
              <a:t>   → 정치 (독재 체제)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배급이 무너져 식량이 부족하다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경제 (생존권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출신 성분에 따라 교육과 직업이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(평등권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개인의 자유로운 창작이 막혀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문화 (표현의 자유 제한)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일정 나이가 되면 조직에 의무 가입한다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(집단주의)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정치 · 경제 · 사회 · 문화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후보가 한 명뿐인 선거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정치 (독재 체제)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배급이 무너져 식량이 부족하다</a:t>
            </a:r>
            <a:r>
              <a:rPr sz="2300" b="1">
                <a:solidFill>
                  <a:srgbClr val="C0392B"/>
                </a:solidFill>
              </a:rPr>
              <a:t>   → 경제 (생존권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출신 성분에 따라 교육과 직업이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(평등권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개인의 자유로운 창작이 막혀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문화 (표현의 자유 제한)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일정 나이가 되면 조직에 의무 가입한다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(집단주의)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정치 · 경제 · 사회 · 문화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후보가 한 명뿐인 선거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정치 (독재 체제)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배급이 무너져 식량이 부족하다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경제 (생존권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출신 성분에 따라 교육과 직업이 다르다</a:t>
            </a:r>
            <a:r>
              <a:rPr sz="2300" b="1">
                <a:solidFill>
                  <a:srgbClr val="C0392B"/>
                </a:solidFill>
              </a:rPr>
              <a:t>   → 사회 (평등권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개인의 자유로운 창작이 막혀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문화 (표현의 자유 제한)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일정 나이가 되면 조직에 의무 가입한다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(집단주의)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정치 · 경제 · 사회 · 문화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후보가 한 명뿐인 선거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정치 (독재 체제)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배급이 무너져 식량이 부족하다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경제 (생존권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출신 성분에 따라 교육과 직업이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(평등권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개인의 자유로운 창작이 막혀 있다</a:t>
            </a:r>
            <a:r>
              <a:rPr sz="2300" b="1">
                <a:solidFill>
                  <a:srgbClr val="C0392B"/>
                </a:solidFill>
              </a:rPr>
              <a:t>   → 문화 (표현의 자유 제한)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일정 나이가 되면 조직에 의무 가입한다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(집단주의)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정치 · 경제 · 사회 · 문화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후보가 한 명뿐인 선거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정치 (독재 체제)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배급이 무너져 식량이 부족하다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경제 (생존권 위협)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출신 성분에 따라 교육과 직업이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 (평등권 침해)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개인의 자유로운 창작이 막혀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문화 (표현의 자유 제한)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일정 나이가 되면 조직에 의무 가입한다</a:t>
            </a:r>
            <a:r>
              <a:rPr sz="2300" b="1">
                <a:solidFill>
                  <a:srgbClr val="C0392B"/>
                </a:solidFill>
              </a:rPr>
              <a:t>   → 사회 (집단주의)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3818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➕ 남과 북, 같은 뜻 다른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smtClean="0">
                <a:latin typeface="+mj-ea"/>
                <a:ea typeface="+mj-ea"/>
              </a:rPr>
              <a:t>북한을 어떻게 이해해야 할까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통일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곽밥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도시락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손전화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휴대 전화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단물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주스(음료)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가락지빵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곽밥</a:t>
            </a:r>
            <a:r>
              <a:rPr sz="2300" b="1">
                <a:solidFill>
                  <a:srgbClr val="C0392B"/>
                </a:solidFill>
              </a:rPr>
              <a:t>   → 도시락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손전화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휴대 전화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단물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주스(음료)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가락지빵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곽밥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도시락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손전화</a:t>
            </a:r>
            <a:r>
              <a:rPr sz="2300" b="1">
                <a:solidFill>
                  <a:srgbClr val="C0392B"/>
                </a:solidFill>
              </a:rPr>
              <a:t>   → 휴대 전화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단물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주스(음료)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가락지빵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곽밥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도시락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손전화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휴대 전화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단물</a:t>
            </a:r>
            <a:r>
              <a:rPr sz="2300" b="1">
                <a:solidFill>
                  <a:srgbClr val="C0392B"/>
                </a:solidFill>
              </a:rPr>
              <a:t>   → 주스(음료)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가락지빵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곽밥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도시락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손전화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휴대 전화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단물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주스(음료)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가락지빵</a:t>
            </a:r>
            <a:r>
              <a:rPr sz="2300" b="1">
                <a:solidFill>
                  <a:srgbClr val="C0392B"/>
                </a:solidFill>
              </a:rPr>
              <a:t>   → 도넛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8101</TotalTime>
  <Words>1135</Words>
  <Application>Microsoft Office PowerPoint</Application>
  <PresentationFormat>와이드스크린</PresentationFormat>
  <Paragraphs>190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156</cp:revision>
  <cp:lastPrinted>2024-06-05T04:53:22Z</cp:lastPrinted>
  <dcterms:created xsi:type="dcterms:W3CDTF">2023-10-31T05:50:03Z</dcterms:created>
  <dcterms:modified xsi:type="dcterms:W3CDTF">2025-01-14T04:01:05Z</dcterms:modified>
</cp:coreProperties>
</file>