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2"/>
  </p:notesMasterIdLst>
  <p:handoutMasterIdLst>
    <p:handoutMasterId r:id="rId23"/>
  </p:handoutMasterIdLst>
  <p:sldIdLst>
    <p:sldId id="387" r:id="rId2"/>
    <p:sldId id="301" r:id="rId3"/>
    <p:sldId id="258" r:id="rId4"/>
    <p:sldId id="305" r:id="rId5"/>
    <p:sldId id="306" r:id="rId6"/>
    <p:sldId id="270" r:id="rId7"/>
    <p:sldId id="400" r:id="rId35"/>
    <p:sldId id="401" r:id="rId36"/>
    <p:sldId id="260" r:id="rId8"/>
    <p:sldId id="388" r:id="rId9"/>
    <p:sldId id="394" r:id="rId29"/>
    <p:sldId id="307" r:id="rId10"/>
    <p:sldId id="308" r:id="rId11"/>
    <p:sldId id="310" r:id="rId12"/>
    <p:sldId id="312" r:id="rId13"/>
    <p:sldId id="313" r:id="rId14"/>
    <p:sldId id="389" r:id="rId15"/>
    <p:sldId id="395" r:id="rId30"/>
    <p:sldId id="396" r:id="rId31"/>
    <p:sldId id="391" r:id="rId16"/>
    <p:sldId id="390" r:id="rId17"/>
    <p:sldId id="397" r:id="rId32"/>
    <p:sldId id="398" r:id="rId33"/>
    <p:sldId id="399" r:id="rId34"/>
    <p:sldId id="392" r:id="rId18"/>
    <p:sldId id="393" r:id="rId19"/>
    <p:sldId id="291" r:id="rId20"/>
    <p:sldId id="402" r:id="rId37"/>
    <p:sldId id="403" r:id="rId38"/>
    <p:sldId id="404" r:id="rId39"/>
    <p:sldId id="405" r:id="rId40"/>
    <p:sldId id="348" r:id="rId21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E1DF"/>
    <a:srgbClr val="D8DDEF"/>
    <a:srgbClr val="F1DBE2"/>
    <a:srgbClr val="FF9300"/>
    <a:srgbClr val="FFFF00"/>
    <a:srgbClr val="D9E1E9"/>
    <a:srgbClr val="E8F6FD"/>
    <a:srgbClr val="F0FFF6"/>
    <a:srgbClr val="019BFF"/>
    <a:srgbClr val="FF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159쪽 기사</a:t>
            </a:r>
          </a:p>
          <a:p>
            <a:r>
              <a:t>2023년 5월 북한의 발사체로 백령도에 경계경보가 울려 주민 500여 명이 대피했다(《YTN 뉴스》, 2023.5.31).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70년 넘게 불린 노래</a:t>
            </a:r>
          </a:p>
          <a:p>
            <a:r>
              <a:t>1947년 광복 직후 만들어진 노래. 남북 행사에서 함께 부르기도 했다. “지금의 우리에게도 통일은 ‘소원’일까?” 솔직한 생각을 나눈다.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통일 비용과 분단 비용</a:t>
            </a:r>
          </a:p>
          <a:p>
            <a:r>
              <a:t>통일 비용: 통일 과정과 이후 통합에 드는 비용(한시적). 분단 비용: 분단 때문에 계속 드는 군사비, 이산가족의 고통 등(지속적). 통일 편익: 평화, 이산가족의 만남, 대륙과의 연결, 경제 성장.</a:t>
            </a:r>
          </a:p>
          <a:p>
            <a:r>
              <a:t>활동 화면 6의 저울 활동.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독일 통일과 내적 통합</a:t>
            </a:r>
          </a:p>
          <a:p>
            <a:r>
              <a:t>독일은 통일 뒤 경제 격차와 서로에 대한 편견으로 오랫동안 어려움을 겪었다. 제도의 통일 뒤에도 사람의 통합이 필요하다는 교훈.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분단의 문제점과 통일의 의미를 짝지어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분단의 문제점과 통일의 의미를 짝지어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분단의 문제점과 통일의 의미를 짝지어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eg"/><Relationship Id="rId10" Type="http://schemas.openxmlformats.org/officeDocument/2006/relationships/image" Target="../media/image32.png"/><Relationship Id="rId11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통일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도덕적 가치에 기초한 통일의 의미는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66983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3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분단의 문제점을 설명할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4422"/>
            <a:ext cx="10293350" cy="787400"/>
            <a:chOff x="914400" y="2362200"/>
            <a:chExt cx="10293350" cy="787400"/>
          </a:xfrm>
        </p:grpSpPr>
        <p:sp>
          <p:nvSpPr>
            <p:cNvPr id="40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65544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도덕적 가치에 기초한 통일의 의미를 제시할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8295" y="1446628"/>
            <a:ext cx="8593425" cy="541521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2451074" y="6458761"/>
            <a:ext cx="2698896" cy="26743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남한과 북한이 대치하고 있는 </a:t>
            </a:r>
            <a:r>
              <a:rPr lang="ko-KR" altLang="en-US" sz="1200" dirty="0" smtClean="0">
                <a:solidFill>
                  <a:schemeClr val="tx1"/>
                </a:solidFill>
              </a:rPr>
              <a:t>모습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한쪽 모서리가 둥근 사각형 4"/>
          <p:cNvSpPr/>
          <p:nvPr/>
        </p:nvSpPr>
        <p:spPr>
          <a:xfrm rot="166987" flipH="1">
            <a:off x="5879298" y="2944798"/>
            <a:ext cx="2306596" cy="215660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슬로베니아와 이탈리아의 국경</a:t>
            </a:r>
          </a:p>
        </p:txBody>
      </p:sp>
      <p:sp>
        <p:nvSpPr>
          <p:cNvPr id="18" name="한쪽 모서리가 둥근 사각형 17"/>
          <p:cNvSpPr/>
          <p:nvPr/>
        </p:nvSpPr>
        <p:spPr>
          <a:xfrm rot="21407152" flipH="1">
            <a:off x="7644986" y="4656664"/>
            <a:ext cx="1702486" cy="215660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중국과 베트남의 국경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한쪽 모서리가 둥근 사각형 21"/>
          <p:cNvSpPr/>
          <p:nvPr/>
        </p:nvSpPr>
        <p:spPr>
          <a:xfrm flipH="1">
            <a:off x="6511146" y="6210173"/>
            <a:ext cx="1966033" cy="420464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네덜란드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벨기에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독일이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맞닿은 국경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자유롭게 왕래가 가능한 여러 국경과 달리 삼엄한 경계 속에서 남북한이 대치하고 있는 모습을 보니 안타깝다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우리나라에도 하루빨리 평화가 찾아오면 좋겠다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남한과 북한이 대치하고 있는 모습과 사람들이 자유롭게 오가는 다른 나라 국경의 모습을 비교하여 느낀 점을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6895" y="1328468"/>
            <a:ext cx="10148921" cy="55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381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통일의 필요성에 관한 나의 생각을 그 까닭과 함께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45500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</a:rPr>
              <a:t>통일이 필요하다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통일을 하면 우리나라에 내재된 전쟁의 가능성을 없앨 수 있기 때문이다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</a:rPr>
              <a:t>통일이 필요하지 않다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이미 오랜 기간 분단되어 살아왔기 때문에 통일 이후에 여러 사회적 문제가 발생할 것 같다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/>
              <a:t>통일이 필요하다고 보는 시각</a:t>
            </a:r>
            <a:r>
              <a:rPr lang="en-US" altLang="ko-KR" sz="2400" b="1" dirty="0"/>
              <a:t>: </a:t>
            </a:r>
            <a:r>
              <a:rPr lang="ko-KR" altLang="en-US" sz="2400" dirty="0"/>
              <a:t>통일을 함으로써 남북 간 전쟁 위협을 없앨 수 있다는 점</a:t>
            </a:r>
            <a:r>
              <a:rPr lang="en-US" altLang="ko-KR" sz="2400" dirty="0"/>
              <a:t>, </a:t>
            </a:r>
            <a:r>
              <a:rPr lang="ko-KR" altLang="en-US" sz="2400" dirty="0"/>
              <a:t>남북한은 같은 민족이라는 점</a:t>
            </a:r>
            <a:r>
              <a:rPr lang="en-US" altLang="ko-KR" sz="2400" dirty="0"/>
              <a:t>, </a:t>
            </a:r>
            <a:r>
              <a:rPr lang="ko-KR" altLang="en-US" sz="2400" dirty="0"/>
              <a:t>통일 이후 우리나라가 지금보다 더 선진국이 될 수 있다는 점 등을 이유로 통일이 필요하다고 주장함</a:t>
            </a:r>
            <a:r>
              <a:rPr lang="en-US" altLang="ko-KR" sz="24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/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/>
              <a:t>통일이 필요하지 않다고 보는 시각</a:t>
            </a:r>
            <a:r>
              <a:rPr lang="en-US" altLang="ko-KR" sz="2400" b="1" dirty="0"/>
              <a:t>: </a:t>
            </a:r>
            <a:r>
              <a:rPr lang="ko-KR" altLang="en-US" sz="2400" dirty="0"/>
              <a:t>통일 이후 생겨날 사회적 문제</a:t>
            </a:r>
            <a:r>
              <a:rPr lang="en-US" altLang="ko-KR" sz="2400" dirty="0"/>
              <a:t>, </a:t>
            </a:r>
            <a:r>
              <a:rPr lang="ko-KR" altLang="en-US" sz="2400" dirty="0"/>
              <a:t>통일에 따르는 경제적 부담</a:t>
            </a:r>
            <a:r>
              <a:rPr lang="en-US" altLang="ko-KR" sz="2400" dirty="0"/>
              <a:t>, </a:t>
            </a:r>
            <a:r>
              <a:rPr lang="ko-KR" altLang="en-US" sz="2400" dirty="0" smtClean="0"/>
              <a:t>남북 간 </a:t>
            </a:r>
            <a:r>
              <a:rPr lang="ko-KR" altLang="en-US" sz="2400" dirty="0"/>
              <a:t>정치 제도의 차이 등을 이유로 통일이 필요하지 않다고 주장함</a:t>
            </a:r>
            <a:r>
              <a:rPr lang="en-US" altLang="ko-KR" sz="2400" dirty="0" smtClean="0"/>
              <a:t>.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통일을 바라보는 다양한 시각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/>
              <a:t>통일이 필요하다고 보는 시각</a:t>
            </a:r>
            <a:r>
              <a:rPr lang="en-US" altLang="ko-KR" sz="2400" b="1" dirty="0"/>
              <a:t>: </a:t>
            </a:r>
            <a:r>
              <a:rPr lang="ko-KR" altLang="en-US" sz="2400" dirty="0"/>
              <a:t>통일을 함으로써 남북 간 전쟁 위협을 없앨 수 있다는 점</a:t>
            </a:r>
            <a:r>
              <a:rPr lang="en-US" altLang="ko-KR" sz="2400" dirty="0"/>
              <a:t>, </a:t>
            </a:r>
            <a:r>
              <a:rPr lang="ko-KR" altLang="en-US" sz="2400" dirty="0"/>
              <a:t>남북한은 같은 민족이라는 점</a:t>
            </a:r>
            <a:r>
              <a:rPr lang="en-US" altLang="ko-KR" sz="2400" dirty="0"/>
              <a:t>, </a:t>
            </a:r>
            <a:r>
              <a:rPr lang="ko-KR" altLang="en-US" sz="2400" dirty="0"/>
              <a:t>통일 이후 우리나라가 지금보다 더 선진국이 될 수 있다는 점 등을 이유로 통일이 필요하다고 주장함</a:t>
            </a:r>
            <a:r>
              <a:rPr lang="en-US" altLang="ko-KR" sz="24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/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/>
              <a:t>통일이 필요하지 않다고 보는 시각</a:t>
            </a:r>
            <a:r>
              <a:rPr lang="en-US" altLang="ko-KR" sz="2400" b="1" dirty="0"/>
              <a:t>: </a:t>
            </a:r>
            <a:r>
              <a:rPr lang="ko-KR" altLang="en-US" sz="2400" dirty="0"/>
              <a:t>통일 이후 생겨날 사회적 문제</a:t>
            </a:r>
            <a:r>
              <a:rPr lang="en-US" altLang="ko-KR" sz="2400" dirty="0"/>
              <a:t>, </a:t>
            </a:r>
            <a:r>
              <a:rPr lang="ko-KR" altLang="en-US" sz="2400" dirty="0"/>
              <a:t>통일에 따르는 경제적 부담</a:t>
            </a:r>
            <a:r>
              <a:rPr lang="en-US" altLang="ko-KR" sz="2400" dirty="0"/>
              <a:t>, </a:t>
            </a:r>
            <a:r>
              <a:rPr lang="ko-KR" altLang="en-US" sz="2400" dirty="0"/>
              <a:t>남북간 정치 제도의 차이 등을 이유로 통일이 필요하지 않다고 주장함</a:t>
            </a:r>
            <a:r>
              <a:rPr lang="en-US" altLang="ko-KR" sz="2400" dirty="0" smtClean="0"/>
              <a:t>.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통일을 바라보는 다양한 시각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17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18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분단 비용</a:t>
            </a:r>
            <a:r>
              <a:rPr lang="en-US" altLang="ko-KR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통일 비용</a:t>
            </a:r>
            <a:r>
              <a:rPr lang="en-US" altLang="ko-KR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통일 편익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636321"/>
              </p:ext>
            </p:extLst>
          </p:nvPr>
        </p:nvGraphicFramePr>
        <p:xfrm>
          <a:off x="2056907" y="2159407"/>
          <a:ext cx="8128000" cy="3588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3097">
                  <a:extLst>
                    <a:ext uri="{9D8B030D-6E8A-4147-A177-3AD203B41FA5}">
                      <a16:colId xmlns:a16="http://schemas.microsoft.com/office/drawing/2014/main" val="3907520181"/>
                    </a:ext>
                  </a:extLst>
                </a:gridCol>
                <a:gridCol w="5904903">
                  <a:extLst>
                    <a:ext uri="{9D8B030D-6E8A-4147-A177-3AD203B41FA5}">
                      <a16:colId xmlns:a16="http://schemas.microsoft.com/office/drawing/2014/main" val="775464790"/>
                    </a:ext>
                  </a:extLst>
                </a:gridCol>
              </a:tblGrid>
              <a:tr h="119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분단 비용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남북의 분단 상태를 지속하는 동안 발생하는 비용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안보 비용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전쟁 가능성에 대한 공포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919128"/>
                  </a:ext>
                </a:extLst>
              </a:tr>
              <a:tr h="119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통일 비용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남북 통합 과정에서 부담해야 할 비용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제도 통합 비용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위기관리 비용 등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260767"/>
                  </a:ext>
                </a:extLst>
              </a:tr>
              <a:tr h="1196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통일 편익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통일이 되면 남북한이 얻게 되는 모든 이익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국토의 효율적 이용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전쟁 위험 감소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6155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20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93954" y="1348241"/>
            <a:ext cx="11761854" cy="5509759"/>
            <a:chOff x="93954" y="1348241"/>
            <a:chExt cx="11761854" cy="5509759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954" y="1348241"/>
              <a:ext cx="11761854" cy="5389313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268746" y="1544736"/>
              <a:ext cx="346990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저랑 같이 일하는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동료는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북한에서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왔어요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그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동료와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사고방식이나 사용하는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표현이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너무 달라 힘들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때가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있어요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이런 문화적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차이가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점점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커질 것 같아서 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걱정이에요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90844" y="1983518"/>
              <a:ext cx="301061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같은 반 친구가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북한에서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왔어요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친구의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엄마는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북한에 </a:t>
              </a:r>
              <a:r>
                <a:rPr lang="ko-KR" altLang="en-US" sz="20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남으셨대요</a:t>
              </a:r>
              <a:r>
                <a:rPr lang="en-US" altLang="ko-KR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그래서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그 친구는 늘 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고향과 엄마를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그리워하고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있어요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53658" y="1615134"/>
              <a:ext cx="373002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저는 러시아와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무역 사업을 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합니다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육로로 북한 지역을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통과하면 빨리 갈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수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있는데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더 많은 시간과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비용을 들여 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선박이나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항공기를 </a:t>
              </a: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이용해야만</a:t>
              </a:r>
              <a:endPara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하는 것이 늘 </a:t>
              </a:r>
              <a:r>
                <a:rPr lang="ko-KR" altLang="en-US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안타깝습니다</a:t>
              </a:r>
              <a:r>
                <a: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954" y="6496013"/>
              <a:ext cx="11761854" cy="361987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93954" y="6496013"/>
              <a:ext cx="11761854" cy="361987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모서리가 둥근 직사각형 3"/>
            <p:cNvSpPr/>
            <p:nvPr/>
          </p:nvSpPr>
          <p:spPr>
            <a:xfrm>
              <a:off x="2325145" y="6461095"/>
              <a:ext cx="690113" cy="370936"/>
            </a:xfrm>
            <a:prstGeom prst="roundRect">
              <a:avLst>
                <a:gd name="adj" fmla="val 37597"/>
              </a:avLst>
            </a:prstGeom>
            <a:solidFill>
              <a:srgbClr val="F1DB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엄마</a:t>
              </a:r>
              <a:endParaRPr lang="ko-KR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5778466" y="6461095"/>
              <a:ext cx="513600" cy="370936"/>
            </a:xfrm>
            <a:prstGeom prst="roundRect">
              <a:avLst>
                <a:gd name="adj" fmla="val 37597"/>
              </a:avLst>
            </a:prstGeom>
            <a:solidFill>
              <a:srgbClr val="D8D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smtClean="0">
                  <a:solidFill>
                    <a:schemeClr val="tx1"/>
                  </a:solidFill>
                  <a:latin typeface="+mn-ea"/>
                </a:rPr>
                <a:t>딸</a:t>
              </a:r>
              <a:endParaRPr lang="ko-KR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8676264" y="6461095"/>
              <a:ext cx="690113" cy="370936"/>
            </a:xfrm>
            <a:prstGeom prst="roundRect">
              <a:avLst>
                <a:gd name="adj" fmla="val 37597"/>
              </a:avLst>
            </a:prstGeom>
            <a:solidFill>
              <a:srgbClr val="B7E1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아빠</a:t>
              </a:r>
              <a:endParaRPr lang="ko-KR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1150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위 그림을 통해 알 수 있는 분단의 문제점은 무엇인지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42912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</a:rPr>
              <a:t>분단 때문에 </a:t>
            </a:r>
            <a:r>
              <a:rPr lang="ko-KR" altLang="en-US" sz="2400" dirty="0">
                <a:solidFill>
                  <a:srgbClr val="0070C0"/>
                </a:solidFill>
              </a:rPr>
              <a:t>남북한 주민들 간 문화적 차이가 생겨 의사소통에 어려움을 겪는다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또한 북한 이탈 주민은 분단 때문에 가족과 고향을 항상 그리워하는 고통을 겪고 있다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그리고 육로로 북한 지역을 통과할 수 없어 무역에 비효율이 발생한다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840018" y="1596520"/>
            <a:ext cx="8535907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서해 최북단에 위치한 백령도의 평온한 아침은 강력한 사이렌 소리에 깨지고 말았다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북한이 인공위성으로 추정되는 물체를 발사하면서 경계경보가 발령된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사이렌 소리와 함께 주민들에게 대피할 것을 알리는 안내 방송이 나왔고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사이렌 소리는 약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41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분 동안 지속되었다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경보가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울리는 긴박한 상황에서 백령도 주민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백여 명이 대피하였다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대피하는 과정에서 일부 주민들은 극도의 불안감을 호소한 것으로 전해졌다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사이렌이 울리면서 대피소로 몸을 피하고 안내 방송에 귀 기울이며 가슴 졸였던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시간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분은 백령도 주민들에게 그 어느 때보다 긴 시간이었다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《YTN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2023. 5. 31.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05" y="4194321"/>
            <a:ext cx="2663679" cy="266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위 기사를 볼 때 한반도의 상황을 평화롭다고 볼 수 없는 까닭을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한반도는 언제든 다시 전쟁이 일어날 수 있는 휴전 상태에 머물러 있기 때문이다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210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사회적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</a:rPr>
              <a:t>·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문화적 이질화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남북한 주민들 간의 언어</a:t>
            </a:r>
            <a:r>
              <a:rPr lang="en-US" altLang="ko-KR" sz="2400" dirty="0"/>
              <a:t>, </a:t>
            </a:r>
            <a:r>
              <a:rPr lang="ko-KR" altLang="en-US" sz="2400" dirty="0"/>
              <a:t>문화 등이 서로 달라져 의사소통에 어려움을 겪고 있으며</a:t>
            </a:r>
            <a:r>
              <a:rPr lang="en-US" altLang="ko-KR" sz="2400" dirty="0"/>
              <a:t>, </a:t>
            </a:r>
            <a:r>
              <a:rPr lang="ko-KR" altLang="en-US" sz="2400" dirty="0"/>
              <a:t>사고방식과 가치관의 차이로 갈등이 생기기도 함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인간 존엄성 훼손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북한 이탈 주민은 가족의 안부조차 모른 채 가족을 그리워하며</a:t>
            </a:r>
            <a:r>
              <a:rPr lang="en-US" altLang="ko-KR" sz="2400" dirty="0"/>
              <a:t>, </a:t>
            </a:r>
            <a:r>
              <a:rPr lang="ko-KR" altLang="en-US" sz="2400" dirty="0"/>
              <a:t>북한 주민들은 생존권마저 위협받는 등 인간 존엄성이 훼손되고 있음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분단의 문제점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타원 2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국가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경쟁력 약화 </a:t>
            </a:r>
            <a:endParaRPr lang="en-US" altLang="ko-KR" sz="2500" dirty="0"/>
          </a:p>
          <a:p>
            <a:pPr algn="just">
              <a:lnSpc>
                <a:spcPct val="150000"/>
              </a:lnSpc>
            </a:pPr>
            <a:r>
              <a:rPr lang="ko-KR" altLang="en-US" sz="2400" spc="-20" dirty="0"/>
              <a:t>분단은 원활한 무역을 </a:t>
            </a:r>
            <a:r>
              <a:rPr lang="ko-KR" altLang="en-US" sz="2400" spc="-20" dirty="0" smtClean="0"/>
              <a:t>방해하고</a:t>
            </a:r>
            <a:r>
              <a:rPr lang="en-US" altLang="ko-KR" sz="2400" spc="-20" dirty="0" smtClean="0"/>
              <a:t>, </a:t>
            </a:r>
            <a:r>
              <a:rPr lang="ko-KR" altLang="en-US" sz="2400" spc="-20" dirty="0" smtClean="0"/>
              <a:t>남과 북은 분단 </a:t>
            </a:r>
            <a:r>
              <a:rPr lang="ko-KR" altLang="en-US" sz="2400" spc="-20" dirty="0"/>
              <a:t>때문에 막대한 국방비를 </a:t>
            </a:r>
            <a:r>
              <a:rPr lang="ko-KR" altLang="en-US" sz="2400" spc="-20" dirty="0" smtClean="0"/>
              <a:t>지출하며</a:t>
            </a:r>
            <a:r>
              <a:rPr lang="en-US" altLang="ko-KR" sz="2400" spc="-20" dirty="0" smtClean="0"/>
              <a:t> </a:t>
            </a:r>
            <a:r>
              <a:rPr lang="ko-KR" altLang="en-US" sz="2400" spc="-20" dirty="0"/>
              <a:t>잠재적으로 전쟁 위험이 있는 나라라고 인식 되는 등 국가 경쟁력이 약화됨</a:t>
            </a:r>
            <a:r>
              <a:rPr lang="en-US" altLang="ko-KR" sz="2400" spc="-2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평화 위협 </a:t>
            </a:r>
            <a:endParaRPr lang="en-US" altLang="ko-KR" sz="2500" dirty="0"/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한반도는 언제든 다시 전쟁이 일어날 수 있는 휴전 상태이므로 진정으로 평화로운 상태가 아님</a:t>
            </a:r>
            <a:r>
              <a:rPr lang="en-US" altLang="ko-KR" sz="24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분단의 문제점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41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사회적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</a:rPr>
              <a:t>·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문화적 동질성 회복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통일을 통해 대립과 </a:t>
            </a:r>
            <a:r>
              <a:rPr lang="ko-KR" altLang="en-US" sz="2400" dirty="0"/>
              <a:t>갈등</a:t>
            </a:r>
            <a:r>
              <a:rPr lang="en-US" altLang="ko-KR" sz="2400" dirty="0"/>
              <a:t>, </a:t>
            </a:r>
            <a:r>
              <a:rPr lang="ko-KR" altLang="en-US" sz="2400" dirty="0"/>
              <a:t>이질화를 해소하고 동일한 역사와 문화를 공유하여 사회적</a:t>
            </a:r>
            <a:r>
              <a:rPr lang="en-US" altLang="ko-KR" sz="2400" dirty="0"/>
              <a:t>·</a:t>
            </a:r>
            <a:r>
              <a:rPr lang="ko-KR" altLang="en-US" sz="2400" dirty="0"/>
              <a:t>문화적 동질성을 회복할 수 있음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인간 존엄성 실현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통일 이후 이산가족과 </a:t>
            </a:r>
            <a:r>
              <a:rPr lang="ko-KR" altLang="en-US" sz="2400" dirty="0"/>
              <a:t>실향민의 고통을 해결하고</a:t>
            </a:r>
            <a:r>
              <a:rPr lang="en-US" altLang="ko-KR" sz="2400" dirty="0"/>
              <a:t>, </a:t>
            </a:r>
            <a:r>
              <a:rPr lang="ko-KR" altLang="en-US" sz="2400" dirty="0"/>
              <a:t>북한 주민들의 인권을 보장할 수 있음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가치에 기초한 통일의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7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국가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공동체 발전</a:t>
            </a:r>
            <a:endParaRPr lang="en-US" altLang="ko-KR" sz="2500" dirty="0"/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통일이 되면 남북한의 인구 증가에 따라 노동력과 </a:t>
            </a:r>
            <a:r>
              <a:rPr lang="ko-KR" altLang="en-US" sz="2400" dirty="0"/>
              <a:t>시장 </a:t>
            </a:r>
            <a:r>
              <a:rPr lang="ko-KR" altLang="en-US" sz="2400" dirty="0" smtClean="0"/>
              <a:t>규모가 증가함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또한</a:t>
            </a:r>
            <a:r>
              <a:rPr lang="en-US" altLang="ko-KR" sz="2400" dirty="0" smtClean="0"/>
              <a:t> </a:t>
            </a:r>
            <a:r>
              <a:rPr lang="ko-KR" altLang="en-US" sz="2400" dirty="0"/>
              <a:t>북한의 노동력 및</a:t>
            </a:r>
            <a:r>
              <a:rPr lang="en-US" altLang="ko-KR" sz="2400" dirty="0"/>
              <a:t> </a:t>
            </a:r>
            <a:r>
              <a:rPr lang="ko-KR" altLang="en-US" sz="2400" dirty="0"/>
              <a:t>지하자원이 남한의 자본 및</a:t>
            </a:r>
            <a:r>
              <a:rPr lang="en-US" altLang="ko-KR" sz="2400" dirty="0"/>
              <a:t> </a:t>
            </a:r>
            <a:r>
              <a:rPr lang="ko-KR" altLang="en-US" sz="2400" dirty="0"/>
              <a:t>기술력과 </a:t>
            </a:r>
            <a:r>
              <a:rPr lang="ko-KR" altLang="en-US" sz="2400" dirty="0" smtClean="0"/>
              <a:t>결합한다면 </a:t>
            </a:r>
            <a:r>
              <a:rPr lang="ko-KR" altLang="en-US" sz="2400" dirty="0"/>
              <a:t>국가 공동체를 발전시킬 수 있음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평화 실현 </a:t>
            </a:r>
            <a:endParaRPr lang="en-US" altLang="ko-KR" sz="2500" dirty="0"/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통일을 통해 전쟁이 </a:t>
            </a:r>
            <a:r>
              <a:rPr lang="ko-KR" altLang="en-US" sz="2400" dirty="0"/>
              <a:t>일어날 가능성을 해소하며 나아가 동북아시아와 세계 평화에 이바지할 수 있음</a:t>
            </a:r>
            <a:r>
              <a:rPr lang="en-US" altLang="ko-KR" sz="24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가치에 기초한 통일의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45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1577630" y="2818656"/>
            <a:ext cx="956247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도덕적 가치에 기초한 통일의 의미에 관해 토의하고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그 내용을 토대로 </a:t>
            </a:r>
            <a:r>
              <a:rPr lang="en-US" altLang="ko-KR" sz="2000" b="1" dirty="0" smtClean="0"/>
              <a:t>‘</a:t>
            </a:r>
            <a:r>
              <a:rPr lang="ko-KR" altLang="en-US" sz="2000" b="1" dirty="0" smtClean="0"/>
              <a:t>하나 되어 봄</a:t>
            </a:r>
            <a:r>
              <a:rPr lang="en-US" altLang="ko-KR" sz="2000" b="1" dirty="0"/>
              <a:t> </a:t>
            </a:r>
            <a:r>
              <a:rPr lang="en-US" altLang="ko-KR" sz="2000" b="1" dirty="0" smtClean="0"/>
              <a:t>’</a:t>
            </a:r>
            <a:r>
              <a:rPr lang="ko-KR" altLang="en-US" sz="2000" b="1" dirty="0" smtClean="0"/>
              <a:t>으로 </a:t>
            </a:r>
            <a:r>
              <a:rPr lang="en-US" altLang="ko-KR" sz="2000" b="1" dirty="0" smtClean="0"/>
              <a:t>5</a:t>
            </a:r>
            <a:r>
              <a:rPr lang="ko-KR" altLang="en-US" sz="2000" b="1" dirty="0" smtClean="0"/>
              <a:t>행시를 만들어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647646" y="2756086"/>
            <a:ext cx="699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하나 된다는 것은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203722" y="2233024"/>
            <a:ext cx="1301836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0" name="TextBox 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2233024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2233024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6470" y="6089755"/>
            <a:ext cx="3071449" cy="6747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6471" y="2720198"/>
            <a:ext cx="771175" cy="319496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0314" y="2744832"/>
            <a:ext cx="4858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0314" y="3629381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20314" y="4454426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20314" y="5338975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어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99636" y="6115633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봄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77630" y="3654054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47646" y="3591484"/>
            <a:ext cx="774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나와 너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우리 모두의 몸과 마음이 좀 더 가까워지고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77630" y="4512667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47646" y="4450097"/>
            <a:ext cx="7964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되게 오랫동안 헤어져 살던 가족들도 만날 수 있고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77630" y="5348065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47646" y="5285495"/>
            <a:ext cx="699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어울려 살며 함께 공동체를 발전시켜 나가는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7646" y="6189365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717662" y="6126795"/>
            <a:ext cx="699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봄처럼 따뜻한 평화를 의미한다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3304" y="3847295"/>
            <a:ext cx="3983961" cy="301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5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50" grpId="0"/>
      <p:bldP spid="50" grpId="1"/>
      <p:bldP spid="52" grpId="0"/>
      <p:bldP spid="52" grpId="1"/>
      <p:bldP spid="54" grpId="0"/>
      <p:bldP spid="54" grpId="1"/>
      <p:bldP spid="59" grpId="0"/>
      <p:bldP spid="5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1577630" y="2818656"/>
            <a:ext cx="956247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도덕적 가치에 기초한 통일의 의미에 관해 토의하고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그 내용을 토대로 </a:t>
            </a:r>
            <a:r>
              <a:rPr lang="en-US" altLang="ko-KR" sz="2000" b="1" dirty="0" smtClean="0"/>
              <a:t>‘</a:t>
            </a:r>
            <a:r>
              <a:rPr lang="ko-KR" altLang="en-US" sz="2000" b="1" dirty="0" smtClean="0"/>
              <a:t>하나 되어 봄</a:t>
            </a:r>
            <a:r>
              <a:rPr lang="en-US" altLang="ko-KR" sz="2000" b="1" dirty="0"/>
              <a:t> </a:t>
            </a:r>
            <a:r>
              <a:rPr lang="en-US" altLang="ko-KR" sz="2000" b="1" dirty="0" smtClean="0"/>
              <a:t>’</a:t>
            </a:r>
            <a:r>
              <a:rPr lang="ko-KR" altLang="en-US" sz="2000" b="1" dirty="0" smtClean="0"/>
              <a:t>으로 </a:t>
            </a:r>
            <a:r>
              <a:rPr lang="en-US" altLang="ko-KR" sz="2000" b="1" dirty="0" smtClean="0"/>
              <a:t>5</a:t>
            </a:r>
            <a:r>
              <a:rPr lang="ko-KR" altLang="en-US" sz="2000" b="1" dirty="0" smtClean="0"/>
              <a:t>행시를 만들어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647646" y="2756086"/>
            <a:ext cx="699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하나 된다는 것은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203722" y="2233024"/>
            <a:ext cx="1301836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0" name="TextBox 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2233024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2233024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6470" y="6089755"/>
            <a:ext cx="3071449" cy="6747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6471" y="2720198"/>
            <a:ext cx="771175" cy="319496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0314" y="2744832"/>
            <a:ext cx="4858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0314" y="3629381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20314" y="4454426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20314" y="5338975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어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99636" y="6115633"/>
            <a:ext cx="485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+mn-ea"/>
              </a:rPr>
              <a:t>봄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77630" y="3654054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47646" y="3591484"/>
            <a:ext cx="774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나와 너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우리 모두의 몸과 마음이 좀 더 가까워지고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77630" y="4512667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47646" y="4450097"/>
            <a:ext cx="7964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되게 오랫동안 헤어져 살던 가족들도 만날 수 있고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77630" y="5348065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47646" y="5285495"/>
            <a:ext cx="699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어울려 살며 함께 공동체를 발전시켜 나가는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7646" y="6189365"/>
            <a:ext cx="96184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______________________________________________________________________________________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717662" y="6126795"/>
            <a:ext cx="699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봄처럼 따뜻한 평화를 의미한다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3304" y="3847295"/>
            <a:ext cx="3983961" cy="3010705"/>
          </a:xfrm>
          <a:prstGeom prst="rect">
            <a:avLst/>
          </a:prstGeom>
        </p:spPr>
      </p:pic>
      <p:sp>
        <p:nvSpPr>
          <p:cNvPr id="43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47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5" name="그림 54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57" name="그림 5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622055" y="2016924"/>
            <a:ext cx="10913340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모둠원끼리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토의하여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행시를 만들 다른 단어를 정해도 좋아요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006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답하면서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분단의 문제점을 설명할 수 있는가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도덕적 가치에 기초한 통일의 의미를 말할 수 있는가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분단 상태에 익숙해진 상태라서 분단의 문제점을 잊고 지냈다는 생각이 들었다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앞으로는 분단의 문제점과 통일의 의미를 명확하게 알 수 있도록 노력해야겠다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238" y="3050582"/>
            <a:ext cx="95222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다음 시간에는</a:t>
            </a:r>
            <a:endParaRPr lang="en-US" altLang="ko-KR" sz="2800" dirty="0"/>
          </a:p>
          <a:p>
            <a:pPr algn="ctr"/>
            <a:endParaRPr lang="en-US" altLang="ko-KR" sz="2800" dirty="0"/>
          </a:p>
          <a:p>
            <a:pPr algn="ctr"/>
            <a:r>
              <a:rPr lang="en-US" altLang="ko-KR" sz="2800" b="1" dirty="0"/>
              <a:t>“03. </a:t>
            </a:r>
            <a:r>
              <a:rPr lang="ko-KR" altLang="en-US" sz="2800" b="1" dirty="0"/>
              <a:t>바람직한 남북 관계 및 통일의 방향은 무엇일까</a:t>
            </a:r>
            <a:r>
              <a:rPr lang="en-US" altLang="ko-KR" sz="2800" b="1" dirty="0"/>
              <a:t>?”</a:t>
            </a:r>
            <a:r>
              <a:rPr lang="ko-KR" altLang="en-US" sz="2800" dirty="0"/>
              <a:t>를</a:t>
            </a:r>
            <a:endParaRPr lang="en-US" altLang="ko-KR" sz="2800" dirty="0"/>
          </a:p>
          <a:p>
            <a:pPr algn="ctr"/>
            <a:endParaRPr lang="en-US" altLang="ko-KR" sz="2800" dirty="0"/>
          </a:p>
          <a:p>
            <a:pPr algn="ctr"/>
            <a:r>
              <a:rPr lang="ko-KR" altLang="en-US" sz="2800" dirty="0"/>
              <a:t>배워 보아요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통일을 바라보는 다양한 시각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통일이 필요하다고 보는 시각도 있고, 필요하지 않다고 보는 시각도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“전쟁 위험이 사라진다” ↔ “통일 비용이 너무 크다” — 우리 반의 생각은?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통일이 필요하다고 보는 시각도 있고, 필요하지 않다고 보는 시각도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“전쟁 위험이 사라진다” ↔ “통일 비용이 너무 크다” — 우리 반의 생각은?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분단의 문제점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사회적·문화적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이질화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남북한 주민들 간의 언어, 문화 등이 서로 달라져 의사소통에 어려움을 겪고 있으며, 사고방식과 가치관의 차이로 갈등이 생기기도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‘도시락’을 북한에서는 ‘곽밥’이라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인간 존엄성 훼손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북한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이탈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주민 </a:t>
            </a:r>
            <a:r>
              <a:rPr sz="2400" b="0">
                <a:solidFill>
                  <a:srgbClr val="262626"/>
                </a:solidFill>
              </a:rPr>
              <a:t>은 가족의 안부조차 모른 채 가족을 그리워하며, 북한 주민들은 생존권마저 위협받는 등 인간 존엄성이 훼손되고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국가 경쟁력 약화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분단은 원활한 무역을 방해하며, 분단 때문에 막대한 국방비를 지출하고 잠재적으로 전쟁 위험이 있는 나라라고 인식되는 등 국가 경쟁력이 약화됨.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이질화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남북한 주민들 간의 언어, 문화 등이 서로 달라져 의사소통에 어려움을 겪고 있으며, 사고방식과 가치관의 차이로 갈등이 생기기도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‘도시락’을 북한에서는 ‘곽밥’이라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훼손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북한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가족의 안부조차 모른 채 가족을 그리워하며, 북한 주민들은 생존권마저 위협받는 등 인간 존엄성이 훼손되고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 경쟁력 약화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분단은 원활한 무역을 방해하며, 분단 때문에 막대한 국방비를 지출하고 잠재적으로 전쟁 위험이 있는 나라라고 인식되는 등 국가 경쟁력이 약화됨.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이질화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남북한 주민들 간의 언어, 문화 등이 서로 달라져 의사소통에 어려움을 겪고 있으며, 사고방식과 가치관의 차이로 갈등이 생기기도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‘도시락’을 북한에서는 ‘곽밥’이라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훼손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북한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가족의 안부조차 모른 채 가족을 그리워하며, 북한 주민들은 생존권마저 위협받는 등 인간 존엄성이 훼손되고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 경쟁력 약화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분단은 원활한 무역을 방해하며, 분단 때문에 막대한 국방비를 지출하고 잠재적으로 전쟁 위험이 있는 나라라고 인식되는 등 국가 경쟁력이 약화됨.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이질화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남북한 주민들 간의 언어, 문화 등이 서로 달라져 의사소통에 어려움을 겪고 있으며, 사고방식과 가치관의 차이로 갈등이 생기기도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‘도시락’을 북한에서는 ‘곽밥’이라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훼손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북한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가족의 안부조차 모른 채 가족을 그리워하며, 북한 주민들은 생존권마저 위협받는 등 인간 존엄성이 훼손되고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 경쟁력 약화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분단은 원활한 무역을 방해하며, 분단 때문에 막대한 국방비를 지출하고 잠재적으로 전쟁 위험이 있는 나라라고 인식되는 등 국가 경쟁력이 약화됨.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이질화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남북한 주민들 간의 언어, 문화 등이 서로 달라져 의사소통에 어려움을 겪고 있으며, 사고방식과 가치관의 차이로 갈등이 생기기도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‘도시락’을 북한에서는 ‘곽밥’이라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훼손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북한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이탈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가족의 안부조차 모른 채 가족을 그리워하며, 북한 주민들은 생존권마저 위협받는 등 인간 존엄성이 훼손되고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 경쟁력 약화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분단은 원활한 무역을 방해하며, 분단 때문에 막대한 국방비를 지출하고 잠재적으로 전쟁 위험이 있는 나라라고 인식되는 등 국가 경쟁력이 약화됨.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이질화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남북한 주민들 간의 언어, 문화 등이 서로 달라져 의사소통에 어려움을 겪고 있으며, 사고방식과 가치관의 차이로 갈등이 생기기도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‘도시락’을 북한에서는 ‘곽밥’이라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훼손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북한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주민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가족의 안부조차 모른 채 가족을 그리워하며, 북한 주민들은 생존권마저 위협받는 등 인간 존엄성이 훼손되고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 경쟁력 약화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분단은 원활한 무역을 방해하며, 분단 때문에 막대한 국방비를 지출하고 잠재적으로 전쟁 위험이 있는 나라라고 인식되는 등 국가 경쟁력이 약화됨.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분단의 문제점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(4) 평화 위협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한반도는 언제든 다시 전쟁이 일어날 수 있는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휴전 </a:t>
            </a:r>
            <a:r>
              <a:rPr sz="2400" b="0">
                <a:solidFill>
                  <a:srgbClr val="262626"/>
                </a:solidFill>
              </a:rPr>
              <a:t> 상태이므로 진정 평화로운 상태가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전쟁이 ‘끝난’ 것이 아니라 ‘쉬고’ 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평화 위협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한반도는 언제든 다시 전쟁이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휴전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상태이므로 진정 평화로운 상태가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전쟁이 ‘끝난’ 것이 아니라 ‘쉬고’ 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평화 위협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한반도는 언제든 다시 전쟁이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휴전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상태이므로 진정 평화로운 상태가 아님.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전쟁이 ‘끝난’ 것이 아니라 ‘쉬고’ 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가치에 기초한 통일의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사회적·문화적 동질성 회복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대립과 갈등, 이질화를 해소하고 동일한 역사와 문화를 공유하여 사회적·문화적 동질성을 회복할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공동 국어사전 『겨레말큰사전』 편찬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인간 존엄성 실현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이산가족과 실향민의 고통을 해결하고, 북한 주민들의 인권을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헤어진 가족이 다시 같은 밥상에 앉는 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국가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공동체 </a:t>
            </a:r>
            <a:r>
              <a:rPr sz="2400" b="1">
                <a:solidFill>
                  <a:srgbClr val="843C0C"/>
                </a:solidFill>
              </a:rPr>
              <a:t> 발전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노동력과 시장 규모 증가, 북한의 노동력 및 지하자원이 남한의 자본 및 기술력과 결합하여 국가 공동체를 발전시킬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북한의 희토류 + 남한의 반도체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동질성 회복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대립과 갈등, 이질화를 해소하고 동일한 역사와 문화를 공유하여 사회적·문화적 동질성을 회복할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남북 공동 국어사전 『겨레말큰사전』 편찬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실현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이산가족과 실향민의 고통을 해결하고, 북한 주민들의 인권을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헤어진 가족이 다시 같은 밥상에 앉는 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발전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노동력과 시장 규모 증가, 북한의 노동력 및 지하자원이 남한의 자본 및 기술력과 결합하여 국가 공동체를 발전시킬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북한의 희토류 + 남한의 반도체 기술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동질성 회복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대립과 갈등, 이질화를 해소하고 동일한 역사와 문화를 공유하여 사회적·문화적 동질성을 회복할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공동 국어사전 『겨레말큰사전』 편찬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실현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이산가족과 실향민의 고통을 해결하고, 북한 주민들의 인권을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헤어진 가족이 다시 같은 밥상에 앉는 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발전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노동력과 시장 규모 증가, 북한의 노동력 및 지하자원이 남한의 자본 및 기술력과 결합하여 국가 공동체를 발전시킬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북한의 희토류 + 남한의 반도체 기술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동질성 회복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대립과 갈등, 이질화를 해소하고 동일한 역사와 문화를 공유하여 사회적·문화적 동질성을 회복할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공동 국어사전 『겨레말큰사전』 편찬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실현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이산가족과 실향민의 고통을 해결하고, 북한 주민들의 인권을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헤어진 가족이 다시 같은 밥상에 앉는 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발전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노동력과 시장 규모 증가, 북한의 노동력 및 지하자원이 남한의 자본 및 기술력과 결합하여 국가 공동체를 발전시킬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북한의 희토류 + 남한의 반도체 기술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동질성 회복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대립과 갈등, 이질화를 해소하고 동일한 역사와 문화를 공유하여 사회적·문화적 동질성을 회복할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공동 국어사전 『겨레말큰사전』 편찬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실현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이산가족과 실향민의 고통을 해결하고, 북한 주민들의 인권을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헤어진 가족이 다시 같은 밥상에 앉는 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공동체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발전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노동력과 시장 규모 증가, 북한의 노동력 및 지하자원이 남한의 자본 및 기술력과 결합하여 국가 공동체를 발전시킬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북한의 희토류 + 남한의 반도체 기술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사회적·문화적 동질성 회복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대립과 갈등, 이질화를 해소하고 동일한 역사와 문화를 공유하여 사회적·문화적 동질성을 회복할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공동 국어사전 『겨레말큰사전』 편찬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인간 존엄성 실현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이산가족과 실향민의 고통을 해결하고, 북한 주민들의 인권을 보장할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헤어진 가족이 다시 같은 밥상에 앉는 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발전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노동력과 시장 규모 증가, 북한의 노동력 및 지하자원이 남한의 자본 및 기술력과 결합하여 국가 공동체를 발전시킬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북한의 희토류 + 남한의 반도체 기술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 smtClean="0">
                <a:solidFill>
                  <a:srgbClr val="FFFF00"/>
                </a:solidFill>
                <a:latin typeface="+mn-ea"/>
              </a:rPr>
              <a:t>도덕적 가치에 기초한 통일의 의미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(4)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평화 </a:t>
            </a:r>
            <a:r>
              <a:rPr sz="2400" b="1">
                <a:solidFill>
                  <a:srgbClr val="843C0C"/>
                </a:solidFill>
              </a:rPr>
              <a:t> 실현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전쟁이 일어날 가능성을 해소하며 나아가 동북아시아와 세계 평화에 이바지할 수 있음.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평화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실현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전쟁이 일어날 가능성을 해소하며 나아가 동북아시아와 세계 평화에 이바지할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“우리의 소원은 통일 꿈에도 소원은 통일”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안석주 작사 · 안병원 작곡(1947)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“통일하면 세금이 늘 텐데, 지금처럼 따로 사는 게 낫지 않아?”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찬성 — 비용과 혼란이 걱정된다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반대 — 분단 비용과 아픔이 더 크다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비용만으로 통일을 판단할 수 있을까?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“통일하면 세금이 늘 텐데, 지금처럼 따로 사는 게 낫지 않아?”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찬성 — 비용과 혼란이 걱정된다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반대 — 분단 비용과 아픔이 더 크다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비용만으로 통일을 판단할 수 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장벽이 열린 밤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1989년 11월 9일 · 독일 베를린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분단 · 1961년부터 베를린 장벽이 동서를 갈랐다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그날 밤 · 여행 자유화 발표가 잘못 전해지자 시민들이 몰려가 문이 열렸다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1990.10.3 · 동독과 서독이 하나가 되었다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 뒤 · 오랫동안 ‘오시(동쪽 사람)’ ‘베시(서쪽 사람)’라는 마음의 벽이 남았다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장벽이 무너지면 통일은 끝난 걸까?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1989년 11월 9일 · 독일 베를린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분단 · 1961년부터 베를린 장벽이 동서를 갈랐다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그날 밤 · 여행 자유화 발표가 잘못 전해지자 시민들이 몰려가 문이 열렸다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1990.10.3 · 동독과 서독이 하나가 되었다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뒤 · 오랫동안 ‘오시(동쪽 사람)’ ‘베시(서쪽 사람)’라는 마음의 벽이 남았다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장벽이 무너지면 통일은 끝난 걸까?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통일 편익은 남북 통합 과정에서 부담해야 할 비용을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분단에 따라 여러 가지 문제가 발생하여 남한만 일방적으로 큰 아픔을 겪고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분단에 따른 여러 문제를 해결하려면 통일이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통일은 단순히 분단 이전의 상태로 되돌아가는 것을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통일 편익은 남북 통합 과정에서 부담해야 할 비용을 의미한다.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분단에 따라 여러 가지 문제가 발생하여 남한만 일방적으로 큰 아픔을 겪고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분단에 따른 여러 문제를 해결하려면 통일이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통일은 단순히 분단 이전의 상태로 되돌아가는 것을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통일 편익은 남북 통합 과정에서 부담해야 할 비용을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분단에 따라 여러 가지 문제가 발생하여 남한만 일방적으로 큰 아픔을 겪고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분단에 따른 여러 문제를 해결하려면 통일이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통일은 단순히 분단 이전의 상태로 되돌아가는 것을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통일 편익은 남북 통합 과정에서 부담해야 할 비용을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분단에 따라 여러 가지 문제가 발생하여 남한만 일방적으로 큰 아픔을 겪고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분단에 따른 여러 문제를 해결하려면 통일이 필요하다.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통일은 단순히 분단 이전의 상태로 되돌아가는 것을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통일 편익은 남북 통합 과정에서 부담해야 할 비용을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분단에 따라 여러 가지 문제가 발생하여 남한만 일방적으로 큰 아픔을 겪고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분단에 따른 여러 문제를 해결하려면 통일이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통일은 단순히 분단 이전의 상태로 되돌아가는 것을 의미한다.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분단의 문제점일까?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이질화 · 존엄성 훼손 · 경쟁력 약화 · 평화 위협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북한에서 온 동료와 말과 사고방식이 달라 힘들다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이질화 (사회적·문화적 이질화)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친구의 엄마는 북한에 남아 만날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존엄성 훼손 (인간 존엄성 훼손)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육로 대신 배와 비행기로 돌아가야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(국가 경쟁력 약화)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경계경보에 주민 500명이 대피했다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평화 위협 (평화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막대한 국방비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(경쟁력 약화)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이질화 · 존엄성 훼손 · 경쟁력 약화 · 평화 위협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북한에서 온 동료와 말과 사고방식이 달라 힘들다</a:t>
            </a:r>
            <a:r>
              <a:rPr sz="2300" b="1">
                <a:solidFill>
                  <a:srgbClr val="C0392B"/>
                </a:solidFill>
              </a:rPr>
              <a:t>   → 이질화 (사회적·문화적 이질화)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친구의 엄마는 북한에 남아 만날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존엄성 훼손 (인간 존엄성 훼손)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육로 대신 배와 비행기로 돌아가야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(국가 경쟁력 약화)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경계경보에 주민 500명이 대피했다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평화 위협 (평화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막대한 국방비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(경쟁력 약화)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이질화 · 존엄성 훼손 · 경쟁력 약화 · 평화 위협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북한에서 온 동료와 말과 사고방식이 달라 힘들다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이질화 (사회적·문화적 이질화)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친구의 엄마는 북한에 남아 만날 수 없다</a:t>
            </a:r>
            <a:r>
              <a:rPr sz="2300" b="1">
                <a:solidFill>
                  <a:srgbClr val="C0392B"/>
                </a:solidFill>
              </a:rPr>
              <a:t>   → 존엄성 훼손 (인간 존엄성 훼손)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육로 대신 배와 비행기로 돌아가야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(국가 경쟁력 약화)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경계경보에 주민 500명이 대피했다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평화 위협 (평화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막대한 국방비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(경쟁력 약화)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이질화 · 존엄성 훼손 · 경쟁력 약화 · 평화 위협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북한에서 온 동료와 말과 사고방식이 달라 힘들다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이질화 (사회적·문화적 이질화)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친구의 엄마는 북한에 남아 만날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존엄성 훼손 (인간 존엄성 훼손)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육로 대신 배와 비행기로 돌아가야 한다</a:t>
            </a:r>
            <a:r>
              <a:rPr sz="2300" b="1">
                <a:solidFill>
                  <a:srgbClr val="C0392B"/>
                </a:solidFill>
              </a:rPr>
              <a:t>   → 경쟁력 약화 (국가 경쟁력 약화)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경계경보에 주민 500명이 대피했다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평화 위협 (평화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막대한 국방비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(경쟁력 약화)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이질화 · 존엄성 훼손 · 경쟁력 약화 · 평화 위협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북한에서 온 동료와 말과 사고방식이 달라 힘들다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이질화 (사회적·문화적 이질화)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친구의 엄마는 북한에 남아 만날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존엄성 훼손 (인간 존엄성 훼손)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육로 대신 배와 비행기로 돌아가야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(국가 경쟁력 약화)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경계경보에 주민 500명이 대피했다</a:t>
            </a:r>
            <a:r>
              <a:rPr sz="2300" b="1">
                <a:solidFill>
                  <a:srgbClr val="C0392B"/>
                </a:solidFill>
              </a:rPr>
              <a:t>   → 평화 위협 (평화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막대한 국방비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(경쟁력 약화)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이질화 · 존엄성 훼손 · 경쟁력 약화 · 평화 위협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북한에서 온 동료와 말과 사고방식이 달라 힘들다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이질화 (사회적·문화적 이질화)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친구의 엄마는 북한에 남아 만날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존엄성 훼손 (인간 존엄성 훼손)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육로 대신 배와 비행기로 돌아가야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경쟁력 약화 (국가 경쟁력 약화)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경계경보에 주민 500명이 대피했다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평화 위협 (평화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막대한 국방비</a:t>
            </a:r>
            <a:r>
              <a:rPr sz="2300" b="1">
                <a:solidFill>
                  <a:srgbClr val="C0392B"/>
                </a:solidFill>
              </a:rPr>
              <a:t>   → 경쟁력 약화 (경쟁력 약화)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 비용 · 분단 비용 · 통일 편익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통일 비용 · 분단 비용 · 통일 편익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남북의 제도를 하나로 맞추는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비용 (통합 과정의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해마다 드는 막대한 안보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(분단을 이어 가는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국토를 효율적으로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(통일로 얻는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전쟁 가능성에 대한 공포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전쟁 위험 감소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 편익)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통일 비용 · 분단 비용 · 통일 편익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남북의 제도를 하나로 맞추는 비용</a:t>
            </a:r>
            <a:r>
              <a:rPr sz="2300" b="1">
                <a:solidFill>
                  <a:srgbClr val="C0392B"/>
                </a:solidFill>
              </a:rPr>
              <a:t>   → 통일 비용 (통합 과정의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해마다 드는 막대한 안보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(분단을 이어 가는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국토를 효율적으로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(통일로 얻는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전쟁 가능성에 대한 공포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전쟁 위험 감소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 편익)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통일 비용 · 분단 비용 · 통일 편익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남북의 제도를 하나로 맞추는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비용 (통합 과정의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해마다 드는 막대한 안보 비용</a:t>
            </a:r>
            <a:r>
              <a:rPr sz="2300" b="1">
                <a:solidFill>
                  <a:srgbClr val="C0392B"/>
                </a:solidFill>
              </a:rPr>
              <a:t>   → 분단 비용 (분단을 이어 가는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국토를 효율적으로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(통일로 얻는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전쟁 가능성에 대한 공포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전쟁 위험 감소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 편익)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통일 비용 · 분단 비용 · 통일 편익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남북의 제도를 하나로 맞추는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비용 (통합 과정의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해마다 드는 막대한 안보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(분단을 이어 가는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국토를 효율적으로 쓰기</a:t>
            </a:r>
            <a:r>
              <a:rPr sz="2300" b="1">
                <a:solidFill>
                  <a:srgbClr val="C0392B"/>
                </a:solidFill>
              </a:rPr>
              <a:t>   → 통일 편익 (통일로 얻는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전쟁 가능성에 대한 공포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전쟁 위험 감소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 편익)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통일 비용 · 분단 비용 · 통일 편익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남북의 제도를 하나로 맞추는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비용 (통합 과정의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해마다 드는 막대한 안보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(분단을 이어 가는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국토를 효율적으로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(통일로 얻는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전쟁 가능성에 대한 공포</a:t>
            </a:r>
            <a:r>
              <a:rPr sz="2300" b="1">
                <a:solidFill>
                  <a:srgbClr val="C0392B"/>
                </a:solidFill>
              </a:rPr>
              <a:t>   → 분단 비용 (분단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전쟁 위험 감소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 편익)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통일 비용 · 분단 비용 · 통일 편익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남북의 제도를 하나로 맞추는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비용 (통합 과정의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해마다 드는 막대한 안보 비용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(분단을 이어 가는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국토를 효율적으로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 편익 (통일로 얻는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전쟁 가능성에 대한 공포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분단 비용 (분단 비용)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전쟁 위험 감소</a:t>
            </a:r>
            <a:r>
              <a:rPr sz="2300" b="1">
                <a:solidFill>
                  <a:srgbClr val="C0392B"/>
                </a:solidFill>
              </a:rPr>
              <a:t>   → 통일 편익 (통일 편익)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‘하나 되어 봄’ 5행시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도덕적 가치에 기초한 통일의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하루빨리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나뉜 땅이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되찾아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어깨를 맞대는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봄이 오기를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</a:t>
            </a:r>
            <a:r>
              <a:rPr sz="2300" b="1">
                <a:solidFill>
                  <a:srgbClr val="C0392B"/>
                </a:solidFill>
              </a:rPr>
              <a:t>   예) 하루빨리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나뉜 땅이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되찾아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어깨를 맞대는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봄이 오기를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하루빨리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</a:t>
            </a:r>
            <a:r>
              <a:rPr sz="2300" b="1">
                <a:solidFill>
                  <a:srgbClr val="C0392B"/>
                </a:solidFill>
              </a:rPr>
              <a:t>   예) 나뉜 땅이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되찾아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어깨를 맞대는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봄이 오기를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하루빨리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나뉜 땅이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되</a:t>
            </a:r>
            <a:r>
              <a:rPr sz="2300" b="1">
                <a:solidFill>
                  <a:srgbClr val="C0392B"/>
                </a:solidFill>
              </a:rPr>
              <a:t>   예) 되찾아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어깨를 맞대는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봄이 오기를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하루빨리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나뉜 땅이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되찾아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</a:t>
            </a:r>
            <a:r>
              <a:rPr sz="2300" b="1">
                <a:solidFill>
                  <a:srgbClr val="C0392B"/>
                </a:solidFill>
              </a:rPr>
              <a:t>   예) 어깨를 맞대는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봄이 오기를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하루빨리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나뉜 땅이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되찾아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어깨를 맞대는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봄</a:t>
            </a:r>
            <a:r>
              <a:rPr sz="2300" b="1">
                <a:solidFill>
                  <a:srgbClr val="C0392B"/>
                </a:solidFill>
              </a:rPr>
              <a:t>   예) 봄이 오기를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8127</TotalTime>
  <Words>1434</Words>
  <Application>Microsoft Office PowerPoint</Application>
  <PresentationFormat>와이드스크린</PresentationFormat>
  <Paragraphs>279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154</cp:revision>
  <cp:lastPrinted>2024-06-05T04:53:22Z</cp:lastPrinted>
  <dcterms:created xsi:type="dcterms:W3CDTF">2023-10-31T05:50:03Z</dcterms:created>
  <dcterms:modified xsi:type="dcterms:W3CDTF">2025-01-14T04:02:29Z</dcterms:modified>
</cp:coreProperties>
</file>