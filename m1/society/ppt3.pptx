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2"/>
  </p:notesMasterIdLst>
  <p:handoutMasterIdLst>
    <p:handoutMasterId r:id="rId23"/>
  </p:handoutMasterIdLst>
  <p:sldIdLst>
    <p:sldId id="363" r:id="rId2"/>
    <p:sldId id="301" r:id="rId3"/>
    <p:sldId id="258" r:id="rId4"/>
    <p:sldId id="305" r:id="rId5"/>
    <p:sldId id="306" r:id="rId6"/>
    <p:sldId id="270" r:id="rId7"/>
    <p:sldId id="260" r:id="rId8"/>
    <p:sldId id="399" r:id="rId29"/>
    <p:sldId id="400" r:id="rId30"/>
    <p:sldId id="387" r:id="rId9"/>
    <p:sldId id="388" r:id="rId10"/>
    <p:sldId id="389" r:id="rId11"/>
    <p:sldId id="390" r:id="rId12"/>
    <p:sldId id="391" r:id="rId13"/>
    <p:sldId id="392" r:id="rId14"/>
    <p:sldId id="395" r:id="rId15"/>
    <p:sldId id="393" r:id="rId16"/>
    <p:sldId id="396" r:id="rId17"/>
    <p:sldId id="397" r:id="rId18"/>
    <p:sldId id="398" r:id="rId19"/>
    <p:sldId id="401" r:id="rId31"/>
    <p:sldId id="402" r:id="rId32"/>
    <p:sldId id="403" r:id="rId33"/>
    <p:sldId id="404" r:id="rId34"/>
    <p:sldId id="291" r:id="rId20"/>
    <p:sldId id="405" r:id="rId35"/>
    <p:sldId id="406" r:id="rId36"/>
    <p:sldId id="407" r:id="rId37"/>
    <p:sldId id="408" r:id="rId38"/>
    <p:sldId id="348" r:id="rId21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8EA"/>
    <a:srgbClr val="A7D8C0"/>
    <a:srgbClr val="BAC0E2"/>
    <a:srgbClr val="FECE7A"/>
    <a:srgbClr val="FFC000"/>
    <a:srgbClr val="C5E0B4"/>
    <a:srgbClr val="BDD7EE"/>
    <a:srgbClr val="C4BBB1"/>
    <a:srgbClr val="E7DFDD"/>
    <a:srgbClr val="E2D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4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52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136쪽 활동</a:t>
            </a:r>
          </a:p>
          <a:p>
            <a:r>
              <a:t>“우리 주변에서 찾아볼 수 있는 다문화 사회의 모습은?” 우리 동네의 예를 찾게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다문화 사회의 모습</a:t>
            </a:r>
          </a:p>
          <a:p>
            <a:r>
              <a:t>법무부 출입국 통계: 2023년 말 체류 외국인 약 250만 명. 결혼 이민자, 이주 노동자, 유학생, 다문화 가정 자녀, 북한 이탈 주민 등 다양한 사람들이 함께 산다.</a:t>
            </a:r>
          </a:p>
          <a:p>
            <a:r>
              <a:t>다문화 사회: 여러 인종·민족·종교·문화를 가진 사람들이 함께 살아가는 사회.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내집단 편향을 비판적으로 검토하지 않으면 다름을 부정적으로 받아들여 외집단에 대한 편견과 차별로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제인 엘리엇의 ‘파란 눈 갈색 눈’ 수업</a:t>
            </a:r>
          </a:p>
          <a:p>
            <a:r>
              <a:t>편견이 얼마나 쉽게 만들어지고, 차별받는 사람의 자신감과 능력까지 해친다는 것을 보여 준 수업. 이후 다큐멘터리 「폭풍 속의 학급」(1970)으로 알려졌다.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 교환</a:t>
            </a:r>
          </a:p>
          <a:p>
            <a:r>
              <a:t>내가 말이 통하지 않는 나라에 전학을 갔다면? 다름은 ‘부족함’이 아니라 다른 경험과 재능일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안의 내집단 편향을 들여다보고, 다른 문화를 보는 관점을 가려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안의 내집단 편향을 들여다보고, 다른 문화를 보는 관점을 가려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안의 내집단 편향을 들여다보고, 다른 문화를 보는 관점을 가려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9.jpeg"/><Relationship Id="rId3" Type="http://schemas.openxmlformats.org/officeDocument/2006/relationships/image" Target="../media/image30.jpe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15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다양한 문화와 종교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다문화 사회에서는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어떤 문제가 발생할까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72788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876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다문화 사회로 변화하는 우리 사회의 모습을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err="1" smtClean="0">
                <a:solidFill>
                  <a:prstClr val="black"/>
                </a:solidFill>
                <a:latin typeface="+mn-ea"/>
              </a:rPr>
              <a:t>외집단에</a:t>
            </a: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 대한 편견을 분석하고 다문화 사회에서 발생하는 문제를 제시할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32" y="1440004"/>
            <a:ext cx="10033317" cy="5308752"/>
          </a:xfrm>
          <a:prstGeom prst="rect">
            <a:avLst/>
          </a:prstGeom>
        </p:spPr>
      </p:pic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109659" y="1571486"/>
            <a:ext cx="1651458" cy="1177311"/>
          </a:xfrm>
          <a:prstGeom prst="ellipse">
            <a:avLst/>
          </a:prstGeom>
          <a:solidFill>
            <a:srgbClr val="FEC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109659" y="1733134"/>
            <a:ext cx="1681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저는 외국에서 살다가</a:t>
            </a:r>
          </a:p>
          <a:p>
            <a:pPr algn="ctr"/>
            <a:r>
              <a:rPr lang="ko-KR" altLang="en-US" sz="1200" dirty="0">
                <a:latin typeface="+mn-ea"/>
              </a:rPr>
              <a:t>직장 때문에 한국에 왔어요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algn="ctr"/>
            <a:r>
              <a:rPr lang="ko-KR" altLang="en-US" sz="1200" dirty="0">
                <a:latin typeface="+mn-ea"/>
              </a:rPr>
              <a:t>한국어로 소통하기</a:t>
            </a:r>
          </a:p>
          <a:p>
            <a:pPr algn="ctr"/>
            <a:r>
              <a:rPr lang="ko-KR" altLang="en-US" sz="1200" dirty="0">
                <a:latin typeface="+mn-ea"/>
              </a:rPr>
              <a:t>쉽지 않네요</a:t>
            </a:r>
            <a:r>
              <a:rPr lang="en-US" altLang="ko-KR" sz="1200" dirty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4315146" y="1906290"/>
            <a:ext cx="1651458" cy="1004155"/>
          </a:xfrm>
          <a:prstGeom prst="ellipse">
            <a:avLst/>
          </a:prstGeom>
          <a:solidFill>
            <a:srgbClr val="BAC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062838" y="1975616"/>
            <a:ext cx="207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저는 국제결혼을</a:t>
            </a:r>
          </a:p>
          <a:p>
            <a:pPr algn="ctr"/>
            <a:r>
              <a:rPr lang="ko-KR" altLang="en-US" sz="1200" dirty="0">
                <a:latin typeface="+mn-ea"/>
              </a:rPr>
              <a:t>하고 남편과 함께 한국에서</a:t>
            </a:r>
          </a:p>
          <a:p>
            <a:pPr algn="ctr"/>
            <a:r>
              <a:rPr lang="ko-KR" altLang="en-US" sz="1200" dirty="0">
                <a:latin typeface="+mn-ea"/>
              </a:rPr>
              <a:t>살고 있어요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한국 음식에</a:t>
            </a:r>
          </a:p>
          <a:p>
            <a:pPr algn="ctr"/>
            <a:r>
              <a:rPr lang="ko-KR" altLang="en-US" sz="1200" dirty="0">
                <a:latin typeface="+mn-ea"/>
              </a:rPr>
              <a:t>관심이 많아요</a:t>
            </a:r>
            <a:r>
              <a:rPr lang="en-US" altLang="ko-KR" sz="12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641164" y="1836964"/>
            <a:ext cx="1651458" cy="1004155"/>
          </a:xfrm>
          <a:prstGeom prst="ellipse">
            <a:avLst/>
          </a:prstGeom>
          <a:solidFill>
            <a:srgbClr val="A7D8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406663" y="1949589"/>
            <a:ext cx="207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저는 아름다운</a:t>
            </a:r>
          </a:p>
          <a:p>
            <a:pPr algn="ctr"/>
            <a:r>
              <a:rPr lang="ko-KR" altLang="en-US" sz="1200" dirty="0">
                <a:latin typeface="+mn-ea"/>
              </a:rPr>
              <a:t>한국어에 매력을 느껴</a:t>
            </a:r>
          </a:p>
          <a:p>
            <a:pPr algn="ctr"/>
            <a:r>
              <a:rPr lang="ko-KR" altLang="en-US" sz="1200" dirty="0">
                <a:latin typeface="+mn-ea"/>
              </a:rPr>
              <a:t>한국어를 더 배우려고</a:t>
            </a:r>
          </a:p>
          <a:p>
            <a:pPr algn="ctr"/>
            <a:r>
              <a:rPr lang="ko-KR" altLang="en-US" sz="1200" dirty="0">
                <a:latin typeface="+mn-ea"/>
              </a:rPr>
              <a:t>한국에 왔어요</a:t>
            </a:r>
            <a:r>
              <a:rPr lang="en-US" altLang="ko-KR" sz="12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8713604" y="1588239"/>
            <a:ext cx="1651458" cy="1004155"/>
          </a:xfrm>
          <a:prstGeom prst="ellipse">
            <a:avLst/>
          </a:prstGeom>
          <a:solidFill>
            <a:srgbClr val="94D8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503113" y="1733134"/>
            <a:ext cx="207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저는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년 전</a:t>
            </a:r>
          </a:p>
          <a:p>
            <a:pPr algn="ctr"/>
            <a:r>
              <a:rPr lang="ko-KR" altLang="en-US" sz="1200" dirty="0">
                <a:latin typeface="+mn-ea"/>
              </a:rPr>
              <a:t>한국에 이민을 왔어요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algn="ctr"/>
            <a:r>
              <a:rPr lang="ko-KR" altLang="en-US" sz="1200" dirty="0">
                <a:latin typeface="+mn-ea"/>
              </a:rPr>
              <a:t>제 자녀들은 한국에서</a:t>
            </a:r>
          </a:p>
          <a:p>
            <a:pPr algn="ctr"/>
            <a:r>
              <a:rPr lang="ko-KR" altLang="en-US" sz="1200" dirty="0">
                <a:latin typeface="+mn-ea"/>
              </a:rPr>
              <a:t>태어났어요</a:t>
            </a:r>
            <a:r>
              <a:rPr lang="en-US" altLang="ko-KR" sz="1200" dirty="0">
                <a:latin typeface="+mn-ea"/>
              </a:rPr>
              <a:t>.</a:t>
            </a:r>
            <a:endParaRPr lang="ko-KR" altLang="en-US" sz="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719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342219"/>
            <a:ext cx="9784141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다양한 문화적 배경을 지닌 이웃들이 많이 살고 있는 것을 보니 우리 사회가 다문화 사회로 변화했음을 알 수 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</a:t>
            </a:r>
            <a:r>
              <a:rPr lang="ko-KR" altLang="en-US" sz="2000" b="1" dirty="0" smtClean="0"/>
              <a:t>그림을 보고 알 수 있는 우리 사회의 모습을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54793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54793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0" y="3293014"/>
            <a:ext cx="11797265" cy="3568159"/>
            <a:chOff x="0" y="3293014"/>
            <a:chExt cx="11797265" cy="356815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3293014"/>
              <a:ext cx="3467819" cy="3564985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031857" y="3296188"/>
              <a:ext cx="2765408" cy="3564985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3321698" y="6159260"/>
              <a:ext cx="5710159" cy="698739"/>
            </a:xfrm>
            <a:prstGeom prst="rect">
              <a:avLst/>
            </a:prstGeom>
            <a:gradFill flip="none" rotWithShape="1">
              <a:gsLst>
                <a:gs pos="0">
                  <a:srgbClr val="C4BBB1"/>
                </a:gs>
                <a:gs pos="50000">
                  <a:srgbClr val="E2DCD7"/>
                </a:gs>
                <a:gs pos="100000">
                  <a:srgbClr val="E7DFD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A429F38-A885-D711-A096-7E0E1CC1C890}"/>
              </a:ext>
            </a:extLst>
          </p:cNvPr>
          <p:cNvSpPr txBox="1"/>
          <p:nvPr/>
        </p:nvSpPr>
        <p:spPr>
          <a:xfrm>
            <a:off x="1707503" y="1436380"/>
            <a:ext cx="90704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서울 이태원동에 있는 ‘이슬람 거리’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울산에 있는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차이나타운’과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같이 우리나라의 곳곳에는 다문화 거리가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이러한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다문화 거리에서는 다양한 피부색을 지닌 사람들과 이국적인 상품 등을 쉽게 만날 수 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고수가 듬뿍 들어간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마라탕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튀르키예의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전통 음식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케밥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등과 같이 예전에는 여행을 가야 먹을 수 있었던 다른 나라의 음식도 이제는 쉽게 맛볼 수 있다</a:t>
            </a:r>
            <a:r>
              <a:rPr lang="en-US" altLang="ko-KR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우리 주변에서 찾아볼 수 있는 다문화 사회의 모습에는 무엇이 있는지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85063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8506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23744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944613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동네에 이슬람 사원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 err="1">
                <a:solidFill>
                  <a:srgbClr val="0070C0"/>
                </a:solidFill>
              </a:rPr>
              <a:t>튀르키예인이</a:t>
            </a:r>
            <a:r>
              <a:rPr lang="ko-KR" altLang="en-US" sz="2400" dirty="0">
                <a:solidFill>
                  <a:srgbClr val="0070C0"/>
                </a:solidFill>
              </a:rPr>
              <a:t> 운영하는 아이스크림 가게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베트남 음식점 등이 있고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옆집에는 외국에서 이민 온 부부가 살고 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다문화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사회로의 변화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다문화 사회</a:t>
            </a:r>
            <a:r>
              <a:rPr lang="en-US" altLang="ko-KR" sz="2400" b="1" dirty="0" smtClean="0"/>
              <a:t>: </a:t>
            </a:r>
            <a:r>
              <a:rPr lang="ko-KR" altLang="en-US" sz="2400" dirty="0" smtClean="0"/>
              <a:t>다양한 </a:t>
            </a:r>
            <a:r>
              <a:rPr lang="ko-KR" altLang="en-US" sz="2400" dirty="0"/>
              <a:t>문화적 배경을 지닌 사람들이 어울려 살아가는 </a:t>
            </a:r>
            <a:r>
              <a:rPr lang="ko-KR" altLang="en-US" sz="2400" dirty="0" smtClean="0"/>
              <a:t>사회</a:t>
            </a:r>
            <a:endParaRPr lang="en-US" altLang="ko-KR" sz="2400" dirty="0" smtClean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다문화 사회로의 변화</a:t>
            </a:r>
            <a:r>
              <a:rPr lang="en-US" altLang="ko-KR" sz="2400" b="1" dirty="0" smtClean="0"/>
              <a:t>: </a:t>
            </a:r>
            <a:r>
              <a:rPr lang="ko-KR" altLang="en-US" sz="2400" dirty="0" smtClean="0"/>
              <a:t>일상에서 </a:t>
            </a:r>
            <a:r>
              <a:rPr lang="ko-KR" altLang="en-US" sz="2400" dirty="0"/>
              <a:t>세계 각국의 문화를 쉽게 접할 수 있고 국적이나 피부색</a:t>
            </a:r>
            <a:r>
              <a:rPr lang="en-US" altLang="ko-KR" sz="2400" dirty="0"/>
              <a:t>, </a:t>
            </a:r>
            <a:r>
              <a:rPr lang="ko-KR" altLang="en-US" sz="2400" dirty="0"/>
              <a:t>언어나 종교가 다른 이웃과 소통할 기회가 많아짐</a:t>
            </a:r>
            <a:r>
              <a:rPr lang="en-US" altLang="ko-KR" sz="2400" dirty="0" smtClean="0"/>
              <a:t>.</a:t>
            </a:r>
          </a:p>
          <a:p>
            <a:pPr marL="360000" algn="just">
              <a:lnSpc>
                <a:spcPct val="150000"/>
              </a:lnSpc>
            </a:pPr>
            <a:r>
              <a:rPr lang="ko-KR" altLang="en-US" sz="2400" dirty="0" smtClean="0"/>
              <a:t>→ 다양한 문화적 배경을 지닌 사람들과 함께 조화롭게 살아가는 방법에 관심을 기울여야 함</a:t>
            </a:r>
            <a:r>
              <a:rPr lang="en-US" altLang="ko-KR" sz="2400" dirty="0" smtClean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다문화 사회로의 변화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52" y="4587673"/>
            <a:ext cx="2975020" cy="21083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40018" y="1596520"/>
            <a:ext cx="8601887" cy="4075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오늘 시원이는 외국에서 전학 온 학급 친구 미카엘의 집에 초대받았다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집에 도착하여 들어가려는데 신발을 벗는 곳이 없어 당황한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시원이에게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미카엘은 웃으며 신발을 신고 들어오라고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신발을 신고 집으로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들어간다니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조금 어색하였다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저녁 식사로 나온 음식 중 향이 강한 음식이 있어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시원이가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머뭇거리자 미카엘은 “나도 처음 김치를 먹었을 때 향과 맛이 강해 놀랐어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라며 웃었다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시원이는 미카엘의 가족이 한국 생활을 하는 동안 겪은 이야기를 들으며 즐거운 시간을 보냈다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9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윗글의 </a:t>
            </a:r>
            <a:r>
              <a:rPr lang="ko-KR" altLang="en-US" sz="2000" b="1" dirty="0" err="1" smtClean="0"/>
              <a:t>시원이처럼</a:t>
            </a:r>
            <a:r>
              <a:rPr lang="ko-KR" altLang="en-US" sz="2000" b="1" dirty="0" smtClean="0"/>
              <a:t> 다른 문화나 종교에 대해 </a:t>
            </a:r>
            <a:r>
              <a:rPr lang="ko-KR" altLang="en-US" sz="2000" b="1" dirty="0"/>
              <a:t>낯</a:t>
            </a:r>
            <a:r>
              <a:rPr lang="ko-KR" altLang="en-US" sz="2000" b="1" dirty="0" smtClean="0"/>
              <a:t>선 감정을 느꼈던 경험이 있다면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85063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8506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23744"/>
            <a:ext cx="10293350" cy="305795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944613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어떤 나라의 장례식에서 사람들이 환호성을 지르고 박수를 치는 장면을 보았다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우리나라의 엄숙한 장례식과 너무 달라 이상한 기분이 들었다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스페인을 여행하던 중 한낮에 더위를 피해 낮잠을 자는 </a:t>
            </a:r>
            <a:r>
              <a:rPr lang="ko-KR" altLang="en-US" sz="2400" dirty="0" err="1">
                <a:solidFill>
                  <a:srgbClr val="0070C0"/>
                </a:solidFill>
              </a:rPr>
              <a:t>시에스타를</a:t>
            </a:r>
            <a:r>
              <a:rPr lang="ko-KR" altLang="en-US" sz="2400" dirty="0">
                <a:solidFill>
                  <a:srgbClr val="0070C0"/>
                </a:solidFill>
              </a:rPr>
              <a:t> 경험하게 되었는데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한창 일할 시간에 낮잠을 잔다는 것이 낯설었다</a:t>
            </a:r>
            <a:r>
              <a:rPr lang="en-US" altLang="ko-KR" sz="2400" dirty="0" smtClean="0">
                <a:solidFill>
                  <a:srgbClr val="0070C0"/>
                </a:solidFill>
              </a:rPr>
              <a:t>.</a:t>
            </a:r>
            <a:endParaRPr lang="en-US" altLang="ko-KR" sz="2400" dirty="0">
              <a:solidFill>
                <a:srgbClr val="0070C0"/>
              </a:solidFill>
            </a:endParaRP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9" y="90736"/>
            <a:ext cx="570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0583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1" y="732169"/>
            <a:ext cx="2920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9" y="90736"/>
            <a:ext cx="570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5875" y="1297272"/>
            <a:ext cx="9695551" cy="5294027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1440933" y="3134723"/>
            <a:ext cx="1785345" cy="8765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92708" y="3134120"/>
            <a:ext cx="168179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latin typeface="+mn-ea"/>
              </a:rPr>
              <a:t>자네는 왜</a:t>
            </a:r>
          </a:p>
          <a:p>
            <a:pPr algn="ctr"/>
            <a:r>
              <a:rPr lang="ko-KR" altLang="en-US" sz="1700" dirty="0">
                <a:latin typeface="+mn-ea"/>
              </a:rPr>
              <a:t>돼지고기를 안 먹나</a:t>
            </a:r>
            <a:r>
              <a:rPr lang="en-US" altLang="ko-KR" sz="1700" dirty="0">
                <a:latin typeface="+mn-ea"/>
              </a:rPr>
              <a:t>?</a:t>
            </a:r>
            <a:endParaRPr lang="ko-KR" altLang="en-US" sz="17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629167" y="1898270"/>
            <a:ext cx="1753716" cy="11296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/>
          <p:cNvSpPr/>
          <p:nvPr/>
        </p:nvSpPr>
        <p:spPr>
          <a:xfrm>
            <a:off x="6326360" y="1423357"/>
            <a:ext cx="2101648" cy="1423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8583283" y="2520926"/>
            <a:ext cx="2277373" cy="18785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419167" y="2051057"/>
            <a:ext cx="212195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latin typeface="+mn-ea"/>
              </a:rPr>
              <a:t>저는 종교적인</a:t>
            </a:r>
          </a:p>
          <a:p>
            <a:pPr algn="ctr"/>
            <a:r>
              <a:rPr lang="ko-KR" altLang="en-US" sz="1700" dirty="0">
                <a:latin typeface="+mn-ea"/>
              </a:rPr>
              <a:t>이유로 돼지고기를</a:t>
            </a:r>
          </a:p>
          <a:p>
            <a:pPr algn="ctr"/>
            <a:r>
              <a:rPr lang="ko-KR" altLang="en-US" sz="1700" dirty="0">
                <a:latin typeface="+mn-ea"/>
              </a:rPr>
              <a:t>먹지 않아요</a:t>
            </a:r>
            <a:r>
              <a:rPr lang="en-US" altLang="ko-KR" sz="1700" dirty="0">
                <a:latin typeface="+mn-ea"/>
              </a:rPr>
              <a:t>.</a:t>
            </a:r>
            <a:endParaRPr lang="ko-KR" altLang="en-US" sz="1700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3141" y="1618386"/>
            <a:ext cx="246808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latin typeface="+mn-ea"/>
              </a:rPr>
              <a:t>돼지고기 요리가</a:t>
            </a:r>
          </a:p>
          <a:p>
            <a:pPr algn="ctr"/>
            <a:r>
              <a:rPr lang="ko-KR" altLang="en-US" sz="1700" dirty="0">
                <a:latin typeface="+mn-ea"/>
              </a:rPr>
              <a:t>얼마나 맛있는데 먹지</a:t>
            </a:r>
          </a:p>
          <a:p>
            <a:pPr algn="ctr"/>
            <a:r>
              <a:rPr lang="ko-KR" altLang="en-US" sz="1700" dirty="0">
                <a:latin typeface="+mn-ea"/>
              </a:rPr>
              <a:t>않는다니</a:t>
            </a:r>
            <a:r>
              <a:rPr lang="en-US" altLang="ko-KR" sz="1700" dirty="0">
                <a:latin typeface="+mn-ea"/>
              </a:rPr>
              <a:t>, </a:t>
            </a:r>
            <a:r>
              <a:rPr lang="ko-KR" altLang="en-US" sz="1700" dirty="0">
                <a:latin typeface="+mn-ea"/>
              </a:rPr>
              <a:t>참 이상한</a:t>
            </a:r>
          </a:p>
          <a:p>
            <a:pPr algn="ctr"/>
            <a:r>
              <a:rPr lang="ko-KR" altLang="en-US" sz="1700" dirty="0" err="1">
                <a:latin typeface="+mn-ea"/>
              </a:rPr>
              <a:t>종교네</a:t>
            </a:r>
            <a:r>
              <a:rPr lang="en-US" altLang="ko-KR" sz="1700" dirty="0">
                <a:latin typeface="+mn-ea"/>
              </a:rPr>
              <a:t>.</a:t>
            </a:r>
            <a:endParaRPr lang="ko-KR" altLang="en-US" sz="17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9370" y="2629202"/>
            <a:ext cx="26558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latin typeface="+mn-ea"/>
              </a:rPr>
              <a:t>한국에 왔으면</a:t>
            </a:r>
          </a:p>
          <a:p>
            <a:pPr algn="ctr"/>
            <a:r>
              <a:rPr lang="ko-KR" altLang="en-US" sz="1700" dirty="0">
                <a:latin typeface="+mn-ea"/>
              </a:rPr>
              <a:t>한국에 맞게 생활 </a:t>
            </a:r>
            <a:endParaRPr lang="en-US" altLang="ko-KR" sz="1700" dirty="0" smtClean="0">
              <a:latin typeface="+mn-ea"/>
            </a:endParaRPr>
          </a:p>
          <a:p>
            <a:pPr algn="ctr"/>
            <a:r>
              <a:rPr lang="ko-KR" altLang="en-US" sz="1700" dirty="0" smtClean="0">
                <a:latin typeface="+mn-ea"/>
              </a:rPr>
              <a:t>방식을 바꿔야지</a:t>
            </a:r>
            <a:r>
              <a:rPr lang="en-US" altLang="ko-KR" sz="1700" dirty="0">
                <a:latin typeface="+mn-ea"/>
              </a:rPr>
              <a:t>. </a:t>
            </a:r>
            <a:endParaRPr lang="en-US" altLang="ko-KR" sz="1700" dirty="0" smtClean="0">
              <a:latin typeface="+mn-ea"/>
            </a:endParaRPr>
          </a:p>
          <a:p>
            <a:pPr algn="ctr"/>
            <a:r>
              <a:rPr lang="ko-KR" altLang="en-US" sz="1700" dirty="0" smtClean="0">
                <a:latin typeface="+mn-ea"/>
              </a:rPr>
              <a:t>종교 </a:t>
            </a:r>
            <a:r>
              <a:rPr lang="ko-KR" altLang="en-US" sz="1700" dirty="0">
                <a:latin typeface="+mn-ea"/>
              </a:rPr>
              <a:t>때문에</a:t>
            </a:r>
          </a:p>
          <a:p>
            <a:pPr algn="ctr"/>
            <a:r>
              <a:rPr lang="ko-KR" altLang="en-US" sz="1700" dirty="0">
                <a:latin typeface="+mn-ea"/>
              </a:rPr>
              <a:t>음식을 먹지 않는다니</a:t>
            </a:r>
          </a:p>
          <a:p>
            <a:pPr algn="ctr"/>
            <a:r>
              <a:rPr lang="ko-KR" altLang="en-US" sz="1700" dirty="0">
                <a:latin typeface="+mn-ea"/>
              </a:rPr>
              <a:t>융통성이 없네</a:t>
            </a:r>
            <a:r>
              <a:rPr lang="en-US" altLang="ko-KR" sz="1700" dirty="0">
                <a:latin typeface="+mn-ea"/>
              </a:rPr>
              <a:t>.</a:t>
            </a:r>
            <a:endParaRPr lang="ko-KR" altLang="en-US" sz="1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714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다른 문화를 바라보는 관점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9" y="90736"/>
            <a:ext cx="570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0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609601" y="3910506"/>
            <a:ext cx="11040932" cy="17249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모서리가 둥근 직사각형 2">
            <a:extLst>
              <a:ext uri="{FF2B5EF4-FFF2-40B4-BE49-F238E27FC236}">
                <a16:creationId xmlns:a16="http://schemas.microsoft.com/office/drawing/2014/main" id="{F7FFB9D2-8D59-34CB-B1DE-304CCE1FF247}"/>
              </a:ext>
            </a:extLst>
          </p:cNvPr>
          <p:cNvSpPr/>
          <p:nvPr/>
        </p:nvSpPr>
        <p:spPr>
          <a:xfrm>
            <a:off x="763534" y="4119973"/>
            <a:ext cx="1364844" cy="13060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자문화</a:t>
            </a:r>
            <a:endParaRPr lang="en-US" altLang="ko-KR" sz="2200" b="1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b="1" spc="-12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중심주의</a:t>
            </a:r>
            <a:endParaRPr lang="ko-KR" altLang="en-US" sz="2200" b="1" spc="-12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44E7EC-AD03-A540-9696-ED7966A74E83}"/>
              </a:ext>
            </a:extLst>
          </p:cNvPr>
          <p:cNvSpPr/>
          <p:nvPr/>
        </p:nvSpPr>
        <p:spPr>
          <a:xfrm>
            <a:off x="2156809" y="3952658"/>
            <a:ext cx="941606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자기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문화를 기준으로 삼아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다른 문화를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바라보고 평가하는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관점을 말한다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이러한 관점을 지니면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문화를 객관적으로 이해하기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힘들고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다른 문화의 고유성을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존중하기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어렵다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76584" y="2142264"/>
            <a:ext cx="11073948" cy="1536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문화를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바라보는 관점에는 크게 자문화 중심주의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 사대주의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 상대주의가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우리는 특정 문화를 기준으로 우열을 가르는 관점이 아닌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문화의 고유성을 존중하는 관점을 지향해야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07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다른 문화를 바라보는 관점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9" y="90736"/>
            <a:ext cx="570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7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609600" y="3657600"/>
            <a:ext cx="11040933" cy="24860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37EFBED-6A47-ADFE-D140-177B97BB995A}"/>
              </a:ext>
            </a:extLst>
          </p:cNvPr>
          <p:cNvSpPr/>
          <p:nvPr/>
        </p:nvSpPr>
        <p:spPr>
          <a:xfrm>
            <a:off x="2156808" y="3584120"/>
            <a:ext cx="94326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문화가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발생한 지역의 자연환경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사회적 맥락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역사적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배경 등을 고려하여 그 사회의 문화를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이해하려는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관점을 말한다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이러한 관점을 지닐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때 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문화의 고유한 의미와 가치를 이해할 수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 상대주의가 극단적으로 흐르면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보편적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가치와 규범을 무시하고 비도덕적인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행위까지 정당화할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위험이 있으므로 경계해야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40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609600" y="1947711"/>
            <a:ext cx="11040933" cy="15498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37EFBED-6A47-ADFE-D140-177B97BB995A}"/>
              </a:ext>
            </a:extLst>
          </p:cNvPr>
          <p:cNvSpPr/>
          <p:nvPr/>
        </p:nvSpPr>
        <p:spPr>
          <a:xfrm>
            <a:off x="2156808" y="1929626"/>
            <a:ext cx="943268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다른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문화를 우수하다고 여기고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 문화를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기준으로 삼아 자기 문화를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바라보고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평가하는 관점을 말한다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이러한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관점을 지니면 자기 문화를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비하하며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고유문화에 대한 자부심을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잃거나 문화의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주체성을 상실할 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F7FFB9D2-8D59-34CB-B1DE-304CCE1FF247}"/>
              </a:ext>
            </a:extLst>
          </p:cNvPr>
          <p:cNvSpPr/>
          <p:nvPr/>
        </p:nvSpPr>
        <p:spPr>
          <a:xfrm>
            <a:off x="763534" y="4119973"/>
            <a:ext cx="1364844" cy="1306042"/>
          </a:xfrm>
          <a:prstGeom prst="round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문화</a:t>
            </a:r>
            <a:endParaRPr lang="en-US" altLang="ko-KR" sz="2200" b="1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b="1" spc="-12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상대주의</a:t>
            </a:r>
            <a:endParaRPr lang="ko-KR" altLang="en-US" sz="2200" b="1" spc="-12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" name="모서리가 둥근 직사각형 2">
            <a:extLst>
              <a:ext uri="{FF2B5EF4-FFF2-40B4-BE49-F238E27FC236}">
                <a16:creationId xmlns:a16="http://schemas.microsoft.com/office/drawing/2014/main" id="{F7FFB9D2-8D59-34CB-B1DE-304CCE1FF247}"/>
              </a:ext>
            </a:extLst>
          </p:cNvPr>
          <p:cNvSpPr/>
          <p:nvPr/>
        </p:nvSpPr>
        <p:spPr>
          <a:xfrm>
            <a:off x="763534" y="2066851"/>
            <a:ext cx="1364844" cy="130604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문화</a:t>
            </a:r>
            <a:endParaRPr lang="en-US" altLang="ko-KR" sz="2200" b="1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b="1" spc="-12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사대주의</a:t>
            </a:r>
            <a:endParaRPr lang="ko-KR" altLang="en-US" sz="2200" b="1" spc="-12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08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194296" y="1413376"/>
            <a:ext cx="9711759" cy="3995384"/>
            <a:chOff x="1194296" y="1413376"/>
            <a:chExt cx="9711759" cy="439914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87693">
              <a:off x="1194296" y="1413376"/>
              <a:ext cx="4975523" cy="4334794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0705">
              <a:off x="5991080" y="1477724"/>
              <a:ext cx="4914975" cy="4334794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482781" y="5360003"/>
            <a:ext cx="929512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난민 </a:t>
            </a:r>
            <a:r>
              <a:rPr lang="ko-KR" altLang="en-US" sz="1600" dirty="0" smtClean="0"/>
              <a:t>인종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종교</a:t>
            </a:r>
            <a:r>
              <a:rPr lang="en-US" altLang="ko-KR" sz="1600" dirty="0"/>
              <a:t>, </a:t>
            </a:r>
            <a:r>
              <a:rPr lang="ko-KR" altLang="en-US" sz="1600" dirty="0"/>
              <a:t>국적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사회 집단의 구성원인 신분 또는 정치적 견해를 이유로 박해 또는 생명의 위협을 받고 있거나 받을 우려가 있어 조국을 떠난 사람들</a:t>
            </a:r>
            <a:endParaRPr lang="en-US" altLang="ko-KR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44302">
            <a:off x="1758468" y="1845097"/>
            <a:ext cx="1183312" cy="60958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625793" y="1805415"/>
            <a:ext cx="87439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외국에서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온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○○ 씨는 난민으로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인정받아 우리나라에서 합법적으로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거주하고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한국 생활에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적응하고자 열심히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노력했지만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쉽지 않았다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180000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“사람들이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‘어쩌다 왔냐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?’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물어봐요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난민’이라고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답하면 싸늘한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눈빛이 돌아옵니다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마치 내가 범죄자이거나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고국을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버린 사람인 것처럼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…….”  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DD8DD49-D646-22FE-F36C-D66ABC844D46}"/>
              </a:ext>
            </a:extLst>
          </p:cNvPr>
          <p:cNvSpPr/>
          <p:nvPr/>
        </p:nvSpPr>
        <p:spPr>
          <a:xfrm>
            <a:off x="6007702" y="1897432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6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1194296" y="1413376"/>
            <a:ext cx="9711759" cy="3995384"/>
            <a:chOff x="1194296" y="1413376"/>
            <a:chExt cx="9711759" cy="4399142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87693">
              <a:off x="1194296" y="1413376"/>
              <a:ext cx="4975523" cy="4334794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0705">
              <a:off x="5991080" y="1477724"/>
              <a:ext cx="4914975" cy="4334794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326230">
            <a:off x="1718774" y="1899857"/>
            <a:ext cx="1336066" cy="500063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1609725" y="1824209"/>
            <a:ext cx="88487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국제결혼으로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한국에 온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△△ 씨는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“많은 사람이 피부색을 보며 내가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태어난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나라가 얼마나 가난한지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아무렇지도 않게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물어봐요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라며 한국 생활의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어려움에 관해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입을 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시댁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식구들에게서 한국의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방식을 무조건 따르라는 요구도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받았다고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집에서 모국어 사용을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금지당해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자식에게도 자신의 모국어를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가르치지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못하였다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110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smtClean="0"/>
              <a:t>내가 만일 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○○ 씨와 △△ 씨라면 어떤 기분일지 써 보자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183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183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81851"/>
            <a:ext cx="10293350" cy="2166797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77888"/>
            <a:ext cx="97841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다르다는 이유로 </a:t>
            </a:r>
            <a:r>
              <a:rPr lang="ko-KR" altLang="en-US" sz="2400" dirty="0" err="1">
                <a:solidFill>
                  <a:srgbClr val="0070C0"/>
                </a:solidFill>
              </a:rPr>
              <a:t>존중받지</a:t>
            </a:r>
            <a:r>
              <a:rPr lang="ko-KR" altLang="en-US" sz="2400" dirty="0">
                <a:solidFill>
                  <a:srgbClr val="0070C0"/>
                </a:solidFill>
              </a:rPr>
              <a:t> 못하고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차가운 시선을 마주할 때마다 위축되고 슬플 것이다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그리고 이방인이 된 것 같아 늘 외롭고 서러울 것이다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701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위와 같은 상황이 지속된다면 우리 사회에 어떤 영향을 미칠지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81851"/>
            <a:ext cx="10293350" cy="2166797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778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사회 구성원들이 서로를 신뢰할 수 없어지고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그로 인해 오해와 갈등이 발생하여 사회 통합에 어려움을 겪을 것이다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183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183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76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다문화 사회에서 발생할 수 있는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DFFC2-40C5-1987-2FF6-40A4F1F44FE6}"/>
              </a:ext>
            </a:extLst>
          </p:cNvPr>
          <p:cNvSpPr txBox="1"/>
          <p:nvPr/>
        </p:nvSpPr>
        <p:spPr>
          <a:xfrm>
            <a:off x="622055" y="1504366"/>
            <a:ext cx="11101243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err="1" smtClean="0">
                <a:solidFill>
                  <a:schemeClr val="accent2">
                    <a:lumMod val="50000"/>
                  </a:schemeClr>
                </a:solidFill>
              </a:rPr>
              <a:t>내집단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 편향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자신이 </a:t>
            </a:r>
            <a:r>
              <a:rPr lang="ko-KR" altLang="en-US" sz="2400" dirty="0"/>
              <a:t>속해 있는 </a:t>
            </a:r>
            <a:r>
              <a:rPr lang="ko-KR" altLang="en-US" sz="2400" dirty="0" err="1" smtClean="0"/>
              <a:t>내집단을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가깝고 친밀하게 여기며 선호하는 반면</a:t>
            </a:r>
            <a:r>
              <a:rPr lang="en-US" altLang="ko-KR" sz="2400" dirty="0"/>
              <a:t>, </a:t>
            </a:r>
            <a:r>
              <a:rPr lang="ko-KR" altLang="en-US" sz="2400" dirty="0"/>
              <a:t>자신이 속해 있지 않은 </a:t>
            </a:r>
            <a:r>
              <a:rPr lang="ko-KR" altLang="en-US" sz="2400" dirty="0" err="1"/>
              <a:t>외집단에게는</a:t>
            </a:r>
            <a:r>
              <a:rPr lang="ko-KR" altLang="en-US" sz="2400" dirty="0"/>
              <a:t> 두려움이나 낯선 감정을 지니며 경계하는 </a:t>
            </a:r>
            <a:r>
              <a:rPr lang="ko-KR" altLang="en-US" sz="2400" dirty="0" smtClean="0"/>
              <a:t>경향 </a:t>
            </a:r>
            <a:endParaRPr lang="en-US" altLang="ko-KR" sz="2400" dirty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err="1" smtClean="0"/>
              <a:t>내집단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편향을 비판적으로 검토하지 않으면 </a:t>
            </a:r>
            <a:r>
              <a:rPr lang="ko-KR" altLang="en-US" sz="2400" dirty="0" err="1"/>
              <a:t>외집단에</a:t>
            </a:r>
            <a:r>
              <a:rPr lang="ko-KR" altLang="en-US" sz="2400" dirty="0"/>
              <a:t> 대한 편견과 차별로 이어질 수 있음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49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다문화 사회에서 발생할 수 있는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DFFC2-40C5-1987-2FF6-40A4F1F44FE6}"/>
              </a:ext>
            </a:extLst>
          </p:cNvPr>
          <p:cNvSpPr txBox="1"/>
          <p:nvPr/>
        </p:nvSpPr>
        <p:spPr>
          <a:xfrm>
            <a:off x="622055" y="1504366"/>
            <a:ext cx="11101243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err="1" smtClean="0">
                <a:solidFill>
                  <a:schemeClr val="accent2">
                    <a:lumMod val="50000"/>
                  </a:schemeClr>
                </a:solidFill>
              </a:rPr>
              <a:t>외집단에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 대한 편견과 차별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 fontAlgn="base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자기와 </a:t>
            </a:r>
            <a:r>
              <a:rPr lang="ko-KR" altLang="en-US" sz="2400" dirty="0"/>
              <a:t>다르다는 이유로 그것이 </a:t>
            </a:r>
            <a:r>
              <a:rPr lang="ko-KR" altLang="en-US" sz="2400" dirty="0" err="1"/>
              <a:t>잘못되었다거나</a:t>
            </a:r>
            <a:r>
              <a:rPr lang="ko-KR" altLang="en-US" sz="2400" dirty="0"/>
              <a:t> 열등하다고 여기는 </a:t>
            </a:r>
            <a:r>
              <a:rPr lang="ko-KR" altLang="en-US" sz="2400" dirty="0" smtClean="0"/>
              <a:t>태도는 바람직하지 않음</a:t>
            </a:r>
            <a:r>
              <a:rPr lang="en-US" altLang="ko-KR" sz="2400" dirty="0" smtClean="0"/>
              <a:t>.</a:t>
            </a:r>
          </a:p>
          <a:p>
            <a:pPr marL="457200" indent="-457200" algn="just" fontAlgn="base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err="1" smtClean="0"/>
              <a:t>외집단에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대한 편견과 차별이 심화하면 다문화 사회 구성원 간의 갈등이 발생하여 사회 통합을 가로막을 수 있음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54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답하면서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내가 다문화 사회의 구성원임을 인식하는가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나와 다른 </a:t>
            </a:r>
            <a:r>
              <a:rPr lang="ko-KR" altLang="en-US" sz="20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외집단을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바라볼 때 편견을 지니지는 않는가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내가 다문화 사회의 구성원임을 인식하고 있었지만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나도 모르게 </a:t>
            </a:r>
            <a:r>
              <a:rPr lang="ko-KR" altLang="en-US" sz="2400" dirty="0" err="1">
                <a:solidFill>
                  <a:srgbClr val="0070C0"/>
                </a:solidFill>
              </a:rPr>
              <a:t>외집단을</a:t>
            </a:r>
            <a:r>
              <a:rPr lang="ko-KR" altLang="en-US" sz="2400" dirty="0">
                <a:solidFill>
                  <a:srgbClr val="0070C0"/>
                </a:solidFill>
              </a:rPr>
              <a:t> 바라볼 때 편견을 지니고 바라보았던 것 같아서 반성하게 되었다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2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040897" y="2086984"/>
            <a:ext cx="9983823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0897" y="3058679"/>
            <a:ext cx="9983823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/>
              <a:t>다음 시간에는</a:t>
            </a:r>
            <a:endParaRPr lang="en-US" altLang="ko-KR" sz="2800" dirty="0"/>
          </a:p>
          <a:p>
            <a:pPr algn="ctr"/>
            <a:endParaRPr lang="en-US" altLang="ko-KR" sz="2800" dirty="0"/>
          </a:p>
          <a:p>
            <a:pPr algn="ctr"/>
            <a:r>
              <a:rPr lang="en-US" altLang="ko-KR" sz="2800" b="1" dirty="0"/>
              <a:t>“02. </a:t>
            </a:r>
            <a:r>
              <a:rPr lang="ko-KR" altLang="en-US" sz="2800" b="1" dirty="0"/>
              <a:t>다양한 문화와 종교가 공존하려면 어떻게 해야 할까</a:t>
            </a:r>
            <a:r>
              <a:rPr lang="en-US" altLang="ko-KR" sz="2800" b="1" dirty="0"/>
              <a:t>?”</a:t>
            </a:r>
            <a:r>
              <a:rPr lang="ko-KR" altLang="en-US" sz="2800" dirty="0"/>
              <a:t>를</a:t>
            </a:r>
            <a:endParaRPr lang="en-US" altLang="ko-KR" sz="2800" dirty="0"/>
          </a:p>
          <a:p>
            <a:pPr algn="ctr"/>
            <a:endParaRPr lang="en-US" altLang="ko-KR" sz="2800" dirty="0"/>
          </a:p>
          <a:p>
            <a:pPr algn="ctr"/>
            <a:r>
              <a:rPr lang="ko-KR" altLang="en-US" sz="2800" dirty="0"/>
              <a:t>배워 보아요</a:t>
            </a:r>
            <a:r>
              <a:rPr lang="en-US" altLang="ko-KR" sz="2800" dirty="0"/>
              <a:t>.</a:t>
            </a:r>
            <a:endParaRPr lang="ko-KR" altLang="en-US" sz="28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다문화 사회로의 변화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다문화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다양한 문화적 배경을 지닌 사람들이 어울려 살아가는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반에도 부모님이 몽골·베트남·필리핀 출신인 친구가 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일상에서 세계 각국의 문화를 쉽게 접하고, 국적이나 피부색, 언어나 종교가 다른 이웃과 소통할 기회도 점점 많아짐.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다양한 문화적 배경을 지닌 사람들과 함께 조화롭게 살아가는 방법에 관심을 기울여야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다문화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문화적 배경을 지닌 사람들이 어울려 살아가는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반에도 부모님이 몽골·베트남·필리핀 출신인 친구가 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일상에서 세계 각국의 문화를 쉽게 접하고, 국적이나 피부색, 언어나 종교가 다른 이웃과 소통할 기회도 점점 많아짐.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다양한 문화적 배경을 지닌 사람들과 함께 조화롭게 살아가는 방법에 관심을 기울여야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사회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문화적 배경을 지닌 사람들이 어울려 살아가는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반에도 부모님이 몽골·베트남·필리핀 출신인 친구가 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일상에서 세계 각국의 문화를 쉽게 접하고, 국적이나 피부색, 언어나 종교가 다른 이웃과 소통할 기회도 점점 많아짐.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다양한 문화적 배경을 지닌 사람들과 함께 조화롭게 살아가는 방법에 관심을 기울여야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문화적 배경을 지닌 사람들이 어울려 살아가는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우리 반에도 부모님이 몽골·베트남·필리핀 출신인 친구가 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일상에서 세계 각국의 문화를 쉽게 접하고, 국적이나 피부색, 언어나 종교가 다른 이웃과 소통할 기회도 점점 많아짐.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다양한 문화적 배경을 지닌 사람들과 함께 조화롭게 살아가는 방법에 관심을 기울여야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우리 곁의 이웃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250만 · 우리나라에 사는 외국인 주민 (2023년 말, 법무부 체류 외국인)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약 5% · 전체 인구 가운데 비율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다문화 사회에서 발생할 수 있는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내집단 </a:t>
            </a:r>
            <a:r>
              <a:rPr sz="2400" b="0">
                <a:solidFill>
                  <a:srgbClr val="262626"/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외집단 </a:t>
            </a:r>
            <a:r>
              <a:rPr sz="2400" b="0">
                <a:solidFill>
                  <a:srgbClr val="262626"/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내집단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편향 </a:t>
            </a:r>
            <a:r>
              <a:rPr sz="2400" b="1">
                <a:solidFill>
                  <a:srgbClr val="843C0C"/>
                </a:solidFill>
              </a:rPr>
              <a:t>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내집단 편향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속해 있으면서 소속감을 느끼는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하고, 자신이 속해 있지 않은 집단을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외집단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옆 반, 상대 학교, 다른 나라 사람들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내집단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내집단을 가깝고 친밀하게 여기며 선호하는 반면, 외집단에게는 두려움이나 낯선 감정을 지니며 경계하는 경향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“팔은 안으로 굽는다” — 같은 반칙도 우리 반이면 괜찮다고 느낀다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내집단 편향을 비판적으로 검토하지 않으면 외집단에 대한 편견과 차별로 이어질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 smtClean="0">
                <a:solidFill>
                  <a:srgbClr val="FFFF00"/>
                </a:solidFill>
                <a:latin typeface="+mn-ea"/>
              </a:rPr>
              <a:t>다문화 사회에서 발생할 수 있는 문제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외집단에 대한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편견 </a:t>
            </a:r>
            <a:r>
              <a:rPr sz="2400" b="1">
                <a:solidFill>
                  <a:srgbClr val="843C0C"/>
                </a:solidFill>
              </a:rPr>
              <a:t>과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통합 </a:t>
            </a:r>
            <a:r>
              <a:rPr sz="2400" b="0">
                <a:solidFill>
                  <a:srgbClr val="262626"/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외집단에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편견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외집단에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외집단에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외집단에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통합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외집단에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자기와 다르다는 이유로 그것이 잘못되었다거나 열등하다고 여기는 태도는 바람직하지 않음.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외집단에 대한 편견과 차별이 심화하면 다문화 사회 구성원 간의 갈등이 발생하여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가로막을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“외국인은 우리 동네에서 나가라” 같은 말이 이웃을 서로 등 돌리게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내집단에 대한 편향된 태도를 경계하고 외집단에 대한 편견과 차별을 비판적으로 성찰해 보아야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파란 눈, 갈색 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1968년 4월 · 미국 아이오와주 라이스빌 초등학교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계기 · 마틴 루서 킹 목사가 암살된 다음 날, 교사 제인 엘리엇이 실험 수업을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첫날 · “파란 눈이 더 똑똑하다” — 파란 눈 아이들이 갈색 눈 친구를 무시하기 시작했다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다음 날 · 역할을 바꾸자 이번엔 갈색 눈 아이들이 그렇게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발견 · 무시당한 날에는 성적도 떨어졌다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하루 만에 편견이 생긴 까닭은?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1968년 4월 · 미국 아이오와주 라이스빌 초등학교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계기 · 마틴 루서 킹 목사가 암살된 다음 날, 교사 제인 엘리엇이 실험 수업을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첫날 · “파란 눈이 더 똑똑하다” — 파란 눈 아이들이 갈색 눈 친구를 무시하기 시작했다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다음 날 · 역할을 바꾸자 이번엔 갈색 눈 아이들이 그렇게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발견 · 무시당한 날에는 성적도 떨어졌다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하루 만에 편견이 생긴 까닭은?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모둠 활동에 한국어가 서툰 전학생이 들어왔다. 모둠 친구가 “점수 깎이겠다”고 투덜거린다.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그냥 둔다 — 사실이니까 어쩔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함께한다 — 역할을 나누고 그림으로 설명한다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전학생의 자리에서 보면?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모둠 활동에 한국어가 서툰 전학생이 들어왔다. 모둠 친구가 “점수 깎이겠다”고 투덜거린다.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그냥 둔다 — 사실이니까 어쩔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함께한다 — 역할을 나누고 그림으로 설명한다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전학생의 자리에서 보면?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우리는 내가 속한 집단을 기준으로 다른 집단을 바라보고는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여러 문화적 배경은 어느 한쪽이 맞거나 틀린 것일 뿐 서로 다른 것이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문화를 바라보는 관점에는 자문화 중심주의와 문화 사대주의만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우리는 문화의 고유성을 존중하는 관점을 지향해야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내가 속한 집단을 기준으로 다른 집단을 바라보고는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여러 문화적 배경은 어느 한쪽이 맞거나 틀린 것일 뿐 서로 다른 것이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문화를 바라보는 관점에는 자문화 중심주의와 문화 사대주의만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우리는 문화의 고유성을 존중하는 관점을 지향해야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내가 속한 집단을 기준으로 다른 집단을 바라보고는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여러 문화적 배경은 어느 한쪽이 맞거나 틀린 것일 뿐 서로 다른 것이 아니다.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문화를 바라보는 관점에는 자문화 중심주의와 문화 사대주의만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우리는 문화의 고유성을 존중하는 관점을 지향해야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내가 속한 집단을 기준으로 다른 집단을 바라보고는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여러 문화적 배경은 어느 한쪽이 맞거나 틀린 것일 뿐 서로 다른 것이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문화를 바라보는 관점에는 자문화 중심주의와 문화 사대주의만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우리는 문화의 고유성을 존중하는 관점을 지향해야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내가 속한 집단을 기준으로 다른 집단을 바라보고는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여러 문화적 배경은 어느 한쪽이 맞거나 틀린 것일 뿐 서로 다른 것이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문화를 바라보는 관점에는 자문화 중심주의와 문화 사대주의만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우리는 문화의 고유성을 존중하는 관점을 지향해야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나는 얼마나 그럴까?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“처음 본 사람을 나라·피부색으로 먼저 판단한다”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““○○ 사람들은 다 그래”라는 말을 듣고 그냥 넘긴다”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“다른 나라 음식이나 옷을 보고 “이상하다”고 느낀다”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전혀 아니다  ① ── ② ── ③ ── ④ ── ⑤  자주 그렇다   (교실 앞 줄에 서 보기)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관점일까?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/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/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/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/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/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/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(문화 상대주의)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자문화 중심주의 · 문화 사대주의 · 문화 상대주의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“돼지고기를 안 먹다니 이상한 종교네.”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(내 문화를 기준으로 평가)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“외국 노래만 세련됐고 우리 노래는 촌스러워.”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(다른 문화를 기준으로 내 문화를 비하)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“더운 나라라서 저런 옷을 입는구나.”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상대주의 (환경과 맥락으로 이해)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“한국에 왔으면 한국 방식만 따라야지.”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자문화 중심주의 (자문화 중심)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“우리 전통 음식은 다 버리고 외국 음식만 먹자.”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문화 사대주의 (주체성 상실)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“손으로 먹는 것도 그 나라의 오랜 식사 예절이구나.”</a:t>
            </a:r>
            <a:r>
              <a:rPr sz="2100" b="1">
                <a:solidFill>
                  <a:srgbClr val="C0392B"/>
                </a:solidFill>
              </a:rPr>
              <a:t>   → 문화 상대주의 (문화 상대주의)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➕ 편견 뒤집기 카드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다문화 사회에서는 어떤 문제가 발생할까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“외국인 노동자는 일자리를 빼앗는다.”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많은 이주 노동자는 사람을 구하기 어려운 공장·농어촌에서 일하며 우리 경제를 함께 떠받친다.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“다문화 가정 아이는 한국어를 못한다.”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대부분 한국에서 태어나 자란 한국 국적의 아이들이다.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“피부색이 다르면 외국인이다.”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피부색과 국적은 다르다. “저도 그냥 다르게 생긴 한국인일 뿐이에요.”(141쪽 혜영이)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“외국인 노동자는 일자리를 빼앗는다.”</a:t>
            </a:r>
            <a:r>
              <a:rPr sz="2300" b="1">
                <a:solidFill>
                  <a:srgbClr val="C0392B"/>
                </a:solidFill>
              </a:rPr>
              <a:t>   → 많은 이주 노동자는 사람을 구하기 어려운 공장·농어촌에서 일하며 우리 경제를 함께 떠받친다.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“다문화 가정 아이는 한국어를 못한다.”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대부분 한국에서 태어나 자란 한국 국적의 아이들이다.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“피부색이 다르면 외국인이다.”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피부색과 국적은 다르다. “저도 그냥 다르게 생긴 한국인일 뿐이에요.”(141쪽 혜영이)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“외국인 노동자는 일자리를 빼앗는다.”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많은 이주 노동자는 사람을 구하기 어려운 공장·농어촌에서 일하며 우리 경제를 함께 떠받친다.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“다문화 가정 아이는 한국어를 못한다.”</a:t>
            </a:r>
            <a:r>
              <a:rPr sz="2300" b="1">
                <a:solidFill>
                  <a:srgbClr val="C0392B"/>
                </a:solidFill>
              </a:rPr>
              <a:t>   → 대부분 한국에서 태어나 자란 한국 국적의 아이들이다.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“피부색이 다르면 외국인이다.”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피부색과 국적은 다르다. “저도 그냥 다르게 생긴 한국인일 뿐이에요.”(141쪽 혜영이)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“외국인 노동자는 일자리를 빼앗는다.”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많은 이주 노동자는 사람을 구하기 어려운 공장·농어촌에서 일하며 우리 경제를 함께 떠받친다.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“다문화 가정 아이는 한국어를 못한다.”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대부분 한국에서 태어나 자란 한국 국적의 아이들이다.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“피부색이 다르면 외국인이다.”</a:t>
            </a:r>
            <a:r>
              <a:rPr sz="2300" b="1">
                <a:solidFill>
                  <a:srgbClr val="C0392B"/>
                </a:solidFill>
              </a:rPr>
              <a:t>   → 피부색과 국적은 다르다. “저도 그냥 다르게 생긴 한국인일 뿐이에요.”(141쪽 혜영이)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8172</TotalTime>
  <Words>1398</Words>
  <Application>Microsoft Office PowerPoint</Application>
  <PresentationFormat>와이드스크린</PresentationFormat>
  <Paragraphs>229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166</cp:revision>
  <cp:lastPrinted>2024-06-05T04:53:22Z</cp:lastPrinted>
  <dcterms:created xsi:type="dcterms:W3CDTF">2023-10-31T05:50:03Z</dcterms:created>
  <dcterms:modified xsi:type="dcterms:W3CDTF">2025-01-14T03:57:29Z</dcterms:modified>
</cp:coreProperties>
</file>