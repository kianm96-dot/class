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258" r:id="rId4"/>
    <p:sldId id="304" r:id="rId5"/>
    <p:sldId id="305" r:id="rId6"/>
    <p:sldId id="306" r:id="rId7"/>
    <p:sldId id="270" r:id="rId8"/>
    <p:sldId id="260" r:id="rId9"/>
    <p:sldId id="396" r:id="rId30"/>
    <p:sldId id="397" r:id="rId31"/>
    <p:sldId id="398" r:id="rId32"/>
    <p:sldId id="307" r:id="rId10"/>
    <p:sldId id="387" r:id="rId11"/>
    <p:sldId id="388" r:id="rId12"/>
    <p:sldId id="389" r:id="rId13"/>
    <p:sldId id="399" r:id="rId33"/>
    <p:sldId id="400" r:id="rId34"/>
    <p:sldId id="401" r:id="rId35"/>
    <p:sldId id="391" r:id="rId14"/>
    <p:sldId id="390" r:id="rId15"/>
    <p:sldId id="392" r:id="rId16"/>
    <p:sldId id="360" r:id="rId17"/>
    <p:sldId id="394" r:id="rId18"/>
    <p:sldId id="393" r:id="rId19"/>
    <p:sldId id="395" r:id="rId20"/>
    <p:sldId id="291" r:id="rId21"/>
    <p:sldId id="402" r:id="rId36"/>
    <p:sldId id="403" r:id="rId37"/>
    <p:sldId id="404" r:id="rId38"/>
    <p:sldId id="405" r:id="rId39"/>
    <p:sldId id="348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4EC"/>
    <a:srgbClr val="4F56A5"/>
    <a:srgbClr val="3B78B4"/>
    <a:srgbClr val="8DA8C6"/>
    <a:srgbClr val="FFF2CC"/>
    <a:srgbClr val="FFFF00"/>
    <a:srgbClr val="FFF9E2"/>
    <a:srgbClr val="FF9300"/>
    <a:srgbClr val="D9E1E9"/>
    <a:srgbClr val="E8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6400" autoAdjust="0"/>
  </p:normalViewPr>
  <p:slideViewPr>
    <p:cSldViewPr snapToGrid="0">
      <p:cViewPr varScale="1">
        <p:scale>
          <a:sx n="115" d="100"/>
          <a:sy n="115" d="100"/>
        </p:scale>
        <p:origin x="702" y="10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120쪽 활동</a:t>
            </a:r>
          </a:p>
          <a:p>
            <a:r>
              <a:t>“이 밖에 우리가 누려야 하는 기본적 권리를 써 보자.” → 활동 화면 1의 권리 카드 순위 매기기와 연결.</a:t>
            </a:r>
          </a:p>
          <a:p>
            <a:r>
              <a:t>다른 사람의 인권을 침해하지 않는 범위에서 자유롭게 누린다.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 · 권리 경매</a:t>
            </a:r>
          </a:p>
          <a:p>
            <a:r>
              <a:t>활동 화면 1의 순위 매기기로 진행. 무엇을 버리기 어려운지 이야기하면 “모두 사람답게 살려면 필요하다”는 결론이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세계 인권 선언(1948)</a:t>
            </a:r>
          </a:p>
          <a:p>
            <a:r>
              <a:t>30개 조항. 12월 10일은 ‘세계 인권의 날’. 법적 구속력은 없지만 각국 헌법과 국제 인권 조약의 바탕이 되었다. 우리 헌법 제10조 “모든 국민은 인간으로서의 존엄과 가치를 가지며…”와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인권은 가까운 곳에서</a:t>
            </a:r>
          </a:p>
          <a:p>
            <a:r>
              <a:t>세계 인권 선언 10주년 연설. 인권은 먼 나라 이야기가 아니라 교실과 동네에서 지켜지는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무인도에 가져갈 권리를 골라 보고, 인권 운동가와 가상 인터뷰를 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무인도에 가져갈 권리를 골라 보고, 인권 운동가와 가상 인터뷰를 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무인도에 가져갈 권리를 골라 보고, 인권 운동가와 가상 인터뷰를 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jpe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jpe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jpe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slide" Target="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microsoft.com/office/2007/relationships/hdphoto" Target="../media/hdphoto1.wdp"/><Relationship Id="rId9" Type="http://schemas.openxmlformats.org/officeDocument/2006/relationships/slide" Target="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microsoft.com/office/2007/relationships/hdphoto" Target="../media/hdphoto1.wd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slide" Target="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인권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80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인권의 의미를 설명할 수 있다</a:t>
            </a:r>
            <a:r>
              <a:rPr lang="en-US" altLang="ko-KR" sz="2800" b="1" dirty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4422"/>
            <a:ext cx="10293350" cy="787400"/>
            <a:chOff x="914400" y="2362200"/>
            <a:chExt cx="10293350" cy="787400"/>
          </a:xfrm>
        </p:grpSpPr>
        <p:sp>
          <p:nvSpPr>
            <p:cNvPr id="39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65544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인권을 존중해야 하는 도덕적 이유를 제시할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76" y="1440004"/>
            <a:ext cx="10058400" cy="5134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685905" y="1720735"/>
            <a:ext cx="1637608" cy="656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552903" y="1720735"/>
            <a:ext cx="1886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0070C0"/>
                </a:solidFill>
                <a:latin typeface="+mn-ea"/>
              </a:rPr>
              <a:t>피부색이 다르다고</a:t>
            </a:r>
            <a:endParaRPr lang="en-US" altLang="ko-KR" sz="1600" b="1" dirty="0" smtClean="0">
              <a:solidFill>
                <a:srgbClr val="0070C0"/>
              </a:solidFill>
              <a:latin typeface="+mn-ea"/>
            </a:endParaRPr>
          </a:p>
          <a:p>
            <a:pPr algn="ctr"/>
            <a:r>
              <a:rPr lang="ko-KR" altLang="en-US" sz="1600" b="1" dirty="0" smtClean="0">
                <a:solidFill>
                  <a:srgbClr val="0070C0"/>
                </a:solidFill>
                <a:latin typeface="+mn-ea"/>
              </a:rPr>
              <a:t>차별하면 안 돼요</a:t>
            </a:r>
            <a:r>
              <a:rPr lang="en-US" altLang="ko-KR" sz="1600" b="1" dirty="0" smtClean="0">
                <a:solidFill>
                  <a:srgbClr val="0070C0"/>
                </a:solidFill>
                <a:latin typeface="+mn-ea"/>
              </a:rPr>
              <a:t>!</a:t>
            </a:r>
            <a:endParaRPr lang="ko-KR" altLang="en-US" sz="16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909" y="1588239"/>
            <a:ext cx="10495182" cy="46035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354796" y="1925194"/>
            <a:ext cx="1637608" cy="1150438"/>
          </a:xfrm>
          <a:prstGeom prst="rect">
            <a:avLst/>
          </a:prstGeom>
          <a:solidFill>
            <a:srgbClr val="EAE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161476" y="1961804"/>
            <a:ext cx="20016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4F56A5"/>
                </a:solidFill>
                <a:latin typeface="+mn-ea"/>
              </a:rPr>
              <a:t>생활이 어려운</a:t>
            </a:r>
            <a:endParaRPr lang="en-US" altLang="ko-KR" sz="1600" b="1" dirty="0" smtClean="0">
              <a:solidFill>
                <a:srgbClr val="4F56A5"/>
              </a:solidFill>
              <a:latin typeface="+mn-ea"/>
            </a:endParaRPr>
          </a:p>
          <a:p>
            <a:pPr algn="ctr"/>
            <a:r>
              <a:rPr lang="ko-KR" altLang="en-US" sz="1600" b="1" dirty="0" smtClean="0">
                <a:solidFill>
                  <a:srgbClr val="4F56A5"/>
                </a:solidFill>
                <a:latin typeface="+mn-ea"/>
              </a:rPr>
              <a:t>어르신께 따뜻하고</a:t>
            </a:r>
            <a:endParaRPr lang="en-US" altLang="ko-KR" sz="1600" b="1" dirty="0" smtClean="0">
              <a:solidFill>
                <a:srgbClr val="4F56A5"/>
              </a:solidFill>
              <a:latin typeface="+mn-ea"/>
            </a:endParaRPr>
          </a:p>
          <a:p>
            <a:pPr algn="ctr"/>
            <a:r>
              <a:rPr lang="ko-KR" altLang="en-US" sz="1600" b="1" dirty="0" smtClean="0">
                <a:solidFill>
                  <a:srgbClr val="4F56A5"/>
                </a:solidFill>
                <a:latin typeface="+mn-ea"/>
              </a:rPr>
              <a:t>건강한 식사를</a:t>
            </a:r>
            <a:endParaRPr lang="en-US" altLang="ko-KR" sz="1600" b="1" dirty="0" smtClean="0">
              <a:solidFill>
                <a:srgbClr val="4F56A5"/>
              </a:solidFill>
              <a:latin typeface="+mn-ea"/>
            </a:endParaRPr>
          </a:p>
          <a:p>
            <a:pPr algn="ctr"/>
            <a:r>
              <a:rPr lang="ko-KR" altLang="en-US" sz="1600" b="1" dirty="0" smtClean="0">
                <a:solidFill>
                  <a:srgbClr val="4F56A5"/>
                </a:solidFill>
                <a:latin typeface="+mn-ea"/>
              </a:rPr>
              <a:t>선물해 주세요</a:t>
            </a:r>
            <a:r>
              <a:rPr lang="en-US" altLang="ko-KR" sz="1600" b="1" dirty="0" smtClean="0">
                <a:solidFill>
                  <a:srgbClr val="4F56A5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87643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387643"/>
            <a:ext cx="97841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</a:rPr>
              <a:t>모든 </a:t>
            </a:r>
            <a:r>
              <a:rPr lang="ko-KR" altLang="en-US" sz="2400" dirty="0">
                <a:solidFill>
                  <a:srgbClr val="0070C0"/>
                </a:solidFill>
              </a:rPr>
              <a:t>사람은 소중하기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</a:rPr>
              <a:t>모두가 </a:t>
            </a:r>
            <a:r>
              <a:rPr lang="ko-KR" altLang="en-US" sz="2400" dirty="0" err="1">
                <a:solidFill>
                  <a:srgbClr val="0070C0"/>
                </a:solidFill>
              </a:rPr>
              <a:t>차별받지</a:t>
            </a:r>
            <a:r>
              <a:rPr lang="ko-KR" altLang="en-US" sz="2400" dirty="0">
                <a:solidFill>
                  <a:srgbClr val="0070C0"/>
                </a:solidFill>
              </a:rPr>
              <a:t> 않아야 하고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누구나 인간답게 살 수 있어야 하기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/>
              <a:t>사람들이 다음과 같은 캠페인을 하는 까닭이 무엇일지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2854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2854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54223" y="1221418"/>
            <a:ext cx="10399772" cy="5636582"/>
            <a:chOff x="854223" y="1221418"/>
            <a:chExt cx="10399772" cy="563658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4223" y="2978536"/>
              <a:ext cx="10058400" cy="3879464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2765" y="1293853"/>
              <a:ext cx="2490347" cy="2077302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59645" y="1478905"/>
              <a:ext cx="227658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모든 사람은</a:t>
              </a:r>
            </a:p>
            <a:p>
              <a:pPr algn="ctr"/>
              <a:r>
                <a:rPr lang="ko-KR" altLang="en-US" dirty="0"/>
                <a:t>최소한의 </a:t>
              </a:r>
              <a:endParaRPr lang="en-US" altLang="ko-KR" dirty="0" smtClean="0"/>
            </a:p>
            <a:p>
              <a:pPr algn="ctr"/>
              <a:r>
                <a:rPr lang="ko-KR" altLang="en-US" dirty="0" smtClean="0"/>
                <a:t>인간다운 삶을 누릴 </a:t>
              </a:r>
              <a:endParaRPr lang="en-US" altLang="ko-KR" dirty="0" smtClean="0"/>
            </a:p>
            <a:p>
              <a:pPr algn="ctr"/>
              <a:r>
                <a:rPr lang="ko-KR" altLang="en-US" dirty="0" smtClean="0"/>
                <a:t>수 </a:t>
              </a:r>
              <a:r>
                <a:rPr lang="ko-KR" altLang="en-US" dirty="0"/>
                <a:t>있어야 해요</a:t>
              </a:r>
              <a:r>
                <a:rPr lang="en-US" altLang="ko-KR" dirty="0"/>
                <a:t>.</a:t>
              </a:r>
              <a:endParaRPr lang="ko-KR" altLang="en-US" dirty="0">
                <a:latin typeface="+mn-ea"/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62080" y="1221418"/>
              <a:ext cx="2490347" cy="1987295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679953" y="1534277"/>
              <a:ext cx="22765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+mn-ea"/>
                </a:rPr>
                <a:t>누구나 자유롭게</a:t>
              </a:r>
            </a:p>
            <a:p>
              <a:pPr algn="ctr"/>
              <a:r>
                <a:rPr lang="ko-KR" altLang="en-US" dirty="0">
                  <a:latin typeface="+mn-ea"/>
                </a:rPr>
                <a:t>자기 생각을 말할 수</a:t>
              </a:r>
            </a:p>
            <a:p>
              <a:pPr algn="ctr"/>
              <a:r>
                <a:rPr lang="ko-KR" altLang="en-US" dirty="0">
                  <a:latin typeface="+mn-ea"/>
                </a:rPr>
                <a:t>있어야 해요</a:t>
              </a:r>
              <a:r>
                <a:rPr lang="en-US" altLang="ko-KR" dirty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170300" y="1293853"/>
              <a:ext cx="2490347" cy="1987295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384011" flipH="1">
              <a:off x="8763648" y="1475496"/>
              <a:ext cx="2490347" cy="198729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6407825" y="1521284"/>
              <a:ext cx="201529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+mn-ea"/>
                </a:rPr>
                <a:t>성별</a:t>
              </a:r>
              <a:r>
                <a:rPr lang="en-US" altLang="ko-KR" dirty="0">
                  <a:latin typeface="+mn-ea"/>
                </a:rPr>
                <a:t>, </a:t>
              </a:r>
              <a:r>
                <a:rPr lang="ko-KR" altLang="en-US" dirty="0">
                  <a:latin typeface="+mn-ea"/>
                </a:rPr>
                <a:t>나이 등으로</a:t>
              </a:r>
            </a:p>
            <a:p>
              <a:pPr algn="ctr"/>
              <a:r>
                <a:rPr lang="ko-KR" altLang="en-US" dirty="0" err="1">
                  <a:latin typeface="+mn-ea"/>
                </a:rPr>
                <a:t>차별받지</a:t>
              </a:r>
              <a:r>
                <a:rPr lang="ko-KR" altLang="en-US" dirty="0">
                  <a:latin typeface="+mn-ea"/>
                </a:rPr>
                <a:t> 않고 </a:t>
              </a:r>
              <a:endParaRPr lang="en-US" altLang="ko-KR" dirty="0" smtClean="0">
                <a:latin typeface="+mn-ea"/>
              </a:endParaRPr>
            </a:p>
            <a:p>
              <a:pPr algn="ctr"/>
              <a:r>
                <a:rPr lang="ko-KR" altLang="en-US" dirty="0" smtClean="0">
                  <a:latin typeface="+mn-ea"/>
                </a:rPr>
                <a:t>평등하게</a:t>
              </a:r>
              <a:endParaRPr lang="ko-KR" altLang="en-US" dirty="0">
                <a:latin typeface="+mn-ea"/>
              </a:endParaRPr>
            </a:p>
            <a:p>
              <a:pPr algn="ctr"/>
              <a:r>
                <a:rPr lang="ko-KR" altLang="en-US" dirty="0">
                  <a:latin typeface="+mn-ea"/>
                </a:rPr>
                <a:t>대우받아야 해요</a:t>
              </a:r>
              <a:r>
                <a:rPr lang="en-US" altLang="ko-KR" dirty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34830" y="1795540"/>
              <a:ext cx="21161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n-ea"/>
                </a:rPr>
                <a:t>안전하게 </a:t>
              </a:r>
              <a:endParaRPr lang="en-US" altLang="ko-KR" dirty="0" smtClean="0">
                <a:latin typeface="+mn-ea"/>
              </a:endParaRPr>
            </a:p>
            <a:p>
              <a:pPr algn="ctr"/>
              <a:r>
                <a:rPr lang="ko-KR" altLang="en-US" dirty="0" smtClean="0">
                  <a:latin typeface="+mn-ea"/>
                </a:rPr>
                <a:t>살 </a:t>
              </a:r>
              <a:r>
                <a:rPr lang="ko-KR" altLang="en-US" dirty="0">
                  <a:latin typeface="+mn-ea"/>
                </a:rPr>
                <a:t>수 있도록</a:t>
              </a:r>
            </a:p>
            <a:p>
              <a:pPr algn="ctr"/>
              <a:r>
                <a:rPr lang="ko-KR" altLang="en-US" dirty="0">
                  <a:latin typeface="+mn-ea"/>
                </a:rPr>
                <a:t>보호받아야 해요</a:t>
              </a:r>
              <a:r>
                <a:rPr lang="en-US" altLang="ko-KR" dirty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8"/>
            <a:ext cx="10293350" cy="243883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깨끗한 환경에서 살아갈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법의 보호를 받을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사생활을 가질 수 있는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사상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양심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종교의 자유를 가질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직업 선택의 자유를 가질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재산을 가질 수 있는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선거에 참여할 수 있는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여가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휴식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문화생활을 누릴 수 있는 권리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사회 보장 제도를 누릴 수 있는 권리 등</a:t>
            </a: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7400" y="1613182"/>
            <a:ext cx="84563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이 밖에 우리가 누려야 하는 기본적 권리를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인권이란</a:t>
            </a:r>
            <a:r>
              <a:rPr lang="en-US" altLang="ko-KR" sz="2800" b="1" dirty="0" smtClean="0">
                <a:solidFill>
                  <a:srgbClr val="FFFF00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958" y="1497776"/>
            <a:ext cx="11049991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인권의 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solidFill>
                  <a:schemeClr val="tx1"/>
                </a:solidFill>
              </a:rPr>
              <a:t>인간이기 때문에 당연히 누려야 하는 기본적 권리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solidFill>
                  <a:schemeClr val="tx1"/>
                </a:solidFill>
              </a:rPr>
              <a:t>최소한의 인간다운 삶을 보장받을 권리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자유를 누릴 권리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평등하게 대우받을 권리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안전하게 살아갈 권리 등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인권의 특성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인권은 언제나 어디서나 누구에게나 보장되어야 한다는 점에서 보편성을 </a:t>
            </a:r>
            <a:r>
              <a:rPr lang="ko-KR" altLang="en-US" sz="2400" dirty="0" smtClean="0"/>
              <a:t>지님</a:t>
            </a:r>
            <a:endParaRPr lang="en-US" altLang="ko-KR" sz="2400" dirty="0" smtClean="0"/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ko-KR" altLang="en-US" b="1" dirty="0" smtClean="0">
                <a:solidFill>
                  <a:schemeClr val="accent6"/>
                </a:solidFill>
              </a:rPr>
              <a:t>보편성 </a:t>
            </a:r>
            <a:r>
              <a:rPr lang="ko-KR" altLang="en-US" sz="1600" dirty="0" smtClean="0"/>
              <a:t>모든 것에 두루 미치거나 통하는 성질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9311879" y="4918954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638191"/>
            <a:ext cx="7043351" cy="3224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840018" y="1596520"/>
            <a:ext cx="8601887" cy="255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 1950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년대 미국 남부에서는 공공시설에서 인종을 분리하는 법에 따라 학교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공원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식당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극장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공동묘지 등에서 흑인과 백인을 분리하였다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앨라배마주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몽고메리시에서도 피부색에 따라 버스의 좌석이 정해졌다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모든 버스의 앞자리는 백인 구역으로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늘 비워 두어야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638191"/>
            <a:ext cx="7043351" cy="3224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840018" y="1596520"/>
            <a:ext cx="8601887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만약 백인 구역이 가득 차 백인이 앉을 자리가 없어지면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버스 운전사는 뒷좌석에 앉아 있는 흑인에게 일어나 백인에게 자리를 양보하라고 명령하였다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흑인이 그 명령을 거부할 경우 체포되어 감옥에 갇히기도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러셀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프리드먼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그들은 자유를 위해 버스를 타지 않았다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005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</a:rPr>
              <a:t>인권을 </a:t>
            </a:r>
            <a:r>
              <a:rPr lang="ko-KR" altLang="en-US" sz="2800" b="1" dirty="0">
                <a:solidFill>
                  <a:srgbClr val="FFFF00"/>
                </a:solidFill>
              </a:rPr>
              <a:t>존중해야 하는 도덕적 </a:t>
            </a:r>
            <a:r>
              <a:rPr lang="ko-KR" altLang="en-US" sz="2800" b="1" dirty="0" smtClean="0">
                <a:solidFill>
                  <a:srgbClr val="FFFF00"/>
                </a:solidFill>
              </a:rPr>
              <a:t>이유</a:t>
            </a:r>
            <a:endParaRPr lang="ko-KR" altLang="en-US" sz="2800" b="1" dirty="0">
              <a:solidFill>
                <a:srgbClr val="FFFF00"/>
              </a:solidFill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DFFC2-40C5-1987-2FF6-40A4F1F44FE6}"/>
              </a:ext>
            </a:extLst>
          </p:cNvPr>
          <p:cNvSpPr txBox="1"/>
          <p:nvPr/>
        </p:nvSpPr>
        <p:spPr>
          <a:xfrm>
            <a:off x="622056" y="1498201"/>
            <a:ext cx="10850724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인간 존엄성을 보장하기 위해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인간 </a:t>
            </a:r>
            <a:r>
              <a:rPr lang="ko-KR" altLang="en-US" sz="2400" dirty="0"/>
              <a:t>존엄성이란 인간이라면 누구나 소중한 존재로 대우받아야 함을 의미하며</a:t>
            </a:r>
            <a:r>
              <a:rPr lang="en-US" altLang="ko-KR" sz="2400" dirty="0"/>
              <a:t>, </a:t>
            </a:r>
            <a:r>
              <a:rPr lang="ko-KR" altLang="en-US" sz="2400" dirty="0"/>
              <a:t>이러한 인간 존엄성은 우리가 인권을 존중함으로써 보장할 수 있음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개인의 행복한 삶을 위해</a:t>
            </a:r>
            <a:endParaRPr lang="en-US" altLang="ko-KR" sz="2400" dirty="0"/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행복한 </a:t>
            </a:r>
            <a:r>
              <a:rPr lang="ko-KR" altLang="en-US" sz="2400" dirty="0"/>
              <a:t>삶을 위한 기본적인 의식주 및</a:t>
            </a:r>
            <a:r>
              <a:rPr lang="en-US" altLang="ko-KR" sz="2400" dirty="0"/>
              <a:t> </a:t>
            </a:r>
            <a:r>
              <a:rPr lang="ko-KR" altLang="en-US" sz="2400" dirty="0"/>
              <a:t>안전한 생활 보장</a:t>
            </a:r>
            <a:r>
              <a:rPr lang="en-US" altLang="ko-KR" sz="2400" dirty="0"/>
              <a:t> </a:t>
            </a:r>
            <a:r>
              <a:rPr lang="ko-KR" altLang="en-US" sz="2400" dirty="0"/>
              <a:t>등은 인권을 존중할 때 이루어질 수 있음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7" name="타원 1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37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</a:rPr>
              <a:t>인권을 </a:t>
            </a:r>
            <a:r>
              <a:rPr lang="ko-KR" altLang="en-US" sz="2800" b="1" dirty="0">
                <a:solidFill>
                  <a:srgbClr val="FFFF00"/>
                </a:solidFill>
              </a:rPr>
              <a:t>존중해야 하는 도덕적 </a:t>
            </a:r>
            <a:r>
              <a:rPr lang="ko-KR" altLang="en-US" sz="2800" b="1" dirty="0" smtClean="0">
                <a:solidFill>
                  <a:srgbClr val="FFFF00"/>
                </a:solidFill>
              </a:rPr>
              <a:t>이유</a:t>
            </a:r>
            <a:endParaRPr lang="ko-KR" altLang="en-US" sz="2800" b="1" dirty="0">
              <a:solidFill>
                <a:srgbClr val="FFFF00"/>
              </a:solidFill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DFFC2-40C5-1987-2FF6-40A4F1F44FE6}"/>
              </a:ext>
            </a:extLst>
          </p:cNvPr>
          <p:cNvSpPr txBox="1"/>
          <p:nvPr/>
        </p:nvSpPr>
        <p:spPr>
          <a:xfrm>
            <a:off x="627093" y="1493834"/>
            <a:ext cx="10850724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바람직한 사회를 만들기 위해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ea typeface="+mn-ea"/>
              </a:rPr>
              <a:t>사회 </a:t>
            </a:r>
            <a:r>
              <a:rPr lang="ko-KR" altLang="en-US" sz="2400" dirty="0">
                <a:ea typeface="+mn-ea"/>
              </a:rPr>
              <a:t>구성원이 서로의 인권을 존중할 때 차별과 갈등을 해소하며 평화롭게 공존할 수 있음</a:t>
            </a:r>
            <a:r>
              <a:rPr lang="en-US" altLang="ko-KR" sz="2400" dirty="0">
                <a:ea typeface="+mn-ea"/>
              </a:rPr>
              <a:t>.</a:t>
            </a: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4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76584" y="1961289"/>
            <a:ext cx="1107394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지금까지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수많은 사람이 인권을 보장하기 위해 노력하고 희생하였다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어떤 노력과 희생이 있었는지 알아보자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576585" y="3090515"/>
            <a:ext cx="11073947" cy="35103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550024" y="5722833"/>
            <a:ext cx="6460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ko-KR" altLang="en-US" b="1" dirty="0" smtClean="0">
                <a:solidFill>
                  <a:schemeClr val="accent6"/>
                </a:solidFill>
              </a:rPr>
              <a:t>참정권 </a:t>
            </a:r>
            <a:r>
              <a:rPr lang="ko-KR" altLang="en-US" sz="1600" dirty="0" smtClean="0"/>
              <a:t>선거권 </a:t>
            </a:r>
            <a:r>
              <a:rPr lang="ko-KR" altLang="en-US" sz="1600" dirty="0"/>
              <a:t>등 국민이 정치에 직접 또는 간접으로 참여하는 </a:t>
            </a:r>
            <a:r>
              <a:rPr lang="ko-KR" altLang="en-US" sz="1600" dirty="0" smtClean="0"/>
              <a:t>권리</a:t>
            </a:r>
            <a:endParaRPr lang="en-US" altLang="ko-KR" sz="1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8B748AA-6B26-D685-943C-CBB285BF798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335" y="4222353"/>
            <a:ext cx="2877561" cy="2378472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44E7EC-AD03-A540-9696-ED7966A74E83}"/>
              </a:ext>
            </a:extLst>
          </p:cNvPr>
          <p:cNvSpPr/>
          <p:nvPr/>
        </p:nvSpPr>
        <p:spPr>
          <a:xfrm>
            <a:off x="3492082" y="3090515"/>
            <a:ext cx="804331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수전 앤서니는 미국의 여성 참정권 운동에 헌신한 인물이다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여성도 똑같은 사람이자 시민이기 때문에 참정권을 보장받아야 한다고 생각하였다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그러나 당시의 법은 여성의 참정권을 인정하지 않았고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이에 항의하는 의미로 투표에 참여하였다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6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모서리가 둥근 직사각형 2">
            <a:extLst>
              <a:ext uri="{FF2B5EF4-FFF2-40B4-BE49-F238E27FC236}">
                <a16:creationId xmlns:a16="http://schemas.microsoft.com/office/drawing/2014/main" id="{F7FFB9D2-8D59-34CB-B1DE-304CCE1FF247}"/>
              </a:ext>
            </a:extLst>
          </p:cNvPr>
          <p:cNvSpPr/>
          <p:nvPr/>
        </p:nvSpPr>
        <p:spPr>
          <a:xfrm>
            <a:off x="1163293" y="3808269"/>
            <a:ext cx="1662544" cy="4140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수전 앤서니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7272163" y="3184894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인권 보장을 위해 싸운 인권 운동가들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971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76584" y="1961289"/>
            <a:ext cx="1107394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지금까지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수많은 사람이 인권을 보장하기 위해 노력하고 희생하였다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어떤 노력과 희생이 있었는지 알아보자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576585" y="3090515"/>
            <a:ext cx="11073947" cy="35103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8B748AA-6B26-D685-943C-CBB285BF798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335" y="4222353"/>
            <a:ext cx="2877561" cy="2378472"/>
          </a:xfrm>
          <a:prstGeom prst="rect">
            <a:avLst/>
          </a:prstGeom>
        </p:spPr>
      </p:pic>
      <p:sp>
        <p:nvSpPr>
          <p:cNvPr id="33" name="모서리가 둥근 직사각형 2">
            <a:extLst>
              <a:ext uri="{FF2B5EF4-FFF2-40B4-BE49-F238E27FC236}">
                <a16:creationId xmlns:a16="http://schemas.microsoft.com/office/drawing/2014/main" id="{F7FFB9D2-8D59-34CB-B1DE-304CCE1FF247}"/>
              </a:ext>
            </a:extLst>
          </p:cNvPr>
          <p:cNvSpPr/>
          <p:nvPr/>
        </p:nvSpPr>
        <p:spPr>
          <a:xfrm>
            <a:off x="1163293" y="3808269"/>
            <a:ext cx="1662544" cy="4140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수전 앤서니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44E7EC-AD03-A540-9696-ED7966A74E83}"/>
              </a:ext>
            </a:extLst>
          </p:cNvPr>
          <p:cNvSpPr/>
          <p:nvPr/>
        </p:nvSpPr>
        <p:spPr>
          <a:xfrm>
            <a:off x="3492082" y="3090515"/>
            <a:ext cx="80433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그리고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불법으로 투표에 참여했다는 이유로 체포되는 등 어려움을 겪었다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그런데도 여성 참정권 보장을 향한 앤서니의 노력은 그치지 않았고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 노력에 힘입어 그의 사망 이후에 여성 참정권이 법으로 허용되었다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pic>
        <p:nvPicPr>
          <p:cNvPr id="3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인권 보장을 위해 싸운 인권 운동가들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564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18">
            <a:extLst>
              <a:ext uri="{FF2B5EF4-FFF2-40B4-BE49-F238E27FC236}">
                <a16:creationId xmlns:a16="http://schemas.microsoft.com/office/drawing/2014/main" id="{5B2A34D7-4049-AC8A-85C8-32707BCEF2E6}"/>
              </a:ext>
            </a:extLst>
          </p:cNvPr>
          <p:cNvSpPr/>
          <p:nvPr/>
        </p:nvSpPr>
        <p:spPr>
          <a:xfrm>
            <a:off x="576585" y="2020374"/>
            <a:ext cx="11073947" cy="45709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E9D1C78-4E5A-1ACE-28E0-B33135F4D8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27090" y="4551979"/>
            <a:ext cx="2560060" cy="2027612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7EFBED-6A47-ADFE-D140-177B97BB995A}"/>
              </a:ext>
            </a:extLst>
          </p:cNvPr>
          <p:cNvSpPr/>
          <p:nvPr/>
        </p:nvSpPr>
        <p:spPr>
          <a:xfrm>
            <a:off x="621089" y="2063291"/>
            <a:ext cx="10873429" cy="1536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폴란드의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야누시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코르차크는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어린이 인권 신장을 위해 힘쓴 인물이다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의사였던 그는 전쟁과 가난으로 고통받는 아이들을 보며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교육에 헌신하기로 결심한다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유대인 아이들을 위한 보육원의 원장이 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코르차크는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어린이를 존중해야 한다는 신념에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따라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모서리가 둥근 직사각형 36">
            <a:extLst>
              <a:ext uri="{FF2B5EF4-FFF2-40B4-BE49-F238E27FC236}">
                <a16:creationId xmlns:a16="http://schemas.microsoft.com/office/drawing/2014/main" id="{75BBC6FE-4F49-074B-7707-96DF29DD3440}"/>
              </a:ext>
            </a:extLst>
          </p:cNvPr>
          <p:cNvSpPr/>
          <p:nvPr/>
        </p:nvSpPr>
        <p:spPr>
          <a:xfrm>
            <a:off x="9322525" y="3867722"/>
            <a:ext cx="2093473" cy="41665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야누시</a:t>
            </a:r>
            <a:r>
              <a:rPr lang="ko-KR" altLang="en-US" sz="2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b="1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코르차크</a:t>
            </a:r>
            <a:endParaRPr lang="ko-KR" altLang="en-US" sz="20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타원 16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7EFBED-6A47-ADFE-D140-177B97BB995A}"/>
              </a:ext>
            </a:extLst>
          </p:cNvPr>
          <p:cNvSpPr/>
          <p:nvPr/>
        </p:nvSpPr>
        <p:spPr>
          <a:xfrm>
            <a:off x="617705" y="3547123"/>
            <a:ext cx="828639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아이들을 돌보았다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나치의 유대인 말살 정책이 심해지자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코르차크를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존경하는 사람들은 그를 구하려 애썼다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하지만 그는 모든 제안을 거절하고 자신이 돌보던 아이들과 함께 수용소로 향했고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결국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코르차크는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수용소에서 목숨을 잃었다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이후 그의 사상은 아동의 기본적 권리를 밝힌 ‘아동 권리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협약’의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토대가 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인권 보장을 위해 싸운 인권 운동가들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38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인권 운동가와 가상 인터뷰 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82262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82262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04442" y="2793955"/>
            <a:ext cx="10293350" cy="33659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2630" y="2814825"/>
            <a:ext cx="9784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고른 인권 운동가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넬슨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만델라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그가 한 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그는 남아프리카 공화국의 인종 차별 정책인 ‘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아파르트헤이트’를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없애기 위하여 노력하였다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감옥에 수십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년간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수감되는 등의 어려움이 있었지만 계속해서 흑인 인권 운동을 전개했고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 노력 끝에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아파르트헤이트를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철폐하고 노벨 평화상을 수상하기도 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그리고 남아프리카 공화국 최초의 흑인 대통령이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smtClean="0"/>
              <a:t>가상 인터뷰를 하고 싶은 인권 운동가를 고르고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그가 어떤 일을 했는지 찾아보자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인권 운동가와 가상 인터뷰 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331" y="1707669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855" y="1707669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8289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 smtClean="0"/>
              <a:t>에서 고른 인권 운동가와의 가상 인터뷰를 완성해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9" name="사각형 설명선 47">
            <a:extLst>
              <a:ext uri="{FF2B5EF4-FFF2-40B4-BE49-F238E27FC236}">
                <a16:creationId xmlns:a16="http://schemas.microsoft.com/office/drawing/2014/main" id="{2C2D1620-4B62-35EB-1B2B-502E85A8E9C5}"/>
              </a:ext>
            </a:extLst>
          </p:cNvPr>
          <p:cNvSpPr/>
          <p:nvPr/>
        </p:nvSpPr>
        <p:spPr>
          <a:xfrm>
            <a:off x="1644440" y="4093816"/>
            <a:ext cx="8403205" cy="2082865"/>
          </a:xfrm>
          <a:prstGeom prst="wedgeRectCallout">
            <a:avLst>
              <a:gd name="adj1" fmla="val 55451"/>
              <a:gd name="adj2" fmla="val -32937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1B9809F-28D5-9761-F879-62FF6DE5A9F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0"/>
          <a:stretch/>
        </p:blipFill>
        <p:spPr>
          <a:xfrm flipH="1">
            <a:off x="242867" y="2459224"/>
            <a:ext cx="1266826" cy="22249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5AAF27-840D-E671-A3DD-FC451BF20114}"/>
              </a:ext>
            </a:extLst>
          </p:cNvPr>
          <p:cNvSpPr txBox="1"/>
          <p:nvPr/>
        </p:nvSpPr>
        <p:spPr>
          <a:xfrm>
            <a:off x="1703446" y="3927965"/>
            <a:ext cx="81998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안녕하세요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저는 인권을 보장하기 위해   </a:t>
            </a:r>
            <a:r>
              <a:rPr lang="en-US" altLang="ko-KR" sz="2400" dirty="0" smtClean="0"/>
              <a:t>_________________________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US" altLang="ko-KR" sz="2400" dirty="0" smtClean="0"/>
              <a:t>_____________________________________________________________</a:t>
            </a:r>
            <a:endParaRPr lang="en-US" altLang="ko-KR" sz="2400" dirty="0"/>
          </a:p>
          <a:p>
            <a:pPr algn="just">
              <a:lnSpc>
                <a:spcPct val="200000"/>
              </a:lnSpc>
            </a:pPr>
            <a:r>
              <a:rPr lang="en-US" altLang="ko-KR" sz="2400" dirty="0"/>
              <a:t>_</a:t>
            </a:r>
            <a:r>
              <a:rPr lang="en-US" altLang="ko-KR" sz="2400" dirty="0">
                <a:solidFill>
                  <a:schemeClr val="tx1"/>
                </a:solidFill>
              </a:rPr>
              <a:t>__________________________</a:t>
            </a:r>
            <a:r>
              <a:rPr lang="en-US" altLang="ko-KR" sz="2400" dirty="0"/>
              <a:t>__</a:t>
            </a:r>
            <a:r>
              <a:rPr lang="en-US" altLang="ko-KR" sz="2400" dirty="0">
                <a:solidFill>
                  <a:schemeClr val="tx1"/>
                </a:solidFill>
              </a:rPr>
              <a:t>__</a:t>
            </a:r>
            <a:r>
              <a:rPr lang="ko-KR" altLang="en-US" sz="2000" dirty="0"/>
              <a:t>과</a:t>
            </a:r>
            <a:r>
              <a:rPr lang="en-US" altLang="ko-KR" sz="2000" dirty="0"/>
              <a:t>/</a:t>
            </a:r>
            <a:r>
              <a:rPr lang="ko-KR" altLang="en-US" sz="2000" dirty="0"/>
              <a:t>와 같은 노력을 하였습니다</a:t>
            </a:r>
            <a:r>
              <a:rPr lang="en-US" altLang="ko-KR" sz="2000" dirty="0"/>
              <a:t>.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32" name="사각형 설명선 33">
            <a:extLst>
              <a:ext uri="{FF2B5EF4-FFF2-40B4-BE49-F238E27FC236}">
                <a16:creationId xmlns:a16="http://schemas.microsoft.com/office/drawing/2014/main" id="{FDC892A8-3202-C781-9A65-5FC1175B7726}"/>
              </a:ext>
            </a:extLst>
          </p:cNvPr>
          <p:cNvSpPr/>
          <p:nvPr/>
        </p:nvSpPr>
        <p:spPr>
          <a:xfrm>
            <a:off x="1644442" y="2474035"/>
            <a:ext cx="8403204" cy="1496623"/>
          </a:xfrm>
          <a:prstGeom prst="wedgeRectCallout">
            <a:avLst>
              <a:gd name="adj1" fmla="val -53456"/>
              <a:gd name="adj2" fmla="val -249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CDE8A-4CB1-21CF-96C2-54185001F633}"/>
              </a:ext>
            </a:extLst>
          </p:cNvPr>
          <p:cNvSpPr txBox="1"/>
          <p:nvPr/>
        </p:nvSpPr>
        <p:spPr>
          <a:xfrm>
            <a:off x="1762449" y="2493330"/>
            <a:ext cx="8206303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</a:rPr>
              <a:t>오늘은 인권 운동가 </a:t>
            </a:r>
            <a:r>
              <a:rPr lang="en-US" altLang="ko-KR" sz="2000" dirty="0">
                <a:solidFill>
                  <a:schemeClr val="tx1"/>
                </a:solidFill>
              </a:rPr>
              <a:t>_______________ </a:t>
            </a:r>
            <a:r>
              <a:rPr lang="ko-KR" altLang="en-US" sz="2000" dirty="0">
                <a:solidFill>
                  <a:schemeClr val="tx1"/>
                </a:solidFill>
              </a:rPr>
              <a:t>님을 모시고 인권에 관해 이야기해 보겠습니다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  <a:r>
              <a:rPr lang="ko-KR" altLang="en-US" sz="2000" dirty="0">
                <a:solidFill>
                  <a:schemeClr val="tx1"/>
                </a:solidFill>
              </a:rPr>
              <a:t>안</a:t>
            </a:r>
            <a:r>
              <a:rPr lang="ko-KR" altLang="en-US" sz="2000" dirty="0"/>
              <a:t>녕하세요</a:t>
            </a:r>
            <a:r>
              <a:rPr lang="en-US" altLang="ko-KR" sz="2000" dirty="0"/>
              <a:t>. </a:t>
            </a:r>
            <a:r>
              <a:rPr lang="ko-KR" altLang="en-US" sz="2000" dirty="0"/>
              <a:t>만나 뵙게 되어 반갑습니다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인권 보장을 위해 어떤 일을 하셨는지 설명 부탁드립니다</a:t>
            </a:r>
            <a:r>
              <a:rPr lang="en-US" altLang="ko-KR" sz="2000" dirty="0"/>
              <a:t>.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02337EA-6549-D70E-1B52-336FAE8C26A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53" b="100000" l="9901" r="89769">
                        <a14:foregroundMark x1="41254" y1="79455" x2="41254" y2="79455"/>
                        <a14:foregroundMark x1="58416" y1="57652" x2="58416" y2="57652"/>
                        <a14:foregroundMark x1="26403" y1="70440" x2="26403" y2="70440"/>
                        <a14:foregroundMark x1="42244" y1="85325" x2="42244" y2="85325"/>
                        <a14:foregroundMark x1="48515" y1="88889" x2="48515" y2="88889"/>
                        <a14:foregroundMark x1="34983" y1="88889" x2="34983" y2="88889"/>
                        <a14:foregroundMark x1="32013" y1="84067" x2="32013" y2="84067"/>
                        <a14:foregroundMark x1="50165" y1="84067" x2="50165" y2="840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03249" y="3699687"/>
            <a:ext cx="1724764" cy="271451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29750" y="2378611"/>
            <a:ext cx="1857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넬슨 </a:t>
            </a:r>
            <a:r>
              <a:rPr lang="ko-KR" altLang="en-US" sz="2400" dirty="0" err="1" smtClean="0">
                <a:solidFill>
                  <a:srgbClr val="0070C0"/>
                </a:solidFill>
                <a:latin typeface="+mn-ea"/>
              </a:rPr>
              <a:t>만델라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44440" y="4868712"/>
            <a:ext cx="837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70C0"/>
                </a:solidFill>
              </a:rPr>
              <a:t>인종 차별 정책인 ‘</a:t>
            </a:r>
            <a:r>
              <a:rPr lang="ko-KR" altLang="en-US" sz="2400" dirty="0" err="1">
                <a:solidFill>
                  <a:srgbClr val="0070C0"/>
                </a:solidFill>
              </a:rPr>
              <a:t>아파르트헤이트’를</a:t>
            </a:r>
            <a:r>
              <a:rPr lang="ko-KR" altLang="en-US" sz="2400" dirty="0">
                <a:solidFill>
                  <a:srgbClr val="0070C0"/>
                </a:solidFill>
              </a:rPr>
              <a:t> 없애기 위한 투쟁하기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9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53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35" grpId="0"/>
      <p:bldP spid="3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인권 운동가와 가상 인터뷰 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331" y="1707669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855" y="1707669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83470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 smtClean="0"/>
              <a:t>에서 고른 인권 운동가와의 가상 인터뷰를 완성해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9" name="사각형 설명선 47">
            <a:extLst>
              <a:ext uri="{FF2B5EF4-FFF2-40B4-BE49-F238E27FC236}">
                <a16:creationId xmlns:a16="http://schemas.microsoft.com/office/drawing/2014/main" id="{2C2D1620-4B62-35EB-1B2B-502E85A8E9C5}"/>
              </a:ext>
            </a:extLst>
          </p:cNvPr>
          <p:cNvSpPr/>
          <p:nvPr/>
        </p:nvSpPr>
        <p:spPr>
          <a:xfrm>
            <a:off x="1644440" y="4093816"/>
            <a:ext cx="8403205" cy="2082865"/>
          </a:xfrm>
          <a:prstGeom prst="wedgeRectCallout">
            <a:avLst>
              <a:gd name="adj1" fmla="val 55451"/>
              <a:gd name="adj2" fmla="val -32937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1B9809F-28D5-9761-F879-62FF6DE5A9F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0"/>
          <a:stretch/>
        </p:blipFill>
        <p:spPr>
          <a:xfrm flipH="1">
            <a:off x="242867" y="2459224"/>
            <a:ext cx="1266826" cy="22249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5AAF27-840D-E671-A3DD-FC451BF20114}"/>
              </a:ext>
            </a:extLst>
          </p:cNvPr>
          <p:cNvSpPr txBox="1"/>
          <p:nvPr/>
        </p:nvSpPr>
        <p:spPr>
          <a:xfrm>
            <a:off x="1703446" y="4113111"/>
            <a:ext cx="8199802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 smtClean="0"/>
              <a:t>_____________________________________________________________</a:t>
            </a:r>
            <a:endParaRPr lang="en-US" altLang="ko-KR" sz="2400" dirty="0"/>
          </a:p>
          <a:p>
            <a:pPr algn="just">
              <a:lnSpc>
                <a:spcPct val="150000"/>
              </a:lnSpc>
            </a:pPr>
            <a:r>
              <a:rPr lang="en-US" altLang="ko-KR" sz="2400" dirty="0" smtClean="0"/>
              <a:t>_____________________________________________________________</a:t>
            </a:r>
            <a:endParaRPr lang="en-US" altLang="ko-KR" sz="2400" dirty="0"/>
          </a:p>
          <a:p>
            <a:pPr algn="just">
              <a:lnSpc>
                <a:spcPct val="150000"/>
              </a:lnSpc>
            </a:pPr>
            <a:r>
              <a:rPr lang="en-US" altLang="ko-KR" sz="2400" dirty="0" smtClean="0"/>
              <a:t>_</a:t>
            </a:r>
            <a:r>
              <a:rPr lang="en-US" altLang="ko-KR" sz="2400" dirty="0" smtClean="0">
                <a:solidFill>
                  <a:schemeClr val="tx1"/>
                </a:solidFill>
              </a:rPr>
              <a:t>_________________________________________________</a:t>
            </a:r>
            <a:r>
              <a:rPr lang="en-US" altLang="ko-KR" sz="2400" dirty="0" smtClean="0"/>
              <a:t>_</a:t>
            </a:r>
            <a:r>
              <a:rPr lang="ko-KR" altLang="en-US" sz="2000" dirty="0" smtClean="0"/>
              <a:t>때문입니다</a:t>
            </a:r>
            <a:r>
              <a:rPr lang="en-US" altLang="ko-KR" sz="2000" dirty="0" smtClean="0"/>
              <a:t>.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32" name="사각형 설명선 33">
            <a:extLst>
              <a:ext uri="{FF2B5EF4-FFF2-40B4-BE49-F238E27FC236}">
                <a16:creationId xmlns:a16="http://schemas.microsoft.com/office/drawing/2014/main" id="{FDC892A8-3202-C781-9A65-5FC1175B7726}"/>
              </a:ext>
            </a:extLst>
          </p:cNvPr>
          <p:cNvSpPr/>
          <p:nvPr/>
        </p:nvSpPr>
        <p:spPr>
          <a:xfrm>
            <a:off x="1644442" y="2474035"/>
            <a:ext cx="8403204" cy="1496623"/>
          </a:xfrm>
          <a:prstGeom prst="wedgeRectCallout">
            <a:avLst>
              <a:gd name="adj1" fmla="val -53456"/>
              <a:gd name="adj2" fmla="val -249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CDE8A-4CB1-21CF-96C2-54185001F633}"/>
              </a:ext>
            </a:extLst>
          </p:cNvPr>
          <p:cNvSpPr txBox="1"/>
          <p:nvPr/>
        </p:nvSpPr>
        <p:spPr>
          <a:xfrm>
            <a:off x="1762449" y="2493330"/>
            <a:ext cx="820630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/>
              <a:t>인권을 보장하기 위해 많은 일을 하셨군요</a:t>
            </a:r>
            <a:r>
              <a:rPr lang="en-US" altLang="ko-KR" sz="2000" dirty="0"/>
              <a:t>. </a:t>
            </a:r>
            <a:r>
              <a:rPr lang="ko-KR" altLang="en-US" sz="2000" dirty="0"/>
              <a:t>어려운 일도 많았을 텐데 포기하지 않고 노력하신 까닭은 무엇인가요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02337EA-6549-D70E-1B52-336FAE8C26A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53" b="100000" l="9901" r="89769">
                        <a14:foregroundMark x1="41254" y1="79455" x2="41254" y2="79455"/>
                        <a14:foregroundMark x1="58416" y1="57652" x2="58416" y2="57652"/>
                        <a14:foregroundMark x1="26403" y1="70440" x2="26403" y2="70440"/>
                        <a14:foregroundMark x1="42244" y1="85325" x2="42244" y2="85325"/>
                        <a14:foregroundMark x1="48515" y1="88889" x2="48515" y2="88889"/>
                        <a14:foregroundMark x1="34983" y1="88889" x2="34983" y2="88889"/>
                        <a14:foregroundMark x1="32013" y1="84067" x2="32013" y2="84067"/>
                        <a14:foregroundMark x1="50165" y1="84067" x2="50165" y2="840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03249" y="3699687"/>
            <a:ext cx="1724764" cy="271451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0039" y="4093816"/>
            <a:ext cx="8199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사람은 피부색에 따라 </a:t>
            </a:r>
            <a:r>
              <a:rPr lang="ko-KR" altLang="en-US" sz="2400" dirty="0" err="1">
                <a:solidFill>
                  <a:srgbClr val="0070C0"/>
                </a:solidFill>
              </a:rPr>
              <a:t>차별받아서는</a:t>
            </a:r>
            <a:r>
              <a:rPr lang="ko-KR" altLang="en-US" sz="2400" dirty="0">
                <a:solidFill>
                  <a:srgbClr val="0070C0"/>
                </a:solidFill>
              </a:rPr>
              <a:t> 안 되고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인종에 관계없이 누구나 자유와 평등을 누리며 인권을 보장받는 것이 중요하다고 생각했기</a:t>
            </a: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8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인권 운동가와 가상 인터뷰 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331" y="1707669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855" y="1707669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8505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 smtClean="0"/>
              <a:t>에서 고른 인권 운동가와의 가상 인터뷰를 완성해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1B9809F-28D5-9761-F879-62FF6DE5A9F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0"/>
          <a:stretch/>
        </p:blipFill>
        <p:spPr>
          <a:xfrm flipH="1">
            <a:off x="242867" y="2459224"/>
            <a:ext cx="1266826" cy="222499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644440" y="3683131"/>
            <a:ext cx="8403206" cy="200597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 설명선 33">
            <a:extLst>
              <a:ext uri="{FF2B5EF4-FFF2-40B4-BE49-F238E27FC236}">
                <a16:creationId xmlns:a16="http://schemas.microsoft.com/office/drawing/2014/main" id="{FDC892A8-3202-C781-9A65-5FC1175B7726}"/>
              </a:ext>
            </a:extLst>
          </p:cNvPr>
          <p:cNvSpPr/>
          <p:nvPr/>
        </p:nvSpPr>
        <p:spPr>
          <a:xfrm>
            <a:off x="1644442" y="2474035"/>
            <a:ext cx="8403204" cy="1496623"/>
          </a:xfrm>
          <a:prstGeom prst="wedgeRectCallout">
            <a:avLst>
              <a:gd name="adj1" fmla="val -53456"/>
              <a:gd name="adj2" fmla="val -249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CDE8A-4CB1-21CF-96C2-54185001F633}"/>
              </a:ext>
            </a:extLst>
          </p:cNvPr>
          <p:cNvSpPr txBox="1"/>
          <p:nvPr/>
        </p:nvSpPr>
        <p:spPr>
          <a:xfrm>
            <a:off x="1759340" y="2495497"/>
            <a:ext cx="8206303" cy="317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/>
              <a:t>인터뷰를 하면서 다시 한번 인권의 소중함을 느낍니다</a:t>
            </a:r>
            <a:r>
              <a:rPr lang="en-US" altLang="ko-KR" sz="2000" dirty="0"/>
              <a:t>. </a:t>
            </a:r>
            <a:r>
              <a:rPr lang="ko-KR" altLang="en-US" sz="2000" dirty="0"/>
              <a:t>저도 </a:t>
            </a:r>
            <a:r>
              <a:rPr lang="ko-KR" altLang="en-US" sz="2000" dirty="0" smtClean="0"/>
              <a:t>앞으로 </a:t>
            </a:r>
            <a:r>
              <a:rPr lang="en-US" altLang="ko-KR" sz="2400" dirty="0" smtClean="0"/>
              <a:t>_________________________________________________________________________________________________________________</a:t>
            </a:r>
            <a:r>
              <a:rPr lang="ko-KR" altLang="en-US" sz="2000" dirty="0" smtClean="0"/>
              <a:t>을</a:t>
            </a:r>
            <a:r>
              <a:rPr lang="en-US" altLang="ko-KR" sz="2000" dirty="0"/>
              <a:t>/</a:t>
            </a:r>
            <a:r>
              <a:rPr lang="ko-KR" altLang="en-US" sz="2000" dirty="0"/>
              <a:t>를 위해</a:t>
            </a:r>
            <a:endParaRPr lang="en-US" altLang="ko-KR" sz="2000" dirty="0"/>
          </a:p>
          <a:p>
            <a:pPr algn="just">
              <a:lnSpc>
                <a:spcPct val="150000"/>
              </a:lnSpc>
            </a:pPr>
            <a:r>
              <a:rPr lang="en-US" altLang="ko-KR" sz="2400" dirty="0"/>
              <a:t>______________________________________________________________________________________________________________</a:t>
            </a:r>
            <a:r>
              <a:rPr lang="ko-KR" altLang="en-US" sz="2000" dirty="0" smtClean="0"/>
              <a:t>과</a:t>
            </a:r>
            <a:r>
              <a:rPr lang="en-US" altLang="ko-KR" sz="2000" dirty="0"/>
              <a:t>/</a:t>
            </a:r>
            <a:r>
              <a:rPr lang="ko-KR" altLang="en-US" sz="2000" dirty="0"/>
              <a:t>와 같은 노력을 해야겠다고 다짐해 봅니다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752606" y="2925389"/>
            <a:ext cx="4279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모든 사람의 동등한 인권 보장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52606" y="3992120"/>
            <a:ext cx="837384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나와 다른 인종에 대한 편견을 버리고 다가가기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타원 26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4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35" grpId="0"/>
      <p:bldP spid="3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답하면서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인권을 존중해야 하는 도덕적 이유를 설명할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나의 </a:t>
            </a:r>
            <a:r>
              <a:rPr lang="ko-KR" altLang="en-US" sz="2000" dirty="0" err="1">
                <a:latin typeface="굴림" panose="020B0600000101010101" pitchFamily="50" charset="-127"/>
                <a:ea typeface="굴림" panose="020B0600000101010101" pitchFamily="50" charset="-127"/>
              </a:rPr>
              <a:t>인권뿐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 아니라 다른 사람의 인권도 존중하는가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인권을 존중해야 하는 도덕적 이유를 설명할 수 있게 되었다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앞으로 나의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인권뿐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아니라 다른 사람의 인권도 존중하기 위해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2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인권 침해의 원인과 그 해결 방안은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인권이란?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인권 </a:t>
            </a:r>
            <a:r>
              <a:rPr sz="2400" b="0">
                <a:solidFill>
                  <a:srgbClr val="262626"/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보편성 </a:t>
            </a:r>
            <a:r>
              <a:rPr sz="2400" b="0">
                <a:solidFill>
                  <a:srgbClr val="262626"/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대통령의 인권과 노숙인의 인권은 크기가 같다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인권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대통령의 인권과 노숙인의 인권은 크기가 같다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대통령의 인권과 노숙인의 인권은 크기가 같다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대통령의 인권과 노숙인의 인권은 크기가 같다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보편성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대통령의 인권과 노숙인의 인권은 크기가 같다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인권의 의미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이란 인간이기 때문에 당연히 누려야 하는 기본적 권리를 말함.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전학 온 친구도, 외국인 노동자도, 나도 똑같이 지닌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최소한의 인간다운 삶을 보장받을 권리, 자유를 누릴 권리, 평등하게 대우받을 권리, 안전하게 살아갈 권리 등의 다양한 기본적 권리가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배고프지 않을 권리, 말할 자유, 차별받지 않을 권리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인권의 특성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인권은 언제나 어디서나 누구에게나 보장되어야 한다는 점에서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이라는 특성을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대통령의 인권과 노숙인의 인권은 크기가 같다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인권이란?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우리는 다른 사람의 인권을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침해 </a:t>
            </a:r>
            <a:r>
              <a:rPr sz="2400" b="0">
                <a:solidFill>
                  <a:srgbClr val="262626"/>
                </a:solidFill>
              </a:rPr>
              <a:t>하지 않는 범위 내에서 자유롭게 인권을 누릴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말할 자유가 있어도 남을 모욕하는 댓글은 쓸 수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우리는 다른 사람의 인권을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침해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않는 범위 내에서 자유롭게 인권을 누릴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말할 자유가 있어도 남을 모욕하는 댓글은 쓸 수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우리는 다른 사람의 인권을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침해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않는 범위 내에서 자유롭게 인권을 누릴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말할 자유가 있어도 남을 모욕하는 댓글은 쓸 수 없다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무인도에 가져갈 권리 카드 3장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카드 · 생명 · 자유 · 교육 · 표현 · 휴식 · 평등 · 안전 · 사생활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질문 · 버리기 가장 어려운 카드는?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인권을 존중해야 하는 도덕적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존엄성 </a:t>
            </a:r>
            <a:r>
              <a:rPr sz="2400" b="1">
                <a:solidFill>
                  <a:srgbClr val="843C0C"/>
                </a:solidFill>
              </a:rPr>
              <a:t>을 보장하기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개인의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행복 </a:t>
            </a:r>
            <a:r>
              <a:rPr sz="2400" b="1">
                <a:solidFill>
                  <a:srgbClr val="843C0C"/>
                </a:solidFill>
              </a:rPr>
              <a:t>한 삶을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바람직한 사회를 만들기 위해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차별 </a:t>
            </a:r>
            <a:r>
              <a:rPr sz="2400" b="0">
                <a:solidFill>
                  <a:srgbClr val="262626"/>
                </a:solidFill>
              </a:rPr>
              <a:t>과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갈등 </a:t>
            </a:r>
            <a:r>
              <a:rPr sz="2400" b="0">
                <a:solidFill>
                  <a:srgbClr val="262626"/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휠체어 경사로가 생기자 유모차도, 할머니도 편해졌다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을 보장하기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 존엄성이란 인간이라면 누구나 소중한 존재로 대우받아야 함을 의미하며, 이러한 인간 존엄성은 인권을 존중함으로써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 점수가 낮아도 교실에서 무시당해서는 안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한 삶을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행복한 삶을 위한 기본적인 의식주 및 안전한 생활 보장 등은 인권을 존중할 때 이루어질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안전한 통학로가 있어야 마음 놓고 학교에 간다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바람직한 사회를 만들기 위해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 구성원이 서로의 인권을 존중할 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해소하며 평화롭게 공존할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휠체어 경사로가 생기자 유모차도, 할머니도 편해졌다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세계 인권 선언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1948년 12월 10일 · 프랑스 파리, 국제 연합(UN) 총회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배경 · 두 차례 세계 대전에서 수많은 사람이 목숨과 존엄을 잃었다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만든 이 · 엘리너 루스벨트가 위원장을 맡은 유엔 인권 위원회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채택 · 찬성 48, 반대 0, 기권 8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제1조 · 모든 인간은 태어날 때부터 자유롭고, 존엄성과 권리에 있어 평등하다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왜 하필 전쟁이 끝난 뒤에 만들었을까?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1948년 12월 10일 · 프랑스 파리, 국제 연합(UN) 총회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배경 · 두 차례 세계 대전에서 수많은 사람이 목숨과 존엄을 잃었다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만든 이 · 엘리너 루스벨트가 위원장을 맡은 유엔 인권 위원회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채택 · 찬성 48, 반대 0, 기권 8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제1조 · 모든 인간은 태어날 때부터 자유롭고, 존엄성과 권리에 있어 평등하다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왜 하필 전쟁이 끝난 뒤에 만들었을까?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“인권은 어디에서 시작될까요? 집 가까운 작은 곳, 너무 작아 지도에도 보이지 않는 곳에서”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엘리너 루스벨트, 유엔 연설(1958)의 뜻을 풀어 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우리 동네, 우리 학교, 우리 교실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생긴 모습이나 생각은 달라도 우리는 모두 소중한 존재이며 인권을 지닌다는 공통점이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인권은 어떤 조건을 지니고 있기 때문에 누릴 수 있는 특권이다.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사람이라면 누구나 인간 존엄성을 동등하게 보장받아야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구성원들이 서로 신뢰하기 어려우며, 차별이 발생할 수 있는 사회는 바람직한 공동체라고 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지금까지 수많은 사람이 인권을 보장하기 위해 노력하고 희생하였다.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 smtClean="0">
                <a:solidFill>
                  <a:srgbClr val="FFFF00"/>
                </a:solidFill>
                <a:latin typeface="+mn-ea"/>
              </a:rPr>
              <a:t>가장 버리기 어려운 권리부터 순위 매기기 (120쪽과 연결)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중요한 순서대로 번호를 매겨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인간다운 삶을 누릴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자유롭게 생각을 말할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평등하게 대우받을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안전하게 살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교육받을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쉴 권리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사생활 보호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인권을 존중해야 하는 어떤 이유일까?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밥과 집, 안전이 보장되어야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(신뢰와 협력)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/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밥과 집, 안전이 보장되어야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(신뢰와 협력)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/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밥과 집, 안전이 보장되어야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(신뢰와 협력)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/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밥과 집, 안전이 보장되어야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(신뢰와 협력)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밥과 집, 안전이 보장되어야 한다</a:t>
            </a:r>
            <a:r>
              <a:rPr sz="2300" b="1">
                <a:solidFill>
                  <a:srgbClr val="C0392B"/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(신뢰와 협력)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인간 존엄성 · 행복한 삶 · 바람직한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피부색으로 버스 자리를 나누는 것은 사람을 깎아내린다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인간 존엄성 (누구나 소중하게 대우받아야)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 뜻대로 진로를 고를 수 있어야 행복하다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(자유로운 선택)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서로의 인권을 지키면 차별과 갈등이 줄어든다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바람직한 사회 (평화로운 공존)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밥과 집, 안전이 보장되어야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행복한 삶 (기본적인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모두가 존중받는 사회에서 서로 믿고 협력한다</a:t>
            </a:r>
            <a:r>
              <a:rPr sz="2300" b="1">
                <a:solidFill>
                  <a:srgbClr val="C0392B"/>
                </a:solidFill>
              </a:rPr>
              <a:t>   → 바람직한 사회 (신뢰와 협력)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가상 인터뷰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인권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인권을 존중해야 하는 도덕적 이유는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노력을 하셨나요?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(코르차크) 전쟁으로 고통받는 유대인 아이들을 돌보며 어린이도 존중받아야 한다고 가르쳤습니다.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포기하지 않은 까닭은?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어린이도 어른과 똑같이 존엄한 사람이니까요.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나의 다짐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저도 동생의 의견을 무시하지 않겠습니다.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노력을 하셨나요?</a:t>
            </a:r>
            <a:r>
              <a:rPr sz="2300" b="1">
                <a:solidFill>
                  <a:srgbClr val="C0392B"/>
                </a:solidFill>
              </a:rPr>
              <a:t>   예) (코르차크) 전쟁으로 고통받는 유대인 아이들을 돌보며 어린이도 존중받아야 한다고 가르쳤습니다.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포기하지 않은 까닭은?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어린이도 어른과 똑같이 존엄한 사람이니까요.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다짐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저도 동생의 의견을 무시하지 않겠습니다.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노력을 하셨나요?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(코르차크) 전쟁으로 고통받는 유대인 아이들을 돌보며 어린이도 존중받아야 한다고 가르쳤습니다.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포기하지 않은 까닭은?</a:t>
            </a:r>
            <a:r>
              <a:rPr sz="2300" b="1">
                <a:solidFill>
                  <a:srgbClr val="C0392B"/>
                </a:solidFill>
              </a:rPr>
              <a:t>   예) 어린이도 어른과 똑같이 존엄한 사람이니까요.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다짐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저도 동생의 의견을 무시하지 않겠습니다.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노력을 하셨나요?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(코르차크) 전쟁으로 고통받는 유대인 아이들을 돌보며 어린이도 존중받아야 한다고 가르쳤습니다.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포기하지 않은 까닭은?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어린이도 어른과 똑같이 존엄한 사람이니까요.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다짐</a:t>
            </a:r>
            <a:r>
              <a:rPr sz="2300" b="1">
                <a:solidFill>
                  <a:srgbClr val="C0392B"/>
                </a:solidFill>
              </a:rPr>
              <a:t>   예) 저도 동생의 의견을 무시하지 않겠습니다.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8151</TotalTime>
  <Words>1404</Words>
  <Application>Microsoft Office PowerPoint</Application>
  <PresentationFormat>와이드스크린</PresentationFormat>
  <Paragraphs>239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162</cp:revision>
  <cp:lastPrinted>2024-06-05T04:53:22Z</cp:lastPrinted>
  <dcterms:created xsi:type="dcterms:W3CDTF">2023-10-31T05:50:03Z</dcterms:created>
  <dcterms:modified xsi:type="dcterms:W3CDTF">2025-01-14T03:54:19Z</dcterms:modified>
</cp:coreProperties>
</file>