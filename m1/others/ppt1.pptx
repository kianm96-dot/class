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4"/>
  </p:notesMasterIdLst>
  <p:handoutMasterIdLst>
    <p:handoutMasterId r:id="rId25"/>
  </p:handoutMasterIdLst>
  <p:sldIdLst>
    <p:sldId id="302" r:id="rId2"/>
    <p:sldId id="301" r:id="rId3"/>
    <p:sldId id="258" r:id="rId4"/>
    <p:sldId id="304" r:id="rId5"/>
    <p:sldId id="305" r:id="rId6"/>
    <p:sldId id="404" r:id="rId37"/>
    <p:sldId id="405" r:id="rId38"/>
    <p:sldId id="390" r:id="rId7"/>
    <p:sldId id="388" r:id="rId8"/>
    <p:sldId id="398" r:id="rId31"/>
    <p:sldId id="306" r:id="rId9"/>
    <p:sldId id="270" r:id="rId10"/>
    <p:sldId id="387" r:id="rId11"/>
    <p:sldId id="360" r:id="rId12"/>
    <p:sldId id="389" r:id="rId13"/>
    <p:sldId id="260" r:id="rId14"/>
    <p:sldId id="399" r:id="rId32"/>
    <p:sldId id="400" r:id="rId33"/>
    <p:sldId id="307" r:id="rId15"/>
    <p:sldId id="396" r:id="rId16"/>
    <p:sldId id="397" r:id="rId17"/>
    <p:sldId id="308" r:id="rId18"/>
    <p:sldId id="394" r:id="rId19"/>
    <p:sldId id="395" r:id="rId20"/>
    <p:sldId id="391" r:id="rId21"/>
    <p:sldId id="401" r:id="rId34"/>
    <p:sldId id="402" r:id="rId35"/>
    <p:sldId id="403" r:id="rId36"/>
    <p:sldId id="354" r:id="rId22"/>
    <p:sldId id="406" r:id="rId39"/>
    <p:sldId id="407" r:id="rId40"/>
    <p:sldId id="408" r:id="rId41"/>
    <p:sldId id="409" r:id="rId42"/>
    <p:sldId id="348" r:id="rId23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9300"/>
    <a:srgbClr val="FFFF00"/>
    <a:srgbClr val="D9E1E9"/>
    <a:srgbClr val="E8F6FD"/>
    <a:srgbClr val="F0FFF6"/>
    <a:srgbClr val="019BFF"/>
    <a:srgbClr val="FFF7EE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648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915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전통 윤리 속 가정</a:t>
            </a:r>
          </a:p>
          <a:p>
            <a:r>
              <a:t>오륜의 첫째 부자유친. ‘친(親)’은 친밀함과 사랑. 한쪽이 일방적으로 따르는 관계가 아니라 서로 아끼는 관계.</a:t>
            </a:r>
          </a:p>
          <a:p>
            <a:r>
              <a:t>형제자매 사이의 우애, 부부 사이의 존중도 함께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 온 뒤에 땅이 굳는다</a:t>
            </a:r>
          </a:p>
          <a:p>
            <a:r>
              <a:t>갈등을 잘 해결하면 가족 사이가 더 돈독해진다. 갈등을 피하기보다 더 행복한 가정을 만드는 발판으로.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64쪽 날개</a:t>
            </a:r>
          </a:p>
          <a:p>
            <a:r>
              <a:t>조손: 조부모와 손주가 함께 / 다문화: 다양한 문화적 배경 / 한 부모: 부모 중 한 사람이 자녀를 기름 / 입양: 혈연은 아니지만 법률적으로 부모·자녀 관계.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갈등 장면 읽기</a:t>
            </a:r>
          </a:p>
          <a:p>
            <a:r>
              <a:t>가정에서 가장 흔한 갈등 중 하나. 두 사람 모두 나쁜 사람이 아니다. 엄마는 걱정, 민지는 인정과 자율을 바랐다.</a:t>
            </a:r>
          </a:p>
          <a:p>
            <a:r>
              <a:t>발문 “같은 장면을 엄마의 입장에서 다시 말해 볼까?” → 다음 시간 ‘나-전달법’으로 다시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마음 열기 · 3분</a:t>
            </a:r>
          </a:p>
          <a:p>
            <a:r>
              <a:t>손을 들게 하지 말고 활동 화면의 투표로 익명에 가깝게 센다. 어떤 답이든 괜찮다고 먼저 말해 준다.</a:t>
            </a:r>
          </a:p>
          <a:p>
            <a:r>
              <a:t>발문 “편하게 느껴질 때는 언제, 답답할 때는 언제?” → 가정의 두 얼굴(쉼터이자 갈등의 장소)로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통계</a:t>
            </a:r>
          </a:p>
          <a:p>
            <a:r>
              <a:t>통계청 「2023 인구주택총조사」: 1인 가구가 전체의 35.5%로 가장 많은 유형이다.</a:t>
            </a:r>
          </a:p>
          <a:p>
            <a:r>
              <a:t>발문 “혼자 사는 사람에게도 ‘가정’이 있을까?” → 떨어져 사는 가족, 마음을 나누는 사람들. 가정의 형태는 바뀌어도 가정이 하는 일은 여전히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집에 들어갈 때 나의 마음, 그리고 교과서의 세 가지 갈등 원인을 짚어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집에 들어갈 때 나의 마음, 그리고 교과서의 세 가지 갈등 원인을 짚어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집에 들어갈 때 나의 마음, 그리고 교과서의 세 가지 갈등 원인을 짚어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9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1.png"/><Relationship Id="rId6" Type="http://schemas.openxmlformats.org/officeDocument/2006/relationships/slide" Target="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" Target="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" Target="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en-US" altLang="ko-KR" sz="2800" b="1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smtClean="0">
                <a:solidFill>
                  <a:schemeClr val="bg1"/>
                </a:solidFill>
                <a:latin typeface="+mj-ea"/>
                <a:ea typeface="+mj-ea"/>
              </a:rPr>
              <a:t>가정 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>
                <a:ln w="22225">
                  <a:noFill/>
                  <a:prstDash val="solid"/>
                </a:ln>
                <a:latin typeface="+mj-ea"/>
                <a:ea typeface="+mj-ea"/>
              </a:rPr>
              <a:t>가정이란 무엇이며</a:t>
            </a:r>
            <a:r>
              <a:rPr lang="en-US" altLang="ko-KR" sz="5400" b="1">
                <a:ln w="22225">
                  <a:noFill/>
                  <a:prstDash val="solid"/>
                </a:ln>
                <a:latin typeface="+mj-ea"/>
                <a:ea typeface="+mj-ea"/>
              </a:rPr>
              <a:t>, </a:t>
            </a:r>
            <a:r>
              <a:rPr lang="ko-KR" altLang="en-US" sz="5400" b="1">
                <a:ln w="22225">
                  <a:noFill/>
                  <a:prstDash val="solid"/>
                </a:ln>
                <a:latin typeface="+mj-ea"/>
                <a:ea typeface="+mj-ea"/>
              </a:rPr>
              <a:t>어떤 갈등이 발생할 수 있을까</a:t>
            </a:r>
            <a:r>
              <a:rPr lang="en-US" altLang="ko-KR" sz="5400" b="1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>
                <a:solidFill>
                  <a:prstClr val="black"/>
                </a:solidFill>
                <a:latin typeface="+mn-ea"/>
              </a:rPr>
              <a:t>가정의 의미와 도덕적 기능을 설명할 수 있다</a:t>
            </a:r>
            <a:r>
              <a:rPr lang="en-US" altLang="ko-KR" sz="2800" b="1">
                <a:solidFill>
                  <a:prstClr val="black"/>
                </a:solidFill>
                <a:latin typeface="+mn-ea"/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884606"/>
            <a:ext cx="10293350" cy="787400"/>
            <a:chOff x="914400" y="2362200"/>
            <a:chExt cx="10293350" cy="787400"/>
          </a:xfrm>
        </p:grpSpPr>
        <p:sp>
          <p:nvSpPr>
            <p:cNvPr id="24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844122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>
                <a:solidFill>
                  <a:prstClr val="black"/>
                </a:solidFill>
                <a:latin typeface="+mn-ea"/>
              </a:rPr>
              <a:t>가정에서 발생하는 갈등과 그 원인을 제시할 수 있다</a:t>
            </a:r>
            <a:r>
              <a:rPr lang="en-US" altLang="ko-KR" sz="2800" b="1">
                <a:solidFill>
                  <a:prstClr val="black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320"/>
            <a:ext cx="11792932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121" y="1775432"/>
            <a:ext cx="5113648" cy="421126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7538" y="1688326"/>
            <a:ext cx="4524542" cy="443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320"/>
            <a:ext cx="11792932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948866" y="1669554"/>
            <a:ext cx="3153234" cy="5087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6279810" y="1581141"/>
            <a:ext cx="4680290" cy="5087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9533505" y="2102548"/>
            <a:ext cx="1435100" cy="1618551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046" y="1558593"/>
            <a:ext cx="5346723" cy="455291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2769" y="1558593"/>
            <a:ext cx="4965836" cy="455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309402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2790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생일이어서 마음이 들뜨거나 좋은 성적을 받아서 즐거워하는 모습은 기쁜 상황을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수학여행 중 부모님을 그리워하거나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몸을 다쳐서 힘들어하는 모습은 슬픈 상황을 표현한 그림이다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우리가 기쁘거나 슬픈 상황에서 공통적으로 떠올리는 것은 바로 가족이다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왜냐하면 기쁘거나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슬픈 일이 있을 때 가족은 나의 곁에서 매 순간 함께 있었기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그림의 상황에서 우리는 공통적으로 가족을 떠올린다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그 까닭이 무엇인지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8923" y="2225521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64991" y="2221393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1"/>
      <p:bldP spid="24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가정의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Arial Rounded MT Bold" panose="020F0704030504030204" pitchFamily="34" charset="0"/>
              </a:rPr>
              <a:t>사회를 이루는 기본적인 단위이자 가족이 함께 어울려 살아가는 생활 공동체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가정의 특성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Arial Rounded MT Bold" panose="020F0704030504030204" pitchFamily="34" charset="0"/>
              </a:rPr>
              <a:t>이해관계로 맺어진 회사와 같은 공동체와 달리 친밀함을 바탕으로 형성된 </a:t>
            </a:r>
            <a:r>
              <a:rPr lang="ko-KR" altLang="en-US" sz="2400" dirty="0" err="1">
                <a:latin typeface="Arial Rounded MT Bold" panose="020F0704030504030204" pitchFamily="34" charset="0"/>
              </a:rPr>
              <a:t>정서적∙배려적</a:t>
            </a:r>
            <a:r>
              <a:rPr lang="ko-KR" altLang="en-US" sz="2400" dirty="0">
                <a:latin typeface="Arial Rounded MT Bold" panose="020F0704030504030204" pitchFamily="34" charset="0"/>
              </a:rPr>
              <a:t> 공동체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가정의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의미와 특성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622056" y="3864721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22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가정의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사회를 이루는 기본적인 단위이자 가족이 함께 어울려 살아가는 생활 공동체</a:t>
            </a:r>
            <a:endParaRPr lang="en-US" altLang="ko-KR" sz="2400" b="1">
              <a:solidFill>
                <a:schemeClr val="accent2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가정의 특성</a:t>
            </a:r>
            <a:endParaRPr lang="en-US" altLang="ko-KR" sz="2500" b="1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이해관계로 맺어진 회사와 같은 공동체와 달리 친밀함을 바탕으로 형성된 정서적∙배려적 공동체</a:t>
            </a:r>
            <a:endParaRPr lang="en-US" altLang="ko-KR" sz="2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가정의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의미와 특성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3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88460" y="710382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6069" y="791636"/>
            <a:ext cx="473351" cy="473351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5435"/>
            <a:ext cx="1944697" cy="492328"/>
            <a:chOff x="377032" y="923820"/>
            <a:chExt cx="1944697" cy="492328"/>
          </a:xfrm>
        </p:grpSpPr>
        <p:pic>
          <p:nvPicPr>
            <p:cNvPr id="26" name="그림 25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624866" y="1137424"/>
            <a:ext cx="78740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가정의 유형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304734"/>
              </p:ext>
            </p:extLst>
          </p:nvPr>
        </p:nvGraphicFramePr>
        <p:xfrm>
          <a:off x="932885" y="2068702"/>
          <a:ext cx="10033741" cy="343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3369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7520372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8589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조손 가정</a:t>
                      </a:r>
                      <a:endParaRPr lang="en-US" altLang="ko-KR" sz="1800" kern="1200" dirty="0" smtClean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할아버지나 할머니와 손주가 같이 사는 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8589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다문화 가정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다양한 문화적 배경을 지닌 사람들로 구성된 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  <a:tr h="858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한 부모 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부모 중 한 사람이 자녀를 기르는 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930513"/>
                  </a:ext>
                </a:extLst>
              </a:tr>
              <a:tr h="858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입양 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혈연관계는 아니지만 법률적으로 부모와 자녀의 관계를 맺은 가정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840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81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170709">
            <a:off x="148102" y="4307194"/>
            <a:ext cx="2612983" cy="23165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40018" y="1596520"/>
            <a:ext cx="8601887" cy="458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오늘은 기분이 좋지 않았다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학원에서 영어 단어 시험을 망쳤기 때문이다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심지어 친구들이 내 점수를 가지고 놀렸다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집에 돌아오자마자 나는 가족들에게 인사하지 않고 곧장 방에 들어가 펑펑 울었다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문득 눈을 떠 보니 벌써 깜깜한 밤이었다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불을 켜 보니 책상 위에 언니가 쓴 쪽지가 있었다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쪽지에는 “보영아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오늘 속상한 일 있었어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 동생 힘내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!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언니가 있잖아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쓰여 있었다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눈을 비비며 부엌에 나가 보니 저녁을 거른 나를 위해 할아버지께서 식탁 위에 올려 둔 김밥이 있었다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이런 우리 가족 덕분에 오늘 속상했던 일이 아무렇지 않은 일이 되는 것 같았다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고마운 우리 할아버지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그리고 언니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0535"/>
            <a:ext cx="10237289" cy="339627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8501719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>
                <a:latin typeface="+mn-ea"/>
              </a:rPr>
              <a:t>1. </a:t>
            </a:r>
            <a:r>
              <a:rPr lang="ko-KR" altLang="en-US" sz="2000" b="1">
                <a:latin typeface="+mn-ea"/>
              </a:rPr>
              <a:t>위 일기를 통해 알 수 있는 가정의 특성을 써 보자</a:t>
            </a:r>
            <a:r>
              <a:rPr lang="en-US" altLang="ko-KR" sz="2000" b="1">
                <a:latin typeface="+mn-ea"/>
              </a:rPr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1725" y="1678922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17793" y="165680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993763" y="2418732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가정은 정서적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·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배려적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공동체로서의 특성을 가지고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2044" y="2138217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04411" y="2129960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71929" y="2761655"/>
            <a:ext cx="10237289" cy="339627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2555" y="2741605"/>
            <a:ext cx="97553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지난주 화요일에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청소를 마치고 집에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가려는데 비가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쏟아졌다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사실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지난주 내내 교실 청소 당번이어서 늦게까지 청소를 했었고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결국 교실에 혼자 남게 된 상황이었다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막막한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마음에 휴대 전화를 켜 보니 오빠에게 온 문자가 있었다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문자에는 “우산 없지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?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네가 할 일을 마치면 도서실로 와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집에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같이 가자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.”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라고 쓰여 있었다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비록 우산이 없어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전전긍긍하였지만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나를 생각해 주는 오빠 덕분에 힘을 얻을 수 있었다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64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2181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>
                <a:latin typeface="맑은 고딕" panose="020B0503020000020004" pitchFamily="50" charset="-127"/>
              </a:rPr>
              <a:t>2. </a:t>
            </a:r>
            <a:r>
              <a:rPr lang="ko-KR" altLang="en-US" sz="2000" b="1">
                <a:latin typeface="맑은 고딕" panose="020B0503020000020004" pitchFamily="50" charset="-127"/>
              </a:rPr>
              <a:t>위 일기의 보영이가 겪은 일처럼 가족을 통해 위로받거나 힘을 얻은 경험을 써 보자</a:t>
            </a:r>
            <a:r>
              <a:rPr lang="en-US" altLang="ko-KR" sz="2000" b="1" smtClean="0">
                <a:latin typeface="맑은 고딕" panose="020B0503020000020004" pitchFamily="50" charset="-127"/>
              </a:rPr>
              <a:t>.</a:t>
            </a:r>
            <a:endParaRPr lang="ko-KR" altLang="en-US" sz="2000" b="1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023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smtClean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4826" y="1297201"/>
            <a:ext cx="8176923" cy="45786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2034826" y="5791465"/>
            <a:ext cx="73785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err="1" smtClean="0">
                <a:solidFill>
                  <a:schemeClr val="accent6"/>
                </a:solidFill>
                <a:latin typeface="+mn-ea"/>
              </a:rPr>
              <a:t>키오스크</a:t>
            </a:r>
            <a:r>
              <a:rPr lang="en-US" altLang="ko-KR" b="1" dirty="0" smtClean="0">
                <a:solidFill>
                  <a:schemeClr val="accent6"/>
                </a:solidFill>
                <a:latin typeface="+mn-ea"/>
              </a:rPr>
              <a:t>(kiosk)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식당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은행 </a:t>
            </a:r>
            <a:r>
              <a:rPr lang="ko-KR" altLang="en-US" sz="1600" dirty="0" smtClean="0">
                <a:latin typeface="+mn-ea"/>
              </a:rPr>
              <a:t>등 </a:t>
            </a:r>
            <a:r>
              <a:rPr lang="ko-KR" altLang="en-US" sz="1600" dirty="0">
                <a:latin typeface="+mn-ea"/>
              </a:rPr>
              <a:t>공공장소에 설치된 무인 </a:t>
            </a:r>
            <a:r>
              <a:rPr lang="ko-KR" altLang="en-US" sz="1600" dirty="0" smtClean="0">
                <a:latin typeface="+mn-ea"/>
              </a:rPr>
              <a:t>정보 </a:t>
            </a:r>
            <a:r>
              <a:rPr lang="ko-KR" altLang="en-US" sz="1600" dirty="0">
                <a:latin typeface="+mn-ea"/>
              </a:rPr>
              <a:t>단말기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smtClean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3861" y="1354346"/>
            <a:ext cx="10378219" cy="482216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297553" y="5757183"/>
            <a:ext cx="33586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-《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연합뉴스 티브이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》, 2023. 4. 5.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87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가정의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기능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바람직한 </a:t>
            </a:r>
            <a:r>
              <a:rPr lang="ko-KR" altLang="en-US" sz="2400" b="1" dirty="0">
                <a:latin typeface="+mn-ea"/>
              </a:rPr>
              <a:t>삶의 태도와 예절을 배울 수 있음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우리는 가정에서 가족과 함께 시간을 보내고 대화를 나누는 과정에서 바람직한 삶의 태도와 다른 사람을 대할 때 지켜야 할 </a:t>
            </a:r>
            <a:r>
              <a:rPr lang="ko-KR" altLang="en-US" sz="2400" dirty="0" smtClean="0">
                <a:latin typeface="+mn-ea"/>
              </a:rPr>
              <a:t>예절 </a:t>
            </a:r>
            <a:r>
              <a:rPr lang="ko-KR" altLang="en-US" sz="2400" dirty="0">
                <a:latin typeface="+mn-ea"/>
              </a:rPr>
              <a:t>등을 배움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바람직한 </a:t>
            </a:r>
            <a:r>
              <a:rPr lang="ko-KR" altLang="en-US" sz="2400" b="1" dirty="0">
                <a:latin typeface="+mn-ea"/>
              </a:rPr>
              <a:t>인격을 형성해 나갈 수 있음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가정에서 배우는 삶의 태도와 예절 등을 바탕으로 바람직한 인격을 형성해 나갈 수 있음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가정의 도덕적 기능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88640" y="2315444"/>
            <a:ext cx="6928339" cy="3833446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5" name="타원 14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637692" y="5266591"/>
            <a:ext cx="677008" cy="882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537937" y="5706207"/>
            <a:ext cx="2186355" cy="4426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905"/>
          <a:stretch/>
        </p:blipFill>
        <p:spPr>
          <a:xfrm>
            <a:off x="2702639" y="1235144"/>
            <a:ext cx="5908091" cy="4840173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6536569" y="1264757"/>
            <a:ext cx="2245122" cy="658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6401059" y="1217727"/>
            <a:ext cx="2303326" cy="197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6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774"/>
          <a:stretch/>
        </p:blipFill>
        <p:spPr>
          <a:xfrm>
            <a:off x="4264269" y="1582616"/>
            <a:ext cx="4355253" cy="4624753"/>
          </a:xfrm>
          <a:prstGeom prst="rect">
            <a:avLst/>
          </a:prstGeom>
        </p:spPr>
      </p:pic>
      <p:sp>
        <p:nvSpPr>
          <p:cNvPr id="14" name="타원 13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noaction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25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244" y="1575313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그림 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sz="2000" b="1" dirty="0" smtClean="0"/>
              <a:t>~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ko-KR" altLang="en-US" sz="2000" b="1" dirty="0" smtClean="0"/>
              <a:t>에서 </a:t>
            </a:r>
            <a:r>
              <a:rPr lang="ko-KR" altLang="en-US" sz="2000" b="1" dirty="0"/>
              <a:t>가정 내 갈등이 생긴 까닭을 생각하여 써 보자</a:t>
            </a:r>
            <a:r>
              <a:rPr lang="en-US" altLang="ko-KR" sz="2000" b="1" dirty="0"/>
              <a:t>. 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4317" y="2242006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65573" y="2216326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0244" y="2343982"/>
            <a:ext cx="1675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그림 </a:t>
            </a:r>
            <a:r>
              <a:rPr lang="ko-KR" altLang="en-US" sz="2000" dirty="0">
                <a:latin typeface="+mn-ea"/>
                <a:sym typeface="Wingdings" panose="05000000000000000000" pitchFamily="2" charset="2"/>
              </a:rPr>
              <a:t>①</a:t>
            </a:r>
            <a:r>
              <a:rPr lang="ko-KR" altLang="en-US" sz="2000" dirty="0">
                <a:latin typeface="+mn-ea"/>
              </a:rPr>
              <a:t>  </a:t>
            </a:r>
            <a:endParaRPr lang="en-US" altLang="ko-KR" sz="2000" dirty="0">
              <a:latin typeface="+mn-ea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6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0244" y="2858276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6399" y="2870019"/>
            <a:ext cx="9891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오빠는 가족 구성원이 함께해야 하는 집안일을 동생에게만 하도록 강요했고 동생은 혼자서 집안일을 떠맡는 상황에 불만이 생겼기 때문이다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0244" y="2858276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244" y="1575313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그림 ①</a:t>
            </a:r>
            <a:r>
              <a:rPr lang="en-US" altLang="ko-KR" sz="2000" b="1"/>
              <a:t>~③</a:t>
            </a:r>
            <a:r>
              <a:rPr lang="ko-KR" altLang="en-US" sz="2000" b="1"/>
              <a:t>에서 가정 내 갈등이 생긴 까닭을 생각하여 써 보자</a:t>
            </a:r>
            <a:r>
              <a:rPr lang="en-US" altLang="ko-KR" sz="2000" b="1"/>
              <a:t>. 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4317" y="2242006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65573" y="2216326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타원 25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73763" y="2853646"/>
            <a:ext cx="9923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할머니와 손주가 쉬는 시간을 보내는 방법에 대한 가치관이 서로 달랐기 때문이다</a:t>
            </a:r>
            <a:r>
              <a:rPr lang="en-US" altLang="ko-KR" sz="2400" smtClean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0244" y="2343982"/>
            <a:ext cx="1675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그림 </a:t>
            </a:r>
            <a:r>
              <a:rPr lang="ko-KR" altLang="en-US" sz="2000">
                <a:latin typeface="+mn-ea"/>
                <a:sym typeface="Wingdings" panose="05000000000000000000" pitchFamily="2" charset="2"/>
              </a:rPr>
              <a:t>②</a:t>
            </a:r>
            <a:r>
              <a:rPr lang="ko-KR" altLang="en-US" sz="2000">
                <a:latin typeface="+mn-ea"/>
              </a:rPr>
              <a:t>  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621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3" grpId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0244" y="2858276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244" y="1575313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그림 ①</a:t>
            </a:r>
            <a:r>
              <a:rPr lang="en-US" altLang="ko-KR" sz="2000" b="1"/>
              <a:t>~③</a:t>
            </a:r>
            <a:r>
              <a:rPr lang="ko-KR" altLang="en-US" sz="2000" b="1"/>
              <a:t>에서 가정 내 갈등이 생긴 까닭을 생각하여 써 보자</a:t>
            </a:r>
            <a:r>
              <a:rPr lang="en-US" altLang="ko-KR" sz="2000" b="1"/>
              <a:t>. 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4317" y="2242006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65573" y="2216326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타원 25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" action="ppaction://noaction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50244" y="2343982"/>
            <a:ext cx="1675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그림 </a:t>
            </a:r>
            <a:r>
              <a:rPr lang="ko-KR" altLang="en-US" sz="2000">
                <a:latin typeface="+mn-ea"/>
                <a:sym typeface="Wingdings" panose="05000000000000000000" pitchFamily="2" charset="2"/>
              </a:rPr>
              <a:t>③</a:t>
            </a:r>
            <a:r>
              <a:rPr lang="ko-KR" altLang="en-US" sz="2000">
                <a:latin typeface="+mn-ea"/>
              </a:rPr>
              <a:t>  </a:t>
            </a:r>
            <a:endParaRPr lang="en-US" altLang="ko-KR" sz="200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125" y="2858276"/>
            <a:ext cx="10015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아버지는 자신의 자녀를 다른 사람과 비교하여 상처를 주었고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아들은 아버지의 말씀을 귀담아듣지 않았기 때문이다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54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5" grpId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가정에서 발생하는 갈등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/>
              <a:t>역할 </a:t>
            </a:r>
            <a:r>
              <a:rPr lang="ko-KR" altLang="en-US" sz="2400" b="1" dirty="0"/>
              <a:t>분담에 관한 갈등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Arial Rounded MT Bold" panose="020F0704030504030204" pitchFamily="34" charset="0"/>
              </a:rPr>
              <a:t>집안일과 같이 가족 구성원이 분담해야 하는 일을 누군가 혼자 짊어져야 할 때 생기는 갈등 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Arial Rounded MT Bold" panose="020F0704030504030204" pitchFamily="34" charset="0"/>
              </a:rPr>
              <a:t>가치관 차이에 따른 갈등</a:t>
            </a:r>
            <a:r>
              <a:rPr lang="en-US" altLang="ko-KR" sz="2400" b="1" dirty="0"/>
              <a:t>:</a:t>
            </a:r>
            <a:r>
              <a:rPr lang="en-US" altLang="ko-KR" sz="2400" dirty="0"/>
              <a:t> </a:t>
            </a:r>
            <a:r>
              <a:rPr lang="ko-KR" altLang="en-US" sz="2400" dirty="0">
                <a:latin typeface="Arial Rounded MT Bold" panose="020F0704030504030204" pitchFamily="34" charset="0"/>
              </a:rPr>
              <a:t>가족 내 가치관의 차이에 따라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의견이 </a:t>
            </a:r>
            <a:r>
              <a:rPr lang="ko-KR" altLang="en-US" sz="2400" dirty="0">
                <a:latin typeface="Arial Rounded MT Bold" panose="020F0704030504030204" pitchFamily="34" charset="0"/>
              </a:rPr>
              <a:t>충돌하여 생기는 갈등 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Arial Rounded MT Bold" panose="020F0704030504030204" pitchFamily="34" charset="0"/>
              </a:rPr>
              <a:t>잘못된 의사소통으로 생기는 </a:t>
            </a:r>
            <a:r>
              <a:rPr lang="ko-KR" altLang="en-US" sz="2400" b="1" dirty="0" smtClean="0">
                <a:latin typeface="Arial Rounded MT Bold" panose="020F0704030504030204" pitchFamily="34" charset="0"/>
              </a:rPr>
              <a:t>갈등</a:t>
            </a:r>
            <a:r>
              <a:rPr lang="en-US" altLang="ko-KR" sz="2400" b="1" dirty="0" smtClean="0"/>
              <a:t>:</a:t>
            </a:r>
            <a:r>
              <a:rPr lang="en-US" altLang="ko-KR" sz="2400" dirty="0" smtClean="0"/>
              <a:t>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함부로 </a:t>
            </a:r>
            <a:r>
              <a:rPr lang="ko-KR" altLang="en-US" sz="2400" dirty="0">
                <a:latin typeface="Arial Rounded MT Bold" panose="020F0704030504030204" pitchFamily="34" charset="0"/>
              </a:rPr>
              <a:t>말을 내뱉거나 무례한 행동을 하는 것과 같이 잘못된 의사소통으로 생기는 갈등 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가정에서 발생하는 갈등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1252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763418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가족과 함께 시간을 보내고 대화를 나누는 과정에서 배운 바람직한 삶의 태도를 떠올려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 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763418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763418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6086" y="3516510"/>
            <a:ext cx="8165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가족과 함께 시간을 보내고 대화를 나누는 과정에서 배운 바람직한 삶의 태도는 ‘자기 일은 스스로 해결하도록 노력하자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.’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이러한 태도를 배움으로써 어떤 일을 겪든 스스로 해결하고자 하는 의지를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기를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수 있었다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936086" y="2858667"/>
            <a:ext cx="2386536" cy="923330"/>
            <a:chOff x="877165" y="3739778"/>
            <a:chExt cx="1328154" cy="923330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바람직한 삶의 태도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343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가정에서 발생하는 </a:t>
            </a:r>
            <a:r>
              <a:rPr lang="ko-KR" altLang="en-US" sz="2800" b="1" smtClean="0">
                <a:solidFill>
                  <a:schemeClr val="tx1"/>
                </a:solidFill>
              </a:rPr>
              <a:t>갈등을 어떻게 </a:t>
            </a:r>
            <a:endParaRPr lang="en-US" altLang="ko-KR" sz="2800" b="1" smtClean="0">
              <a:solidFill>
                <a:schemeClr val="tx1"/>
              </a:solidFill>
            </a:endParaRPr>
          </a:p>
          <a:p>
            <a:pPr algn="ctr"/>
            <a:r>
              <a:rPr lang="ko-KR" altLang="en-US" sz="2800" b="1" smtClean="0">
                <a:solidFill>
                  <a:schemeClr val="tx1"/>
                </a:solidFill>
              </a:rPr>
              <a:t>해결할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수 있을까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가정의 의미와 특성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가정이란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 </a:t>
            </a:r>
            <a:r>
              <a:rPr sz="2400" b="0">
                <a:solidFill>
                  <a:srgbClr val="262626"/>
                </a:solidFill>
              </a:rPr>
              <a:t>를 이루는 기본적인 단위이자 가족이 함께 어울려 살아가는 생활 공동체임.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마치고 돌아가 밥을 먹고, 쉬고, 이야기 나누는 곳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가정은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이해관계 </a:t>
            </a:r>
            <a:r>
              <a:rPr sz="2400" b="0">
                <a:solidFill>
                  <a:srgbClr val="262626"/>
                </a:solidFill>
              </a:rPr>
              <a:t>로 맺어진 회사와 같은 공동체와 달리 친밀함을 바탕으로 형성된 정서적·배려적 공동체이며, 가족은 서로를 자신처럼 아끼고 사랑함.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회사는 일을 못 하면 그만두게 하지만, 가족은 내가 실수해도 품어 준다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가정이란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이루는 기본적인 단위이자 가족이 함께 어울려 살아가는 생활 공동체임.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마치고 돌아가 밥을 먹고, 쉬고, 이야기 나누는 곳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가정은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맺어진 회사와 같은 공동체와 달리 친밀함을 바탕으로 형성된 정서적·배려적 공동체이며, 가족은 서로를 자신처럼 아끼고 사랑함.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회사는 일을 못 하면 그만두게 하지만, 가족은 내가 실수해도 품어 준다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가정이란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이루는 기본적인 단위이자 가족이 함께 어울려 살아가는 생활 공동체임.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하루를 마치고 돌아가 밥을 먹고, 쉬고, 이야기 나누는 곳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가정은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맺어진 회사와 같은 공동체와 달리 친밀함을 바탕으로 형성된 정서적·배려적 공동체이며, 가족은 서로를 자신처럼 아끼고 사랑함.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회사는 일을 못 하면 그만두게 하지만, 가족은 내가 실수해도 품어 준다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가정이란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이루는 기본적인 단위이자 가족이 함께 어울려 살아가는 생활 공동체임.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마치고 돌아가 밥을 먹고, 쉬고, 이야기 나누는 곳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가정은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맺어진 회사와 같은 공동체와 달리 친밀함을 바탕으로 형성된 정서적·배려적 공동체이며, 가족은 서로를 자신처럼 아끼고 사랑함.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회사는 일을 못 하면 그만두게 하지만, 가족은 내가 실수해도 품어 준다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가정이란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이루는 기본적인 단위이자 가족이 함께 어울려 살아가는 생활 공동체임.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마치고 돌아가 밥을 먹고, 쉬고, 이야기 나누는 곳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가정은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맺어진 회사와 같은 공동체와 달리 친밀함을 바탕으로 형성된 정서적·배려적 공동체이며, 가족은 서로를 자신처럼 아끼고 사랑함.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회사는 일을 못 하면 그만두게 하지만, 가족은 내가 실수해도 품어 준다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가정의 도덕적 기능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가정에서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가족 </a:t>
            </a:r>
            <a:r>
              <a:rPr sz="2400" b="0">
                <a:solidFill>
                  <a:srgbClr val="262626"/>
                </a:solidFill>
              </a:rPr>
              <a:t>과 함께 시간을 보내고 대화를 나누는 과정에서 바람직한 삶의 태도를 배우고, 다른 사람을 대할 때 지켜야 할 예절 등을 익힘.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“다녀오겠습니다.” 인사, 밥상에서 어른이 먼저 수저 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가정에서 배우는 삶의 태도와 예절 등을 바탕으로 바람직한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인격 </a:t>
            </a:r>
            <a:r>
              <a:rPr sz="2400" b="0">
                <a:solidFill>
                  <a:srgbClr val="262626"/>
                </a:solidFill>
              </a:rPr>
              <a:t>을 형성해 나갈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집에서 늘 “고마워.”를 듣고 자란 아이는 밖에서도 고마움을 표현한다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가정에서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가족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함께 시간을 보내고 대화를 나누는 과정에서 바람직한 삶의 태도를 배우고, 다른 사람을 대할 때 지켜야 할 예절 등을 익힘.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“다녀오겠습니다.” 인사, 밥상에서 어른이 먼저 수저 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가정에서 배우는 삶의 태도와 예절 등을 바탕으로 바람직한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형성해 나갈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집에서 늘 “고마워.”를 듣고 자란 아이는 밖에서도 고마움을 표현한다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가정에서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함께 시간을 보내고 대화를 나누는 과정에서 바람직한 삶의 태도를 배우고, 다른 사람을 대할 때 지켜야 할 예절 등을 익힘.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“다녀오겠습니다.” 인사, 밥상에서 어른이 먼저 수저 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가정에서 배우는 삶의 태도와 예절 등을 바탕으로 바람직한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형성해 나갈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집에서 늘 “고마워.”를 듣고 자란 아이는 밖에서도 고마움을 표현한다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가정에서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함께 시간을 보내고 대화를 나누는 과정에서 바람직한 삶의 태도를 배우고, 다른 사람을 대할 때 지켜야 할 예절 등을 익힘.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“다녀오겠습니다.” 인사, 밥상에서 어른이 먼저 수저 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가정에서 배우는 삶의 태도와 예절 등을 바탕으로 바람직한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인격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형성해 나갈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집에서 늘 “고마워.”를 듣고 자란 아이는 밖에서도 고마움을 표현한다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가정에서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함께 시간을 보내고 대화를 나누는 과정에서 바람직한 삶의 태도를 배우고, 다른 사람을 대할 때 지켜야 할 예절 등을 익힘.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“다녀오겠습니다.” 인사, 밥상에서 어른이 먼저 수저 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가정에서 배우는 삶의 태도와 예절 등을 바탕으로 바람직한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형성해 나갈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집에서 늘 “고마워.”를 듣고 자란 아이는 밖에서도 고마움을 표현한다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사상가의 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“어버이와 자식 사이에는 친함이 있어야 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『맹자』 「등문공 상」 · 오륜의 부자유친(父子有親)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효(孝) · 자녀가 부모를 공경하고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자애(慈愛) · 부모가 자녀를 사랑하며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가정에서 발생하는 갈등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가족 내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역할 </a:t>
            </a:r>
            <a:r>
              <a:rPr sz="2400" b="0">
                <a:solidFill>
                  <a:srgbClr val="262626"/>
                </a:solidFill>
              </a:rPr>
              <a:t> 분담과 관련하여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집안일과 같이 가족 구성원이 분담해야 하는 일을 누군가 혼자 짊어져야 하면 불만이 쌓이거나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가족 내 가치관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차이 </a:t>
            </a:r>
            <a:r>
              <a:rPr sz="2400" b="0">
                <a:solidFill>
                  <a:srgbClr val="262626"/>
                </a:solidFill>
              </a:rPr>
              <a:t>에 따라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서로 다른 가치관과 의견을 인정하지 않고 자신의 것만 고집한다면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가족 내 잘못된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의사소통 </a:t>
            </a:r>
            <a:r>
              <a:rPr sz="2400" b="0">
                <a:solidFill>
                  <a:srgbClr val="262626"/>
                </a:solidFill>
              </a:rPr>
              <a:t>으로 갈등이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“너는 왜 형처럼 못 하니?” — 비교하는 말 한마디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가족 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역할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분담과 관련하여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집안일과 같이 가족 구성원이 분담해야 하는 일을 누군가 혼자 짊어져야 하면 불만이 쌓이거나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가족 내 가치관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서로 다른 가치관과 의견을 인정하지 않고 자신의 것만 고집한다면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가족 내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갈등이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“너는 왜 형처럼 못 하니?” — 비교하는 말 한마디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가족 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역할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분담과 관련하여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집안일과 같이 가족 구성원이 분담해야 하는 일을 누군가 혼자 짊어져야 하면 불만이 쌓이거나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가족 내 가치관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차이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서로 다른 가치관과 의견을 인정하지 않고 자신의 것만 고집한다면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가족 내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갈등이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“너는 왜 형처럼 못 하니?” — 비교하는 말 한마디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가족 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역할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분담과 관련하여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집안일과 같이 가족 구성원이 분담해야 하는 일을 누군가 혼자 짊어져야 하면 불만이 쌓이거나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가족 내 가치관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서로 다른 가치관과 의견을 인정하지 않고 자신의 것만 고집한다면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가족 내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갈등이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“너는 왜 형처럼 못 하니?” — 비교하는 말 한마디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가족 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역할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분담과 관련하여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집안일과 같이 가족 구성원이 분담해야 하는 일을 누군가 혼자 짊어져야 하면 불만이 쌓이거나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가족 내 가치관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차이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갈등이 발생할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서로 다른 가치관과 의견을 인정하지 않고 자신의 것만 고집한다면 갈등이 생길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가족 내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갈등이 발생할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“너는 왜 형처럼 못 하니?” — 비교하는 말 한마디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가정에서 발생하는 갈등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함부로 내뱉는 말과 무례한 행동 때문에 갈등이 생길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“너는 맨날 그 모양이야!” — 한마디가 저녁 식탁을 얼어붙게 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함부로 내뱉는 말과 무례한 행동 때문에 갈등이 생길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“너는 맨날 그 모양이야!” — 한마디가 저녁 식탁을 얼어붙게 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“휴대 전화 그만 좀 봐!”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중학생 민지네 · 저녁 9시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엄마 · “숙제는 다 했니? 하루 종일 휴대 전화만 보잖아.”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민지 · “나도 할 거 다 해! 왜 나만 갖고 그래.”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방문이 쾅 닫히고 둘 다 속상한 채로 잠들었다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두 사람은 각각 무엇을 바랐을까?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중학생 민지네 · 저녁 9시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엄마 · “숙제는 다 했니? 하루 종일 휴대 전화만 보잖아.”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민지 · “나도 할 거 다 해! 왜 나만 갖고 그래.”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방문이 쾅 닫히고 둘 다 속상한 채로 잠들었다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두 사람은 각각 무엇을 바랐을까?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700" b="1" smtClean="0">
                <a:solidFill>
                  <a:srgbClr val="FFFF00"/>
                </a:solidFill>
                <a:latin typeface="+mn-ea"/>
              </a:rPr>
              <a:t>집에 들어가는 순간 나는 어떤 기분일까?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😌 · 편하다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😐 · 그냥 그렇다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😣 · 조금 답답하다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우리나라 가구, 이렇게 달라졌어요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35.5% · 혼자 사는 1인 가구 (2023)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3가구 중 1 · 이제 가장 흔한 가구 모습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가정은 친밀함을 바탕으로 형성된 정서적·배려적 공동체이다.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가정에서 가족과 함께 시간을 보내는 과정에서 바람직한 삶의 태도를 배울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가족 내 역할 분담과 관련된 갈등은 집안일과 같이 혼자 해야 하는 일을 가족 구성원이 분담할 때 발생한다.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가족 내 잘못된 의사소통 때문에 가치관 차이에 따른 갈등이 발생한다.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가정은 친밀함을 바탕으로 형성된 정서적·배려적 공동체이다.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가정에서 가족과 함께 시간을 보내는 과정에서 바람직한 삶의 태도를 배울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가족 내 역할 분담과 관련된 갈등은 집안일과 같이 혼자 해야 하는 일을 가족 구성원이 분담할 때 발생한다.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가족 내 잘못된 의사소통 때문에 가치관 차이에 따른 갈등이 발생한다.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가정은 친밀함을 바탕으로 형성된 정서적·배려적 공동체이다.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가정에서 가족과 함께 시간을 보내는 과정에서 바람직한 삶의 태도를 배울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가족 내 역할 분담과 관련된 갈등은 집안일과 같이 혼자 해야 하는 일을 가족 구성원이 분담할 때 발생한다.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가족 내 잘못된 의사소통 때문에 가치관 차이에 따른 갈등이 발생한다.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가정은 친밀함을 바탕으로 형성된 정서적·배려적 공동체이다.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가정에서 가족과 함께 시간을 보내는 과정에서 바람직한 삶의 태도를 배울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가족 내 역할 분담과 관련된 갈등은 집안일과 같이 혼자 해야 하는 일을 가족 구성원이 분담할 때 발생한다.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가족 내 잘못된 의사소통 때문에 가치관 차이에 따른 갈등이 발생한다.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가정은 친밀함을 바탕으로 형성된 정서적·배려적 공동체이다.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가정에서 가족과 함께 시간을 보내는 과정에서 바람직한 삶의 태도를 배울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가족 내 역할 분담과 관련된 갈등은 집안일과 같이 혼자 해야 하는 일을 가족 구성원이 분담할 때 발생한다.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가족 내 잘못된 의사소통 때문에 가치관 차이에 따른 갈등이 발생한다.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집에 들어가는 순간 나는?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😌 편하다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😐 그냥 그렇다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😣 조금 답답하다   ✋ ____ 명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어떤 갈등일까? (교과서 66~67쪽)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역할 분담 · 가치관 차이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설거지를 늘 한 사람만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(함께 나눌 집안일을 혼자 떠맡음)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할머니는 산책이, 나는 스마트폰이 쉬는 방법이다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(세대 간 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“옆집 애처럼 공부 좀 해라!”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(비교하는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진로를 두고 부모님과 생각이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동생에게만 쓰레기를 버리게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(역할 분담)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부모님 말씀을 듣는 둥 마는 둥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(귀담아듣지 않는 태도)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역할 분담 · 가치관 차이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설거지를 늘 한 사람만 한다</a:t>
            </a:r>
            <a:r>
              <a:rPr sz="2300" b="1">
                <a:solidFill>
                  <a:srgbClr val="C0392B"/>
                </a:solidFill>
              </a:rPr>
              <a:t>   → 역할 분담 (함께 나눌 집안일을 혼자 떠맡음)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할머니는 산책이, 나는 스마트폰이 쉬는 방법이다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(세대 간 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“옆집 애처럼 공부 좀 해라!”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(비교하는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진로를 두고 부모님과 생각이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동생에게만 쓰레기를 버리게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(역할 분담)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부모님 말씀을 듣는 둥 마는 둥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(귀담아듣지 않는 태도)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역할 분담 · 가치관 차이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설거지를 늘 한 사람만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(함께 나눌 집안일을 혼자 떠맡음)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할머니는 산책이, 나는 스마트폰이 쉬는 방법이다</a:t>
            </a:r>
            <a:r>
              <a:rPr sz="2300" b="1">
                <a:solidFill>
                  <a:srgbClr val="C0392B"/>
                </a:solidFill>
              </a:rPr>
              <a:t>   → 가치관 차이 (세대 간 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“옆집 애처럼 공부 좀 해라!”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(비교하는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진로를 두고 부모님과 생각이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동생에게만 쓰레기를 버리게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(역할 분담)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부모님 말씀을 듣는 둥 마는 둥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(귀담아듣지 않는 태도)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역할 분담 · 가치관 차이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설거지를 늘 한 사람만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(함께 나눌 집안일을 혼자 떠맡음)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할머니는 산책이, 나는 스마트폰이 쉬는 방법이다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(세대 간 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“옆집 애처럼 공부 좀 해라!”</a:t>
            </a:r>
            <a:r>
              <a:rPr sz="2300" b="1">
                <a:solidFill>
                  <a:srgbClr val="C0392B"/>
                </a:solidFill>
              </a:rPr>
              <a:t>   → 잘못된 의사소통 (비교하는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진로를 두고 부모님과 생각이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동생에게만 쓰레기를 버리게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(역할 분담)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부모님 말씀을 듣는 둥 마는 둥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(귀담아듣지 않는 태도)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역할 분담 · 가치관 차이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설거지를 늘 한 사람만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(함께 나눌 집안일을 혼자 떠맡음)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할머니는 산책이, 나는 스마트폰이 쉬는 방법이다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(세대 간 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“옆집 애처럼 공부 좀 해라!”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(비교하는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진로를 두고 부모님과 생각이 다르다</a:t>
            </a:r>
            <a:r>
              <a:rPr sz="2300" b="1">
                <a:solidFill>
                  <a:srgbClr val="C0392B"/>
                </a:solidFill>
              </a:rPr>
              <a:t>   → 가치관 차이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동생에게만 쓰레기를 버리게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(역할 분담)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부모님 말씀을 듣는 둥 마는 둥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(귀담아듣지 않는 태도)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역할 분담 · 가치관 차이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설거지를 늘 한 사람만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(함께 나눌 집안일을 혼자 떠맡음)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할머니는 산책이, 나는 스마트폰이 쉬는 방법이다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(세대 간 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“옆집 애처럼 공부 좀 해라!”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(비교하는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진로를 두고 부모님과 생각이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동생에게만 쓰레기를 버리게 한다</a:t>
            </a:r>
            <a:r>
              <a:rPr sz="2300" b="1">
                <a:solidFill>
                  <a:srgbClr val="C0392B"/>
                </a:solidFill>
              </a:rPr>
              <a:t>   → 역할 분담 (역할 분담)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부모님 말씀을 듣는 둥 마는 둥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(귀담아듣지 않는 태도)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역할 분담 · 가치관 차이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설거지를 늘 한 사람만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(함께 나눌 집안일을 혼자 떠맡음)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할머니는 산책이, 나는 스마트폰이 쉬는 방법이다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(세대 간 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“옆집 애처럼 공부 좀 해라!”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(비교하는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진로를 두고 부모님과 생각이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가치관 차이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동생에게만 쓰레기를 버리게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역할 분담 (역할 분담)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부모님 말씀을 듣는 둥 마는 둥 한다</a:t>
            </a:r>
            <a:r>
              <a:rPr sz="2300" b="1">
                <a:solidFill>
                  <a:srgbClr val="C0392B"/>
                </a:solidFill>
              </a:rPr>
              <a:t>   → 잘못된 의사소통 (귀담아듣지 않는 태도)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보영이처럼, 가족에게 힘을 얻은 순간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가정이란 무엇이며</a:t>
            </a:r>
            <a:r>
              <a:rPr lang="en-US" altLang="ko-KR" b="1" smtClean="0">
                <a:latin typeface="+mj-ea"/>
                <a:ea typeface="+mj-ea"/>
              </a:rPr>
              <a:t>, </a:t>
            </a:r>
            <a:r>
              <a:rPr lang="ko-KR" altLang="en-US" b="1" smtClean="0">
                <a:latin typeface="+mj-ea"/>
                <a:ea typeface="+mj-ea"/>
              </a:rPr>
              <a:t>어떤 갈등이 발생할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3" name="그림 12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1" name="TextBox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368680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이해관계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서로 이익과 손해가 걸려 있는 관계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그때 무슨 일이 있었나?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시험을 망쳐 우울했는데 동생이 좋아하는 과자를 나눠 줬다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어떤 마음이 들었나?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속상한 일이 별것 아닌 일처럼 느껴졌다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그때 무슨 일이 있었나?</a:t>
            </a:r>
            <a:r>
              <a:rPr sz="2300" b="1">
                <a:solidFill>
                  <a:srgbClr val="C0392B"/>
                </a:solidFill>
              </a:rPr>
              <a:t>   예) 시험을 망쳐 우울했는데 동생이 좋아하는 과자를 나눠 줬다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마음이 들었나?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속상한 일이 별것 아닌 일처럼 느껴졌다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그때 무슨 일이 있었나?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시험을 망쳐 우울했는데 동생이 좋아하는 과자를 나눠 줬다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마음이 들었나?</a:t>
            </a:r>
            <a:r>
              <a:rPr sz="2300" b="1">
                <a:solidFill>
                  <a:srgbClr val="C0392B"/>
                </a:solidFill>
              </a:rPr>
              <a:t>   예) 속상한 일이 별것 아닌 일처럼 느껴졌다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9100</TotalTime>
  <Words>1248</Words>
  <Application>Microsoft Office PowerPoint</Application>
  <PresentationFormat>와이드스크린</PresentationFormat>
  <Paragraphs>225</Paragraphs>
  <Slides>22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AppleSDGothicNeoB00</vt:lpstr>
      <vt:lpstr>굴림</vt:lpstr>
      <vt:lpstr>나눔스퀘어라운드 ExtraBold</vt:lpstr>
      <vt:lpstr>돋움</vt:lpstr>
      <vt:lpstr>맑은 고딕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195</cp:revision>
  <cp:lastPrinted>2024-06-05T04:53:22Z</cp:lastPrinted>
  <dcterms:created xsi:type="dcterms:W3CDTF">2023-10-31T05:50:03Z</dcterms:created>
  <dcterms:modified xsi:type="dcterms:W3CDTF">2025-01-14T03:45:38Z</dcterms:modified>
</cp:coreProperties>
</file>