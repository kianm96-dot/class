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6"/>
  </p:notesMasterIdLst>
  <p:handoutMasterIdLst>
    <p:handoutMasterId r:id="rId27"/>
  </p:handoutMasterIdLst>
  <p:sldIdLst>
    <p:sldId id="302" r:id="rId2"/>
    <p:sldId id="301" r:id="rId3"/>
    <p:sldId id="258" r:id="rId4"/>
    <p:sldId id="304" r:id="rId5"/>
    <p:sldId id="305" r:id="rId6"/>
    <p:sldId id="413" r:id="rId7"/>
    <p:sldId id="307" r:id="rId8"/>
    <p:sldId id="393" r:id="rId9"/>
    <p:sldId id="270" r:id="rId10"/>
    <p:sldId id="394" r:id="rId11"/>
    <p:sldId id="411" r:id="rId12"/>
    <p:sldId id="414" r:id="rId33"/>
    <p:sldId id="415" r:id="rId34"/>
    <p:sldId id="416" r:id="rId35"/>
    <p:sldId id="399" r:id="rId13"/>
    <p:sldId id="410" r:id="rId14"/>
    <p:sldId id="400" r:id="rId15"/>
    <p:sldId id="412" r:id="rId16"/>
    <p:sldId id="390" r:id="rId17"/>
    <p:sldId id="417" r:id="rId36"/>
    <p:sldId id="418" r:id="rId37"/>
    <p:sldId id="392" r:id="rId18"/>
    <p:sldId id="401" r:id="rId19"/>
    <p:sldId id="402" r:id="rId20"/>
    <p:sldId id="387" r:id="rId21"/>
    <p:sldId id="403" r:id="rId22"/>
    <p:sldId id="404" r:id="rId23"/>
    <p:sldId id="405" r:id="rId24"/>
    <p:sldId id="419" r:id="rId38"/>
    <p:sldId id="420" r:id="rId39"/>
    <p:sldId id="421" r:id="rId40"/>
    <p:sldId id="422" r:id="rId41"/>
    <p:sldId id="348" r:id="rId25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1EF"/>
    <a:srgbClr val="DCE9F7"/>
    <a:srgbClr val="A5918A"/>
    <a:srgbClr val="B7CADB"/>
    <a:srgbClr val="EFF7EA"/>
    <a:srgbClr val="FF9300"/>
    <a:srgbClr val="FFFF00"/>
    <a:srgbClr val="D9E1E9"/>
    <a:srgbClr val="E8F6FD"/>
    <a:srgbClr val="F0FF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62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commentAuthors" Target="commentAuthors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225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915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285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138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민서가 이렇게 말했다면</a:t>
            </a:r>
          </a:p>
          <a:p>
            <a:r>
              <a:t>“엄마, 친구와 있었던 일로 너무 속상해요. 제 고민을 들어 주시겠어요?”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나-전달법 만들기</a:t>
            </a:r>
          </a:p>
          <a:p>
            <a:r>
              <a:t>심리학자 토머스 고든이 『부모 역할 훈련』(1970)에서 널리 알린 대화법. 행동(상황) → 나에게 준 영향과 감정 → 바라는 것.</a:t>
            </a:r>
          </a:p>
          <a:p>
            <a:r>
              <a:t>활동 화면 2에서 너-전달법을 나-전달법으로 바꿔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민주적 해결</a:t>
            </a:r>
          </a:p>
          <a:p>
            <a:r>
              <a:t>가족회의는 가정 안의 민주적 절차. 나이와 관계없이 발언권을 존중하고, 함께 정한 규칙은 더 잘 지킨다.</a:t>
            </a:r>
          </a:p>
          <a:p>
            <a:r>
              <a:t>발문 “우리 집 가족회의 안건으로 무엇을 올리고 싶나?” → 활동 화면 2의 투표.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말로 바꿔 보고, 대청소 가족의 문제를 민주적으로 풀어 보자.</a:t>
            </a:r>
          </a:p>
          <a:p>
            <a:r>
              <a:t>⏱ 대청소 가족 역할극 (72쪽)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말로 바꿔 보고, 대청소 가족의 문제를 민주적으로 풀어 보자.</a:t>
            </a:r>
          </a:p>
          <a:p>
            <a:r>
              <a:t>⏱ 대청소 가족 역할극 (72쪽)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존중하는 말로 바꿔 보고, 대청소 가족의 문제를 민주적으로 풀어 보자.</a:t>
            </a:r>
          </a:p>
          <a:p>
            <a:r>
              <a:t>⏱ 대청소 가족 역할극 (72쪽) 5분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9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40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6.png"/><Relationship Id="rId6" Type="http://schemas.openxmlformats.org/officeDocument/2006/relationships/slide" Target="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48.png"/><Relationship Id="rId6" Type="http://schemas.openxmlformats.org/officeDocument/2006/relationships/slide" Target="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24.png"/><Relationship Id="rId6" Type="http://schemas.openxmlformats.org/officeDocument/2006/relationships/image" Target="../media/image59.sv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r>
              <a:rPr lang="en-US" altLang="ko-KR" sz="2800" b="1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smtClean="0">
                <a:solidFill>
                  <a:schemeClr val="bg1"/>
                </a:solidFill>
                <a:latin typeface="+mj-ea"/>
                <a:ea typeface="+mj-ea"/>
              </a:rPr>
              <a:t>가정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69336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가정에서 발생하는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갈등을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어떻게</a:t>
            </a:r>
          </a:p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해결할 수 있을까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22">
            <a:extLst>
              <a:ext uri="{FF2B5EF4-FFF2-40B4-BE49-F238E27FC236}">
                <a16:creationId xmlns:a16="http://schemas.microsoft.com/office/drawing/2014/main" id="{D6561203-5AD4-D0C1-BA20-A7201ACE3939}"/>
              </a:ext>
            </a:extLst>
          </p:cNvPr>
          <p:cNvSpPr/>
          <p:nvPr/>
        </p:nvSpPr>
        <p:spPr>
          <a:xfrm>
            <a:off x="846757" y="3396153"/>
            <a:ext cx="10293350" cy="1573773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사각형: 둥근 모서리 22">
            <a:extLst>
              <a:ext uri="{FF2B5EF4-FFF2-40B4-BE49-F238E27FC236}">
                <a16:creationId xmlns:a16="http://schemas.microsoft.com/office/drawing/2014/main" id="{D6561203-5AD4-D0C1-BA20-A7201ACE3939}"/>
              </a:ext>
            </a:extLst>
          </p:cNvPr>
          <p:cNvSpPr/>
          <p:nvPr/>
        </p:nvSpPr>
        <p:spPr>
          <a:xfrm>
            <a:off x="846757" y="1670905"/>
            <a:ext cx="10293350" cy="1573773"/>
          </a:xfrm>
          <a:prstGeom prst="roundRect">
            <a:avLst/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58478" y="1739914"/>
            <a:ext cx="97446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가정 내 갈등을 해결하기 위해 </a:t>
            </a:r>
            <a:r>
              <a:rPr lang="ko-KR" altLang="en-US" sz="2800" b="1" dirty="0" err="1">
                <a:solidFill>
                  <a:prstClr val="black"/>
                </a:solidFill>
                <a:latin typeface="+mn-ea"/>
              </a:rPr>
              <a:t>공감적인</a:t>
            </a: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 소통을 실천할 수 있다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58478" y="3453220"/>
            <a:ext cx="9786355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가정 내 갈등을 민주적인 과정을 통해 해결하려는 의지를 지닌다</a:t>
            </a:r>
            <a:r>
              <a:rPr lang="en-US" altLang="ko-KR" sz="2800" b="1" dirty="0" smtClean="0">
                <a:solidFill>
                  <a:prstClr val="black"/>
                </a:solidFill>
                <a:latin typeface="+mn-ea"/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>
                <a:ln w="22225">
                  <a:noFill/>
                  <a:prstDash val="solid"/>
                </a:ln>
                <a:latin typeface="+mj-ea"/>
              </a:rPr>
              <a:t>가정에서 발생하는 </a:t>
            </a:r>
            <a:r>
              <a:rPr lang="ko-KR" altLang="en-US" b="1" smtClean="0">
                <a:ln w="22225">
                  <a:noFill/>
                  <a:prstDash val="solid"/>
                </a:ln>
                <a:latin typeface="+mj-ea"/>
              </a:rPr>
              <a:t>갈등을 어떻게 해결할 </a:t>
            </a:r>
            <a:r>
              <a:rPr lang="ko-KR" altLang="en-US" b="1">
                <a:ln w="22225">
                  <a:noFill/>
                  <a:prstDash val="solid"/>
                </a:ln>
                <a:latin typeface="+mj-ea"/>
              </a:rPr>
              <a:t>수 있을까</a:t>
            </a:r>
            <a:r>
              <a:rPr lang="en-US" altLang="ko-KR" b="1">
                <a:ln w="22225">
                  <a:noFill/>
                  <a:prstDash val="solid"/>
                </a:ln>
                <a:latin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AAF1AF8C-61C0-A6D4-27A4-8B03BBAB0C4A}"/>
              </a:ext>
            </a:extLst>
          </p:cNvPr>
          <p:cNvSpPr/>
          <p:nvPr/>
        </p:nvSpPr>
        <p:spPr>
          <a:xfrm>
            <a:off x="1056307" y="2050284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AF1AF8C-61C0-A6D4-27A4-8B03BBAB0C4A}"/>
              </a:ext>
            </a:extLst>
          </p:cNvPr>
          <p:cNvSpPr/>
          <p:nvPr/>
        </p:nvSpPr>
        <p:spPr>
          <a:xfrm>
            <a:off x="1056307" y="3782583"/>
            <a:ext cx="106897" cy="106897"/>
          </a:xfrm>
          <a:prstGeom prst="ellipse">
            <a:avLst/>
          </a:prstGeom>
          <a:solidFill>
            <a:srgbClr val="8D7F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" y="1411320"/>
            <a:ext cx="11792932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374733" y="1800326"/>
            <a:ext cx="9451419" cy="4398919"/>
            <a:chOff x="1374733" y="1757196"/>
            <a:chExt cx="9451419" cy="439891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74733" y="1757196"/>
              <a:ext cx="9297347" cy="4286086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910426" y="5400137"/>
              <a:ext cx="2915726" cy="755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" y="1411320"/>
            <a:ext cx="11792310" cy="544668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35" y="1473501"/>
            <a:ext cx="9518018" cy="473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6"/>
            <a:ext cx="10293350" cy="2758136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두 그림 중 위 그림에서 형은 동생에게 비난하는 말을 사용하였고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동생은 형의 말을 귀담아듣지 않고 짜증을 내고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한편 아래 그림에서는 형은 동생을 존중하며 정중하게 말하였고 동생도 형의 입장을 고려하여 배려하고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</a:rPr>
              <a:t>다음 그림은 형제 사이에 일어난 두 가지 일이다</a:t>
            </a:r>
            <a:r>
              <a:rPr lang="en-US" altLang="ko-KR" sz="2000" b="1" dirty="0">
                <a:latin typeface="맑은 고딕" panose="020B0503020000020004" pitchFamily="50" charset="-127"/>
              </a:rPr>
              <a:t>. </a:t>
            </a:r>
            <a:r>
              <a:rPr lang="ko-KR" altLang="en-US" sz="2000" b="1" dirty="0">
                <a:latin typeface="맑은 고딕" panose="020B0503020000020004" pitchFamily="50" charset="-127"/>
              </a:rPr>
              <a:t>두 그림의 차이점을 찾아 써 보자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3407" y="2282370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65931" y="2282370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34293"/>
            <a:ext cx="3733014" cy="232370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40018" y="1596520"/>
            <a:ext cx="8601887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어제 친구랑 다투었는데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그 친구가 오늘까지 내 연락을 받지 않았다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제일 친한 친구인데 사이가 멀어질까 봐 걱정돼서 엄마에게 어떻게 해야 하는지 여쭈어보았다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그런데 엄마는 중간에 나의 말을 끊어 버리며 “민서야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네가 또 잘못했겠지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라고 하셨다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그 순간 나는 “엄마는 아무것도 모르잖아요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!”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라고 소리를 질렀다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안 그래도 친구 때문에 속상한데</a:t>
            </a:r>
            <a:r>
              <a:rPr lang="en-US" altLang="ko-KR" sz="220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>
                <a:latin typeface="굴림" panose="020B0600000101010101" pitchFamily="50" charset="-127"/>
                <a:ea typeface="굴림" panose="020B0600000101010101" pitchFamily="50" charset="-127"/>
              </a:rPr>
              <a:t>엄마는 내 마음을 왜 몰라주시는 것일까</a:t>
            </a:r>
            <a:r>
              <a:rPr lang="en-US" altLang="ko-KR" sz="220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en-US" altLang="ko-KR" sz="22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69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351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타원 1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656" y="1830488"/>
            <a:ext cx="9881398" cy="437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436" y="1973725"/>
            <a:ext cx="9392700" cy="4283271"/>
          </a:xfrm>
          <a:prstGeom prst="rect">
            <a:avLst/>
          </a:prstGeom>
        </p:spPr>
      </p:pic>
      <p:sp>
        <p:nvSpPr>
          <p:cNvPr id="14" name="타원 13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12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64882" y="1557855"/>
            <a:ext cx="103034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그림 ①</a:t>
            </a:r>
            <a:r>
              <a:rPr lang="en-US" altLang="ko-KR" sz="2000" b="1" dirty="0">
                <a:latin typeface="+mn-ea"/>
              </a:rPr>
              <a:t>, ③</a:t>
            </a:r>
            <a:r>
              <a:rPr lang="ko-KR" altLang="en-US" sz="2000" b="1" dirty="0">
                <a:latin typeface="+mn-ea"/>
              </a:rPr>
              <a:t>의 갈등 상황에서 상대방을 존중하며 대화한다면 어떻게 표현할지 그림 </a:t>
            </a:r>
            <a:r>
              <a:rPr lang="ko-KR" altLang="en-US" sz="2000" b="1" dirty="0" smtClean="0">
                <a:latin typeface="+mn-ea"/>
              </a:rPr>
              <a:t>②</a:t>
            </a:r>
            <a:r>
              <a:rPr lang="en-US" altLang="ko-KR" sz="2000" b="1" dirty="0" smtClean="0">
                <a:latin typeface="+mn-ea"/>
              </a:rPr>
              <a:t>, ④</a:t>
            </a:r>
            <a:r>
              <a:rPr lang="ko-KR" altLang="en-US" sz="2000" b="1" dirty="0" smtClean="0">
                <a:latin typeface="+mn-ea"/>
              </a:rPr>
              <a:t>의 </a:t>
            </a:r>
            <a:r>
              <a:rPr lang="ko-KR" altLang="en-US" sz="2000" b="1" dirty="0" err="1">
                <a:latin typeface="+mn-ea"/>
              </a:rPr>
              <a:t>말풍선에</a:t>
            </a:r>
            <a:r>
              <a:rPr lang="ko-KR" altLang="en-US" sz="2000" b="1" dirty="0">
                <a:latin typeface="+mn-ea"/>
              </a:rPr>
              <a:t> 써 보자</a:t>
            </a:r>
            <a:r>
              <a:rPr lang="en-US" altLang="ko-KR" sz="2000" b="1" dirty="0">
                <a:latin typeface="+mn-ea"/>
              </a:rPr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1600" y="2588550"/>
            <a:ext cx="4316109" cy="3794599"/>
          </a:xfrm>
          <a:prstGeom prst="rect">
            <a:avLst/>
          </a:prstGeom>
        </p:spPr>
      </p:pic>
      <p:grpSp>
        <p:nvGrpSpPr>
          <p:cNvPr id="47" name="그룹 46"/>
          <p:cNvGrpSpPr/>
          <p:nvPr/>
        </p:nvGrpSpPr>
        <p:grpSpPr>
          <a:xfrm>
            <a:off x="5260749" y="2665698"/>
            <a:ext cx="5301351" cy="3447632"/>
            <a:chOff x="5260749" y="2665698"/>
            <a:chExt cx="5301351" cy="3447632"/>
          </a:xfrm>
        </p:grpSpPr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43815" y="2665698"/>
              <a:ext cx="4676676" cy="3152712"/>
            </a:xfrm>
            <a:prstGeom prst="rect">
              <a:avLst/>
            </a:prstGeom>
          </p:spPr>
        </p:pic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V="1">
              <a:off x="5781096" y="5543074"/>
              <a:ext cx="4781004" cy="570256"/>
            </a:xfrm>
            <a:prstGeom prst="rect">
              <a:avLst/>
            </a:prstGeom>
          </p:spPr>
        </p:pic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834063" flipV="1">
              <a:off x="5183396" y="4005771"/>
              <a:ext cx="900791" cy="746086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6517827" y="3272108"/>
            <a:ext cx="33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이번 주말에 가족끼리 </a:t>
            </a:r>
            <a:endParaRPr lang="en-US" altLang="ko-KR" sz="2400" spc="-110" dirty="0" smtClean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등산을 가려고 했는데</a:t>
            </a:r>
            <a:r>
              <a:rPr lang="en-US" altLang="ko-KR" sz="2400" spc="-110" dirty="0" smtClean="0">
                <a:solidFill>
                  <a:srgbClr val="0070C0"/>
                </a:solidFill>
                <a:ea typeface="나눔고딕" panose="020D0604000000000000" pitchFamily="50" charset="-127"/>
              </a:rPr>
              <a:t>······. </a:t>
            </a:r>
            <a:r>
              <a:rPr lang="ko-KR" altLang="en-US" sz="2400" spc="-110" dirty="0" smtClean="0">
                <a:solidFill>
                  <a:srgbClr val="0070C0"/>
                </a:solidFill>
              </a:rPr>
              <a:t>아쉽지만 재미있게 </a:t>
            </a:r>
            <a:endParaRPr lang="en-US" altLang="ko-KR" sz="2400" spc="-110" dirty="0" smtClean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놀고 </a:t>
            </a:r>
            <a:r>
              <a:rPr lang="ko-KR" altLang="en-US" sz="2400" spc="-110" dirty="0">
                <a:solidFill>
                  <a:srgbClr val="0070C0"/>
                </a:solidFill>
              </a:rPr>
              <a:t>오렴</a:t>
            </a:r>
            <a:r>
              <a:rPr lang="en-US" altLang="ko-KR" sz="2400" spc="-110" dirty="0">
                <a:solidFill>
                  <a:srgbClr val="0070C0"/>
                </a:solidFill>
              </a:rPr>
              <a:t>.</a:t>
            </a:r>
            <a:endParaRPr lang="ko-KR" altLang="en-US" sz="2400" spc="-110" dirty="0">
              <a:solidFill>
                <a:srgbClr val="0070C0"/>
              </a:solidFill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5356330" y="3543300"/>
            <a:ext cx="0" cy="926306"/>
          </a:xfrm>
          <a:prstGeom prst="line">
            <a:avLst/>
          </a:prstGeom>
          <a:ln w="63500">
            <a:solidFill>
              <a:srgbClr val="DCE9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5356330" y="4655344"/>
            <a:ext cx="0" cy="328613"/>
          </a:xfrm>
          <a:prstGeom prst="line">
            <a:avLst/>
          </a:prstGeom>
          <a:ln w="63500">
            <a:solidFill>
              <a:srgbClr val="DCE9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1150" y="239661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47114" y="2392490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64882" y="1557855"/>
            <a:ext cx="10303442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그림 ①</a:t>
            </a:r>
            <a:r>
              <a:rPr lang="en-US" altLang="ko-KR" sz="2000" b="1">
                <a:latin typeface="+mn-ea"/>
              </a:rPr>
              <a:t>, ③</a:t>
            </a:r>
            <a:r>
              <a:rPr lang="ko-KR" altLang="en-US" sz="2000" b="1">
                <a:latin typeface="+mn-ea"/>
              </a:rPr>
              <a:t>의 갈등 상황에서 상대방을 존중하며 대화한다면 어떻게 표현할지 그림 </a:t>
            </a:r>
            <a:r>
              <a:rPr lang="ko-KR" altLang="en-US" sz="2000" b="1" smtClean="0">
                <a:latin typeface="+mn-ea"/>
              </a:rPr>
              <a:t>②</a:t>
            </a:r>
            <a:r>
              <a:rPr lang="en-US" altLang="ko-KR" sz="2000" b="1" smtClean="0">
                <a:latin typeface="+mn-ea"/>
              </a:rPr>
              <a:t>, ④</a:t>
            </a:r>
            <a:r>
              <a:rPr lang="ko-KR" altLang="en-US" sz="2000" b="1" smtClean="0">
                <a:latin typeface="+mn-ea"/>
              </a:rPr>
              <a:t>의 </a:t>
            </a:r>
            <a:r>
              <a:rPr lang="ko-KR" altLang="en-US" sz="2000" b="1">
                <a:latin typeface="+mn-ea"/>
              </a:rPr>
              <a:t>말풍선에 써 보자</a:t>
            </a:r>
            <a:r>
              <a:rPr lang="en-US" altLang="ko-KR" sz="2000" b="1">
                <a:latin typeface="+mn-ea"/>
              </a:rPr>
              <a:t>. </a:t>
            </a:r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2680" y="2620659"/>
            <a:ext cx="3957312" cy="376269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5109053" y="2665698"/>
            <a:ext cx="5453047" cy="3447632"/>
            <a:chOff x="5109053" y="2665698"/>
            <a:chExt cx="5453047" cy="3447632"/>
          </a:xfrm>
        </p:grpSpPr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7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43815" y="2665698"/>
              <a:ext cx="4676676" cy="3152712"/>
            </a:xfrm>
            <a:prstGeom prst="rect">
              <a:avLst/>
            </a:prstGeom>
          </p:spPr>
        </p:pic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V="1">
              <a:off x="5781096" y="5543074"/>
              <a:ext cx="4781004" cy="570256"/>
            </a:xfrm>
            <a:prstGeom prst="rect">
              <a:avLst/>
            </a:prstGeom>
          </p:spPr>
        </p:pic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834063" flipV="1">
              <a:off x="5090621" y="3932821"/>
              <a:ext cx="932968" cy="896104"/>
            </a:xfrm>
            <a:prstGeom prst="rect">
              <a:avLst/>
            </a:prstGeom>
          </p:spPr>
        </p:pic>
      </p:grpSp>
      <p:sp>
        <p:nvSpPr>
          <p:cNvPr id="41" name="TextBox 40"/>
          <p:cNvSpPr txBox="1"/>
          <p:nvPr/>
        </p:nvSpPr>
        <p:spPr>
          <a:xfrm>
            <a:off x="5965714" y="3136389"/>
            <a:ext cx="44040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spc="-110" dirty="0">
                <a:solidFill>
                  <a:srgbClr val="0070C0"/>
                </a:solidFill>
              </a:rPr>
              <a:t>누나도 예전에 이 문제가 </a:t>
            </a:r>
            <a:endParaRPr lang="en-US" altLang="ko-KR" sz="2400" spc="-110" dirty="0" smtClean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정말 </a:t>
            </a:r>
            <a:r>
              <a:rPr lang="ko-KR" altLang="en-US" sz="2400" spc="-110" dirty="0" err="1">
                <a:solidFill>
                  <a:srgbClr val="0070C0"/>
                </a:solidFill>
              </a:rPr>
              <a:t>어려웠었어</a:t>
            </a:r>
            <a:r>
              <a:rPr lang="en-US" altLang="ko-KR" sz="2400" spc="-110" dirty="0">
                <a:solidFill>
                  <a:srgbClr val="0070C0"/>
                </a:solidFill>
              </a:rPr>
              <a:t>. </a:t>
            </a:r>
            <a:r>
              <a:rPr lang="ko-KR" altLang="en-US" sz="2400" spc="-110" dirty="0">
                <a:solidFill>
                  <a:srgbClr val="0070C0"/>
                </a:solidFill>
              </a:rPr>
              <a:t>그렇지만 </a:t>
            </a:r>
            <a:endParaRPr lang="en-US" altLang="ko-KR" sz="2400" spc="-110" dirty="0" smtClean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이번엔 </a:t>
            </a:r>
            <a:r>
              <a:rPr lang="ko-KR" altLang="en-US" sz="2400" spc="-110" dirty="0">
                <a:solidFill>
                  <a:srgbClr val="0070C0"/>
                </a:solidFill>
              </a:rPr>
              <a:t>누나가 도와줄 테니 </a:t>
            </a:r>
            <a:endParaRPr lang="en-US" altLang="ko-KR" sz="2400" spc="-110" dirty="0" smtClean="0">
              <a:solidFill>
                <a:srgbClr val="0070C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spc="-110" dirty="0" smtClean="0">
                <a:solidFill>
                  <a:srgbClr val="0070C0"/>
                </a:solidFill>
              </a:rPr>
              <a:t>다시 </a:t>
            </a:r>
            <a:r>
              <a:rPr lang="ko-KR" altLang="en-US" sz="2400" spc="-110" dirty="0">
                <a:solidFill>
                  <a:srgbClr val="0070C0"/>
                </a:solidFill>
              </a:rPr>
              <a:t>한번 </a:t>
            </a:r>
            <a:r>
              <a:rPr lang="ko-KR" altLang="en-US" sz="2400" spc="-110" dirty="0" smtClean="0">
                <a:solidFill>
                  <a:srgbClr val="0070C0"/>
                </a:solidFill>
              </a:rPr>
              <a:t>차근차근 풀어 </a:t>
            </a:r>
            <a:r>
              <a:rPr lang="ko-KR" altLang="en-US" sz="2400" spc="-110" dirty="0">
                <a:solidFill>
                  <a:srgbClr val="0070C0"/>
                </a:solidFill>
              </a:rPr>
              <a:t>보자</a:t>
            </a:r>
            <a:r>
              <a:rPr lang="en-US" altLang="ko-KR" sz="2400" spc="-110" dirty="0">
                <a:solidFill>
                  <a:srgbClr val="0070C0"/>
                </a:solidFill>
              </a:rPr>
              <a:t>.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5360194" y="3548062"/>
            <a:ext cx="0" cy="931069"/>
          </a:xfrm>
          <a:prstGeom prst="line">
            <a:avLst/>
          </a:prstGeom>
          <a:ln w="63500">
            <a:solidFill>
              <a:srgbClr val="ECE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5362575" y="4652963"/>
            <a:ext cx="2381" cy="330994"/>
          </a:xfrm>
          <a:prstGeom prst="line">
            <a:avLst/>
          </a:prstGeom>
          <a:ln w="63500">
            <a:solidFill>
              <a:srgbClr val="ECE1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1150" y="2396618"/>
            <a:ext cx="487174" cy="487174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47114" y="2392490"/>
            <a:ext cx="1087577" cy="495431"/>
            <a:chOff x="10075659" y="2003022"/>
            <a:chExt cx="1156006" cy="495431"/>
          </a:xfrm>
        </p:grpSpPr>
        <p:pic>
          <p:nvPicPr>
            <p:cNvPr id="58" name="그림 5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공감적인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소통을 하는 방법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공감하며 </a:t>
            </a:r>
            <a:r>
              <a:rPr lang="ko-KR" altLang="en-US" sz="2400" b="1" dirty="0"/>
              <a:t>경청하기</a:t>
            </a:r>
            <a:r>
              <a:rPr lang="en-US" altLang="ko-KR" sz="2400" b="1" dirty="0"/>
              <a:t>: </a:t>
            </a:r>
            <a:r>
              <a:rPr lang="ko-KR" altLang="en-US" sz="2400" dirty="0"/>
              <a:t>상대방의 말을 귀 기울여 듣고</a:t>
            </a:r>
            <a:r>
              <a:rPr lang="en-US" altLang="ko-KR" sz="2400" dirty="0"/>
              <a:t>, </a:t>
            </a:r>
            <a:r>
              <a:rPr lang="ko-KR" altLang="en-US" sz="2400" dirty="0"/>
              <a:t>상대방의 입장에서 생각해 보는 역지사지의 자세 지니기</a:t>
            </a:r>
            <a:endParaRPr lang="en-US" altLang="ko-KR" sz="2400" b="1" dirty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존중하며 </a:t>
            </a:r>
            <a:r>
              <a:rPr lang="ko-KR" altLang="en-US" sz="2400" b="1" dirty="0"/>
              <a:t>대화하기</a:t>
            </a:r>
            <a:r>
              <a:rPr lang="en-US" altLang="ko-KR" sz="2400" b="1" dirty="0"/>
              <a:t>: </a:t>
            </a:r>
            <a:r>
              <a:rPr lang="ko-KR" altLang="en-US" sz="2400" dirty="0"/>
              <a:t>상대방을 존중하는 표현을 사용하며</a:t>
            </a:r>
            <a:r>
              <a:rPr lang="en-US" altLang="ko-KR" sz="2400" dirty="0"/>
              <a:t>, </a:t>
            </a:r>
            <a:r>
              <a:rPr lang="ko-KR" altLang="en-US" sz="2400" dirty="0"/>
              <a:t>상대방을 귀한 인격체로 존중하고 배려하기</a:t>
            </a:r>
            <a:endParaRPr lang="en-US" altLang="ko-KR" sz="2400" dirty="0"/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/>
              <a:t>감사하는 </a:t>
            </a:r>
            <a:r>
              <a:rPr lang="ko-KR" altLang="en-US" sz="2400" b="1" dirty="0"/>
              <a:t>마음 표현하기</a:t>
            </a:r>
            <a:r>
              <a:rPr lang="en-US" altLang="ko-KR" sz="2400" b="1" dirty="0"/>
              <a:t>: </a:t>
            </a:r>
            <a:r>
              <a:rPr lang="ko-KR" altLang="en-US" sz="2400" dirty="0"/>
              <a:t>가족 구성원의 노력을 </a:t>
            </a:r>
            <a:r>
              <a:rPr lang="ko-KR" altLang="en-US" sz="2400" dirty="0" smtClean="0"/>
              <a:t>알아주고</a:t>
            </a:r>
            <a:r>
              <a:rPr lang="en-US" altLang="ko-KR" sz="2400" dirty="0" smtClean="0"/>
              <a:t>,</a:t>
            </a:r>
            <a:r>
              <a:rPr lang="ko-KR" altLang="en-US" sz="2400" dirty="0" smtClean="0"/>
              <a:t> </a:t>
            </a:r>
            <a:r>
              <a:rPr lang="ko-KR" altLang="en-US" sz="2400" dirty="0"/>
              <a:t>가족에게 감사의 마음 전하기</a:t>
            </a:r>
            <a:endParaRPr lang="en-US" altLang="ko-KR" sz="24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공감적인</a:t>
            </a:r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 소통 실천하기 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70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0428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573310" y="2309564"/>
            <a:ext cx="10586351" cy="3503944"/>
            <a:chOff x="573310" y="2309564"/>
            <a:chExt cx="10586351" cy="350394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73310" y="2309564"/>
              <a:ext cx="5916001" cy="3486692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02769" y="2430027"/>
              <a:ext cx="5156892" cy="338348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가족 간 감사의 마음 표현하기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14553" y="2808132"/>
            <a:ext cx="2681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내             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할머니</a:t>
            </a:r>
            <a:endParaRPr lang="ko-KR" altLang="en-US" sz="2400" spc="-15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3714" y="161491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98864" y="1606662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타원 4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004241" y="3922741"/>
            <a:ext cx="8437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아침에 늦게 일어났는데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할머니께서 식빵을 구워 주셨다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4273" y="1596317"/>
            <a:ext cx="7851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가족 간 감사의 대화를 실천해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다음 빈칸을 완성해 보자</a:t>
            </a:r>
            <a:r>
              <a:rPr lang="en-US" altLang="ko-KR" sz="2000" b="1" dirty="0">
                <a:latin typeface="+mn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44997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37" grpId="0"/>
      <p:bldP spid="37" grpId="1"/>
      <p:bldP spid="27" grpId="0"/>
      <p:bldP spid="2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가족 간 감사의 마음 표현하기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pic>
        <p:nvPicPr>
          <p:cNvPr id="28" name="그림 27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13714" y="1614919"/>
            <a:ext cx="487174" cy="48717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98864" y="1606662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타원 4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74273" y="1596317"/>
            <a:ext cx="785182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가족 간 감사의 대화를 실천해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다음 빈칸을 완성해 보자</a:t>
            </a:r>
            <a:r>
              <a:rPr lang="en-US" altLang="ko-KR" sz="2000" b="1" dirty="0">
                <a:latin typeface="+mn-ea"/>
              </a:rPr>
              <a:t>.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666114" y="2435303"/>
            <a:ext cx="10434774" cy="3439286"/>
            <a:chOff x="666114" y="2427248"/>
            <a:chExt cx="10434774" cy="34473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66114" y="2427248"/>
              <a:ext cx="4985652" cy="3430088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684142" y="2449345"/>
              <a:ext cx="4589253" cy="3425244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11635" y="2449345"/>
              <a:ext cx="4589253" cy="3425244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1108655" y="4525911"/>
            <a:ext cx="9656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</a:rPr>
              <a:t>                           할머니께서 </a:t>
            </a:r>
            <a:r>
              <a:rPr lang="ko-KR" altLang="en-US" sz="2400" dirty="0">
                <a:solidFill>
                  <a:srgbClr val="0070C0"/>
                </a:solidFill>
              </a:rPr>
              <a:t>“우리 강아지가 잘 먹어 줘서 할머니가 더 고맙지</a:t>
            </a:r>
            <a:r>
              <a:rPr lang="en-US" altLang="ko-KR" sz="2400" dirty="0">
                <a:solidFill>
                  <a:srgbClr val="0070C0"/>
                </a:solidFill>
              </a:rPr>
              <a:t>.”</a:t>
            </a:r>
            <a:r>
              <a:rPr lang="ko-KR" altLang="en-US" sz="2400" dirty="0">
                <a:solidFill>
                  <a:srgbClr val="0070C0"/>
                </a:solidFill>
              </a:rPr>
              <a:t>라고 나에게 답장을 보내 주셨다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7978" y="2317797"/>
            <a:ext cx="9773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spc="-100" smtClean="0">
                <a:solidFill>
                  <a:srgbClr val="0070C0"/>
                </a:solidFill>
              </a:rPr>
              <a:t>                        할머니께 </a:t>
            </a:r>
            <a:r>
              <a:rPr lang="ko-KR" altLang="en-US" sz="2400" spc="-100" dirty="0">
                <a:solidFill>
                  <a:srgbClr val="0070C0"/>
                </a:solidFill>
              </a:rPr>
              <a:t>감사한 마음을 담아 휴대 전화로 메시지를 보냈다</a:t>
            </a:r>
            <a:r>
              <a:rPr lang="en-US" altLang="ko-KR" sz="2400" spc="-100" dirty="0">
                <a:solidFill>
                  <a:srgbClr val="0070C0"/>
                </a:solidFill>
              </a:rPr>
              <a:t>. </a:t>
            </a:r>
            <a:r>
              <a:rPr lang="en-US" altLang="ko-KR" sz="2400" spc="-100" dirty="0" smtClean="0">
                <a:solidFill>
                  <a:srgbClr val="0070C0"/>
                </a:solidFill>
              </a:rPr>
              <a:t>“</a:t>
            </a:r>
            <a:r>
              <a:rPr lang="ko-KR" altLang="en-US" sz="2400" spc="-100" dirty="0">
                <a:solidFill>
                  <a:srgbClr val="0070C0"/>
                </a:solidFill>
              </a:rPr>
              <a:t>할머니 </a:t>
            </a:r>
            <a:r>
              <a:rPr lang="ko-KR" altLang="en-US" sz="2400" spc="-100" dirty="0" smtClean="0">
                <a:solidFill>
                  <a:srgbClr val="0070C0"/>
                </a:solidFill>
              </a:rPr>
              <a:t>덕분에 </a:t>
            </a:r>
            <a:r>
              <a:rPr lang="ko-KR" altLang="en-US" sz="2400" spc="-100" dirty="0">
                <a:solidFill>
                  <a:srgbClr val="0070C0"/>
                </a:solidFill>
              </a:rPr>
              <a:t>고소한 식빵을 먹으며 </a:t>
            </a:r>
            <a:r>
              <a:rPr lang="ko-KR" altLang="en-US" sz="2400" spc="-100" dirty="0" smtClean="0">
                <a:solidFill>
                  <a:srgbClr val="0070C0"/>
                </a:solidFill>
              </a:rPr>
              <a:t>등교했어요</a:t>
            </a:r>
            <a:r>
              <a:rPr lang="en-US" altLang="ko-KR" sz="2400" spc="-100" dirty="0">
                <a:solidFill>
                  <a:srgbClr val="0070C0"/>
                </a:solidFill>
              </a:rPr>
              <a:t>! </a:t>
            </a:r>
            <a:r>
              <a:rPr lang="ko-KR" altLang="en-US" sz="2400" spc="-100" dirty="0">
                <a:solidFill>
                  <a:srgbClr val="0070C0"/>
                </a:solidFill>
              </a:rPr>
              <a:t>고맙습니다</a:t>
            </a:r>
            <a:r>
              <a:rPr lang="en-US" altLang="ko-KR" sz="2400" spc="-100" dirty="0">
                <a:solidFill>
                  <a:srgbClr val="0070C0"/>
                </a:solidFill>
              </a:rPr>
              <a:t>.♥”</a:t>
            </a:r>
            <a:endParaRPr lang="ko-KR" altLang="en-US" sz="2400" spc="-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83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31" grpId="0"/>
      <p:bldP spid="3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751561" y="2361653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나에게 생긴 변화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1561" y="3053463"/>
            <a:ext cx="10330621" cy="282028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가족 간 감사의 마음 표현하기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062" y="1596758"/>
            <a:ext cx="9534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</a:t>
            </a:r>
            <a:r>
              <a:rPr lang="en-US" altLang="ko-KR" sz="2000" b="1" smtClean="0">
                <a:latin typeface="+mn-ea"/>
              </a:rPr>
              <a:t>. </a:t>
            </a:r>
            <a:r>
              <a:rPr lang="ko-KR" altLang="en-US" sz="2000" b="1">
                <a:latin typeface="+mn-ea"/>
              </a:rPr>
              <a:t>가족 간 감사의 대화를 실천한 뒤 나와 우리 가족에게 생긴 변화를 찾아 써 보자</a:t>
            </a:r>
            <a:r>
              <a:rPr lang="en-US" altLang="ko-KR" sz="2000" b="1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0" name="그림 2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0509" y="2343880"/>
            <a:ext cx="487174" cy="487174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83033" y="2343880"/>
            <a:ext cx="1087577" cy="495431"/>
            <a:chOff x="10075659" y="2003022"/>
            <a:chExt cx="1156006" cy="495431"/>
          </a:xfrm>
        </p:grpSpPr>
        <p:pic>
          <p:nvPicPr>
            <p:cNvPr id="32" name="그림 3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837459" y="3074732"/>
            <a:ext cx="101353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예전에는 할머니께서 나에게 조언을 하시면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잔소리라고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생각하며 짜증을 냈었다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하지만 감사의 대화를 실천한 이후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일상에서 누리고 있던 많은 부분에는 할머니의 보이지 않는 도움이 있음을 깨닫게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이제는 할머니께서 조언을 하시면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잔소리라고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생각하지 않고 귀담아듣게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42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751561" y="2361653"/>
            <a:ext cx="27571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+mn-ea"/>
              </a:rPr>
              <a:t>가족에게 생긴 변화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51561" y="3053463"/>
            <a:ext cx="10330621" cy="282028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71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9475" y="588845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1007978" y="650906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>
                <a:solidFill>
                  <a:schemeClr val="bg1"/>
                </a:solidFill>
                <a:latin typeface="+mj-ea"/>
                <a:ea typeface="+mj-ea"/>
              </a:rPr>
              <a:t>깊이 </a:t>
            </a:r>
            <a:r>
              <a:rPr lang="ko-KR" altLang="en-US" sz="2400" b="1" spc="-15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660550" y="650906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9300"/>
                </a:solidFill>
                <a:latin typeface="+mj-ea"/>
                <a:ea typeface="+mj-ea"/>
              </a:rPr>
              <a:t>가족 간 감사의 마음 표현하기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7062" y="1596758"/>
            <a:ext cx="95349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</a:t>
            </a:r>
            <a:r>
              <a:rPr lang="en-US" altLang="ko-KR" sz="2000" b="1" smtClean="0">
                <a:latin typeface="+mn-ea"/>
              </a:rPr>
              <a:t>. </a:t>
            </a:r>
            <a:r>
              <a:rPr lang="ko-KR" altLang="en-US" sz="2000" b="1">
                <a:latin typeface="+mn-ea"/>
              </a:rPr>
              <a:t>가족 간 감사의 대화를 실천한 뒤 나와 우리 가족에게 생긴 변화를 찾아 써 보자</a:t>
            </a:r>
            <a:r>
              <a:rPr lang="en-US" altLang="ko-KR" sz="2000" b="1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0" name="그림 29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0509" y="2343880"/>
            <a:ext cx="487174" cy="487174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83033" y="2343880"/>
            <a:ext cx="1087577" cy="495431"/>
            <a:chOff x="10075659" y="2003022"/>
            <a:chExt cx="1156006" cy="495431"/>
          </a:xfrm>
        </p:grpSpPr>
        <p:pic>
          <p:nvPicPr>
            <p:cNvPr id="32" name="그림 31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837459" y="3074732"/>
            <a:ext cx="10135342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예전에는 가족과 함께 저녁을 먹고 나면 서로 대화를 하지 않고 각자 방에 들어가서 지내기 일쑤였다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하지만 요즈음 가족 간 감사의 대화를 실천한 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저녁을 먹은 후에도 모두 식탁에 앉아 후식을 먹으며 하루 동안 있었던 일들을 공유하고 서로 감사의 마음을 표현하게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9" name="타원 28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8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갈등을 민주적으로 해결하는 과정</a:t>
            </a:r>
            <a:endParaRPr lang="en-US" altLang="ko-KR" sz="2500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b="1" smtClean="0">
                <a:latin typeface="+mn-ea"/>
              </a:rPr>
              <a:t>1</a:t>
            </a:r>
            <a:r>
              <a:rPr lang="ko-KR" altLang="en-US" sz="2400" b="1" smtClean="0">
                <a:latin typeface="+mn-ea"/>
              </a:rPr>
              <a:t>단계 문제 확인</a:t>
            </a:r>
            <a:r>
              <a:rPr lang="en-US" altLang="ko-KR" sz="2400" b="1" smtClean="0">
                <a:latin typeface="+mn-ea"/>
              </a:rPr>
              <a:t>:</a:t>
            </a:r>
            <a:r>
              <a:rPr lang="en-US" altLang="ko-KR" sz="2400" smtClean="0">
                <a:latin typeface="+mn-ea"/>
              </a:rPr>
              <a:t> </a:t>
            </a:r>
            <a:r>
              <a:rPr lang="ko-KR" altLang="en-US" sz="2400">
                <a:latin typeface="Arial Rounded MT Bold" panose="020F0704030504030204" pitchFamily="34" charset="0"/>
              </a:rPr>
              <a:t>갈등 상황을 객관적으로 바라보며 문제 확인하기 </a:t>
            </a:r>
            <a:endParaRPr lang="en-US" altLang="ko-KR" sz="2400">
              <a:latin typeface="Arial Rounded MT Bold" panose="020F07040305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b="1">
                <a:latin typeface="+mn-ea"/>
              </a:rPr>
              <a:t>2</a:t>
            </a:r>
            <a:r>
              <a:rPr lang="ko-KR" altLang="en-US" sz="2400" b="1">
                <a:latin typeface="+mn-ea"/>
              </a:rPr>
              <a:t>단계 의견 제시 및 대안 탐색</a:t>
            </a:r>
            <a:r>
              <a:rPr lang="en-US" altLang="ko-KR" sz="2400" b="1">
                <a:latin typeface="+mn-ea"/>
              </a:rPr>
              <a:t>:</a:t>
            </a:r>
            <a:r>
              <a:rPr lang="en-US" altLang="ko-KR" sz="2400">
                <a:latin typeface="+mn-ea"/>
              </a:rPr>
              <a:t> </a:t>
            </a:r>
            <a:r>
              <a:rPr lang="ko-KR" altLang="en-US" sz="2400">
                <a:latin typeface="Arial Rounded MT Bold" panose="020F0704030504030204" pitchFamily="34" charset="0"/>
              </a:rPr>
              <a:t>문제의 해결 방안에 관한 다양한 의견 나누며 대안 탐색하기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2400" b="1">
                <a:latin typeface="+mn-ea"/>
              </a:rPr>
              <a:t>3</a:t>
            </a:r>
            <a:r>
              <a:rPr lang="ko-KR" altLang="en-US" sz="2400" b="1">
                <a:latin typeface="+mn-ea"/>
              </a:rPr>
              <a:t>단계 대안 선택 및 수용</a:t>
            </a:r>
            <a:r>
              <a:rPr lang="en-US" altLang="ko-KR" sz="2400" b="1">
                <a:latin typeface="+mn-ea"/>
              </a:rPr>
              <a:t>:</a:t>
            </a:r>
            <a:r>
              <a:rPr lang="en-US" altLang="ko-KR" sz="2400">
                <a:latin typeface="+mn-ea"/>
              </a:rPr>
              <a:t> </a:t>
            </a:r>
            <a:r>
              <a:rPr lang="ko-KR" altLang="en-US" sz="2400">
                <a:latin typeface="Arial Rounded MT Bold" panose="020F0704030504030204" pitchFamily="34" charset="0"/>
              </a:rPr>
              <a:t>대화와 합의를 통해 최선의 대안 선택하고</a:t>
            </a:r>
            <a:r>
              <a:rPr lang="en-US" altLang="ko-KR" sz="2400">
                <a:latin typeface="+mn-ea"/>
              </a:rPr>
              <a:t>,</a:t>
            </a:r>
            <a:r>
              <a:rPr lang="en-US" altLang="ko-KR" sz="2400">
                <a:latin typeface="Arial Rounded MT Bold" panose="020F0704030504030204" pitchFamily="34" charset="0"/>
              </a:rPr>
              <a:t> </a:t>
            </a:r>
            <a:r>
              <a:rPr lang="ko-KR" altLang="en-US" sz="2400">
                <a:latin typeface="Arial Rounded MT Bold" panose="020F0704030504030204" pitchFamily="34" charset="0"/>
              </a:rPr>
              <a:t>합의된 결과를 받아들이기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smtClean="0">
                <a:solidFill>
                  <a:srgbClr val="FFFF00"/>
                </a:solidFill>
                <a:latin typeface="+mn-ea"/>
              </a:rPr>
              <a:t>민주적인 과정으로 갈등 해결하기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2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49309" y="939883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65631" y="939883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  <a:endParaRPr lang="ko-KR" altLang="en-US" sz="16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8316" y="1393498"/>
            <a:ext cx="7308988" cy="4703796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rId6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50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49309" y="939883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65631" y="939883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  <a:endParaRPr lang="ko-KR" altLang="en-US" sz="16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8803" y="1334413"/>
            <a:ext cx="7368976" cy="47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1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49309" y="939883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65631" y="939883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  <a:endParaRPr lang="ko-KR" altLang="en-US" sz="16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4397" y="1983039"/>
            <a:ext cx="7390615" cy="3808162"/>
          </a:xfrm>
          <a:prstGeom prst="rect">
            <a:avLst/>
          </a:prstGeom>
        </p:spPr>
      </p:pic>
      <p:sp>
        <p:nvSpPr>
          <p:cNvPr id="16" name="타원 15">
            <a:hlinkClick r:id="rId6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60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318" y="1664310"/>
            <a:ext cx="702650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1. </a:t>
            </a:r>
            <a:r>
              <a:rPr lang="ko-KR" altLang="en-US" sz="2000" b="1" dirty="0"/>
              <a:t>위 이야기의 가족이 겪고 있는 </a:t>
            </a:r>
            <a:r>
              <a:rPr lang="ko-KR" altLang="en-US" sz="2000" b="1" dirty="0" smtClean="0"/>
              <a:t>문제는 </a:t>
            </a:r>
            <a:r>
              <a:rPr lang="ko-KR" altLang="en-US" sz="2000" b="1" dirty="0"/>
              <a:t>무엇인지 써 보자</a:t>
            </a:r>
            <a:r>
              <a:rPr lang="ko-KR" altLang="en-US" sz="2000" b="1" dirty="0" smtClean="0"/>
              <a:t>.</a:t>
            </a:r>
            <a:endParaRPr lang="ko-KR" altLang="en-US" sz="20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918917" y="2461663"/>
            <a:ext cx="10030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그동안 미루어 둔 대청소를 해야 하는데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각자 피곤하다는 이유로 대청소가 진행되지 않고 있다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pic>
        <p:nvPicPr>
          <p:cNvPr id="19" name="그림 1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1725" y="1661563"/>
            <a:ext cx="487174" cy="487174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793" y="1650935"/>
            <a:ext cx="1087577" cy="495431"/>
            <a:chOff x="10075659" y="2020326"/>
            <a:chExt cx="1156006" cy="495431"/>
          </a:xfrm>
        </p:grpSpPr>
        <p:pic>
          <p:nvPicPr>
            <p:cNvPr id="23" name="그림 2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20326"/>
              <a:ext cx="1156006" cy="495431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84623" y="2070068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023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2145635" y="2696760"/>
            <a:ext cx="7264067" cy="3909042"/>
            <a:chOff x="1473573" y="2753576"/>
            <a:chExt cx="7891901" cy="390904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73573" y="2753576"/>
              <a:ext cx="4914584" cy="3909042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75630" y="2753576"/>
              <a:ext cx="3689844" cy="3900416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8486" y="2432676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793" y="2432676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56449" y="2925430"/>
            <a:ext cx="1230463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지혜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91117" y="5376559"/>
            <a:ext cx="6245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</a:rPr>
              <a:t>- </a:t>
            </a:r>
            <a:r>
              <a:rPr lang="ko-KR" altLang="en-US" sz="2400" dirty="0">
                <a:solidFill>
                  <a:srgbClr val="0070C0"/>
                </a:solidFill>
              </a:rPr>
              <a:t>장점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  <a:r>
              <a:rPr lang="ko-KR" altLang="en-US" sz="2400" dirty="0">
                <a:solidFill>
                  <a:srgbClr val="0070C0"/>
                </a:solidFill>
              </a:rPr>
              <a:t>쉽고 빠르게 정할 수 있다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</a:p>
          <a:p>
            <a:r>
              <a:rPr lang="en-US" altLang="ko-KR" sz="2400" dirty="0">
                <a:solidFill>
                  <a:srgbClr val="0070C0"/>
                </a:solidFill>
              </a:rPr>
              <a:t>- </a:t>
            </a:r>
            <a:r>
              <a:rPr lang="ko-KR" altLang="en-US" sz="2400" dirty="0">
                <a:solidFill>
                  <a:srgbClr val="0070C0"/>
                </a:solidFill>
              </a:rPr>
              <a:t>단점</a:t>
            </a:r>
            <a:r>
              <a:rPr lang="en-US" altLang="ko-KR" sz="2400" dirty="0">
                <a:solidFill>
                  <a:srgbClr val="0070C0"/>
                </a:solidFill>
              </a:rPr>
              <a:t>: </a:t>
            </a:r>
            <a:r>
              <a:rPr lang="ko-KR" altLang="en-US" sz="2400" dirty="0">
                <a:solidFill>
                  <a:srgbClr val="0070C0"/>
                </a:solidFill>
              </a:rPr>
              <a:t>운에 따라 결정되므로 불공평하다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4430" y="4246452"/>
            <a:ext cx="7567686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가위바위보를 하여 이긴 사람이 역할을 정한다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317" y="1654785"/>
            <a:ext cx="10418789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2. </a:t>
            </a:r>
            <a:r>
              <a:rPr lang="ko-KR" altLang="en-US" sz="2000" b="1" dirty="0" err="1" smtClean="0"/>
              <a:t>모둠별로</a:t>
            </a:r>
            <a:r>
              <a:rPr lang="ko-KR" altLang="en-US" sz="2000" b="1" dirty="0" smtClean="0"/>
              <a:t> 위 이야기의 가족 역할을 나누어 맡고</a:t>
            </a:r>
            <a:r>
              <a:rPr lang="en-US" altLang="ko-KR" sz="2000" b="1" dirty="0" smtClean="0"/>
              <a:t>, </a:t>
            </a:r>
            <a:r>
              <a:rPr lang="ko-KR" altLang="en-US" sz="2000" b="1" dirty="0" smtClean="0"/>
              <a:t>역할극을 하며 문제 해결을 위한 의견을 제시하고 대안을 탐색해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1726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8" grpId="0"/>
      <p:bldP spid="28" grpId="1"/>
      <p:bldP spid="29" grpId="0"/>
      <p:bldP spid="2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81725" y="1661563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17793" y="165081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75156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73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2556" y="2468474"/>
            <a:ext cx="9864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</a:rPr>
              <a:t>가족 구성원이 함께 사용하는 공간은 다 같이 </a:t>
            </a:r>
            <a:r>
              <a:rPr lang="ko-KR" altLang="en-US" sz="2400" dirty="0" smtClean="0">
                <a:solidFill>
                  <a:srgbClr val="0070C0"/>
                </a:solidFill>
              </a:rPr>
              <a:t>청소하고 </a:t>
            </a:r>
            <a:r>
              <a:rPr lang="ko-KR" altLang="en-US" sz="2400" dirty="0">
                <a:solidFill>
                  <a:srgbClr val="0070C0"/>
                </a:solidFill>
              </a:rPr>
              <a:t>각자의 방은 </a:t>
            </a:r>
            <a:r>
              <a:rPr lang="ko-KR" altLang="en-US" sz="2400" dirty="0" smtClean="0">
                <a:solidFill>
                  <a:srgbClr val="0070C0"/>
                </a:solidFill>
              </a:rPr>
              <a:t>스스로 청소한다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1318" y="1664310"/>
            <a:ext cx="702650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smtClean="0"/>
              <a:t>3. </a:t>
            </a:r>
            <a:r>
              <a:rPr lang="ko-KR" altLang="en-US" sz="2000" b="1" dirty="0" smtClean="0"/>
              <a:t>우리 </a:t>
            </a:r>
            <a:r>
              <a:rPr lang="ko-KR" altLang="en-US" sz="2000" b="1" dirty="0" err="1" smtClean="0"/>
              <a:t>모둠이</a:t>
            </a:r>
            <a:r>
              <a:rPr lang="ko-KR" altLang="en-US" sz="2000" b="1" dirty="0" smtClean="0"/>
              <a:t> 합의를 통해 찾은 최선의 대안을 써 보자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4368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35" grpId="0"/>
      <p:bldP spid="3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17130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3DB250"/>
                </a:solidFill>
                <a:latin typeface="+mj-ea"/>
                <a:ea typeface="+mj-ea"/>
              </a:rPr>
              <a:t>7</a:t>
            </a:r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공감적인 소통으로 가정에서의 갈등을 해결하고자 노력하였는가</a:t>
            </a:r>
            <a:r>
              <a:rPr lang="en-US" altLang="ko-KR" sz="200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200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smtClean="0">
                <a:latin typeface="굴림" panose="020B0600000101010101" pitchFamily="50" charset="-127"/>
                <a:ea typeface="굴림" panose="020B0600000101010101" pitchFamily="50" charset="-127"/>
              </a:rPr>
              <a:t>우리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가족은 민주적인 과정으로 갈등을 해결하였는가</a:t>
            </a:r>
            <a:r>
              <a:rPr lang="en-US" altLang="ko-KR" sz="200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</a:rPr>
              <a:t>이제까지 가족 간에 갈등이 생기면 </a:t>
            </a:r>
            <a:r>
              <a:rPr lang="ko-KR" altLang="en-US" sz="2400" smtClean="0">
                <a:solidFill>
                  <a:srgbClr val="0070C0"/>
                </a:solidFill>
              </a:rPr>
              <a:t>모른 </a:t>
            </a:r>
            <a:r>
              <a:rPr lang="ko-KR" altLang="en-US" sz="2400">
                <a:solidFill>
                  <a:srgbClr val="0070C0"/>
                </a:solidFill>
              </a:rPr>
              <a:t>척 외면한 적이 많았다</a:t>
            </a:r>
            <a:r>
              <a:rPr lang="en-US" altLang="ko-KR" sz="2400">
                <a:solidFill>
                  <a:srgbClr val="0070C0"/>
                </a:solidFill>
              </a:rPr>
              <a:t>. </a:t>
            </a:r>
            <a:r>
              <a:rPr lang="ko-KR" altLang="en-US" sz="2400">
                <a:solidFill>
                  <a:srgbClr val="0070C0"/>
                </a:solidFill>
              </a:rPr>
              <a:t>앞으로는 가정에서의 갈등을 공감적인 소통과 민주적인 과정을 통해 해결하고자 노력해야겠다</a:t>
            </a:r>
            <a:r>
              <a:rPr lang="en-US" altLang="ko-KR" sz="2400">
                <a:solidFill>
                  <a:srgbClr val="0070C0"/>
                </a:solidFill>
              </a:rPr>
              <a:t>. </a:t>
            </a:r>
            <a:endParaRPr lang="ko-KR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12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26" grpId="0"/>
      <p:bldP spid="2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>
                <a:solidFill>
                  <a:schemeClr val="tx1"/>
                </a:solidFill>
              </a:rPr>
              <a:t>다음 시간에는</a:t>
            </a:r>
            <a:endParaRPr lang="en-US" altLang="ko-KR" sz="2800">
              <a:solidFill>
                <a:schemeClr val="tx1"/>
              </a:solidFill>
            </a:endParaRPr>
          </a:p>
          <a:p>
            <a:pPr algn="ctr"/>
            <a:endParaRPr lang="en-US" altLang="ko-KR" sz="2800">
              <a:solidFill>
                <a:schemeClr val="tx1"/>
              </a:solidFill>
            </a:endParaRPr>
          </a:p>
          <a:p>
            <a:pPr algn="ctr"/>
            <a:r>
              <a:rPr lang="en-US" altLang="ko-KR" sz="2800" b="1" smtClean="0">
                <a:solidFill>
                  <a:schemeClr val="tx1"/>
                </a:solidFill>
              </a:rPr>
              <a:t>“2. </a:t>
            </a:r>
            <a:r>
              <a:rPr lang="ko-KR" altLang="en-US" sz="2800" b="1" smtClean="0">
                <a:solidFill>
                  <a:schemeClr val="tx1"/>
                </a:solidFill>
              </a:rPr>
              <a:t>우정 </a:t>
            </a:r>
            <a:r>
              <a:rPr lang="en-US" altLang="ko-KR" sz="2800" b="1">
                <a:solidFill>
                  <a:schemeClr val="tx1"/>
                </a:solidFill>
              </a:rPr>
              <a:t>- 01</a:t>
            </a:r>
            <a:r>
              <a:rPr lang="en-US" altLang="ko-KR" sz="2800" b="1" smtClean="0">
                <a:solidFill>
                  <a:schemeClr val="tx1"/>
                </a:solidFill>
              </a:rPr>
              <a:t>. </a:t>
            </a:r>
            <a:r>
              <a:rPr lang="ko-KR" altLang="en-US" sz="2800" b="1" smtClean="0">
                <a:solidFill>
                  <a:schemeClr val="tx1"/>
                </a:solidFill>
              </a:rPr>
              <a:t>친구의 의미와 가치는 무엇일까</a:t>
            </a:r>
            <a:r>
              <a:rPr lang="en-US" altLang="ko-KR" sz="2800" b="1" smtClean="0">
                <a:solidFill>
                  <a:schemeClr val="tx1"/>
                </a:solidFill>
              </a:rPr>
              <a:t>?”</a:t>
            </a:r>
            <a:r>
              <a:rPr lang="ko-KR" altLang="en-US" sz="2800">
                <a:solidFill>
                  <a:schemeClr val="tx1"/>
                </a:solidFill>
              </a:rPr>
              <a:t>를</a:t>
            </a:r>
            <a:endParaRPr lang="en-US" altLang="ko-KR" sz="2800">
              <a:solidFill>
                <a:schemeClr val="tx1"/>
              </a:solidFill>
            </a:endParaRPr>
          </a:p>
          <a:p>
            <a:pPr algn="ctr"/>
            <a:endParaRPr lang="en-US" altLang="ko-KR" sz="2800">
              <a:solidFill>
                <a:schemeClr val="tx1"/>
              </a:solidFill>
            </a:endParaRPr>
          </a:p>
          <a:p>
            <a:pPr algn="ctr"/>
            <a:r>
              <a:rPr lang="ko-KR" altLang="en-US" sz="2800">
                <a:solidFill>
                  <a:schemeClr val="tx1"/>
                </a:solidFill>
              </a:rPr>
              <a:t>배워 보아요</a:t>
            </a:r>
            <a:r>
              <a:rPr lang="en-US" altLang="ko-KR" sz="2800">
                <a:solidFill>
                  <a:schemeClr val="tx1"/>
                </a:solidFill>
              </a:rPr>
              <a:t>.</a:t>
            </a:r>
            <a:endParaRPr lang="ko-KR" altLang="en-US" sz="2800">
              <a:solidFill>
                <a:schemeClr val="tx1"/>
              </a:solidFill>
            </a:endParaRPr>
          </a:p>
          <a:p>
            <a:pPr algn="ctr"/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공감적인 소통 실천하기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공감하며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경청 </a:t>
            </a:r>
            <a:r>
              <a:rPr sz="2400" b="1">
                <a:solidFill>
                  <a:srgbClr val="843C0C"/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동생이 울 때 “왜 울어!” 대신 “속상했구나, 무슨 일이야?”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가족이 하는 말을 끝까지 귀 기울여 듣기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아빠가 회사 이야기를 할 때 휴대폰을 내려놓고 고개 끄덕이기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상대방의 입장에서 생각해 보는 역지사지의 자세 지니기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“나라면 퇴근하고 집이 어질러져 있으면 어떨까?”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공감하며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경청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동생이 울 때 “왜 울어!” 대신 “속상했구나, 무슨 일이야?”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가족이 하는 말을 끝까지 귀 기울여 듣기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아빠가 회사 이야기를 할 때 휴대폰을 내려놓고 고개 끄덕이기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상대방의 입장에서 생각해 보는 역지사지의 자세 지니기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“나라면 퇴근하고 집이 어질러져 있으면 어떨까?”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공감하며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경청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동생이 울 때 “왜 울어!” 대신 “속상했구나, 무슨 일이야?”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가족이 하는 말을 끝까지 귀 기울여 듣기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아빠가 회사 이야기를 할 때 휴대폰을 내려놓고 고개 끄덕이기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상대방의 입장에서 생각해 보는 역지사지의 자세 지니기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“나라면 퇴근하고 집이 어질러져 있으면 어떨까?”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공감하며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경청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동생이 울 때 “왜 울어!” 대신 “속상했구나, 무슨 일이야?”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가족이 하는 말을 끝까지 귀 기울여 듣기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아빠가 회사 이야기를 할 때 휴대폰을 내려놓고 고개 끄덕이기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상대방의 입장에서 생각해 보는 역지사지의 자세 지니기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“나라면 퇴근하고 집이 어질러져 있으면 어떨까?”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공감하며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경청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동생이 울 때 “왜 울어!” 대신 “속상했구나, 무슨 일이야?”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가족이 하는 말을 끝까지 귀 기울여 듣기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아빠가 회사 이야기를 할 때 휴대폰을 내려놓고 고개 끄덕이기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상대방의 입장에서 생각해 보는 역지사지의 자세 지니기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“나라면 퇴근하고 집이 어질러져 있으면 어떨까?”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공감적인 소통 실천하기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존중하며 대화하기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감사하는 마음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표현 </a:t>
            </a:r>
            <a:r>
              <a:rPr sz="2400" b="1">
                <a:solidFill>
                  <a:srgbClr val="843C0C"/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가족 구성원의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노력 </a:t>
            </a:r>
            <a:r>
              <a:rPr sz="2400" b="0">
                <a:solidFill>
                  <a:srgbClr val="262626"/>
                </a:solidFill>
              </a:rPr>
              <a:t> 알아주기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“아빠, 오늘 국 진짜 맛있어요. 고마워요.”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가정에서 누리는 작은 일에도 사랑과 감사의 마음을 표현하기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존중하며 대화하기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감사하는 마음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표현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 구성원의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노력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알아주기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“아빠, 오늘 국 진짜 맛있어요. 고마워요.”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가정에서 누리는 작은 일에도 사랑과 감사의 마음을 표현하기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존중하며 대화하기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감사하는 마음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 구성원의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노력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알아주기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“아빠, 오늘 국 진짜 맛있어요. 고마워요.”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가정에서 누리는 작은 일에도 사랑과 감사의 마음을 표현하기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존중하며 대화하기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감사하는 마음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가족 구성원의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노력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알아주기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“아빠, 오늘 국 진짜 맛있어요. 고마워요.”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가정에서 누리는 작은 일에도 사랑과 감사의 마음을 표현하기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나-전달법 세 조각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상황 · “이어폰이 망가져서”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감정 · “나는 속상해”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바람 · “다음엔 먼저 물어봐 줘”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민주적인 과정으로 갈등 해결하기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갈등 상황을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객관적 </a:t>
            </a:r>
            <a:r>
              <a:rPr sz="2400" b="0">
                <a:solidFill>
                  <a:srgbClr val="262626"/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문제 </a:t>
            </a:r>
            <a:r>
              <a:rPr sz="2400" b="0">
                <a:solidFill>
                  <a:srgbClr val="262626"/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3단계 대안 선택 및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1단계 문제 확인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갈등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객관적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으로 바라보며 해결해야 할 문제가 무엇인지 확인하기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“게임 시간 때문에 엄마와 매일 다툰다.”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2단계 의견 제시 및 대안 탐색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주말만 하기 / 숙제 끝낸 뒤 1시간 / 타이머 쓰기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해결 방안에 관한 다양한 의견을 나누며 대안을 탐색하기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3단계 대안 선택 및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수용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“숙제 뒤 1시간” 으로 정하고 가족 모두 지키기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가족 구성원 간의 합의를 통해 최선의 대안을 선택하기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가족회의를 열었더니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72쪽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매주 일요일 저녁 · 어느 가족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안건 · 휴대 전화 사용 시간, 설거지 당번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규칙 · 누구나 한 번씩 말하고, 끝까지 듣는다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결정 · 모두가 받아들일 수 있을 때까지 이야기한 뒤 정한다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약속 · 정한 것은 다음 회의 때 다시 점검한다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부모님이 혼자 정할 때와 무엇이 다를까?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매주 일요일 저녁 · 어느 가족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안건 · 휴대 전화 사용 시간, 설거지 당번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규칙 · 누구나 한 번씩 말하고, 끝까지 듣는다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결정 · 모두가 받아들일 수 있을 때까지 이야기한 뒤 정한다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약속 · 정한 것은 다음 회의 때 다시 점검한다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부모님이 혼자 정할 때와 무엇이 다를까?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가족의 마음에 공감하며 경청하기 위해서는 역지사지의 자세가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가정에서 누리는 작은 일에도 사랑과 감사의 마음을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민주적인 과정으로 갈등을 해결하는 첫 번째 단계에서는 문제 해결 방안에 관한 다양한 의견을 나누어야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민주적인 과정으로 갈등을 해결하는 두 번째 단계에서는 가족 구성원 간의 합의를 통해 최선의 대안을 선택해야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가족의 마음에 공감하며 경청하기 위해서는 역지사지의 자세가 필요하다.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누리는 작은 일에도 사랑과 감사의 마음을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민주적인 과정으로 갈등을 해결하는 첫 번째 단계에서는 문제 해결 방안에 관한 다양한 의견을 나누어야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민주적인 과정으로 갈등을 해결하는 두 번째 단계에서는 가족 구성원 간의 합의를 통해 최선의 대안을 선택해야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가족의 마음에 공감하며 경청하기 위해서는 역지사지의 자세가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누리는 작은 일에도 사랑과 감사의 마음을 표현해야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민주적인 과정으로 갈등을 해결하는 첫 번째 단계에서는 문제 해결 방안에 관한 다양한 의견을 나누어야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민주적인 과정으로 갈등을 해결하는 두 번째 단계에서는 가족 구성원 간의 합의를 통해 최선의 대안을 선택해야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가족의 마음에 공감하며 경청하기 위해서는 역지사지의 자세가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누리는 작은 일에도 사랑과 감사의 마음을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민주적인 과정으로 갈등을 해결하는 첫 번째 단계에서는 문제 해결 방안에 관한 다양한 의견을 나누어야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민주적인 과정으로 갈등을 해결하는 두 번째 단계에서는 가족 구성원 간의 합의를 통해 최선의 대안을 선택해야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가족의 마음에 공감하며 경청하기 위해서는 역지사지의 자세가 필요하다.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가정에서 누리는 작은 일에도 사랑과 감사의 마음을 표현해야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민주적인 과정으로 갈등을 해결하는 첫 번째 단계에서는 문제 해결 방안에 관한 다양한 의견을 나누어야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민주적인 과정으로 갈등을 해결하는 두 번째 단계에서는 가족 구성원 간의 합의를 통해 최선의 대안을 선택해야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뒤집어서 존중하는 말 확인하기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“네가 또 잘못했겠지.”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“많이 속상했구나. 무슨 일이 있었는지 들려줄래?”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“엄마는 아무것도 모르잖아요!”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“친구 일로 너무 속상해요. 제 고민을 들어 주시겠어요?”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“너는 이것도 못해?”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“어려웠구나. 같이 한번 풀어 볼까?”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“네가 또 잘못했겠지.”</a:t>
            </a:r>
            <a:r>
              <a:rPr sz="2300" b="1">
                <a:solidFill>
                  <a:srgbClr val="C0392B"/>
                </a:solidFill>
              </a:rPr>
              <a:t>   → “많이 속상했구나. 무슨 일이 있었는지 들려줄래?”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“엄마는 아무것도 모르잖아요!”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“친구 일로 너무 속상해요. 제 고민을 들어 주시겠어요?”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“너는 이것도 못해?”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“어려웠구나. 같이 한번 풀어 볼까?”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“네가 또 잘못했겠지.”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“많이 속상했구나. 무슨 일이 있었는지 들려줄래?”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“엄마는 아무것도 모르잖아요!”</a:t>
            </a:r>
            <a:r>
              <a:rPr sz="2300" b="1">
                <a:solidFill>
                  <a:srgbClr val="C0392B"/>
                </a:solidFill>
              </a:rPr>
              <a:t>   → “친구 일로 너무 속상해요. 제 고민을 들어 주시겠어요?”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“너는 이것도 못해?”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“어려웠구나. 같이 한번 풀어 볼까?”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“네가 또 잘못했겠지.”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“많이 속상했구나. 무슨 일이 있었는지 들려줄래?”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“엄마는 아무것도 모르잖아요!”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“친구 일로 너무 속상해요. 제 고민을 들어 주시겠어요?”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“너는 이것도 못해?”</a:t>
            </a:r>
            <a:r>
              <a:rPr sz="2300" b="1">
                <a:solidFill>
                  <a:srgbClr val="C0392B"/>
                </a:solidFill>
              </a:rPr>
              <a:t>   → “어려웠구나. 같이 한번 풀어 볼까?”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 err="1" smtClean="0">
                <a:solidFill>
                  <a:srgbClr val="FFFF00"/>
                </a:solidFill>
                <a:latin typeface="+mn-ea"/>
              </a:rPr>
              <a:t>➕ 나-전달법으로 바꿔 쓰기 (상황 + 감정 + 바람)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“너 왜 내 방에 마음대로 들어와?”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노크 없이 들어오면 깜짝 놀라. 들어올 땐 노크해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“아빠는 내 말을 하나도 안 들어!”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제 말이 중간에 끊기면 답답해요. 끝까지 들어 주시면 좋겠어요.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“너 왜 내 방에 마음대로 들어와?”</a:t>
            </a:r>
            <a:r>
              <a:rPr sz="2300" b="1">
                <a:solidFill>
                  <a:srgbClr val="C0392B"/>
                </a:solidFill>
              </a:rPr>
              <a:t>   예) 노크 없이 들어오면 깜짝 놀라. 들어올 땐 노크해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“아빠는 내 말을 하나도 안 들어!”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제 말이 중간에 끊기면 답답해요. 끝까지 들어 주시면 좋겠어요.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“너 왜 내 방에 마음대로 들어와?”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노크 없이 들어오면 깜짝 놀라. 들어올 땐 노크해 줘.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“아빠는 내 말을 하나도 안 들어!”</a:t>
            </a:r>
            <a:r>
              <a:rPr sz="2300" b="1">
                <a:solidFill>
                  <a:srgbClr val="C0392B"/>
                </a:solidFill>
              </a:rPr>
              <a:t>   예) 제 말이 중간에 끊기면 답답해요. 끝까지 들어 주시면 좋겠어요.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err="1" smtClean="0">
                <a:solidFill>
                  <a:srgbClr val="FFFF00"/>
                </a:solidFill>
                <a:latin typeface="+mn-ea"/>
              </a:rPr>
              <a:t>민주적 해결 몇 단계일까?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68쪽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02. </a:t>
            </a:r>
            <a:r>
              <a:rPr lang="ko-KR" altLang="en-US" b="1" smtClean="0">
                <a:latin typeface="+mj-ea"/>
                <a:ea typeface="+mj-ea"/>
              </a:rPr>
              <a:t>가정에서 발생하는 갈등을 어떻게 해결할 수 있을까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가정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1 문제 확인 · 2 의견·대안 탐색 · 3 대안 선택·수용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“일단 화를 가라앉히고, 무엇이 문제인지 말해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1 문제 확인 (감정을 가라앉히고 객관적으로)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“가위바위보는 빠르지만 운에 맡겨서 불공평해.”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(장단점 분석)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“다 같이 정한 방법이니 그대로 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3 대안 선택·수용 (합의한 결과 받아들이기)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“각자 하고 싶은 방법을 하나씩 말해 볼까?”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(의견 제시)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1 문제 확인 · 2 의견·대안 탐색 · 3 대안 선택·수용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“일단 화를 가라앉히고, 무엇이 문제인지 말해 보자.”</a:t>
            </a:r>
            <a:r>
              <a:rPr sz="2300" b="1">
                <a:solidFill>
                  <a:srgbClr val="C0392B"/>
                </a:solidFill>
              </a:rPr>
              <a:t>   → 1 문제 확인 (감정을 가라앉히고 객관적으로)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“가위바위보는 빠르지만 운에 맡겨서 불공평해.”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(장단점 분석)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“다 같이 정한 방법이니 그대로 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3 대안 선택·수용 (합의한 결과 받아들이기)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“각자 하고 싶은 방법을 하나씩 말해 볼까?”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(의견 제시)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1 문제 확인 · 2 의견·대안 탐색 · 3 대안 선택·수용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“일단 화를 가라앉히고, 무엇이 문제인지 말해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1 문제 확인 (감정을 가라앉히고 객관적으로)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“가위바위보는 빠르지만 운에 맡겨서 불공평해.”</a:t>
            </a:r>
            <a:r>
              <a:rPr sz="2300" b="1">
                <a:solidFill>
                  <a:srgbClr val="C0392B"/>
                </a:solidFill>
              </a:rPr>
              <a:t>   → 2 의견·대안 탐색 (장단점 분석)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“다 같이 정한 방법이니 그대로 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3 대안 선택·수용 (합의한 결과 받아들이기)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“각자 하고 싶은 방법을 하나씩 말해 볼까?”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(의견 제시)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1 문제 확인 · 2 의견·대안 탐색 · 3 대안 선택·수용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“일단 화를 가라앉히고, 무엇이 문제인지 말해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1 문제 확인 (감정을 가라앉히고 객관적으로)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“가위바위보는 빠르지만 운에 맡겨서 불공평해.”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(장단점 분석)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“다 같이 정한 방법이니 그대로 해 보자.”</a:t>
            </a:r>
            <a:r>
              <a:rPr sz="2300" b="1">
                <a:solidFill>
                  <a:srgbClr val="C0392B"/>
                </a:solidFill>
              </a:rPr>
              <a:t>   → 3 대안 선택·수용 (합의한 결과 받아들이기)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“각자 하고 싶은 방법을 하나씩 말해 볼까?”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(의견 제시)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1 문제 확인 · 2 의견·대안 탐색 · 3 대안 선택·수용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“일단 화를 가라앉히고, 무엇이 문제인지 말해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1 문제 확인 (감정을 가라앉히고 객관적으로)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“가위바위보는 빠르지만 운에 맡겨서 불공평해.”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2 의견·대안 탐색 (장단점 분석)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“다 같이 정한 방법이니 그대로 해 보자.”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3 대안 선택·수용 (합의한 결과 받아들이기)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“각자 하고 싶은 방법을 하나씩 말해 볼까?”</a:t>
            </a:r>
            <a:r>
              <a:rPr sz="2300" b="1">
                <a:solidFill>
                  <a:srgbClr val="C0392B"/>
                </a:solidFill>
              </a:rPr>
              <a:t>   → 2 의견·대안 탐색 (의견 제시)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9060</TotalTime>
  <Words>1279</Words>
  <Application>Microsoft Office PowerPoint</Application>
  <PresentationFormat>와이드스크린</PresentationFormat>
  <Paragraphs>243</Paragraphs>
  <Slides>24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굴림</vt:lpstr>
      <vt:lpstr>나눔고딕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224</cp:revision>
  <cp:lastPrinted>2024-06-05T04:53:22Z</cp:lastPrinted>
  <dcterms:created xsi:type="dcterms:W3CDTF">2023-10-31T05:50:03Z</dcterms:created>
  <dcterms:modified xsi:type="dcterms:W3CDTF">2025-01-10T06:36:48Z</dcterms:modified>
</cp:coreProperties>
</file>