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media/image5900.svg" ContentType="image/svg+xml"/>
  <Override PartName="/ppt/media/image59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17"/>
  </p:notesMasterIdLst>
  <p:handoutMasterIdLst>
    <p:handoutMasterId r:id="rId18"/>
  </p:handoutMasterIdLst>
  <p:sldIdLst>
    <p:sldId id="400" r:id="rId2"/>
    <p:sldId id="301" r:id="rId3"/>
    <p:sldId id="403" r:id="rId4"/>
    <p:sldId id="305" r:id="rId5"/>
    <p:sldId id="405" r:id="rId6"/>
    <p:sldId id="394" r:id="rId7"/>
    <p:sldId id="401" r:id="rId8"/>
    <p:sldId id="398" r:id="rId9"/>
    <p:sldId id="406" r:id="rId24"/>
    <p:sldId id="407" r:id="rId25"/>
    <p:sldId id="393" r:id="rId10"/>
    <p:sldId id="270" r:id="rId11"/>
    <p:sldId id="360" r:id="rId12"/>
    <p:sldId id="404" r:id="rId13"/>
    <p:sldId id="389" r:id="rId14"/>
    <p:sldId id="408" r:id="rId26"/>
    <p:sldId id="409" r:id="rId27"/>
    <p:sldId id="410" r:id="rId28"/>
    <p:sldId id="411" r:id="rId29"/>
    <p:sldId id="395" r:id="rId15"/>
    <p:sldId id="412" r:id="rId30"/>
    <p:sldId id="413" r:id="rId31"/>
    <p:sldId id="414" r:id="rId32"/>
    <p:sldId id="415" r:id="rId33"/>
    <p:sldId id="348" r:id="rId16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DBC7"/>
    <a:srgbClr val="A7D7C2"/>
    <a:srgbClr val="FCDAD8"/>
    <a:srgbClr val="FF9300"/>
    <a:srgbClr val="FFFF00"/>
    <a:srgbClr val="D9E1E9"/>
    <a:srgbClr val="E8F6FD"/>
    <a:srgbClr val="F0FFF6"/>
    <a:srgbClr val="019BFF"/>
    <a:srgbClr val="FFF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606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commentAuthors" Target="commentAuthors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마음 열기</a:t>
            </a:r>
          </a:p>
          <a:p>
            <a:r>
              <a:t>휴대 전화 사용을 허락하는 학교라면 ‘화면 시간’ 기능으로 확인. 아니면 어림해서 적게 한다. 비교·비난이 아니라 관찰.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현실의 도덕 규칙을 존중하면서, 가상공간만의 특성을 고려한 새로운 도덕 규칙도 필요하다.</a:t>
            </a:r>
          </a:p>
          <a:p>
            <a:r>
              <a:t>교과서 98쪽 자료: 영화 〈레디 플레이어 원〉의 ‘오아시스’로 세 특성 찾기.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영속성과 잊힐 권리</a:t>
            </a:r>
          </a:p>
          <a:p>
            <a:r>
              <a:t>유럽 연합 사법 재판소의 ‘구글 스페인’ 판결(2014.5.13). 인터넷에 올라간 정보는 오래 남아 사람을 따라다닐 수 있다(디지털 발자국).</a:t>
            </a:r>
          </a:p>
          <a:p>
            <a:r>
              <a:t>발문 “10년 뒤의 내가 지금 내 게시물을 본다면?”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핵심 메시지</a:t>
            </a:r>
          </a:p>
          <a:p>
            <a:r>
              <a:t>가상공간의 모든 아이디, 프로필 사진 뒤에는 감정을 가진 사람이 있다. 다음 시간: 가상공간에서 생기는 도덕 문제.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장면 속에 숨은 가상공간의 특성을 교과서 용어로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장면 속에 숨은 가상공간의 특성을 교과서 용어로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장면 속에 숨은 가상공간의 특성을 교과서 용어로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5.png"/><Relationship Id="rId6" Type="http://schemas.microsoft.com/office/2007/relationships/hdphoto" Target="../media/hdphoto1.wdp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35.png"/><Relationship Id="rId6" Type="http://schemas.microsoft.com/office/2007/relationships/hdphoto" Target="../media/hdphoto1.wdp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1.svg"/><Relationship Id="rId5" Type="http://schemas.openxmlformats.org/officeDocument/2006/relationships/image" Target="../media/image32.png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437040" y="2268741"/>
            <a:ext cx="732859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>
                <a:ln w="22225">
                  <a:noFill/>
                  <a:prstDash val="solid"/>
                </a:ln>
                <a:latin typeface="+mj-ea"/>
                <a:ea typeface="+mj-ea"/>
              </a:rPr>
              <a:t>가상공간의 의미와 </a:t>
            </a:r>
            <a:endParaRPr lang="en-US" altLang="ko-KR" sz="5400" b="1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smtClean="0">
                <a:ln w="22225">
                  <a:noFill/>
                  <a:prstDash val="solid"/>
                </a:ln>
                <a:latin typeface="+mj-ea"/>
                <a:ea typeface="+mj-ea"/>
              </a:rPr>
              <a:t>특성은 </a:t>
            </a:r>
            <a:r>
              <a:rPr lang="ko-KR" altLang="en-US" sz="5400" b="1">
                <a:ln w="22225">
                  <a:noFill/>
                  <a:prstDash val="solid"/>
                </a:ln>
                <a:latin typeface="+mj-ea"/>
                <a:ea typeface="+mj-ea"/>
              </a:rPr>
              <a:t>무엇일까</a:t>
            </a:r>
            <a:r>
              <a:rPr lang="en-US" altLang="ko-KR" sz="5400" b="1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06050" y="490171"/>
            <a:ext cx="2203230" cy="96769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570182" y="712407"/>
            <a:ext cx="32371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3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가상공간의 윤리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400405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75356"/>
            <a:ext cx="10293350" cy="787400"/>
            <a:chOff x="914400" y="2362200"/>
            <a:chExt cx="10293350" cy="787400"/>
          </a:xfrm>
        </p:grpSpPr>
        <p:sp>
          <p:nvSpPr>
            <p:cNvPr id="23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가상공간의 의미와 유형을 설명할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가상공간의 특성을 현실 세계와 비교하여 제시할 수 있다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en-US" altLang="ko-KR" b="1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en-US" altLang="ko-KR" sz="1100" b="1">
                <a:solidFill>
                  <a:srgbClr val="3DB250"/>
                </a:solidFill>
                <a:latin typeface="+mj-ea"/>
                <a:ea typeface="+mj-ea"/>
              </a:rPr>
              <a:t>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3</a:t>
            </a:r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842589" y="939535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en-US" altLang="ko-KR" sz="1100" b="1">
                <a:solidFill>
                  <a:srgbClr val="3DB250"/>
                </a:solidFill>
                <a:latin typeface="+mj-ea"/>
                <a:ea typeface="+mj-ea"/>
              </a:rPr>
              <a:t>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5982" y="1640763"/>
            <a:ext cx="10190736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가상공간을 다룬 다큐멘터리 프로그램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너를 만났다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는 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먼저 세상을 떠난 가족을 다시 만난다면 어떨까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?’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라는 상상에서 시작하였다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제작진은 여러 기술을 이용하여 가상공간을 마치 현실에 존재하는 공간처럼 실감 나게 만들어 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첫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번째 이야기는 난치병으로 일곱 살에 안타깝게 세상을 떠난 아이와 그 아이를 그리워하는 엄마가 가상공간에서 만나 함께 생일잔치를 하는 내용이었다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아이를 만난 엄마는 비록 가상공간 속 경험이었지만 큰 위로를 받았다고 하였다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또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다른 이야기에서는 화재 현장에서 소방관이 겪는 일을 시청자들이 간접적으로 체험해 보도록 하였다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또한 건설 현장을 재현하여 그곳에서 일하는 사람들의 삶을 엿볼 수도 있었다</a:t>
            </a:r>
            <a:r>
              <a:rPr lang="en-US" altLang="ko-KR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                                             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문화 방송</a:t>
            </a:r>
            <a:r>
              <a:rPr lang="en-US" altLang="ko-KR" dirty="0">
                <a:latin typeface="굴림" panose="020B0600000101010101" pitchFamily="50" charset="-127"/>
                <a:ea typeface="굴림" panose="020B0600000101010101" pitchFamily="50" charset="-127"/>
              </a:rPr>
              <a:t>, 〈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너를 만났다</a:t>
            </a:r>
            <a:r>
              <a:rPr lang="en-US" altLang="ko-KR" dirty="0" smtClean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en-US" altLang="ko-KR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94334" y="902495"/>
            <a:ext cx="404647" cy="42328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16346" y="946291"/>
            <a:ext cx="800219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1891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433260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047774" y="932362"/>
            <a:ext cx="800219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1034" y="934614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</a:t>
            </a:r>
            <a:r>
              <a:rPr lang="en-US" altLang="ko-KR" sz="1100" b="1">
                <a:solidFill>
                  <a:srgbClr val="3DB250"/>
                </a:solidFill>
                <a:latin typeface="+mj-ea"/>
                <a:ea typeface="+mj-ea"/>
              </a:rPr>
              <a:t>5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51128" y="2967415"/>
            <a:ext cx="9784141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세상을 떠난 반려견과 함께 뛰어놀고 싶다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해외에 나가지 않고 내가 좋아하는 외국 가수를 만나고 싶다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백성을 사랑했던 세종 대왕이 집현전 학자들과 대화하는 모습을 구경하고 싶다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485" y="1599195"/>
            <a:ext cx="10216283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>
                <a:latin typeface="+mn-ea"/>
              </a:rPr>
              <a:t>다음 글을 읽고 내가 만일 </a:t>
            </a:r>
            <a:r>
              <a:rPr lang="en-US" altLang="ko-KR" sz="2000" b="1">
                <a:latin typeface="+mn-ea"/>
              </a:rPr>
              <a:t>〈</a:t>
            </a:r>
            <a:r>
              <a:rPr lang="ko-KR" altLang="en-US" sz="2000" b="1">
                <a:latin typeface="+mn-ea"/>
              </a:rPr>
              <a:t>너를 만났다</a:t>
            </a:r>
            <a:r>
              <a:rPr lang="en-US" altLang="ko-KR" sz="2000" b="1">
                <a:latin typeface="+mn-ea"/>
              </a:rPr>
              <a:t>〉 </a:t>
            </a:r>
            <a:r>
              <a:rPr lang="ko-KR" altLang="en-US" sz="2000" b="1">
                <a:latin typeface="+mn-ea"/>
              </a:rPr>
              <a:t>프로그램에 출연한다면 어떤 경험을 해 보고 싶은지 써 보자</a:t>
            </a:r>
            <a:r>
              <a:rPr lang="en-US" altLang="ko-KR" sz="2000" b="1">
                <a:latin typeface="+mn-ea"/>
              </a:rPr>
              <a:t>. </a:t>
            </a:r>
          </a:p>
        </p:txBody>
      </p:sp>
      <p:pic>
        <p:nvPicPr>
          <p:cNvPr id="34" name="그림 3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35" name="그룹 3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6" name="그림 3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4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45017"/>
            <a:ext cx="6362701" cy="3210401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0018" y="1596520"/>
            <a:ext cx="8601887" cy="2552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민호는 친구들과 온라인 단체 대화방에서 만나 도덕 수업 발표를 준비하였다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저녁에는 온라인 게임에 접속하여 외국인 친구를 만났다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그 친구는 누리 소통망에서 사귄 친구이다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이번 주말에는 바둑 동호회 회원들과 함께 메타버스 공간에서 만나 바둑을 두기로 하였다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민호는 자신의 방 안에 있었지만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>
                <a:latin typeface="굴림" panose="020B0600000101010101" pitchFamily="50" charset="-127"/>
                <a:ea typeface="굴림" panose="020B0600000101010101" pitchFamily="50" charset="-127"/>
              </a:rPr>
              <a:t>다양한 사람들을 가까이에서 만나는 듯한 기분을 느꼈다</a:t>
            </a:r>
            <a:r>
              <a:rPr lang="en-US" altLang="ko-KR" sz="2200" spc="-15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07669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1" y="1613182"/>
            <a:ext cx="62921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위 이야기에 등장하는 가상공간을 모두 찾아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4189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2439788"/>
            <a:ext cx="978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온라인 단체 대화방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온라인 게임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누리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소통망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메타버스 공간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92760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가상공간의 의미와 유형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4" name="TextBox 23"/>
          <p:cNvSpPr txBox="1"/>
          <p:nvPr/>
        </p:nvSpPr>
        <p:spPr>
          <a:xfrm>
            <a:off x="622056" y="1510186"/>
            <a:ext cx="11028475" cy="40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가상공간의 의미 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컴퓨터나 스마트폰 등과 같은 디지털 기기와 정보 통신망을 통해 정보를 교환하고 공유하는 활동 공간</a:t>
            </a:r>
            <a:endParaRPr lang="en-US" altLang="ko-KR" sz="2400" dirty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가상공간의 </a:t>
            </a: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유형</a:t>
            </a:r>
            <a:endParaRPr lang="en-US" altLang="ko-KR" sz="2500" b="1" dirty="0">
              <a:solidFill>
                <a:schemeClr val="accent2">
                  <a:lumMod val="50000"/>
                </a:schemeClr>
              </a:solidFill>
              <a:latin typeface="+mj-ea"/>
              <a:ea typeface="+mj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온라인 단체 대화방</a:t>
            </a:r>
            <a:r>
              <a:rPr lang="en-US" altLang="ko-KR" sz="2400">
                <a:latin typeface="+mn-ea"/>
              </a:rPr>
              <a:t>, </a:t>
            </a:r>
            <a:r>
              <a:rPr lang="ko-KR" altLang="en-US" sz="2400" smtClean="0">
                <a:latin typeface="+mn-ea"/>
              </a:rPr>
              <a:t>누리 </a:t>
            </a:r>
            <a:r>
              <a:rPr lang="ko-KR" altLang="en-US" sz="2400" dirty="0" err="1">
                <a:latin typeface="+mn-ea"/>
              </a:rPr>
              <a:t>소통망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메타버스 공간  </a:t>
            </a: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Arial Rounded MT Bold" panose="020F07040305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87443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75415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931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>
                <a:solidFill>
                  <a:schemeClr val="accent2">
                    <a:lumMod val="50000"/>
                  </a:schemeClr>
                </a:solidFill>
                <a:latin typeface="+mn-ea"/>
              </a:rPr>
              <a:t>가상공간의 의미 </a:t>
            </a:r>
          </a:p>
          <a:p>
            <a:pPr algn="just">
              <a:lnSpc>
                <a:spcPct val="150000"/>
              </a:lnSpc>
            </a:pPr>
            <a:r>
              <a:rPr lang="ko-KR" altLang="en-US" sz="2400">
                <a:latin typeface="Arial Rounded MT Bold" panose="020F0704030504030204" pitchFamily="34" charset="0"/>
              </a:rPr>
              <a:t>우리가 세상에 태어나 하루하루를 살아가며 채워 가는 모든 </a:t>
            </a:r>
            <a:r>
              <a:rPr lang="ko-KR" altLang="en-US" sz="2400" smtClean="0">
                <a:latin typeface="Arial Rounded MT Bold" panose="020F0704030504030204" pitchFamily="34" charset="0"/>
              </a:rPr>
              <a:t>과정</a:t>
            </a:r>
            <a:endParaRPr lang="en-US" altLang="ko-KR" sz="2400" smtClean="0">
              <a:latin typeface="Arial Rounded MT Bold" panose="020F07040305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ko-KR" sz="2500" b="1" smtClean="0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smtClean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가상공간의 </a:t>
            </a:r>
            <a:r>
              <a:rPr lang="ko-KR" altLang="en-US" sz="2500" b="1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</a:rPr>
              <a:t>유형</a:t>
            </a:r>
            <a:endParaRPr lang="en-US" altLang="ko-KR" sz="2500" b="1">
              <a:solidFill>
                <a:schemeClr val="accent2">
                  <a:lumMod val="50000"/>
                </a:schemeClr>
              </a:solidFill>
              <a:latin typeface="Arial Rounded MT Bold" panose="020F0704030504030204" pitchFamily="34" charset="0"/>
            </a:endParaRPr>
          </a:p>
          <a:p>
            <a:pPr algn="just">
              <a:lnSpc>
                <a:spcPct val="150000"/>
              </a:lnSpc>
            </a:pPr>
            <a:endParaRPr lang="en-US" altLang="ko-KR" sz="2400">
              <a:latin typeface="Arial Rounded MT Bold" panose="020F0704030504030204" pitchFamily="34" charset="0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가상공간의 의미와 유형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96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22056" y="3865766"/>
            <a:ext cx="928573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온라인 단체 대화방</a:t>
            </a:r>
            <a:r>
              <a:rPr lang="en-US" altLang="ko-KR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온라인 게임</a:t>
            </a:r>
            <a:r>
              <a:rPr lang="en-US" altLang="ko-KR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누리 소통망</a:t>
            </a:r>
            <a:r>
              <a:rPr lang="en-US" altLang="ko-KR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400">
                <a:latin typeface="맑은 고딕" panose="020B0503020000020004" pitchFamily="50" charset="-127"/>
                <a:ea typeface="맑은 고딕" panose="020B0503020000020004" pitchFamily="50" charset="-127"/>
              </a:rPr>
              <a:t>메타버스 공간  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2" name="그림 21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3" name="TextBox 2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4" name="Google Shape;229;p6"/>
          <p:cNvSpPr/>
          <p:nvPr/>
        </p:nvSpPr>
        <p:spPr>
          <a:xfrm>
            <a:off x="0" y="25400"/>
            <a:ext cx="12192000" cy="6858000"/>
          </a:xfrm>
          <a:prstGeom prst="rect">
            <a:avLst/>
          </a:prstGeom>
          <a:solidFill>
            <a:schemeClr val="dk1">
              <a:alpha val="6941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800"/>
            </a:pPr>
            <a:endParaRPr sz="1800">
              <a:solidFill>
                <a:schemeClr val="lt1"/>
              </a:solidFill>
              <a:latin typeface="AppleSDGothicNeoB00" panose="02000503000000000000" pitchFamily="2" charset="-127"/>
              <a:ea typeface="AppleSDGothicNeoB00" panose="02000503000000000000" pitchFamily="2" charset="-127"/>
              <a:cs typeface="Malgun Gothic"/>
              <a:sym typeface="Malgun Gothic"/>
            </a:endParaRPr>
          </a:p>
        </p:txBody>
      </p:sp>
      <p:sp>
        <p:nvSpPr>
          <p:cNvPr id="25" name="사각형: 둥근 모서리 25">
            <a:extLst>
              <a:ext uri="{FF2B5EF4-FFF2-40B4-BE49-F238E27FC236}">
                <a16:creationId xmlns:a16="http://schemas.microsoft.com/office/drawing/2014/main" id="{5774C9A1-97EC-0D55-CC78-E79C45A8BF25}"/>
              </a:ext>
            </a:extLst>
          </p:cNvPr>
          <p:cNvSpPr/>
          <p:nvPr/>
        </p:nvSpPr>
        <p:spPr>
          <a:xfrm>
            <a:off x="248168" y="827095"/>
            <a:ext cx="11695665" cy="5880209"/>
          </a:xfrm>
          <a:prstGeom prst="roundRect">
            <a:avLst>
              <a:gd name="adj" fmla="val 432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6" name="그림 25" descr="상징, 원, 다채로움, 그린이(가) 표시된 사진&#10;&#10;자동 생성된 설명">
            <a:hlinkClick r:id="" action="ppaction://hlinkshowjump?jump=previousslide"/>
            <a:extLst>
              <a:ext uri="{FF2B5EF4-FFF2-40B4-BE49-F238E27FC236}">
                <a16:creationId xmlns:a16="http://schemas.microsoft.com/office/drawing/2014/main" id="{97505E8B-AD8F-CFF6-FC0F-0FF6BE8CC75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74222" y="897340"/>
            <a:ext cx="473351" cy="473351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622056" y="1194899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2624866" y="1154938"/>
            <a:ext cx="7874038" cy="534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메타버스</a:t>
            </a:r>
            <a:r>
              <a:rPr lang="en-US" altLang="ko-KR" sz="22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(</a:t>
            </a:r>
            <a:r>
              <a:rPr lang="en-US" altLang="ko-KR" sz="2200" b="1" dirty="0" err="1">
                <a:solidFill>
                  <a:schemeClr val="accent6">
                    <a:lumMod val="50000"/>
                  </a:schemeClr>
                </a:solidFill>
                <a:latin typeface="+mn-ea"/>
              </a:rPr>
              <a:t>metaverse</a:t>
            </a:r>
            <a:r>
              <a:rPr lang="en-US" altLang="ko-KR" sz="2200" b="1" dirty="0">
                <a:solidFill>
                  <a:schemeClr val="accent6">
                    <a:lumMod val="50000"/>
                  </a:schemeClr>
                </a:solidFill>
                <a:latin typeface="+mn-ea"/>
              </a:rPr>
              <a:t>)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689740" y="2017479"/>
            <a:ext cx="10752166" cy="23287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뒤의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’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 혹은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너머의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’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라는 의미의 메타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(meta)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와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세계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’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라는 뜻의 유니버스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(universe)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를 조합한 말로 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‘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현실 너머의 세계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’, ‘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현실과 가상이 혼재된 세계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’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를 의미한다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우리는 메타버스 공간에서도 현실과 같은 사회적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·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경제적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·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문화적 활동을 할 수 있다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예를 들어 메타버스 공간에서 사람들은 친구를 사귀고 상점에서 물건을 사기도 한다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 </a:t>
            </a:r>
            <a:r>
              <a:rPr lang="ko-KR" altLang="en-US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또한 공연을 보고 운동을 하며 미술 작품을 감상하기도 한다</a:t>
            </a:r>
            <a:r>
              <a:rPr lang="en-US" altLang="ko-KR" sz="2000" dirty="0" smtClean="0">
                <a:latin typeface="돋움" panose="020B0600000101010101" pitchFamily="50" charset="-127"/>
                <a:ea typeface="돋움" panose="020B0600000101010101" pitchFamily="50" charset="-127"/>
              </a:rPr>
              <a:t>.</a:t>
            </a:r>
            <a:endParaRPr lang="en-US" altLang="ko-KR" sz="2000" dirty="0">
              <a:latin typeface="돋움" panose="020B0600000101010101" pitchFamily="50" charset="-127"/>
              <a:ea typeface="돋움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26111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30442" y="1281235"/>
            <a:ext cx="8029945" cy="545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01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557" y="1612434"/>
            <a:ext cx="813035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/>
              <a:t>위 그림을 보고 가상공간과 현실 세계의 차이점은 무엇인지 써 보자</a:t>
            </a:r>
            <a:r>
              <a:rPr lang="en-US" altLang="ko-KR" sz="2000" b="1" smtClean="0"/>
              <a:t>.</a:t>
            </a:r>
            <a:endParaRPr lang="en-US" altLang="ko-KR" sz="2000" b="1"/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802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802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09247" y="2408800"/>
            <a:ext cx="10293350" cy="336983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01572" y="2495381"/>
            <a:ext cx="990455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</a:rPr>
              <a:t>가상공간에서는 공연장에 가지 않더라도 아무 때나 공연을 보고 즐길 수 있다</a:t>
            </a:r>
            <a:r>
              <a:rPr lang="en-US" altLang="ko-KR" sz="2400" dirty="0">
                <a:solidFill>
                  <a:srgbClr val="0070C0"/>
                </a:solidFill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</a:rPr>
              <a:t>그러나 현실 세계에서 공연을 보려면 시간에 맞추어 공연장에 직접 가야 한다</a:t>
            </a:r>
            <a:r>
              <a:rPr lang="en-US" altLang="ko-KR" sz="2400" dirty="0">
                <a:solidFill>
                  <a:srgbClr val="0070C0"/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</a:rPr>
              <a:t>가상공간에서 공연을 볼 때 현실과 같은 현장감을 느끼기 어렵지만</a:t>
            </a:r>
            <a:r>
              <a:rPr lang="en-US" altLang="ko-KR" sz="2400" dirty="0">
                <a:solidFill>
                  <a:srgbClr val="0070C0"/>
                </a:solidFill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</a:rPr>
              <a:t>현실 세계에서는 생생한 </a:t>
            </a:r>
            <a:r>
              <a:rPr lang="ko-KR" altLang="en-US" sz="2400" dirty="0" smtClean="0">
                <a:solidFill>
                  <a:srgbClr val="0070C0"/>
                </a:solidFill>
              </a:rPr>
              <a:t>현장감을 </a:t>
            </a:r>
            <a:r>
              <a:rPr lang="ko-KR" altLang="en-US" sz="2400" dirty="0">
                <a:solidFill>
                  <a:srgbClr val="0070C0"/>
                </a:solidFill>
              </a:rPr>
              <a:t>느낄 수 있다</a:t>
            </a:r>
            <a:r>
              <a:rPr lang="en-US" altLang="ko-KR" sz="2400" dirty="0" smtClean="0">
                <a:solidFill>
                  <a:srgbClr val="0070C0"/>
                </a:solidFill>
              </a:rPr>
              <a:t>.</a:t>
            </a:r>
            <a:endParaRPr lang="en-US" altLang="ko-KR" sz="2400" dirty="0">
              <a:solidFill>
                <a:srgbClr val="0070C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97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1" y="732169"/>
            <a:ext cx="2824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87043" y="2502782"/>
            <a:ext cx="10031452" cy="306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주인공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웨이드의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유일한 즐거움은 가상공간 ‘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오아시스’에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접속해서 시간을 보내는 것이다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오아시스는 암울한 현실과는 달리 상상하는 모든 것을 할 수 있는 곳이다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어느 날 오아시스 창시자는 자신이 가상공간에 숨겨 둔 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세 가지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임무를 모두 수행한 사람에게 오아시스의 소유권과 막대한 유산을 상속한다는 유언을 남긴다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웨이드는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오아시스 곳곳을 누비며 이 임무에 도전한다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과연 오아시스는 어떤 특성을 지니고 있을까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</p:txBody>
      </p:sp>
      <p:sp>
        <p:nvSpPr>
          <p:cNvPr id="21" name="타원 20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643388" y="1952537"/>
            <a:ext cx="6627221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영화 </a:t>
            </a:r>
            <a:r>
              <a:rPr lang="en-US" altLang="ko-KR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&lt;</a:t>
            </a:r>
            <a:r>
              <a:rPr lang="ko-KR" altLang="en-US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레디 플레이어 원</a:t>
            </a:r>
            <a:r>
              <a:rPr lang="en-US" altLang="ko-KR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&gt;</a:t>
            </a:r>
            <a:r>
              <a:rPr lang="ko-KR" altLang="en-US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으로 본 가상공간의 특성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622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515" y="1307692"/>
            <a:ext cx="987317" cy="1289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40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1" y="732169"/>
            <a:ext cx="2824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글을 읽어 보자</a:t>
            </a:r>
            <a:r>
              <a:rPr lang="en-US" altLang="ko-KR" sz="2000" b="1" smtClean="0">
                <a:latin typeface="+mj-ea"/>
                <a:ea typeface="+mj-ea"/>
              </a:rPr>
              <a:t>. 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1" name="타원 20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5486401" y="5675232"/>
            <a:ext cx="588230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altLang="ko-KR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스티븐 스필버그 감독</a:t>
            </a:r>
            <a:r>
              <a:rPr lang="en-US" altLang="ko-KR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영화 </a:t>
            </a:r>
            <a:r>
              <a:rPr lang="en-US" altLang="ko-KR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〈</a:t>
            </a:r>
            <a:r>
              <a:rPr lang="ko-KR" altLang="en-US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레디 플레이어 원</a:t>
            </a:r>
            <a:r>
              <a:rPr lang="en-US" altLang="ko-KR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en-US" altLang="ko-KR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43388" y="1952537"/>
            <a:ext cx="6627221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ko-KR" altLang="en-US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영화 </a:t>
            </a:r>
            <a:r>
              <a:rPr lang="en-US" altLang="ko-KR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&lt;</a:t>
            </a:r>
            <a:r>
              <a:rPr lang="ko-KR" altLang="en-US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레디 플레이어 원</a:t>
            </a:r>
            <a:r>
              <a:rPr lang="en-US" altLang="ko-KR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&gt;</a:t>
            </a:r>
            <a:r>
              <a:rPr lang="ko-KR" altLang="en-US" sz="2200" dirty="0">
                <a:solidFill>
                  <a:schemeClr val="accent4">
                    <a:lumMod val="50000"/>
                  </a:schemeClr>
                </a:solidFill>
                <a:latin typeface="+mn-ea"/>
              </a:rPr>
              <a:t>으로 본 가상공간의 특성</a:t>
            </a: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622" b="100000" l="0" r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515" y="1307692"/>
            <a:ext cx="987317" cy="128968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944196" y="3232837"/>
            <a:ext cx="328905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현실에서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웨이드는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가난한 이모 집에 살지만, 오아시스에 접속하면 시공간을 넘나들며 어디든지 갈 수 있다.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4090" y="3232837"/>
            <a:ext cx="3289052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오아시스에서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웨이드는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인종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성별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나이가 다른 동료들과 함께 다양한 정보를 활용하여 임무를 수행한다</a:t>
            </a:r>
            <a:r>
              <a:rPr lang="en-US" altLang="ko-KR" sz="22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88086" y="3205086"/>
            <a:ext cx="3289052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오아시스에서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웨이드는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얼굴, 이름 등의 정체를 모르는 수많은 사람과 함께 임무를 수행한다. </a:t>
            </a:r>
          </a:p>
        </p:txBody>
      </p:sp>
      <p:sp>
        <p:nvSpPr>
          <p:cNvPr id="5" name="모서리가 둥근 직사각형 4"/>
          <p:cNvSpPr/>
          <p:nvPr/>
        </p:nvSpPr>
        <p:spPr>
          <a:xfrm>
            <a:off x="1315897" y="2692209"/>
            <a:ext cx="2520019" cy="512877"/>
          </a:xfrm>
          <a:prstGeom prst="roundRect">
            <a:avLst>
              <a:gd name="adj" fmla="val 50000"/>
            </a:avLst>
          </a:prstGeom>
          <a:solidFill>
            <a:srgbClr val="FCD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시공간의 </a:t>
            </a:r>
            <a:r>
              <a:rPr lang="ko-KR" altLang="en-US" sz="2000" b="1" dirty="0" err="1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무제약성</a:t>
            </a:r>
            <a:endParaRPr lang="ko-KR" altLang="en-US" sz="20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8" name="모서리가 둥근 직사각형 27"/>
          <p:cNvSpPr/>
          <p:nvPr/>
        </p:nvSpPr>
        <p:spPr>
          <a:xfrm>
            <a:off x="4844316" y="2692209"/>
            <a:ext cx="2520019" cy="512877"/>
          </a:xfrm>
          <a:prstGeom prst="roundRect">
            <a:avLst>
              <a:gd name="adj" fmla="val 50000"/>
            </a:avLst>
          </a:prstGeom>
          <a:solidFill>
            <a:srgbClr val="FCD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개방성과 다양성</a:t>
            </a:r>
            <a:endParaRPr lang="ko-KR" altLang="en-US" sz="20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29" name="모서리가 둥근 직사각형 28"/>
          <p:cNvSpPr/>
          <p:nvPr/>
        </p:nvSpPr>
        <p:spPr>
          <a:xfrm>
            <a:off x="8372735" y="2690084"/>
            <a:ext cx="2520019" cy="512877"/>
          </a:xfrm>
          <a:prstGeom prst="roundRect">
            <a:avLst>
              <a:gd name="adj" fmla="val 50000"/>
            </a:avLst>
          </a:prstGeom>
          <a:solidFill>
            <a:srgbClr val="FCDA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 smtClean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익명성</a:t>
            </a:r>
            <a:endParaRPr lang="ko-KR" altLang="en-US" sz="2000" b="1" dirty="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758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가상공간의 특성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2056" y="1510186"/>
            <a:ext cx="11028475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가상공간의 특성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Arial Rounded MT Bold" panose="020F0704030504030204" pitchFamily="34" charset="0"/>
              </a:rPr>
              <a:t>시공간의 </a:t>
            </a:r>
            <a:r>
              <a:rPr lang="ko-KR" altLang="en-US" sz="2400" b="1" dirty="0" err="1">
                <a:latin typeface="Arial Rounded MT Bold" panose="020F0704030504030204" pitchFamily="34" charset="0"/>
              </a:rPr>
              <a:t>무제약성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시간과 공간의 제약에서 벗어날 수 있음</a:t>
            </a:r>
            <a:r>
              <a:rPr lang="en-US" altLang="ko-KR" sz="2400" dirty="0">
                <a:latin typeface="+mn-ea"/>
              </a:rPr>
              <a:t>. 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Arial Rounded MT Bold" panose="020F0704030504030204" pitchFamily="34" charset="0"/>
              </a:rPr>
              <a:t>개방성과 </a:t>
            </a:r>
            <a:r>
              <a:rPr lang="ko-KR" altLang="en-US" sz="2400" b="1" dirty="0">
                <a:latin typeface="Arial Rounded MT Bold" panose="020F0704030504030204" pitchFamily="34" charset="0"/>
              </a:rPr>
              <a:t>다양성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나이나 성별 등과 관계없이 가상공간에 참여하며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타인과 풍부한 정보를 교류함</a:t>
            </a:r>
            <a:r>
              <a:rPr lang="en-US" altLang="ko-KR" sz="24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b="1" dirty="0" smtClean="0">
                <a:latin typeface="Arial Rounded MT Bold" panose="020F0704030504030204" pitchFamily="34" charset="0"/>
              </a:rPr>
              <a:t>익명성</a:t>
            </a:r>
            <a:r>
              <a:rPr lang="en-US" altLang="ko-KR" sz="2400" b="1" dirty="0">
                <a:latin typeface="+mn-ea"/>
              </a:rPr>
              <a:t>:</a:t>
            </a:r>
            <a:r>
              <a:rPr lang="en-US" altLang="ko-KR" sz="2400" dirty="0">
                <a:latin typeface="+mn-ea"/>
              </a:rPr>
              <a:t> </a:t>
            </a:r>
            <a:r>
              <a:rPr lang="ko-KR" altLang="en-US" sz="2400" dirty="0">
                <a:latin typeface="+mn-ea"/>
              </a:rPr>
              <a:t>자신의 신분이나 정체를 드러내지 않고 활동할 수 있음</a:t>
            </a:r>
            <a:r>
              <a:rPr lang="en-US" altLang="ko-KR" sz="2400" dirty="0">
                <a:latin typeface="+mn-ea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8821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98</a:t>
            </a:r>
            <a:r>
              <a:rPr lang="ko-KR" altLang="en-US" sz="1100" b="1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3527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>
                <a:solidFill>
                  <a:srgbClr val="00B050"/>
                </a:solidFill>
                <a:latin typeface="+mn-ea"/>
              </a:rPr>
              <a:t>가상공간의 특성을 잘 이해했는지 </a:t>
            </a:r>
            <a:r>
              <a:rPr lang="en-US" altLang="ko-KR" sz="2200" b="1">
                <a:solidFill>
                  <a:srgbClr val="00B050"/>
                </a:solidFill>
                <a:latin typeface="+mn-ea"/>
              </a:rPr>
              <a:t>V</a:t>
            </a:r>
            <a:r>
              <a:rPr lang="ko-KR" altLang="en-US" sz="2200" b="1">
                <a:solidFill>
                  <a:srgbClr val="00B050"/>
                </a:solidFill>
                <a:latin typeface="+mn-ea"/>
              </a:rPr>
              <a:t>표를 하며 점검하고</a:t>
            </a:r>
            <a:r>
              <a:rPr lang="en-US" altLang="ko-KR" sz="2200" b="1">
                <a:solidFill>
                  <a:srgbClr val="00B050"/>
                </a:solidFill>
                <a:latin typeface="+mn-ea"/>
              </a:rPr>
              <a:t>, </a:t>
            </a:r>
            <a:r>
              <a:rPr lang="ko-KR" altLang="en-US" sz="2200" b="1">
                <a:solidFill>
                  <a:srgbClr val="00B050"/>
                </a:solidFill>
                <a:latin typeface="+mn-ea"/>
              </a:rPr>
              <a:t>이 단원에서 새롭게 알게 된 점을 써 보자</a:t>
            </a:r>
            <a:r>
              <a:rPr lang="en-US" altLang="ko-KR" sz="2200" b="1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sp>
        <p:nvSpPr>
          <p:cNvPr id="22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40778"/>
            <a:ext cx="487174" cy="487174"/>
          </a:xfrm>
          <a:prstGeom prst="rect">
            <a:avLst/>
          </a:prstGeom>
        </p:spPr>
      </p:pic>
      <p:grpSp>
        <p:nvGrpSpPr>
          <p:cNvPr id="24" name="그룹 23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40778"/>
            <a:ext cx="1087577" cy="495431"/>
            <a:chOff x="10075659" y="2003022"/>
            <a:chExt cx="1156006" cy="495431"/>
          </a:xfrm>
        </p:grpSpPr>
        <p:pic>
          <p:nvPicPr>
            <p:cNvPr id="25" name="그림 24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891392" y="4566412"/>
            <a:ext cx="8305010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>
                <a:solidFill>
                  <a:srgbClr val="0070C0"/>
                </a:solidFill>
                <a:latin typeface="+mn-ea"/>
              </a:rPr>
              <a:t>이 단원을 통해 가상공간에서는 익명성 때문에 더 자유롭게 자신의 의견을 표현할 수 있다는 사실을 알게 되었다</a:t>
            </a:r>
            <a:r>
              <a:rPr lang="en-US" altLang="ko-KR" sz="240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grpSp>
        <p:nvGrpSpPr>
          <p:cNvPr id="29" name="그룹 28"/>
          <p:cNvGrpSpPr/>
          <p:nvPr/>
        </p:nvGrpSpPr>
        <p:grpSpPr>
          <a:xfrm>
            <a:off x="936086" y="3953767"/>
            <a:ext cx="2426091" cy="458932"/>
            <a:chOff x="877165" y="3739778"/>
            <a:chExt cx="1328154" cy="458932"/>
          </a:xfrm>
        </p:grpSpPr>
        <p:sp>
          <p:nvSpPr>
            <p:cNvPr id="30" name="모서리가 둥근 직사각형 29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48928" y="3739778"/>
              <a:ext cx="1224117" cy="443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ko-KR" altLang="en-US" b="1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새롭게 알게 된 </a:t>
              </a:r>
              <a:r>
                <a:rPr lang="ko-KR" altLang="en-US" b="1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점</a:t>
              </a:r>
              <a:endParaRPr lang="ko-KR" altLang="en-US" b="1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4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8253547" y="2850396"/>
            <a:ext cx="2752219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4517988" y="2850396"/>
            <a:ext cx="3400802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65932" y="2747515"/>
            <a:ext cx="283379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smtClean="0">
                <a:latin typeface="굴림" panose="020B0600000101010101" pitchFamily="50" charset="-127"/>
                <a:ea typeface="굴림" panose="020B0600000101010101" pitchFamily="50" charset="-127"/>
              </a:rPr>
              <a:t>시공간의 무제약성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5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2855408"/>
            <a:ext cx="3400802" cy="68017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801491" y="2737674"/>
            <a:ext cx="283379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>
                <a:latin typeface="굴림" panose="020B0600000101010101" pitchFamily="50" charset="-127"/>
                <a:ea typeface="굴림" panose="020B0600000101010101" pitchFamily="50" charset="-127"/>
              </a:rPr>
              <a:t>개방성과 다양성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795" y="2755499"/>
            <a:ext cx="2452744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smtClean="0">
                <a:latin typeface="굴림" panose="020B0600000101010101" pitchFamily="50" charset="-127"/>
                <a:ea typeface="굴림" panose="020B0600000101010101" pitchFamily="50" charset="-127"/>
              </a:rPr>
              <a:t>□</a:t>
            </a:r>
            <a:r>
              <a:rPr lang="ko-KR" altLang="en-US" sz="160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000" smtClean="0">
                <a:latin typeface="굴림" panose="020B0600000101010101" pitchFamily="50" charset="-127"/>
                <a:ea typeface="굴림" panose="020B0600000101010101" pitchFamily="50" charset="-127"/>
              </a:rPr>
              <a:t>익명성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983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27" grpId="0"/>
      <p:bldP spid="27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>
                <a:solidFill>
                  <a:schemeClr val="tx1"/>
                </a:solidFill>
              </a:rPr>
              <a:t>“</a:t>
            </a:r>
            <a:r>
              <a:rPr lang="en-US" altLang="ko-KR" sz="2800" b="1" smtClean="0">
                <a:solidFill>
                  <a:schemeClr val="tx1"/>
                </a:solidFill>
              </a:rPr>
              <a:t>02. </a:t>
            </a:r>
            <a:r>
              <a:rPr lang="ko-KR" altLang="en-US" sz="2800" b="1" smtClean="0">
                <a:solidFill>
                  <a:schemeClr val="tx1"/>
                </a:solidFill>
              </a:rPr>
              <a:t>가상공간에서 발생하는 도덕 문제는 무엇일까</a:t>
            </a:r>
            <a:r>
              <a:rPr lang="en-US" altLang="ko-KR" sz="2800" b="1" smtClean="0">
                <a:solidFill>
                  <a:schemeClr val="tx1"/>
                </a:solidFill>
              </a:rPr>
              <a:t>?”</a:t>
            </a:r>
            <a:r>
              <a:rPr lang="ko-KR" altLang="en-US" sz="2800" spc="-150" smtClean="0">
                <a:solidFill>
                  <a:schemeClr val="tx1"/>
                </a:solidFill>
              </a:rPr>
              <a:t>를</a:t>
            </a:r>
            <a:r>
              <a:rPr lang="en-US" altLang="ko-KR" sz="2800" spc="-150" smtClean="0">
                <a:solidFill>
                  <a:schemeClr val="tx1"/>
                </a:solidFill>
              </a:rPr>
              <a:t> </a:t>
            </a:r>
          </a:p>
          <a:p>
            <a:pPr algn="ctr"/>
            <a:endParaRPr lang="en-US" altLang="ko-KR" sz="2800">
              <a:solidFill>
                <a:schemeClr val="tx1"/>
              </a:solidFill>
            </a:endParaRPr>
          </a:p>
          <a:p>
            <a:pPr algn="ctr"/>
            <a:r>
              <a:rPr lang="ko-KR" altLang="en-US" sz="2800" smtClean="0">
                <a:solidFill>
                  <a:schemeClr val="tx1"/>
                </a:solidFill>
              </a:rPr>
              <a:t>배워 </a:t>
            </a:r>
            <a:r>
              <a:rPr lang="ko-KR" altLang="en-US" sz="2800" dirty="0" smtClean="0">
                <a:solidFill>
                  <a:schemeClr val="tx1"/>
                </a:solidFill>
              </a:rPr>
              <a:t>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가상공간의 의미와 유형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가상공간이란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컴퓨터 </a:t>
            </a:r>
            <a:r>
              <a:rPr sz="2400" b="0">
                <a:solidFill>
                  <a:srgbClr val="262626"/>
                </a:solidFill>
              </a:rPr>
              <a:t>나 스마트폰 등과 같은 디지털 기기와 정보 통신망을 통해 정보를 교환하고 공유하는 활동 공간을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반 단톡방, 학급 SNS, 온라인 수업방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가상공간의 유형에는 온라인 단체 대화방, 누리 소통망, 메타버스 공간 등이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인스타그램·유튜브 댓글창도 누리 소통망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가상공간이란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컴퓨터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 스마트폰 등과 같은 디지털 기기와 정보 통신망을 통해 정보를 교환하고 공유하는 활동 공간을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반 단톡방, 학급 SNS, 온라인 수업방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가상공간의 유형에는 온라인 단체 대화방, 누리 소통망, 메타버스 공간 등이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인스타그램·유튜브 댓글창도 누리 소통망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가상공간이란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컴퓨터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 스마트폰 등과 같은 디지털 기기와 정보 통신망을 통해 정보를 교환하고 공유하는 활동 공간을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반 단톡방, 학급 SNS, 온라인 수업방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가상공간의 유형에는 온라인 단체 대화방, 누리 소통망, 메타버스 공간 등이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인스타그램·유튜브 댓글창도 누리 소통망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가상공간이란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컴퓨터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나 스마트폰 등과 같은 디지털 기기와 정보 통신망을 통해 정보를 교환하고 공유하는 활동 공간을 의미함.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반 단톡방, 학급 SNS, 온라인 수업방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가상공간의 유형에는 온라인 단체 대화방, 누리 소통망, 메타버스 공간 등이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인스타그램·유튜브 댓글창도 누리 소통망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</p:bld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하루에 나는 화면 속에서 얼마나?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?시간 · 나의 하루 스마트폰 사용 시간 (설정 → 화면 시간)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?개 · 오늘 주고받은 메시지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가상공간의 특성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시공간의 무제약성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현실 세계의 시공간적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제약 </a:t>
            </a:r>
            <a:r>
              <a:rPr sz="2400" b="0">
                <a:solidFill>
                  <a:srgbClr val="262626"/>
                </a:solidFill>
              </a:rPr>
              <a:t>에서 벗어날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새벽에도 외국 친구와 게임하며 대화한다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먼 곳에 있는 사람들과 관계를 맺을 수 있고, 시간에 얽매이지 않고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소통 </a:t>
            </a:r>
            <a:r>
              <a:rPr sz="2400" b="0">
                <a:solidFill>
                  <a:srgbClr val="262626"/>
                </a:solidFill>
              </a:rPr>
              <a:t>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개방성과 다양성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나이나 성별, 인종이나 국적과 관계없이 누구나 가상공간에서 활동할 수 있음.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시공간의 무제약성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현실 세계의 시공간적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제약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벗어날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새벽에도 외국 친구와 게임하며 대화한다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먼 곳에 있는 사람들과 관계를 맺을 수 있고, 시간에 얽매이지 않고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개방성과 다양성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나이나 성별, 인종이나 국적과 관계없이 누구나 가상공간에서 활동할 수 있음.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시공간의 무제약성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현실 세계의 시공간적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벗어날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새벽에도 외국 친구와 게임하며 대화한다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먼 곳에 있는 사람들과 관계를 맺을 수 있고, 시간에 얽매이지 않고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개방성과 다양성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나이나 성별, 인종이나 국적과 관계없이 누구나 가상공간에서 활동할 수 있음.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시공간의 무제약성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현실 세계의 시공간적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제약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벗어날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새벽에도 외국 친구와 게임하며 대화한다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먼 곳에 있는 사람들과 관계를 맺을 수 있고, 시간에 얽매이지 않고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소통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개방성과 다양성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나이나 성별, 인종이나 국적과 관계없이 누구나 가상공간에서 활동할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</p:bld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가상공간의 특성 (이어서)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내가 만든 정보를 타인과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공유 </a:t>
            </a:r>
            <a:r>
              <a:rPr sz="2400" b="0">
                <a:solidFill>
                  <a:srgbClr val="262626"/>
                </a:solidFill>
              </a:rPr>
              <a:t>할 수 있고, 다른 사람이 만든 다양한 정보를 이용할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개방성과 다양성 때문에 가상공간에서 현실 세계보다 더 자유롭게 타인과 교류하며 풍부한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정보 </a:t>
            </a:r>
            <a:r>
              <a:rPr sz="2400" b="0">
                <a:solidFill>
                  <a:srgbClr val="262626"/>
                </a:solidFill>
              </a:rPr>
              <a:t>를 얻을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익명성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자신의 신분이나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정체 </a:t>
            </a:r>
            <a:r>
              <a:rPr sz="2400" b="0">
                <a:solidFill>
                  <a:srgbClr val="262626"/>
                </a:solidFill>
              </a:rPr>
              <a:t>를 드러내지 않고 활동할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닉네임 뒤에 숨어 평소엔 안 할 말을 하게 되기도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익명성 때문에 현실 세계에서보다 더 자유롭게 자신의 의견을 </a:t>
            </a:r>
            <a:r>
              <a:rPr sz="1439" b="1">
                <a:solidFill>
                  <a:srgbClr val="2F6FD0"/>
                </a:solidFill>
              </a:rPr>
              <a:t>⑦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표현 </a:t>
            </a:r>
            <a:r>
              <a:rPr sz="2400" b="0">
                <a:solidFill>
                  <a:srgbClr val="262626"/>
                </a:solidFill>
              </a:rPr>
              <a:t>하거나 활동할 수 있음.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만든 정보를 타인과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공유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있고, 다른 사람이 만든 다양한 정보를 이용할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개방성과 다양성 때문에 가상공간에서 현실 세계보다 더 자유롭게 타인과 교류하며 풍부한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얻을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익명성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신분이나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드러내지 않고 활동할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닉네임 뒤에 숨어 평소엔 안 할 말을 하게 되기도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익명성 때문에 현실 세계에서보다 더 자유롭게 자신의 의견을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표현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하거나 활동할 수 있음.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만든 정보를 타인과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있고, 다른 사람이 만든 다양한 정보를 이용할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개방성과 다양성 때문에 가상공간에서 현실 세계보다 더 자유롭게 타인과 교류하며 풍부한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얻을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익명성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신분이나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드러내지 않고 활동할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닉네임 뒤에 숨어 평소엔 안 할 말을 하게 되기도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익명성 때문에 현실 세계에서보다 더 자유롭게 자신의 의견을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표현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하거나 활동할 수 있음.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만든 정보를 타인과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있고, 다른 사람이 만든 다양한 정보를 이용할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개방성과 다양성 때문에 가상공간에서 현실 세계보다 더 자유롭게 타인과 교류하며 풍부한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얻을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익명성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신분이나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정체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드러내지 않고 활동할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닉네임 뒤에 숨어 평소엔 안 할 말을 하게 되기도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익명성 때문에 현실 세계에서보다 더 자유롭게 자신의 의견을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표현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하거나 활동할 수 있음.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만든 정보를 타인과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있고, 다른 사람이 만든 다양한 정보를 이용할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개방성과 다양성 때문에 가상공간에서 현실 세계보다 더 자유롭게 타인과 교류하며 풍부한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얻을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익명성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신분이나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드러내지 않고 활동할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닉네임 뒤에 숨어 평소엔 안 할 말을 하게 되기도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익명성 때문에 현실 세계에서보다 더 자유롭게 자신의 의견을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표현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하거나 활동할 수 있음.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내가 만든 정보를 타인과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공유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할 수 있고, 다른 사람이 만든 다양한 정보를 이용할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개방성과 다양성 때문에 가상공간에서 현실 세계보다 더 자유롭게 타인과 교류하며 풍부한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얻을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익명성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자신의 신분이나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정체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드러내지 않고 활동할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닉네임 뒤에 숨어 평소엔 안 할 말을 하게 되기도 한다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익명성 때문에 현실 세계에서보다 더 자유롭게 자신의 의견을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⑦</a:t>
            </a:r>
            <a:r>
              <a:rPr sz="2400" b="1">
                <a:solidFill>
                  <a:srgbClr val="C0392B"/>
                </a:solidFill>
              </a:rPr>
              <a:t> 표현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하거나 활동할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</p:bld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16년 전 기사를 지워 주세요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2014년 5월 · 유럽 연합 사법 재판소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사연 · 스페인의 마리오 코스테하는 1998년 빚 때문에 집이 경매된 기사가 검색되는 것이 괴로웠다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요구 · 빚은 이미 다 갚았으니 검색 결과에서 지워 달라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판결 · 오래되고 지금은 의미 없는 정보는 검색에서 빼 달라고 요구할 수 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이름 · ‘잊힐 권리’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한 번 올린 글과 사진은 정말 지워질까?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2014년 5월 · 유럽 연합 사법 재판소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사연 · 스페인의 마리오 코스테하는 1998년 빚 때문에 집이 경매된 기사가 검색되는 것이 괴로웠다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요구 · 빚은 이미 다 갚았으니 검색 결과에서 지워 달라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판결 · 오래되고 지금은 의미 없는 정보는 검색에서 빼 달라고 요구할 수 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이름 · ‘잊힐 권리’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한 번 올린 글과 사진은 정말 지워질까?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화면 너머에도 사람이 있다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가상공간이란 디지털 기기와 정보 통신망을 통해 정보를 교환하고 공유하는 활동 공간을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가상공간의 유형에는 온라인 단체 대화방, 누리 소통망 등이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가상공간에서는 현실 세계와 마찬가지로 시공간의 제약에서 벗어나기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가상공간에서 활동할 수 있는 나이나 성별, 인종이나 국적은 정해져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가상공간이란 디지털 기기와 정보 통신망을 통해 정보를 교환하고 공유하는 활동 공간을 의미한다.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가상공간의 유형에는 온라인 단체 대화방, 누리 소통망 등이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가상공간에서는 현실 세계와 마찬가지로 시공간의 제약에서 벗어나기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가상공간에서 활동할 수 있는 나이나 성별, 인종이나 국적은 정해져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가상공간이란 디지털 기기와 정보 통신망을 통해 정보를 교환하고 공유하는 활동 공간을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가상공간의 유형에는 온라인 단체 대화방, 누리 소통망 등이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가상공간에서는 현실 세계와 마찬가지로 시공간의 제약에서 벗어나기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가상공간에서 활동할 수 있는 나이나 성별, 인종이나 국적은 정해져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가상공간이란 디지털 기기와 정보 통신망을 통해 정보를 교환하고 공유하는 활동 공간을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가상공간의 유형에는 온라인 단체 대화방, 누리 소통망 등이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가상공간에서는 현실 세계와 마찬가지로 시공간의 제약에서 벗어나기 어렵다.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가상공간에서 활동할 수 있는 나이나 성별, 인종이나 국적은 정해져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가상공간이란 디지털 기기와 정보 통신망을 통해 정보를 교환하고 공유하는 활동 공간을 의미한다.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가상공간의 유형에는 온라인 단체 대화방, 누리 소통망 등이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가상공간에서는 현실 세계와 마찬가지로 시공간의 제약에서 벗어나기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가상공간에서 활동할 수 있는 나이나 성별, 인종이나 국적은 정해져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700" b="1">
                <a:solidFill>
                  <a:srgbClr val="FFFF00"/>
                </a:solidFill>
                <a:latin typeface="+mn-ea"/>
              </a:rPr>
              <a:t>내가 가상공간에서 가장 자주 하는 일은?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손을 들어 투표해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🎮 게임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💬 메시지·누리 소통망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🎬 영상 보기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📚 공부·정보 찾기   ✋ ____ 명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□ 🌐 메타버스   ✋ ____ 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어떤 특성이 드러날까?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/>
                </a:solidFill>
              </a:rPr>
              <a:t>어느 칸일까? 시공간의 무제약성 · 개방성과 다양성 · 익명성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1. 지구 반대편 친구와 실시간으로 게임한다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(시간과 공간의 제약이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2. 나이·국적과 관계없이 누구나 영상을 올리고 볼 수 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(누구에게나 열려 있다)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3. 닉네임 뒤에 숨어 고민을 털어놓는다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(정체를 드러내지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4. 새벽 2시에도 온라인 공연을 다시 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(시간에 얽매이지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5. 다른 사람이 만든 다양한 정보를 쉽게 얻는다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(다양성)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/>
                </a:solidFill>
              </a:rPr>
              <a:t>6. 얼굴도 이름도 모르는 사람들과 함께 임무를 수행한다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(익명성)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시공간의 무제약성 · 개방성과 다양성 · 익명성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지구 반대편 친구와 실시간으로 게임한다</a:t>
            </a:r>
            <a:r>
              <a:rPr sz="2100" b="1">
                <a:solidFill>
                  <a:srgbClr val="C0392B"/>
                </a:solidFill>
              </a:rPr>
              <a:t>   → 시공간의 무제약성 (시간과 공간의 제약이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나이·국적과 관계없이 누구나 영상을 올리고 볼 수 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(누구에게나 열려 있다)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닉네임 뒤에 숨어 고민을 털어놓는다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(정체를 드러내지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새벽 2시에도 온라인 공연을 다시 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(시간에 얽매이지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다른 사람이 만든 다양한 정보를 쉽게 얻는다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(다양성)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얼굴도 이름도 모르는 사람들과 함께 임무를 수행한다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(익명성)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시공간의 무제약성 · 개방성과 다양성 · 익명성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지구 반대편 친구와 실시간으로 게임한다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(시간과 공간의 제약이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나이·국적과 관계없이 누구나 영상을 올리고 볼 수 있다</a:t>
            </a:r>
            <a:r>
              <a:rPr sz="2100" b="1">
                <a:solidFill>
                  <a:srgbClr val="C0392B"/>
                </a:solidFill>
              </a:rPr>
              <a:t>   → 개방성과 다양성 (누구에게나 열려 있다)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닉네임 뒤에 숨어 고민을 털어놓는다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(정체를 드러내지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새벽 2시에도 온라인 공연을 다시 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(시간에 얽매이지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다른 사람이 만든 다양한 정보를 쉽게 얻는다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(다양성)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얼굴도 이름도 모르는 사람들과 함께 임무를 수행한다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(익명성)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시공간의 무제약성 · 개방성과 다양성 · 익명성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지구 반대편 친구와 실시간으로 게임한다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(시간과 공간의 제약이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나이·국적과 관계없이 누구나 영상을 올리고 볼 수 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(누구에게나 열려 있다)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닉네임 뒤에 숨어 고민을 털어놓는다</a:t>
            </a:r>
            <a:r>
              <a:rPr sz="2100" b="1">
                <a:solidFill>
                  <a:srgbClr val="C0392B"/>
                </a:solidFill>
              </a:rPr>
              <a:t>   → 익명성 (정체를 드러내지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새벽 2시에도 온라인 공연을 다시 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(시간에 얽매이지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다른 사람이 만든 다양한 정보를 쉽게 얻는다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(다양성)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얼굴도 이름도 모르는 사람들과 함께 임무를 수행한다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(익명성)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시공간의 무제약성 · 개방성과 다양성 · 익명성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지구 반대편 친구와 실시간으로 게임한다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(시간과 공간의 제약이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나이·국적과 관계없이 누구나 영상을 올리고 볼 수 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(누구에게나 열려 있다)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닉네임 뒤에 숨어 고민을 털어놓는다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(정체를 드러내지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새벽 2시에도 온라인 공연을 다시 본다</a:t>
            </a:r>
            <a:r>
              <a:rPr sz="2100" b="1">
                <a:solidFill>
                  <a:srgbClr val="C0392B"/>
                </a:solidFill>
              </a:rPr>
              <a:t>   → 시공간의 무제약성 (시간에 얽매이지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다른 사람이 만든 다양한 정보를 쉽게 얻는다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(다양성)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얼굴도 이름도 모르는 사람들과 함께 임무를 수행한다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(익명성)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시공간의 무제약성 · 개방성과 다양성 · 익명성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지구 반대편 친구와 실시간으로 게임한다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(시간과 공간의 제약이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나이·국적과 관계없이 누구나 영상을 올리고 볼 수 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(누구에게나 열려 있다)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닉네임 뒤에 숨어 고민을 털어놓는다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(정체를 드러내지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새벽 2시에도 온라인 공연을 다시 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(시간에 얽매이지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다른 사람이 만든 다양한 정보를 쉽게 얻는다</a:t>
            </a:r>
            <a:r>
              <a:rPr sz="2100" b="1">
                <a:solidFill>
                  <a:srgbClr val="C0392B"/>
                </a:solidFill>
              </a:rPr>
              <a:t>   → 개방성과 다양성 (다양성)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얼굴도 이름도 모르는 사람들과 함께 임무를 수행한다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(익명성)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200" b="1">
                <a:solidFill>
                  <a:srgbClr val="843C0C">
                    <a:alpha val="0"/>
                  </a:srgbClr>
                </a:solidFill>
              </a:rPr>
              <a:t>어느 칸일까? 시공간의 무제약성 · 개방성과 다양성 · 익명성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1. 지구 반대편 친구와 실시간으로 게임한다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(시간과 공간의 제약이 없다)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2. 나이·국적과 관계없이 누구나 영상을 올리고 볼 수 있다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(누구에게나 열려 있다)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3. 닉네임 뒤에 숨어 고민을 털어놓는다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익명성 (정체를 드러내지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4. 새벽 2시에도 온라인 공연을 다시 본다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시공간의 무제약성 (시간에 얽매이지 않는다)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5. 다른 사람이 만든 다양한 정보를 쉽게 얻는다</a:t>
            </a:r>
            <a:r>
              <a:rPr sz="2100" b="1">
                <a:solidFill>
                  <a:srgbClr val="C0392B">
                    <a:alpha val="0"/>
                  </a:srgbClr>
                </a:solidFill>
              </a:rPr>
              <a:t>   → 개방성과 다양성 (다양성)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200" b="0">
                <a:solidFill>
                  <a:srgbClr val="262626">
                    <a:alpha val="0"/>
                  </a:srgbClr>
                </a:solidFill>
              </a:rPr>
              <a:t>6. 얼굴도 이름도 모르는 사람들과 함께 임무를 수행한다</a:t>
            </a:r>
            <a:r>
              <a:rPr sz="2100" b="1">
                <a:solidFill>
                  <a:srgbClr val="C0392B"/>
                </a:solidFill>
              </a:rPr>
              <a:t>   → 익명성 (익명성)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>
                <a:solidFill>
                  <a:srgbClr val="FFFF00"/>
                </a:solidFill>
                <a:latin typeface="+mn-ea"/>
              </a:rPr>
              <a:t>나는 어느 쪽일까?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rgbClr val="3DB250"/>
                </a:solidFill>
                <a:latin typeface="+mj-ea"/>
                <a:ea typeface="+mj-ea"/>
              </a:rPr>
              <a:t>95쪽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D2FC838-49B1-0E93-782F-F52D261F831C}"/>
              </a:ext>
            </a:extLst>
          </p:cNvPr>
          <p:cNvGrpSpPr/>
          <p:nvPr/>
        </p:nvGrpSpPr>
        <p:grpSpPr>
          <a:xfrm>
            <a:off x="9719971" y="5998328"/>
            <a:ext cx="1944697" cy="492328"/>
            <a:chOff x="377032" y="923820"/>
            <a:chExt cx="1944697" cy="492328"/>
          </a:xfrm>
        </p:grpSpPr>
        <p:pic>
          <p:nvPicPr>
            <p:cNvPr id="28" name="그림 27" descr="상징, 그린, 로고, 스크린샷이(가) 표시된 사진&#10;&#10;자동 생성된 설명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9C2C07B9-E9B8-5FD4-3609-BF7BDBCBF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7032" y="923820"/>
              <a:ext cx="1944697" cy="492328"/>
            </a:xfrm>
            <a:prstGeom prst="rect">
              <a:avLst/>
            </a:prstGeom>
          </p:spPr>
        </p:pic>
        <p:sp>
          <p:nvSpPr>
            <p:cNvPr id="29" name="TextBox 28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4B404EC2-CE39-0907-EB0D-5A0B60F5A023}"/>
                </a:ext>
              </a:extLst>
            </p:cNvPr>
            <p:cNvSpPr txBox="1"/>
            <p:nvPr/>
          </p:nvSpPr>
          <p:spPr>
            <a:xfrm>
              <a:off x="817282" y="9712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더 알아보기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smtClean="0">
                <a:latin typeface="+mj-ea"/>
                <a:ea typeface="+mj-ea"/>
              </a:rPr>
              <a:t>01. </a:t>
            </a:r>
            <a:r>
              <a:rPr lang="ko-KR" altLang="en-US" b="1" smtClean="0">
                <a:latin typeface="+mj-ea"/>
                <a:ea typeface="+mj-ea"/>
              </a:rPr>
              <a:t>가상공간의 의미와 특성은 무엇일까</a:t>
            </a:r>
            <a:r>
              <a:rPr lang="en-US" altLang="ko-KR" b="1" smtClean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3.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가상공간의 윤리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smtClean="0">
                <a:solidFill>
                  <a:srgbClr val="6C768E"/>
                </a:solidFill>
                <a:latin typeface="+mj-ea"/>
                <a:ea typeface="+mj-ea"/>
              </a:rPr>
              <a:t>Ⅱ. </a:t>
            </a:r>
            <a:r>
              <a:rPr lang="ko-KR" altLang="en-US" sz="1000" b="1" smtClean="0">
                <a:solidFill>
                  <a:srgbClr val="6C768E"/>
                </a:solidFill>
                <a:latin typeface="+mj-ea"/>
                <a:ea typeface="+mj-ea"/>
              </a:rPr>
              <a:t>타인과의 관계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596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나의 생각은 어디쯤? 동의하는 정도에 서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“가상공간에서 나는 현실보다 말이 거칠어진다”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“모르는 사람의 게시물도 쉽게 믿는다”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“가상공간에서도 현실과 같은 도덕 규칙을 지킨다”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전혀 아니다  ① ── ② ── ③ ── ④ ── ⑤  매우 그렇다   (교실 앞 줄에 서 보기)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8618</TotalTime>
  <Words>997</Words>
  <Application>Microsoft Office PowerPoint</Application>
  <PresentationFormat>와이드스크린</PresentationFormat>
  <Paragraphs>163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AppleSDGothicNeoB00</vt:lpstr>
      <vt:lpstr>굴림</vt:lpstr>
      <vt:lpstr>나눔스퀘어라운드 ExtraBold</vt:lpstr>
      <vt:lpstr>돋움</vt:lpstr>
      <vt:lpstr>맑은 고딕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196</cp:revision>
  <cp:lastPrinted>2024-06-05T04:53:22Z</cp:lastPrinted>
  <dcterms:created xsi:type="dcterms:W3CDTF">2023-10-31T05:50:03Z</dcterms:created>
  <dcterms:modified xsi:type="dcterms:W3CDTF">2025-01-14T03:46:29Z</dcterms:modified>
</cp:coreProperties>
</file>