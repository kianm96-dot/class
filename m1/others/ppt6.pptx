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00.svg" ContentType="image/svg+xml"/>
  <Override PartName="/ppt/media/image591.svg" ContentType="image/svg+xml"/>
  <Override PartName="/ppt/media/image592.svg" ContentType="image/svg+xml"/>
  <Override PartName="/ppt/media/image59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5"/>
  </p:notesMasterIdLst>
  <p:handoutMasterIdLst>
    <p:handoutMasterId r:id="rId26"/>
  </p:handoutMasterIdLst>
  <p:sldIdLst>
    <p:sldId id="399" r:id="rId2"/>
    <p:sldId id="301" r:id="rId3"/>
    <p:sldId id="258" r:id="rId4"/>
    <p:sldId id="304" r:id="rId5"/>
    <p:sldId id="305" r:id="rId6"/>
    <p:sldId id="306" r:id="rId7"/>
    <p:sldId id="394" r:id="rId8"/>
    <p:sldId id="260" r:id="rId9"/>
    <p:sldId id="412" r:id="rId32"/>
    <p:sldId id="404" r:id="rId10"/>
    <p:sldId id="405" r:id="rId11"/>
    <p:sldId id="411" r:id="rId12"/>
    <p:sldId id="408" r:id="rId13"/>
    <p:sldId id="413" r:id="rId33"/>
    <p:sldId id="360" r:id="rId14"/>
    <p:sldId id="409" r:id="rId15"/>
    <p:sldId id="391" r:id="rId16"/>
    <p:sldId id="410" r:id="rId17"/>
    <p:sldId id="396" r:id="rId18"/>
    <p:sldId id="414" r:id="rId34"/>
    <p:sldId id="415" r:id="rId35"/>
    <p:sldId id="393" r:id="rId19"/>
    <p:sldId id="270" r:id="rId20"/>
    <p:sldId id="397" r:id="rId21"/>
    <p:sldId id="416" r:id="rId36"/>
    <p:sldId id="417" r:id="rId37"/>
    <p:sldId id="418" r:id="rId38"/>
    <p:sldId id="367" r:id="rId22"/>
    <p:sldId id="395" r:id="rId23"/>
    <p:sldId id="419" r:id="rId39"/>
    <p:sldId id="420" r:id="rId40"/>
    <p:sldId id="421" r:id="rId41"/>
    <p:sldId id="422" r:id="rId42"/>
    <p:sldId id="348" r:id="rId24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3F6"/>
    <a:srgbClr val="DDE8ED"/>
    <a:srgbClr val="FDF5F1"/>
    <a:srgbClr val="FCD9CF"/>
    <a:srgbClr val="FFC000"/>
    <a:srgbClr val="FF9300"/>
    <a:srgbClr val="FFFF00"/>
    <a:srgbClr val="D9E1E9"/>
    <a:srgbClr val="E8F6FD"/>
    <a:srgbClr val="F0FF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22" autoAdjust="0"/>
    <p:restoredTop sz="96400" autoAdjust="0"/>
  </p:normalViewPr>
  <p:slideViewPr>
    <p:cSldViewPr snapToGrid="0">
      <p:cViewPr varScale="1">
        <p:scale>
          <a:sx n="115" d="100"/>
          <a:sy n="115" d="100"/>
        </p:scale>
        <p:origin x="516" y="108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commentAuthors" Target="commentAuthor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102쪽 기사</a:t>
            </a:r>
          </a:p>
          <a:p>
            <a:r>
              <a:t>2022 학교 폭력 실태 조사에서 사이버 폭력이 가장 많았다. 대화방 강제 초대 후 비웃기, 나가도 다시 초대하기, 익명 플랫폼 험담(《경향신문》, 2023.3.20). 신고: 117.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사이버 폭력의 구조</a:t>
            </a:r>
          </a:p>
          <a:p>
            <a:r>
              <a:t>가상공간에서는 한 번의 클릭이 가해에 가담하는 일이 된다. 허락 없이 사진을 올리는 것은 초상권 침해, 조롱하며 퍼뜨리는 것은 사이버 폭력.</a:t>
            </a:r>
          </a:p>
          <a:p>
            <a:r>
              <a:t>도움: 학교폭력 신고 117, 사이버 폭력 상담 1388(청소년 상담).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연구 · 2018년 『사이언스』</a:t>
            </a:r>
          </a:p>
          <a:p>
            <a:r>
              <a:t>MIT 연구 팀(소루시 보수기 등)이 2006~2017년 트위터의 뉴스 약 12만 6천 건을 분석했다. 거짓 뉴스는 사실보다 리트윗될 가능성이 70% 높았고, 1,500명에게 닿는 데 걸린 시간은 사실이 약 6배 더 걸렸다.</a:t>
            </a:r>
          </a:p>
          <a:p>
            <a:r>
              <a:t>연구 팀은 퍼뜨린 주체가 로봇보다 사람이었다고 밝혔다. 새롭고 놀라운 이야기일수록 공유하고 싶어진다.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역할 교환</a:t>
            </a:r>
          </a:p>
          <a:p>
            <a:r>
              <a:t>도덕② 3차시의 역할 교환 검사와 연결. 창작자의 노력과 권리를 존중하는 것이 결국 좋은 작품을 계속 만나는 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교과서의 네 가지 도덕 문제를 구분하고, 멈출 곳을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교과서의 네 가지 도덕 문제를 구분하고, 멈출 곳을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교과서의 네 가지 도덕 문제를 구분하고, 멈출 곳을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7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7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microsoft.com/office/2007/relationships/hdphoto" Target="../media/hdphoto1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2.sv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2.sv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10.xml"/><Relationship Id="rId8" Type="http://schemas.openxmlformats.org/officeDocument/2006/relationships/slide" Target="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.xml"/><Relationship Id="rId8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0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2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2.sv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2.sv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notesSlide" Target="../notesSlides/notesSlide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notesSlide" Target="../notesSlides/notesSlide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notesSlide" Target="../notesSlides/notes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notesSlide" Target="../notesSlides/notesSlide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notesSlide" Target="../notesSlides/notesSlide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2.sv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37040" y="2268741"/>
            <a:ext cx="6933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>
                <a:ln w="22225">
                  <a:noFill/>
                  <a:prstDash val="solid"/>
                </a:ln>
                <a:latin typeface="+mj-ea"/>
                <a:ea typeface="+mj-ea"/>
              </a:rPr>
              <a:t>가상공간에서 </a:t>
            </a:r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발생</a:t>
            </a:r>
            <a:endParaRPr lang="en-US" altLang="ko-KR" sz="5400" b="1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하는 </a:t>
            </a:r>
            <a:r>
              <a:rPr lang="ko-KR" altLang="en-US" sz="5400" b="1">
                <a:ln w="22225">
                  <a:noFill/>
                  <a:prstDash val="solid"/>
                </a:ln>
                <a:latin typeface="+mj-ea"/>
                <a:ea typeface="+mj-ea"/>
              </a:rPr>
              <a:t>도덕 </a:t>
            </a:r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문제는 </a:t>
            </a:r>
            <a:endParaRPr lang="en-US" altLang="ko-KR" sz="5400" b="1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무엇일까</a:t>
            </a:r>
            <a:r>
              <a:rPr lang="en-US" altLang="ko-KR" sz="5400" b="1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6050" y="490171"/>
            <a:ext cx="2203230" cy="9676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570182" y="712407"/>
            <a:ext cx="3237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가상공간의 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9399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67431"/>
            <a:ext cx="10293350" cy="787400"/>
            <a:chOff x="914400" y="2362200"/>
            <a:chExt cx="10293350" cy="787400"/>
          </a:xfrm>
        </p:grpSpPr>
        <p:sp>
          <p:nvSpPr>
            <p:cNvPr id="34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>
                <a:solidFill>
                  <a:prstClr val="black"/>
                </a:solidFill>
                <a:latin typeface="+mn-ea"/>
              </a:rPr>
              <a:t>가상공간에서 발생하는 도덕 문제를 제시할 수 </a:t>
            </a:r>
            <a:r>
              <a:rPr lang="ko-KR" altLang="en-US" sz="2800" b="1" smtClean="0">
                <a:solidFill>
                  <a:prstClr val="black"/>
                </a:solidFill>
                <a:latin typeface="+mn-ea"/>
              </a:rPr>
              <a:t>있다</a:t>
            </a:r>
            <a:r>
              <a:rPr lang="en-US" altLang="ko-KR" sz="2800" b="1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>
                <a:solidFill>
                  <a:prstClr val="black"/>
                </a:solidFill>
                <a:latin typeface="+mn-ea"/>
              </a:rPr>
              <a:t>가상공간에서 발생하는 도덕 문제의 원인을 설명할 수 </a:t>
            </a:r>
            <a:r>
              <a:rPr lang="ko-KR" altLang="en-US" sz="2800" b="1" smtClean="0">
                <a:solidFill>
                  <a:prstClr val="black"/>
                </a:solidFill>
                <a:latin typeface="+mn-ea"/>
              </a:rPr>
              <a:t>있다</a:t>
            </a:r>
            <a:r>
              <a:rPr lang="en-US" altLang="ko-KR" sz="2800" b="1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1320"/>
            <a:ext cx="11792932" cy="544668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26" y="1437873"/>
            <a:ext cx="10260885" cy="44907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990282" y="5817684"/>
            <a:ext cx="1059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 smtClean="0">
                <a:solidFill>
                  <a:schemeClr val="accent6"/>
                </a:solidFill>
              </a:rPr>
              <a:t>딥페이크</a:t>
            </a:r>
            <a:r>
              <a:rPr lang="en-US" altLang="ko-KR" b="1" dirty="0" smtClean="0">
                <a:solidFill>
                  <a:schemeClr val="accent6"/>
                </a:solidFill>
              </a:rPr>
              <a:t>(</a:t>
            </a:r>
            <a:r>
              <a:rPr lang="en-US" altLang="ko-KR" b="1" dirty="0" err="1" smtClean="0">
                <a:solidFill>
                  <a:schemeClr val="accent6"/>
                </a:solidFill>
              </a:rPr>
              <a:t>deepfake</a:t>
            </a:r>
            <a:r>
              <a:rPr lang="en-US" altLang="ko-KR" b="1" dirty="0" smtClean="0">
                <a:solidFill>
                  <a:schemeClr val="accent6"/>
                </a:solidFill>
              </a:rPr>
              <a:t>)</a:t>
            </a:r>
            <a:r>
              <a:rPr lang="ko-KR" altLang="en-US" b="1" dirty="0" smtClean="0">
                <a:solidFill>
                  <a:schemeClr val="accent6"/>
                </a:solidFill>
              </a:rPr>
              <a:t> </a:t>
            </a:r>
            <a:r>
              <a:rPr lang="ko-KR" altLang="en-US" sz="1600" dirty="0" smtClean="0"/>
              <a:t>인공지능을 </a:t>
            </a:r>
            <a:r>
              <a:rPr lang="ko-KR" altLang="en-US" sz="1600" dirty="0"/>
              <a:t>활용하여 참과 거짓을 </a:t>
            </a:r>
            <a:r>
              <a:rPr lang="ko-KR" altLang="en-US" sz="1600" dirty="0" smtClean="0"/>
              <a:t>구별하기 </a:t>
            </a:r>
            <a:r>
              <a:rPr lang="ko-KR" altLang="en-US" sz="1600" dirty="0"/>
              <a:t>어려운 가짜 이미지나 영상 등을 만드는 기술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1320"/>
            <a:ext cx="11792932" cy="544668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494" y="1581142"/>
            <a:ext cx="5230308" cy="4238634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9802" y="1581140"/>
            <a:ext cx="4933823" cy="4504067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091" b="95455" l="8924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1524" y="1744961"/>
            <a:ext cx="2901832" cy="196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56628" y="2298983"/>
            <a:ext cx="10293350" cy="3143030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7939" y="2351450"/>
            <a:ext cx="9784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민수의 영상을 본 사람들은 사실과 다르게 민수가 춤을 춘 것으로 오해할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민수의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사진을 인터넷 사이트에 보내거나 민수의 영상을 단체 대화방에 올린 학생은 민수에게 장난치는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마음에 한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행동이지만 당사자인 민수의 허락을 받지 않았으므로 이는 문제가 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70368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다음 만화와 같은 상황에서 찾을 수 있는 문제점을 써 보자</a:t>
            </a:r>
            <a:r>
              <a:rPr lang="en-US" altLang="ko-KR" sz="2000" b="1"/>
              <a:t>.</a:t>
            </a:r>
            <a:endParaRPr lang="ko-KR" altLang="en-US" sz="2000" b="1" dirty="0"/>
          </a:p>
        </p:txBody>
      </p:sp>
      <p:pic>
        <p:nvPicPr>
          <p:cNvPr id="21" name="그림 2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4" name="그림 3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100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571" y="1680949"/>
            <a:ext cx="1107394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영화의 주인공 김 씨는 과거의 아픈 경험 때문에 다른 사람을 만나는 것을 두려워하며 하루 종일 방 안에서 생활한다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또한 학교에 가거나 직장에 다니지 않고 누리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소통망을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관리하는 데 많은 시간을 보낸다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그러나 누리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소통망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속 김 씨의 모습은 현실 세계 속 김 씨의 모습과 전혀 다르다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그는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남들이 사는 모습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남들이 먹는 것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심지어 남들의 얼굴 사진까지 가져와 마치 자기 모습과 일상인 것처럼 꾸민다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현실 세계 속 실제 김 씨의 모습을 모르는 누리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소통망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친구들은 가상공간 속 그의 삶을 보며 부러워하기도 하고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칭찬하는 댓글을 달기도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김 씨는 그런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댓글들을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보며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뿌듯해하지만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마음 한구석은 허전하다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또 무엇이 자신의 진정한 모습인지 헷갈린다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                                  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이해준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감독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영화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〈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김 씨 표류기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58636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윗글에서 김 씨가 겪는 문제가 무엇인지 써 보자</a:t>
            </a:r>
            <a:r>
              <a:rPr lang="en-US" altLang="ko-KR" sz="2000" b="1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김 씨는 가상공간에서 실제 자신과 다른 모습으로 활동하면서 자신의 진정한 모습이 무엇인지 </a:t>
            </a:r>
            <a:r>
              <a:rPr lang="ko-KR" altLang="en-US" sz="240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혼란을 </a:t>
            </a: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겪고 있다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100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9276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자아 정체성의 혼란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smtClean="0">
                <a:latin typeface="+mn-ea"/>
              </a:rPr>
              <a:t>가상공간에서는 </a:t>
            </a:r>
            <a:r>
              <a:rPr lang="ko-KR" altLang="en-US" sz="2400" dirty="0">
                <a:latin typeface="+mn-ea"/>
              </a:rPr>
              <a:t>현실 세계에서의 자기 모습을 숨기고 다른 모습으로 활동할 수 있기 때문에 자아 정체성의 혼란 문제가 발생함</a:t>
            </a:r>
            <a:r>
              <a:rPr lang="en-US" altLang="ko-KR" sz="2400" dirty="0">
                <a:latin typeface="+mn-ea"/>
              </a:rPr>
              <a:t>. 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809010" y="583166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자아 정체성의 혼란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100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2056" y="3691396"/>
            <a:ext cx="110284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자아 정체성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내가 누구인가를 일관되게 인식하는 것으로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자신의 목표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역할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가치관 등을 통합적으로 이해한 상태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2363858" y="2718582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타원 43"/>
          <p:cNvSpPr/>
          <p:nvPr/>
        </p:nvSpPr>
        <p:spPr>
          <a:xfrm>
            <a:off x="4414471" y="2724325"/>
            <a:ext cx="401934" cy="27141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5698209" y="2727373"/>
            <a:ext cx="401934" cy="27141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7422983" y="2742287"/>
            <a:ext cx="401934" cy="27141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2684689" y="2725221"/>
            <a:ext cx="401934" cy="27141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101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2" y="2233024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6" y="2233024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0298" y="1683508"/>
            <a:ext cx="10485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/>
              <a:t>자신에게 해당하는 항목에 </a:t>
            </a:r>
            <a:r>
              <a:rPr lang="en-US" altLang="ko-KR" sz="2000" b="1"/>
              <a:t>V</a:t>
            </a:r>
            <a:r>
              <a:rPr lang="ko-KR" altLang="en-US" sz="2000" b="1"/>
              <a:t>표를 한 뒤 각 점수를 더하여 스마트폰 의존도를 평가해 보자</a:t>
            </a:r>
            <a:r>
              <a:rPr lang="en-US" altLang="ko-KR" sz="2000" b="1"/>
              <a:t>.</a:t>
            </a:r>
            <a:endParaRPr lang="ko-KR" altLang="en-US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730298" y="2634126"/>
            <a:ext cx="74954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※  </a:t>
            </a:r>
            <a:r>
              <a:rPr lang="ko-KR" altLang="en-US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전혀 그렇지 않다</a:t>
            </a:r>
            <a:r>
              <a:rPr lang="en-US" altLang="ko-KR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  1</a:t>
            </a:r>
            <a:r>
              <a:rPr lang="ko-KR" altLang="en-US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점 │그렇지 않다</a:t>
            </a:r>
            <a:r>
              <a:rPr lang="en-US" altLang="ko-KR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  2</a:t>
            </a:r>
            <a:r>
              <a:rPr lang="ko-KR" altLang="en-US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점</a:t>
            </a:r>
            <a:r>
              <a:rPr lang="ko-KR" altLang="en-US" sz="1600" spc="-100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│그렇다</a:t>
            </a:r>
            <a:r>
              <a:rPr lang="en-US" altLang="ko-KR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  3</a:t>
            </a:r>
            <a:r>
              <a:rPr lang="ko-KR" altLang="en-US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점 │매우 그렇다</a:t>
            </a:r>
            <a:r>
              <a:rPr lang="en-US" altLang="ko-KR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  4</a:t>
            </a:r>
            <a:r>
              <a:rPr lang="ko-KR" altLang="en-US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점</a:t>
            </a:r>
            <a:endParaRPr lang="en-US" altLang="ko-KR" sz="1600" spc="-100" dirty="0" smtClean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hlinkClick r:id="rId7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hlinkClick r:id="rId8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777876"/>
              </p:ext>
            </p:extLst>
          </p:nvPr>
        </p:nvGraphicFramePr>
        <p:xfrm>
          <a:off x="732223" y="3046047"/>
          <a:ext cx="10407885" cy="2668951"/>
        </p:xfrm>
        <a:graphic>
          <a:graphicData uri="http://schemas.openxmlformats.org/drawingml/2006/table">
            <a:tbl>
              <a:tblPr firstRow="1" bandRow="1"/>
              <a:tblGrid>
                <a:gridCol w="764981">
                  <a:extLst>
                    <a:ext uri="{9D8B030D-6E8A-4147-A177-3AD203B41FA5}">
                      <a16:colId xmlns:a16="http://schemas.microsoft.com/office/drawing/2014/main" val="746600225"/>
                    </a:ext>
                  </a:extLst>
                </a:gridCol>
                <a:gridCol w="7063992">
                  <a:extLst>
                    <a:ext uri="{9D8B030D-6E8A-4147-A177-3AD203B41FA5}">
                      <a16:colId xmlns:a16="http://schemas.microsoft.com/office/drawing/2014/main" val="3723207171"/>
                    </a:ext>
                  </a:extLst>
                </a:gridCol>
                <a:gridCol w="644728">
                  <a:extLst>
                    <a:ext uri="{9D8B030D-6E8A-4147-A177-3AD203B41FA5}">
                      <a16:colId xmlns:a16="http://schemas.microsoft.com/office/drawing/2014/main" val="4226644603"/>
                    </a:ext>
                  </a:extLst>
                </a:gridCol>
                <a:gridCol w="644728">
                  <a:extLst>
                    <a:ext uri="{9D8B030D-6E8A-4147-A177-3AD203B41FA5}">
                      <a16:colId xmlns:a16="http://schemas.microsoft.com/office/drawing/2014/main" val="138681011"/>
                    </a:ext>
                  </a:extLst>
                </a:gridCol>
                <a:gridCol w="644728">
                  <a:extLst>
                    <a:ext uri="{9D8B030D-6E8A-4147-A177-3AD203B41FA5}">
                      <a16:colId xmlns:a16="http://schemas.microsoft.com/office/drawing/2014/main" val="846815995"/>
                    </a:ext>
                  </a:extLst>
                </a:gridCol>
                <a:gridCol w="644728">
                  <a:extLst>
                    <a:ext uri="{9D8B030D-6E8A-4147-A177-3AD203B41FA5}">
                      <a16:colId xmlns:a16="http://schemas.microsoft.com/office/drawing/2014/main" val="3460505299"/>
                    </a:ext>
                  </a:extLst>
                </a:gridCol>
              </a:tblGrid>
              <a:tr h="3708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  <a:sym typeface="Arial"/>
                        </a:rPr>
                        <a:t>번호</a:t>
                      </a:r>
                      <a:endParaRPr lang="en-US" altLang="ko-KR" sz="1800" kern="1200" dirty="0" smtClean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  <a:sym typeface="Arial"/>
                        </a:rPr>
                        <a:t>항목</a:t>
                      </a:r>
                      <a:endParaRPr lang="en-US" altLang="ko-KR" sz="1800" kern="1200" dirty="0" smtClean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점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점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점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점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26572"/>
                  </a:ext>
                </a:extLst>
              </a:tr>
              <a:tr h="45961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DF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  <a:sym typeface="Arial"/>
                        </a:rPr>
                        <a:t>스마트폰 사용 시간을 줄이려 할 때마다 실패한다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  <a:sym typeface="Arial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958981"/>
                  </a:ext>
                </a:extLst>
              </a:tr>
              <a:tr h="4596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2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DF5F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스마트폰 사용 시간을 조절하는 것이 어렵다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525139"/>
                  </a:ext>
                </a:extLst>
              </a:tr>
              <a:tr h="4596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3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DF5F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적절한 스마트폰 사용 시간을 지키는 것이 어렵다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4175481"/>
                  </a:ext>
                </a:extLst>
              </a:tr>
              <a:tr h="4596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4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DF5F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스마트폰이 옆에 있으면 다른 일에 집중하기 어렵다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259141"/>
                  </a:ext>
                </a:extLst>
              </a:tr>
              <a:tr h="4596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5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스마트폰 생각이 머리에서 떠나지 않는다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376514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9983494" y="3431479"/>
            <a:ext cx="340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240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9349847" y="3893144"/>
            <a:ext cx="340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240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9349847" y="4354442"/>
            <a:ext cx="340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240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9349847" y="4816107"/>
            <a:ext cx="340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240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9349847" y="5265553"/>
            <a:ext cx="340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240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30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101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2" y="2233024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6" y="2233024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0298" y="1683508"/>
            <a:ext cx="10485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/>
              <a:t>자신에게 해당하는 항목에 </a:t>
            </a:r>
            <a:r>
              <a:rPr lang="en-US" altLang="ko-KR" sz="2000" b="1"/>
              <a:t>V</a:t>
            </a:r>
            <a:r>
              <a:rPr lang="ko-KR" altLang="en-US" sz="2000" b="1"/>
              <a:t>표를 한 뒤 각 점수를 더하여 스마트폰 의존도를 평가해 보자</a:t>
            </a:r>
            <a:r>
              <a:rPr lang="en-US" altLang="ko-KR" sz="2000" b="1"/>
              <a:t>.</a:t>
            </a:r>
            <a:endParaRPr lang="ko-KR" altLang="en-US" sz="2000" b="1" dirty="0"/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892203"/>
              </p:ext>
            </p:extLst>
          </p:nvPr>
        </p:nvGraphicFramePr>
        <p:xfrm>
          <a:off x="732223" y="3046046"/>
          <a:ext cx="10407885" cy="2683664"/>
        </p:xfrm>
        <a:graphic>
          <a:graphicData uri="http://schemas.openxmlformats.org/drawingml/2006/table">
            <a:tbl>
              <a:tblPr firstRow="1" bandRow="1"/>
              <a:tblGrid>
                <a:gridCol w="764981">
                  <a:extLst>
                    <a:ext uri="{9D8B030D-6E8A-4147-A177-3AD203B41FA5}">
                      <a16:colId xmlns:a16="http://schemas.microsoft.com/office/drawing/2014/main" val="746600225"/>
                    </a:ext>
                  </a:extLst>
                </a:gridCol>
                <a:gridCol w="7063992">
                  <a:extLst>
                    <a:ext uri="{9D8B030D-6E8A-4147-A177-3AD203B41FA5}">
                      <a16:colId xmlns:a16="http://schemas.microsoft.com/office/drawing/2014/main" val="3723207171"/>
                    </a:ext>
                  </a:extLst>
                </a:gridCol>
                <a:gridCol w="644728">
                  <a:extLst>
                    <a:ext uri="{9D8B030D-6E8A-4147-A177-3AD203B41FA5}">
                      <a16:colId xmlns:a16="http://schemas.microsoft.com/office/drawing/2014/main" val="4226644603"/>
                    </a:ext>
                  </a:extLst>
                </a:gridCol>
                <a:gridCol w="644728">
                  <a:extLst>
                    <a:ext uri="{9D8B030D-6E8A-4147-A177-3AD203B41FA5}">
                      <a16:colId xmlns:a16="http://schemas.microsoft.com/office/drawing/2014/main" val="138681011"/>
                    </a:ext>
                  </a:extLst>
                </a:gridCol>
                <a:gridCol w="644728">
                  <a:extLst>
                    <a:ext uri="{9D8B030D-6E8A-4147-A177-3AD203B41FA5}">
                      <a16:colId xmlns:a16="http://schemas.microsoft.com/office/drawing/2014/main" val="846815995"/>
                    </a:ext>
                  </a:extLst>
                </a:gridCol>
                <a:gridCol w="644728">
                  <a:extLst>
                    <a:ext uri="{9D8B030D-6E8A-4147-A177-3AD203B41FA5}">
                      <a16:colId xmlns:a16="http://schemas.microsoft.com/office/drawing/2014/main" val="3460505299"/>
                    </a:ext>
                  </a:extLst>
                </a:gridCol>
              </a:tblGrid>
              <a:tr h="3296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  <a:sym typeface="Arial"/>
                        </a:rPr>
                        <a:t>번호</a:t>
                      </a:r>
                      <a:endParaRPr lang="en-US" altLang="ko-KR" sz="1800" kern="1200" dirty="0" smtClean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  <a:sym typeface="Arial"/>
                        </a:rPr>
                        <a:t>항목</a:t>
                      </a:r>
                      <a:endParaRPr lang="en-US" altLang="ko-KR" sz="1800" kern="1200" dirty="0" smtClean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점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점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점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점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26572"/>
                  </a:ext>
                </a:extLst>
              </a:tr>
              <a:tr h="4194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  <a:sym typeface="Arial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DF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  <a:sym typeface="Arial"/>
                        </a:rPr>
                        <a:t>스마트폰을 사용하고 싶은 충동을 강하게 느낀다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  <a:sym typeface="Arial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958981"/>
                  </a:ext>
                </a:extLst>
              </a:tr>
              <a:tr h="419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7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DF5F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스마트폰 사용 때문에 건강에 문제가 생긴 적이 있다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525139"/>
                  </a:ext>
                </a:extLst>
              </a:tr>
              <a:tr h="419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8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DF5F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스마트폰 사용 때문에 가족과 심하게 다툰 적이 있다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4175481"/>
                  </a:ext>
                </a:extLst>
              </a:tr>
              <a:tr h="601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9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DF5F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스마트폰 사용 때문에 친구 혹은 동료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사회적 관계에서 심한 갈등을 경험한 적이 있다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259141"/>
                  </a:ext>
                </a:extLst>
              </a:tr>
              <a:tr h="419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10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스마트폰 때문에 업무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학업 혹은 직업 등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수행에 어려움이 있다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. 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D9C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376514"/>
                  </a:ext>
                </a:extLst>
              </a:tr>
            </a:tbl>
          </a:graphicData>
        </a:graphic>
      </p:graphicFrame>
      <p:sp>
        <p:nvSpPr>
          <p:cNvPr id="46" name="타원 45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hlinkClick r:id="rId8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3867350" y="5736263"/>
            <a:ext cx="749177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 smtClean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 smtClean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한국 지능 정보 사회 진흥원 외</a:t>
            </a:r>
            <a:r>
              <a:rPr lang="en-US" altLang="ko-KR" dirty="0" smtClean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《2022 </a:t>
            </a:r>
            <a:r>
              <a:rPr lang="ko-KR" altLang="en-US" dirty="0" smtClean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스마트폰 </a:t>
            </a:r>
            <a:r>
              <a:rPr lang="ko-KR" altLang="en-US" dirty="0" err="1" smtClean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과의존</a:t>
            </a:r>
            <a:r>
              <a:rPr lang="ko-KR" altLang="en-US" dirty="0" smtClean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실태 조사</a:t>
            </a:r>
            <a:r>
              <a:rPr lang="en-US" altLang="ko-KR" dirty="0" smtClean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en-US" altLang="ko-KR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9974441" y="3422166"/>
            <a:ext cx="340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240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9349847" y="3800262"/>
            <a:ext cx="340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240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9349847" y="4268480"/>
            <a:ext cx="340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240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9349847" y="4790300"/>
            <a:ext cx="340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240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9349847" y="5278096"/>
            <a:ext cx="340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240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4414471" y="2724325"/>
            <a:ext cx="401934" cy="27141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5698209" y="2727373"/>
            <a:ext cx="401934" cy="27141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7422983" y="2742287"/>
            <a:ext cx="401934" cy="27141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2684689" y="2725221"/>
            <a:ext cx="401934" cy="27141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30298" y="2634126"/>
            <a:ext cx="74954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※  </a:t>
            </a:r>
            <a:r>
              <a:rPr lang="ko-KR" altLang="en-US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전혀 그렇지 않다</a:t>
            </a:r>
            <a:r>
              <a:rPr lang="en-US" altLang="ko-KR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  1</a:t>
            </a:r>
            <a:r>
              <a:rPr lang="ko-KR" altLang="en-US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점 │그렇지 않다</a:t>
            </a:r>
            <a:r>
              <a:rPr lang="en-US" altLang="ko-KR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  2</a:t>
            </a:r>
            <a:r>
              <a:rPr lang="ko-KR" altLang="en-US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점</a:t>
            </a:r>
            <a:r>
              <a:rPr lang="ko-KR" altLang="en-US" sz="1600" spc="-100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│그렇다</a:t>
            </a:r>
            <a:r>
              <a:rPr lang="en-US" altLang="ko-KR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  3</a:t>
            </a:r>
            <a:r>
              <a:rPr lang="ko-KR" altLang="en-US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점 │매우 그렇다</a:t>
            </a:r>
            <a:r>
              <a:rPr lang="en-US" altLang="ko-KR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.  4</a:t>
            </a:r>
            <a:r>
              <a:rPr lang="ko-KR" altLang="en-US" sz="1600" spc="-100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점</a:t>
            </a:r>
            <a:endParaRPr lang="en-US" altLang="ko-KR" sz="1600" spc="-100" dirty="0" smtClean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7484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38" grpId="0"/>
      <p:bldP spid="38" grpId="1"/>
      <p:bldP spid="43" grpId="0"/>
      <p:bldP spid="43" grpId="1"/>
      <p:bldP spid="50" grpId="0"/>
      <p:bldP spid="50" grpId="1"/>
      <p:bldP spid="51" grpId="0"/>
      <p:bldP spid="51" grpId="1"/>
      <p:bldP spid="52" grpId="0"/>
      <p:bldP spid="5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103829"/>
              </p:ext>
            </p:extLst>
          </p:nvPr>
        </p:nvGraphicFramePr>
        <p:xfrm>
          <a:off x="6176599" y="3420191"/>
          <a:ext cx="4973333" cy="2504360"/>
        </p:xfrm>
        <a:graphic>
          <a:graphicData uri="http://schemas.openxmlformats.org/drawingml/2006/table">
            <a:tbl>
              <a:tblPr firstRow="1" bandRow="1"/>
              <a:tblGrid>
                <a:gridCol w="1289002">
                  <a:extLst>
                    <a:ext uri="{9D8B030D-6E8A-4147-A177-3AD203B41FA5}">
                      <a16:colId xmlns:a16="http://schemas.microsoft.com/office/drawing/2014/main" val="153858361"/>
                    </a:ext>
                  </a:extLst>
                </a:gridCol>
                <a:gridCol w="3684331">
                  <a:extLst>
                    <a:ext uri="{9D8B030D-6E8A-4147-A177-3AD203B41FA5}">
                      <a16:colId xmlns:a16="http://schemas.microsoft.com/office/drawing/2014/main" val="2892558584"/>
                    </a:ext>
                  </a:extLst>
                </a:gridCol>
              </a:tblGrid>
              <a:tr h="4687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총점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8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스마트폰 의존도 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531522"/>
                  </a:ext>
                </a:extLst>
              </a:tr>
              <a:tr h="2035625"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DD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187443"/>
                  </a:ext>
                </a:extLst>
              </a:tr>
            </a:tbl>
          </a:graphicData>
        </a:graphic>
      </p:graphicFrame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101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2" y="2233024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6" y="2233024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0298" y="1683508"/>
            <a:ext cx="10485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/>
              <a:t>자신에게 해당하는 항목에 </a:t>
            </a:r>
            <a:r>
              <a:rPr lang="en-US" altLang="ko-KR" sz="2000" b="1"/>
              <a:t>V</a:t>
            </a:r>
            <a:r>
              <a:rPr lang="ko-KR" altLang="en-US" sz="2000" b="1"/>
              <a:t>표를 한 뒤 각 점수를 더하여 스마트폰 의존도를 평가해 보자</a:t>
            </a:r>
            <a:r>
              <a:rPr lang="en-US" altLang="ko-KR" sz="2000" b="1"/>
              <a:t>.</a:t>
            </a:r>
            <a:endParaRPr lang="ko-KR" altLang="en-US" sz="2000" b="1" dirty="0"/>
          </a:p>
        </p:txBody>
      </p:sp>
      <p:sp>
        <p:nvSpPr>
          <p:cNvPr id="46" name="타원 45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hlinkClick r:id="rId8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hlinkClick r:id="rId9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6152810" y="2866192"/>
            <a:ext cx="35635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mtClean="0">
                <a:latin typeface="+mn-ea"/>
              </a:rPr>
              <a:t>스마트폰 의존도 평가하기</a:t>
            </a:r>
            <a:endParaRPr lang="ko-KR" altLang="en-US" sz="2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6385627" y="4611769"/>
            <a:ext cx="976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22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점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7570801" y="4242437"/>
            <a:ext cx="35693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err="1" smtClean="0">
                <a:solidFill>
                  <a:srgbClr val="0070C0"/>
                </a:solidFill>
                <a:latin typeface="+mn-ea"/>
              </a:rPr>
              <a:t>일반군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스마트폰을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조절하여 사용하는 상태 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128522"/>
              </p:ext>
            </p:extLst>
          </p:nvPr>
        </p:nvGraphicFramePr>
        <p:xfrm>
          <a:off x="730298" y="3431479"/>
          <a:ext cx="5041852" cy="2512049"/>
        </p:xfrm>
        <a:graphic>
          <a:graphicData uri="http://schemas.openxmlformats.org/drawingml/2006/table">
            <a:tbl>
              <a:tblPr firstRow="1" bandRow="1"/>
              <a:tblGrid>
                <a:gridCol w="1306761">
                  <a:extLst>
                    <a:ext uri="{9D8B030D-6E8A-4147-A177-3AD203B41FA5}">
                      <a16:colId xmlns:a16="http://schemas.microsoft.com/office/drawing/2014/main" val="153858361"/>
                    </a:ext>
                  </a:extLst>
                </a:gridCol>
                <a:gridCol w="3735091">
                  <a:extLst>
                    <a:ext uri="{9D8B030D-6E8A-4147-A177-3AD203B41FA5}">
                      <a16:colId xmlns:a16="http://schemas.microsoft.com/office/drawing/2014/main" val="2892558584"/>
                    </a:ext>
                  </a:extLst>
                </a:gridCol>
              </a:tblGrid>
              <a:tr h="4701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총점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8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스마트폰 의존도 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531522"/>
                  </a:ext>
                </a:extLst>
              </a:tr>
              <a:tr h="680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22</a:t>
                      </a:r>
                      <a:r>
                        <a:rPr lang="ko-KR" altLang="en-US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점 이하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0" kern="1200" dirty="0" err="1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일반군</a:t>
                      </a:r>
                      <a:r>
                        <a:rPr lang="en-US" altLang="ko-KR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스마트폰을 조절하여 사용하는 상태 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DDE8E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187443"/>
                  </a:ext>
                </a:extLst>
              </a:tr>
              <a:tr h="680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23~30</a:t>
                      </a:r>
                      <a:r>
                        <a:rPr lang="ko-KR" altLang="en-US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점</a:t>
                      </a:r>
                      <a:endParaRPr lang="en-US" altLang="ko-KR" sz="1800" b="0" kern="1200" dirty="0" smtClean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잠재적 </a:t>
                      </a:r>
                      <a:r>
                        <a:rPr lang="ko-KR" altLang="en-US" sz="1800" b="0" kern="1200" dirty="0" err="1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위험군</a:t>
                      </a:r>
                      <a:r>
                        <a:rPr lang="en-US" altLang="ko-KR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스마트폰을 적절히 조절하여 사용하지 못하는 상태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DDE8E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E8E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83940"/>
                  </a:ext>
                </a:extLst>
              </a:tr>
              <a:tr h="680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31</a:t>
                      </a:r>
                      <a:r>
                        <a:rPr lang="ko-KR" altLang="en-US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점 이상</a:t>
                      </a:r>
                      <a:endParaRPr lang="en-US" altLang="ko-KR" sz="1800" b="0" kern="1200" dirty="0" smtClean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고위험군</a:t>
                      </a:r>
                      <a:r>
                        <a:rPr lang="en-US" altLang="ko-KR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스마트폰 사용에 대한 통제력을 상실한 상태</a:t>
                      </a:r>
                      <a:endParaRPr lang="ko-KR" altLang="en-US" sz="1800" b="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DDE8E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38433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30298" y="2838439"/>
            <a:ext cx="41941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스마트폰 의존도 평가하는 방법</a:t>
            </a:r>
            <a:endParaRPr lang="ko-KR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3771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55" grpId="0"/>
      <p:bldP spid="55" grpId="1"/>
      <p:bldP spid="56" grpId="0"/>
      <p:bldP spid="56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사이버 중독의 의미</a:t>
            </a:r>
            <a:endParaRPr lang="en-US" altLang="ko-KR" sz="2500" b="1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>
                <a:latin typeface="+mn-ea"/>
              </a:rPr>
              <a:t>가상공간에 지나치게 의존하여 자기 의지로 사용을 통제할 수 없는 </a:t>
            </a:r>
            <a:r>
              <a:rPr lang="ko-KR" altLang="en-US" sz="2400" smtClean="0">
                <a:latin typeface="+mn-ea"/>
              </a:rPr>
              <a:t>상태</a:t>
            </a:r>
            <a:endParaRPr lang="en-US" altLang="ko-KR" sz="2400" smtClean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사이버 중독의 </a:t>
            </a:r>
            <a:r>
              <a:rPr lang="ko-KR" altLang="en-US" sz="2500" b="1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심각성</a:t>
            </a:r>
            <a:endParaRPr lang="en-US" altLang="ko-KR" sz="2500" b="1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>
                <a:latin typeface="+mn-ea"/>
              </a:rPr>
              <a:t>사이버 중독에 빠진 사람들은 가상공간에 접속하지 못하면 심리적으로 불안하기도 </a:t>
            </a:r>
            <a:r>
              <a:rPr lang="ko-KR" altLang="en-US" sz="2400" smtClean="0">
                <a:latin typeface="+mn-ea"/>
              </a:rPr>
              <a:t>하고</a:t>
            </a:r>
            <a:r>
              <a:rPr lang="en-US" altLang="ko-KR" sz="2400">
                <a:latin typeface="+mn-ea"/>
              </a:rPr>
              <a:t>, </a:t>
            </a:r>
            <a:r>
              <a:rPr lang="ko-KR" altLang="en-US" sz="2400">
                <a:latin typeface="+mn-ea"/>
              </a:rPr>
              <a:t>금단 현상 등으로 일상생활에 어려움을 겪기도 함</a:t>
            </a:r>
            <a:r>
              <a:rPr lang="en-US" altLang="ko-KR" sz="2400">
                <a:latin typeface="+mn-ea"/>
              </a:rPr>
              <a:t>. 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22056" y="5461044"/>
            <a:ext cx="8188686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>
                <a:solidFill>
                  <a:schemeClr val="accent6"/>
                </a:solidFill>
              </a:rPr>
              <a:t>금단 현상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중독된 행동이나 습관을 중단할 경우 나타나는 정신적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신체적 증상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2140723" y="4390491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사이버 중독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101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3031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75" y="3829615"/>
            <a:ext cx="2740935" cy="302838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1" y="732169"/>
            <a:ext cx="2824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40018" y="1596520"/>
            <a:ext cx="86018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2022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년 ◯◯ 재단에서 수행한 학교 </a:t>
            </a: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폭력에 관한 조사에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따르면 학교 폭력의 다양한 </a:t>
            </a: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유형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중 사이버 폭력이 가장 많이 발생한 것으로 나타났다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온라인 대화방에 피해자를 </a:t>
            </a: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초대한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뒤 단체로 흉보고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폭언을 일삼으며 피해자를 괴롭혔다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심지어 피해자가 그 </a:t>
            </a: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방을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나가도 계속 초대하여 피해자의 인격을 모독하였다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또한 익명 플랫폼에서도 </a:t>
            </a: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사이버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폭력이 크게 증가하고 있다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44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1" y="732169"/>
            <a:ext cx="2824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40018" y="1596520"/>
            <a:ext cx="860188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  지난해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△△는 익명 플랫폼에서 자신을 비방하는 </a:t>
            </a: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글을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보고 이를 선생님께 알렸지만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글의 작성자를 찾기 어려웠다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왜냐하면 익명 </a:t>
            </a: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플랫폼에서는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사용자가 로그인을 하지 않아도 </a:t>
            </a: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쉽게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글을 올릴 수 있기 때문이다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며칠 </a:t>
            </a: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뒤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자신에 대한 비방글이 계속 올라왔고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, △△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는 심리적으로 매우 불안함을 느꼈다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75" y="3829615"/>
            <a:ext cx="2740935" cy="302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44442" y="2080997"/>
            <a:ext cx="11073948" cy="52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가상공간에서 사이버 폭력은 다음과 같이 다양한 유형으로 나타난다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사이버 폭력의 유형</a:t>
            </a:r>
          </a:p>
        </p:txBody>
      </p:sp>
      <p:sp>
        <p:nvSpPr>
          <p:cNvPr id="20" name="타원 19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30517"/>
              </p:ext>
            </p:extLst>
          </p:nvPr>
        </p:nvGraphicFramePr>
        <p:xfrm>
          <a:off x="844442" y="2849647"/>
          <a:ext cx="10737958" cy="2560320"/>
        </p:xfrm>
        <a:graphic>
          <a:graphicData uri="http://schemas.openxmlformats.org/drawingml/2006/table">
            <a:tbl>
              <a:tblPr firstRow="1" bandRow="1"/>
              <a:tblGrid>
                <a:gridCol w="2222608">
                  <a:extLst>
                    <a:ext uri="{9D8B030D-6E8A-4147-A177-3AD203B41FA5}">
                      <a16:colId xmlns:a16="http://schemas.microsoft.com/office/drawing/2014/main" val="1871569018"/>
                    </a:ext>
                  </a:extLst>
                </a:gridCol>
                <a:gridCol w="8515350">
                  <a:extLst>
                    <a:ext uri="{9D8B030D-6E8A-4147-A177-3AD203B41FA5}">
                      <a16:colId xmlns:a16="http://schemas.microsoft.com/office/drawing/2014/main" val="293142741"/>
                    </a:ext>
                  </a:extLst>
                </a:gridCol>
              </a:tblGrid>
              <a:tr h="530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사이버 갈취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가상공간에서 데이터</a:t>
                      </a:r>
                      <a:r>
                        <a:rPr lang="en-US" altLang="ko-KR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게임 속 화폐 등을 강제로 빼앗으며 괴롭히는 행위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7819006"/>
                  </a:ext>
                </a:extLst>
              </a:tr>
              <a:tr h="6871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사이버 따돌림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특정 상대를 대화에 참여하지 못하게 하거나 대화방에서 퇴장하지 못하게 하는 것과 같은 행위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1771411"/>
                  </a:ext>
                </a:extLst>
              </a:tr>
              <a:tr h="6871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사이버 </a:t>
                      </a:r>
                      <a:r>
                        <a:rPr lang="ko-KR" altLang="en-US" sz="2000" kern="1200" dirty="0" err="1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스토킹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원하지 않는 문자</a:t>
                      </a:r>
                      <a:r>
                        <a:rPr lang="en-US" altLang="ko-KR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사진</a:t>
                      </a:r>
                      <a:r>
                        <a:rPr lang="en-US" altLang="ko-KR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동영상을 반복적으로 보내 상대방에게 공포심이나</a:t>
                      </a:r>
                      <a:r>
                        <a:rPr lang="ko-KR" altLang="en-US" sz="2000" kern="1200" baseline="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불안감을 주는 행위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9432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59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44442" y="2080997"/>
            <a:ext cx="11073948" cy="52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가상공간에서 사이버 폭력은 다음과 같이 다양한 유형으로 나타난다</a:t>
            </a:r>
            <a:r>
              <a:rPr lang="en-US" altLang="ko-KR" sz="2200" spc="-15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사이버 폭력의 유형</a:t>
            </a:r>
          </a:p>
        </p:txBody>
      </p:sp>
      <p:sp>
        <p:nvSpPr>
          <p:cNvPr id="20" name="타원 19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26450"/>
              </p:ext>
            </p:extLst>
          </p:nvPr>
        </p:nvGraphicFramePr>
        <p:xfrm>
          <a:off x="844442" y="2849647"/>
          <a:ext cx="10728433" cy="2560320"/>
        </p:xfrm>
        <a:graphic>
          <a:graphicData uri="http://schemas.openxmlformats.org/drawingml/2006/table">
            <a:tbl>
              <a:tblPr firstRow="1" bandRow="1"/>
              <a:tblGrid>
                <a:gridCol w="2225623">
                  <a:extLst>
                    <a:ext uri="{9D8B030D-6E8A-4147-A177-3AD203B41FA5}">
                      <a16:colId xmlns:a16="http://schemas.microsoft.com/office/drawing/2014/main" val="1871569018"/>
                    </a:ext>
                  </a:extLst>
                </a:gridCol>
                <a:gridCol w="8502810">
                  <a:extLst>
                    <a:ext uri="{9D8B030D-6E8A-4147-A177-3AD203B41FA5}">
                      <a16:colId xmlns:a16="http://schemas.microsoft.com/office/drawing/2014/main" val="293142741"/>
                    </a:ext>
                  </a:extLst>
                </a:gridCol>
              </a:tblGrid>
              <a:tr h="5078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사이버 언어폭력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가상공간에서 </a:t>
                      </a: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  <a:sym typeface="Arial"/>
                        </a:rPr>
                        <a:t>비방</a:t>
                      </a: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하는 글</a:t>
                      </a:r>
                      <a:r>
                        <a:rPr lang="en-US" altLang="ko-KR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악성 댓글</a:t>
                      </a:r>
                      <a:r>
                        <a:rPr lang="en-US" altLang="ko-KR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욕설 등을 올리는 행위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7281613"/>
                  </a:ext>
                </a:extLst>
              </a:tr>
              <a:tr h="7615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사이버 명예 훼손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가상공간에서 사실 또는 거짓을 말하여 상대방의 명예를 훼손하거나 인격을 침해하는 행위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5194805"/>
                  </a:ext>
                </a:extLst>
              </a:tr>
              <a:tr h="7615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사이버 영상 유포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상대방의 동의 없이 개인의 신체 부위나 각종 유해한 사진</a:t>
                      </a:r>
                      <a:r>
                        <a:rPr lang="en-US" altLang="ko-KR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영상 등을 전송</a:t>
                      </a:r>
                      <a:r>
                        <a:rPr lang="en-US" altLang="ko-KR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20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유포하여 괴롭히는 행위</a:t>
                      </a:r>
                      <a:endParaRPr lang="ko-KR" altLang="en-US" sz="20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312371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6851218" y="5381950"/>
            <a:ext cx="472165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kern="1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교육부</a:t>
            </a:r>
            <a:r>
              <a:rPr lang="en-US" altLang="ko-KR" kern="1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kern="1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〈</a:t>
            </a:r>
            <a:r>
              <a:rPr lang="ko-KR" altLang="en-US" kern="1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학생 </a:t>
            </a:r>
            <a:r>
              <a:rPr lang="ko-KR" altLang="en-US" kern="1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사이버 폭력 예방</a:t>
            </a:r>
            <a:r>
              <a:rPr lang="en-US" altLang="ko-KR" kern="1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·</a:t>
            </a:r>
            <a:r>
              <a:rPr lang="ko-KR" altLang="en-US" kern="1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대응 </a:t>
            </a:r>
            <a:r>
              <a:rPr lang="ko-KR" altLang="en-US" kern="1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가이드</a:t>
            </a:r>
            <a:r>
              <a:rPr lang="en-US" altLang="ko-KR" kern="1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</a:p>
        </p:txBody>
      </p:sp>
      <p:sp>
        <p:nvSpPr>
          <p:cNvPr id="25" name="타원 24"/>
          <p:cNvSpPr/>
          <p:nvPr/>
        </p:nvSpPr>
        <p:spPr>
          <a:xfrm>
            <a:off x="4689403" y="2915332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844442" y="5381950"/>
            <a:ext cx="37555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smtClean="0">
                <a:solidFill>
                  <a:schemeClr val="accent6"/>
                </a:solidFill>
              </a:rPr>
              <a:t>비방 </a:t>
            </a:r>
            <a:r>
              <a:rPr lang="ko-KR" altLang="en-US" sz="1600" smtClean="0">
                <a:solidFill>
                  <a:prstClr val="black"/>
                </a:solidFill>
                <a:latin typeface="+mn-ea"/>
              </a:rPr>
              <a:t>남을 비웃거나 헐뜯어서 말함</a:t>
            </a:r>
            <a:r>
              <a:rPr lang="en-US" altLang="ko-KR" sz="1600" smtClean="0">
                <a:solidFill>
                  <a:prstClr val="black"/>
                </a:solidFill>
                <a:latin typeface="+mn-ea"/>
              </a:rPr>
              <a:t>.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380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사이버 폭력의 의미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정보 통신 기술을 사용하여 상대방에게 해를 끼치는 </a:t>
            </a:r>
            <a:r>
              <a:rPr lang="ko-KR" altLang="en-US" sz="2400">
                <a:latin typeface="+mn-ea"/>
              </a:rPr>
              <a:t>여러 </a:t>
            </a:r>
            <a:r>
              <a:rPr lang="ko-KR" altLang="en-US" sz="2400" smtClean="0">
                <a:latin typeface="+mn-ea"/>
              </a:rPr>
              <a:t>행위</a:t>
            </a: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사이버 폭력의 심각성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사이버 폭력을 당한 피해자는 큰 고통을 받을 뿐 아니라 오랫동안 지워지지 않은 마음의 상처를 받음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사이버 폭력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7598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677968" y="5630710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편향</a:t>
            </a:r>
            <a:r>
              <a:rPr lang="ko-KR" altLang="en-US" sz="1600" dirty="0" smtClean="0">
                <a:latin typeface="+mn-ea"/>
              </a:rPr>
              <a:t> 한쪽으로 치우침</a:t>
            </a:r>
            <a:r>
              <a:rPr lang="en-US" altLang="ko-KR" sz="1600" dirty="0" smtClean="0">
                <a:latin typeface="+mn-ea"/>
              </a:rPr>
              <a:t>. </a:t>
            </a:r>
            <a:endParaRPr lang="en-US" altLang="ko-KR" sz="1600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84417" y="1663252"/>
            <a:ext cx="9087663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가상공간의 여러 플랫폼은 이용자의 선호도를 파악하여 맞춤화된 콘텐츠를 제공한다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이러한 알고리즘 방식은 사용자가 보고 싶어 할 정보를 노출시켜 편향된 정보를 제공한다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……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남 씨는 최근 아버지와 사이가 멀어졌다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그 까닭은 아버지가 특정 채널에서 본 내용만 옳다고 강하게 주장하였기 때문이다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남 씨는 </a:t>
            </a:r>
            <a:r>
              <a:rPr lang="en-US" altLang="ko-KR" sz="2200" smtClean="0">
                <a:latin typeface="굴림" panose="020B0600000101010101" pitchFamily="50" charset="-127"/>
                <a:ea typeface="굴림" panose="020B0600000101010101" pitchFamily="50" charset="-127"/>
              </a:rPr>
              <a:t>“</a:t>
            </a: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아버지가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해당 채널을 자주 보게 되면서 본인의 생각과 가치관이 무조건 옳다고 고집하는 경향이 강해진 것 같다</a:t>
            </a:r>
            <a:r>
              <a:rPr lang="en-US" altLang="ko-KR" sz="2200" smtClean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라고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말하였다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3774480" y="2730673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01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46247"/>
            <a:ext cx="10293350" cy="371010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0039" y="2487756"/>
            <a:ext cx="100046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자신과 다른 견해를 지닌 사람들의 주장을 무시하여 갈등이 발생할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자신이 접한 정보에 따라 옳고 그름을 판단하게 되므로 균형 잡힌 사고를 하기 어려워진다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자신의 관점만이 옳다고 주장하여 다른 관점을 지닌 사람과 원활한 소통을 하기 어려워진다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8518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우리가 정보를 편향된 방식으로 수용하면 어떤 문제가 발생할지 써 보자</a:t>
            </a:r>
            <a:r>
              <a:rPr lang="en-US" altLang="ko-KR" sz="2000" b="1"/>
              <a:t>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편향된 정보의 문제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  <a:tabLst>
                <a:tab pos="90488" algn="l"/>
              </a:tabLst>
            </a:pPr>
            <a:r>
              <a:rPr lang="ko-KR" altLang="en-US" sz="2400" b="1" dirty="0" smtClean="0">
                <a:latin typeface="Arial Rounded MT Bold" panose="020F0704030504030204" pitchFamily="34" charset="0"/>
              </a:rPr>
              <a:t>객관적이고 </a:t>
            </a:r>
            <a:r>
              <a:rPr lang="ko-KR" altLang="en-US" sz="2400" b="1" dirty="0">
                <a:latin typeface="Arial Rounded MT Bold" panose="020F0704030504030204" pitchFamily="34" charset="0"/>
              </a:rPr>
              <a:t>균형 잡힌 견해를 지니기 </a:t>
            </a:r>
            <a:r>
              <a:rPr lang="ko-KR" altLang="en-US" sz="2400" b="1" dirty="0" smtClean="0">
                <a:latin typeface="Arial Rounded MT Bold" panose="020F0704030504030204" pitchFamily="34" charset="0"/>
              </a:rPr>
              <a:t>어려움</a:t>
            </a:r>
            <a:r>
              <a:rPr lang="en-US" altLang="ko-KR" sz="2400" b="1" dirty="0" smtClean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가상공간에서 알고리즘에 </a:t>
            </a:r>
            <a:r>
              <a:rPr lang="ko-KR" altLang="en-US" sz="2400" dirty="0" err="1">
                <a:latin typeface="+mn-ea"/>
              </a:rPr>
              <a:t>따라편향된</a:t>
            </a:r>
            <a:r>
              <a:rPr lang="ko-KR" altLang="en-US" sz="2400" dirty="0">
                <a:latin typeface="+mn-ea"/>
              </a:rPr>
              <a:t> 정보만 받아들이면 객관적이고 균형 잡힌 견해를 지니기 어려움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  <a:tabLst>
                <a:tab pos="90488" algn="l"/>
              </a:tabLst>
            </a:pPr>
            <a:r>
              <a:rPr lang="ko-KR" altLang="en-US" sz="2400" b="1" dirty="0" smtClean="0">
                <a:latin typeface="맑은 고딕" panose="020B0503020000020004" pitchFamily="50" charset="-127"/>
              </a:rPr>
              <a:t>다른 </a:t>
            </a:r>
            <a:r>
              <a:rPr lang="ko-KR" altLang="en-US" sz="2400" b="1" dirty="0">
                <a:latin typeface="맑은 고딕" panose="020B0503020000020004" pitchFamily="50" charset="-127"/>
              </a:rPr>
              <a:t>사람과 </a:t>
            </a:r>
            <a:r>
              <a:rPr lang="ko-KR" altLang="en-US" sz="2400" b="1" dirty="0">
                <a:latin typeface="Arial Rounded MT Bold" panose="020F0704030504030204" pitchFamily="34" charset="0"/>
              </a:rPr>
              <a:t>갈등이 발생할 수 </a:t>
            </a:r>
            <a:r>
              <a:rPr lang="ko-KR" altLang="en-US" sz="2400" b="1" dirty="0" smtClean="0">
                <a:latin typeface="Arial Rounded MT Bold" panose="020F0704030504030204" pitchFamily="34" charset="0"/>
              </a:rPr>
              <a:t>있음</a:t>
            </a:r>
            <a:r>
              <a:rPr lang="en-US" altLang="ko-KR" sz="2400" b="1" dirty="0" smtClean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편향된 정보를 비판적으로 받아들이지 않으면 자기 견해만 옳다고 고집하거나 다른 사람의 견해는 무시하여 갈등이 발생할 수 있음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편향된 정보의 문제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12" name="그림 11" descr="상징, 그린, 로고, 스크린샷이(가) 표시된 사진&#10;&#10;자동 생성된 설명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C2C07B9-E9B8-5FD4-3609-BF7BDBCBFF9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9971" y="5998328"/>
            <a:ext cx="1944697" cy="492328"/>
          </a:xfrm>
          <a:prstGeom prst="rect">
            <a:avLst/>
          </a:prstGeom>
        </p:spPr>
      </p:pic>
      <p:sp>
        <p:nvSpPr>
          <p:cNvPr id="13" name="TextBox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B404EC2-CE39-0907-EB0D-5A0B60F5A023}"/>
              </a:ext>
            </a:extLst>
          </p:cNvPr>
          <p:cNvSpPr txBox="1"/>
          <p:nvPr/>
        </p:nvSpPr>
        <p:spPr>
          <a:xfrm>
            <a:off x="10160221" y="6045788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더 알아보기</a:t>
            </a:r>
          </a:p>
        </p:txBody>
      </p:sp>
    </p:spTree>
    <p:extLst>
      <p:ext uri="{BB962C8B-B14F-4D97-AF65-F5344CB8AC3E}">
        <p14:creationId xmlns:p14="http://schemas.microsoft.com/office/powerpoint/2010/main" val="302517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가치관의 의미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Arial Rounded MT Bold" panose="020F0704030504030204" pitchFamily="34" charset="0"/>
              </a:rPr>
              <a:t>자신이 </a:t>
            </a:r>
            <a:r>
              <a:rPr lang="ko-KR" altLang="en-US" sz="2400" dirty="0">
                <a:latin typeface="Arial Rounded MT Bold" panose="020F0704030504030204" pitchFamily="34" charset="0"/>
              </a:rPr>
              <a:t>소중히 여기는 가치를 바탕으로 자신의 삶과 세상을 바라보는 태도나 관점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나의 삶과 가치관 성찰하기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3582298" y="2162670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3110388"/>
            <a:ext cx="952617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가치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사람들이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소중하게 생각하여 얻고자 하는 것</a:t>
            </a:r>
          </a:p>
          <a:p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1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4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5" name="그림 24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622056" y="1194899"/>
            <a:ext cx="1944697" cy="492328"/>
            <a:chOff x="377032" y="923820"/>
            <a:chExt cx="1944697" cy="492328"/>
          </a:xfrm>
        </p:grpSpPr>
        <p:pic>
          <p:nvPicPr>
            <p:cNvPr id="30" name="그림 29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687081"/>
              </p:ext>
            </p:extLst>
          </p:nvPr>
        </p:nvGraphicFramePr>
        <p:xfrm>
          <a:off x="1095441" y="2198240"/>
          <a:ext cx="10044665" cy="29143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9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380868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4571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저작권</a:t>
                      </a:r>
                      <a:endParaRPr lang="en-US" altLang="ko-KR" smtClean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침해</a:t>
                      </a:r>
                      <a:endParaRPr lang="en-US" altLang="ko-KR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저작자가 창작물에 관해 지니는 권리를 침해하는 것으로</a:t>
                      </a:r>
                      <a:r>
                        <a:rPr lang="en-US" altLang="ko-KR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예를 들어 타인이 가상공간에 올린 글</a:t>
                      </a:r>
                      <a:r>
                        <a:rPr lang="en-US" altLang="ko-KR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그림</a:t>
                      </a:r>
                      <a:r>
                        <a:rPr lang="en-US" altLang="ko-KR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음악</a:t>
                      </a:r>
                      <a:r>
                        <a:rPr lang="en-US" altLang="ko-KR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영화 등을 마음대로 사용하는 행위 등이 있다</a:t>
                      </a:r>
                      <a:r>
                        <a:rPr lang="en-US" altLang="ko-KR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.</a:t>
                      </a:r>
                      <a:endParaRPr lang="ko-KR" altLang="en-US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4571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사생활 </a:t>
                      </a:r>
                      <a:endParaRPr lang="en-US" altLang="ko-KR" smtClean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침해</a:t>
                      </a:r>
                      <a:endParaRPr lang="ko-KR" altLang="en-US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당사자의 허락 없이 개인적인 정보를 함부로 퍼뜨려 당사자에게 고통을 주는 행위이다</a:t>
                      </a:r>
                      <a:r>
                        <a:rPr lang="en-US" altLang="ko-KR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.</a:t>
                      </a:r>
                      <a:endParaRPr lang="ko-KR" altLang="en-US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657698" y="1133260"/>
            <a:ext cx="7874038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저작권 침해와 사생활 침해 </a:t>
            </a:r>
            <a:endParaRPr lang="en-US" altLang="ko-KR" sz="22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290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smtClean="0">
                <a:solidFill>
                  <a:srgbClr val="00B050"/>
                </a:solidFill>
                <a:latin typeface="+mn-ea"/>
              </a:rPr>
              <a:t>가상공간에서 발생하는 도덕 문제를 잘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이해했는지 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V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표를 하며 점검하고</a:t>
            </a:r>
            <a:r>
              <a:rPr lang="en-US" altLang="ko-KR" sz="2200" b="1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smtClean="0">
                <a:solidFill>
                  <a:srgbClr val="00B050"/>
                </a:solidFill>
                <a:latin typeface="+mn-ea"/>
              </a:rPr>
              <a:t>하나를 골라 원인과 함께 설명해 보자</a:t>
            </a:r>
            <a:r>
              <a:rPr lang="en-US" altLang="ko-KR" sz="2200" b="1" smtClean="0">
                <a:solidFill>
                  <a:srgbClr val="00B050"/>
                </a:solidFill>
                <a:latin typeface="+mn-ea"/>
              </a:rPr>
              <a:t>. 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953767"/>
            <a:ext cx="1328154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설명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53078"/>
            <a:ext cx="2769128" cy="681855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3776341" y="2856289"/>
            <a:ext cx="1995200" cy="678643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550024" y="2778531"/>
            <a:ext cx="24161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사이버 중독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1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5982508" y="2853078"/>
            <a:ext cx="1995200" cy="681854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806426" y="2773667"/>
            <a:ext cx="23086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사이버 폭력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8" name="그림 4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53" name="그림 5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7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175622" y="2854763"/>
            <a:ext cx="2830144" cy="680170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5915" y="4546283"/>
            <a:ext cx="8165055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사이버 폭력이란 정보 통신 기술을 사용하여 상대방에게 해를 끼치는 여러 행위를 말한다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이것은 가상공간에서 상대방을 존중하지 않고 함부로 대하면 발생할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94245" y="2779987"/>
            <a:ext cx="28414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편향된 정보의 문제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37008" y="2767774"/>
            <a:ext cx="28414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자아 정체성의 혼란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983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spc="-150">
                <a:solidFill>
                  <a:schemeClr val="tx1"/>
                </a:solidFill>
              </a:rPr>
              <a:t>“03. </a:t>
            </a:r>
            <a:r>
              <a:rPr lang="ko-KR" altLang="en-US" sz="2800" b="1" spc="-150">
                <a:solidFill>
                  <a:schemeClr val="tx1"/>
                </a:solidFill>
              </a:rPr>
              <a:t>가상공간을 올바르게 활용하는 방법은 무엇일까</a:t>
            </a:r>
            <a:r>
              <a:rPr lang="en-US" altLang="ko-KR" sz="2800" b="1" spc="-150" smtClean="0">
                <a:solidFill>
                  <a:schemeClr val="tx1"/>
                </a:solidFill>
              </a:rPr>
              <a:t>?”</a:t>
            </a:r>
            <a:r>
              <a:rPr lang="ko-KR" altLang="en-US" sz="2800" spc="-150" smtClean="0">
                <a:solidFill>
                  <a:schemeClr val="tx1"/>
                </a:solidFill>
              </a:rPr>
              <a:t>를</a:t>
            </a:r>
            <a:r>
              <a:rPr lang="en-US" altLang="ko-KR" sz="2800" spc="-15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altLang="ko-KR" sz="2800">
              <a:solidFill>
                <a:schemeClr val="tx1"/>
              </a:solidFill>
            </a:endParaRPr>
          </a:p>
          <a:p>
            <a:pPr algn="ctr"/>
            <a:r>
              <a:rPr lang="ko-KR" altLang="en-US" sz="2800" smtClean="0">
                <a:solidFill>
                  <a:schemeClr val="tx1"/>
                </a:solidFill>
              </a:rPr>
              <a:t>배워 </a:t>
            </a:r>
            <a:r>
              <a:rPr lang="ko-KR" altLang="en-US" sz="2800" dirty="0" smtClean="0">
                <a:solidFill>
                  <a:schemeClr val="tx1"/>
                </a:solidFill>
              </a:rPr>
              <a:t>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809010" y="583166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자아 정체성의 혼란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2056" y="3691396"/>
            <a:ext cx="110284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자아 정체성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내가 누구인가를 일관되게 인식하는 것으로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자신의 목표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역할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가치관 등을 통합적으로 이해한 상태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자아 정체성이란 내가 누구인가를 일관되게 인식하는 것으로, 자신의 목표, 역할, 가치관 등을 통합적으로 이해한 상태를 의미함.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가상공간에서는 현실의 모습과 상관없이 자신을 다양하게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표현 </a:t>
            </a:r>
            <a:r>
              <a:rPr sz="2400" b="0">
                <a:solidFill>
                  <a:srgbClr val="262626"/>
                </a:solidFill>
              </a:rPr>
              <a:t>하는 과정에서 자아 정체성에 혼란을 느낄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게임에서는 ‘최강 전사’, 학교에서는 조용한 나 — 어느 쪽이 진짜 나일까?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자아 정체성이란 내가 누구인가를 일관되게 인식하는 것으로, 자신의 목표, 역할, 가치관 등을 통합적으로 이해한 상태를 의미함.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가상공간에서는 현실의 모습과 상관없이 자신을 다양하게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표현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과정에서 자아 정체성에 혼란을 느낄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게임에서는 ‘최강 전사’, 학교에서는 조용한 나 — 어느 쪽이 진짜 나일까?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자아 정체성이란 내가 누구인가를 일관되게 인식하는 것으로, 자신의 목표, 역할, 가치관 등을 통합적으로 이해한 상태를 의미함.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가상공간에서는 현실의 모습과 상관없이 자신을 다양하게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표현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과정에서 자아 정체성에 혼란을 느낄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게임에서는 ‘최강 전사’, 학교에서는 조용한 나 — 어느 쪽이 진짜 나일까?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809010" y="583166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사이버 중독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2056" y="3691396"/>
            <a:ext cx="110284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자아 정체성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내가 누구인가를 일관되게 인식하는 것으로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자신의 목표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역할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가치관 등을 통합적으로 이해한 상태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사이버 중독은 가상공간에 지나치게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의존 </a:t>
            </a:r>
            <a:r>
              <a:rPr sz="2400" b="0">
                <a:solidFill>
                  <a:srgbClr val="262626"/>
                </a:solidFill>
              </a:rPr>
              <a:t>하여 자기 의지로 사용을 통제할 수 없는 상태를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휴대폰이 없으면 손이 떨리고 짜증이 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사이버 중독에는 온라인 게임 중독, 누리 소통망 중독 등이 있음.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사이버 중독은 가상공간에 지나치게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의존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하여 자기 의지로 사용을 통제할 수 없는 상태를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휴대폰이 없으면 손이 떨리고 짜증이 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사이버 중독에는 온라인 게임 중독, 누리 소통망 중독 등이 있음.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사이버 중독은 가상공간에 지나치게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하여 자기 의지로 사용을 통제할 수 없는 상태를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휴대폰이 없으면 손이 떨리고 짜증이 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사이버 중독에는 온라인 게임 중독, 누리 소통망 중독 등이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809010" y="583166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사이버 폭력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2056" y="3691396"/>
            <a:ext cx="110284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자아 정체성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내가 누구인가를 일관되게 인식하는 것으로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자신의 목표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역할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가치관 등을 통합적으로 이해한 상태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사이버 폭력이란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정보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통신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기술 </a:t>
            </a:r>
            <a:r>
              <a:rPr sz="2400" b="0">
                <a:solidFill>
                  <a:srgbClr val="262626"/>
                </a:solidFill>
              </a:rPr>
              <a:t>을 사용하여 상대방에게 해를 끼치는 여러 행위를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단톡방 초대 뒤 한꺼번에 나가기(방폭), 몰래 찍은 사진 올리기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여러 가지 가상공간의 유형이 등장하면서 사이버 폭력의 유형도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다양 </a:t>
            </a:r>
            <a:r>
              <a:rPr sz="2400" b="0">
                <a:solidFill>
                  <a:srgbClr val="262626"/>
                </a:solidFill>
              </a:rPr>
              <a:t>해지고 있음.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사이버 폭력이란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통신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사용하여 상대방에게 해를 끼치는 여러 행위를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단톡방 초대 뒤 한꺼번에 나가기(방폭), 몰래 찍은 사진 올리기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여러 가지 가상공간의 유형이 등장하면서 사이버 폭력의 유형도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다양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해지고 있음.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사이버 폭력이란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통신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사용하여 상대방에게 해를 끼치는 여러 행위를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단톡방 초대 뒤 한꺼번에 나가기(방폭), 몰래 찍은 사진 올리기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여러 가지 가상공간의 유형이 등장하면서 사이버 폭력의 유형도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다양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해지고 있음.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사이버 폭력이란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통신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기술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사용하여 상대방에게 해를 끼치는 여러 행위를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단톡방 초대 뒤 한꺼번에 나가기(방폭), 몰래 찍은 사진 올리기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여러 가지 가상공간의 유형이 등장하면서 사이버 폭력의 유형도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다양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해지고 있음.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사이버 폭력이란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통신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사용하여 상대방에게 해를 끼치는 여러 행위를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단톡방 초대 뒤 한꺼번에 나가기(방폭), 몰래 찍은 사진 올리기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여러 가지 가상공간의 유형이 등장하면서 사이버 폭력의 유형도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다양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해지고 있음.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사이버 폭력이란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통신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사용하여 상대방에게 해를 끼치는 여러 행위를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단톡방 초대 뒤 한꺼번에 나가기(방폭), 몰래 찍은 사진 올리기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여러 가지 가상공간의 유형이 등장하면서 사이버 폭력의 유형도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다양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해지고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809010" y="583166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“ㅋㅋㅋ 이거 봐”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2056" y="3691396"/>
            <a:ext cx="110284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자아 정체성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내가 누구인가를 일관되게 인식하는 것으로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자신의 목표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역할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가치관 등을 통합적으로 이해한 상태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중학교 · 단체 대화방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시작 · 누군가 친구의 웃긴 표정 사진을 올렸다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번짐 · 사진에 장난 글자가 붙고 다른 방으로 퍼졌다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친구 · 다음 날 학교에 오지 못했다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질문 · 올린 사람, 웃은 사람, 퍼뜨린 사람 — 누구의 잘못일까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나는 어디에서 멈출 수 있었을까?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중학교 · 단체 대화방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시작 · 누군가 친구의 웃긴 표정 사진을 올렸다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번짐 · 사진에 장난 글자가 붙고 다른 방으로 퍼졌다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 · 다음 날 학교에 오지 못했다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질문 · 올린 사람, 웃은 사람, 퍼뜨린 사람 — 누구의 잘못일까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나는 어디에서 멈출 수 있었을까?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809010" y="583166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편향된 정보의 문제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2056" y="3691396"/>
            <a:ext cx="110284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자아 정체성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내가 누구인가를 일관되게 인식하는 것으로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자신의 목표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역할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가치관 등을 통합적으로 이해한 상태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가상공간에서 알고리즘에 따라 편향된 정보만 받아들이면 여러 문제가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객관적이고 균형 잡힌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견해 </a:t>
            </a:r>
            <a:r>
              <a:rPr sz="2400" b="0">
                <a:solidFill>
                  <a:srgbClr val="262626"/>
                </a:solidFill>
              </a:rPr>
              <a:t>를 지니기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편향된 정보를 비판적으로 받아들이지 않으면 자기 견해만 옳다고 고집하거나 다른 사람의 견해는 무시하여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갈등 </a:t>
            </a:r>
            <a:r>
              <a:rPr sz="2400" b="0">
                <a:solidFill>
                  <a:srgbClr val="262626"/>
                </a:solidFill>
              </a:rPr>
              <a:t>이 발생할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서로 다른 영상만 본 두 친구가 같은 뉴스를 두고 크게 다퉜다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가상공간에서 알고리즘에 따라 편향된 정보만 받아들이면 여러 문제가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객관적이고 균형 잡힌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견해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지니기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편향된 정보를 비판적으로 받아들이지 않으면 자기 견해만 옳다고 고집하거나 다른 사람의 견해는 무시하여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 발생할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서로 다른 영상만 본 두 친구가 같은 뉴스를 두고 크게 다퉜다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가상공간에서 알고리즘에 따라 편향된 정보만 받아들이면 여러 문제가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객관적이고 균형 잡힌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견해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지니기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편향된 정보를 비판적으로 받아들이지 않으면 자기 견해만 옳다고 고집하거나 다른 사람의 견해는 무시하여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 발생할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서로 다른 영상만 본 두 친구가 같은 뉴스를 두고 크게 다퉜다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가상공간에서 알고리즘에 따라 편향된 정보만 받아들이면 여러 문제가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객관적이고 균형 잡힌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견해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지니기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편향된 정보를 비판적으로 받아들이지 않으면 자기 견해만 옳다고 고집하거나 다른 사람의 견해는 무시하여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 발생할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서로 다른 영상만 본 두 친구가 같은 뉴스를 두고 크게 다퉜다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809010" y="583166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거짓 뉴스는 얼마나 빨리 퍼질까?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2056" y="3691396"/>
            <a:ext cx="110284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자아 정체성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내가 누구인가를 일관되게 인식하는 것으로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자신의 목표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역할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가치관 등을 통합적으로 이해한 상태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6배 · 사실보다 1,500명에게 닿는 속도가 빨랐다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70% · 거짓 뉴스가 사실보다 공유될 가능성이 더 높았다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809010" y="583166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103쪽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2056" y="3691396"/>
            <a:ext cx="110284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자아 정체성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내가 누구인가를 일관되게 인식하는 것으로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자신의 목표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역할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가치관 등을 통합적으로 이해한 상태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좋아하는 가수의 새 앨범이 불법 공유 사이트에 올라왔다. 돈을 내지 않아도 들을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받는다 — 다들 하는데 뭐 어때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안 받는다 — 가수와 만든 사람들의 노력이니까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내가 그 노래를 만든 사람이라면?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좋아하는 가수의 새 앨범이 불법 공유 사이트에 올라왔다. 돈을 내지 않아도 들을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받는다 — 다들 하는데 뭐 어때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안 받는다 — 가수와 만든 사람들의 노력이니까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내가 그 노래를 만든 사람이라면?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809010" y="583166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2056" y="3691396"/>
            <a:ext cx="110284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자아 정체성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내가 누구인가를 일관되게 인식하는 것으로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자신의 목표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역할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가치관 등을 통합적으로 이해한 상태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가상공간에서는 실제 자신과 다른 모습으로 활동하면서 자아 정체성의 혼란을 느낄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사이버 폭력은 가상공간에 지나치게 의존하여 자기 의지로 사용을 통제할 수 없는 상태를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여러 가지 가상공간의 유형이 등장하여도 사이버 폭력의 유형은 다양하지 않다.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가상공간에서 알고리즘에 따라 편향된 정보만 받아들이면 여러 문제가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가상공간에서는 실제 자신과 다른 모습으로 활동하면서 자아 정체성의 혼란을 느낄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사이버 폭력은 가상공간에 지나치게 의존하여 자기 의지로 사용을 통제할 수 없는 상태를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가지 가상공간의 유형이 등장하여도 사이버 폭력의 유형은 다양하지 않다.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가상공간에서 알고리즘에 따라 편향된 정보만 받아들이면 여러 문제가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가상공간에서는 실제 자신과 다른 모습으로 활동하면서 자아 정체성의 혼란을 느낄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사이버 폭력은 가상공간에 지나치게 의존하여 자기 의지로 사용을 통제할 수 없는 상태를 의미한다.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가지 가상공간의 유형이 등장하여도 사이버 폭력의 유형은 다양하지 않다.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가상공간에서 알고리즘에 따라 편향된 정보만 받아들이면 여러 문제가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가상공간에서는 실제 자신과 다른 모습으로 활동하면서 자아 정체성의 혼란을 느낄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사이버 폭력은 가상공간에 지나치게 의존하여 자기 의지로 사용을 통제할 수 없는 상태를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가지 가상공간의 유형이 등장하여도 사이버 폭력의 유형은 다양하지 않다.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가상공간에서 알고리즘에 따라 편향된 정보만 받아들이면 여러 문제가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가상공간에서는 실제 자신과 다른 모습으로 활동하면서 자아 정체성의 혼란을 느낄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사이버 폭력은 가상공간에 지나치게 의존하여 자기 의지로 사용을 통제할 수 없는 상태를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가지 가상공간의 유형이 등장하여도 사이버 폭력의 유형은 다양하지 않다.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가상공간에서 알고리즘에 따라 편향된 정보만 받아들이면 여러 문제가 생길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809010" y="583166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어떤 도덕 문제일까?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2056" y="3691396"/>
            <a:ext cx="110284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자아 정체성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내가 누구인가를 일관되게 인식하는 것으로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자신의 목표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역할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가치관 등을 통합적으로 이해한 상태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/>
                </a:solidFill>
              </a:rPr>
              <a:t>어느 칸일까? 정체성 혼란 · 사이버 중독 · 사이버 폭력 · 편향된 정보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1. 남의 사진으로 누리 소통망을 꾸미다 진짜 내 모습이 헷갈린다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정체성 혼란 (자아 정체성의 혼란)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2. 스마트폰이 없으면 불안해서 공부가 안 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중독 (사이버 중독)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3. 친구를 단체 대화방에 강제로 초대해 비웃는다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폭력 (사이버 폭력(따돌림))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4. 추천 영상만 보다 내 생각만 옳다고 믿게 됐다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편향된 정보 (편향된 정보)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5. 친구 얼굴로 딥페이크 영상을 만들어 퍼뜨렸다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폭력 (사이버 폭력(영상 유포))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6. 밤새 게임을 멈추지 못해 학교에서 존다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중독 (사이버 중독)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정체성 혼란 · 사이버 중독 · 사이버 폭력 · 편향된 정보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남의 사진으로 누리 소통망을 꾸미다 진짜 내 모습이 헷갈린다</a:t>
            </a:r>
            <a:r>
              <a:rPr sz="2100" b="1">
                <a:solidFill>
                  <a:srgbClr val="C0392B"/>
                </a:solidFill>
              </a:rPr>
              <a:t>   → 정체성 혼란 (자아 정체성의 혼란)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스마트폰이 없으면 불안해서 공부가 안 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중독 (사이버 중독)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친구를 단체 대화방에 강제로 초대해 비웃는다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폭력 (사이버 폭력(따돌림))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추천 영상만 보다 내 생각만 옳다고 믿게 됐다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편향된 정보 (편향된 정보)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친구 얼굴로 딥페이크 영상을 만들어 퍼뜨렸다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폭력 (사이버 폭력(영상 유포))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밤새 게임을 멈추지 못해 학교에서 존다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중독 (사이버 중독)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정체성 혼란 · 사이버 중독 · 사이버 폭력 · 편향된 정보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남의 사진으로 누리 소통망을 꾸미다 진짜 내 모습이 헷갈린다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정체성 혼란 (자아 정체성의 혼란)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스마트폰이 없으면 불안해서 공부가 안 된다</a:t>
            </a:r>
            <a:r>
              <a:rPr sz="2100" b="1">
                <a:solidFill>
                  <a:srgbClr val="C0392B"/>
                </a:solidFill>
              </a:rPr>
              <a:t>   → 사이버 중독 (사이버 중독)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친구를 단체 대화방에 강제로 초대해 비웃는다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폭력 (사이버 폭력(따돌림))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추천 영상만 보다 내 생각만 옳다고 믿게 됐다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편향된 정보 (편향된 정보)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친구 얼굴로 딥페이크 영상을 만들어 퍼뜨렸다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폭력 (사이버 폭력(영상 유포))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밤새 게임을 멈추지 못해 학교에서 존다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중독 (사이버 중독)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정체성 혼란 · 사이버 중독 · 사이버 폭력 · 편향된 정보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남의 사진으로 누리 소통망을 꾸미다 진짜 내 모습이 헷갈린다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정체성 혼란 (자아 정체성의 혼란)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스마트폰이 없으면 불안해서 공부가 안 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중독 (사이버 중독)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친구를 단체 대화방에 강제로 초대해 비웃는다</a:t>
            </a:r>
            <a:r>
              <a:rPr sz="2100" b="1">
                <a:solidFill>
                  <a:srgbClr val="C0392B"/>
                </a:solidFill>
              </a:rPr>
              <a:t>   → 사이버 폭력 (사이버 폭력(따돌림))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추천 영상만 보다 내 생각만 옳다고 믿게 됐다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편향된 정보 (편향된 정보)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친구 얼굴로 딥페이크 영상을 만들어 퍼뜨렸다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폭력 (사이버 폭력(영상 유포))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밤새 게임을 멈추지 못해 학교에서 존다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중독 (사이버 중독)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정체성 혼란 · 사이버 중독 · 사이버 폭력 · 편향된 정보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남의 사진으로 누리 소통망을 꾸미다 진짜 내 모습이 헷갈린다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정체성 혼란 (자아 정체성의 혼란)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스마트폰이 없으면 불안해서 공부가 안 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중독 (사이버 중독)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친구를 단체 대화방에 강제로 초대해 비웃는다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폭력 (사이버 폭력(따돌림))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추천 영상만 보다 내 생각만 옳다고 믿게 됐다</a:t>
            </a:r>
            <a:r>
              <a:rPr sz="2100" b="1">
                <a:solidFill>
                  <a:srgbClr val="C0392B"/>
                </a:solidFill>
              </a:rPr>
              <a:t>   → 편향된 정보 (편향된 정보)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친구 얼굴로 딥페이크 영상을 만들어 퍼뜨렸다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폭력 (사이버 폭력(영상 유포))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밤새 게임을 멈추지 못해 학교에서 존다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중독 (사이버 중독)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정체성 혼란 · 사이버 중독 · 사이버 폭력 · 편향된 정보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남의 사진으로 누리 소통망을 꾸미다 진짜 내 모습이 헷갈린다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정체성 혼란 (자아 정체성의 혼란)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스마트폰이 없으면 불안해서 공부가 안 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중독 (사이버 중독)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친구를 단체 대화방에 강제로 초대해 비웃는다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폭력 (사이버 폭력(따돌림))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추천 영상만 보다 내 생각만 옳다고 믿게 됐다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편향된 정보 (편향된 정보)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친구 얼굴로 딥페이크 영상을 만들어 퍼뜨렸다</a:t>
            </a:r>
            <a:r>
              <a:rPr sz="2100" b="1">
                <a:solidFill>
                  <a:srgbClr val="C0392B"/>
                </a:solidFill>
              </a:rPr>
              <a:t>   → 사이버 폭력 (사이버 폭력(영상 유포))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밤새 게임을 멈추지 못해 학교에서 존다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중독 (사이버 중독)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정체성 혼란 · 사이버 중독 · 사이버 폭력 · 편향된 정보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남의 사진으로 누리 소통망을 꾸미다 진짜 내 모습이 헷갈린다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정체성 혼란 (자아 정체성의 혼란)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스마트폰이 없으면 불안해서 공부가 안 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중독 (사이버 중독)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친구를 단체 대화방에 강제로 초대해 비웃는다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폭력 (사이버 폭력(따돌림))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추천 영상만 보다 내 생각만 옳다고 믿게 됐다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편향된 정보 (편향된 정보)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친구 얼굴로 딥페이크 영상을 만들어 퍼뜨렸다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사이버 폭력 (사이버 폭력(영상 유포))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밤새 게임을 멈추지 못해 학교에서 존다</a:t>
            </a:r>
            <a:r>
              <a:rPr sz="2100" b="1">
                <a:solidFill>
                  <a:srgbClr val="C0392B"/>
                </a:solidFill>
              </a:rPr>
              <a:t>   → 사이버 중독 (사이버 중독)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809010" y="583166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이것도 문제일까?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2056" y="3691396"/>
            <a:ext cx="110284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자아 정체성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내가 누구인가를 일관되게 인식하는 것으로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자신의 목표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역할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가치관 등을 통합적으로 이해한 상태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친구의 웃긴 사진을 허락 없이 단톡방에 올리는 것은 장난일 뿐이다.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사생활 침해이자 사이버 폭력이 될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좋아하는 노래를 불법 사이트에서 받는 것은 저작권 침해이다.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창작자의 권리를 침해한다.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악플을 단 사람만 잘못이고 ‘좋아요’를 누른 사람은 상관없다.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공감 표시와 공유도 가해에 힘을 보탠다.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알고리즘이 추천한 정보만 보면 생각이 한쪽으로 치우칠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편향된 정보의 문제.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친구의 웃긴 사진을 허락 없이 단톡방에 올리는 것은 장난일 뿐이다.  ( ○ / ✕ )</a:t>
            </a:r>
            <a:r>
              <a:rPr sz="2300" b="1">
                <a:solidFill>
                  <a:srgbClr val="C0392B"/>
                </a:solidFill>
              </a:rPr>
              <a:t>   ✕  사생활 침해이자 사이버 폭력이 될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좋아하는 노래를 불법 사이트에서 받는 것은 저작권 침해이다.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창작자의 권리를 침해한다.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악플을 단 사람만 잘못이고 ‘좋아요’를 누른 사람은 상관없다.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공감 표시와 공유도 가해에 힘을 보탠다.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알고리즘이 추천한 정보만 보면 생각이 한쪽으로 치우칠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편향된 정보의 문제.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친구의 웃긴 사진을 허락 없이 단톡방에 올리는 것은 장난일 뿐이다.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사생활 침해이자 사이버 폭력이 될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좋아하는 노래를 불법 사이트에서 받는 것은 저작권 침해이다.  ( ○ / ✕ )</a:t>
            </a:r>
            <a:r>
              <a:rPr sz="2300" b="1">
                <a:solidFill>
                  <a:srgbClr val="C0392B"/>
                </a:solidFill>
              </a:rPr>
              <a:t>   ○  창작자의 권리를 침해한다.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악플을 단 사람만 잘못이고 ‘좋아요’를 누른 사람은 상관없다.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공감 표시와 공유도 가해에 힘을 보탠다.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알고리즘이 추천한 정보만 보면 생각이 한쪽으로 치우칠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편향된 정보의 문제.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친구의 웃긴 사진을 허락 없이 단톡방에 올리는 것은 장난일 뿐이다.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사생활 침해이자 사이버 폭력이 될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좋아하는 노래를 불법 사이트에서 받는 것은 저작권 침해이다.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창작자의 권리를 침해한다.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악플을 단 사람만 잘못이고 ‘좋아요’를 누른 사람은 상관없다.  ( ○ / ✕ )</a:t>
            </a:r>
            <a:r>
              <a:rPr sz="2300" b="1">
                <a:solidFill>
                  <a:srgbClr val="C0392B"/>
                </a:solidFill>
              </a:rPr>
              <a:t>   ✕  공감 표시와 공유도 가해에 힘을 보탠다.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알고리즘이 추천한 정보만 보면 생각이 한쪽으로 치우칠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편향된 정보의 문제.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친구의 웃긴 사진을 허락 없이 단톡방에 올리는 것은 장난일 뿐이다.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사생활 침해이자 사이버 폭력이 될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좋아하는 노래를 불법 사이트에서 받는 것은 저작권 침해이다.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창작자의 권리를 침해한다.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악플을 단 사람만 잘못이고 ‘좋아요’를 누른 사람은 상관없다.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공감 표시와 공유도 가해에 힘을 보탠다.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알고리즘이 추천한 정보만 보면 생각이 한쪽으로 치우칠 수 있다.  ( ○ / ✕ )</a:t>
            </a:r>
            <a:r>
              <a:rPr sz="2300" b="1">
                <a:solidFill>
                  <a:srgbClr val="C0392B"/>
                </a:solidFill>
              </a:rPr>
              <a:t>   ○  편향된 정보의 문제.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809010" y="583166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➕ 딥페이크 사건, 멈출 수 있었던 순간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가상공간에서 발생하는 도덕 문제는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2056" y="3691396"/>
            <a:ext cx="110284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자아 정체성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내가 누구인가를 일관되게 인식하는 것으로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자신의 목표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역할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가치관 등을 통합적으로 이해한 상태 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중요한 순서대로 번호를 매겨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“심심한데 놀려 볼까?” 생각한 순간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영상을 만든 순간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단체 대화방에 올린 순간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“ㅋㅋㅋ” 웃음을 단 순간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(   ) 다른 방으로 퍼간 순간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9059</TotalTime>
  <Words>1696</Words>
  <Application>Microsoft Office PowerPoint</Application>
  <PresentationFormat>와이드스크린</PresentationFormat>
  <Paragraphs>303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AppleSDGothicNeoB00</vt:lpstr>
      <vt:lpstr>굴림</vt:lpstr>
      <vt:lpstr>나눔스퀘어라운드 ExtraBold</vt:lpstr>
      <vt:lpstr>돋움</vt:lpstr>
      <vt:lpstr>맑은 고딕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211</cp:revision>
  <cp:lastPrinted>2024-06-05T04:53:22Z</cp:lastPrinted>
  <dcterms:created xsi:type="dcterms:W3CDTF">2023-10-31T05:50:03Z</dcterms:created>
  <dcterms:modified xsi:type="dcterms:W3CDTF">2025-01-14T03:47:58Z</dcterms:modified>
</cp:coreProperties>
</file>