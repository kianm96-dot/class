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media/image5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258" r:id="rId4"/>
    <p:sldId id="393" r:id="rId5"/>
    <p:sldId id="305" r:id="rId6"/>
    <p:sldId id="306" r:id="rId7"/>
    <p:sldId id="270" r:id="rId8"/>
    <p:sldId id="260" r:id="rId9"/>
    <p:sldId id="409" r:id="rId30"/>
    <p:sldId id="407" r:id="rId10"/>
    <p:sldId id="408" r:id="rId11"/>
    <p:sldId id="308" r:id="rId12"/>
    <p:sldId id="394" r:id="rId13"/>
    <p:sldId id="395" r:id="rId14"/>
    <p:sldId id="396" r:id="rId15"/>
    <p:sldId id="403" r:id="rId16"/>
    <p:sldId id="313" r:id="rId17"/>
    <p:sldId id="410" r:id="rId31"/>
    <p:sldId id="411" r:id="rId32"/>
    <p:sldId id="412" r:id="rId33"/>
    <p:sldId id="398" r:id="rId18"/>
    <p:sldId id="399" r:id="rId19"/>
    <p:sldId id="400" r:id="rId20"/>
    <p:sldId id="401" r:id="rId21"/>
    <p:sldId id="413" r:id="rId34"/>
    <p:sldId id="414" r:id="rId35"/>
    <p:sldId id="415" r:id="rId36"/>
    <p:sldId id="416" r:id="rId37"/>
    <p:sldId id="402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5599" autoAdjust="0"/>
  </p:normalViewPr>
  <p:slideViewPr>
    <p:cSldViewPr snapToGrid="0">
      <p:cViewPr varScale="1">
        <p:scale>
          <a:sx n="110" d="100"/>
          <a:sy n="110" d="100"/>
        </p:scale>
        <p:origin x="660" y="10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80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도덕① 3차시와 연결</a:t>
            </a:r>
          </a:p>
          <a:p>
            <a:r>
              <a:t>아리스토텔레스의 세 가지 우정(쓸모·즐거움·좋은 사람) 가운데 선한 성품에 바탕한 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핑크 셔츠 데이</a:t>
            </a:r>
          </a:p>
          <a:p>
            <a:r>
              <a:t>2007년 캐나다 노바스코샤주 케임브리지 고등학교에서 있었던 일. 데이비드 셰퍼드와 트래비스 프라이스가 주변 친구들에게 문자를 돌려 분홍 셔츠를 입자고 했다. 괴롭힘을 막는 방법이 방관자를 방어자로 바꾸는 데 있음을 보여 준 사례. 지금은 매년 2월 마지막 수요일 전후로 캠페인이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친구 관계의 방법을 연습하고, 잘못된 요구를 거절해 보자.</a:t>
            </a:r>
          </a:p>
          <a:p>
            <a:r>
              <a:t>⏱ 짝과 역할극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친구 관계의 방법을 연습하고, 잘못된 요구를 거절해 보자.</a:t>
            </a:r>
          </a:p>
          <a:p>
            <a:r>
              <a:t>⏱ 짝과 역할극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친구 관계의 방법을 연습하고, 잘못된 요구를 거절해 보자.</a:t>
            </a:r>
          </a:p>
          <a:p>
            <a:r>
              <a:t>⏱ 짝과 역할극 2분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5" Type="http://schemas.openxmlformats.org/officeDocument/2006/relationships/image" Target="../media/image592.svg"/><Relationship Id="rId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5" Type="http://schemas.openxmlformats.org/officeDocument/2006/relationships/image" Target="../media/image592.svg"/><Relationship Id="rId6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40.png"/><Relationship Id="rId6" Type="http://schemas.openxmlformats.org/officeDocument/2006/relationships/slide" Target="slide19.xml"/><Relationship Id="rId7" Type="http://schemas.openxmlformats.org/officeDocument/2006/relationships/slide" Target="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18.xml"/><Relationship Id="rId6" Type="http://schemas.openxmlformats.org/officeDocument/2006/relationships/slide" Target="slide20.xml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image" Target="../media/image42.png"/><Relationship Id="rId8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우정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서로 존중하는 친구 관계를 어떻게</a:t>
            </a:r>
            <a:r>
              <a:rPr lang="en-US" altLang="ko-KR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맺을까</a:t>
            </a:r>
            <a:r>
              <a:rPr lang="en-US" altLang="ko-KR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13290"/>
            <a:ext cx="10293350" cy="812884"/>
            <a:chOff x="914400" y="2362200"/>
            <a:chExt cx="10293350" cy="787400"/>
          </a:xfrm>
        </p:grpSpPr>
        <p:sp>
          <p:nvSpPr>
            <p:cNvPr id="24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75106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바람직한 친구 관계의 모습을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 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135872" y="2933437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서로 존중하는 친구 관계를 맺는 방법을 제시할 수 있다</a:t>
            </a:r>
            <a:r>
              <a:rPr lang="en-US" altLang="ko-KR" sz="2800" b="1" dirty="0" smtClean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37"/>
            <a:ext cx="11810350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053"/>
          <a:stretch/>
        </p:blipFill>
        <p:spPr>
          <a:xfrm>
            <a:off x="1125780" y="1398336"/>
            <a:ext cx="9952627" cy="467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37"/>
            <a:ext cx="11810350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042" y="1477448"/>
            <a:ext cx="9493041" cy="47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7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26312" y="2300969"/>
            <a:ext cx="10297537" cy="257583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8655" y="2361949"/>
            <a:ext cx="97332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윤미는 지혜의 관심사에는 귀 기울이지 않고 자신의 관심사만 이야기하여 지혜를 힘들게 만들었다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윤미가 지혜와 다시 좋은 친구 사이가 되려면 윤미는 지혜가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좋아하는 것은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무엇인지 관심을 가지고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이를 함께하려고 노력해야 한다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0451" y="1588465"/>
            <a:ext cx="69640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다음 만화를 보고 윤미에게 어떤 태도가 필요한지 써 보자</a:t>
            </a:r>
            <a:r>
              <a:rPr lang="en-US" altLang="ko-KR" sz="2000" b="1" smtClean="0"/>
              <a:t>. </a:t>
            </a:r>
            <a:endParaRPr lang="en-US" altLang="ko-KR" sz="2000" b="1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8236" y="1692677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632" y="1692677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74444" y="1349829"/>
            <a:ext cx="8737600" cy="542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위와 같은 모습을 바람직한 친구 관계로 보기 어려운 까닭을 써 보자</a:t>
            </a:r>
            <a:r>
              <a:rPr lang="en-US" altLang="ko-KR" sz="2000" b="1"/>
              <a:t>.</a:t>
            </a: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338367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556" y="2470239"/>
            <a:ext cx="98370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첫 번째 그림은 함께 놀 때 서로 욕을 하는 친구들의 모습이 제시되어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그리고 두 번째 그림은 친구에게 도움을 주지만 상대방을 무시하는 모습이 나타나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이처럼 친구와 즐거움을 주고받거나 친구에게 도움을 주지만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상대방을 인격적으로 존중하지 않는다면 바람직한 친구 관계로 보기 어렵다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2" name="그림 2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24" name="그림 2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바람직한 친구 관계의 모습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선한 성품을 바탕으로 서로를 인격적으로 존중하는 관계 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선한 성품을 지닌 사람은 상대방을 소중히 여기므로 자신의 생각만을 일방적으로 주장하지 않고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친구의 생각과 감정을 자기 것과 동등하게 존중함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바람직한 친구 관계의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04356"/>
            <a:ext cx="2884602" cy="262536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 희수와 수민이는 주말에 동네에서 점심을 같이 먹기로 약속하였다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희수는 인터넷으로 음식점을 미리 찾아본 뒤 냉면 가게에 가자고 말하였다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평소에 희수는 어떤 일을 하기 전에 충분히 계획을 세워야 한다고 생각하는 편이다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그런데 미리 계획하기보다는 그때그때의 상황과 분위기에 따라 즉흥적으로 행동하기를 좋아하는 수민이는 약속 당일에 먹고 싶은 음식을 먹자고 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7600" y="4676504"/>
            <a:ext cx="4547249" cy="218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1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04356"/>
            <a:ext cx="2884602" cy="262536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840018" y="1596520"/>
            <a:ext cx="8601887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 이에 희수는 “그날에 즉흥적으로 정한 가게의 음식이 맛이 없으면 어떻게 해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수민이는 “주말에 먹고 싶은 음식이 바뀔 수도 있는데 미리 음식점을 정할 필요는 없잖아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라고 대답하였다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희수는 다시 한번 음식점을 미리 정하자고 말했지만 수민이는 끝까지 희수의 의견을 따르지 않았다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희수와 수민이는 자기 의견만 고집하다가 서로 마음이 상하였다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7600" y="4676504"/>
            <a:ext cx="4547249" cy="218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9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719" y="1579284"/>
            <a:ext cx="60729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두 친구 사이에서 갈등이 일어난 원인을 써 보자</a:t>
            </a:r>
            <a:r>
              <a:rPr lang="en-US" altLang="ko-KR" sz="2000" b="1"/>
              <a:t>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2" name="그림 2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24" name="그림 2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57944" y="2439788"/>
            <a:ext cx="9891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희수와 수민이는 서로의 생각이 다른 것을 인정하지 않고 각자 자신이 옳다고 고집하여 갈등을 겪고 있다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687" y="1468688"/>
            <a:ext cx="10987719" cy="519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916" y="2631077"/>
            <a:ext cx="9304676" cy="4019472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0113" y="1553214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모둠 토의를 통해 친구 사이에 필요한 배려와 예의를 써 보고 나의 행동을 점검해 보자</a:t>
            </a:r>
            <a:r>
              <a:rPr lang="en-US" altLang="ko-KR" sz="2000" b="1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4444" y="3807231"/>
            <a:ext cx="627535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친구의 몸에 함부로 손대지 않는다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74444" y="5184394"/>
            <a:ext cx="627535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친구가 싫어하는 별명을 부르지 않는다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974444" y="4522912"/>
            <a:ext cx="627535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친구가 도움이 필요할 때 먼저 다가간다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74445" y="5895842"/>
            <a:ext cx="627535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친구와 말할 때 중간에 말을 자르지 않는다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74444" y="3120349"/>
            <a:ext cx="627535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친구의 물건을 함부로 사용하지 않는다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9579896" y="3284033"/>
            <a:ext cx="298579" cy="29518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9579896" y="4009182"/>
            <a:ext cx="298579" cy="29518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9579896" y="4723756"/>
            <a:ext cx="298579" cy="29518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9579896" y="5432514"/>
            <a:ext cx="298579" cy="29518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9579896" y="6080333"/>
            <a:ext cx="298579" cy="29518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7" name="그림 4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2044" y="2135646"/>
            <a:ext cx="487174" cy="487174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04568" y="2135646"/>
            <a:ext cx="1087577" cy="495431"/>
            <a:chOff x="10075659" y="2003022"/>
            <a:chExt cx="1156006" cy="495431"/>
          </a:xfrm>
        </p:grpSpPr>
        <p:pic>
          <p:nvPicPr>
            <p:cNvPr id="49" name="그림 4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14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8" grpId="2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175" y="4912034"/>
            <a:ext cx="10619913" cy="178658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175" y="2648881"/>
            <a:ext cx="10619913" cy="265841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2434" y="1577495"/>
            <a:ext cx="10407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나의 고민을 한 가지 쓰고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 err="1">
                <a:latin typeface="+mn-ea"/>
              </a:rPr>
              <a:t>모둠원과</a:t>
            </a:r>
            <a:r>
              <a:rPr lang="ko-KR" altLang="en-US" sz="2000" b="1" dirty="0">
                <a:latin typeface="+mn-ea"/>
              </a:rPr>
              <a:t> 함께 조언과 격려를 나누어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016" y="3127649"/>
            <a:ext cx="10294797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친구를 많이 사귀고 싶지만 친구에게 먼저 말을 거는 것이 어려워서 혼자 지내게 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94286" y="4807331"/>
            <a:ext cx="7333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친구에게 먼저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인사를 해 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자연스럽게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대화할 수 있을 거야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6070" y="4888250"/>
            <a:ext cx="142032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김미영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0778" y="2111986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15894" y="210347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90139" y="2103479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5" name="TextBox 3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506070" y="5765892"/>
            <a:ext cx="142032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유지혜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94285" y="5738329"/>
            <a:ext cx="7343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네가 이런 고민을 하고 있는지 몰랐어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네 고민을 알게 되었으니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이제는 나와도 함께 친하게 지내자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138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24" grpId="0"/>
      <p:bldP spid="24" grpId="1"/>
      <p:bldP spid="25" grpId="0"/>
      <p:bldP spid="25" grpId="1"/>
      <p:bldP spid="40" grpId="0"/>
      <p:bldP spid="40" grpId="1"/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3235" y="1437277"/>
            <a:ext cx="10239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/>
              <a:t>다음 </a:t>
            </a:r>
            <a:r>
              <a:rPr lang="en-US" altLang="ko-KR" sz="2000" b="1"/>
              <a:t>&lt;</a:t>
            </a:r>
            <a:r>
              <a:rPr lang="ko-KR" altLang="en-US" sz="2000" b="1"/>
              <a:t>활동 방법</a:t>
            </a:r>
            <a:r>
              <a:rPr lang="en-US" altLang="ko-KR" sz="2000" b="1"/>
              <a:t>&gt;</a:t>
            </a:r>
            <a:r>
              <a:rPr lang="ko-KR" altLang="en-US" sz="2000" b="1"/>
              <a:t>에 따라 나의 고민을 한 가지 쓰고</a:t>
            </a:r>
            <a:r>
              <a:rPr lang="en-US" altLang="ko-KR" sz="2000" b="1"/>
              <a:t>, </a:t>
            </a:r>
            <a:r>
              <a:rPr lang="ko-KR" altLang="en-US" sz="2000" b="1"/>
              <a:t>모둠원과 함께 조언과 격려를 나누어 보자</a:t>
            </a:r>
            <a:r>
              <a:rPr lang="en-US" altLang="ko-KR" sz="2000" b="1"/>
              <a:t>.</a:t>
            </a:r>
            <a:endParaRPr lang="ko-KR" altLang="en-US" sz="2000" b="1" dirty="0"/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1960978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1960978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72354"/>
              </p:ext>
            </p:extLst>
          </p:nvPr>
        </p:nvGraphicFramePr>
        <p:xfrm>
          <a:off x="272904" y="2618336"/>
          <a:ext cx="10986394" cy="36461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7722">
                  <a:extLst>
                    <a:ext uri="{9D8B030D-6E8A-4147-A177-3AD203B41FA5}">
                      <a16:colId xmlns:a16="http://schemas.microsoft.com/office/drawing/2014/main" val="2151877724"/>
                    </a:ext>
                  </a:extLst>
                </a:gridCol>
                <a:gridCol w="9498672">
                  <a:extLst>
                    <a:ext uri="{9D8B030D-6E8A-4147-A177-3AD203B41FA5}">
                      <a16:colId xmlns:a16="http://schemas.microsoft.com/office/drawing/2014/main" val="2822499688"/>
                    </a:ext>
                  </a:extLst>
                </a:gridCol>
              </a:tblGrid>
              <a:tr h="398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smtClean="0"/>
                        <a:t>나의 고민</a:t>
                      </a:r>
                      <a:endParaRPr lang="ko-KR" alt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122596"/>
                  </a:ext>
                </a:extLst>
              </a:tr>
              <a:tr h="1222143">
                <a:tc gridSpan="2">
                  <a:txBody>
                    <a:bodyPr/>
                    <a:lstStyle/>
                    <a:p>
                      <a:pPr latinLnBrk="1"/>
                      <a:endParaRPr lang="en-US" altLang="ko-KR" smtClean="0"/>
                    </a:p>
                    <a:p>
                      <a:pPr latinLnBrk="1"/>
                      <a:endParaRPr lang="en-US" altLang="ko-KR" smtClean="0"/>
                    </a:p>
                    <a:p>
                      <a:pPr latinLnBrk="1"/>
                      <a:endParaRPr lang="en-US" altLang="ko-KR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495915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smtClean="0"/>
                        <a:t>이름</a:t>
                      </a:r>
                      <a:endParaRPr lang="ko-KR" alt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smtClean="0"/>
                        <a:t>조언과 격려</a:t>
                      </a:r>
                      <a:endParaRPr lang="ko-KR" alt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156609"/>
                  </a:ext>
                </a:extLst>
              </a:tr>
              <a:tr h="156622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40679"/>
                  </a:ext>
                </a:extLst>
              </a:tr>
            </a:tbl>
          </a:graphicData>
        </a:graphic>
      </p:graphicFrame>
      <p:sp>
        <p:nvSpPr>
          <p:cNvPr id="29" name="타원 28"/>
          <p:cNvSpPr/>
          <p:nvPr/>
        </p:nvSpPr>
        <p:spPr>
          <a:xfrm>
            <a:off x="5456612" y="643852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nextslide"/>
          </p:cNvPr>
          <p:cNvSpPr/>
          <p:nvPr/>
        </p:nvSpPr>
        <p:spPr>
          <a:xfrm>
            <a:off x="5851987" y="643852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44781" y="3016520"/>
            <a:ext cx="10994298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mtClean="0">
                <a:solidFill>
                  <a:srgbClr val="0070C0"/>
                </a:solidFill>
              </a:rPr>
              <a:t> 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친구를 많이 사귀고 싶지만 친구에게 먼저 말을 거는 것이 어려워서 혼자 지내게 된다</a:t>
            </a:r>
            <a:r>
              <a:rPr lang="en-US" altLang="ko-KR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69058" y="4634285"/>
            <a:ext cx="9258172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친구에게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먼저 인사를 </a:t>
            </a:r>
            <a:r>
              <a:rPr lang="ko-KR" altLang="en-US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 봐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분명 그 친구도 같이 인사를 할 거야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나도 친구에게 </a:t>
            </a:r>
            <a:r>
              <a:rPr lang="ko-KR" altLang="en-US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먼저 말을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거는 것이 어려웠는데 인사를 </a:t>
            </a:r>
            <a:r>
              <a:rPr lang="ko-KR" altLang="en-US" sz="2400" smtClean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하다 보니 </a:t>
            </a:r>
            <a:r>
              <a:rPr lang="ko-KR" altLang="en-US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친구들과 자연스럽게 대화하게 되었어</a:t>
            </a:r>
            <a:r>
              <a:rPr lang="en-US" altLang="ko-KR" sz="240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0121" y="5152599"/>
            <a:ext cx="14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mtClean="0">
                <a:solidFill>
                  <a:srgbClr val="0070C0"/>
                </a:solidFill>
              </a:rPr>
              <a:t> 김미영</a:t>
            </a:r>
            <a:endParaRPr lang="ko-KR" altLang="en-US" sz="2400">
              <a:solidFill>
                <a:srgbClr val="0070C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19206" y="1937665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5" name="TextBox 3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38" name="그림 37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8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22055" y="2016924"/>
            <a:ext cx="10913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교과서에 나의 고민을 쓴다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모둠원들끼리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교과서를 돌려 가며 ①에 쓴 고민에 대한 조언과 격려의 말을 써 본다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내 교과서가 나에게 돌아오면 조언과 격려를 참고하여 나의 고민을 해소해 본다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pic>
        <p:nvPicPr>
          <p:cNvPr id="39" name="그림 38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9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서로 존중하는 친구 관계를 맺는 방법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Arial Rounded MT Bold" panose="020F0704030504030204" pitchFamily="34" charset="0"/>
              </a:rPr>
              <a:t>차이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인정하기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나와 </a:t>
            </a:r>
            <a:r>
              <a:rPr lang="ko-KR" altLang="en-US" sz="2400" dirty="0">
                <a:latin typeface="+mn-ea"/>
              </a:rPr>
              <a:t>생각이나 가치관이 다른 친구를 있는 그대로 인정해 주어야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Arial Rounded MT Bold" panose="020F0704030504030204" pitchFamily="34" charset="0"/>
              </a:rPr>
              <a:t>배려하며 예의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지키기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친구 사이에는 서로 배려하며 예의를 지켜야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Arial Rounded MT Bold" panose="020F0704030504030204" pitchFamily="34" charset="0"/>
              </a:rPr>
              <a:t>조언하고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격려하기</a:t>
            </a:r>
            <a:r>
              <a:rPr lang="en-US" altLang="ko-KR" sz="2400" b="1" dirty="0" smtClean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친구가 바른길로 가도록 조언하고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옳은 행동을 하도록 격려해야 함</a:t>
            </a:r>
            <a:r>
              <a:rPr lang="en-US" altLang="ko-KR" sz="2400" dirty="0">
                <a:latin typeface="+mn-ea"/>
              </a:rPr>
              <a:t>. 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서로 존중하는 친구 관계를 맺는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서로 존중하는 친구 관계를 맺는 방법을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이를 실천하기 위한 나의 다짐을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Arial Rounded MT Bold" panose="020F0704030504030204" pitchFamily="34" charset="0"/>
              </a:rPr>
              <a:t>앞으로는 서로 존중하는 친구 관계를 맺는 방법을 떠올리며 친구와 돈독한 우정을 쌓도록 노력해야겠다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924500" y="2854762"/>
            <a:ext cx="3398366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707747" y="2853730"/>
            <a:ext cx="3312678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4330" y="2783912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차이 인정하기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4247" y="2764893"/>
            <a:ext cx="3179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smtClean="0">
                <a:latin typeface="굴림" panose="020B0600000101010101" pitchFamily="50" charset="-127"/>
                <a:ea typeface="굴림" panose="020B0600000101010101" pitchFamily="50" charset="-127"/>
              </a:rPr>
              <a:t>□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배려하며 예의 지키기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87494" y="2783912"/>
            <a:ext cx="3119318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smtClean="0">
                <a:latin typeface="굴림" panose="020B0600000101010101" pitchFamily="50" charset="-127"/>
                <a:ea typeface="굴림" panose="020B0600000101010101" pitchFamily="50" charset="-127"/>
              </a:rPr>
              <a:t>조언하고 격려하기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9597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/>
                </a:solidFill>
                <a:latin typeface="+mj-ea"/>
                <a:ea typeface="+mj-ea"/>
              </a:rPr>
              <a:t>친구의 잘못된 요구도 들어주어야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2754" y="1452068"/>
            <a:ext cx="9776793" cy="5102283"/>
          </a:xfrm>
          <a:prstGeom prst="rect">
            <a:avLst/>
          </a:prstGeom>
        </p:spPr>
      </p:pic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rId6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71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24500" y="1596520"/>
            <a:ext cx="75174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우리는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때때로 친구를 위해 옳지 않은 일도 함께해야 한다고 오해하고는 하지만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그것은 잘못된 생각입니다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도의에 어긋나는 것은 친구에게 요구해서도 안 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요구받더라도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들어주어서는 안 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 지금과 같은 상황에서는 친구가 선한 행동을 할 수 있도록 친구로서 솔직히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필요에 따라서는 엄하게 충고할 수 있어야 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8" name="타원 27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63" y="2306797"/>
            <a:ext cx="3733607" cy="455120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26" y="1504406"/>
            <a:ext cx="2943636" cy="751684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4025900" y="4883069"/>
            <a:ext cx="61204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>
                <a:solidFill>
                  <a:schemeClr val="accent6"/>
                </a:solidFill>
                <a:latin typeface="+mn-ea"/>
              </a:rPr>
              <a:t>도의</a:t>
            </a:r>
            <a:r>
              <a:rPr lang="ko-KR" altLang="en-US" sz="1600" dirty="0" smtClean="0">
                <a:latin typeface="+mn-ea"/>
              </a:rPr>
              <a:t> 사람이 마땅히 지키고 행해야 할 도덕적 의리 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9351444" y="2188157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/>
                </a:solidFill>
                <a:latin typeface="+mj-ea"/>
                <a:ea typeface="+mj-ea"/>
              </a:rPr>
              <a:t>친구의 잘못된 요구도 들어주어야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4302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24500" y="1593040"/>
            <a:ext cx="75174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충고를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하는 것도 충고를 받는 것도 진정한 우정의 특징입니다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우정에는 아첨과 아부와 맞장구보다 더 큰 해악이 없습니다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한쪽은 바른말을 들으려 하지 않고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다른 쪽은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거짓말할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준비가 되어 있다면 그것은 결코 우정이 아닙니다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만일 친구가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나의 충고에도 불구하고 나쁜 행동을 고치지 않는다면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두 사람이 진정한 우정을 나눌 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있을지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다시 한번 생각해 보아야 할 것입니다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sp>
        <p:nvSpPr>
          <p:cNvPr id="16" name="타원 15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rId6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/>
                </a:solidFill>
                <a:latin typeface="+mj-ea"/>
                <a:ea typeface="+mj-ea"/>
              </a:rPr>
              <a:t>친구의 잘못된 요구도 들어주어야 할까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26" y="1504406"/>
            <a:ext cx="2943636" cy="75168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63" y="2306797"/>
            <a:ext cx="3733607" cy="45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가상공간의 윤리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가상공간의 의미와 특성은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바람직한 친구 관계의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바람직한 친구 관계란 선한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성품 </a:t>
            </a:r>
            <a:r>
              <a:rPr sz="2400" b="0">
                <a:solidFill>
                  <a:srgbClr val="262626"/>
                </a:solidFill>
              </a:rPr>
              <a:t>을 바탕으로 서로를 인격적으로 존중하는 관계임.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못 오는 날, 내 계획만 밀어붙이지 않고 날짜를 다시 잡는다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서로를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인격 </a:t>
            </a:r>
            <a:r>
              <a:rPr sz="2400" b="0">
                <a:solidFill>
                  <a:srgbClr val="262626"/>
                </a:solidFill>
              </a:rPr>
              <a:t>적으로 존중할 때 바람직한 친구 관계를 맺으며 우정을 유지할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바람직한 친구 관계란 선한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성품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서로를 인격적으로 존중하는 관계임.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못 오는 날, 내 계획만 밀어붙이지 않고 날짜를 다시 잡는다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존중할 때 바람직한 친구 관계를 맺으며 우정을 유지할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바람직한 친구 관계란 선한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서로를 인격적으로 존중하는 관계임.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친구가 못 오는 날, 내 계획만 밀어붙이지 않고 날짜를 다시 잡는다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존중할 때 바람직한 친구 관계를 맺으며 우정을 유지할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바람직한 친구 관계란 선한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성품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바탕으로 서로를 인격적으로 존중하는 관계임.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못 오는 날, 내 계획만 밀어붙이지 않고 날짜를 다시 잡는다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존중할 때 바람직한 친구 관계를 맺으며 우정을 유지할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서로 존중하는 친구 관계를 맺는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차이 </a:t>
            </a:r>
            <a:r>
              <a:rPr sz="2400" b="1">
                <a:solidFill>
                  <a:srgbClr val="843C0C"/>
                </a:solidFill>
              </a:rPr>
              <a:t> 인정하기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아이돌 취향이 달라도 놀리지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친구 사이에는 자신의 생각을 강요하기보다는 상대방의 생각이나 가치관을 있는 그대로 인정해 주어야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서로의 차이를 인정하고자 노력할 때 서로를 인격적으로 존중하는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친구 </a:t>
            </a:r>
            <a:r>
              <a:rPr sz="2400" b="0">
                <a:solidFill>
                  <a:srgbClr val="262626"/>
                </a:solidFill>
              </a:rPr>
              <a:t> 관계를 오래 유지할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배려하며 예의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가까운 친구 사이일수록 서로 배려하고 기본적인 예의를 지키고자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싫어하는 별명은 친해도 부르지 않기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차이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인정하기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아이돌 취향이 달라도 놀리지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친구 사이에는 자신의 생각을 강요하기보다는 상대방의 생각이나 가치관을 있는 그대로 인정해 주어야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서로의 차이를 인정하고자 노력할 때 서로를 인격적으로 존중하는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관계를 오래 유지할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배려하며 예의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가까운 친구 사이일수록 서로 배려하고 기본적인 예의를 지키고자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싫어하는 별명은 친해도 부르지 않기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인정하기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아이돌 취향이 달라도 놀리지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친구 사이에는 자신의 생각을 강요하기보다는 상대방의 생각이나 가치관을 있는 그대로 인정해 주어야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서로의 차이를 인정하고자 노력할 때 서로를 인격적으로 존중하는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관계를 오래 유지할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배려하며 예의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가까운 친구 사이일수록 서로 배려하고 기본적인 예의를 지키고자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싫어하는 별명은 친해도 부르지 않기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인정하기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아이돌 취향이 달라도 놀리지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친구 사이에는 자신의 생각을 강요하기보다는 상대방의 생각이나 가치관을 있는 그대로 인정해 주어야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서로의 차이를 인정하고자 노력할 때 서로를 인격적으로 존중하는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친구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관계를 오래 유지할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배려하며 예의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가까운 친구 사이일수록 서로 배려하고 기본적인 예의를 지키고자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싫어하는 별명은 친해도 부르지 않기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인정하기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아이돌 취향이 달라도 놀리지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친구 사이에는 자신의 생각을 강요하기보다는 상대방의 생각이나 가치관을 있는 그대로 인정해 주어야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서로의 차이를 인정하고자 노력할 때 서로를 인격적으로 존중하는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관계를 오래 유지할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배려하며 예의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가까운 친구 사이일수록 서로 배려하고 기본적인 예의를 지키고자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친구가 싫어하는 별명은 친해도 부르지 않기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smtClean="0">
                <a:solidFill>
                  <a:srgbClr val="FFFF00"/>
                </a:solidFill>
                <a:latin typeface="+mn-ea"/>
              </a:rPr>
              <a:t>서로 존중하는 친구 관계를 맺는 방법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친구를 배려하지 않고 예의를 지키지 않으면 상대방은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존중 </a:t>
            </a:r>
            <a:r>
              <a:rPr sz="2400" b="0">
                <a:solidFill>
                  <a:srgbClr val="262626"/>
                </a:solidFill>
              </a:rPr>
              <a:t>받지 못한다고 느끼고, 이것은 갈등의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조언하고 격려하기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 사이에는 서로 적절하게 조언하고 격려함으로써 고민이나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근심 </a:t>
            </a:r>
            <a:r>
              <a:rPr sz="2400" b="0">
                <a:solidFill>
                  <a:srgbClr val="262626"/>
                </a:solidFill>
              </a:rPr>
              <a:t>을 덜어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친구가 잘못된 행동을 하려고 할 때는 바른길로 가도록 조언하고, 친구가 옳은 행동을 하도록 격려함으로써 친구와 함께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성장 </a:t>
            </a:r>
            <a:r>
              <a:rPr sz="2400" b="0">
                <a:solidFill>
                  <a:srgbClr val="262626"/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영상은 퍼뜨리지 말자.” · “대회 준비 정말 멋지다!”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친구를 배려하지 않고 예의를 지키지 않으면 상대방은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존중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받지 못한다고 느끼고, 이것은 갈등의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조언하고 격려하기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 사이에는 서로 적절하게 조언하고 격려함으로써 고민이나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근심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덜어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친구가 잘못된 행동을 하려고 할 때는 바른길로 가도록 조언하고, 친구가 옳은 행동을 하도록 격려함으로써 친구와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영상은 퍼뜨리지 말자.” · “대회 준비 정말 멋지다!”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친구를 배려하지 않고 예의를 지키지 않으면 상대방은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받지 못한다고 느끼고, 이것은 갈등의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조언하고 격려하기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 사이에는 서로 적절하게 조언하고 격려함으로써 고민이나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근심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덜어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친구가 잘못된 행동을 하려고 할 때는 바른길로 가도록 조언하고, 친구가 옳은 행동을 하도록 격려함으로써 친구와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영상은 퍼뜨리지 말자.” · “대회 준비 정말 멋지다!”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친구를 배려하지 않고 예의를 지키지 않으면 상대방은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받지 못한다고 느끼고, 이것은 갈등의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조언하고 격려하기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 사이에는 서로 적절하게 조언하고 격려함으로써 고민이나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근심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덜어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친구가 잘못된 행동을 하려고 할 때는 바른길로 가도록 조언하고, 친구가 옳은 행동을 하도록 격려함으로써 친구와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영상은 퍼뜨리지 말자.” · “대회 준비 정말 멋지다!”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친구를 배려하지 않고 예의를 지키지 않으면 상대방은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받지 못한다고 느끼고, 이것은 갈등의 원인이 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조언하고 격려하기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 사이에는 서로 적절하게 조언하고 격려함으로써 고민이나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근심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덜어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친구가 잘못된 행동을 하려고 할 때는 바른길로 가도록 조언하고, 친구가 옳은 행동을 하도록 격려함으로써 친구와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“그 영상은 퍼뜨리지 말자.” · “대회 준비 정말 멋지다!”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분홍 셔츠 50벌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2007년 9월 · 캐나다 노바스코샤주의 한 고등학교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사건 · 분홍 셔츠를 입고 온 9학년 신입생이 놀림과 위협을 받았다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두 학생 · 12학년 데이비드와 트래비스가 분홍 셔츠 50벌을 사서 나눠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다음 날 · 수백 명이 분홍 옷을 입고 등교했다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지금 · ‘핑크 셔츠 데이’로 세계 여러 나라에 퍼졌다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두 학생은 왜 직접 나섰을까?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2007년 9월 · 캐나다 노바스코샤주의 한 고등학교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사건 · 분홍 셔츠를 입고 온 9학년 신입생이 놀림과 위협을 받았다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두 학생 · 12학년 데이비드와 트래비스가 분홍 셔츠 50벌을 사서 나눠 주었다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다음 날 · 수백 명이 분홍 옷을 입고 등교했다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지금 · ‘핑크 셔츠 데이’로 세계 여러 나라에 퍼졌다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두 학생은 왜 직접 나섰을까?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바람직한 친구 관계는 선한 성품을 바탕으로 서로를 인격적으로 존중하는 관계이다.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친구 사이에는 서로의 차이를 인정하고자 노력하지 않아도 서로 인격적으로 존중하는 친구 관계를 오래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가까운 친구 사이일수록 기본적인 예의를 지키지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친구가 잘못된 행동을 하려고 할 때 바른길로 가도록 조언해야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바람직한 친구 관계는 선한 성품을 바탕으로 서로를 인격적으로 존중하는 관계이다.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 사이에는 서로의 차이를 인정하고자 노력하지 않아도 서로 인격적으로 존중하는 친구 관계를 오래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가까운 친구 사이일수록 기본적인 예의를 지키지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친구가 잘못된 행동을 하려고 할 때 바른길로 가도록 조언해야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바람직한 친구 관계는 선한 성품을 바탕으로 서로를 인격적으로 존중하는 관계이다.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 사이에는 서로의 차이를 인정하고자 노력하지 않아도 서로 인격적으로 존중하는 친구 관계를 오래 유지할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가까운 친구 사이일수록 기본적인 예의를 지키지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친구가 잘못된 행동을 하려고 할 때 바른길로 가도록 조언해야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바람직한 친구 관계는 선한 성품을 바탕으로 서로를 인격적으로 존중하는 관계이다.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 사이에는 서로의 차이를 인정하고자 노력하지 않아도 서로 인격적으로 존중하는 친구 관계를 오래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가까운 친구 사이일수록 기본적인 예의를 지키지 않아도 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친구가 잘못된 행동을 하려고 할 때 바른길로 가도록 조언해야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바람직한 친구 관계는 선한 성품을 바탕으로 서로를 인격적으로 존중하는 관계이다.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친구 사이에는 서로의 차이를 인정하고자 노력하지 않아도 서로 인격적으로 존중하는 친구 관계를 오래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가까운 친구 사이일수록 기본적인 예의를 지키지 않아도 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친구가 잘못된 행동을 하려고 할 때 바른길로 가도록 조언해야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어떤 방법일까?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/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/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/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/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/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/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(바른길로 이끄는 조언)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차이 인정하기 · 배려와 예의 · 조언과 격려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계획형 희수와 즉흥형 수민이가 서로의 방식을 인정했다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(생각·가치관의 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친구가 싫어하는 별명을 부르지 않는다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(배려와 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시험을 망친 친구에게 “다음엔 같이 계획 세우자”고 했다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조언과 격려 (조언과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친구 물건을 쓸 때 먼저 묻는다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배려와 예의 (예의)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나와 취미가 달라도 친구의 이야기를 들어 준다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차이 인정하기 (차이 인정)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잘못하려는 친구에게 솔직하게 말했다</a:t>
            </a:r>
            <a:r>
              <a:rPr sz="2200" b="1">
                <a:solidFill>
                  <a:srgbClr val="C0392B"/>
                </a:solidFill>
              </a:rPr>
              <a:t>   → 조언과 격려 (바른길로 이끄는 조언)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smtClean="0">
                <a:solidFill>
                  <a:srgbClr val="FFFF00"/>
                </a:solidFill>
                <a:latin typeface="+mn-ea"/>
              </a:rPr>
              <a:t>상황 카드 뽑기 · 거절 + 대안으로 말하기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모둠이 번호를 하나 골라 미션 수행!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“너도 은영이랑 놀지 마.” (교과서 89쪽)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“학원 빠지고 놀자. 엄마한텐 같이 공부했다고 해.” (추가 활동지)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“숙제 좀 베끼게 해 줘.”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“걔 단톡방에서 빼자.”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“이 사진 웃기지? 다른 방에도 올리자.”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“선생님한테 내가 안 그랬다고 말해 줘.”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➕ 분홍 셔츠의 날,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서로 존중하는 친구 관계를 어떻게 맺을까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복도에서 친구들이 전학 온 친구의 말투를 따라 하며 웃는다. 나는 어떻게 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A. 함께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웃음도 괴롭힘에 힘을 보태는 일이 돼요.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B. 모른 척 지나간다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친구는 “아무도 내 편이 없다”고 느껴요.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C. “그만해, 안 웃겨.”라고 말한다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용기 있는 방어! 한 사람이 멈추면 다른 사람도 따라 멈추기 쉬워요.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D. 나중에 전학생에게 말을 걸고 선생님께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곁에 있어 주기 + 알리기도 훌륭한 방어예요.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복도에서 친구들이 전학 온 친구의 말투를 따라 하며 웃는다. 나는 어떻게 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함께 웃는다</a:t>
            </a:r>
            <a:r>
              <a:rPr sz="2300" b="1">
                <a:solidFill>
                  <a:srgbClr val="C0392B"/>
                </a:solidFill>
              </a:rPr>
              <a:t>   웃음도 괴롭힘에 힘을 보태는 일이 돼요.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모른 척 지나간다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친구는 “아무도 내 편이 없다”고 느껴요.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“그만해, 안 웃겨.”라고 말한다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용기 있는 방어! 한 사람이 멈추면 다른 사람도 따라 멈추기 쉬워요.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D. 나중에 전학생에게 말을 걸고 선생님께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곁에 있어 주기 + 알리기도 훌륭한 방어예요.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복도에서 친구들이 전학 온 친구의 말투를 따라 하며 웃는다. 나는 어떻게 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함께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웃음도 괴롭힘에 힘을 보태는 일이 돼요.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모른 척 지나간다</a:t>
            </a:r>
            <a:r>
              <a:rPr sz="2300" b="1">
                <a:solidFill>
                  <a:srgbClr val="C0392B"/>
                </a:solidFill>
              </a:rPr>
              <a:t>   피해 친구는 “아무도 내 편이 없다”고 느껴요.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“그만해, 안 웃겨.”라고 말한다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용기 있는 방어! 한 사람이 멈추면 다른 사람도 따라 멈추기 쉬워요.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D. 나중에 전학생에게 말을 걸고 선생님께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곁에 있어 주기 + 알리기도 훌륭한 방어예요.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복도에서 친구들이 전학 온 친구의 말투를 따라 하며 웃는다. 나는 어떻게 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함께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웃음도 괴롭힘에 힘을 보태는 일이 돼요.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모른 척 지나간다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친구는 “아무도 내 편이 없다”고 느껴요.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“그만해, 안 웃겨.”라고 말한다</a:t>
            </a:r>
            <a:r>
              <a:rPr sz="2300" b="1">
                <a:solidFill>
                  <a:srgbClr val="C0392B"/>
                </a:solidFill>
              </a:rPr>
              <a:t>   용기 있는 방어! 한 사람이 멈추면 다른 사람도 따라 멈추기 쉬워요.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D. 나중에 전학생에게 말을 걸고 선생님께 알린다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곁에 있어 주기 + 알리기도 훌륭한 방어예요.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복도에서 친구들이 전학 온 친구의 말투를 따라 하며 웃는다. 나는 어떻게 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함께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웃음도 괴롭힘에 힘을 보태는 일이 돼요.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모른 척 지나간다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친구는 “아무도 내 편이 없다”고 느껴요.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“그만해, 안 웃겨.”라고 말한다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용기 있는 방어! 한 사람이 멈추면 다른 사람도 따라 멈추기 쉬워요.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D. 나중에 전학생에게 말을 걸고 선생님께 알린다</a:t>
            </a:r>
            <a:r>
              <a:rPr sz="2300" b="1">
                <a:solidFill>
                  <a:srgbClr val="C0392B"/>
                </a:solidFill>
              </a:rPr>
              <a:t>   곁에 있어 주기 + 알리기도 훌륭한 방어예요.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8820</TotalTime>
  <Words>1213</Words>
  <Application>Microsoft Office PowerPoint</Application>
  <PresentationFormat>와이드스크린</PresentationFormat>
  <Paragraphs>210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195</cp:revision>
  <cp:lastPrinted>2024-06-05T04:53:22Z</cp:lastPrinted>
  <dcterms:created xsi:type="dcterms:W3CDTF">2023-10-31T05:50:03Z</dcterms:created>
  <dcterms:modified xsi:type="dcterms:W3CDTF">2025-01-10T06:38:25Z</dcterms:modified>
</cp:coreProperties>
</file>