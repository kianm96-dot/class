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7"/>
  </p:notesMasterIdLst>
  <p:handoutMasterIdLst>
    <p:handoutMasterId r:id="rId28"/>
  </p:handoutMasterIdLst>
  <p:sldIdLst>
    <p:sldId id="398" r:id="rId2"/>
    <p:sldId id="301" r:id="rId3"/>
    <p:sldId id="387" r:id="rId4"/>
    <p:sldId id="399" r:id="rId5"/>
    <p:sldId id="400" r:id="rId6"/>
    <p:sldId id="401" r:id="rId7"/>
    <p:sldId id="260" r:id="rId8"/>
    <p:sldId id="408" r:id="rId34"/>
    <p:sldId id="409" r:id="rId35"/>
    <p:sldId id="389" r:id="rId9"/>
    <p:sldId id="410" r:id="rId36"/>
    <p:sldId id="411" r:id="rId37"/>
    <p:sldId id="306" r:id="rId10"/>
    <p:sldId id="270" r:id="rId11"/>
    <p:sldId id="364" r:id="rId12"/>
    <p:sldId id="402" r:id="rId13"/>
    <p:sldId id="360" r:id="rId14"/>
    <p:sldId id="390" r:id="rId15"/>
    <p:sldId id="406" r:id="rId16"/>
    <p:sldId id="313" r:id="rId17"/>
    <p:sldId id="412" r:id="rId38"/>
    <p:sldId id="413" r:id="rId39"/>
    <p:sldId id="414" r:id="rId40"/>
    <p:sldId id="316" r:id="rId18"/>
    <p:sldId id="317" r:id="rId19"/>
    <p:sldId id="392" r:id="rId20"/>
    <p:sldId id="404" r:id="rId21"/>
    <p:sldId id="291" r:id="rId22"/>
    <p:sldId id="386" r:id="rId23"/>
    <p:sldId id="393" r:id="rId24"/>
    <p:sldId id="405" r:id="rId25"/>
    <p:sldId id="415" r:id="rId41"/>
    <p:sldId id="416" r:id="rId42"/>
    <p:sldId id="417" r:id="rId43"/>
    <p:sldId id="418" r:id="rId44"/>
    <p:sldId id="407" r:id="rId26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A9F"/>
    <a:srgbClr val="F0FFF6"/>
    <a:srgbClr val="FF9300"/>
    <a:srgbClr val="FFFF00"/>
    <a:srgbClr val="D9E1E9"/>
    <a:srgbClr val="E8F6FD"/>
    <a:srgbClr val="019BFF"/>
    <a:srgbClr val="FFF7EE"/>
    <a:srgbClr val="FFC000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6167" autoAdjust="0"/>
  </p:normalViewPr>
  <p:slideViewPr>
    <p:cSldViewPr snapToGrid="0">
      <p:cViewPr varScale="1">
        <p:scale>
          <a:sx n="111" d="100"/>
          <a:sy n="111" d="100"/>
        </p:scale>
        <p:origin x="582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commentAuthors" Target="commentAuthor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209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631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470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200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593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577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333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자기 조절</a:t>
            </a:r>
          </a:p>
          <a:p>
            <a:r>
              <a:t>추천 알고리즘은 더 오래 보게 만들도록 설계된다. 내 의지만 탓하기보다 환경을 바꾸는 방법(알림 끄기, 침실 밖 충전, 화면 시간 제한)을 함께 찾는다.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106쪽 자료</a:t>
            </a:r>
          </a:p>
          <a:p>
            <a:r>
              <a:t>인공지능 윤리 기준(과학기술정보통신부): 인간 존엄성 원칙, 사회의 공공선 원칙, 기술의 합목적성 원칙.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선플 운동</a:t>
            </a:r>
          </a:p>
          <a:p>
            <a:r>
              <a:t>2007년 시작된 선플 운동(선플재단). 학교 동아리 활동으로 많이 이어졌다. 오늘 활동 화면 7에서 우리 반 선플 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 확인 네 질문</a:t>
            </a:r>
          </a:p>
          <a:p>
            <a:r>
              <a:t>사실 확인(팩트 체크)의 기본. 활동 화면 7에서 실제처럼 만든 게시물 카드를 판정해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 원칙과 디지털 문해력으로 가상공간을 올바르게 써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 원칙과 디지털 문해력으로 가상공간을 올바르게 써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 원칙과 디지털 문해력으로 가상공간을 올바르게 써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590.svg"/><Relationship Id="rId7" Type="http://schemas.openxmlformats.org/officeDocument/2006/relationships/image" Target="../media/image29.png"/><Relationship Id="rId8" Type="http://schemas.openxmlformats.org/officeDocument/2006/relationships/slide" Target="slide6.xml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slide" Target="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32.png"/><Relationship Id="rId5" Type="http://schemas.openxmlformats.org/officeDocument/2006/relationships/image" Target="../media/image24.png"/><Relationship Id="rId6" Type="http://schemas.openxmlformats.org/officeDocument/2006/relationships/image" Target="../media/image590.sv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slide" Target="slide6.xml"/><Relationship Id="rId11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24.png"/><Relationship Id="rId7" Type="http://schemas.openxmlformats.org/officeDocument/2006/relationships/image" Target="../media/image590.sv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slide" Target="slide6.xml"/><Relationship Id="rId12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35.png"/><Relationship Id="rId5" Type="http://schemas.openxmlformats.org/officeDocument/2006/relationships/image" Target="../media/image24.png"/><Relationship Id="rId6" Type="http://schemas.openxmlformats.org/officeDocument/2006/relationships/image" Target="../media/image590.sv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slide" Target="slide3.xml"/><Relationship Id="rId11" Type="http://schemas.openxmlformats.org/officeDocument/2006/relationships/slide" Target="slide4.xml"/><Relationship Id="rId12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7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24.png"/><Relationship Id="rId7" Type="http://schemas.openxmlformats.org/officeDocument/2006/relationships/image" Target="../media/image590.svg"/><Relationship Id="rId8" Type="http://schemas.openxmlformats.org/officeDocument/2006/relationships/image" Target="../media/image30.png"/><Relationship Id="rId9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4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4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4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45.png"/><Relationship Id="rId6" Type="http://schemas.openxmlformats.org/officeDocument/2006/relationships/slide" Target="slide23.xml"/><Relationship Id="rId7" Type="http://schemas.openxmlformats.org/officeDocument/2006/relationships/slide" Target="slide2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46.png"/><Relationship Id="rId6" Type="http://schemas.openxmlformats.org/officeDocument/2006/relationships/slide" Target="slide22.xml"/><Relationship Id="rId7" Type="http://schemas.openxmlformats.org/officeDocument/2006/relationships/slide" Target="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6" Type="http://schemas.openxmlformats.org/officeDocument/2006/relationships/image" Target="../media/image591.svg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5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1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1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1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37040" y="2268741"/>
            <a:ext cx="69336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>
                <a:ln w="22225">
                  <a:noFill/>
                  <a:prstDash val="solid"/>
                </a:ln>
                <a:latin typeface="+mj-ea"/>
                <a:ea typeface="+mj-ea"/>
              </a:rPr>
              <a:t>가상공간을 </a:t>
            </a:r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올바르게 </a:t>
            </a:r>
            <a:r>
              <a:rPr lang="ko-KR" altLang="en-US" sz="5400" b="1">
                <a:ln w="22225">
                  <a:noFill/>
                  <a:prstDash val="solid"/>
                </a:ln>
                <a:latin typeface="+mj-ea"/>
                <a:ea typeface="+mj-ea"/>
              </a:rPr>
              <a:t>활용하는 </a:t>
            </a:r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방법은 </a:t>
            </a:r>
            <a:endParaRPr lang="en-US" altLang="ko-KR" sz="5400" b="1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무엇일까</a:t>
            </a:r>
            <a:r>
              <a:rPr lang="en-US" altLang="ko-KR" sz="5400" b="1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03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6050" y="490171"/>
            <a:ext cx="2203230" cy="9676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570182" y="712407"/>
            <a:ext cx="3237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3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가상공간의 윤리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7321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472281" y="38576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889275" y="38787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>
                <a:solidFill>
                  <a:prstClr val="black"/>
                </a:solidFill>
                <a:latin typeface="+mn-ea"/>
              </a:rPr>
              <a:t>디지털 문해력을 키우기 위한 방법을 제시할 수 있다</a:t>
            </a:r>
            <a:r>
              <a:rPr lang="en-US" altLang="ko-KR" sz="2800" b="1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57B4A80-0309-7BD0-AAF8-FF35B30F644B}"/>
              </a:ext>
            </a:extLst>
          </p:cNvPr>
          <p:cNvGrpSpPr/>
          <p:nvPr/>
        </p:nvGrpSpPr>
        <p:grpSpPr>
          <a:xfrm>
            <a:off x="472281" y="1804799"/>
            <a:ext cx="10293350" cy="1573773"/>
            <a:chOff x="914400" y="2362199"/>
            <a:chExt cx="10293350" cy="157377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889275" y="1846456"/>
            <a:ext cx="9629759" cy="1301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>
                <a:solidFill>
                  <a:prstClr val="black"/>
                </a:solidFill>
                <a:latin typeface="+mn-ea"/>
              </a:rPr>
              <a:t>타인을 존중하며 가상공간을 올바르게 활용하는 자세를 지닌다</a:t>
            </a:r>
            <a:r>
              <a:rPr lang="en-US" altLang="ko-KR" sz="2800" b="1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>
              <a:solidFill>
                <a:prstClr val="black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52670" y="5656082"/>
            <a:ext cx="7976103" cy="1201918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4"/>
          <a:stretch/>
        </p:blipFill>
        <p:spPr>
          <a:xfrm>
            <a:off x="3036498" y="2548054"/>
            <a:ext cx="5771072" cy="3490438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706" y="627458"/>
            <a:ext cx="420856" cy="543001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12722" y="1569508"/>
            <a:ext cx="103262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>
                <a:latin typeface="+mn-ea"/>
              </a:rPr>
              <a:t>다음 빈칸을 채우면서 가상공간을 어떻게 사용하고 있는지 성찰해 보고, 지우거나 수정하고 싶은 흔적이 있다면 무엇인지 그 까닭과 함께 이야기해 보자.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4500" y="3416537"/>
            <a:ext cx="909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날씨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921773" y="4284381"/>
            <a:ext cx="1599031" cy="57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스마트폰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924500" y="5205021"/>
            <a:ext cx="1599031" cy="57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수행 평가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16428" y="2732437"/>
            <a:ext cx="4579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 smtClean="0"/>
              <a:t>최근에 검색한 키워드 세 개 써 보기 </a:t>
            </a:r>
            <a:endParaRPr lang="ko-KR" altLang="en-US" sz="1600" b="1" spc="-100" dirty="0"/>
          </a:p>
        </p:txBody>
      </p:sp>
      <p:sp>
        <p:nvSpPr>
          <p:cNvPr id="42" name="TextBox 41"/>
          <p:cNvSpPr txBox="1"/>
          <p:nvPr/>
        </p:nvSpPr>
        <p:spPr>
          <a:xfrm>
            <a:off x="3241711" y="2721421"/>
            <a:ext cx="2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FF6600"/>
                </a:solidFill>
              </a:rPr>
              <a:t>1</a:t>
            </a:r>
            <a:endParaRPr lang="ko-KR" altLang="en-US" sz="1600" b="1" dirty="0">
              <a:solidFill>
                <a:srgbClr val="FF6600"/>
              </a:solidFill>
            </a:endParaRPr>
          </a:p>
        </p:txBody>
      </p:sp>
      <p:sp>
        <p:nvSpPr>
          <p:cNvPr id="56" name="타원 55">
            <a:hlinkClick r:id="rId8" action="ppaction://hlinksldjump"/>
          </p:cNvPr>
          <p:cNvSpPr/>
          <p:nvPr/>
        </p:nvSpPr>
        <p:spPr>
          <a:xfrm>
            <a:off x="6705155" y="641618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/>
          <p:cNvSpPr/>
          <p:nvPr/>
        </p:nvSpPr>
        <p:spPr>
          <a:xfrm>
            <a:off x="5520804" y="641618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8" name="그림 5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60" name="그림 5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8" name="타원 37">
            <a:hlinkClick r:id="" action="ppaction://hlinkshowjump?jump=nextslide"/>
          </p:cNvPr>
          <p:cNvSpPr/>
          <p:nvPr/>
        </p:nvSpPr>
        <p:spPr>
          <a:xfrm>
            <a:off x="5918501" y="64174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hlinkClick r:id="rId11" action="ppaction://hlinksldjump"/>
          </p:cNvPr>
          <p:cNvSpPr/>
          <p:nvPr/>
        </p:nvSpPr>
        <p:spPr>
          <a:xfrm>
            <a:off x="6313876" y="64174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85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</p:childTnLst>
        </p:cTn>
      </p:par>
    </p:tnLst>
    <p:bldLst>
      <p:bldP spid="39" grpId="0"/>
      <p:bldP spid="39" grpId="1"/>
      <p:bldP spid="40" grpId="0"/>
      <p:bldP spid="40" grpId="1"/>
      <p:bldP spid="41" grpId="0"/>
      <p:bldP spid="4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52670" y="5656082"/>
            <a:ext cx="7976103" cy="1201918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39"/>
          <a:stretch/>
        </p:blipFill>
        <p:spPr>
          <a:xfrm>
            <a:off x="3036498" y="2548511"/>
            <a:ext cx="5779698" cy="3498606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706" y="627458"/>
            <a:ext cx="420856" cy="543001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12722" y="1569508"/>
            <a:ext cx="103262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>
                <a:latin typeface="+mn-ea"/>
              </a:rPr>
              <a:t>다음 빈칸을 채우면서 가상공간을 어떻게 사용하고 있는지 성찰해 보고, 지우거나 수정하고 싶은 흔적이 있다면 무엇인지 그 까닭과 함께 이야기해 보자.</a:t>
            </a:r>
          </a:p>
        </p:txBody>
      </p:sp>
      <p:pic>
        <p:nvPicPr>
          <p:cNvPr id="58" name="그림 5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60" name="그림 5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3246130" y="2758246"/>
            <a:ext cx="441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rgbClr val="FF6600"/>
                </a:solidFill>
              </a:rPr>
              <a:t>2</a:t>
            </a:r>
            <a:endParaRPr lang="ko-KR" altLang="en-US" sz="1600" b="1">
              <a:solidFill>
                <a:srgbClr val="FF66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726175" y="2758246"/>
            <a:ext cx="4029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 smtClean="0"/>
              <a:t>구독 중인 개인 방송 세 개 써 보기</a:t>
            </a:r>
            <a:endParaRPr lang="ko-KR" altLang="en-US" sz="1600" b="1" spc="-100" dirty="0"/>
          </a:p>
        </p:txBody>
      </p:sp>
      <p:sp>
        <p:nvSpPr>
          <p:cNvPr id="37" name="TextBox 36"/>
          <p:cNvSpPr txBox="1"/>
          <p:nvPr/>
        </p:nvSpPr>
        <p:spPr>
          <a:xfrm>
            <a:off x="4742468" y="3437760"/>
            <a:ext cx="168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○○○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42468" y="4355275"/>
            <a:ext cx="1689742" cy="589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△△△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2468" y="5152816"/>
            <a:ext cx="1689742" cy="589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+mn-ea"/>
              </a:rPr>
              <a:t>□□□</a:t>
            </a:r>
          </a:p>
        </p:txBody>
      </p:sp>
      <p:sp>
        <p:nvSpPr>
          <p:cNvPr id="28" name="타원 27">
            <a:hlinkClick r:id="rId10" action="ppaction://hlinksldjump"/>
          </p:cNvPr>
          <p:cNvSpPr/>
          <p:nvPr/>
        </p:nvSpPr>
        <p:spPr>
          <a:xfrm>
            <a:off x="6705155" y="641618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hlinkClick r:id="" action="ppaction://hlinkshowjump?jump=previousslide"/>
          </p:cNvPr>
          <p:cNvSpPr/>
          <p:nvPr/>
        </p:nvSpPr>
        <p:spPr>
          <a:xfrm>
            <a:off x="5520804" y="641618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5918501" y="64174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hlinkClick r:id="rId11" action="ppaction://hlinksldjump"/>
          </p:cNvPr>
          <p:cNvSpPr/>
          <p:nvPr/>
        </p:nvSpPr>
        <p:spPr>
          <a:xfrm>
            <a:off x="6313876" y="64174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38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</p:childTnLst>
        </p:cTn>
      </p:par>
    </p:tnLst>
    <p:bldLst>
      <p:bldP spid="37" grpId="0"/>
      <p:bldP spid="37" grpId="1"/>
      <p:bldP spid="38" grpId="0"/>
      <p:bldP spid="38" grpId="1"/>
      <p:bldP spid="43" grpId="0"/>
      <p:bldP spid="4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52670" y="5656082"/>
            <a:ext cx="7976103" cy="1201918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3816598" y="2585171"/>
            <a:ext cx="4450772" cy="3512672"/>
            <a:chOff x="3816598" y="2585171"/>
            <a:chExt cx="4450772" cy="3512672"/>
          </a:xfrm>
        </p:grpSpPr>
        <p:pic>
          <p:nvPicPr>
            <p:cNvPr id="28" name="그림 27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816598" y="2585171"/>
              <a:ext cx="4450772" cy="3512672"/>
            </a:xfrm>
            <a:prstGeom prst="rect">
              <a:avLst/>
            </a:prstGeom>
          </p:spPr>
        </p:pic>
        <p:pic>
          <p:nvPicPr>
            <p:cNvPr id="38" name="그림 37"/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816598" y="4971914"/>
              <a:ext cx="4450772" cy="1112027"/>
            </a:xfrm>
            <a:prstGeom prst="rect">
              <a:avLst/>
            </a:prstGeom>
          </p:spPr>
        </p:pic>
      </p:grp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706" y="627458"/>
            <a:ext cx="420856" cy="543001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12722" y="1569508"/>
            <a:ext cx="103262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>
                <a:latin typeface="+mn-ea"/>
              </a:rPr>
              <a:t>다음 빈칸을 채우면서 가상공간을 어떻게 사용하고 있는지 성찰해 보고, 지우거나 수정하고 싶은 흔적이 있다면 무엇인지 그 까닭과 함께 이야기해 보자.</a:t>
            </a:r>
          </a:p>
        </p:txBody>
      </p:sp>
      <p:pic>
        <p:nvPicPr>
          <p:cNvPr id="58" name="그림 5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60" name="그림 5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4110210" y="3649238"/>
            <a:ext cx="3723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오늘은 나의 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생일잔치야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!  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241873" y="2683125"/>
            <a:ext cx="3757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200" dirty="0" smtClean="0"/>
              <a:t>최근에 누리 </a:t>
            </a:r>
            <a:r>
              <a:rPr lang="ko-KR" altLang="en-US" sz="1600" b="1" spc="-200" dirty="0" err="1" smtClean="0"/>
              <a:t>소통망에</a:t>
            </a:r>
            <a:r>
              <a:rPr lang="ko-KR" altLang="en-US" sz="1600" b="1" spc="-200" dirty="0" smtClean="0"/>
              <a:t> 게시한 글 써 보기</a:t>
            </a:r>
            <a:endParaRPr lang="ko-KR" altLang="en-US" sz="1600" b="1" spc="-200" dirty="0"/>
          </a:p>
        </p:txBody>
      </p:sp>
      <p:sp>
        <p:nvSpPr>
          <p:cNvPr id="39" name="TextBox 38"/>
          <p:cNvSpPr txBox="1"/>
          <p:nvPr/>
        </p:nvSpPr>
        <p:spPr>
          <a:xfrm>
            <a:off x="3907536" y="2645928"/>
            <a:ext cx="441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6600"/>
                </a:solidFill>
              </a:rPr>
              <a:t>3</a:t>
            </a:r>
            <a:endParaRPr lang="ko-KR" altLang="en-US" sz="1600" b="1" dirty="0">
              <a:solidFill>
                <a:srgbClr val="FF6600"/>
              </a:solidFill>
            </a:endParaRPr>
          </a:p>
        </p:txBody>
      </p:sp>
      <p:sp>
        <p:nvSpPr>
          <p:cNvPr id="34" name="타원 33">
            <a:hlinkClick r:id="rId11" action="ppaction://hlinksldjump"/>
          </p:cNvPr>
          <p:cNvSpPr/>
          <p:nvPr/>
        </p:nvSpPr>
        <p:spPr>
          <a:xfrm>
            <a:off x="6705155" y="641618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hlinkClick r:id="rId12" action="ppaction://hlinksldjump"/>
          </p:cNvPr>
          <p:cNvSpPr/>
          <p:nvPr/>
        </p:nvSpPr>
        <p:spPr>
          <a:xfrm>
            <a:off x="5520804" y="641618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hlinkClick r:id="" action="ppaction://hlinkshowjump?jump=previousslide"/>
          </p:cNvPr>
          <p:cNvSpPr/>
          <p:nvPr/>
        </p:nvSpPr>
        <p:spPr>
          <a:xfrm>
            <a:off x="5918501" y="64174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6313876" y="64174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4395510" y="4852566"/>
            <a:ext cx="1771775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진짜 친구</a:t>
            </a:r>
            <a:endParaRPr lang="en-US" altLang="ko-KR" sz="2400" dirty="0" smtClean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79713" y="4842082"/>
            <a:ext cx="1771775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생일잔치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5510" y="5260978"/>
            <a:ext cx="1771775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행복</a:t>
            </a:r>
            <a:endParaRPr lang="en-US" altLang="ko-KR" sz="2400" dirty="0" smtClean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85647" y="5259397"/>
            <a:ext cx="1771775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우정</a:t>
            </a:r>
            <a:endParaRPr lang="en-US" altLang="ko-KR" sz="2400" dirty="0" smtClean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6334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</p:childTnLst>
        </p:cTn>
      </p:par>
    </p:tnLst>
    <p:bldLst>
      <p:bldP spid="32" grpId="0"/>
      <p:bldP spid="32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52670" y="5656082"/>
            <a:ext cx="7976103" cy="1201918"/>
          </a:xfrm>
          <a:prstGeom prst="rect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6598" y="2609269"/>
            <a:ext cx="4450772" cy="3473872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706" y="627458"/>
            <a:ext cx="420856" cy="543001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12722" y="1569508"/>
            <a:ext cx="103262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>
                <a:latin typeface="+mn-ea"/>
              </a:rPr>
              <a:t>다음 빈칸을 채우면서 가상공간을 어떻게 사용하고 있는지 성찰해 보고, 지우거나 수정하고 싶은 흔적이 있다면 무엇인지 그 까닭과 함께 이야기해 보자.</a:t>
            </a:r>
          </a:p>
        </p:txBody>
      </p:sp>
      <p:pic>
        <p:nvPicPr>
          <p:cNvPr id="58" name="그림 5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60" name="그림 5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4349670" y="4455753"/>
            <a:ext cx="36109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내일부터 겨울 방학이 시작되는 게 맞을까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?</a:t>
            </a:r>
          </a:p>
        </p:txBody>
      </p:sp>
      <p:sp>
        <p:nvSpPr>
          <p:cNvPr id="32" name="타원 31"/>
          <p:cNvSpPr/>
          <p:nvPr/>
        </p:nvSpPr>
        <p:spPr>
          <a:xfrm>
            <a:off x="6705155" y="641618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hlinkClick r:id="rId10" action="ppaction://hlinksldjump"/>
          </p:cNvPr>
          <p:cNvSpPr/>
          <p:nvPr/>
        </p:nvSpPr>
        <p:spPr>
          <a:xfrm>
            <a:off x="5520804" y="641618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hlinkClick r:id="rId11" action="ppaction://hlinksldjump"/>
          </p:cNvPr>
          <p:cNvSpPr/>
          <p:nvPr/>
        </p:nvSpPr>
        <p:spPr>
          <a:xfrm>
            <a:off x="5918501" y="64174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hlinkClick r:id="rId12" action="ppaction://hlinksldjump"/>
          </p:cNvPr>
          <p:cNvSpPr/>
          <p:nvPr/>
        </p:nvSpPr>
        <p:spPr>
          <a:xfrm>
            <a:off x="6313876" y="64174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4250498" y="2683052"/>
            <a:ext cx="3757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200" dirty="0" smtClean="0"/>
              <a:t>최근에 익명으로 남긴 댓글 찾아 써 보기</a:t>
            </a:r>
            <a:endParaRPr lang="ko-KR" altLang="en-US" sz="1600" b="1" spc="-200" dirty="0"/>
          </a:p>
        </p:txBody>
      </p:sp>
      <p:sp>
        <p:nvSpPr>
          <p:cNvPr id="34" name="TextBox 33"/>
          <p:cNvSpPr txBox="1"/>
          <p:nvPr/>
        </p:nvSpPr>
        <p:spPr>
          <a:xfrm>
            <a:off x="3907536" y="2645928"/>
            <a:ext cx="441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FF6600"/>
                </a:solidFill>
              </a:rPr>
              <a:t>4</a:t>
            </a:r>
            <a:endParaRPr lang="ko-KR" altLang="en-US" sz="1600" b="1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755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</p:childTnLst>
        </p:cTn>
      </p:par>
    </p:tnLst>
    <p:bldLst>
      <p:bldP spid="35" grpId="0"/>
      <p:bldP spid="3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자기 관리 능력의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의미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감정이나 욕망을 스스로 절제하고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자신의 행동을 균형 있게 조절하는 능력 </a:t>
            </a:r>
            <a:endParaRPr lang="en-US" altLang="ko-KR" sz="2400" dirty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자기 관리 능력을 길러야 하는 까닭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자기 관리 능력이 부족하면 사이버 중독이나 정체성 혼란 등의 문제를 겪을 수 있으므로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자기 관리 능력을 길러서 스스로 절제하고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 err="1">
                <a:latin typeface="+mn-ea"/>
              </a:rPr>
              <a:t>가상공간과</a:t>
            </a:r>
            <a:r>
              <a:rPr lang="ko-KR" altLang="en-US" sz="2400" dirty="0">
                <a:latin typeface="+mn-ea"/>
              </a:rPr>
              <a:t> 현실 사이에서 균형 잡힌 생활을 하도록 노력해야 함</a:t>
            </a:r>
            <a:r>
              <a:rPr lang="en-US" altLang="ko-KR" sz="2400" dirty="0">
                <a:latin typeface="+mn-ea"/>
              </a:rPr>
              <a:t>.</a:t>
            </a:r>
            <a:endParaRPr lang="ko-KR" altLang="en-US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자기 관리 능력 기르기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105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208583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 원칙</a:t>
            </a:r>
            <a:endParaRPr lang="en-US" altLang="ko-KR" sz="2400" dirty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존중</a:t>
            </a:r>
            <a:r>
              <a:rPr lang="en-US" altLang="ko-KR" sz="2400" b="1" dirty="0" smtClean="0">
                <a:latin typeface="+mn-ea"/>
              </a:rPr>
              <a:t>:</a:t>
            </a:r>
            <a:r>
              <a:rPr lang="en-US" altLang="ko-KR" sz="2400" dirty="0" smtClean="0">
                <a:latin typeface="+mn-ea"/>
              </a:rPr>
              <a:t> </a:t>
            </a:r>
            <a:r>
              <a:rPr lang="ko-KR" altLang="en-US" sz="2400" dirty="0">
                <a:latin typeface="Arial Rounded MT Bold" panose="020F0704030504030204" pitchFamily="34" charset="0"/>
              </a:rPr>
              <a:t>나와 타인을 존중하고 모든 사람을 소중한 존재로 대해야 </a:t>
            </a:r>
            <a:r>
              <a:rPr lang="ko-KR" altLang="en-US" sz="2400" dirty="0" smtClean="0">
                <a:latin typeface="Arial Rounded MT Bold" panose="020F0704030504030204" pitchFamily="34" charset="0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  <a:r>
              <a:rPr lang="en-US" altLang="ko-KR" sz="2400" dirty="0" smtClean="0">
                <a:latin typeface="Arial Rounded MT Bold" panose="020F0704030504030204" pitchFamily="34" charset="0"/>
              </a:rPr>
              <a:t> </a:t>
            </a:r>
            <a:endParaRPr lang="en-US" altLang="ko-KR" sz="2400" dirty="0">
              <a:latin typeface="Arial Rounded MT Bold" panose="020F07040305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책임</a:t>
            </a:r>
            <a:r>
              <a:rPr lang="en-US" altLang="ko-KR" sz="2400" b="1" dirty="0" smtClean="0">
                <a:latin typeface="+mn-ea"/>
              </a:rPr>
              <a:t>:</a:t>
            </a:r>
            <a:r>
              <a:rPr lang="en-US" altLang="ko-KR" sz="2400" dirty="0" smtClean="0">
                <a:latin typeface="+mn-ea"/>
              </a:rPr>
              <a:t> </a:t>
            </a:r>
            <a:r>
              <a:rPr lang="ko-KR" altLang="en-US" sz="2400" dirty="0" smtClean="0">
                <a:latin typeface="Arial Rounded MT Bold" panose="020F0704030504030204" pitchFamily="34" charset="0"/>
              </a:rPr>
              <a:t>자신의 행동이 가져올 결과와 영향력을 상상하고</a:t>
            </a:r>
            <a:r>
              <a:rPr lang="en-US" altLang="ko-KR" sz="2400" dirty="0" smtClean="0">
                <a:latin typeface="+mn-ea"/>
              </a:rPr>
              <a:t>, </a:t>
            </a:r>
            <a:r>
              <a:rPr lang="ko-KR" altLang="en-US" sz="2400" dirty="0" smtClean="0">
                <a:latin typeface="Arial Rounded MT Bold" panose="020F0704030504030204" pitchFamily="34" charset="0"/>
              </a:rPr>
              <a:t>책임 있게 행동해야 함</a:t>
            </a:r>
            <a:r>
              <a:rPr lang="en-US" altLang="ko-KR" sz="2400" dirty="0" smtClean="0">
                <a:latin typeface="+mn-ea"/>
              </a:rPr>
              <a:t>.</a:t>
            </a:r>
            <a:r>
              <a:rPr lang="en-US" altLang="ko-KR" sz="2400" dirty="0" smtClean="0">
                <a:latin typeface="Arial Rounded MT Bold" panose="020F0704030504030204" pitchFamily="34" charset="0"/>
              </a:rPr>
              <a:t>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정의</a:t>
            </a:r>
            <a:r>
              <a:rPr lang="en-US" altLang="ko-KR" sz="2400" b="1" dirty="0">
                <a:latin typeface="+mn-ea"/>
              </a:rPr>
              <a:t>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Arial Rounded MT Bold" panose="020F0704030504030204" pitchFamily="34" charset="0"/>
              </a:rPr>
              <a:t>모든 사람에게 정보의 혜택이  고르게 돌아가도록 정의롭게 행동해야 </a:t>
            </a:r>
            <a:r>
              <a:rPr lang="ko-KR" altLang="en-US" sz="2400" dirty="0" smtClean="0">
                <a:latin typeface="Arial Rounded MT Bold" panose="020F0704030504030204" pitchFamily="34" charset="0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Arial Rounded MT Bold" panose="020F07040305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해악 금지</a:t>
            </a:r>
            <a:r>
              <a:rPr lang="en-US" altLang="ko-KR" sz="2400" b="1" dirty="0" smtClean="0">
                <a:latin typeface="+mn-ea"/>
              </a:rPr>
              <a:t>:</a:t>
            </a:r>
            <a:r>
              <a:rPr lang="en-US" altLang="ko-KR" sz="2400" dirty="0" smtClean="0">
                <a:latin typeface="+mn-ea"/>
              </a:rPr>
              <a:t> </a:t>
            </a:r>
            <a:r>
              <a:rPr lang="ko-KR" altLang="en-US" sz="2400" dirty="0">
                <a:latin typeface="Arial Rounded MT Bold" panose="020F0704030504030204" pitchFamily="34" charset="0"/>
              </a:rPr>
              <a:t>다른 사람에게 피해를 끼치지 않아야 </a:t>
            </a:r>
            <a:r>
              <a:rPr lang="ko-KR" altLang="en-US" sz="2400" dirty="0" smtClean="0">
                <a:latin typeface="Arial Rounded MT Bold" panose="020F0704030504030204" pitchFamily="34" charset="0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  <a:r>
              <a:rPr lang="en-US" altLang="ko-KR" sz="2400" dirty="0" smtClean="0">
                <a:latin typeface="Arial Rounded MT Bold" panose="020F0704030504030204" pitchFamily="34" charset="0"/>
              </a:rPr>
              <a:t> </a:t>
            </a:r>
            <a:endParaRPr lang="en-US" altLang="ko-KR" sz="2400" dirty="0">
              <a:latin typeface="Arial Rounded MT Bold" panose="020F07040305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 smtClean="0">
              <a:solidFill>
                <a:schemeClr val="tx1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도덕적 원칙 지키기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105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0998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2777" y="1691061"/>
            <a:ext cx="10058400" cy="440781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1978" y="1967456"/>
            <a:ext cx="8735044" cy="306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제 동생 은서는 온라인 커뮤니티에 자주 접속합니다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그런데 동생이 요즈음 익명으로 악의적인 글을 쓰고 있습니다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동생은 자기가 그런 글을 썼다는 것을 아무도 모를 것이라고 믿습니다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또한 평소에 못 했던 말을 속 시원하게 할 수 있어서 기분이 좋다고 합니다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가상공간에서 타인을 전혀 배려하지 않는 제 동생에게 어떤 조언을 해 주면 좋을까요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2142227" y="2268769"/>
            <a:ext cx="9555192" cy="4389444"/>
            <a:chOff x="2133600" y="2217150"/>
            <a:chExt cx="9555192" cy="438944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1"/>
            <a:stretch/>
          </p:blipFill>
          <p:spPr>
            <a:xfrm>
              <a:off x="2133600" y="2217150"/>
              <a:ext cx="9555192" cy="2837929"/>
            </a:xfrm>
            <a:prstGeom prst="rect">
              <a:avLst/>
            </a:prstGeom>
          </p:spPr>
        </p:pic>
        <p:pic>
          <p:nvPicPr>
            <p:cNvPr id="22" name="그림 21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99" b="-1207"/>
            <a:stretch/>
          </p:blipFill>
          <p:spPr>
            <a:xfrm>
              <a:off x="2734574" y="4578844"/>
              <a:ext cx="8954218" cy="202775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H="1" flipV="1">
              <a:off x="2618259" y="4306342"/>
              <a:ext cx="224288" cy="901452"/>
            </a:xfrm>
            <a:prstGeom prst="rect">
              <a:avLst/>
            </a:prstGeom>
          </p:spPr>
        </p:pic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444715"/>
            <a:ext cx="2809189" cy="341328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85182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가상공간에서 지켜야 할 네 가지 원칙을 고려하여 은서에게 조언해 보자</a:t>
            </a:r>
            <a:r>
              <a:rPr lang="en-US" altLang="ko-KR" sz="2000" b="1" dirty="0"/>
              <a:t>. 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06198" y="2552146"/>
            <a:ext cx="80995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             가상공간에서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도덕적 원칙을 지키고자 노력해야 할 것 같아.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먼저, 우리가 현실에서 만나는 사람들을 존중하듯이 가상공간에서 만나는 사람들도 존중해야 해. 또한 가상공간에서 만난 사람에게 악의적인 글을 남기면 그 사람은 네 글을 읽고 상처를 받을 수 있어. 그러므로 너의 행동이 가져올 결과를 상상하며 행동해야 해.</a:t>
            </a: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가상공간에서 지켜야 할 또 다른 도덕적 원칙은 무엇일까</a:t>
            </a:r>
            <a:r>
              <a:rPr lang="en-US" altLang="ko-KR" sz="28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576584" y="1961289"/>
            <a:ext cx="11073948" cy="2552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 인공지능은 인간의 사고 능력을 컴퓨터 프로그램으로 구현하는 기술을 의미한다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오늘날 인공지능의 발전은 생활의 편의와 삶의 질을 높이기도 하지만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가상공간에서 인공지능을 잘못 활용하면 편향된 정보를 습득하거나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딥페이크를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이용한 가짜 영상이나 뉴스가 퍼지는 등 여러 문제가 발생할 수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이러한 문제에 대처하여 가상공간을 올바르게 활용하려면 인공지능 활용과 관련된 도덕적 원칙을 고려할 필요가 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019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타원 2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가상공간에서 지켜야 할 또 다른 도덕적 원칙은 무엇일까</a:t>
            </a:r>
            <a:r>
              <a:rPr lang="en-US" altLang="ko-KR" sz="28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246" y="2001563"/>
            <a:ext cx="3843840" cy="28007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endParaRPr lang="en-US" altLang="ko-KR" sz="22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/>
            <a:endParaRPr lang="en-US" altLang="ko-KR" sz="22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　인공지능은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인간의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생명은 물론 정신적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·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신체적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건강에 해가 되지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않는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범위에서 개발 및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활용되어야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49274" y="2001561"/>
            <a:ext cx="3339842" cy="28007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endParaRPr lang="en-US" altLang="ko-KR" sz="22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/>
            <a:endParaRPr lang="en-US" altLang="ko-KR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　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인공지능은 인류의 삶에 필요한 도구라는 목적과 의도에 부합하도록 개발 및 활용되어야 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62175" y="2001562"/>
            <a:ext cx="3330722" cy="28007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endParaRPr lang="en-US" altLang="ko-KR" sz="22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/>
            <a:endParaRPr lang="en-US" altLang="ko-KR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　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인공지능은 인류 모두의 복지를 향상하는 방향으로 개발 및 활용되어야 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210623" y="4942726"/>
            <a:ext cx="756454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과학기술 정보 통신부 외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〈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사람이 중심이 되는 인공지능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(AI)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윤리 기준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</a:p>
        </p:txBody>
      </p:sp>
      <p:sp>
        <p:nvSpPr>
          <p:cNvPr id="27" name="모서리가 둥근 직사각형 26"/>
          <p:cNvSpPr/>
          <p:nvPr/>
        </p:nvSpPr>
        <p:spPr>
          <a:xfrm>
            <a:off x="1218252" y="2230533"/>
            <a:ext cx="2645827" cy="472769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인간 존엄성 원칙</a:t>
            </a:r>
          </a:p>
        </p:txBody>
      </p:sp>
      <p:sp>
        <p:nvSpPr>
          <p:cNvPr id="28" name="모서리가 둥근 직사각형 27"/>
          <p:cNvSpPr/>
          <p:nvPr/>
        </p:nvSpPr>
        <p:spPr>
          <a:xfrm>
            <a:off x="4817591" y="2230533"/>
            <a:ext cx="3019890" cy="47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사회의 공공선 원칙</a:t>
            </a:r>
          </a:p>
        </p:txBody>
      </p:sp>
      <p:sp>
        <p:nvSpPr>
          <p:cNvPr id="29" name="모서리가 둥근 직사각형 28"/>
          <p:cNvSpPr/>
          <p:nvPr/>
        </p:nvSpPr>
        <p:spPr>
          <a:xfrm>
            <a:off x="8374313" y="2234175"/>
            <a:ext cx="3089764" cy="4691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기술의 합목적성 원칙</a:t>
            </a:r>
          </a:p>
        </p:txBody>
      </p:sp>
    </p:spTree>
    <p:extLst>
      <p:ext uri="{BB962C8B-B14F-4D97-AF65-F5344CB8AC3E}">
        <p14:creationId xmlns:p14="http://schemas.microsoft.com/office/powerpoint/2010/main" val="18115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107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smtClean="0">
                <a:latin typeface="+mj-ea"/>
                <a:ea typeface="+mj-ea"/>
              </a:rPr>
              <a:t>. 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24" y="4727276"/>
            <a:ext cx="2822794" cy="20358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40018" y="1596520"/>
            <a:ext cx="8601887" cy="458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 가상공간의 발달로 다양한 경로를 통해 뉴스를 접하면서 청소년들이 허위 정보에 노출되는 빈도가 높아졌다는 지적이 나온다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미국 스탠퍼드 대학교에서 수행한 연구 결과에 따르면 청소년들은 온라인상의 허위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·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조작 정보와 진짜 정보를 제대로 구별하지 못하였다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또한 많은 학생이 뉴스의 출처보다 기사의 길이나 사진 등을 근거로 뉴스의 신뢰도를 잘못 평가하는 경향이 있었다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연구를 주도한 교수는 “누리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소통망에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익숙한 학생층이 정보를 판별하는 능력이 뛰어날 것이라는 사람들의 생각은 사실과 달랐다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라고 말하였다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연합뉴스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》, 2019. 9. 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13.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344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107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smtClean="0">
                <a:latin typeface="+mj-ea"/>
                <a:ea typeface="+mj-ea"/>
              </a:rPr>
              <a:t>. 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0699" y="2252549"/>
            <a:ext cx="1081930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000" dirty="0">
                <a:latin typeface="+mn-ea"/>
              </a:rPr>
              <a:t>정보 </a:t>
            </a:r>
            <a:r>
              <a:rPr lang="ko-KR" altLang="en-US" sz="2000" dirty="0" smtClean="0">
                <a:latin typeface="+mn-ea"/>
              </a:rPr>
              <a:t>소비자</a:t>
            </a:r>
            <a:endParaRPr lang="en-US" altLang="ko-KR" sz="2200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2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첫째</a:t>
            </a:r>
            <a:r>
              <a:rPr lang="en-US" altLang="ko-KR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해당 정보를 정확히 읽어야 한다</a:t>
            </a:r>
            <a:r>
              <a:rPr lang="en-US" altLang="ko-KR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2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예를 들어 기사의 </a:t>
            </a:r>
            <a:r>
              <a:rPr lang="ko-KR" altLang="en-US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제목과 본문이 일치하는지 </a:t>
            </a:r>
            <a:r>
              <a:rPr lang="ko-KR" altLang="en-US" sz="2200" spc="-12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확인해야 하고</a:t>
            </a:r>
            <a:r>
              <a:rPr lang="en-US" altLang="ko-KR" sz="2200" spc="-12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관심을 끌기 위해 쓴 </a:t>
            </a:r>
            <a:r>
              <a:rPr lang="ko-KR" altLang="en-US" sz="2200" spc="-12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자극적인 제목만 </a:t>
            </a:r>
            <a:r>
              <a:rPr lang="ko-KR" altLang="en-US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읽고 본문의 내용을 짐작하지 말아야 한다</a:t>
            </a:r>
            <a:r>
              <a:rPr lang="en-US" altLang="ko-KR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2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둘째</a:t>
            </a:r>
            <a:r>
              <a:rPr lang="en-US" altLang="ko-KR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자신의 선입견을 점검해야 한다</a:t>
            </a:r>
            <a:r>
              <a:rPr lang="en-US" altLang="ko-KR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2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자신이 기존에 지니고 있는 생각만으로 정보를 </a:t>
            </a:r>
            <a:r>
              <a:rPr lang="ko-KR" altLang="en-US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판단하지 않았는지</a:t>
            </a:r>
            <a:r>
              <a:rPr lang="en-US" altLang="ko-KR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해당 정보가 객관적 사실에 근거했는지 </a:t>
            </a:r>
            <a:r>
              <a:rPr lang="ko-KR" altLang="en-US" sz="2200" spc="-12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검토해야 </a:t>
            </a:r>
            <a:r>
              <a:rPr lang="ko-KR" altLang="en-US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한다</a:t>
            </a:r>
            <a:r>
              <a:rPr lang="en-US" altLang="ko-KR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2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셋째</a:t>
            </a:r>
            <a:r>
              <a:rPr lang="en-US" altLang="ko-KR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정보의 출처를 확인해야 한다</a:t>
            </a:r>
            <a:r>
              <a:rPr lang="en-US" altLang="ko-KR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정보를 만든 사람이나 기관이 신뢰할 만한지</a:t>
            </a:r>
            <a:r>
              <a:rPr lang="en-US" altLang="ko-KR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전문가나 전문 기관에서 만든 정보인지 확인해 보아야 한다</a:t>
            </a:r>
            <a:r>
              <a:rPr lang="en-US" altLang="ko-KR" sz="2200" spc="-12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6826" y="1821662"/>
            <a:ext cx="6046234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solidFill>
                  <a:schemeClr val="accent4">
                    <a:lumMod val="50000"/>
                  </a:schemeClr>
                </a:solidFill>
                <a:latin typeface="+mn-ea"/>
              </a:rPr>
              <a:t> 디지털 </a:t>
            </a:r>
            <a:r>
              <a:rPr lang="ko-KR" altLang="en-US" sz="2200" dirty="0" err="1" smtClean="0">
                <a:solidFill>
                  <a:schemeClr val="accent4">
                    <a:lumMod val="50000"/>
                  </a:schemeClr>
                </a:solidFill>
                <a:latin typeface="+mn-ea"/>
              </a:rPr>
              <a:t>문해력을</a:t>
            </a:r>
            <a:r>
              <a:rPr lang="ko-KR" altLang="en-US" sz="2200" dirty="0" smtClean="0">
                <a:solidFill>
                  <a:schemeClr val="accent4">
                    <a:lumMod val="50000"/>
                  </a:schemeClr>
                </a:solidFill>
                <a:latin typeface="+mn-ea"/>
              </a:rPr>
              <a:t> 키우려면 어떻게 해야 할까</a:t>
            </a:r>
            <a:r>
              <a:rPr lang="en-US" altLang="ko-KR" sz="2200" dirty="0" smtClean="0">
                <a:solidFill>
                  <a:schemeClr val="accent4">
                    <a:lumMod val="50000"/>
                  </a:schemeClr>
                </a:solidFill>
                <a:latin typeface="+mn-ea"/>
              </a:rPr>
              <a:t>?</a:t>
            </a:r>
            <a:endParaRPr lang="ko-KR" altLang="en-US" sz="2200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174" y="1493077"/>
            <a:ext cx="836551" cy="79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1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107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smtClean="0">
                <a:latin typeface="+mj-ea"/>
                <a:ea typeface="+mj-ea"/>
              </a:rPr>
              <a:t>. 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0699" y="2252549"/>
            <a:ext cx="105843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000" dirty="0">
                <a:latin typeface="+mn-ea"/>
              </a:rPr>
              <a:t>정보 생산자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자신이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가상공간에서 만든 정보가 의미 있는 정보인지 생각해 보고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그중 잘못된 정보는 없는지 검토해 보아야 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또한 자신이 만든 정보가 타인의 명예를 훼손하거나 저작권을 침해하지 않는지 점검해야 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21" name="타원 2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1266826" y="1821662"/>
            <a:ext cx="6046234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solidFill>
                  <a:schemeClr val="accent4">
                    <a:lumMod val="50000"/>
                  </a:schemeClr>
                </a:solidFill>
                <a:latin typeface="+mn-ea"/>
              </a:rPr>
              <a:t> 디지털 </a:t>
            </a:r>
            <a:r>
              <a:rPr lang="ko-KR" altLang="en-US" sz="2200" dirty="0" err="1" smtClean="0">
                <a:solidFill>
                  <a:schemeClr val="accent4">
                    <a:lumMod val="50000"/>
                  </a:schemeClr>
                </a:solidFill>
                <a:latin typeface="+mn-ea"/>
              </a:rPr>
              <a:t>문해력을</a:t>
            </a:r>
            <a:r>
              <a:rPr lang="ko-KR" altLang="en-US" sz="2200" dirty="0" smtClean="0">
                <a:solidFill>
                  <a:schemeClr val="accent4">
                    <a:lumMod val="50000"/>
                  </a:schemeClr>
                </a:solidFill>
                <a:latin typeface="+mn-ea"/>
              </a:rPr>
              <a:t> 키우려면 어떻게 해야 할까</a:t>
            </a:r>
            <a:r>
              <a:rPr lang="en-US" altLang="ko-KR" sz="2200" dirty="0" smtClean="0">
                <a:solidFill>
                  <a:schemeClr val="accent4">
                    <a:lumMod val="50000"/>
                  </a:schemeClr>
                </a:solidFill>
                <a:latin typeface="+mn-ea"/>
              </a:rPr>
              <a:t>?</a:t>
            </a:r>
            <a:endParaRPr lang="ko-KR" altLang="en-US" sz="2200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174" y="1493077"/>
            <a:ext cx="836551" cy="79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85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디지털 문해력 키우기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107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3814" y="1431082"/>
            <a:ext cx="11028475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디지털 </a:t>
            </a:r>
            <a:r>
              <a:rPr lang="ko-KR" altLang="en-US" sz="2500" b="1" dirty="0" err="1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문해력의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의미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매체를 통해 가치 있는 정보를 찾고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비판적으로 수용하고 활용하며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생산하는  능력</a:t>
            </a:r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디지털 </a:t>
            </a:r>
            <a:r>
              <a:rPr lang="ko-KR" altLang="en-US" sz="2500" b="1" dirty="0" err="1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문해력을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 키우는 방법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맑은 고딕" panose="020B0503020000020004" pitchFamily="50" charset="-127"/>
              </a:rPr>
              <a:t>정보 소비자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해당 정보를 정확히 읽고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자신의 선입견을 점검해야 함</a:t>
            </a:r>
            <a:r>
              <a:rPr lang="en-US" altLang="ko-KR" sz="2400" dirty="0">
                <a:latin typeface="+mn-ea"/>
              </a:rPr>
              <a:t>. </a:t>
            </a:r>
            <a:r>
              <a:rPr lang="ko-KR" altLang="en-US" sz="2400" dirty="0">
                <a:latin typeface="+mn-ea"/>
              </a:rPr>
              <a:t>또한 정보의 출처를 확인해야 함</a:t>
            </a:r>
            <a:r>
              <a:rPr lang="en-US" altLang="ko-KR" sz="2400" dirty="0">
                <a:latin typeface="+mn-ea"/>
              </a:rPr>
              <a:t>.  </a:t>
            </a:r>
          </a:p>
          <a:p>
            <a:pPr marL="357188" indent="-357188" algn="just">
              <a:lnSpc>
                <a:spcPct val="150000"/>
              </a:lnSpc>
            </a:pPr>
            <a:r>
              <a:rPr lang="en-US" altLang="ko-KR" sz="2400" b="1" dirty="0">
                <a:latin typeface="맑은 고딕" panose="020B0503020000020004" pitchFamily="50" charset="-127"/>
              </a:rPr>
              <a:t>② </a:t>
            </a:r>
            <a:r>
              <a:rPr lang="ko-KR" altLang="en-US" sz="2400" b="1" dirty="0">
                <a:latin typeface="맑은 고딕" panose="020B0503020000020004" pitchFamily="50" charset="-127"/>
              </a:rPr>
              <a:t>정보 생산자</a:t>
            </a:r>
            <a:r>
              <a:rPr lang="en-US" altLang="ko-KR" sz="2400" b="1" dirty="0">
                <a:latin typeface="+mn-ea"/>
              </a:rPr>
              <a:t>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자신이 만든 정보가 의미 있는 정보인지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잘못된 정보는 없는지 검토해야 함</a:t>
            </a:r>
            <a:r>
              <a:rPr lang="en-US" altLang="ko-KR" sz="2400" dirty="0">
                <a:latin typeface="+mn-ea"/>
              </a:rPr>
              <a:t>. </a:t>
            </a:r>
            <a:r>
              <a:rPr lang="ko-KR" altLang="en-US" sz="2400" dirty="0">
                <a:latin typeface="+mn-ea"/>
              </a:rPr>
              <a:t>또한 그 정보가 저작권을 침해하지 않는지 점검해야 함</a:t>
            </a:r>
            <a:r>
              <a:rPr lang="en-US" altLang="ko-KR" sz="2400" dirty="0">
                <a:latin typeface="+mn-ea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0710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>
                <a:solidFill>
                  <a:srgbClr val="FF9300"/>
                </a:solidFill>
                <a:latin typeface="+mj-ea"/>
                <a:ea typeface="+mj-ea"/>
              </a:rPr>
              <a:t>디지털 문해력 키우기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702" y="1303186"/>
            <a:ext cx="10897386" cy="550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7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tabLst>
                <a:tab pos="263525" algn="l"/>
              </a:tabLst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등장인물 중 디지털 </a:t>
            </a:r>
            <a:r>
              <a:rPr lang="ko-KR" altLang="en-US" sz="2000" b="1" dirty="0" err="1">
                <a:latin typeface="+mn-ea"/>
              </a:rPr>
              <a:t>문해력을</a:t>
            </a:r>
            <a:r>
              <a:rPr lang="ko-KR" altLang="en-US" sz="2000" b="1" dirty="0">
                <a:latin typeface="+mn-ea"/>
              </a:rPr>
              <a:t> 갖춘 사람을 골라 ◯표를 하고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그렇게 </a:t>
            </a:r>
            <a:r>
              <a:rPr lang="ko-KR" altLang="en-US" sz="2000" b="1">
                <a:latin typeface="+mn-ea"/>
              </a:rPr>
              <a:t>생각한 </a:t>
            </a:r>
            <a:r>
              <a:rPr lang="ko-KR" altLang="en-US" sz="2000" b="1" smtClean="0">
                <a:latin typeface="+mn-ea"/>
              </a:rPr>
              <a:t>까닭을 써 </a:t>
            </a:r>
            <a:r>
              <a:rPr lang="ko-KR" altLang="en-US" sz="2000" b="1" dirty="0">
                <a:latin typeface="+mn-ea"/>
              </a:rPr>
              <a:t>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7" name="그림 2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466582"/>
              </p:ext>
            </p:extLst>
          </p:nvPr>
        </p:nvGraphicFramePr>
        <p:xfrm>
          <a:off x="888521" y="3148723"/>
          <a:ext cx="10137984" cy="28117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9480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7598504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52773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등장인물</a:t>
                      </a:r>
                      <a:endParaRPr lang="en-US" altLang="ko-KR" sz="2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까닭</a:t>
                      </a:r>
                      <a:endParaRPr lang="ko-KR" altLang="en-US" sz="2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22630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kern="1200" spc="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영상 제작자</a:t>
                      </a:r>
                      <a:r>
                        <a:rPr lang="en-US" altLang="ko-KR" sz="2000" kern="1200" spc="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kern="1200" spc="1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맹신스</a:t>
                      </a:r>
                      <a:r>
                        <a:rPr lang="en-US" altLang="ko-KR" sz="2000" kern="1200" spc="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endParaRPr lang="ko-KR" altLang="en-US" sz="2000" kern="1200" spc="1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kern="1200" spc="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널리널리</a:t>
                      </a:r>
                      <a:r>
                        <a:rPr lang="en-US" altLang="ko-KR" sz="2000" kern="1200" spc="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kern="1200" spc="1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열정님</a:t>
                      </a:r>
                      <a:r>
                        <a:rPr lang="en-US" altLang="ko-KR" sz="2000" kern="1200" spc="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kern="1200" spc="1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진실해</a:t>
                      </a:r>
                      <a:r>
                        <a:rPr lang="ko-KR" altLang="en-US" sz="2000" kern="1200" spc="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endParaRPr lang="ko-KR" altLang="en-US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475654" y="3674219"/>
            <a:ext cx="74764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영상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제작자의 말을 듣고 사실을 확인하기 위해 정보의 출처를 확인하였다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정보의 출처를 확인할 때 신뢰할 만한 기관이나 전문 기관에서 나온 정보인지 검토하였다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디지털 문해력 키우기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타원 1"/>
          <p:cNvSpPr/>
          <p:nvPr/>
        </p:nvSpPr>
        <p:spPr>
          <a:xfrm>
            <a:off x="2171517" y="5290837"/>
            <a:ext cx="981376" cy="54675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50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32" grpId="0"/>
      <p:bldP spid="32" grpId="1"/>
      <p:bldP spid="2" grpId="0" animBg="1"/>
      <p:bldP spid="2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6127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>
                <a:latin typeface="+mn-ea"/>
              </a:rPr>
              <a:t>가상공간을 올바르게 활용하기 위한 자세를 고려하여 등장인물에게 해 줄 수 있는 조언을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64839" y="3045582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34226" y="3619343"/>
            <a:ext cx="100628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자신이 만들거나 전달하려는 정보가 많은 사람에게 의미 있는 정보인지 혹은 사실을 바탕으로 만든 정보인지 확인해 보아야 합니다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나아가 정보를 접하는 사람들에게 정보의 정확한 출처도 알려 주어야 합니다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디지털 문해력 키우기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7399" y="2920909"/>
            <a:ext cx="51755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영상 제작자에게 해 주고 싶은 조언</a:t>
            </a:r>
          </a:p>
        </p:txBody>
      </p:sp>
      <p:pic>
        <p:nvPicPr>
          <p:cNvPr id="39" name="그림 3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925589"/>
            <a:ext cx="487174" cy="487174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925589"/>
            <a:ext cx="1087577" cy="495431"/>
            <a:chOff x="10075659" y="2003022"/>
            <a:chExt cx="1156006" cy="495431"/>
          </a:xfrm>
        </p:grpSpPr>
        <p:pic>
          <p:nvPicPr>
            <p:cNvPr id="41" name="그림 4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3" name="타원 4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0071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59" grpId="0"/>
      <p:bldP spid="59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6127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</a:t>
            </a:r>
            <a:r>
              <a:rPr lang="en-US" altLang="ko-KR" sz="2000" b="1" smtClean="0">
                <a:latin typeface="+mn-ea"/>
              </a:rPr>
              <a:t>. </a:t>
            </a:r>
            <a:r>
              <a:rPr lang="ko-KR" altLang="en-US" sz="2000" b="1">
                <a:latin typeface="+mn-ea"/>
              </a:rPr>
              <a:t>가상공간을 올바르게 활용하기 위한 자세를 고려하여 등장인물에게 해 줄 수 있는 조언을 써 보자</a:t>
            </a:r>
            <a:r>
              <a:rPr lang="en-US" altLang="ko-KR" sz="2000" b="1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64839" y="3045582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34226" y="3619343"/>
            <a:ext cx="100628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Arial Rounded MT Bold" panose="020F0704030504030204" pitchFamily="34" charset="0"/>
              </a:rPr>
              <a:t>먼저 정보를 정확히 읽고 이해해야 합니다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  <a:r>
              <a:rPr lang="en-US" altLang="ko-KR" sz="240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  <a:r>
              <a:rPr lang="ko-KR" altLang="en-US" sz="2400">
                <a:solidFill>
                  <a:srgbClr val="0070C0"/>
                </a:solidFill>
                <a:latin typeface="Arial Rounded MT Bold" panose="020F0704030504030204" pitchFamily="34" charset="0"/>
              </a:rPr>
              <a:t>자극적인 제목만 읽고 본문의 내용을 짐작하지 </a:t>
            </a:r>
            <a:r>
              <a:rPr lang="ko-KR" altLang="en-US" sz="240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말아야 합니다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  <a:r>
              <a:rPr lang="en-US" altLang="ko-KR" sz="240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  <a:r>
              <a:rPr lang="ko-KR" altLang="en-US" sz="2400">
                <a:solidFill>
                  <a:srgbClr val="0070C0"/>
                </a:solidFill>
                <a:latin typeface="Arial Rounded MT Bold" panose="020F0704030504030204" pitchFamily="34" charset="0"/>
              </a:rPr>
              <a:t>다음으로 자신이 가지고 있는 선입견을 점검해야 합니다</a:t>
            </a:r>
            <a:r>
              <a:rPr lang="en-US" altLang="ko-KR" sz="240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마지막으로 </a:t>
            </a:r>
            <a:r>
              <a:rPr lang="ko-KR" altLang="en-US" sz="2400">
                <a:solidFill>
                  <a:srgbClr val="0070C0"/>
                </a:solidFill>
                <a:latin typeface="Arial Rounded MT Bold" panose="020F0704030504030204" pitchFamily="34" charset="0"/>
              </a:rPr>
              <a:t>정보의 출처를 확인해야 합니다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  <a:r>
              <a:rPr lang="en-US" altLang="ko-KR" sz="240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  <a:endParaRPr lang="ko-KR" altLang="en-US" sz="240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디지털 문해력 키우기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7399" y="2920909"/>
            <a:ext cx="76590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디지털 문해력이 부족한 정보 소비자들에게 해 주고 싶은 조언</a:t>
            </a:r>
            <a:endParaRPr lang="ko-KR" altLang="en-US" sz="2000" dirty="0">
              <a:latin typeface="+mn-ea"/>
            </a:endParaRPr>
          </a:p>
        </p:txBody>
      </p:sp>
      <p:pic>
        <p:nvPicPr>
          <p:cNvPr id="39" name="그림 3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925589"/>
            <a:ext cx="487174" cy="487174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925589"/>
            <a:ext cx="1087577" cy="495431"/>
            <a:chOff x="10075659" y="2003022"/>
            <a:chExt cx="1156006" cy="495431"/>
          </a:xfrm>
        </p:grpSpPr>
        <p:pic>
          <p:nvPicPr>
            <p:cNvPr id="41" name="그림 4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3" name="타원 42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4000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59" grpId="0"/>
      <p:bldP spid="59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물음에 답하며 자신의 모습을 성찰해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5915" y="2435336"/>
            <a:ext cx="98095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smtClean="0">
                <a:latin typeface="굴림" panose="020B0600000101010101" pitchFamily="50" charset="-127"/>
                <a:ea typeface="굴림" panose="020B0600000101010101" pitchFamily="50" charset="-127"/>
              </a:rPr>
              <a:t>나는 가상공간을 올바르게 활용하고 있는가</a:t>
            </a:r>
            <a:r>
              <a:rPr lang="en-US" altLang="ko-KR" sz="200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나는 디지털 문해력을 발휘하고 있는가</a:t>
            </a:r>
            <a:r>
              <a:rPr lang="en-US" altLang="ko-KR" sz="200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936087" y="4254208"/>
            <a:ext cx="1328154" cy="1584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007850" y="3953767"/>
            <a:ext cx="122411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나의 성찰</a:t>
            </a:r>
            <a:endParaRPr lang="ko-KR" altLang="en-US" b="1" dirty="0">
              <a:solidFill>
                <a:schemeClr val="accent6">
                  <a:lumMod val="50000"/>
                </a:schemeClr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5915" y="4489165"/>
            <a:ext cx="81650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맑은 고딕" panose="020B0503020000020004" pitchFamily="50" charset="-127"/>
              </a:rPr>
              <a:t>나는 평소에 </a:t>
            </a:r>
            <a:r>
              <a:rPr lang="ko-KR" altLang="en-US" sz="2400" dirty="0" smtClean="0">
                <a:solidFill>
                  <a:srgbClr val="0070C0"/>
                </a:solidFill>
                <a:latin typeface="맑은 고딕" panose="020B0503020000020004" pitchFamily="50" charset="-127"/>
              </a:rPr>
              <a:t>스스로 </a:t>
            </a:r>
            <a:r>
              <a:rPr lang="ko-KR" altLang="en-US" sz="2400" dirty="0">
                <a:solidFill>
                  <a:srgbClr val="0070C0"/>
                </a:solidFill>
                <a:latin typeface="맑은 고딕" panose="020B0503020000020004" pitchFamily="50" charset="-127"/>
              </a:rPr>
              <a:t>절제하여 가상공간을 활용하도록 노력하였다</a:t>
            </a:r>
            <a:r>
              <a:rPr lang="en-US" altLang="ko-KR" sz="2400" dirty="0">
                <a:solidFill>
                  <a:srgbClr val="0070C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맑은 고딕" panose="020B0503020000020004" pitchFamily="50" charset="-127"/>
              </a:rPr>
              <a:t>그런데 인터넷에서 자료를 확인할 때 디지털 </a:t>
            </a:r>
            <a:r>
              <a:rPr lang="ko-KR" altLang="en-US" sz="2400" dirty="0" err="1">
                <a:solidFill>
                  <a:srgbClr val="0070C0"/>
                </a:solidFill>
                <a:latin typeface="맑은 고딕" panose="020B0503020000020004" pitchFamily="50" charset="-127"/>
              </a:rPr>
              <a:t>문해력을</a:t>
            </a:r>
            <a:r>
              <a:rPr lang="ko-KR" altLang="en-US" sz="2400" dirty="0">
                <a:solidFill>
                  <a:srgbClr val="0070C0"/>
                </a:solidFill>
                <a:latin typeface="맑은 고딕" panose="020B0503020000020004" pitchFamily="50" charset="-127"/>
              </a:rPr>
              <a:t> 발휘하여 자료를 검토하지는 못했다</a:t>
            </a:r>
            <a:r>
              <a:rPr lang="en-US" altLang="ko-KR" sz="2400" dirty="0">
                <a:solidFill>
                  <a:srgbClr val="0070C0"/>
                </a:solidFill>
                <a:latin typeface="맑은 고딕" panose="020B0503020000020004" pitchFamily="50" charset="-127"/>
              </a:rPr>
              <a:t>. </a:t>
            </a: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29" name="그림 28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6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74242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373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5" grpId="0"/>
      <p:bldP spid="25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모서리가 둥근 직사각형 27"/>
          <p:cNvSpPr/>
          <p:nvPr/>
        </p:nvSpPr>
        <p:spPr>
          <a:xfrm>
            <a:off x="2800350" y="3568394"/>
            <a:ext cx="8575719" cy="2530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109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4096987" y="578256"/>
            <a:ext cx="1757548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854535" y="671335"/>
            <a:ext cx="59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>
                <a:solidFill>
                  <a:schemeClr val="tx2"/>
                </a:solidFill>
                <a:latin typeface="+mj-ea"/>
                <a:ea typeface="+mj-ea"/>
              </a:rPr>
              <a:t>나는 디지털 시민일까</a:t>
            </a:r>
            <a:r>
              <a:rPr lang="en-US" altLang="ko-KR" sz="2400" b="1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700" y="3842617"/>
            <a:ext cx="2184400" cy="191916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703949" y="651944"/>
            <a:ext cx="1150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spc="-15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200" b="1" spc="-150" dirty="0" smtClean="0">
                <a:solidFill>
                  <a:srgbClr val="FFFF00"/>
                </a:solidFill>
                <a:latin typeface="+mj-ea"/>
                <a:ea typeface="+mj-ea"/>
              </a:rPr>
              <a:t>디지털</a:t>
            </a:r>
            <a:r>
              <a:rPr lang="en-US" altLang="ko-KR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</a:p>
          <a:p>
            <a:pPr algn="ctr"/>
            <a:r>
              <a:rPr lang="ko-KR" altLang="en-US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인공지능 소양</a:t>
            </a:r>
            <a:r>
              <a:rPr lang="en-US" altLang="ko-KR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12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20700" y="1406653"/>
            <a:ext cx="10858575" cy="19958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디지털 시민이란 디지털 사회에서 가상공간을 효과적으로 활용하여 공공의 일에 </a:t>
            </a:r>
            <a:r>
              <a:rPr lang="ko-KR" altLang="en-US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참여할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수 있는 기술과 지식을 갖춘 시민을 의미한다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디지털 시민으로서 우리는 디지털 </a:t>
            </a:r>
            <a:r>
              <a:rPr lang="ko-KR" altLang="en-US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기술을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이해하고 도덕적으로 이용할 수 있는 능력을 갖추어야 한다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그러면 디지털 </a:t>
            </a:r>
            <a:r>
              <a:rPr lang="ko-KR" altLang="en-US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시민으로서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우리가 갖추어야 할 능력에는 무엇이 있는지 살펴보자</a:t>
            </a:r>
            <a:r>
              <a:rPr lang="en-US" altLang="ko-KR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80332" y="3506693"/>
            <a:ext cx="8415753" cy="26314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사이버 폭력 대처 능력</a:t>
            </a:r>
            <a:endParaRPr lang="en-US" altLang="ko-KR" sz="2200" b="1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멀티미디어 기기를 안전하고 책임감 있게 사용할 줄 아는 능력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사이버 폭력 상황을 민감하게 인식하고 이에 차분하게 대처하는 능력</a:t>
            </a:r>
            <a:endParaRPr lang="en-US" altLang="ko-KR" sz="2200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사이버 폭력에 안전하고 지혜롭게 대처하는 방법을 알고 상황이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심각해지기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전에 도움을 구할 줄 아는 능력</a:t>
            </a:r>
          </a:p>
        </p:txBody>
      </p:sp>
      <p:sp>
        <p:nvSpPr>
          <p:cNvPr id="31" name="타원 30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hlinkClick r:id="rId6" action="ppaction://hlinksldjump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hlinkClick r:id="rId7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948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모서리가 둥근 직사각형 31"/>
          <p:cNvSpPr/>
          <p:nvPr/>
        </p:nvSpPr>
        <p:spPr>
          <a:xfrm>
            <a:off x="2949263" y="1842863"/>
            <a:ext cx="8426806" cy="4162010"/>
          </a:xfrm>
          <a:prstGeom prst="roundRect">
            <a:avLst>
              <a:gd name="adj" fmla="val 1392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109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4096987" y="578256"/>
            <a:ext cx="1757548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854535" y="671335"/>
            <a:ext cx="59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>
                <a:solidFill>
                  <a:schemeClr val="tx2"/>
                </a:solidFill>
                <a:latin typeface="+mj-ea"/>
                <a:ea typeface="+mj-ea"/>
              </a:rPr>
              <a:t>나는 디지털 시민일까</a:t>
            </a:r>
            <a:r>
              <a:rPr lang="en-US" altLang="ko-KR" sz="2400" b="1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37025" y="1847537"/>
            <a:ext cx="8111999" cy="41549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디지털 발자국 관리 능력</a:t>
            </a:r>
            <a:endParaRPr lang="en-US" altLang="ko-KR" sz="2200" b="1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가상공간에서의 모든 행동이 자신과 타인에게 영향을 미치는 디지털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발자국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가상공간에 남긴 흔적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될 수 있음을 아는 능력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디지털 발자국은 쉽게 삭제할 수 없고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가상공간에서 나에 관한 사람들의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평가가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자신의 실제 삶에도 영향을 미칠 수 있음을 인식하는 능력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자신이 남긴 디지털 발자국의 영향을 인식함으로써 가상공간에서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책임감 있게 행동하며 디지털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발자국을 관리하는 능력</a:t>
            </a:r>
            <a:endParaRPr lang="ko-KR" altLang="en-US" sz="2200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675" y="2552700"/>
            <a:ext cx="2687707" cy="290512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703949" y="651944"/>
            <a:ext cx="1150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spc="-15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200" b="1" spc="-150" dirty="0" smtClean="0">
                <a:solidFill>
                  <a:srgbClr val="FFFF00"/>
                </a:solidFill>
                <a:latin typeface="+mj-ea"/>
                <a:ea typeface="+mj-ea"/>
              </a:rPr>
              <a:t>디지털</a:t>
            </a:r>
            <a:r>
              <a:rPr lang="en-US" altLang="ko-KR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</a:p>
          <a:p>
            <a:pPr algn="ctr"/>
            <a:r>
              <a:rPr lang="ko-KR" altLang="en-US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인공지능 소양</a:t>
            </a:r>
            <a:r>
              <a:rPr lang="en-US" altLang="ko-KR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12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타원 24">
            <a:hlinkClick r:id="rId6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rId7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058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894395" y="578256"/>
            <a:ext cx="1742296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109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565249" y="1674184"/>
            <a:ext cx="8745715" cy="3170365"/>
          </a:xfrm>
          <a:prstGeom prst="roundRect">
            <a:avLst>
              <a:gd name="adj" fmla="val 1398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hlinkClick r:id="rId7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rId8" action="ppaction://hlinksldjump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876093" y="4417257"/>
            <a:ext cx="1239305" cy="495431"/>
            <a:chOff x="10075659" y="2003022"/>
            <a:chExt cx="1156006" cy="495431"/>
          </a:xfrm>
        </p:grpSpPr>
        <p:pic>
          <p:nvPicPr>
            <p:cNvPr id="39" name="그림 38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96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실천 톡톡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7" name="모서리가 둥근 사각형 설명선 6"/>
          <p:cNvSpPr/>
          <p:nvPr/>
        </p:nvSpPr>
        <p:spPr>
          <a:xfrm>
            <a:off x="9419980" y="2396639"/>
            <a:ext cx="2286055" cy="1753497"/>
          </a:xfrm>
          <a:prstGeom prst="wedgeRoundRectCallout">
            <a:avLst>
              <a:gd name="adj1" fmla="val 8564"/>
              <a:gd name="adj2" fmla="val 6188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+mn-ea"/>
              </a:rPr>
              <a:t>일상생활에서 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+mn-ea"/>
              </a:rPr>
              <a:t>디지털 시민으로서 갖추어야 할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위의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세 가지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능력을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길러 보자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pic>
        <p:nvPicPr>
          <p:cNvPr id="46" name="그림 45" descr="클립아트, 곰, 만화 영화이(가) 표시된 사진&#10;&#10;자동 생성된 설명">
            <a:extLst>
              <a:ext uri="{FF2B5EF4-FFF2-40B4-BE49-F238E27FC236}">
                <a16:creationId xmlns:a16="http://schemas.microsoft.com/office/drawing/2014/main" id="{7E57931C-BC2D-94A0-17C9-B8C790C398EF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4312" y="4776162"/>
            <a:ext cx="1951723" cy="2081838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11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592" y="4562573"/>
            <a:ext cx="2703816" cy="22954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3270" y="1705228"/>
            <a:ext cx="8464146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디지털 공감 능력</a:t>
            </a:r>
            <a:endParaRPr lang="en-US" altLang="ko-KR" sz="2200" b="1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가상공간에서 타인의 필요와 마음을 민감하게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헤아리는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능력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가상공간에서 도움이 필요한 사람을 위해 기꺼이 나서서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이야기할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줄 아는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능력</a:t>
            </a:r>
            <a:endParaRPr lang="en-US" altLang="ko-KR" sz="2200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가상공간과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현실 세계에서 동일하게 부모님이나 선생님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친구들과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좋은 관계를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형성하는 </a:t>
            </a:r>
            <a:r>
              <a:rPr lang="ko-KR" altLang="en-US" sz="2200" spc="-150" smtClean="0">
                <a:latin typeface="굴림" panose="020B0600000101010101" pitchFamily="50" charset="-127"/>
                <a:ea typeface="굴림" panose="020B0600000101010101" pitchFamily="50" charset="-127"/>
              </a:rPr>
              <a:t>능력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200" spc="-150" smtClean="0">
                <a:latin typeface="굴림" panose="020B0600000101010101" pitchFamily="50" charset="-127"/>
                <a:ea typeface="굴림" panose="020B0600000101010101" pitchFamily="50" charset="-127"/>
              </a:rPr>
              <a:t>                               </a:t>
            </a:r>
            <a:r>
              <a:rPr lang="en-US" altLang="ko-KR" spc="-15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박유현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《DQ </a:t>
            </a:r>
            <a:r>
              <a:rPr lang="ko-KR" altLang="en-US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디지털 기능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endParaRPr lang="en-US" altLang="ko-KR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순서도: 수행의 시작/종료 44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4096987" y="578256"/>
            <a:ext cx="1757548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703949" y="651944"/>
            <a:ext cx="1150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spc="-15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200" b="1" spc="-150" dirty="0" smtClean="0">
                <a:solidFill>
                  <a:srgbClr val="FFFF00"/>
                </a:solidFill>
                <a:latin typeface="+mj-ea"/>
                <a:ea typeface="+mj-ea"/>
              </a:rPr>
              <a:t>디지털</a:t>
            </a:r>
            <a:r>
              <a:rPr lang="en-US" altLang="ko-KR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</a:p>
          <a:p>
            <a:pPr algn="ctr"/>
            <a:r>
              <a:rPr lang="ko-KR" altLang="en-US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인공지능 소양</a:t>
            </a:r>
            <a:r>
              <a:rPr lang="en-US" altLang="ko-KR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12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854535" y="671335"/>
            <a:ext cx="59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>
                <a:solidFill>
                  <a:schemeClr val="tx2"/>
                </a:solidFill>
                <a:latin typeface="+mj-ea"/>
                <a:ea typeface="+mj-ea"/>
              </a:rPr>
              <a:t>나는 디지털 시민일까</a:t>
            </a:r>
            <a:r>
              <a:rPr lang="en-US" altLang="ko-KR" sz="2400" b="1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844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“1.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인권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- </a:t>
            </a: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01.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인권을 존중해야 하는 도덕적 이유는 무엇일까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75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자기 관리 능력 기르기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자기 관리 능력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감정이나 욕망을 스스로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절제 </a:t>
            </a:r>
            <a:r>
              <a:rPr sz="2400" b="0">
                <a:solidFill>
                  <a:srgbClr val="262626"/>
                </a:solidFill>
              </a:rPr>
              <a:t>하고, 자신의 행동을 균형 있게 조절하는 능력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밤 10시 이후엔 휴대폰을 거실에 두고 자기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자기 관리 능력이 부족하면 사이버 중독이나 자아 정체성 혼란 등의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문제 </a:t>
            </a:r>
            <a:r>
              <a:rPr sz="2400" b="0">
                <a:solidFill>
                  <a:srgbClr val="262626"/>
                </a:solidFill>
              </a:rPr>
              <a:t>를 겪을 수 있음.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자기 관리 능력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감정이나 욕망을 스스로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절제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자신의 행동을 균형 있게 조절하는 능력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밤 10시 이후엔 휴대폰을 거실에 두고 자기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자기 관리 능력이 부족하면 사이버 중독이나 자아 정체성 혼란 등의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겪을 수 있음.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자기 관리 능력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감정이나 욕망을 스스로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절제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자신의 행동을 균형 있게 조절하는 능력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밤 10시 이후엔 휴대폰을 거실에 두고 자기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자기 관리 능력이 부족하면 사이버 중독이나 자아 정체성 혼란 등의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겪을 수 있음.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자기 관리 능력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감정이나 욕망을 스스로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절제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자신의 행동을 균형 있게 조절하는 능력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밤 10시 이후엔 휴대폰을 거실에 두고 자기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자기 관리 능력이 부족하면 사이버 중독이나 자아 정체성 혼란 등의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겪을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딜레마 · 나라면?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자기 전 “딱 10분만” 하려던 영상이 벌써 2시간째다.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계속 본다 — 추천 영상이 계속 나온다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멈춘다 — 알림을 끄고 휴대 전화를 멀리 둔다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멈추게 도와주는 나만의 방법은?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자기 전 “딱 10분만” 하려던 영상이 벌써 2시간째다.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계속 본다 — 추천 영상이 계속 나온다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멈춘다 — 알림을 끄고 휴대 전화를 멀리 둔다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멈추게 도와주는 나만의 방법은?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도덕적 원칙 지키기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존중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나와 타인을 존중하고 모든 사람을 소중한 존재로 대해야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얼굴이 안 보여도 댓글은 사람에게 쓰는 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책임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자신의 행동이 가져올 결과와 영향력을 상상하고, 책임 있게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올리기 전 3초: 이걸 친구가 보면?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정의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모든 사람에게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정보 </a:t>
            </a:r>
            <a:r>
              <a:rPr sz="2400" b="0">
                <a:solidFill>
                  <a:srgbClr val="262626"/>
                </a:solidFill>
              </a:rPr>
              <a:t>의 혜택이 고르게 돌아가도록 정의롭게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스마트폰이 서툰 할머니께 예약 앱 쓰는 법 알려 드리기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(4) 해악 금지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다른 사람에게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피해 </a:t>
            </a:r>
            <a:r>
              <a:rPr sz="2400" b="0">
                <a:solidFill>
                  <a:srgbClr val="262626"/>
                </a:solidFill>
              </a:rPr>
              <a:t>를 끼치지 않아야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확인 안 된 소문은 퍼 나르지 않기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존중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나와 타인을 존중하고 모든 사람을 소중한 존재로 대해야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얼굴이 안 보여도 댓글은 사람에게 쓰는 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책임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행동이 가져올 결과와 영향력을 상상하고, 책임 있게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올리기 전 3초: 이걸 친구가 보면?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정의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사람에게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혜택이 고르게 돌아가도록 정의롭게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스마트폰이 서툰 할머니께 예약 앱 쓰는 법 알려 드리기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(4) 해악 금지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피해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끼치지 않아야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확인 안 된 소문은 퍼 나르지 않기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존중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나와 타인을 존중하고 모든 사람을 소중한 존재로 대해야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얼굴이 안 보여도 댓글은 사람에게 쓰는 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책임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행동이 가져올 결과와 영향력을 상상하고, 책임 있게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올리기 전 3초: 이걸 친구가 보면?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정의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사람에게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혜택이 고르게 돌아가도록 정의롭게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스마트폰이 서툰 할머니께 예약 앱 쓰는 법 알려 드리기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(4) 해악 금지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피해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끼치지 않아야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확인 안 된 소문은 퍼 나르지 않기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존중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나와 타인을 존중하고 모든 사람을 소중한 존재로 대해야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얼굴이 안 보여도 댓글은 사람에게 쓰는 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책임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행동이 가져올 결과와 영향력을 상상하고, 책임 있게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올리기 전 3초: 이걸 친구가 보면?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정의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사람에게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정보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혜택이 고르게 돌아가도록 정의롭게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스마트폰이 서툰 할머니께 예약 앱 쓰는 법 알려 드리기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(4) 해악 금지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피해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끼치지 않아야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확인 안 된 소문은 퍼 나르지 않기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존중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나와 타인을 존중하고 모든 사람을 소중한 존재로 대해야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얼굴이 안 보여도 댓글은 사람에게 쓰는 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책임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행동이 가져올 결과와 영향력을 상상하고, 책임 있게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올리기 전 3초: 이걸 친구가 보면?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정의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사람에게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혜택이 고르게 돌아가도록 정의롭게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스마트폰이 서툰 할머니께 예약 앱 쓰는 법 알려 드리기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(4) 해악 금지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피해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끼치지 않아야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확인 안 된 소문은 퍼 나르지 않기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존중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나와 타인을 존중하고 모든 사람을 소중한 존재로 대해야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얼굴이 안 보여도 댓글은 사람에게 쓰는 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책임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행동이 가져올 결과와 영향력을 상상하고, 책임 있게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올리기 전 3초: 이걸 친구가 보면?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정의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사람에게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혜택이 고르게 돌아가도록 정의롭게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스마트폰이 서툰 할머니께 예약 앱 쓰는 법 알려 드리기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(4) 해악 금지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피해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끼치지 않아야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확인 안 된 소문은 퍼 나르지 않기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존중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나와 타인을 존중하고 모든 사람을 소중한 존재로 대해야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얼굴이 안 보여도 댓글은 사람에게 쓰는 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책임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행동이 가져올 결과와 영향력을 상상하고, 책임 있게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올리기 전 3초: 이걸 친구가 보면?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정의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사람에게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혜택이 고르게 돌아가도록 정의롭게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스마트폰이 서툰 할머니께 예약 앱 쓰는 법 알려 드리기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(4) 해악 금지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피해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끼치지 않아야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확인 안 된 소문은 퍼 나르지 않기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선플 달기 운동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2007년부터 · 대한민국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시작 · 악플로 상처받은 사람들의 소식에 민병철 교수가 선플 운동을 제안했다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방법 · 응원·칭찬·감사의 댓글을 다는 운동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확산 · 학교와 단체가 함께하며 수많은 선플이 모였다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선플 한 줄은 누구에게 어떤 힘이 될까?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2007년부터 · 대한민국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시작 · 악플로 상처받은 사람들의 소식에 민병철 교수가 선플 운동을 제안했다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방법 · 응원·칭찬·감사의 댓글을 다는 운동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확산 · 학교와 단체가 함께하며 수많은 선플이 모였다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선플 한 줄은 누구에게 어떤 힘이 될까?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디지털 문해력 키우기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디지털 문해력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매체를 통해 가치 있는 정보를 찾고, 비판적으로 수용하고 활용하며, 생산하는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능력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“충격! ○○ 먹으면 키 10cm” — 진짜일까?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정보 소비자로서 디지털 문해력을 키우는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해당 정보를 정확히 읽어야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자신의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선입견 </a:t>
            </a:r>
            <a:r>
              <a:rPr sz="2400" b="0">
                <a:solidFill>
                  <a:srgbClr val="262626"/>
                </a:solidFill>
              </a:rPr>
              <a:t>을 점검하고 정보의 출처를 확인해야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제목만 읽지 말고 본문과 기사 날짜, 언론사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디지털 문해력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매체를 통해 가치 있는 정보를 찾고, 비판적으로 수용하고 활용하며, 생산하는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능력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“충격! ○○ 먹으면 키 10cm” — 진짜일까?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정보 소비자로서 디지털 문해력을 키우는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해당 정보를 정확히 읽어야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선입견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점검하고 정보의 출처를 확인해야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제목만 읽지 말고 본문과 기사 날짜, 언론사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디지털 문해력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매체를 통해 가치 있는 정보를 찾고, 비판적으로 수용하고 활용하며, 생산하는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능력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“충격! ○○ 먹으면 키 10cm” — 진짜일까?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정보 소비자로서 디지털 문해력을 키우는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해당 정보를 정확히 읽어야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선입견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점검하고 정보의 출처를 확인해야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제목만 읽지 말고 본문과 기사 날짜, 언론사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디지털 문해력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매체를 통해 가치 있는 정보를 찾고, 비판적으로 수용하고 활용하며, 생산하는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능력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“충격! ○○ 먹으면 키 10cm” — 진짜일까?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정보 소비자로서 디지털 문해력을 키우는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해당 정보를 정확히 읽어야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선입견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점검하고 정보의 출처를 확인해야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제목만 읽지 말고 본문과 기사 날짜, 언론사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디지털 문해력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매체를 통해 가치 있는 정보를 찾고, 비판적으로 수용하고 활용하며, 생산하는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능력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“충격! ○○ 먹으면 키 10cm” — 진짜일까?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정보 소비자로서 디지털 문해력을 키우는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해당 정보를 정확히 읽어야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선입견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점검하고 정보의 출처를 확인해야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제목만 읽지 말고 본문과 기사 날짜, 언론사 확인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디지털 문해력 키우기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정보 생산자로서 디지털 문해력을 키우는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가상공간에서 만든 정보가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의미 </a:t>
            </a:r>
            <a:r>
              <a:rPr sz="2400" b="0">
                <a:solidFill>
                  <a:srgbClr val="262626"/>
                </a:solidFill>
              </a:rPr>
              <a:t> 있는 정보인지, 그중 잘못된 정보는 없는지 검토해 보아야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발표 자료 사진 아래 출처 쓰기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자신이 만든 정보가 타인의 명예를 훼손하거나 저작권을 침해하지 않는지 점검해야 함.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정보 생산자로서 디지털 문해력을 키우는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가상공간에서 만든 정보가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의미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있는 정보인지, 그중 잘못된 정보는 없는지 검토해 보아야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발표 자료 사진 아래 출처 쓰기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만든 정보가 타인의 명예를 훼손하거나 저작권을 침해하지 않는지 점검해야 함.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정보 생산자로서 디지털 문해력을 키우는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가상공간에서 만든 정보가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있는 정보인지, 그중 잘못된 정보는 없는지 검토해 보아야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발표 자료 사진 아래 출처 쓰기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만든 정보가 타인의 명예를 훼손하거나 저작권을 침해하지 않는지 점검해야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이 뉴스, 믿어도 될까?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누가 · 쓴 사람과 매체는?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언제 · 오래된 소식은 아닌가?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다른 곳 · 다른 믿을 만한 곳에서도 말하나?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왜 · 나를 화나게 하려는 글은 아닌가?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자기 관리 능력이란 감정이나 욕망을 스스로 절제하고, 자신의 행동을 균형 있게 조절하는 능력을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가상공간은 현실이 아니므로 가상공간에서 만난 사람들을 존중하지 않아도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정보 소비자는 자신이 만든 정보 중 잘못된 정보가 없는지 점검해야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정보 생산자는 자신이 만든 정보가 타인의 명예를 훼손하지 않는지 점검해야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자기 관리 능력이란 감정이나 욕망을 스스로 절제하고, 자신의 행동을 균형 있게 조절하는 능력을 의미한다.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가상공간은 현실이 아니므로 가상공간에서 만난 사람들을 존중하지 않아도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정보 소비자는 자신이 만든 정보 중 잘못된 정보가 없는지 점검해야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정보 생산자는 자신이 만든 정보가 타인의 명예를 훼손하지 않는지 점검해야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자기 관리 능력이란 감정이나 욕망을 스스로 절제하고, 자신의 행동을 균형 있게 조절하는 능력을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가상공간은 현실이 아니므로 가상공간에서 만난 사람들을 존중하지 않아도 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정보 소비자는 자신이 만든 정보 중 잘못된 정보가 없는지 점검해야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정보 생산자는 자신이 만든 정보가 타인의 명예를 훼손하지 않는지 점검해야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자기 관리 능력이란 감정이나 욕망을 스스로 절제하고, 자신의 행동을 균형 있게 조절하는 능력을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가상공간은 현실이 아니므로 가상공간에서 만난 사람들을 존중하지 않아도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정보 소비자는 자신이 만든 정보 중 잘못된 정보가 없는지 점검해야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정보 생산자는 자신이 만든 정보가 타인의 명예를 훼손하지 않는지 점검해야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자기 관리 능력이란 감정이나 욕망을 스스로 절제하고, 자신의 행동을 균형 있게 조절하는 능력을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가상공간은 현실이 아니므로 가상공간에서 만난 사람들을 존중하지 않아도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정보 소비자는 자신이 만든 정보 중 잘못된 정보가 없는지 점검해야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정보 생산자는 자신이 만든 정보가 타인의 명예를 훼손하지 않는지 점검해야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어떤 원칙일까?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존중 · 책임 · 정의 · 해악 금지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상대의 아이디 뒤에도 감정을 가진 사람이 있음을 기억한다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(모든 사람을 소중히)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올리기 전에 이 글이 어떤 영향을 줄지 생각한다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 (결과와 영향력 상상)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정보를 얻기 어려운 사람도 혜택을 누리도록 돕는다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정의 (정보의 혜택을 고르게)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허락 없이 친구 사진을 올리지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해악 금지 (피해를 끼치지 않기)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존중 · 책임 · 정의 · 해악 금지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상대의 아이디 뒤에도 감정을 가진 사람이 있음을 기억한다</a:t>
            </a:r>
            <a:r>
              <a:rPr sz="2300" b="1">
                <a:solidFill>
                  <a:srgbClr val="C0392B"/>
                </a:solidFill>
              </a:rPr>
              <a:t>   → 존중 (모든 사람을 소중히)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올리기 전에 이 글이 어떤 영향을 줄지 생각한다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 (결과와 영향력 상상)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정보를 얻기 어려운 사람도 혜택을 누리도록 돕는다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정의 (정보의 혜택을 고르게)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허락 없이 친구 사진을 올리지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해악 금지 (피해를 끼치지 않기)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존중 · 책임 · 정의 · 해악 금지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상대의 아이디 뒤에도 감정을 가진 사람이 있음을 기억한다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(모든 사람을 소중히)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올리기 전에 이 글이 어떤 영향을 줄지 생각한다</a:t>
            </a:r>
            <a:r>
              <a:rPr sz="2300" b="1">
                <a:solidFill>
                  <a:srgbClr val="C0392B"/>
                </a:solidFill>
              </a:rPr>
              <a:t>   → 책임 (결과와 영향력 상상)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정보를 얻기 어려운 사람도 혜택을 누리도록 돕는다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정의 (정보의 혜택을 고르게)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허락 없이 친구 사진을 올리지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해악 금지 (피해를 끼치지 않기)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존중 · 책임 · 정의 · 해악 금지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상대의 아이디 뒤에도 감정을 가진 사람이 있음을 기억한다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(모든 사람을 소중히)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올리기 전에 이 글이 어떤 영향을 줄지 생각한다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 (결과와 영향력 상상)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정보를 얻기 어려운 사람도 혜택을 누리도록 돕는다</a:t>
            </a:r>
            <a:r>
              <a:rPr sz="2300" b="1">
                <a:solidFill>
                  <a:srgbClr val="C0392B"/>
                </a:solidFill>
              </a:rPr>
              <a:t>   → 정의 (정보의 혜택을 고르게)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허락 없이 친구 사진을 올리지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해악 금지 (피해를 끼치지 않기)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존중 · 책임 · 정의 · 해악 금지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상대의 아이디 뒤에도 감정을 가진 사람이 있음을 기억한다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(모든 사람을 소중히)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올리기 전에 이 글이 어떤 영향을 줄지 생각한다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 (결과와 영향력 상상)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정보를 얻기 어려운 사람도 혜택을 누리도록 돕는다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정의 (정보의 혜택을 고르게)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허락 없이 친구 사진을 올리지 않는다</a:t>
            </a:r>
            <a:r>
              <a:rPr sz="2300" b="1">
                <a:solidFill>
                  <a:srgbClr val="C0392B"/>
                </a:solidFill>
              </a:rPr>
              <a:t>   → 해악 금지 (피해를 끼치지 않기)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b="1" smtClean="0">
                <a:solidFill>
                  <a:srgbClr val="FFFF00"/>
                </a:solidFill>
                <a:latin typeface="+mn-ea"/>
              </a:rPr>
              <a:t>팩트 체크 · 이 게시물 믿어도 될까? (108쪽처럼)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“[긴급] 내일부터 전국 모든 학교 휴교! 교육부 발표! 빨리 퍼뜨려!!” — 출처 없음, 작성자 ‘익명123’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A. 바로 반 단톡방에 공유한다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“빨리 퍼뜨려”는 거짓 정보의 흔한 신호예요.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B. 교육부·학교 누리집에서 확인한다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정답! 출처 확인 — 디지털 문해력.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C. 댓글 반응을 보고 판단한다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댓글이 많다고 사실은 아니에요.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“[긴급] 내일부터 전국 모든 학교 휴교! 교육부 발표! 빨리 퍼뜨려!!” — 출처 없음, 작성자 ‘익명123’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A. 바로 반 단톡방에 공유한다</a:t>
            </a:r>
            <a:r>
              <a:rPr sz="2300" b="1">
                <a:solidFill>
                  <a:srgbClr val="C0392B"/>
                </a:solidFill>
              </a:rPr>
              <a:t>   “빨리 퍼뜨려”는 거짓 정보의 흔한 신호예요.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B. 교육부·학교 누리집에서 확인한다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정답! 출처 확인 — 디지털 문해력.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C. 댓글 반응을 보고 판단한다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댓글이 많다고 사실은 아니에요.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“[긴급] 내일부터 전국 모든 학교 휴교! 교육부 발표! 빨리 퍼뜨려!!” — 출처 없음, 작성자 ‘익명123’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A. 바로 반 단톡방에 공유한다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“빨리 퍼뜨려”는 거짓 정보의 흔한 신호예요.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B. 교육부·학교 누리집에서 확인한다</a:t>
            </a:r>
            <a:r>
              <a:rPr sz="2300" b="1">
                <a:solidFill>
                  <a:srgbClr val="C0392B"/>
                </a:solidFill>
              </a:rPr>
              <a:t>   정답! 출처 확인 — 디지털 문해력.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C. 댓글 반응을 보고 판단한다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댓글이 많다고 사실은 아니에요.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“[긴급] 내일부터 전국 모든 학교 휴교! 교육부 발표! 빨리 퍼뜨려!!” — 출처 없음, 작성자 ‘익명123’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A. 바로 반 단톡방에 공유한다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“빨리 퍼뜨려”는 거짓 정보의 흔한 신호예요.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B. 교육부·학교 누리집에서 확인한다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정답! 출처 확인 — 디지털 문해력.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C. 댓글 반응을 보고 판단한다</a:t>
            </a:r>
            <a:r>
              <a:rPr sz="2300" b="1">
                <a:solidFill>
                  <a:srgbClr val="C0392B"/>
                </a:solidFill>
              </a:rPr>
              <a:t>   댓글이 많다고 사실은 아니에요.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은서에게 조언하기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03. </a:t>
            </a:r>
            <a:r>
              <a:rPr lang="ko-KR" altLang="en-US" b="1" smtClean="0">
                <a:latin typeface="+mj-ea"/>
                <a:ea typeface="+mj-ea"/>
              </a:rPr>
              <a:t>가상공간을 올바르게 활용하는 방법은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내 생각에는…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익명이어도 네 글은 진짜 사람에게 상처를 줘. 한번 쓴 글은 빨리 퍼지고 오래 남으니까 결과를 생각해 봐.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내 생각에는…</a:t>
            </a:r>
            <a:r>
              <a:rPr sz="2300" b="1">
                <a:solidFill>
                  <a:srgbClr val="C0392B"/>
                </a:solidFill>
              </a:rPr>
              <a:t>   예) 익명이어도 네 글은 진짜 사람에게 상처를 줘. 한번 쓴 글은 빨리 퍼지고 오래 남으니까 결과를 생각해 봐.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9309</TotalTime>
  <Words>1801</Words>
  <Application>Microsoft Office PowerPoint</Application>
  <PresentationFormat>와이드스크린</PresentationFormat>
  <Paragraphs>311</Paragraphs>
  <Slides>25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굴림</vt:lpstr>
      <vt:lpstr>나눔고딕</vt:lpstr>
      <vt:lpstr>나눔스퀘어라운드 ExtraBold</vt:lpstr>
      <vt:lpstr>돋움</vt:lpstr>
      <vt:lpstr>맑은 고딕</vt:lpstr>
      <vt:lpstr>Arial</vt:lpstr>
      <vt:lpstr>Arial Rounded MT Bold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217</cp:revision>
  <cp:lastPrinted>2024-06-05T04:53:22Z</cp:lastPrinted>
  <dcterms:created xsi:type="dcterms:W3CDTF">2023-10-31T05:50:03Z</dcterms:created>
  <dcterms:modified xsi:type="dcterms:W3CDTF">2025-01-10T06:39:09Z</dcterms:modified>
</cp:coreProperties>
</file>