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1"/>
  </p:notesMasterIdLst>
  <p:handoutMasterIdLst>
    <p:handoutMasterId r:id="rId22"/>
  </p:handoutMasterIdLst>
  <p:sldIdLst>
    <p:sldId id="302" r:id="rId2"/>
    <p:sldId id="301" r:id="rId3"/>
    <p:sldId id="258" r:id="rId4"/>
    <p:sldId id="305" r:id="rId5"/>
    <p:sldId id="306" r:id="rId6"/>
    <p:sldId id="398" r:id="rId7"/>
    <p:sldId id="270" r:id="rId8"/>
    <p:sldId id="260" r:id="rId9"/>
    <p:sldId id="402" r:id="rId28"/>
    <p:sldId id="403" r:id="rId29"/>
    <p:sldId id="400" r:id="rId10"/>
    <p:sldId id="308" r:id="rId11"/>
    <p:sldId id="313" r:id="rId12"/>
    <p:sldId id="404" r:id="rId30"/>
    <p:sldId id="405" r:id="rId31"/>
    <p:sldId id="406" r:id="rId32"/>
    <p:sldId id="401" r:id="rId13"/>
    <p:sldId id="364" r:id="rId14"/>
    <p:sldId id="393" r:id="rId15"/>
    <p:sldId id="397" r:id="rId16"/>
    <p:sldId id="395" r:id="rId17"/>
    <p:sldId id="399" r:id="rId18"/>
    <p:sldId id="354" r:id="rId19"/>
    <p:sldId id="407" r:id="rId33"/>
    <p:sldId id="408" r:id="rId34"/>
    <p:sldId id="409" r:id="rId35"/>
    <p:sldId id="410" r:id="rId36"/>
    <p:sldId id="348" r:id="rId20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9EF"/>
    <a:srgbClr val="FF9300"/>
    <a:srgbClr val="FFFF00"/>
    <a:srgbClr val="D9E1E9"/>
    <a:srgbClr val="E8F6FD"/>
    <a:srgbClr val="F0FFF6"/>
    <a:srgbClr val="019BFF"/>
    <a:srgbClr val="FFF7EE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9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44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기록 · 『사기』 「관안열전」</a:t>
            </a:r>
          </a:p>
          <a:p>
            <a:r>
              <a:t>관중과 포숙아는 어릴 적 친구. 관중은 훗날 제나라 환공을 도와 제나라를 강국으로 만든 재상이 되었다. 사마천은 포숙아가 관중을 끝까지 믿고 이해한 일을 기록했다.</a:t>
            </a:r>
          </a:p>
          <a:p>
            <a:r>
              <a:t>관포지교(管鮑之交): 서로를 깊이 이해하고 믿는 친구 사이.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82쪽 자료 · 『5번 레인』</a:t>
            </a:r>
          </a:p>
          <a:p>
            <a:r>
              <a:t>수영 1등을 빼앗기자 질투로 경쟁자 초희의 수영복을 훔친 나루. 사과하고 기권하려 하자 초희는 정정당당하게 겨루자고 한다. 경쟁 속 성장도 우정의 일부.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우정의 세 종류</a:t>
            </a:r>
          </a:p>
          <a:p>
            <a:r>
              <a:t>아리스토텔레스는 우정을 유용성·즐거움·선(덕)에 바탕을 둔 것으로 나누었다. 앞의 둘은 이익이나 재미가 사라지면 쉽게 끝나지만, 서로의 좋은 품성을 아끼는 우정은 오래간다.</a:t>
            </a:r>
          </a:p>
          <a:p>
            <a:r>
              <a:t>발문 “셋 중 하나만 고르면 안 될까?” → 실제 우정에는 셋이 섞여 있다. 중요한 건 세 번째가 있는지.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어디까지가 친구일까? 친구는 나에게 무엇을 줄까?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어디까지가 친구일까? 친구는 나에게 무엇을 줄까?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어디까지가 친구일까? 친구는 나에게 무엇을 줄까?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8.png"/><Relationship Id="rId6" Type="http://schemas.openxmlformats.org/officeDocument/2006/relationships/image" Target="../media/image31.png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Relationship Id="rId6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slide" Target="slide14.xml"/><Relationship Id="rId7" Type="http://schemas.openxmlformats.org/officeDocument/2006/relationships/image" Target="../media/image43.png"/><Relationship Id="rId8" Type="http://schemas.openxmlformats.org/officeDocument/2006/relationships/image" Target="../media/image38.png"/><Relationship Id="rId9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24.png"/><Relationship Id="rId5" Type="http://schemas.openxmlformats.org/officeDocument/2006/relationships/image" Target="../media/image590.svg"/><Relationship Id="rId6" Type="http://schemas.openxmlformats.org/officeDocument/2006/relationships/image" Target="../media/image38.png"/><Relationship Id="rId7" Type="http://schemas.openxmlformats.org/officeDocument/2006/relationships/image" Target="../media/image31.png"/><Relationship Id="rId8" Type="http://schemas.openxmlformats.org/officeDocument/2006/relationships/slide" Target="slide15.xml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" Target="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우정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친구의 의미와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가치는 무엇일까</a:t>
            </a:r>
            <a:r>
              <a:rPr lang="en-US" altLang="ko-KR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6422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>
                <a:solidFill>
                  <a:prstClr val="black"/>
                </a:solidFill>
                <a:latin typeface="+mn-ea"/>
              </a:rPr>
              <a:t>친구와 우정의 의미를 설명할 수 있다</a:t>
            </a:r>
            <a:r>
              <a:rPr lang="en-US" altLang="ko-KR" sz="2800" b="1">
                <a:solidFill>
                  <a:prstClr val="black"/>
                </a:solidFill>
                <a:latin typeface="+mn-ea"/>
              </a:rPr>
              <a:t>. 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6561203-5AD4-D0C1-BA20-A7201ACE3939}"/>
              </a:ext>
            </a:extLst>
          </p:cNvPr>
          <p:cNvSpPr/>
          <p:nvPr/>
        </p:nvSpPr>
        <p:spPr>
          <a:xfrm>
            <a:off x="787400" y="2928791"/>
            <a:ext cx="10293350" cy="878645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32535" y="2977389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>
                <a:solidFill>
                  <a:schemeClr val="dk1"/>
                </a:solidFill>
                <a:latin typeface="+mn-ea"/>
              </a:rPr>
              <a:t>우리 삶에서 우정이 지닌 가치를 제시할 수 있다</a:t>
            </a:r>
            <a:r>
              <a:rPr lang="en-US" altLang="ko-KR" sz="2800" b="1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7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5C28D4DD-371F-4568-9198-B5D58BBCD7F3}"/>
              </a:ext>
            </a:extLst>
          </p:cNvPr>
          <p:cNvSpPr/>
          <p:nvPr/>
        </p:nvSpPr>
        <p:spPr>
          <a:xfrm>
            <a:off x="996950" y="3305075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320"/>
            <a:ext cx="11792932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7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41453" y="1423358"/>
            <a:ext cx="7651121" cy="543464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9010" y="6616460"/>
            <a:ext cx="710242" cy="24154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6466" y="1441721"/>
            <a:ext cx="3420062" cy="238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13924" y="2280789"/>
            <a:ext cx="10239105" cy="2862711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5593" y="2353617"/>
            <a:ext cx="99689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ko-KR" altLang="en-US" sz="2000" dirty="0"/>
              <a:t>친구란 </a:t>
            </a:r>
            <a:r>
              <a:rPr lang="en-US" altLang="ko-KR" sz="2000" dirty="0" smtClean="0"/>
              <a:t>___________________________________________________________________________</a:t>
            </a:r>
            <a:r>
              <a:rPr lang="ko-KR" altLang="en-US" sz="2000" dirty="0"/>
              <a:t>이에요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algn="just">
              <a:lnSpc>
                <a:spcPct val="200000"/>
              </a:lnSpc>
            </a:pPr>
            <a:r>
              <a:rPr lang="ko-KR" altLang="en-US" sz="2000" dirty="0" smtClean="0">
                <a:solidFill>
                  <a:schemeClr val="tx1"/>
                </a:solidFill>
                <a:ea typeface="맑은 고딕" panose="020B0503020000020004" pitchFamily="50" charset="-127"/>
              </a:rPr>
              <a:t>왜냐하면 </a:t>
            </a:r>
            <a:r>
              <a:rPr lang="en-US" altLang="ko-KR" sz="2000" dirty="0" smtClean="0">
                <a:solidFill>
                  <a:schemeClr val="tx1"/>
                </a:solidFill>
                <a:ea typeface="맑은 고딕" panose="020B0503020000020004" pitchFamily="50" charset="-127"/>
              </a:rPr>
              <a:t>_________________________________________________________</a:t>
            </a:r>
            <a:r>
              <a:rPr lang="en-US" altLang="ko-KR" sz="2000" dirty="0" smtClean="0"/>
              <a:t>_______________________</a:t>
            </a:r>
            <a:endParaRPr lang="en-US" altLang="ko-KR" sz="2000" dirty="0" smtClean="0">
              <a:solidFill>
                <a:schemeClr val="tx1"/>
              </a:solidFill>
              <a:ea typeface="맑은 고딕" panose="020B0503020000020004" pitchFamily="50" charset="-127"/>
            </a:endParaRPr>
          </a:p>
          <a:p>
            <a:pPr algn="just">
              <a:lnSpc>
                <a:spcPct val="200000"/>
              </a:lnSpc>
            </a:pPr>
            <a:r>
              <a:rPr lang="en-US" altLang="ko-KR" sz="2000" dirty="0" smtClean="0">
                <a:solidFill>
                  <a:schemeClr val="tx1"/>
                </a:solidFill>
                <a:ea typeface="맑은 고딕" panose="020B0503020000020004" pitchFamily="50" charset="-127"/>
              </a:rPr>
              <a:t>___________________________________________________________________</a:t>
            </a:r>
            <a:r>
              <a:rPr lang="en-US" altLang="ko-KR" sz="2000" dirty="0" smtClean="0"/>
              <a:t>_______________________</a:t>
            </a:r>
          </a:p>
          <a:p>
            <a:pPr algn="just">
              <a:lnSpc>
                <a:spcPct val="200000"/>
              </a:lnSpc>
            </a:pPr>
            <a:r>
              <a:rPr lang="en-US" altLang="ko-KR" sz="2000" dirty="0" smtClean="0"/>
              <a:t>____</a:t>
            </a:r>
            <a:r>
              <a:rPr lang="en-US" altLang="ko-KR" sz="2000" dirty="0" smtClean="0">
                <a:solidFill>
                  <a:schemeClr val="tx1"/>
                </a:solidFill>
                <a:ea typeface="맑은 고딕" panose="020B0503020000020004" pitchFamily="50" charset="-127"/>
              </a:rPr>
              <a:t>_____________________________________________________</a:t>
            </a:r>
            <a:r>
              <a:rPr lang="en-US" altLang="ko-KR" sz="2000" dirty="0" smtClean="0"/>
              <a:t>_____________________</a:t>
            </a:r>
            <a:r>
              <a:rPr lang="ko-KR" altLang="en-US" sz="2000" dirty="0" smtClean="0">
                <a:solidFill>
                  <a:schemeClr val="tx1"/>
                </a:solidFill>
                <a:ea typeface="맑은 고딕" panose="020B0503020000020004" pitchFamily="50" charset="-127"/>
              </a:rPr>
              <a:t>때문이에요</a:t>
            </a:r>
            <a:r>
              <a:rPr lang="en-US" altLang="ko-KR" sz="2000" dirty="0" smtClean="0">
                <a:solidFill>
                  <a:schemeClr val="tx1"/>
                </a:solidFill>
                <a:ea typeface="맑은 고딕" panose="020B0503020000020004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7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0852" y="2983316"/>
            <a:ext cx="98500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            제가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슬프고 힘들 때 마음과 머릿속이 마치 낙서를 한 것처럼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복잡하지만 친구와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함께 시간을 보내면 마음과 머릿속에 있는 걱정거리가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없어지기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다음 그림을 보고 친구에 관한 자신의 생각을 써 보자</a:t>
            </a:r>
            <a:r>
              <a:rPr lang="en-US" altLang="ko-KR" sz="2000" b="1"/>
              <a:t>. 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9331" y="1703398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375399" y="1695141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996393" y="2327937"/>
            <a:ext cx="1242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지우개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34" grpId="0"/>
      <p:bldP spid="3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00" y="1714500"/>
            <a:ext cx="11568643" cy="4229320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99" y="1706829"/>
            <a:ext cx="11568644" cy="4244661"/>
          </a:xfrm>
          <a:prstGeom prst="rect">
            <a:avLst/>
          </a:prstGeom>
        </p:spPr>
      </p:pic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23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338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위 그림을 보고 어디까지를 나의 친구라고 할 수 있을지 써 보자</a:t>
            </a:r>
            <a:r>
              <a:rPr lang="en-US" altLang="ko-KR" sz="2000" b="1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9662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1490" y="2470239"/>
            <a:ext cx="978414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위 그림에서 친구라고 할 수 있는 사람은 매일 독서실에 함께 다니는 언니와 어릴 적부터 알고 지낸 친한 옆집 아이이다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그렇게 생각한 까닭은 친구란 나와 오랫동안 친밀하게 사귄 사람을 의미하기 때문이다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친구의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의미 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나와 오랫동안 친밀하게 사귄 사람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공부나 놀이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취미 활동 등을 통해 지속적으로 교류하며 어느 정도 친밀감을 쌓은 사람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우정의 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친구와 친밀하게 지내며 쌓은 정서적 </a:t>
            </a:r>
            <a:r>
              <a:rPr lang="ko-KR" altLang="en-US" sz="2400" dirty="0">
                <a:latin typeface="+mn-ea"/>
              </a:rPr>
              <a:t>유대감이나 정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情</a:t>
            </a:r>
            <a:r>
              <a:rPr lang="en-US" altLang="ko-KR" sz="2400" dirty="0">
                <a:latin typeface="+mn-ea"/>
              </a:rPr>
              <a:t>)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친구와 우정의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0018" y="1596520"/>
            <a:ext cx="860188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 웅이는 다가오는 시험 때문에 걱정이 많다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지난 시험의 성적이 좋지 않아 자신감도 떨어진 데다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본격적으로 시험을 준비할 생각을 하니 어디서부터 시작해야 할지 막막하고 답답하였다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웅이가 친구 은찬이에게 이러한 마음을 털어놓자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은찬이는 “너는 끈기가 있잖아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하나씩 차근차근 공부하면 좋은 결과를 얻을 수 있을 거야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남은 시간 동안 어떻게 공부할지 계획을 세워 보자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라고 말하며 웅이를 위로해 주었다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웅이는 은찬이의 따뜻한 제안에 막막하고 답답했던 마음이 편안해졌고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은찬이와 함께 공부할 생각에 기운이 났다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902" y="4147794"/>
            <a:ext cx="2738850" cy="271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265" y="1545463"/>
            <a:ext cx="10437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웅이처럼 친구에게 위로를 받았거나 용기를 얻었던 경험을 쓰고 친구들에게 소개해 보자</a:t>
            </a:r>
            <a:r>
              <a:rPr lang="en-US" altLang="ko-KR" sz="2000" b="1"/>
              <a:t>. </a:t>
            </a:r>
            <a:endParaRPr lang="ko-KR" altLang="en-US" sz="2000" b="1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2021" y="2219136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17793" y="221087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632428" y="2942656"/>
            <a:ext cx="10413524" cy="341632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0900" y="2942656"/>
            <a:ext cx="99347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오늘은 우리 반 달리기 시합이 있는 날이다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누구보다 열심히 연습해서 일등을 할 자신이 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그런데 시합에서 결승선에 다다르자 </a:t>
            </a:r>
            <a:r>
              <a:rPr lang="ko-KR" altLang="en-US" sz="2400">
                <a:solidFill>
                  <a:srgbClr val="0070C0"/>
                </a:solidFill>
                <a:latin typeface="+mn-ea"/>
              </a:rPr>
              <a:t>다리를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접질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려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서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넘어졌고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결국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꼴등을 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속상한 마음에 밥도 먹고 싶지 않았다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가장 친한 친구인 소라에게 마음을 털어놓자 소라는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“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네가 누구보다 노력했던 것을 모두가 알고 있어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특히 내가 가장 잘 알아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그러니 의기소침하지 말고 힘내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.”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라고 말하며 나를 다독여 주었다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우정의 가치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42913" indent="-442913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정서적 안정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친구에게 고민을 털어놓거나 기쁨과 슬픔 등 다양한 감정을 친구와 나누며 정서적 안정을 얻을 수 있음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marL="442913" indent="-442913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성숙한 인격 형성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친구 사이에서 서로에게 모범이 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상대방의 장점을 배우고자 할 때 성숙한 인격을 형성할 수 있음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42913" indent="-442913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사회성 함양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공동체 구성원으로서 다른 사람과 더불어 살아가는 방법을 배우면서 사회성을 함양할 수 있음</a:t>
            </a:r>
            <a:r>
              <a:rPr lang="en-US" altLang="ko-KR" sz="2400" dirty="0">
                <a:latin typeface="+mn-ea"/>
              </a:rPr>
              <a:t>. 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우정의 가치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8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4706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친구 관계를 통해 무엇을 배울 수 있을까</a:t>
            </a:r>
            <a:r>
              <a:rPr lang="en-US" altLang="ko-KR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72947" y="2020374"/>
            <a:ext cx="6887349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소설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《5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번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레인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친구와 서로 경쟁하는 가운데 성장하는 것도 우정의 일부임을 보여 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주인공 나루는 경쟁자 초희가 등장하기 전까지는 수영 대회에서 항상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등이었다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초희에게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등을 빼앗기자 나루는 질투심을 느끼고 초희의 수영복을 충동적으로 훔친다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075" y="1951223"/>
            <a:ext cx="3560319" cy="3629446"/>
          </a:xfrm>
          <a:prstGeom prst="rect">
            <a:avLst/>
          </a:prstGeom>
        </p:spPr>
      </p:pic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0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4706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친구 관계를 통해 무엇을 배울 수 있을까</a:t>
            </a:r>
            <a:r>
              <a:rPr lang="en-US" altLang="ko-KR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72948" y="1991690"/>
            <a:ext cx="72078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mtClean="0">
                <a:latin typeface="굴림" panose="020B0600000101010101" pitchFamily="50" charset="-127"/>
                <a:ea typeface="굴림" panose="020B0600000101010101" pitchFamily="50" charset="-127"/>
              </a:rPr>
              <a:t>  그러나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죄책감을 느낀 나루는 초희에게 사과하며 수영복을 돌려주고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수영 대회에 기권하기로 결심한다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나루가 기권한다는 소문이 퍼지자 초희는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나루에게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다가가 기권하지 말고 시합에서 정정당당하게 승부를 겨루자고 말한다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결국 나루는 수영 대회에서 초희에게 지지만 많은 것을 배운다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075" y="1951223"/>
            <a:ext cx="3560319" cy="3629446"/>
          </a:xfrm>
          <a:prstGeom prst="rect">
            <a:avLst/>
          </a:prstGeom>
        </p:spPr>
      </p:pic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1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92" y="2908084"/>
            <a:ext cx="10383909" cy="3072941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내 친구를 소개하는 사연 보내기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0157" y="2212845"/>
            <a:ext cx="529950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6179" y="2199493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42351" y="2039111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42201" y="2195536"/>
            <a:ext cx="1087577" cy="495431"/>
            <a:chOff x="10075659" y="2003022"/>
            <a:chExt cx="1156006" cy="495431"/>
          </a:xfrm>
        </p:grpSpPr>
        <p:pic>
          <p:nvPicPr>
            <p:cNvPr id="32" name="그림 3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974498" y="3172104"/>
            <a:ext cx="379328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초등학교 친구 민서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1139" y="1562744"/>
            <a:ext cx="8688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mtClean="0"/>
              <a:t>친구에 관한 사연을 쓰고 다음 </a:t>
            </a:r>
            <a:r>
              <a:rPr lang="en-US" altLang="ko-KR" sz="2000" b="1" smtClean="0"/>
              <a:t>&lt;</a:t>
            </a:r>
            <a:r>
              <a:rPr lang="ko-KR" altLang="en-US" sz="2000" b="1" smtClean="0"/>
              <a:t>활동 방법</a:t>
            </a:r>
            <a:r>
              <a:rPr lang="en-US" altLang="ko-KR" sz="2000" b="1" smtClean="0"/>
              <a:t>&gt;</a:t>
            </a:r>
            <a:r>
              <a:rPr lang="ko-KR" altLang="en-US" sz="2000" b="1" smtClean="0"/>
              <a:t>에 따라 내 친구를 </a:t>
            </a:r>
            <a:r>
              <a:rPr lang="ko-KR" altLang="en-US" sz="2000" b="1"/>
              <a:t>소개해 보자</a:t>
            </a:r>
            <a:r>
              <a:rPr lang="en-US" altLang="ko-KR" sz="2000" b="1"/>
              <a:t>. </a:t>
            </a:r>
            <a:endParaRPr lang="ko-KR" altLang="en-US" sz="20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hlinkClick r:id="rId7" action="ppaction://hlinksldjump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rId8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560"/>
          <a:stretch/>
        </p:blipFill>
        <p:spPr>
          <a:xfrm>
            <a:off x="760006" y="2907087"/>
            <a:ext cx="2218863" cy="93904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07978" y="4226699"/>
            <a:ext cx="9782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smtClean="0">
                <a:solidFill>
                  <a:srgbClr val="0070C0"/>
                </a:solidFill>
                <a:latin typeface="+mn-ea"/>
              </a:rPr>
              <a:t>작년에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같은 반 남학생에게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좋아한다고 고백을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하였지만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그 친구는 나의 고백을 거절하였다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그날 이후부터 </a:t>
            </a:r>
            <a:r>
              <a:rPr lang="ko-KR" altLang="en-US" sz="2400" dirty="0" err="1" smtClean="0">
                <a:solidFill>
                  <a:srgbClr val="0070C0"/>
                </a:solidFill>
                <a:latin typeface="+mn-ea"/>
              </a:rPr>
              <a:t>자존감이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 많이 떨어져서 교실에서 조용히 숨어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다녔다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그때 민서가 다가와 위로해 주었다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9101" y="2766287"/>
            <a:ext cx="805677" cy="48202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383" y="3846136"/>
            <a:ext cx="1831649" cy="47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1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52" grpId="0"/>
      <p:bldP spid="5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799209" y="1303161"/>
            <a:ext cx="1087577" cy="495431"/>
            <a:chOff x="10075659" y="2003022"/>
            <a:chExt cx="1156006" cy="495431"/>
          </a:xfrm>
        </p:grpSpPr>
        <p:pic>
          <p:nvPicPr>
            <p:cNvPr id="51" name="그림 5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8420" y="1273878"/>
            <a:ext cx="86531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mtClean="0"/>
              <a:t>친구에 관한 사연을 쓰고 다음 </a:t>
            </a:r>
            <a:r>
              <a:rPr lang="en-US" altLang="ko-KR" sz="2000" b="1" smtClean="0"/>
              <a:t>&lt;</a:t>
            </a:r>
            <a:r>
              <a:rPr lang="ko-KR" altLang="en-US" sz="2000" b="1" smtClean="0"/>
              <a:t>활동 방법</a:t>
            </a:r>
            <a:r>
              <a:rPr lang="en-US" altLang="ko-KR" sz="2000" b="1" smtClean="0"/>
              <a:t>&gt;</a:t>
            </a:r>
            <a:r>
              <a:rPr lang="ko-KR" altLang="en-US" sz="2000" b="1" smtClean="0"/>
              <a:t>에 따라 내 친구를 </a:t>
            </a:r>
            <a:r>
              <a:rPr lang="ko-KR" altLang="en-US" sz="2000" b="1"/>
              <a:t>소개해 보자</a:t>
            </a:r>
            <a:r>
              <a:rPr lang="en-US" altLang="ko-KR" sz="2000" b="1"/>
              <a:t>. </a:t>
            </a:r>
            <a:endParaRPr lang="ko-KR" altLang="en-US" sz="2000" b="1"/>
          </a:p>
        </p:txBody>
      </p:sp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295209" y="3324510"/>
            <a:ext cx="11122036" cy="313824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 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692340" y="6528386"/>
            <a:ext cx="219075" cy="2190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5154393" y="6528386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내 친구를 소개하는 사연 보내기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8696" y="2880730"/>
            <a:ext cx="2459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smtClean="0"/>
              <a:t>친구와 있었던 일</a:t>
            </a:r>
            <a:endParaRPr lang="ko-KR" alt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338696" y="1875910"/>
            <a:ext cx="6049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smtClean="0"/>
              <a:t>소개하고 싶은 친구 </a:t>
            </a:r>
            <a:endParaRPr lang="ko-KR" altLang="en-US" sz="2000" dirty="0"/>
          </a:p>
        </p:txBody>
      </p:sp>
      <p:sp>
        <p:nvSpPr>
          <p:cNvPr id="40" name="타원 39"/>
          <p:cNvSpPr/>
          <p:nvPr/>
        </p:nvSpPr>
        <p:spPr>
          <a:xfrm>
            <a:off x="5661728" y="6528386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6169063" y="6528386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41278" y="1306401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944557" y="1296100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30927"/>
              </p:ext>
            </p:extLst>
          </p:nvPr>
        </p:nvGraphicFramePr>
        <p:xfrm>
          <a:off x="200836" y="1891513"/>
          <a:ext cx="11359934" cy="4636873"/>
        </p:xfrm>
        <a:graphic>
          <a:graphicData uri="http://schemas.openxmlformats.org/drawingml/2006/table">
            <a:tbl>
              <a:tblPr firstRow="1" bandRow="1"/>
              <a:tblGrid>
                <a:gridCol w="11359934">
                  <a:extLst>
                    <a:ext uri="{9D8B030D-6E8A-4147-A177-3AD203B41FA5}">
                      <a16:colId xmlns:a16="http://schemas.microsoft.com/office/drawing/2014/main" val="2530119287"/>
                    </a:ext>
                  </a:extLst>
                </a:gridCol>
              </a:tblGrid>
              <a:tr h="46368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5425523"/>
                  </a:ext>
                </a:extLst>
              </a:tr>
            </a:tbl>
          </a:graphicData>
        </a:graphic>
      </p:graphicFrame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19871" y="2253643"/>
            <a:ext cx="11056198" cy="56881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209" y="3160656"/>
            <a:ext cx="11146697" cy="3344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작년에 학교에서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같은 반 남학생에게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좋아한다고 고백을 하였다</a:t>
            </a:r>
            <a:r>
              <a:rPr lang="en-US" altLang="ko-KR" sz="2400">
                <a:solidFill>
                  <a:srgbClr val="0070C0"/>
                </a:solidFill>
                <a:latin typeface="+mn-ea"/>
                <a:ea typeface="+mn-ea"/>
              </a:rPr>
              <a:t>.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그런데 그 친구는 나를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좋아하지 않는다며 고백을 거절하였다</a:t>
            </a:r>
            <a:r>
              <a:rPr lang="en-US" altLang="ko-KR" sz="2400">
                <a:solidFill>
                  <a:srgbClr val="0070C0"/>
                </a:solidFill>
                <a:latin typeface="+mn-ea"/>
                <a:ea typeface="+mn-ea"/>
              </a:rPr>
              <a:t>.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남학생에게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차인 이후부터 나는 창피하고 슬픈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마음에 교실에서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최대한 누구의 눈에도 띄지 않게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조용히 숨어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다녔다</a:t>
            </a:r>
            <a:r>
              <a:rPr lang="en-US" altLang="ko-KR" sz="2400">
                <a:solidFill>
                  <a:srgbClr val="0070C0"/>
                </a:solidFill>
                <a:latin typeface="+mn-ea"/>
                <a:ea typeface="+mn-ea"/>
              </a:rPr>
              <a:t>.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또한 스스로 부족한 사람이라는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생각이 들어서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모든 일에 자신감이 많이 떨어졌었다</a:t>
            </a:r>
            <a:r>
              <a:rPr lang="en-US" altLang="ko-KR" sz="2400">
                <a:solidFill>
                  <a:srgbClr val="0070C0"/>
                </a:solidFill>
                <a:latin typeface="+mn-ea"/>
                <a:ea typeface="+mn-ea"/>
              </a:rPr>
              <a:t>.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그때 민서가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나에게 다가와서 슬픈 마음을 위로해 주고</a:t>
            </a:r>
            <a:r>
              <a:rPr lang="en-US" altLang="ko-KR" sz="2400" smtClean="0">
                <a:solidFill>
                  <a:srgbClr val="0070C0"/>
                </a:solidFill>
                <a:latin typeface="+mn-ea"/>
                <a:ea typeface="+mn-ea"/>
              </a:rPr>
              <a:t>, </a:t>
            </a:r>
            <a:r>
              <a:rPr lang="ko-KR" altLang="en-US" sz="2400" smtClean="0">
                <a:solidFill>
                  <a:srgbClr val="0070C0"/>
                </a:solidFill>
                <a:latin typeface="+mn-ea"/>
                <a:ea typeface="+mn-ea"/>
              </a:rPr>
              <a:t>매사 </a:t>
            </a:r>
            <a:r>
              <a:rPr lang="ko-KR" altLang="en-US" sz="2400">
                <a:solidFill>
                  <a:srgbClr val="0070C0"/>
                </a:solidFill>
                <a:latin typeface="+mn-ea"/>
                <a:ea typeface="+mn-ea"/>
              </a:rPr>
              <a:t>자신감을 가지도록 용기를 복돋아 주었다</a:t>
            </a:r>
            <a:r>
              <a:rPr lang="en-US" altLang="ko-KR" sz="2400">
                <a:solidFill>
                  <a:srgbClr val="0070C0"/>
                </a:solidFill>
                <a:latin typeface="+mn-ea"/>
                <a:ea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5449084" y="1678840"/>
            <a:ext cx="1203648" cy="40534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사연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Google Shape;22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4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338696" y="807810"/>
            <a:ext cx="11695665" cy="5795316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719777" y="1055445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8" name="그림 47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3893" y="928947"/>
            <a:ext cx="473351" cy="47335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1803" y="1996339"/>
            <a:ext cx="109133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나에게 정서적 안정을 준 친구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인격 성숙에 도움을 준 친구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사회성을 기르는 데 도움을 준 친구 중 한 명을 골라 ‘소개하고 싶은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친구’에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쓴다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친구와 있었던 일을 구체적으로 떠올려 보고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친구가 나의 삶에 미친 긍정적인 영향을 생각하며 사연을 쓴다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친구와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함께 듣고 싶은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신청곡을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고르고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,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그 까닭을 쓴다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학급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친구들이 쓴 사연들을 한곳에 모으고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교실에서 친구 소개 프로그램을 진행할 사람을 뽑는다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</a:p>
          <a:p>
            <a:pPr marL="457200" indent="-457200" algn="just">
              <a:lnSpc>
                <a:spcPct val="15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진행을 맡은 사람이 사연을 뽑아서 읽고 </a:t>
            </a:r>
            <a:r>
              <a:rPr lang="ko-KR" altLang="en-US" sz="2000" dirty="0" err="1" smtClean="0">
                <a:latin typeface="돋움" panose="020B0600000101010101" pitchFamily="50" charset="-127"/>
                <a:ea typeface="돋움" panose="020B0600000101010101" pitchFamily="50" charset="-127"/>
              </a:rPr>
              <a:t>신청곡을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틀면 다 함께 듣는다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19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92" y="2908084"/>
            <a:ext cx="10383909" cy="307294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9101" y="2766287"/>
            <a:ext cx="805677" cy="48202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내 친구를 소개하는 사연 보내기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1139" y="1562744"/>
            <a:ext cx="8688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mtClean="0"/>
              <a:t>친구에 관한 사연을 쓰고 다음 </a:t>
            </a:r>
            <a:r>
              <a:rPr lang="en-US" altLang="ko-KR" sz="2000" b="1" smtClean="0"/>
              <a:t>&lt;</a:t>
            </a:r>
            <a:r>
              <a:rPr lang="ko-KR" altLang="en-US" sz="2000" b="1" smtClean="0"/>
              <a:t>활동 방법</a:t>
            </a:r>
            <a:r>
              <a:rPr lang="en-US" altLang="ko-KR" sz="2000" b="1" smtClean="0"/>
              <a:t>&gt;</a:t>
            </a:r>
            <a:r>
              <a:rPr lang="ko-KR" altLang="en-US" sz="2000" b="1" smtClean="0"/>
              <a:t>에 따라 내 친구를 </a:t>
            </a:r>
            <a:r>
              <a:rPr lang="ko-KR" altLang="en-US" sz="2000" b="1"/>
              <a:t>소개해 보자</a:t>
            </a:r>
            <a:r>
              <a:rPr lang="en-US" altLang="ko-KR" sz="2000" b="1"/>
              <a:t>. </a:t>
            </a:r>
            <a:endParaRPr lang="ko-KR" altLang="en-US" sz="20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타원 40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921204" y="3536048"/>
            <a:ext cx="99091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민서는 자신도 작년에 비슷한 일을 겪었다고 말하며 나의 힘든 마음을 공감해 주었다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그래서 나도 민서의 이야기를 듣고 당시의 일을 대수롭지 않게 생각하게 되었다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민서에게 상담한 이후로 나는 교실에서 숨어 다니지 않게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en-US" altLang="ko-KR" sz="2400" dirty="0" smtClean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07" y="2988170"/>
            <a:ext cx="2900543" cy="586720"/>
          </a:xfrm>
          <a:prstGeom prst="rect">
            <a:avLst/>
          </a:prstGeom>
        </p:spPr>
      </p:pic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0157" y="2212845"/>
            <a:ext cx="529950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6179" y="2199493"/>
            <a:ext cx="1087577" cy="495431"/>
            <a:chOff x="10075659" y="2003022"/>
            <a:chExt cx="1156006" cy="495431"/>
          </a:xfrm>
        </p:grpSpPr>
        <p:pic>
          <p:nvPicPr>
            <p:cNvPr id="43" name="그림 4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42351" y="2039111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42201" y="2195536"/>
            <a:ext cx="1087577" cy="495431"/>
            <a:chOff x="10075659" y="2003022"/>
            <a:chExt cx="1156006" cy="495431"/>
          </a:xfrm>
        </p:grpSpPr>
        <p:pic>
          <p:nvPicPr>
            <p:cNvPr id="49" name="그림 4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0" name="TextBox 49">
              <a:hlinkClick r:id="" action="ppaction://hlinkshowjump?jump=previous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579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5" grpId="0"/>
      <p:bldP spid="35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92" y="2908084"/>
            <a:ext cx="10383909" cy="307294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9101" y="2766287"/>
            <a:ext cx="805677" cy="48202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내 친구를 소개하는 사연 보내기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1139" y="1562744"/>
            <a:ext cx="86886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mtClean="0"/>
              <a:t>친구에 관한 사연을 쓰고 다음 </a:t>
            </a:r>
            <a:r>
              <a:rPr lang="en-US" altLang="ko-KR" sz="2000" b="1" smtClean="0"/>
              <a:t>&lt;</a:t>
            </a:r>
            <a:r>
              <a:rPr lang="ko-KR" altLang="en-US" sz="2000" b="1" smtClean="0"/>
              <a:t>활동 방법</a:t>
            </a:r>
            <a:r>
              <a:rPr lang="en-US" altLang="ko-KR" sz="2000" b="1" smtClean="0"/>
              <a:t>&gt;</a:t>
            </a:r>
            <a:r>
              <a:rPr lang="ko-KR" altLang="en-US" sz="2000" b="1" smtClean="0"/>
              <a:t>에 따라 내 친구를 </a:t>
            </a:r>
            <a:r>
              <a:rPr lang="ko-KR" altLang="en-US" sz="2000" b="1"/>
              <a:t>소개해 보자</a:t>
            </a:r>
            <a:r>
              <a:rPr lang="en-US" altLang="ko-KR" sz="2000" b="1"/>
              <a:t>. </a:t>
            </a:r>
            <a:endParaRPr lang="ko-KR" altLang="en-US" sz="20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1204" y="4539481"/>
            <a:ext cx="9909129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당시 민서가 자신도 같은 경험이 있다고 말하며 알려 준 노래이다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 노래를 통해 나는 마음의 상처가 아물고 큰 위로를 받았다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0157" y="2212845"/>
            <a:ext cx="529950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6179" y="2199493"/>
            <a:ext cx="1087577" cy="495431"/>
            <a:chOff x="10075659" y="2003022"/>
            <a:chExt cx="1156006" cy="495431"/>
          </a:xfrm>
        </p:grpSpPr>
        <p:pic>
          <p:nvPicPr>
            <p:cNvPr id="43" name="그림 4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42351" y="2039111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42201" y="2195536"/>
            <a:ext cx="1087577" cy="495431"/>
            <a:chOff x="10075659" y="2003022"/>
            <a:chExt cx="1156006" cy="495431"/>
          </a:xfrm>
        </p:grpSpPr>
        <p:pic>
          <p:nvPicPr>
            <p:cNvPr id="49" name="그림 4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0" name="TextBox 49">
              <a:hlinkClick r:id="rId8" action="ppaction://hlinksldjump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473" y="2969313"/>
            <a:ext cx="1878004" cy="612088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473" y="4038429"/>
            <a:ext cx="1878004" cy="5595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22670" y="3044371"/>
            <a:ext cx="253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백아의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〈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첫사랑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〉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" name="타원 29">
            <a:hlinkClick r:id="rId11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noaction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51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29" grpId="0"/>
      <p:bldP spid="2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42672" y="287996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6214" y="1639622"/>
            <a:ext cx="104738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나는 친구에게 좋은 영향을 줄 수 있는 사람인지 되돌아보고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어떤 친구로 기억되고 싶은지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888224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61520" y="2879967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</a:t>
            </a:r>
            <a:r>
              <a:rPr lang="en-US" altLang="ko-KR" b="1" smtClean="0">
                <a:latin typeface="+mj-ea"/>
                <a:ea typeface="+mj-ea"/>
              </a:rPr>
              <a:t>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1652" y="3025028"/>
            <a:ext cx="81260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나는 어떤 일을 겪든 긍정적으로 생각하는 장점이 있다</a:t>
            </a:r>
            <a:r>
              <a:rPr lang="en-US" altLang="ko-KR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나에게 이러한 장점이 있기 때문에 친구가 심적으로 지치고 힘들 때 이를 긍정적으로 이겨낼 수 있도록 힘을 준 적이 많았다</a:t>
            </a:r>
            <a:r>
              <a:rPr lang="en-US" altLang="ko-KR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앞으로도 나는 친구가 지치고 힘들 때 이를 긍정적으로 이겨낼 수 있도록 도움을 주는 친구가 되고 싶다</a:t>
            </a:r>
            <a:r>
              <a:rPr lang="en-US" altLang="ko-KR" sz="2400" dirty="0">
                <a:solidFill>
                  <a:srgbClr val="0070C0"/>
                </a:solidFill>
                <a:latin typeface="맑은 고딕" panose="020B0503020000020004" pitchFamily="50" charset="-127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43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</a:t>
            </a:r>
            <a:r>
              <a:rPr lang="en-US" altLang="ko-KR" sz="2800" b="1" smtClean="0">
                <a:solidFill>
                  <a:schemeClr val="tx1"/>
                </a:solidFill>
              </a:rPr>
              <a:t>02.</a:t>
            </a:r>
            <a:r>
              <a:rPr lang="ko-KR" altLang="en-US" sz="2800" b="1">
                <a:solidFill>
                  <a:schemeClr val="tx1"/>
                </a:solidFill>
              </a:rPr>
              <a:t> </a:t>
            </a:r>
            <a:r>
              <a:rPr lang="ko-KR" altLang="en-US" sz="2800" b="1" smtClean="0">
                <a:solidFill>
                  <a:schemeClr val="tx1"/>
                </a:solidFill>
              </a:rPr>
              <a:t>서로 존중하는 친구 관계를 어떻게 맺을까</a:t>
            </a:r>
            <a:r>
              <a:rPr lang="en-US" altLang="ko-KR" sz="2800" b="1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친구와 우정의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친구란 나와 오랫동안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친밀 </a:t>
            </a:r>
            <a:r>
              <a:rPr sz="2400" b="0">
                <a:solidFill>
                  <a:srgbClr val="262626"/>
                </a:solidFill>
              </a:rPr>
              <a:t>하게 사귄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초등학교 때부터 같은 학원 차를 탄 단짝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친구와 친밀하게 지내며 쌓은 정서적 유대감이나 정(情)을 ‘우정’이라고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말하지 않아도 내 표정만 보고 “무슨 일 있어?” 묻는 마음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우정은 상대방을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소중 </a:t>
            </a:r>
            <a:r>
              <a:rPr sz="2400" b="0">
                <a:solidFill>
                  <a:srgbClr val="262626"/>
                </a:solidFill>
              </a:rPr>
              <a:t>히 여기고 상대방이 잘되기를 바라는 마음을 바탕으로 이루어지며, 이러한 마음을 바탕으로 돈독해진 우정은 쉽게 변하지 않으며 우리 삶을 의미 있게 만듦.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친구란 나와 오랫동안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친밀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사귄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초등학교 때부터 같은 학원 차를 탄 단짝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친구와 친밀하게 지내며 쌓은 정서적 유대감이나 정(情)을 ‘우정’이라고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말하지 않아도 내 표정만 보고 “무슨 일 있어?” 묻는 마음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우정은 상대방을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히 여기고 상대방이 잘되기를 바라는 마음을 바탕으로 이루어지며, 이러한 마음을 바탕으로 돈독해진 우정은 쉽게 변하지 않으며 우리 삶을 의미 있게 만듦.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친구란 나와 오랫동안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친밀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사귄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초등학교 때부터 같은 학원 차를 탄 단짝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친구와 친밀하게 지내며 쌓은 정서적 유대감이나 정(情)을 ‘우정’이라고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말하지 않아도 내 표정만 보고 “무슨 일 있어?” 묻는 마음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우정은 상대방을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히 여기고 상대방이 잘되기를 바라는 마음을 바탕으로 이루어지며, 이러한 마음을 바탕으로 돈독해진 우정은 쉽게 변하지 않으며 우리 삶을 의미 있게 만듦.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친구란 나와 오랫동안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친밀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사귄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초등학교 때부터 같은 학원 차를 탄 단짝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친구와 친밀하게 지내며 쌓은 정서적 유대감이나 정(情)을 ‘우정’이라고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말하지 않아도 내 표정만 보고 “무슨 일 있어?” 묻는 마음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우정은 상대방을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히 여기고 상대방이 잘되기를 바라는 마음을 바탕으로 이루어지며, 이러한 마음을 바탕으로 돈독해진 우정은 쉽게 변하지 않으며 우리 삶을 의미 있게 만듦.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친구란 나와 오랫동안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친밀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사귄 사람을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초등학교 때부터 같은 학원 차를 탄 단짝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친구와 친밀하게 지내며 쌓은 정서적 유대감이나 정(情)을 ‘우정’이라고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말하지 않아도 내 표정만 보고 “무슨 일 있어?” 묻는 마음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우정은 상대방을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소중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히 여기고 상대방이 잘되기를 바라는 마음을 바탕으로 이루어지며, 이러한 마음을 바탕으로 돈독해진 우정은 쉽게 변하지 않으며 우리 삶을 의미 있게 만듦.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나를 알아준 친구 포숙아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기원전 7세기 · 중국 춘추 시대 제나라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장사 · 관중이 이익을 더 가져가도 “집이 가난해서”라며 감쌌다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전쟁 · 관중이 도망쳐도 “늙은 어머니가 계셔서”라고 이해했다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추천 · 적이 된 관중을 왕에게 재상으로 추천했다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관중 · “나를 낳은 이는 부모, 나를 알아준 이는 포숙아”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포숙아가 보여 준 친구의 모습은?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기원전 7세기 · 중국 춘추 시대 제나라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장사 · 관중이 이익을 더 가져가도 “집이 가난해서”라며 감쌌다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전쟁 · 관중이 도망쳐도 “늙은 어머니가 계셔서”라고 이해했다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추천 · 적이 된 관중을 왕에게 재상으로 추천했다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관중 · “나를 낳은 이는 부모, 나를 알아준 이는 포숙아”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포숙아가 보여 준 친구의 모습은?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우정의 가치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정서적 안정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친구와 함께 기쁨과 슬픔 등 다양한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감정 </a:t>
            </a:r>
            <a:r>
              <a:rPr sz="2400" b="0">
                <a:solidFill>
                  <a:srgbClr val="262626"/>
                </a:solidFill>
              </a:rPr>
              <a:t>을 나누면서 정서적 안정을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시험을 망친 날 친구가 사 준 떡볶이 한 접시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친구와 나누는 우정은 살아가면서 겪는 어려움을 극복하여 건강한 삶을 살아가도록 하는 버팀목이 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성숙한 인격 형성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친구와 우정을 나누는 가운데 성숙한 인격을 형성할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정서적 안정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함께 기쁨과 슬픔 등 다양한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감정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나누면서 정서적 안정을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시험을 망친 날 친구가 사 준 떡볶이 한 접시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나누는 우정은 살아가면서 겪는 어려움을 극복하여 건강한 삶을 살아가도록 하는 버팀목이 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성숙한 인격 형성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나누는 가운데 성숙한 인격을 형성할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정서적 안정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함께 기쁨과 슬픔 등 다양한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감정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나누면서 정서적 안정을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시험을 망친 날 친구가 사 준 떡볶이 한 접시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나누는 우정은 살아가면서 겪는 어려움을 극복하여 건강한 삶을 살아가도록 하는 버팀목이 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성숙한 인격 형성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나누는 가운데 성숙한 인격을 형성할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우정의 가치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청소년기 </a:t>
            </a:r>
            <a:r>
              <a:rPr sz="2400" b="0">
                <a:solidFill>
                  <a:srgbClr val="262626"/>
                </a:solidFill>
              </a:rPr>
              <a:t>에 많은 시간을 함께 보내는 친구들과 긍정적인 영향을 주고받는다면 더 나은 모습으로 변화할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사회성 함양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친구와 우정을 나누며 공동체 구성원으로서 다른 사람과 더불어 살아가는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방법 </a:t>
            </a:r>
            <a:r>
              <a:rPr sz="2400" b="0">
                <a:solidFill>
                  <a:srgbClr val="262626"/>
                </a:solidFill>
              </a:rPr>
              <a:t>을 배움.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활동에서 의견을 조율하는 법을 친구들과 익힌다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학교 안팎에서 기본적인 사회 규범 등을 익히며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사회적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존재 </a:t>
            </a:r>
            <a:r>
              <a:rPr sz="2400" b="0">
                <a:solidFill>
                  <a:srgbClr val="262626"/>
                </a:solidFill>
              </a:rPr>
              <a:t>로 성장할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청소년기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많은 시간을 함께 보내는 친구들과 긍정적인 영향을 주고받는다면 더 나은 모습으로 변화할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사회성 함양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나누며 공동체 구성원으로서 다른 사람과 더불어 살아가는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배움.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활동에서 의견을 조율하는 법을 친구들과 익힌다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학교 안팎에서 기본적인 사회 규범 등을 익히며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성장할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청소년기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많은 시간을 함께 보내는 친구들과 긍정적인 영향을 주고받는다면 더 나은 모습으로 변화할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사회성 함양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나누며 공동체 구성원으로서 다른 사람과 더불어 살아가는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방법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배움.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활동에서 의견을 조율하는 법을 친구들과 익힌다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학교 안팎에서 기본적인 사회 규범 등을 익히며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성장할 수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청소년기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많은 시간을 함께 보내는 친구들과 긍정적인 영향을 주고받는다면 더 나은 모습으로 변화할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사회성 함양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나누며 공동체 구성원으로서 다른 사람과 더불어 살아가는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배움.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모둠 활동에서 의견을 조율하는 법을 친구들과 익힌다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학교 안팎에서 기본적인 사회 규범 등을 익히며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성장할 수 있음.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청소년기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많은 시간을 함께 보내는 친구들과 긍정적인 영향을 주고받는다면 더 나은 모습으로 변화할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사회성 함양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나누며 공동체 구성원으로서 다른 사람과 더불어 살아가는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배움.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활동에서 의견을 조율하는 법을 친구들과 익힌다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학교 안팎에서 기본적인 사회 규범 등을 익히며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존재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성장할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청소년기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많은 시간을 함께 보내는 친구들과 긍정적인 영향을 주고받는다면 더 나은 모습으로 변화할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사회성 함양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친구와 우정을 나누며 공동체 구성원으로서 다른 사람과 더불어 살아가는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배움.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활동에서 의견을 조율하는 법을 친구들과 익힌다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학교 안팎에서 기본적인 사회 규범 등을 익히며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존재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성장할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세 가지 우정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81쪽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쓸모 · 서로에게 이익이 되어서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즐거움 · 함께 있으면 재밌어서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좋은 사람 · 그 사람의 됨됨이가 좋아서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친구란 나와 우연히 만나게 된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우정은 상대방이 잘되기를 바라는 마음을 바탕으로 이루어진다.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친구와 우정을 나누는 가운데 성숙한 인격을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친구와 우정을 나누면 사회성을 함양하기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친구란 나와 우연히 만나게 된 사람을 의미한다.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우정은 상대방이 잘되기를 바라는 마음을 바탕으로 이루어진다.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친구와 우정을 나누는 가운데 성숙한 인격을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친구와 우정을 나누면 사회성을 함양하기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친구란 나와 우연히 만나게 된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우정은 상대방이 잘되기를 바라는 마음을 바탕으로 이루어진다.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친구와 우정을 나누는 가운데 성숙한 인격을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친구와 우정을 나누면 사회성을 함양하기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친구란 나와 우연히 만나게 된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우정은 상대방이 잘되기를 바라는 마음을 바탕으로 이루어진다.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친구와 우정을 나누는 가운데 성숙한 인격을 형성할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친구와 우정을 나누면 사회성을 함양하기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친구란 나와 우연히 만나게 된 사람을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우정은 상대방이 잘되기를 바라는 마음을 바탕으로 이루어진다.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친구와 우정을 나누는 가운데 성숙한 인격을 형성할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친구와 우정을 나누면 사회성을 함양하기 어렵다.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smtClean="0">
                <a:solidFill>
                  <a:srgbClr val="FFFF00"/>
                </a:solidFill>
                <a:latin typeface="+mn-ea"/>
              </a:rPr>
              <a:t>이 사람도 나의 친구일까? · 친구라고 생각하는 사람 수 세기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얼굴만 아는 같은 학교 학생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매일 거리에서 마주치는 사람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매일 독서실에 함께 다니는 언니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어릴 적부터 친한 옆집 아이   ✋ ____ 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우정의 어떤 가치일까?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/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/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(사회성)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/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(사회성)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/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(사회성)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/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(사회성)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/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(사회성)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/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(사회성)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어느 칸일까? 정서적 안정 · 인격 형성 · 사회성 함양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1. 시험 걱정을 털어놓자 친구가 위로해 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(감정을 나누며 안정을 얻음)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2. 말을 예쁘게 하는 친구를 보고 나도 말투를 고쳤다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(친구를 본받아 성장)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3. 동아리 활동을 함께하며 규칙과 책임을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사회성 함양 (더불어 사는 방법)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4. 맡은 일을 끝까지 하는 친구에게 성실함을 배웠다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인격 형성 (인격 형성)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5. 힘든 날 친구의 문자 하나에 기운이 났다</a:t>
            </a:r>
            <a:r>
              <a:rPr sz="2200" b="1">
                <a:solidFill>
                  <a:srgbClr val="C0392B">
                    <a:alpha val="0"/>
                  </a:srgbClr>
                </a:solidFill>
              </a:rPr>
              <a:t>   → 정서적 안정 (정서적 안정)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6. 모둠 활동에서 의견을 조율하는 법을 익혔다</a:t>
            </a:r>
            <a:r>
              <a:rPr sz="2200" b="1">
                <a:solidFill>
                  <a:srgbClr val="C0392B"/>
                </a:solidFill>
              </a:rPr>
              <a:t>   → 사회성 함양 (사회성)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친구란 ○○이다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친구의 의미와 가치는 무엇일까</a:t>
            </a:r>
            <a:r>
              <a:rPr lang="en-US" altLang="ko-KR" b="1" smtClean="0">
                <a:latin typeface="+mj-ea"/>
                <a:ea typeface="+mj-ea"/>
              </a:rPr>
              <a:t>? 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우정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친구란 무엇일까? 까닭은?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친구는 우산이다. 비 오는 날 함께 써 주니까.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친구란 무엇일까? 까닭은?</a:t>
            </a:r>
            <a:r>
              <a:rPr sz="2300" b="1">
                <a:solidFill>
                  <a:srgbClr val="C0392B"/>
                </a:solidFill>
              </a:rPr>
              <a:t>   예) 친구는 우산이다. 비 오는 날 함께 써 주니까.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8666</TotalTime>
  <Words>1250</Words>
  <Application>Microsoft Office PowerPoint</Application>
  <PresentationFormat>와이드스크린</PresentationFormat>
  <Paragraphs>197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203</cp:revision>
  <cp:lastPrinted>2024-06-05T04:53:22Z</cp:lastPrinted>
  <dcterms:created xsi:type="dcterms:W3CDTF">2023-10-31T05:50:03Z</dcterms:created>
  <dcterms:modified xsi:type="dcterms:W3CDTF">2025-01-10T06:37:32Z</dcterms:modified>
</cp:coreProperties>
</file>