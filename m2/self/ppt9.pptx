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8"/>
  </p:notesMasterIdLst>
  <p:handoutMasterIdLst>
    <p:handoutMasterId r:id="rId29"/>
  </p:handoutMasterIdLst>
  <p:sldIdLst>
    <p:sldId id="302" r:id="rId2"/>
    <p:sldId id="301" r:id="rId3"/>
    <p:sldId id="258" r:id="rId4"/>
    <p:sldId id="391" r:id="rId5"/>
    <p:sldId id="366" r:id="rId6"/>
    <p:sldId id="405" r:id="rId7"/>
    <p:sldId id="407" r:id="rId8"/>
    <p:sldId id="408" r:id="rId9"/>
    <p:sldId id="409" r:id="rId10"/>
    <p:sldId id="410" r:id="rId11"/>
    <p:sldId id="406" r:id="rId12"/>
    <p:sldId id="412" r:id="rId13"/>
    <p:sldId id="413" r:id="rId14"/>
    <p:sldId id="427" r:id="rId35"/>
    <p:sldId id="428" r:id="rId36"/>
    <p:sldId id="429" r:id="rId37"/>
    <p:sldId id="396" r:id="rId15"/>
    <p:sldId id="414" r:id="rId16"/>
    <p:sldId id="395" r:id="rId17"/>
    <p:sldId id="415" r:id="rId18"/>
    <p:sldId id="416" r:id="rId19"/>
    <p:sldId id="403" r:id="rId20"/>
    <p:sldId id="430" r:id="rId38"/>
    <p:sldId id="431" r:id="rId39"/>
    <p:sldId id="432" r:id="rId40"/>
    <p:sldId id="433" r:id="rId41"/>
    <p:sldId id="434" r:id="rId42"/>
    <p:sldId id="417" r:id="rId21"/>
    <p:sldId id="424" r:id="rId22"/>
    <p:sldId id="426" r:id="rId23"/>
    <p:sldId id="422" r:id="rId24"/>
    <p:sldId id="419" r:id="rId25"/>
    <p:sldId id="423" r:id="rId26"/>
    <p:sldId id="435" r:id="rId43"/>
    <p:sldId id="436" r:id="rId44"/>
    <p:sldId id="437" r:id="rId45"/>
    <p:sldId id="348" r:id="rId27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3C0C"/>
    <a:srgbClr val="6081C0"/>
    <a:srgbClr val="C8C7C8"/>
    <a:srgbClr val="99DAF6"/>
    <a:srgbClr val="E8F6FD"/>
    <a:srgbClr val="B79A75"/>
    <a:srgbClr val="F3F2FF"/>
    <a:srgbClr val="E7DBD3"/>
    <a:srgbClr val="FFF7EE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242" autoAdjust="0"/>
  </p:normalViewPr>
  <p:slideViewPr>
    <p:cSldViewPr snapToGrid="0">
      <p:cViewPr varScale="1">
        <p:scale>
          <a:sx n="84" d="100"/>
          <a:sy n="84" d="100"/>
        </p:scale>
        <p:origin x="114" y="294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commentAuthors" Target="commentAuthors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64쪽 활동</a:t>
            </a:r>
          </a:p>
          <a:p>
            <a:r>
              <a:t>요리사(위생적인 조리), 경찰관, 버스 운전사, 기자, 교사에게 필요한 태도를 쓰고 공통점을 찾는다. 양심: 도덕적으로 올바른 행동을 하도록 하는 마음의 명령.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직업별 윤리 강령</a:t>
            </a:r>
          </a:p>
          <a:p>
            <a:r>
              <a:t>많은 직업 단체가 윤리 강령을 만든다. 예: 세계 의사회 「제네바 선언」, 한국기자협회 윤리 강령, 공무원 행동 강령.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직업적 책임</a:t>
            </a:r>
          </a:p>
          <a:p>
            <a:r>
              <a:t>US 에어웨이스 1549편. 엔진이 멈춘 뒤 착수까지 약 3분 30초. 수십 년의 훈련과 승객의 생명을 지키는 책임감이 만든 결과.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직업윤리를 저버린 결과</a:t>
            </a:r>
          </a:p>
          <a:p>
            <a:r>
              <a:t>부실 공사, 불법 증축, 감독 기관의 비리, 위험 신호를 무시한 경영진. 사고 장면 묘사는 하지 않고 원인과 교훈에 집중한다.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공익 신고</a:t>
            </a:r>
          </a:p>
          <a:p>
            <a:r>
              <a:t>우리나라는 「공익 신고자 보호법」(2011 시행)으로 공익을 위해 내부의 잘못을 알린 사람을 보호한다.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직업윤리의 일반성과 특수성을 가리고, 이야기 이어 쓰기를 해 보자.</a:t>
            </a:r>
          </a:p>
          <a:p>
            <a:r>
              <a:t>⏱ 모둠 이야기 이어 쓰기 (67쪽) 6분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직업윤리의 일반성과 특수성을 가리고, 이야기 이어 쓰기를 해 보자.</a:t>
            </a:r>
          </a:p>
          <a:p>
            <a:r>
              <a:t>⏱ 모둠 이야기 이어 쓰기 (67쪽) 6분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9.xml"/><Relationship Id="rId8" Type="http://schemas.openxmlformats.org/officeDocument/2006/relationships/slide" Target="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10.xml"/><Relationship Id="rId8" Type="http://schemas.openxmlformats.org/officeDocument/2006/relationships/slide" Target="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7.xml"/><Relationship Id="rId8" Type="http://schemas.openxmlformats.org/officeDocument/2006/relationships/slide" Target="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7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9.png"/><Relationship Id="rId6" Type="http://schemas.openxmlformats.org/officeDocument/2006/relationships/slide" Target="slide23.xml"/><Relationship Id="rId7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21.xml"/><Relationship Id="rId8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1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직업윤리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454485"/>
            <a:ext cx="6933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atin typeface="Arial Rounded MT Bold" panose="020F0704030504030204" pitchFamily="34" charset="0"/>
              </a:rPr>
              <a:t>직업윤리가 필요한 </a:t>
            </a:r>
            <a:endParaRPr lang="en-US" altLang="ko-KR" sz="5400" b="1" dirty="0" smtClean="0">
              <a:latin typeface="Arial Rounded MT Bold" panose="020F0704030504030204" pitchFamily="34" charset="0"/>
            </a:endParaRPr>
          </a:p>
          <a:p>
            <a:r>
              <a:rPr lang="ko-KR" altLang="en-US" sz="5400" b="1" dirty="0" smtClean="0">
                <a:latin typeface="Arial Rounded MT Bold" panose="020F0704030504030204" pitchFamily="34" charset="0"/>
              </a:rPr>
              <a:t>까닭은 </a:t>
            </a:r>
            <a:r>
              <a:rPr lang="ko-KR" altLang="en-US" sz="5400" b="1" dirty="0">
                <a:latin typeface="Arial Rounded MT Bold" panose="020F0704030504030204" pitchFamily="34" charset="0"/>
              </a:rPr>
              <a:t>무엇일까</a:t>
            </a:r>
            <a:r>
              <a:rPr lang="en-US" altLang="ko-KR" sz="5400" b="1" dirty="0">
                <a:latin typeface="Arial Rounded MT Bold" panose="020F0704030504030204" pitchFamily="34" charset="0"/>
              </a:rPr>
              <a:t>?</a:t>
            </a:r>
            <a:endParaRPr lang="ko-KR" altLang="en-US" sz="54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 err="1" smtClean="0">
                <a:solidFill>
                  <a:schemeClr val="dk1"/>
                </a:solidFill>
                <a:latin typeface="+mn-ea"/>
              </a:rPr>
              <a:t>직업윤리의</a:t>
            </a:r>
            <a:r>
              <a:rPr lang="ko-KR" altLang="en-US" sz="2800" b="1" dirty="0" smtClean="0">
                <a:solidFill>
                  <a:schemeClr val="dk1"/>
                </a:solidFill>
                <a:latin typeface="+mn-ea"/>
              </a:rPr>
              <a:t> </a:t>
            </a:r>
            <a:r>
              <a:rPr lang="ko-KR" altLang="en-US" sz="2800" b="1" dirty="0">
                <a:solidFill>
                  <a:schemeClr val="dk1"/>
                </a:solidFill>
                <a:latin typeface="+mn-ea"/>
              </a:rPr>
              <a:t>의미와 필요성을 설명할 수 있다</a:t>
            </a:r>
            <a:r>
              <a:rPr lang="en-US" altLang="ko-KR" sz="2800" b="1" dirty="0">
                <a:solidFill>
                  <a:schemeClr val="dk1"/>
                </a:solidFill>
                <a:latin typeface="+mn-ea"/>
              </a:rPr>
              <a:t>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968530"/>
            <a:ext cx="10293350" cy="787400"/>
            <a:chOff x="914400" y="2362200"/>
            <a:chExt cx="10293350" cy="787400"/>
          </a:xfrm>
        </p:grpSpPr>
        <p:sp>
          <p:nvSpPr>
            <p:cNvPr id="32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2977777"/>
            <a:ext cx="9228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 smtClean="0">
                <a:solidFill>
                  <a:schemeClr val="dk1"/>
                </a:solidFill>
                <a:latin typeface="+mn-ea"/>
              </a:rPr>
              <a:t>직업적 </a:t>
            </a:r>
            <a:r>
              <a:rPr lang="ko-KR" altLang="en-US" sz="2800" b="1" dirty="0">
                <a:solidFill>
                  <a:schemeClr val="dk1"/>
                </a:solidFill>
                <a:latin typeface="+mn-ea"/>
              </a:rPr>
              <a:t>양심을 키워 가는 자세를 </a:t>
            </a:r>
            <a:r>
              <a:rPr lang="ko-KR" altLang="en-US" sz="2800" b="1" dirty="0" smtClean="0">
                <a:solidFill>
                  <a:schemeClr val="dk1"/>
                </a:solidFill>
                <a:latin typeface="+mn-ea"/>
              </a:rPr>
              <a:t>지닌다</a:t>
            </a:r>
            <a:r>
              <a:rPr lang="en-US" altLang="ko-KR" sz="2800" b="1" dirty="0" smtClean="0">
                <a:solidFill>
                  <a:schemeClr val="dk1"/>
                </a:solidFill>
                <a:latin typeface="+mn-ea"/>
              </a:rPr>
              <a:t>.</a:t>
            </a:r>
            <a:endParaRPr lang="en-US" altLang="ko-KR" sz="2800" b="1" dirty="0">
              <a:solidFill>
                <a:schemeClr val="dk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01489" y="942681"/>
            <a:ext cx="675717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719757" y="1444938"/>
            <a:ext cx="10539934" cy="4733271"/>
            <a:chOff x="719757" y="1444938"/>
            <a:chExt cx="10539934" cy="4733271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9757" y="1484945"/>
              <a:ext cx="10420350" cy="4543425"/>
            </a:xfrm>
            <a:prstGeom prst="rect">
              <a:avLst/>
            </a:prstGeom>
          </p:spPr>
        </p:pic>
        <p:sp>
          <p:nvSpPr>
            <p:cNvPr id="7" name="직사각형 6"/>
            <p:cNvSpPr/>
            <p:nvPr/>
          </p:nvSpPr>
          <p:spPr>
            <a:xfrm>
              <a:off x="9951522" y="1444938"/>
              <a:ext cx="1308169" cy="212261"/>
            </a:xfrm>
            <a:prstGeom prst="rect">
              <a:avLst/>
            </a:prstGeom>
            <a:solidFill>
              <a:srgbClr val="E8F6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1067802" y="1588239"/>
              <a:ext cx="96055" cy="632447"/>
            </a:xfrm>
            <a:prstGeom prst="rect">
              <a:avLst/>
            </a:prstGeom>
            <a:solidFill>
              <a:srgbClr val="E8F6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860973" y="5965948"/>
              <a:ext cx="1308169" cy="212261"/>
            </a:xfrm>
            <a:prstGeom prst="rect">
              <a:avLst/>
            </a:prstGeom>
            <a:solidFill>
              <a:srgbClr val="E8F6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8390423" y="5962246"/>
              <a:ext cx="1308169" cy="212261"/>
            </a:xfrm>
            <a:prstGeom prst="rect">
              <a:avLst/>
            </a:prstGeom>
            <a:solidFill>
              <a:srgbClr val="E8F6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9927772" y="1656861"/>
              <a:ext cx="1141909" cy="480697"/>
            </a:xfrm>
            <a:prstGeom prst="rect">
              <a:avLst/>
            </a:prstGeom>
            <a:solidFill>
              <a:srgbClr val="99DA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2091747" y="5614003"/>
              <a:ext cx="447062" cy="348243"/>
            </a:xfrm>
            <a:prstGeom prst="rect">
              <a:avLst/>
            </a:prstGeom>
            <a:solidFill>
              <a:srgbClr val="C8C7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8820976" y="5611706"/>
              <a:ext cx="447062" cy="348243"/>
            </a:xfrm>
            <a:prstGeom prst="rect">
              <a:avLst/>
            </a:prstGeom>
            <a:solidFill>
              <a:srgbClr val="C8C7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01489" y="942681"/>
            <a:ext cx="675717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타원 2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061348" y="1499089"/>
            <a:ext cx="9882842" cy="4700929"/>
            <a:chOff x="1061348" y="1499089"/>
            <a:chExt cx="9882842" cy="4700929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1348" y="1499089"/>
              <a:ext cx="9882842" cy="4700929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2515058" y="1499089"/>
              <a:ext cx="299394" cy="139706"/>
            </a:xfrm>
            <a:prstGeom prst="rect">
              <a:avLst/>
            </a:prstGeom>
            <a:solidFill>
              <a:srgbClr val="6081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8569494" y="1499089"/>
              <a:ext cx="299394" cy="139706"/>
            </a:xfrm>
            <a:prstGeom prst="rect">
              <a:avLst/>
            </a:prstGeom>
            <a:solidFill>
              <a:srgbClr val="6081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1596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80359"/>
            <a:ext cx="10293350" cy="2534788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만화를 보고 </a:t>
            </a:r>
            <a:r>
              <a:rPr lang="ko-KR" altLang="en-US" sz="2000" b="1" dirty="0" smtClean="0">
                <a:latin typeface="+mn-ea"/>
              </a:rPr>
              <a:t>△△ 건물과 ○○ 건물의 </a:t>
            </a:r>
            <a:r>
              <a:rPr lang="ko-KR" altLang="en-US" sz="2000" b="1" dirty="0">
                <a:latin typeface="+mn-ea"/>
              </a:rPr>
              <a:t>피해 정도가 다른 까닭은 </a:t>
            </a:r>
            <a:r>
              <a:rPr lang="ko-KR" altLang="en-US" sz="2000" b="1" dirty="0" smtClean="0">
                <a:latin typeface="+mn-ea"/>
              </a:rPr>
              <a:t>무엇인지 </a:t>
            </a:r>
            <a:r>
              <a:rPr lang="ko-KR" altLang="en-US" sz="2000" b="1" dirty="0">
                <a:latin typeface="+mn-ea"/>
              </a:rPr>
              <a:t>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3" name="그림 3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9957"/>
            <a:ext cx="487174" cy="487174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39957"/>
            <a:ext cx="1087577" cy="495431"/>
            <a:chOff x="10075659" y="2003022"/>
            <a:chExt cx="1156006" cy="495431"/>
          </a:xfrm>
        </p:grpSpPr>
        <p:pic>
          <p:nvPicPr>
            <p:cNvPr id="36" name="그림 3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01489" y="942681"/>
            <a:ext cx="675717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08654" y="2912090"/>
            <a:ext cx="95634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△△ 건물을 지은 사람은 건설 비용을 줄이려고 건설에 필요한 철근을 뺐고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◯◯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건물을 지은 사람은 안전 기준을 지켜 원칙대로 일했기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2070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40" grpId="0"/>
      <p:bldP spid="4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924195"/>
            <a:ext cx="8350506" cy="493380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7401" y="1613182"/>
            <a:ext cx="80478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다음 그림의 각 직업에서 지녀야 하는 바람직한 태도를 써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61743" y="2266245"/>
            <a:ext cx="275719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mtClean="0">
                <a:latin typeface="+mn-ea"/>
              </a:rPr>
              <a:t>요리사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561743" y="2820243"/>
            <a:ext cx="3814182" cy="318666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40341" y="2818125"/>
            <a:ext cx="34566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 smtClean="0">
                <a:latin typeface="+mn-ea"/>
              </a:rPr>
              <a:t>(</a:t>
            </a:r>
            <a:r>
              <a:rPr lang="ko-KR" altLang="en-US" sz="2400" dirty="0" smtClean="0">
                <a:latin typeface="+mn-ea"/>
              </a:rPr>
              <a:t>예</a:t>
            </a:r>
            <a:r>
              <a:rPr lang="en-US" altLang="ko-KR" sz="2400" dirty="0" smtClean="0">
                <a:latin typeface="+mn-ea"/>
              </a:rPr>
              <a:t>) </a:t>
            </a:r>
            <a:r>
              <a:rPr lang="ko-KR" altLang="en-US" sz="2400" dirty="0" smtClean="0">
                <a:latin typeface="+mn-ea"/>
              </a:rPr>
              <a:t>식재료에 </a:t>
            </a:r>
            <a:r>
              <a:rPr lang="ko-KR" altLang="en-US" sz="2400" dirty="0">
                <a:latin typeface="+mn-ea"/>
              </a:rPr>
              <a:t>맞는 </a:t>
            </a:r>
            <a:r>
              <a:rPr lang="ko-KR" altLang="en-US" sz="2400" dirty="0" err="1" smtClean="0">
                <a:latin typeface="+mn-ea"/>
              </a:rPr>
              <a:t>보관법과</a:t>
            </a:r>
            <a:r>
              <a:rPr lang="ko-KR" altLang="en-US" sz="2400" dirty="0" smtClean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조리법을 </a:t>
            </a:r>
            <a:r>
              <a:rPr lang="ko-KR" altLang="en-US" sz="2400" dirty="0" smtClean="0">
                <a:latin typeface="+mn-ea"/>
              </a:rPr>
              <a:t>알고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위생적으로 음식을 만들어야 </a:t>
            </a:r>
            <a:r>
              <a:rPr lang="ko-KR" altLang="en-US" sz="2400" dirty="0" smtClean="0">
                <a:latin typeface="+mn-ea"/>
              </a:rPr>
              <a:t>한다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669475" y="2167180"/>
            <a:ext cx="819398" cy="144291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hlinkClick r:id="" action="ppaction://hlinkshowjump?jump=next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hlinkClick r:id="rId5" action="ppaction://hlinksldjump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hlinkClick r:id="rId6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hlinkClick r:id="rId7" action="ppaction://hlinksldjump"/>
          </p:cNvPr>
          <p:cNvSpPr/>
          <p:nvPr/>
        </p:nvSpPr>
        <p:spPr>
          <a:xfrm>
            <a:off x="6825226" y="6259303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/>
          <p:cNvSpPr/>
          <p:nvPr/>
        </p:nvSpPr>
        <p:spPr>
          <a:xfrm>
            <a:off x="5243726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69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924195"/>
            <a:ext cx="8350506" cy="493380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7401" y="1613182"/>
            <a:ext cx="80478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다음 그림의 각 직업에서 지녀야 하는 바람직한 태도를 써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61743" y="2266245"/>
            <a:ext cx="275719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경찰관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561743" y="2820243"/>
            <a:ext cx="3814182" cy="318666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9" name="그림 28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8751" y="2224387"/>
            <a:ext cx="487174" cy="487174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771275" y="2224387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7740341" y="2818125"/>
            <a:ext cx="34566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국민의 생명과 안전을 지키고자 하는 책임감을 지니고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공정하고 친절하게 일해야 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34" name="타원 33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hlinkClick r:id="rId7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hlinkClick r:id="rId8" action="ppaction://hlinksldjump"/>
          </p:cNvPr>
          <p:cNvSpPr/>
          <p:nvPr/>
        </p:nvSpPr>
        <p:spPr>
          <a:xfrm>
            <a:off x="6825226" y="6259303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hlinkClick r:id="" action="ppaction://hlinkshowjump?jump=previousslide"/>
          </p:cNvPr>
          <p:cNvSpPr/>
          <p:nvPr/>
        </p:nvSpPr>
        <p:spPr>
          <a:xfrm>
            <a:off x="5243726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4321543" y="2820143"/>
            <a:ext cx="819398" cy="144291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598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33" grpId="0"/>
      <p:bldP spid="3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924195"/>
            <a:ext cx="8350506" cy="493380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7401" y="1613182"/>
            <a:ext cx="80478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다음 그림의 각 직업에서 지녀야 하는 바람직한 태도를 써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61743" y="2266245"/>
            <a:ext cx="275719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버스 운전사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561743" y="2820243"/>
            <a:ext cx="3814182" cy="318666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9" name="그림 28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8751" y="2224387"/>
            <a:ext cx="487174" cy="487174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771275" y="2224387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7740341" y="2818125"/>
            <a:ext cx="34566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승객들이 안전하게 목적지에 도착할 수 있도록 교통 법규를 잘 지키고 안전 운행을 해야 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34" name="타원 33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hlinkClick r:id="rId7" action="ppaction://hlinksldjump"/>
          </p:cNvPr>
          <p:cNvSpPr/>
          <p:nvPr/>
        </p:nvSpPr>
        <p:spPr>
          <a:xfrm>
            <a:off x="6825226" y="6259303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hlinkClick r:id="rId8" action="ppaction://hlinksldjump"/>
          </p:cNvPr>
          <p:cNvSpPr/>
          <p:nvPr/>
        </p:nvSpPr>
        <p:spPr>
          <a:xfrm>
            <a:off x="5243726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2755900" y="3250827"/>
            <a:ext cx="1320799" cy="144291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25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33" grpId="0"/>
      <p:bldP spid="3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924195"/>
            <a:ext cx="8350506" cy="493380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7401" y="1613182"/>
            <a:ext cx="80478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다음 그림의 각 직업에서 지녀야 하는 바람직한 태도를 써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61743" y="2266245"/>
            <a:ext cx="275719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기자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561743" y="2820243"/>
            <a:ext cx="3814182" cy="318666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9" name="그림 28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8751" y="2224387"/>
            <a:ext cx="487174" cy="487174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771275" y="2224387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7740341" y="2818125"/>
            <a:ext cx="3456613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진실하고 객관적인 보도를 해야 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34" name="타원 33">
            <a:hlinkClick r:id="rId7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hlinkClick r:id="" action="ppaction://hlinkshowjump?jump=nextslide"/>
          </p:cNvPr>
          <p:cNvSpPr/>
          <p:nvPr/>
        </p:nvSpPr>
        <p:spPr>
          <a:xfrm>
            <a:off x="6825226" y="6259303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hlinkClick r:id="rId8" action="ppaction://hlinksldjump"/>
          </p:cNvPr>
          <p:cNvSpPr/>
          <p:nvPr/>
        </p:nvSpPr>
        <p:spPr>
          <a:xfrm>
            <a:off x="5243726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1730442" y="4550911"/>
            <a:ext cx="847657" cy="144291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2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33" grpId="0"/>
      <p:bldP spid="3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924195"/>
            <a:ext cx="8350506" cy="493380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7401" y="1613182"/>
            <a:ext cx="80478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다음 그림의 각 직업에서 지녀야 하는 바람직한 태도를 써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61743" y="2266245"/>
            <a:ext cx="275719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교사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561743" y="2820243"/>
            <a:ext cx="3814182" cy="318666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9" name="그림 28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8751" y="2224387"/>
            <a:ext cx="487174" cy="487174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771275" y="2224387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7740341" y="2818125"/>
            <a:ext cx="3456613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학생의 인격을 존중하고 학생이 올바르게 성장하도록 도와야 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34" name="타원 33">
            <a:hlinkClick r:id="rId7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hlinkClick r:id="rId8" action="ppaction://hlinksldjump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hlinkClick r:id="" action="ppaction://hlinkshowjump?jump=previous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/>
          <p:cNvSpPr/>
          <p:nvPr/>
        </p:nvSpPr>
        <p:spPr>
          <a:xfrm>
            <a:off x="6825226" y="6259303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hlinkClick r:id="rId9" action="ppaction://hlinksldjump"/>
          </p:cNvPr>
          <p:cNvSpPr/>
          <p:nvPr/>
        </p:nvSpPr>
        <p:spPr>
          <a:xfrm>
            <a:off x="5243726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5419380" y="4203700"/>
            <a:ext cx="900192" cy="140913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298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33" grpId="0"/>
      <p:bldP spid="3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91821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 smtClean="0">
                <a:latin typeface="+mn-ea"/>
              </a:rPr>
              <a:t>위 </a:t>
            </a:r>
            <a:r>
              <a:rPr lang="ko-KR" altLang="en-US" sz="2000" b="1" dirty="0">
                <a:latin typeface="+mn-ea"/>
              </a:rPr>
              <a:t>그림의 모든 직업에서 공통적으로 지녀야 하는 바람직한 태도를 써 </a:t>
            </a:r>
            <a:r>
              <a:rPr lang="ko-KR" altLang="en-US" sz="2000" b="1" dirty="0" smtClean="0">
                <a:latin typeface="+mn-ea"/>
              </a:rPr>
              <a:t>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517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517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63419"/>
            <a:ext cx="10293350" cy="173249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884288"/>
            <a:ext cx="9784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자기 직업에서 책임감을 가지고 성실하게 일해야 하며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정직하게 일해야 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8444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직업윤리의</a:t>
            </a:r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 의미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22056" y="1383186"/>
            <a:ext cx="11028475" cy="233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직업윤리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우리는 직업을 통해 많은 사람과 관계를 맺으며 영향을 </a:t>
            </a:r>
            <a:r>
              <a:rPr lang="ko-KR" altLang="en-US" sz="2400" dirty="0" smtClean="0">
                <a:latin typeface="+mn-ea"/>
              </a:rPr>
              <a:t>주고받음</a:t>
            </a:r>
            <a:r>
              <a:rPr lang="en-US" altLang="ko-KR" sz="2400" dirty="0" smtClean="0">
                <a:latin typeface="+mn-ea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따라서 </a:t>
            </a:r>
            <a:r>
              <a:rPr lang="ko-KR" altLang="en-US" sz="2400" dirty="0">
                <a:latin typeface="+mn-ea"/>
              </a:rPr>
              <a:t>직업 </a:t>
            </a:r>
            <a:r>
              <a:rPr lang="ko-KR" altLang="en-US" sz="2400" dirty="0" smtClean="0">
                <a:latin typeface="+mn-ea"/>
              </a:rPr>
              <a:t>생활에서도 </a:t>
            </a:r>
            <a:r>
              <a:rPr lang="ko-KR" altLang="en-US" sz="2400" dirty="0">
                <a:latin typeface="+mn-ea"/>
              </a:rPr>
              <a:t>직업적 양심을 바탕으로 지켜야 하는 마땅한 도리가 있는데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이를 </a:t>
            </a:r>
            <a:r>
              <a:rPr lang="ko-KR" altLang="en-US" sz="2400" dirty="0" smtClean="0">
                <a:latin typeface="+mn-ea"/>
              </a:rPr>
              <a:t>‘</a:t>
            </a:r>
            <a:r>
              <a:rPr lang="ko-KR" altLang="en-US" sz="2400" dirty="0" err="1">
                <a:latin typeface="+mn-ea"/>
              </a:rPr>
              <a:t>직업윤리’라고</a:t>
            </a:r>
            <a:r>
              <a:rPr lang="ko-KR" altLang="en-US" sz="2400" dirty="0">
                <a:latin typeface="+mn-ea"/>
              </a:rPr>
              <a:t>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4164557"/>
            <a:ext cx="537234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양심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도덕적으로 </a:t>
            </a:r>
            <a:r>
              <a:rPr lang="ko-KR" altLang="en-US" sz="1600" dirty="0">
                <a:latin typeface="Arial Rounded MT Bold" panose="020F0704030504030204" pitchFamily="34" charset="0"/>
              </a:rPr>
              <a:t>올바른 행동을 하도록 하는 마음의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명령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5585290" y="2624480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3282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직업윤리의</a:t>
            </a:r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 의미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2056" y="1383186"/>
            <a:ext cx="11028475" cy="595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직업윤리의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일반성과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특수성</a:t>
            </a:r>
            <a:endParaRPr lang="ko-KR" altLang="en-US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00708"/>
              </p:ext>
            </p:extLst>
          </p:nvPr>
        </p:nvGraphicFramePr>
        <p:xfrm>
          <a:off x="996156" y="2017810"/>
          <a:ext cx="10654375" cy="41414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5544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9478831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83685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직업</a:t>
                      </a:r>
                      <a:endParaRPr lang="en-US" altLang="ko-KR" sz="2200" b="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윤리의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일반성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모든 직업에는 공통으로 지켜야 하는 기본 윤리가 포함되어 있는데</a:t>
                      </a:r>
                      <a:r>
                        <a:rPr lang="en-US" altLang="ko-KR" sz="2200" b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이를 ‘</a:t>
                      </a:r>
                      <a:r>
                        <a:rPr lang="ko-KR" altLang="en-US" sz="2200" b="0" dirty="0" err="1" smtClean="0">
                          <a:latin typeface="+mn-ea"/>
                          <a:ea typeface="+mn-ea"/>
                        </a:rPr>
                        <a:t>직업윤리의</a:t>
                      </a: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 일반성’ 이라고 함</a:t>
                      </a:r>
                      <a:r>
                        <a:rPr lang="en-US" altLang="ko-KR" sz="2200" b="0" dirty="0" smtClean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200" b="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200" b="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200" b="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2200" b="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 자신이 맡은 일에 책임을 다하는 것</a:t>
                      </a:r>
                      <a:r>
                        <a:rPr lang="en-US" altLang="ko-KR" sz="2200" b="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200" b="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성실하게 일하는 것</a:t>
                      </a:r>
                      <a:r>
                        <a:rPr lang="en-US" altLang="ko-KR" sz="2200" b="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200" b="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정직하게 일하는 것</a:t>
                      </a:r>
                      <a:endParaRPr lang="ko-KR" altLang="en-US" sz="2200" b="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83685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직업</a:t>
                      </a:r>
                      <a:endParaRPr lang="en-US" altLang="ko-KR" sz="2200" b="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윤리의</a:t>
                      </a:r>
                      <a:endParaRPr lang="en-US" altLang="ko-KR" sz="2200" b="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특수성</a:t>
                      </a:r>
                      <a:endParaRPr lang="ko-KR" altLang="en-US" sz="22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특정 직업에서 요구되는 특수한 윤리가 있는데</a:t>
                      </a:r>
                      <a:r>
                        <a:rPr lang="en-US" altLang="ko-KR" sz="2200" b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이를 ‘</a:t>
                      </a:r>
                      <a:r>
                        <a:rPr lang="ko-KR" altLang="en-US" sz="2200" b="0" dirty="0" err="1" smtClean="0">
                          <a:latin typeface="+mn-ea"/>
                          <a:ea typeface="+mn-ea"/>
                        </a:rPr>
                        <a:t>직업윤리의</a:t>
                      </a: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2200" b="0" dirty="0" err="1" smtClean="0">
                          <a:latin typeface="+mn-ea"/>
                          <a:ea typeface="+mn-ea"/>
                        </a:rPr>
                        <a:t>특수성’이라고</a:t>
                      </a: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 함</a:t>
                      </a:r>
                      <a:r>
                        <a:rPr lang="en-US" altLang="ko-KR" sz="2200" b="0" dirty="0" smtClean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200" b="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200" b="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200" b="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2200" b="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기자는 진실하고 객관적인 보도를 해야 함</a:t>
                      </a:r>
                      <a:r>
                        <a:rPr lang="en-US" altLang="ko-KR" sz="2200" b="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200" b="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교사는 학생의 인격을 존중하고 학생이 올바르게 성장하도록 도와야 함</a:t>
                      </a:r>
                      <a:r>
                        <a:rPr lang="en-US" altLang="ko-KR" sz="2200" b="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2200" b="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26" name="타원 25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202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4221910"/>
            <a:ext cx="3550024" cy="2656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40018" y="1596520"/>
            <a:ext cx="8601887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○○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씨는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40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여 년간 ‘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용접’이라는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한길만 걸어왔다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그는 직장에서 항공기 엔진을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용접하는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일을 맡은 뒤 항공기를 이용하는 많은 사람의 안전이 자신의 손에 달려 있다는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책임감을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느꼈다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그래서 전문 지식을 쌓고 자격증을 취득하는 등 일에 관한 전문성을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높이려고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노력한 결과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각 분야에서 최고 수준의 숙련 기술을 지닌 사람에게 부여하는 ‘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대한민국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명장’ 호칭을 얻었다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2200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endParaRPr lang="en-US" altLang="ko-KR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25" y="1795676"/>
            <a:ext cx="1866803" cy="109536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525" y="2997221"/>
            <a:ext cx="2347492" cy="124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61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4221910"/>
            <a:ext cx="3550024" cy="2656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40018" y="1596520"/>
            <a:ext cx="8601887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그는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후배들에게 ‘용접은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양심’이라고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강조한다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항공기의 결함을 발견했을 때 겉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부분만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용접하여 결함이 안 보이게 속일 수 있는데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이렇게 양심을 저버리는 행동을 하면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항공기가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추락하는 등 심각한 피해가 발생할 수 있기 때문이다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○○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씨는 “자기 직업에 자긍심을 지니고 용접을 사랑하라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 강조하면서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앞으로도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명장으로서 책임을 다할 것이라고 말하였다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조선일보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》, 2020. 3. 20</a:t>
            </a:r>
            <a:endParaRPr lang="en-US" altLang="ko-KR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25" y="1795676"/>
            <a:ext cx="1866803" cy="109536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525" y="2997221"/>
            <a:ext cx="2347492" cy="1242529"/>
          </a:xfrm>
          <a:prstGeom prst="rect">
            <a:avLst/>
          </a:prstGeom>
        </p:spPr>
      </p:pic>
      <p:sp>
        <p:nvSpPr>
          <p:cNvPr id="23" name="타원 22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7924099" y="5246511"/>
            <a:ext cx="361129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자긍심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자신에게 </a:t>
            </a:r>
            <a:r>
              <a:rPr lang="ko-KR" altLang="en-US" sz="1600" dirty="0">
                <a:latin typeface="Arial Rounded MT Bold" panose="020F0704030504030204" pitchFamily="34" charset="0"/>
              </a:rPr>
              <a:t>긍지를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지니는 </a:t>
            </a:r>
            <a:r>
              <a:rPr lang="ko-KR" altLang="en-US" sz="1600" dirty="0">
                <a:latin typeface="Arial Rounded MT Bold" panose="020F0704030504030204" pitchFamily="34" charset="0"/>
              </a:rPr>
              <a:t>마음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5790853" y="3704213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731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윗글의 주인공은 어떤 자세로 직업 생활에 </a:t>
            </a:r>
            <a:r>
              <a:rPr lang="ko-KR" altLang="en-US" sz="2000" b="1" dirty="0" smtClean="0">
                <a:latin typeface="+mn-ea"/>
              </a:rPr>
              <a:t>임하고 있는지 </a:t>
            </a:r>
            <a:r>
              <a:rPr lang="ko-KR" altLang="en-US" sz="2000" b="1" dirty="0">
                <a:latin typeface="+mn-ea"/>
              </a:rPr>
              <a:t>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자신의 직업에 자긍심을 가지고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양심을 지키며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일하고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7941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68" y="3474720"/>
            <a:ext cx="3656677" cy="3383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62103" y="1596520"/>
            <a:ext cx="7679802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□□ 씨는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가짜 석유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258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억 원어치를 정상 제품인 것처럼 속여 판매하였다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 가짜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석유는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주로 건물을 짓는 데 필요한 굴착기와 같은 기계의 연료로 쓰였다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건설 기계에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오랜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시간 가짜 석유를 사용하면 기계의 부품이 닳아 사고가 발생할 수 있으며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기계가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내뿜는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유해 가스의 양이 증가할 수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2481407"/>
            <a:ext cx="2067996" cy="13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58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>
                <a:latin typeface="+mn-ea"/>
              </a:rPr>
              <a:t>□□ 씨처럼 </a:t>
            </a:r>
            <a:r>
              <a:rPr lang="ko-KR" altLang="en-US" sz="2000" b="1" dirty="0">
                <a:latin typeface="+mn-ea"/>
              </a:rPr>
              <a:t>직업윤리를 지키지 않는 사람이 많으면 사회에 어떤 </a:t>
            </a:r>
            <a:r>
              <a:rPr lang="ko-KR" altLang="en-US" sz="2000" b="1" dirty="0" smtClean="0">
                <a:latin typeface="+mn-ea"/>
              </a:rPr>
              <a:t>문제가 생길지 </a:t>
            </a:r>
            <a:r>
              <a:rPr lang="ko-KR" altLang="en-US" sz="2000" b="1" dirty="0">
                <a:latin typeface="+mn-ea"/>
              </a:rPr>
              <a:t>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90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390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507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871588"/>
            <a:ext cx="9784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직업윤리를 지키지 않는 사람이 많으면 우리 사회의 수많은 직업인을 믿지 못하게 되어 사회 구성원 사이의 신뢰가 무너지게 될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1375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직업윤리의</a:t>
            </a:r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 필요성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2056" y="1510186"/>
            <a:ext cx="11028475" cy="4547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개인의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행복한 직업 생활을 위해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직업윤리를 지키며 자신이 맡은 일에 최선을 다할 때 자기 직업에 자부심을 품고 일할 수 있으며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보람과 만족을 느끼며 직업 생활을 할 수 있음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건강한 </a:t>
            </a:r>
            <a:r>
              <a:rPr lang="ko-KR" altLang="en-US" sz="24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사회를 만들기 위해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직업윤리를 </a:t>
            </a:r>
            <a:r>
              <a:rPr lang="ko-KR" altLang="en-US" sz="2400" dirty="0">
                <a:latin typeface="+mn-ea"/>
              </a:rPr>
              <a:t>지키지 않는 사람이 많으면 사회 구성원들이 서로 신뢰할 수 없고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사회 질서 유지 및 사회 발전에도 걸림돌이 됨</a:t>
            </a:r>
            <a:r>
              <a:rPr lang="en-US" altLang="ko-KR" sz="2400" dirty="0">
                <a:latin typeface="+mn-ea"/>
              </a:rPr>
              <a:t>. </a:t>
            </a:r>
            <a:endParaRPr lang="en-US" altLang="ko-KR" sz="2400" dirty="0" smtClean="0"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2400" dirty="0" smtClean="0">
                <a:latin typeface="+mn-ea"/>
              </a:rPr>
              <a:t>→ </a:t>
            </a:r>
            <a:r>
              <a:rPr lang="ko-KR" altLang="en-US" sz="2400" dirty="0" err="1">
                <a:latin typeface="+mn-ea"/>
              </a:rPr>
              <a:t>직업윤리는</a:t>
            </a:r>
            <a:r>
              <a:rPr lang="ko-KR" altLang="en-US" sz="2400" dirty="0">
                <a:latin typeface="+mn-ea"/>
              </a:rPr>
              <a:t> 건강한 사회를 만들기 위해 반드시 </a:t>
            </a:r>
            <a:r>
              <a:rPr lang="ko-KR" altLang="en-US" sz="2400" dirty="0" smtClean="0">
                <a:latin typeface="+mn-ea"/>
              </a:rPr>
              <a:t>필요함</a:t>
            </a:r>
            <a:endParaRPr lang="en-US" altLang="ko-KR" sz="2400" dirty="0"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132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62340" y="3549635"/>
            <a:ext cx="3153158" cy="3308365"/>
          </a:xfrm>
          <a:prstGeom prst="rect">
            <a:avLst/>
          </a:prstGeom>
        </p:spPr>
      </p:pic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40018" y="1596520"/>
            <a:ext cx="8601887" cy="2552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나는 회사의 인사 담당자로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정해진 기준에 따라 공정하게 신입 사원을 뽑는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일을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맡고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올해 신입 사원을 선발하던 중 나의 가장 친한 친구로부터 자기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자녀가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우리 회사에 지원했다며 뽑아 달라는 부탁을 받았다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정해진 기준에 따라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공정하게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평가하면 친구의 자녀는 불합격할 예정이었다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나는 친구를 위해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친구의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자녀를 합격시켜야 하는지 고민되었다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직업적 양심 키우기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0351" y="4326771"/>
            <a:ext cx="1987531" cy="249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25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ko-KR" altLang="en-US" sz="2000" b="1" dirty="0" err="1">
                <a:latin typeface="+mn-ea"/>
              </a:rPr>
              <a:t>모둠별로</a:t>
            </a:r>
            <a:r>
              <a:rPr lang="ko-KR" altLang="en-US" sz="2000" b="1" dirty="0">
                <a:latin typeface="+mn-ea"/>
              </a:rPr>
              <a:t> 다음 </a:t>
            </a:r>
            <a:r>
              <a:rPr lang="en-US" altLang="ko-KR" sz="2000" b="1" dirty="0">
                <a:latin typeface="+mn-ea"/>
              </a:rPr>
              <a:t>&lt;</a:t>
            </a:r>
            <a:r>
              <a:rPr lang="ko-KR" altLang="en-US" sz="2000" b="1" dirty="0">
                <a:latin typeface="+mn-ea"/>
              </a:rPr>
              <a:t>활동 방법</a:t>
            </a:r>
            <a:r>
              <a:rPr lang="en-US" altLang="ko-KR" sz="2000" b="1" dirty="0">
                <a:latin typeface="+mn-ea"/>
              </a:rPr>
              <a:t>&gt;</a:t>
            </a:r>
            <a:r>
              <a:rPr lang="ko-KR" altLang="en-US" sz="2000" b="1" dirty="0">
                <a:latin typeface="+mn-ea"/>
              </a:rPr>
              <a:t>에 따라 윗글의 ‘나’가 직업윤리를 지키지 않으면 어떤 일이 생길지 </a:t>
            </a:r>
            <a:r>
              <a:rPr lang="ko-KR" altLang="en-US" sz="2000" b="1" dirty="0" smtClean="0">
                <a:latin typeface="+mn-ea"/>
              </a:rPr>
              <a:t>이야기 </a:t>
            </a:r>
            <a:r>
              <a:rPr lang="ko-KR" altLang="en-US" sz="2000" b="1" dirty="0">
                <a:latin typeface="+mn-ea"/>
              </a:rPr>
              <a:t>이어 쓰기를 해 </a:t>
            </a:r>
            <a:r>
              <a:rPr lang="ko-KR" altLang="en-US" sz="2000" b="1" dirty="0" smtClean="0">
                <a:latin typeface="+mn-ea"/>
              </a:rPr>
              <a:t>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직업적 양심 키우기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979524" y="2784439"/>
            <a:ext cx="10046981" cy="407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245863" y="2985592"/>
            <a:ext cx="8941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+mn-ea"/>
              </a:rPr>
              <a:t>나는 도움을 주기로 결정했고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친구의 자녀는 우리 회사에 입사하였다</a:t>
            </a:r>
            <a:r>
              <a:rPr lang="en-US" altLang="ko-KR" sz="2000" dirty="0" smtClean="0">
                <a:latin typeface="+mn-ea"/>
              </a:rPr>
              <a:t>.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316835" y="2234909"/>
            <a:ext cx="1087577" cy="495431"/>
            <a:chOff x="10075659" y="2003022"/>
            <a:chExt cx="1156006" cy="495431"/>
          </a:xfrm>
        </p:grpSpPr>
        <p:pic>
          <p:nvPicPr>
            <p:cNvPr id="23" name="그림 2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7" name="TextBox 26">
              <a:hlinkClick r:id="rId6" action="ppaction://hlinksldjump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1148556" y="3477383"/>
            <a:ext cx="9629348" cy="2609953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9038"/>
            <a:ext cx="487174" cy="487174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39038"/>
            <a:ext cx="1087577" cy="495431"/>
            <a:chOff x="10075659" y="2003022"/>
            <a:chExt cx="1156006" cy="495431"/>
          </a:xfrm>
        </p:grpSpPr>
        <p:pic>
          <p:nvPicPr>
            <p:cNvPr id="48" name="그림 4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243316" y="3484246"/>
            <a:ext cx="9428763" cy="2341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그런데 친구의 자녀는 정식으로 채용 절차를 거쳐 입사한 신입 사원들보다 역량이 많이 부족하였고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일을 제대로 하지 못하였다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그 결과 친구의 자녀에 관한 좋지 않은 이야기가 돌면서 낙하산으로 입사했다는 소문이 퍼지기 시작하였다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나는 내가 도움을 주었다는 사실이 알려질까 봐 두려워졌다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그러던 와중에 이상한 낌새를 느낀 직원이 이 일을 조사하기 시작하였다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2471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ko-KR" altLang="en-US" sz="2000" b="1" dirty="0" err="1">
                <a:latin typeface="+mn-ea"/>
              </a:rPr>
              <a:t>모둠별로</a:t>
            </a:r>
            <a:r>
              <a:rPr lang="ko-KR" altLang="en-US" sz="2000" b="1" dirty="0">
                <a:latin typeface="+mn-ea"/>
              </a:rPr>
              <a:t> 다음 </a:t>
            </a:r>
            <a:r>
              <a:rPr lang="en-US" altLang="ko-KR" sz="2000" b="1" dirty="0">
                <a:latin typeface="+mn-ea"/>
              </a:rPr>
              <a:t>&lt;</a:t>
            </a:r>
            <a:r>
              <a:rPr lang="ko-KR" altLang="en-US" sz="2000" b="1" dirty="0">
                <a:latin typeface="+mn-ea"/>
              </a:rPr>
              <a:t>활동 방법</a:t>
            </a:r>
            <a:r>
              <a:rPr lang="en-US" altLang="ko-KR" sz="2000" b="1" dirty="0">
                <a:latin typeface="+mn-ea"/>
              </a:rPr>
              <a:t>&gt;</a:t>
            </a:r>
            <a:r>
              <a:rPr lang="ko-KR" altLang="en-US" sz="2000" b="1" dirty="0">
                <a:latin typeface="+mn-ea"/>
              </a:rPr>
              <a:t>에 따라 윗글의 ‘나’가 직업윤리를 지키지 않으면 어떤 일이 생길지 </a:t>
            </a:r>
            <a:r>
              <a:rPr lang="ko-KR" altLang="en-US" sz="2000" b="1" dirty="0" smtClean="0">
                <a:latin typeface="+mn-ea"/>
              </a:rPr>
              <a:t>이야기 </a:t>
            </a:r>
            <a:r>
              <a:rPr lang="ko-KR" altLang="en-US" sz="2000" b="1" dirty="0">
                <a:latin typeface="+mn-ea"/>
              </a:rPr>
              <a:t>이어 쓰기를 해 </a:t>
            </a:r>
            <a:r>
              <a:rPr lang="ko-KR" altLang="en-US" sz="2000" b="1" dirty="0" smtClean="0">
                <a:latin typeface="+mn-ea"/>
              </a:rPr>
              <a:t>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직업적 양심 키우기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979524" y="2784439"/>
            <a:ext cx="10046981" cy="407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245863" y="5258536"/>
            <a:ext cx="8941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+mn-ea"/>
              </a:rPr>
              <a:t>나는 생각하였다</a:t>
            </a:r>
            <a:r>
              <a:rPr lang="en-US" altLang="ko-KR" sz="2000" dirty="0">
                <a:latin typeface="+mn-ea"/>
              </a:rPr>
              <a:t>. ‘</a:t>
            </a:r>
            <a:r>
              <a:rPr lang="ko-KR" altLang="en-US" sz="2000" dirty="0">
                <a:latin typeface="+mn-ea"/>
              </a:rPr>
              <a:t>그때 친구의 부탁을 들어주면 안 되는 것이었구나</a:t>
            </a:r>
            <a:r>
              <a:rPr lang="en-US" altLang="ko-KR" sz="2000" dirty="0" smtClean="0">
                <a:latin typeface="+mn-ea"/>
              </a:rPr>
              <a:t>.’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1148556" y="2980999"/>
            <a:ext cx="9629348" cy="2105797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41" name="그림 4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9038"/>
            <a:ext cx="487174" cy="487174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39038"/>
            <a:ext cx="1087577" cy="495431"/>
            <a:chOff x="10075659" y="2003022"/>
            <a:chExt cx="1156006" cy="495431"/>
          </a:xfrm>
        </p:grpSpPr>
        <p:pic>
          <p:nvPicPr>
            <p:cNvPr id="48" name="그림 4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243316" y="2987862"/>
            <a:ext cx="9428763" cy="1879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결국 친구의 자녀가 신입 사원 선발에서 불합격할 예정이었다는 사실이 알려졌다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그리고 친구의 자녀 대신 원래 회사에 </a:t>
            </a:r>
            <a:r>
              <a:rPr lang="ko-KR" altLang="en-US" sz="2000" dirty="0" err="1">
                <a:solidFill>
                  <a:srgbClr val="0070C0"/>
                </a:solidFill>
                <a:latin typeface="+mn-ea"/>
              </a:rPr>
              <a:t>입사했어야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 할 지원자가 떨어졌다는 사실도 알려졌다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결국 나와 친구의 자녀는 둘다 회사에서 잘리고 말았다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직장도 잃고 친구도 잃은 나는 하루하루를 힘겹게 보내게 되었다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0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8" name="타원 27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027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ko-KR" altLang="en-US" sz="2000" b="1" dirty="0" err="1">
                <a:latin typeface="+mn-ea"/>
              </a:rPr>
              <a:t>모둠별로</a:t>
            </a:r>
            <a:r>
              <a:rPr lang="ko-KR" altLang="en-US" sz="2000" b="1" dirty="0">
                <a:latin typeface="+mn-ea"/>
              </a:rPr>
              <a:t> 다음 </a:t>
            </a:r>
            <a:r>
              <a:rPr lang="en-US" altLang="ko-KR" sz="2000" b="1" dirty="0">
                <a:latin typeface="+mn-ea"/>
              </a:rPr>
              <a:t>&lt;</a:t>
            </a:r>
            <a:r>
              <a:rPr lang="ko-KR" altLang="en-US" sz="2000" b="1" dirty="0">
                <a:latin typeface="+mn-ea"/>
              </a:rPr>
              <a:t>활동 방법</a:t>
            </a:r>
            <a:r>
              <a:rPr lang="en-US" altLang="ko-KR" sz="2000" b="1" dirty="0">
                <a:latin typeface="+mn-ea"/>
              </a:rPr>
              <a:t>&gt;</a:t>
            </a:r>
            <a:r>
              <a:rPr lang="ko-KR" altLang="en-US" sz="2000" b="1" dirty="0">
                <a:latin typeface="+mn-ea"/>
              </a:rPr>
              <a:t>에 따라 윗글의 ‘나’가 직업윤리를 지키지 않으면 어떤 일이 생길지 </a:t>
            </a:r>
            <a:r>
              <a:rPr lang="ko-KR" altLang="en-US" sz="2000" b="1" dirty="0" smtClean="0">
                <a:latin typeface="+mn-ea"/>
              </a:rPr>
              <a:t>이야기 </a:t>
            </a:r>
            <a:r>
              <a:rPr lang="ko-KR" altLang="en-US" sz="2000" b="1" dirty="0">
                <a:latin typeface="+mn-ea"/>
              </a:rPr>
              <a:t>이어 쓰기를 해 </a:t>
            </a:r>
            <a:r>
              <a:rPr lang="ko-KR" altLang="en-US" sz="2000" b="1" dirty="0" smtClean="0">
                <a:latin typeface="+mn-ea"/>
              </a:rPr>
              <a:t>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직업적 양심 키우기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979524" y="2784439"/>
            <a:ext cx="10046981" cy="407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2" name="그림 4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9038"/>
            <a:ext cx="487174" cy="487174"/>
          </a:xfrm>
          <a:prstGeom prst="rect">
            <a:avLst/>
          </a:prstGeom>
        </p:spPr>
      </p:pic>
      <p:grpSp>
        <p:nvGrpSpPr>
          <p:cNvPr id="43" name="그룹 4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39038"/>
            <a:ext cx="1087577" cy="495431"/>
            <a:chOff x="10075659" y="2003022"/>
            <a:chExt cx="1156006" cy="495431"/>
          </a:xfrm>
        </p:grpSpPr>
        <p:pic>
          <p:nvPicPr>
            <p:cNvPr id="44" name="그림 43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106524" y="2794000"/>
            <a:ext cx="979838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나는 도움을 주기로 결정했고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친구의 자녀는 우리 회사에 입사하였다</a:t>
            </a:r>
            <a:r>
              <a:rPr lang="en-US" altLang="ko-KR" dirty="0" smtClean="0">
                <a:latin typeface="+mn-ea"/>
              </a:rPr>
              <a:t>.</a:t>
            </a:r>
          </a:p>
          <a:p>
            <a:endParaRPr lang="en-US" altLang="ko-KR" dirty="0">
              <a:latin typeface="+mn-ea"/>
            </a:endParaRPr>
          </a:p>
          <a:p>
            <a:endParaRPr lang="en-US" altLang="ko-KR" dirty="0" smtClean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endParaRPr lang="en-US" altLang="ko-KR" dirty="0" smtClean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endParaRPr lang="en-US" altLang="ko-KR" dirty="0" smtClean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endParaRPr lang="en-US" altLang="ko-KR" dirty="0" smtClean="0">
              <a:latin typeface="+mn-ea"/>
            </a:endParaRPr>
          </a:p>
          <a:p>
            <a:endParaRPr lang="en-US" altLang="ko-KR" dirty="0" smtClean="0">
              <a:latin typeface="+mn-ea"/>
            </a:endParaRPr>
          </a:p>
          <a:p>
            <a:endParaRPr lang="en-US" altLang="ko-KR" dirty="0" smtClean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endParaRPr lang="en-US" altLang="ko-KR" sz="2400" dirty="0" smtClean="0">
              <a:latin typeface="+mn-ea"/>
            </a:endParaRPr>
          </a:p>
          <a:p>
            <a:r>
              <a:rPr lang="ko-KR" altLang="en-US" dirty="0" smtClean="0">
                <a:latin typeface="+mn-ea"/>
              </a:rPr>
              <a:t>나는 </a:t>
            </a:r>
            <a:r>
              <a:rPr lang="ko-KR" altLang="en-US" dirty="0">
                <a:latin typeface="+mn-ea"/>
              </a:rPr>
              <a:t>생각하였다</a:t>
            </a:r>
            <a:r>
              <a:rPr lang="en-US" altLang="ko-KR" dirty="0">
                <a:latin typeface="+mn-ea"/>
              </a:rPr>
              <a:t>. ‘</a:t>
            </a:r>
            <a:r>
              <a:rPr lang="ko-KR" altLang="en-US" dirty="0">
                <a:latin typeface="+mn-ea"/>
              </a:rPr>
              <a:t>그때 친구의 부탁을 들어주면 안 되는 것이었구나</a:t>
            </a:r>
            <a:r>
              <a:rPr lang="en-US" altLang="ko-KR" dirty="0" smtClean="0">
                <a:latin typeface="+mn-ea"/>
              </a:rPr>
              <a:t>.’</a:t>
            </a:r>
            <a:endParaRPr lang="ko-KR" altLang="en-US" dirty="0"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04475" y="3151047"/>
            <a:ext cx="98358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dirty="0">
                <a:solidFill>
                  <a:srgbClr val="0070C0"/>
                </a:solidFill>
                <a:latin typeface="+mn-ea"/>
              </a:rPr>
              <a:t>그런데 친구의 자녀는 정식으로 채용 절차를 거쳐 입사한 신입 사원들보다 역량이 많이 부족하였고</a:t>
            </a:r>
            <a:r>
              <a:rPr lang="en-US" altLang="ko-KR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+mn-ea"/>
              </a:rPr>
              <a:t>일을 제대로 하지 못하였다</a:t>
            </a:r>
            <a:r>
              <a:rPr lang="en-US" altLang="ko-KR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dirty="0">
                <a:solidFill>
                  <a:srgbClr val="0070C0"/>
                </a:solidFill>
                <a:latin typeface="+mn-ea"/>
              </a:rPr>
              <a:t>그 결과 친구의 자녀에 관한 좋지 않은 이야기가 돌면서 낙하산으로 입사했다는 소문이 퍼지기 시작하였다</a:t>
            </a:r>
            <a:r>
              <a:rPr lang="en-US" altLang="ko-KR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dirty="0">
                <a:solidFill>
                  <a:srgbClr val="0070C0"/>
                </a:solidFill>
                <a:latin typeface="+mn-ea"/>
              </a:rPr>
              <a:t>나는 내가 도움을 주었다는 사실이 알려질까 봐 두려워졌다</a:t>
            </a:r>
            <a:r>
              <a:rPr lang="en-US" altLang="ko-KR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dirty="0">
                <a:solidFill>
                  <a:srgbClr val="0070C0"/>
                </a:solidFill>
                <a:latin typeface="+mn-ea"/>
              </a:rPr>
              <a:t>그러던 와중에 이상한 낌새를 느낀 직원이 이 일을 조사하기 시작하였다</a:t>
            </a:r>
            <a:r>
              <a:rPr lang="en-US" altLang="ko-KR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dirty="0">
                <a:solidFill>
                  <a:srgbClr val="0070C0"/>
                </a:solidFill>
                <a:latin typeface="+mn-ea"/>
              </a:rPr>
              <a:t>결국 친구의 자녀가 신입 사원 선발에서 불합격할 예정이었다는 사실이 알려졌다</a:t>
            </a:r>
            <a:r>
              <a:rPr lang="en-US" altLang="ko-KR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dirty="0">
                <a:solidFill>
                  <a:srgbClr val="0070C0"/>
                </a:solidFill>
                <a:latin typeface="+mn-ea"/>
              </a:rPr>
              <a:t>그리고 친구의 자녀 대신 원래 회사에 </a:t>
            </a:r>
            <a:r>
              <a:rPr lang="ko-KR" altLang="en-US" dirty="0" err="1">
                <a:solidFill>
                  <a:srgbClr val="0070C0"/>
                </a:solidFill>
                <a:latin typeface="+mn-ea"/>
              </a:rPr>
              <a:t>입사했어야</a:t>
            </a:r>
            <a:r>
              <a:rPr lang="ko-KR" altLang="en-US" dirty="0">
                <a:solidFill>
                  <a:srgbClr val="0070C0"/>
                </a:solidFill>
                <a:latin typeface="+mn-ea"/>
              </a:rPr>
              <a:t> 할 지원자가 떨어졌다는 사실도 알려졌다</a:t>
            </a:r>
            <a:r>
              <a:rPr lang="en-US" altLang="ko-KR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dirty="0">
                <a:solidFill>
                  <a:srgbClr val="0070C0"/>
                </a:solidFill>
                <a:latin typeface="+mn-ea"/>
              </a:rPr>
              <a:t>결국 나와 친구의 자녀는 둘다 회사에서 잘리고 말았다</a:t>
            </a:r>
            <a:r>
              <a:rPr lang="en-US" altLang="ko-KR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dirty="0">
                <a:solidFill>
                  <a:srgbClr val="0070C0"/>
                </a:solidFill>
                <a:latin typeface="+mn-ea"/>
              </a:rPr>
              <a:t>직장도 잃고 친구도 잃은 나는 하루하루를 힘겹게 보내게 되었다</a:t>
            </a:r>
            <a:r>
              <a:rPr lang="en-US" altLang="ko-KR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316835" y="2234909"/>
            <a:ext cx="1087577" cy="495431"/>
            <a:chOff x="10075659" y="2003022"/>
            <a:chExt cx="1156006" cy="495431"/>
          </a:xfrm>
        </p:grpSpPr>
        <p:pic>
          <p:nvPicPr>
            <p:cNvPr id="23" name="그림 2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7" name="TextBox 2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8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29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3" name="그림 32" descr="상징, 원, 다채로움, 그린이(가) 표시된 사진&#10;&#10;자동 생성된 설명">
            <a:hlinkClick r:id="rId7" action="ppaction://hlinksldjump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2055" y="2016924"/>
            <a:ext cx="1091334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b="1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모둠원끼리</a:t>
            </a:r>
            <a:r>
              <a:rPr lang="ko-KR" altLang="en-US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순서를 정하고</a:t>
            </a:r>
            <a:r>
              <a:rPr lang="en-US" altLang="ko-KR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순서에 따라 한 문장씩 뒷이야기를 이어 쓴다</a:t>
            </a:r>
            <a:r>
              <a:rPr lang="en-US" altLang="ko-KR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전체 </a:t>
            </a:r>
            <a:r>
              <a:rPr lang="ko-KR" altLang="en-US" sz="2000" b="1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모둠원이</a:t>
            </a:r>
            <a:r>
              <a:rPr lang="ko-KR" altLang="en-US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최소 두 번 이상 작성하되</a:t>
            </a:r>
            <a:r>
              <a:rPr lang="en-US" altLang="ko-KR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아래 내용을 고려하여 이야기를 구성한다</a:t>
            </a:r>
            <a:r>
              <a:rPr lang="en-US" altLang="ko-KR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나의 행동이 다른 사람에게 어떤 영향을 줄까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?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모든 사람이 나처럼 행동한다면 어떻게 될까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?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나의 선택이 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10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년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, 20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년 뒤에 어떤 결과를 낳을까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?</a:t>
            </a:r>
            <a:endParaRPr lang="en-US" altLang="ko-KR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622055" y="1188983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113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46" grpId="0"/>
      <p:bldP spid="46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1" y="1613182"/>
            <a:ext cx="8295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2. 1</a:t>
            </a:r>
            <a:r>
              <a:rPr lang="ko-KR" altLang="en-US" sz="2000" b="1" dirty="0">
                <a:latin typeface="+mn-ea"/>
              </a:rPr>
              <a:t>의 활동을 마치고 알게 된 직업윤리를 지켜야 하는 까닭을 써 </a:t>
            </a:r>
            <a:r>
              <a:rPr lang="ko-KR" altLang="en-US" sz="2000" b="1" dirty="0" smtClean="0">
                <a:latin typeface="+mn-ea"/>
              </a:rPr>
              <a:t>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직업적 양심 키우기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67538"/>
            <a:ext cx="487174" cy="48717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67538"/>
            <a:ext cx="1087577" cy="495431"/>
            <a:chOff x="10075659" y="2003022"/>
            <a:chExt cx="1156006" cy="495431"/>
          </a:xfrm>
        </p:grpSpPr>
        <p:pic>
          <p:nvPicPr>
            <p:cNvPr id="37" name="그림 3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046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65588" y="2325488"/>
            <a:ext cx="9784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직업윤리를 지키지 않으면 다른 사람에게 해를 끼치거나 우리 사회에 안 좋은 영향을 미칠 수 있기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0720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44" grpId="0"/>
      <p:bldP spid="44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2528047"/>
            <a:ext cx="8522936" cy="3399417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5918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직업적 양심을 키우기 위한 나의 다짐을 써 </a:t>
            </a:r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2553035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2553035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3169302"/>
            <a:ext cx="8165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직업윤리의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필요성을 깨닫고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직업적 양심에 따라 직업 생활에서 도덕적으로 올바른 행동을 하도록 노력할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2619813"/>
            <a:ext cx="1328154" cy="458932"/>
            <a:chOff x="877165" y="3739778"/>
            <a:chExt cx="1328154" cy="458932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다짐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30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“03. </a:t>
            </a:r>
            <a:r>
              <a:rPr lang="ko-KR" altLang="en-US" sz="2800" b="1" smtClean="0">
                <a:solidFill>
                  <a:schemeClr val="tx1"/>
                </a:solidFill>
                <a:latin typeface="+mn-ea"/>
              </a:rPr>
              <a:t>내가 희망하는 직업의 직업윤리는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무엇일까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직업윤리의 의미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4164557"/>
            <a:ext cx="537234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양심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도덕적으로 </a:t>
            </a:r>
            <a:r>
              <a:rPr lang="ko-KR" altLang="en-US" sz="1600" dirty="0">
                <a:latin typeface="Arial Rounded MT Bold" panose="020F0704030504030204" pitchFamily="34" charset="0"/>
              </a:rPr>
              <a:t>올바른 행동을 하도록 하는 마음의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명령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직업윤리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직업 생활에서 직업적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양심 </a:t>
            </a:r>
            <a:r>
              <a:rPr sz="2400" b="0">
                <a:solidFill>
                  <a:srgbClr val="262626"/>
                </a:solidFill>
              </a:rPr>
              <a:t>을 바탕으로 지켜야 하는 마땅한 도리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“비용을 줄이려고 철근을 빼자.” 에 “안 됩니다.” 라고 말하는 건축가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직업윤리의 일반성과 특수성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직업윤리에는 모든 직업에서 공통으로 지켜야 하는 기본 윤리가 포함되어 있는데, 이를 ‘직업윤리의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일반성 </a:t>
            </a:r>
            <a:r>
              <a:rPr sz="2400" b="0">
                <a:solidFill>
                  <a:srgbClr val="262626"/>
                </a:solidFill>
              </a:rPr>
              <a:t>’이라고 함.  (예) 자신이 맡은 일에 책임을 다하고, 성실하게 일하며, 정직하게 일하는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편의점 직원도 의사도 거스름돈과 시간 약속을 정확히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직업윤리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 생활에서 직업적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양심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바탕으로 지켜야 하는 마땅한 도리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“비용을 줄이려고 철근을 빼자.” 에 “안 됩니다.” 라고 말하는 건축가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직업윤리의 일반성과 특수성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직업윤리에는 모든 직업에서 공통으로 지켜야 하는 기본 윤리가 포함되어 있는데, 이를 ‘직업윤리의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일반성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’이라고 함.  (예) 자신이 맡은 일에 책임을 다하고, 성실하게 일하며, 정직하게 일하는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편의점 직원도 의사도 거스름돈과 시간 약속을 정확히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직업윤리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 생활에서 직업적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양심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바탕으로 지켜야 하는 마땅한 도리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“비용을 줄이려고 철근을 빼자.” 에 “안 됩니다.” 라고 말하는 건축가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직업윤리의 일반성과 특수성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직업윤리에는 모든 직업에서 공통으로 지켜야 하는 기본 윤리가 포함되어 있는데, 이를 ‘직업윤리의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일반성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’이라고 함.  (예) 자신이 맡은 일에 책임을 다하고, 성실하게 일하며, 정직하게 일하는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편의점 직원도 의사도 거스름돈과 시간 약속을 정확히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직업윤리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 생활에서 직업적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양심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바탕으로 지켜야 하는 마땅한 도리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“비용을 줄이려고 철근을 빼자.” 에 “안 됩니다.” 라고 말하는 건축가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직업윤리의 일반성과 특수성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직업윤리에는 모든 직업에서 공통으로 지켜야 하는 기본 윤리가 포함되어 있는데, 이를 ‘직업윤리의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일반성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’이라고 함.  (예) 자신이 맡은 일에 책임을 다하고, 성실하게 일하며, 정직하게 일하는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편의점 직원도 의사도 거스름돈과 시간 약속을 정확히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직업윤리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 생활에서 직업적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양심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바탕으로 지켜야 하는 마땅한 도리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“비용을 줄이려고 철근을 빼자.” 에 “안 됩니다.” 라고 말하는 건축가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직업윤리의 일반성과 특수성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직업윤리에는 모든 직업에서 공통으로 지켜야 하는 기본 윤리가 포함되어 있는데, 이를 ‘직업윤리의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일반성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’이라고 함.  (예) 자신이 맡은 일에 책임을 다하고, 성실하게 일하며, 정직하게 일하는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편의점 직원도 의사도 거스름돈과 시간 약속을 정확히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직업윤리의 의미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4164557"/>
            <a:ext cx="537234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양심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도덕적으로 </a:t>
            </a:r>
            <a:r>
              <a:rPr lang="ko-KR" altLang="en-US" sz="1600" dirty="0">
                <a:latin typeface="Arial Rounded MT Bold" panose="020F0704030504030204" pitchFamily="34" charset="0"/>
              </a:rPr>
              <a:t>올바른 행동을 하도록 하는 마음의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명령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직업윤리에는 특정 직업에서 요구되는 특수한 윤리가 있는데, 이를 ‘직업윤리의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특수성 </a:t>
            </a:r>
            <a:r>
              <a:rPr sz="2400" b="0">
                <a:solidFill>
                  <a:srgbClr val="262626"/>
                </a:solidFill>
              </a:rPr>
              <a:t>’이라고 함. (예) 기자는 진실하고 객관적인 보도를 해야 하며, 교사는 학생의 인격을 존중하고 학생이 올바르게 성장하도록 도와야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기자는 진실하고 객관적인 보도, 교사는 학생의 인격 존중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직업윤리에는 특정 직업에서 요구되는 특수한 윤리가 있는데, 이를 ‘직업윤리의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특수성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’이라고 함. (예) 기자는 진실하고 객관적인 보도를 해야 하며, 교사는 학생의 인격을 존중하고 학생이 올바르게 성장하도록 도와야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기자는 진실하고 객관적인 보도, 교사는 학생의 인격 존중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직업윤리에는 특정 직업에서 요구되는 특수한 윤리가 있는데, 이를 ‘직업윤리의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특수성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’이라고 함. (예) 기자는 진실하고 객관적인 보도를 해야 하며, 교사는 학생의 인격을 존중하고 학생이 올바르게 성장하도록 도와야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기자는 진실하고 객관적인 보도, 교사는 학생의 인격 존중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직업마다 특별한 윤리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4164557"/>
            <a:ext cx="537234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양심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도덕적으로 </a:t>
            </a:r>
            <a:r>
              <a:rPr lang="ko-KR" altLang="en-US" sz="1600" dirty="0">
                <a:latin typeface="Arial Rounded MT Bold" panose="020F0704030504030204" pitchFamily="34" charset="0"/>
              </a:rPr>
              <a:t>올바른 행동을 하도록 하는 마음의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명령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🩺 의사 · 환자의 생명과 건강을 먼저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📰 기자 · 사실을 확인하고 진실을 알리기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🏛️ 공무원 · 청렴과 공정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🏗️ 건축가 · 안전을 지키는 설계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직업윤리의 필요성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4164557"/>
            <a:ext cx="537234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양심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도덕적으로 </a:t>
            </a:r>
            <a:r>
              <a:rPr lang="ko-KR" altLang="en-US" sz="1600" dirty="0">
                <a:latin typeface="Arial Rounded MT Bold" panose="020F0704030504030204" pitchFamily="34" charset="0"/>
              </a:rPr>
              <a:t>올바른 행동을 하도록 하는 마음의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명령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직업윤리는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개인 </a:t>
            </a:r>
            <a:r>
              <a:rPr sz="2400" b="0">
                <a:solidFill>
                  <a:srgbClr val="262626"/>
                </a:solidFill>
              </a:rPr>
              <a:t>의 행복한 직업 생활을 위해 필요함.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직업윤리를 지키며 자신이 맡은 일에 최선을 다할 때 자기 직업에 자부심을 지닐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40여 년 엔진 용접을 해 온 명장의 자부심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직업윤리를 지키며 일할 때 보람과 만족을 느끼며 직업 생활을 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직업윤리는 건강한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사회 </a:t>
            </a:r>
            <a:r>
              <a:rPr sz="2400" b="0">
                <a:solidFill>
                  <a:srgbClr val="262626"/>
                </a:solidFill>
              </a:rPr>
              <a:t>를 만들기 위해 필요함.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우리는 직업을 통해 사회 구성원으로서의 역할을 분담하므로 개인의 직업 생활은 사회에도 영향을 미침.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직업윤리는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개인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행복한 직업 생활을 위해 필요함.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직업윤리를 지키며 자신이 맡은 일에 최선을 다할 때 자기 직업에 자부심을 지닐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40여 년 엔진 용접을 해 온 명장의 자부심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직업윤리를 지키며 일할 때 보람과 만족을 느끼며 직업 생활을 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직업윤리는 건강한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만들기 위해 필요함.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우리는 직업을 통해 사회 구성원으로서의 역할을 분담하므로 개인의 직업 생활은 사회에도 영향을 미침.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직업윤리는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개인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행복한 직업 생활을 위해 필요함.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직업윤리를 지키며 자신이 맡은 일에 최선을 다할 때 자기 직업에 자부심을 지닐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40여 년 엔진 용접을 해 온 명장의 자부심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직업윤리를 지키며 일할 때 보람과 만족을 느끼며 직업 생활을 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직업윤리는 건강한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만들기 위해 필요함.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우리는 직업을 통해 사회 구성원으로서의 역할을 분담하므로 개인의 직업 생활은 사회에도 영향을 미침.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직업윤리는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개인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행복한 직업 생활을 위해 필요함.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직업윤리를 지키며 자신이 맡은 일에 최선을 다할 때 자기 직업에 자부심을 지닐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40여 년 엔진 용접을 해 온 명장의 자부심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직업윤리를 지키며 일할 때 보람과 만족을 느끼며 직업 생활을 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직업윤리는 건강한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사회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만들기 위해 필요함.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우리는 직업을 통해 사회 구성원으로서의 역할을 분담하므로 개인의 직업 생활은 사회에도 영향을 미침.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직업윤리의 필요성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4164557"/>
            <a:ext cx="537234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양심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도덕적으로 </a:t>
            </a:r>
            <a:r>
              <a:rPr lang="ko-KR" altLang="en-US" sz="1600" dirty="0">
                <a:latin typeface="Arial Rounded MT Bold" panose="020F0704030504030204" pitchFamily="34" charset="0"/>
              </a:rPr>
              <a:t>올바른 행동을 하도록 하는 마음의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명령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직업윤리를 지키지 않는 사람이 많으면 사회 구성원들이 서로 신뢰할 수 없음.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가짜 석유 판매 → 차가 고장 나고 사람들이 주유소를 못 믿게 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직업윤리를 지키지 않는 사람이 많으면 사회 질서 유지 및 사회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발전 </a:t>
            </a:r>
            <a:r>
              <a:rPr sz="2400" b="0">
                <a:solidFill>
                  <a:srgbClr val="262626"/>
                </a:solidFill>
              </a:rPr>
              <a:t>에도 걸림돌이 됨.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직업윤리를 지키지 않는 사람이 많으면 사회 구성원들이 서로 신뢰할 수 없음.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가짜 석유 판매 → 차가 고장 나고 사람들이 주유소를 못 믿게 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직업윤리를 지키지 않는 사람이 많으면 사회 질서 유지 및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발전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에도 걸림돌이 됨.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직업윤리를 지키지 않는 사람이 많으면 사회 구성원들이 서로 신뢰할 수 없음.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가짜 석유 판매 → 차가 고장 나고 사람들이 주유소를 못 믿게 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직업윤리를 지키지 않는 사람이 많으면 사회 질서 유지 및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발전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에도 걸림돌이 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허드슨강의 기적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4164557"/>
            <a:ext cx="537234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양심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도덕적으로 </a:t>
            </a:r>
            <a:r>
              <a:rPr lang="ko-KR" altLang="en-US" sz="1600" dirty="0">
                <a:latin typeface="Arial Rounded MT Bold" panose="020F0704030504030204" pitchFamily="34" charset="0"/>
              </a:rPr>
              <a:t>올바른 행동을 하도록 하는 마음의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명령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2009년 1월 15일 · 미국 뉴욕 허드슨강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사고 · 이륙 직후 새 떼와 부딪혀 두 엔진이 모두 멈췄다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결단 · 기장 설렌버거는 강 위에 비상 착수하기로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결과 · 승객과 승무원 155명 모두 살았다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마지막 · 기장은 객실을 두 번 돌아본 뒤 마지막으로 비행기를 떠났다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그는 왜 마지막까지 남았을까?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2009년 1월 15일 · 미국 뉴욕 허드슨강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사고 · 이륙 직후 새 떼와 부딪혀 두 엔진이 모두 멈췄다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결단 · 기장 설렌버거는 강 위에 비상 착수하기로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결과 · 승객과 승무원 155명 모두 살았다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마지막 · 기장은 객실을 두 번 돌아본 뒤 마지막으로 비행기를 떠났다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그는 왜 마지막까지 남았을까?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무너진 백화점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4164557"/>
            <a:ext cx="537234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양심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도덕적으로 </a:t>
            </a:r>
            <a:r>
              <a:rPr lang="ko-KR" altLang="en-US" sz="1600" dirty="0">
                <a:latin typeface="Arial Rounded MT Bold" panose="020F0704030504030204" pitchFamily="34" charset="0"/>
              </a:rPr>
              <a:t>올바른 행동을 하도록 하는 마음의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명령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1995년 6월 29일 · 서울 서초구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사고 · 삼풍백화점이 무너져 502명이 숨지고 900여 명이 다쳤다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원인 · 설계를 무리하게 바꾸고 무거운 설비를 올려 건물이 약해졌다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그날 · 균열이 보였지만 경영진은 영업을 멈추지 않았다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교훈 · 한 사람 한 사람의 직업적 양심이 수많은 생명과 이어진다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누가 어디에서 멈출 수 있었을까?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1995년 6월 29일 · 서울 서초구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사고 · 삼풍백화점이 무너져 502명이 숨지고 900여 명이 다쳤다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원인 · 설계를 무리하게 바꾸고 무거운 설비를 올려 건물이 약해졌다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그날 · 균열이 보였지만 경영진은 영업을 멈추지 않았다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교훈 · 한 사람 한 사람의 직업적 양심이 수많은 생명과 이어진다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누가 어디에서 멈출 수 있었을까?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딜레마 · 나라면?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4164557"/>
            <a:ext cx="537234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양심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도덕적으로 </a:t>
            </a:r>
            <a:r>
              <a:rPr lang="ko-KR" altLang="en-US" sz="1600" dirty="0">
                <a:latin typeface="Arial Rounded MT Bold" panose="020F0704030504030204" pitchFamily="34" charset="0"/>
              </a:rPr>
              <a:t>올바른 행동을 하도록 하는 마음의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명령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내가 다니는 회사가 제품의 결함을 숨기고 있다. 알리면 회사가 어려워지고 나도 곤란해질 수 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침묵한다 — 회사와 동료를 지키려고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알린다 — 소비자의 안전을 지키려고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직업적 양심은 무엇을 말할까?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내가 다니는 회사가 제품의 결함을 숨기고 있다. 알리면 회사가 어려워지고 나도 곤란해질 수 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침묵한다 — 회사와 동료를 지키려고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알린다 — 소비자의 안전을 지키려고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직업적 양심은 무엇을 말할까?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4164557"/>
            <a:ext cx="537234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양심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도덕적으로 </a:t>
            </a:r>
            <a:r>
              <a:rPr lang="ko-KR" altLang="en-US" sz="1600" dirty="0">
                <a:latin typeface="Arial Rounded MT Bold" panose="020F0704030504030204" pitchFamily="34" charset="0"/>
              </a:rPr>
              <a:t>올바른 행동을 하도록 하는 마음의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명령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우리는 직업을 통해 많은 사람과 관계를 맺으며 영향을 주고받으므로 직업윤리가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자신이 맡은 일에 책임을 다하고, 성실하게 일하며, 정직하게 일하는 것처럼 직업윤리에 모든 직업에서 공통으로 지켜야 하는 기본 윤리가 포함되어 있다는 것을 ‘직업윤리의 일반성’이라고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기자는 진실하고 객관적인 보도를 해야 한다는 것은 직업윤리의 일반성에 해당한다.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직업윤리를 잘 지킬 때 행복한 직업 생활을 할 수 있으며, 사회를 건강하게 만들어 나갈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우리는 직업을 통해 많은 사람과 관계를 맺으며 영향을 주고받으므로 직업윤리가 필요하다.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자신이 맡은 일에 책임을 다하고, 성실하게 일하며, 정직하게 일하는 것처럼 직업윤리에 모든 직업에서 공통으로 지켜야 하는 기본 윤리가 포함되어 있다는 것을 ‘직업윤리의 일반성’이라고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기자는 진실하고 객관적인 보도를 해야 한다는 것은 직업윤리의 일반성에 해당한다.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직업윤리를 잘 지킬 때 행복한 직업 생활을 할 수 있으며, 사회를 건강하게 만들어 나갈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우리는 직업을 통해 많은 사람과 관계를 맺으며 영향을 주고받으므로 직업윤리가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자신이 맡은 일에 책임을 다하고, 성실하게 일하며, 정직하게 일하는 것처럼 직업윤리에 모든 직업에서 공통으로 지켜야 하는 기본 윤리가 포함되어 있다는 것을 ‘직업윤리의 일반성’이라고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기자는 진실하고 객관적인 보도를 해야 한다는 것은 직업윤리의 일반성에 해당한다.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직업윤리를 잘 지킬 때 행복한 직업 생활을 할 수 있으며, 사회를 건강하게 만들어 나갈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우리는 직업을 통해 많은 사람과 관계를 맺으며 영향을 주고받으므로 직업윤리가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자신이 맡은 일에 책임을 다하고, 성실하게 일하며, 정직하게 일하는 것처럼 직업윤리에 모든 직업에서 공통으로 지켜야 하는 기본 윤리가 포함되어 있다는 것을 ‘직업윤리의 일반성’이라고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기자는 진실하고 객관적인 보도를 해야 한다는 것은 직업윤리의 일반성에 해당한다.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직업윤리를 잘 지킬 때 행복한 직업 생활을 할 수 있으며, 사회를 건강하게 만들어 나갈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우리는 직업을 통해 많은 사람과 관계를 맺으며 영향을 주고받으므로 직업윤리가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자신이 맡은 일에 책임을 다하고, 성실하게 일하며, 정직하게 일하는 것처럼 직업윤리에 모든 직업에서 공통으로 지켜야 하는 기본 윤리가 포함되어 있다는 것을 ‘직업윤리의 일반성’이라고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기자는 진실하고 객관적인 보도를 해야 한다는 것은 직업윤리의 일반성에 해당한다.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직업윤리를 잘 지킬 때 행복한 직업 생활을 할 수 있으며, 사회를 건강하게 만들어 나갈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일반성일까, 특수성일까?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4164557"/>
            <a:ext cx="537234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양심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도덕적으로 </a:t>
            </a:r>
            <a:r>
              <a:rPr lang="ko-KR" altLang="en-US" sz="1600" dirty="0">
                <a:latin typeface="Arial Rounded MT Bold" panose="020F0704030504030204" pitchFamily="34" charset="0"/>
              </a:rPr>
              <a:t>올바른 행동을 하도록 하는 마음의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명령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일반성 (모든 직업) · 특수성 (그 직업만)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맡은 일에 책임을 다한다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일반성 (모든 직업) (모든 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기자는 진실하고 객관적으로 보도한다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특수성 (그 직업만) (기자의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정직하게 일한다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일반성 (모든 직업) (모든 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교사는 학생의 인격을 존중한다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특수성 (그 직업만) (교사의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요리사는 위생적으로 조리한다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특수성 (그 직업만) (요리사의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성실하게 일한다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일반성 (모든 직업) (모든 직업)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일반성 (모든 직업) · 특수성 (그 직업만)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맡은 일에 책임을 다한다</a:t>
            </a:r>
            <a:r>
              <a:rPr sz="2300" b="1">
                <a:solidFill>
                  <a:srgbClr val="C0392B"/>
                </a:solidFill>
              </a:rPr>
              <a:t>   → 일반성 (모든 직업) (모든 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기자는 진실하고 객관적으로 보도한다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특수성 (그 직업만) (기자의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정직하게 일한다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일반성 (모든 직업) (모든 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교사는 학생의 인격을 존중한다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특수성 (그 직업만) (교사의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요리사는 위생적으로 조리한다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특수성 (그 직업만) (요리사의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성실하게 일한다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일반성 (모든 직업) (모든 직업)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일반성 (모든 직업) · 특수성 (그 직업만)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맡은 일에 책임을 다한다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일반성 (모든 직업) (모든 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기자는 진실하고 객관적으로 보도한다</a:t>
            </a:r>
            <a:r>
              <a:rPr sz="2300" b="1">
                <a:solidFill>
                  <a:srgbClr val="C0392B"/>
                </a:solidFill>
              </a:rPr>
              <a:t>   → 특수성 (그 직업만) (기자의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정직하게 일한다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일반성 (모든 직업) (모든 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교사는 학생의 인격을 존중한다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특수성 (그 직업만) (교사의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요리사는 위생적으로 조리한다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특수성 (그 직업만) (요리사의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성실하게 일한다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일반성 (모든 직업) (모든 직업)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일반성 (모든 직업) · 특수성 (그 직업만)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맡은 일에 책임을 다한다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일반성 (모든 직업) (모든 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기자는 진실하고 객관적으로 보도한다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특수성 (그 직업만) (기자의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정직하게 일한다</a:t>
            </a:r>
            <a:r>
              <a:rPr sz="2300" b="1">
                <a:solidFill>
                  <a:srgbClr val="C0392B"/>
                </a:solidFill>
              </a:rPr>
              <a:t>   → 일반성 (모든 직업) (모든 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교사는 학생의 인격을 존중한다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특수성 (그 직업만) (교사의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요리사는 위생적으로 조리한다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특수성 (그 직업만) (요리사의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성실하게 일한다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일반성 (모든 직업) (모든 직업)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일반성 (모든 직업) · 특수성 (그 직업만)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맡은 일에 책임을 다한다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일반성 (모든 직업) (모든 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기자는 진실하고 객관적으로 보도한다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특수성 (그 직업만) (기자의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정직하게 일한다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일반성 (모든 직업) (모든 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교사는 학생의 인격을 존중한다</a:t>
            </a:r>
            <a:r>
              <a:rPr sz="2300" b="1">
                <a:solidFill>
                  <a:srgbClr val="C0392B"/>
                </a:solidFill>
              </a:rPr>
              <a:t>   → 특수성 (그 직업만) (교사의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요리사는 위생적으로 조리한다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특수성 (그 직업만) (요리사의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성실하게 일한다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일반성 (모든 직업) (모든 직업)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일반성 (모든 직업) · 특수성 (그 직업만)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맡은 일에 책임을 다한다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일반성 (모든 직업) (모든 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기자는 진실하고 객관적으로 보도한다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특수성 (그 직업만) (기자의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정직하게 일한다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일반성 (모든 직업) (모든 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교사는 학생의 인격을 존중한다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특수성 (그 직업만) (교사의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요리사는 위생적으로 조리한다</a:t>
            </a:r>
            <a:r>
              <a:rPr sz="2300" b="1">
                <a:solidFill>
                  <a:srgbClr val="C0392B"/>
                </a:solidFill>
              </a:rPr>
              <a:t>   → 특수성 (그 직업만) (요리사의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성실하게 일한다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일반성 (모든 직업) (모든 직업)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일반성 (모든 직업) · 특수성 (그 직업만)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맡은 일에 책임을 다한다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일반성 (모든 직업) (모든 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기자는 진실하고 객관적으로 보도한다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특수성 (그 직업만) (기자의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정직하게 일한다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일반성 (모든 직업) (모든 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교사는 학생의 인격을 존중한다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특수성 (그 직업만) (교사의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요리사는 위생적으로 조리한다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특수성 (그 직업만) (요리사의 특수성)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성실하게 일한다</a:t>
            </a:r>
            <a:r>
              <a:rPr sz="2300" b="1">
                <a:solidFill>
                  <a:srgbClr val="C0392B"/>
                </a:solidFill>
              </a:rPr>
              <a:t>   → 일반성 (모든 직업) (모든 직업)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➕ 내가 건축 감리사라면?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4164557"/>
            <a:ext cx="537234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양심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도덕적으로 </a:t>
            </a:r>
            <a:r>
              <a:rPr lang="ko-KR" altLang="en-US" sz="1600" dirty="0">
                <a:latin typeface="Arial Rounded MT Bold" panose="020F0704030504030204" pitchFamily="34" charset="0"/>
              </a:rPr>
              <a:t>올바른 행동을 하도록 하는 마음의 </a:t>
            </a:r>
            <a:r>
              <a:rPr lang="ko-KR" altLang="en-US" sz="1600" dirty="0" smtClean="0">
                <a:latin typeface="Arial Rounded MT Bold" panose="020F0704030504030204" pitchFamily="34" charset="0"/>
              </a:rPr>
              <a:t>명령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직업윤리가 </a:t>
            </a:r>
            <a:r>
              <a:rPr lang="ko-KR" altLang="en-US" b="1" dirty="0">
                <a:latin typeface="+mj-ea"/>
                <a:ea typeface="+mj-ea"/>
              </a:rPr>
              <a:t>필요한 까닭은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공사 현장에서 설계보다 기둥이 가늘게 지어지는 것을 발견했다. 시공사는 “기한이 급하니 눈감아 달라”며 사례를 하겠다고 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A. 못 본 척하고 사례를 받는다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생명을 위협하는 부정부패. 63쪽 생각 열기의 무너진 건물을 떠올려 보세요.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B. 공사를 멈추고 보고한다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직업적 양심! 당장은 곤란해도 수많은 생명을 지켜요.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C. 일단 넘어가고 나중에 고치라고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‘나중’은 오지 않을 수 있어요. 안전은 미룰 수 없어요.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공사 현장에서 설계보다 기둥이 가늘게 지어지는 것을 발견했다. 시공사는 “기한이 급하니 눈감아 달라”며 사례를 하겠다고 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A. 못 본 척하고 사례를 받는다</a:t>
            </a:r>
            <a:r>
              <a:rPr sz="2300" b="1">
                <a:solidFill>
                  <a:srgbClr val="C0392B"/>
                </a:solidFill>
              </a:rPr>
              <a:t>   생명을 위협하는 부정부패. 63쪽 생각 열기의 무너진 건물을 떠올려 보세요.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B. 공사를 멈추고 보고한다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직업적 양심! 당장은 곤란해도 수많은 생명을 지켜요.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C. 일단 넘어가고 나중에 고치라고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‘나중’은 오지 않을 수 있어요. 안전은 미룰 수 없어요.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공사 현장에서 설계보다 기둥이 가늘게 지어지는 것을 발견했다. 시공사는 “기한이 급하니 눈감아 달라”며 사례를 하겠다고 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A. 못 본 척하고 사례를 받는다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생명을 위협하는 부정부패. 63쪽 생각 열기의 무너진 건물을 떠올려 보세요.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B. 공사를 멈추고 보고한다</a:t>
            </a:r>
            <a:r>
              <a:rPr sz="2300" b="1">
                <a:solidFill>
                  <a:srgbClr val="C0392B"/>
                </a:solidFill>
              </a:rPr>
              <a:t>   직업적 양심! 당장은 곤란해도 수많은 생명을 지켜요.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C. 일단 넘어가고 나중에 고치라고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‘나중’은 오지 않을 수 있어요. 안전은 미룰 수 없어요.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공사 현장에서 설계보다 기둥이 가늘게 지어지는 것을 발견했다. 시공사는 “기한이 급하니 눈감아 달라”며 사례를 하겠다고 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A. 못 본 척하고 사례를 받는다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생명을 위협하는 부정부패. 63쪽 생각 열기의 무너진 건물을 떠올려 보세요.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B. 공사를 멈추고 보고한다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직업적 양심! 당장은 곤란해도 수많은 생명을 지켜요.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C. 일단 넘어가고 나중에 고치라고 한다</a:t>
            </a:r>
            <a:r>
              <a:rPr sz="2300" b="1">
                <a:solidFill>
                  <a:srgbClr val="C0392B"/>
                </a:solidFill>
              </a:rPr>
              <a:t>   ‘나중’은 오지 않을 수 있어요. 안전은 미룰 수 없어요.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9021</TotalTime>
  <Words>1677</Words>
  <Application>Microsoft Office PowerPoint</Application>
  <PresentationFormat>와이드스크린</PresentationFormat>
  <Paragraphs>293</Paragraphs>
  <Slides>26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5" baseType="lpstr">
      <vt:lpstr>AppleSDGothicNeoB00</vt:lpstr>
      <vt:lpstr>굴림</vt:lpstr>
      <vt:lpstr>나눔스퀘어라운드 ExtraBold</vt:lpstr>
      <vt:lpstr>돋움</vt:lpstr>
      <vt:lpstr>Malgun Gothic</vt:lpstr>
      <vt:lpstr>Malgun Gothic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239</cp:revision>
  <cp:lastPrinted>2024-06-05T04:53:22Z</cp:lastPrinted>
  <dcterms:created xsi:type="dcterms:W3CDTF">2023-10-31T05:50:03Z</dcterms:created>
  <dcterms:modified xsi:type="dcterms:W3CDTF">2025-01-14T02:18:05Z</dcterms:modified>
</cp:coreProperties>
</file>