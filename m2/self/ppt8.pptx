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0"/>
  </p:notesMasterIdLst>
  <p:handoutMasterIdLst>
    <p:handoutMasterId r:id="rId21"/>
  </p:handoutMasterIdLst>
  <p:sldIdLst>
    <p:sldId id="302" r:id="rId2"/>
    <p:sldId id="301" r:id="rId3"/>
    <p:sldId id="258" r:id="rId4"/>
    <p:sldId id="391" r:id="rId5"/>
    <p:sldId id="366" r:id="rId6"/>
    <p:sldId id="367" r:id="rId7"/>
    <p:sldId id="392" r:id="rId8"/>
    <p:sldId id="405" r:id="rId27"/>
    <p:sldId id="406" r:id="rId28"/>
    <p:sldId id="407" r:id="rId29"/>
    <p:sldId id="393" r:id="rId9"/>
    <p:sldId id="396" r:id="rId10"/>
    <p:sldId id="397" r:id="rId11"/>
    <p:sldId id="395" r:id="rId12"/>
    <p:sldId id="398" r:id="rId13"/>
    <p:sldId id="399" r:id="rId14"/>
    <p:sldId id="401" r:id="rId15"/>
    <p:sldId id="402" r:id="rId16"/>
    <p:sldId id="403" r:id="rId17"/>
    <p:sldId id="408" r:id="rId30"/>
    <p:sldId id="409" r:id="rId31"/>
    <p:sldId id="410" r:id="rId32"/>
    <p:sldId id="411" r:id="rId33"/>
    <p:sldId id="412" r:id="rId34"/>
    <p:sldId id="404" r:id="rId18"/>
    <p:sldId id="413" r:id="rId35"/>
    <p:sldId id="414" r:id="rId36"/>
    <p:sldId id="415" r:id="rId37"/>
    <p:sldId id="416" r:id="rId38"/>
    <p:sldId id="348" r:id="rId19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9A75"/>
    <a:srgbClr val="843C0C"/>
    <a:srgbClr val="F3F2FF"/>
    <a:srgbClr val="E8F6FD"/>
    <a:srgbClr val="E7DBD3"/>
    <a:srgbClr val="FFF7EE"/>
    <a:srgbClr val="FF9300"/>
    <a:srgbClr val="FFFF00"/>
    <a:srgbClr val="D9E1E9"/>
    <a:srgbClr val="F0FF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84" d="100"/>
          <a:sy n="84" d="100"/>
        </p:scale>
        <p:origin x="114" y="294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발문</a:t>
            </a:r>
          </a:p>
          <a:p>
            <a:r>
              <a:t>봉사 활동은? (경제적 보상 없음) 절도나 사기는? (윤리적이지 않음) 하루 아르바이트는? (지속성)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마음 열기</a:t>
            </a:r>
          </a:p>
          <a:p>
            <a:r>
              <a:t>활동 화면 8 투표. “그래도 일한다”는 학생의 이유에서 자아실현·사회 기여가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60쪽 자료</a:t>
            </a:r>
          </a:p>
          <a:p>
            <a:r>
              <a:t>“돈이냐 의미냐”는 잘못된 물음 — 돈과 의미는 둘 중 하나를 고르는 문제가 아니라 소중한 것을 평가하는 두 척도(『일의 철학』).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직업에 대한 자부심</a:t>
            </a:r>
          </a:p>
          <a:p>
            <a:r>
              <a:t>JR 동일본의 자회사 테셀(TESSEI)의 청소 팀 이야기는 하버드 경영 대학원 사례로도 소개되었다. 일의 의미를 스스로 발견할 때 직업은 자아실현이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직업에 귀천이 없다</a:t>
            </a:r>
          </a:p>
          <a:p>
            <a:r>
              <a:t>필라델피아의 중학생들에게 한 연설. 어떤 일을 하든 최선을 다하는 사람이 존경받아야 한다고 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사상가의 직업관 (교과서 62쪽)</a:t>
            </a:r>
          </a:p>
          <a:p>
            <a:r>
              <a:t>공자: “임금은 임금답게, 신하는 신하답게…”(『논어』 「안연」) — 자기 역할을 다하기. 플라톤: 『국가』에서 각 계층이 자기 일을 잘할 때 정의로운 국가. 칼뱅: 직업을 신의 부르심(소명)으로 보아 성실한 노동을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직업의 조건과 가치를 구분해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직업의 조건과 가치를 구분해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직업의 조건과 가치를 구분해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직업윤리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454485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atin typeface="Arial Rounded MT Bold" panose="020F0704030504030204" pitchFamily="34" charset="0"/>
              </a:rPr>
              <a:t>삶에서 직업이 갖는 </a:t>
            </a:r>
            <a:endParaRPr lang="en-US" altLang="ko-KR" sz="5400" b="1" dirty="0" smtClean="0">
              <a:latin typeface="Arial Rounded MT Bold" panose="020F0704030504030204" pitchFamily="34" charset="0"/>
            </a:endParaRPr>
          </a:p>
          <a:p>
            <a:r>
              <a:rPr lang="ko-KR" altLang="en-US" sz="5400" b="1" dirty="0" smtClean="0">
                <a:latin typeface="Arial Rounded MT Bold" panose="020F0704030504030204" pitchFamily="34" charset="0"/>
              </a:rPr>
              <a:t>의미는 </a:t>
            </a:r>
            <a:r>
              <a:rPr lang="ko-KR" altLang="en-US" sz="5400" b="1" dirty="0">
                <a:latin typeface="Arial Rounded MT Bold" panose="020F0704030504030204" pitchFamily="34" charset="0"/>
              </a:rPr>
              <a:t>무엇일까</a:t>
            </a:r>
            <a:r>
              <a:rPr lang="en-US" altLang="ko-KR" sz="5400" b="1" dirty="0">
                <a:latin typeface="Arial Rounded MT Bold" panose="020F0704030504030204" pitchFamily="34" charset="0"/>
              </a:rPr>
              <a:t>?</a:t>
            </a:r>
            <a:endParaRPr lang="ko-KR" altLang="en-US" sz="54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 smtClean="0">
                <a:solidFill>
                  <a:schemeClr val="dk1"/>
                </a:solidFill>
                <a:latin typeface="+mn-ea"/>
              </a:rPr>
              <a:t>직업의 </a:t>
            </a: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의미를 말할 수 있다</a:t>
            </a:r>
            <a:r>
              <a:rPr lang="en-US" altLang="ko-KR" sz="2800" b="1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68530"/>
            <a:ext cx="10293350" cy="787400"/>
            <a:chOff x="914400" y="2362200"/>
            <a:chExt cx="10293350" cy="787400"/>
          </a:xfrm>
        </p:grpSpPr>
        <p:sp>
          <p:nvSpPr>
            <p:cNvPr id="32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2977777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 smtClean="0">
                <a:solidFill>
                  <a:schemeClr val="dk1"/>
                </a:solidFill>
                <a:latin typeface="+mn-ea"/>
              </a:rPr>
              <a:t>삶에서 </a:t>
            </a: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직업이 갖는 가치를 설명할 수 </a:t>
            </a:r>
            <a:r>
              <a:rPr lang="ko-KR" altLang="en-US" sz="2800" b="1" dirty="0" smtClean="0">
                <a:solidFill>
                  <a:schemeClr val="dk1"/>
                </a:solidFill>
                <a:latin typeface="+mn-ea"/>
              </a:rPr>
              <a:t>있다</a:t>
            </a:r>
            <a:r>
              <a:rPr lang="en-US" altLang="ko-KR" sz="2800" b="1" dirty="0" smtClean="0">
                <a:solidFill>
                  <a:schemeClr val="dk1"/>
                </a:solidFill>
                <a:latin typeface="+mn-ea"/>
              </a:rPr>
              <a:t>.</a:t>
            </a:r>
            <a:endParaRPr lang="en-US" altLang="ko-KR" sz="2800" b="1" dirty="0">
              <a:solidFill>
                <a:schemeClr val="dk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01489" y="942681"/>
            <a:ext cx="675717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731814" y="1993706"/>
            <a:ext cx="10337575" cy="4038959"/>
            <a:chOff x="731814" y="2148085"/>
            <a:chExt cx="10337575" cy="4038959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1814" y="2178272"/>
              <a:ext cx="9940266" cy="3856524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10101489" y="5842660"/>
              <a:ext cx="664142" cy="344384"/>
            </a:xfrm>
            <a:prstGeom prst="rect">
              <a:avLst/>
            </a:prstGeom>
            <a:solidFill>
              <a:srgbClr val="E8F6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10405247" y="2148085"/>
              <a:ext cx="664142" cy="1010750"/>
            </a:xfrm>
            <a:prstGeom prst="rect">
              <a:avLst/>
            </a:prstGeom>
            <a:solidFill>
              <a:srgbClr val="E8F6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타원 2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01489" y="942681"/>
            <a:ext cx="675717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타원 2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358601" y="1468688"/>
            <a:ext cx="9452349" cy="4713437"/>
            <a:chOff x="1156720" y="1468688"/>
            <a:chExt cx="9452349" cy="4713437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56720" y="1468689"/>
              <a:ext cx="9452349" cy="4713436"/>
            </a:xfrm>
            <a:prstGeom prst="rect">
              <a:avLst/>
            </a:prstGeom>
          </p:spPr>
        </p:pic>
        <p:sp>
          <p:nvSpPr>
            <p:cNvPr id="28" name="직사각형 27"/>
            <p:cNvSpPr/>
            <p:nvPr/>
          </p:nvSpPr>
          <p:spPr>
            <a:xfrm>
              <a:off x="2515058" y="1468688"/>
              <a:ext cx="1447561" cy="281918"/>
            </a:xfrm>
            <a:prstGeom prst="rect">
              <a:avLst/>
            </a:prstGeom>
            <a:solidFill>
              <a:srgbClr val="E8F6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1596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3550024" y="2856609"/>
            <a:ext cx="7530726" cy="3449186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7944" y="2856608"/>
            <a:ext cx="706581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연구를 통해 같은 직업을 가진 </a:t>
            </a:r>
            <a:r>
              <a:rPr lang="ko-KR" altLang="en-US" sz="2400" dirty="0" smtClean="0">
                <a:latin typeface="+mn-ea"/>
              </a:rPr>
              <a:t>사람이라도</a:t>
            </a:r>
            <a:endParaRPr lang="en-US" altLang="ko-KR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40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에 따라서 행복할 </a:t>
            </a:r>
            <a:r>
              <a:rPr lang="ko-KR" altLang="en-US" sz="2400" dirty="0">
                <a:latin typeface="+mn-ea"/>
              </a:rPr>
              <a:t>수도 있고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행복하지 않을 수도 있다는 것을 알았습니다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만화를 보고 연구자가 연구를 통해 내린 결론을 예상하여 </a:t>
            </a:r>
            <a:r>
              <a:rPr lang="ko-KR" altLang="en-US" sz="2000" b="1" dirty="0" err="1">
                <a:latin typeface="+mn-ea"/>
              </a:rPr>
              <a:t>말풍선에</a:t>
            </a:r>
            <a:r>
              <a:rPr lang="ko-KR" altLang="en-US" sz="2000" b="1" dirty="0">
                <a:latin typeface="+mn-ea"/>
              </a:rPr>
              <a:t> 써 보자</a:t>
            </a:r>
            <a:r>
              <a:rPr lang="en-US" altLang="ko-KR" sz="2000" b="1" dirty="0">
                <a:latin typeface="+mn-ea"/>
              </a:rPr>
              <a:t>. 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3" name="그림 3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9957"/>
            <a:ext cx="487174" cy="487174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9957"/>
            <a:ext cx="1087577" cy="495431"/>
            <a:chOff x="10075659" y="2003022"/>
            <a:chExt cx="1156006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01489" y="942681"/>
            <a:ext cx="675717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35" y="3096858"/>
            <a:ext cx="3450320" cy="376114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817944" y="3547864"/>
            <a:ext cx="695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자신이 하는 일에서 의미를 찾을 수 있는가</a:t>
            </a:r>
          </a:p>
        </p:txBody>
      </p:sp>
      <p:cxnSp>
        <p:nvCxnSpPr>
          <p:cNvPr id="7" name="직선 연결선 6"/>
          <p:cNvCxnSpPr/>
          <p:nvPr/>
        </p:nvCxnSpPr>
        <p:spPr>
          <a:xfrm flipV="1">
            <a:off x="3907043" y="4015623"/>
            <a:ext cx="685270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 flipV="1">
            <a:off x="3907043" y="4718861"/>
            <a:ext cx="685270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70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40" grpId="0"/>
      <p:bldP spid="4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15186"/>
            <a:ext cx="11028475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rgbClr val="843C0C"/>
                </a:solidFill>
                <a:latin typeface="+mn-ea"/>
              </a:rPr>
              <a:t>직업의 의미</a:t>
            </a:r>
            <a:endParaRPr lang="en-US" altLang="ko-KR" sz="2500" b="1" dirty="0">
              <a:solidFill>
                <a:srgbClr val="843C0C"/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우리는 살아가면서 가정에서 </a:t>
            </a:r>
            <a:r>
              <a:rPr lang="ko-KR" altLang="en-US" sz="2400" dirty="0">
                <a:latin typeface="+mn-ea"/>
              </a:rPr>
              <a:t>집안일을 하거나 일터에서 맡은 </a:t>
            </a:r>
            <a:r>
              <a:rPr lang="ko-KR" altLang="en-US" sz="2400" dirty="0" smtClean="0">
                <a:latin typeface="+mn-ea"/>
              </a:rPr>
              <a:t>일을 </a:t>
            </a:r>
            <a:r>
              <a:rPr lang="ko-KR" altLang="en-US" sz="2400" dirty="0">
                <a:latin typeface="+mn-ea"/>
              </a:rPr>
              <a:t>수행하기도 하고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공부를 하거나 때로는 봉사 활동을 하기도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이렇게 다양한 </a:t>
            </a:r>
            <a:r>
              <a:rPr lang="ko-KR" altLang="en-US" sz="2400" dirty="0">
                <a:latin typeface="+mn-ea"/>
              </a:rPr>
              <a:t>일 중에서 노동력을 제공한 대가를 받으며 자발적으로 일정한 기간 </a:t>
            </a:r>
            <a:r>
              <a:rPr lang="ko-KR" altLang="en-US" sz="2400" dirty="0" smtClean="0">
                <a:latin typeface="+mn-ea"/>
              </a:rPr>
              <a:t>계속하여 </a:t>
            </a:r>
            <a:r>
              <a:rPr lang="ko-KR" altLang="en-US" sz="2400" dirty="0">
                <a:latin typeface="+mn-ea"/>
              </a:rPr>
              <a:t>하는 </a:t>
            </a:r>
            <a:r>
              <a:rPr lang="ko-KR" altLang="en-US" sz="2400" dirty="0" smtClean="0">
                <a:latin typeface="+mn-ea"/>
              </a:rPr>
              <a:t>일을 </a:t>
            </a:r>
            <a:r>
              <a:rPr lang="en-US" altLang="ko-KR" sz="2400" dirty="0" smtClean="0">
                <a:latin typeface="+mn-ea"/>
              </a:rPr>
              <a:t>‘</a:t>
            </a:r>
            <a:r>
              <a:rPr lang="ko-KR" altLang="en-US" sz="2400" dirty="0" smtClean="0">
                <a:latin typeface="+mn-ea"/>
              </a:rPr>
              <a:t>직업</a:t>
            </a:r>
            <a:r>
              <a:rPr lang="en-US" altLang="ko-KR" sz="2400" dirty="0" smtClean="0">
                <a:latin typeface="+mn-ea"/>
              </a:rPr>
              <a:t>’</a:t>
            </a:r>
            <a:r>
              <a:rPr lang="ko-KR" altLang="en-US" sz="2400" dirty="0" smtClean="0">
                <a:latin typeface="+mn-ea"/>
              </a:rPr>
              <a:t>이라고 함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직업의 의미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03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15186"/>
            <a:ext cx="1130077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직업의 </a:t>
            </a: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조건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경제적인 보상을 얻을 수 있어야 함</a:t>
            </a:r>
            <a:r>
              <a:rPr lang="en-US" altLang="ko-KR" sz="2400" dirty="0">
                <a:latin typeface="+mn-ea"/>
              </a:rPr>
              <a:t>. </a:t>
            </a:r>
            <a:br>
              <a:rPr lang="en-US" altLang="ko-KR" sz="2400" dirty="0">
                <a:latin typeface="+mn-ea"/>
              </a:rPr>
            </a:br>
            <a:r>
              <a:rPr lang="en-US" altLang="ko-KR" sz="2200" dirty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200" dirty="0">
                <a:solidFill>
                  <a:srgbClr val="843C0C"/>
                </a:solidFill>
                <a:latin typeface="+mn-ea"/>
              </a:rPr>
              <a:t>) 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봉사 활동은 경제적인 보상을 받지 않으므로 꾸준히 하여도 직업이 아님</a:t>
            </a:r>
            <a:r>
              <a:rPr lang="en-US" altLang="ko-KR" sz="2200" dirty="0">
                <a:solidFill>
                  <a:srgbClr val="843C0C"/>
                </a:solidFill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지속적으로 수행하는 일상의 </a:t>
            </a:r>
            <a:r>
              <a:rPr lang="ko-KR" altLang="en-US" sz="2400" dirty="0" err="1">
                <a:latin typeface="+mn-ea"/>
              </a:rPr>
              <a:t>활동이어야</a:t>
            </a:r>
            <a:r>
              <a:rPr lang="ko-KR" altLang="en-US" sz="2400" dirty="0">
                <a:latin typeface="+mn-ea"/>
              </a:rPr>
              <a:t> 함</a:t>
            </a:r>
            <a:r>
              <a:rPr lang="en-US" altLang="ko-KR" sz="2400" dirty="0">
                <a:latin typeface="+mn-ea"/>
              </a:rPr>
              <a:t>.</a:t>
            </a:r>
            <a:br>
              <a:rPr lang="en-US" altLang="ko-KR" sz="2400" dirty="0">
                <a:latin typeface="+mn-ea"/>
              </a:rPr>
            </a:br>
            <a:r>
              <a:rPr lang="en-US" altLang="ko-KR" sz="2200" dirty="0" smtClean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200" dirty="0">
                <a:solidFill>
                  <a:srgbClr val="843C0C"/>
                </a:solidFill>
                <a:latin typeface="+mn-ea"/>
              </a:rPr>
              <a:t>)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 일시적으로 하는 것이 아니라 </a:t>
            </a: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계속해서 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수행하는 </a:t>
            </a: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일이어야 함</a:t>
            </a:r>
            <a:r>
              <a:rPr lang="en-US" altLang="ko-KR" sz="2200" dirty="0" smtClean="0">
                <a:solidFill>
                  <a:srgbClr val="843C0C"/>
                </a:solidFill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자발적으로 하는 행위여야 함</a:t>
            </a:r>
            <a:r>
              <a:rPr lang="en-US" altLang="ko-KR" sz="2400" dirty="0" smtClean="0">
                <a:latin typeface="+mn-ea"/>
              </a:rPr>
              <a:t>. </a:t>
            </a:r>
            <a:br>
              <a:rPr lang="en-US" altLang="ko-KR" sz="2400" dirty="0" smtClean="0">
                <a:latin typeface="+mn-ea"/>
              </a:rPr>
            </a:br>
            <a:r>
              <a:rPr lang="en-US" altLang="ko-KR" sz="2200" dirty="0" smtClean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200" dirty="0" smtClean="0">
                <a:solidFill>
                  <a:srgbClr val="843C0C"/>
                </a:solidFill>
                <a:latin typeface="+mn-ea"/>
              </a:rPr>
              <a:t>)</a:t>
            </a: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 누군가의 강요에 의해 강제로 하는 일은 직업이 아님</a:t>
            </a:r>
            <a:r>
              <a:rPr lang="en-US" altLang="ko-KR" sz="2200" dirty="0" smtClean="0">
                <a:solidFill>
                  <a:srgbClr val="843C0C"/>
                </a:solidFill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윤리적이어야 </a:t>
            </a:r>
            <a:r>
              <a:rPr lang="ko-KR" altLang="en-US" sz="2400" dirty="0">
                <a:latin typeface="+mn-ea"/>
              </a:rPr>
              <a:t>함</a:t>
            </a:r>
            <a:r>
              <a:rPr lang="en-US" altLang="ko-KR" sz="2400" dirty="0">
                <a:latin typeface="+mn-ea"/>
              </a:rPr>
              <a:t>. </a:t>
            </a:r>
            <a:br>
              <a:rPr lang="en-US" altLang="ko-KR" sz="2400" dirty="0">
                <a:latin typeface="+mn-ea"/>
              </a:rPr>
            </a:br>
            <a:r>
              <a:rPr lang="en-US" altLang="ko-KR" sz="2200" dirty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200" dirty="0">
                <a:solidFill>
                  <a:srgbClr val="843C0C"/>
                </a:solidFill>
                <a:latin typeface="+mn-ea"/>
              </a:rPr>
              <a:t>) 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절도나 사기는 윤리적이지 </a:t>
            </a: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못하므로 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경제적 이익이 생겨도 직업이 아님</a:t>
            </a:r>
            <a:r>
              <a:rPr lang="en-US" altLang="ko-KR" sz="2200" dirty="0" smtClean="0">
                <a:solidFill>
                  <a:srgbClr val="843C0C"/>
                </a:solidFill>
                <a:latin typeface="+mn-ea"/>
              </a:rPr>
              <a:t>.</a:t>
            </a:r>
            <a:endParaRPr lang="en-US" altLang="ko-KR" sz="2200" b="1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직업의 의미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타원 17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06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직업을 고를 때 돈과 의미 중 무엇을 기준으로 삼아야 하나요</a:t>
            </a:r>
            <a:r>
              <a:rPr lang="en-US" altLang="ko-KR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82425" y="3036703"/>
            <a:ext cx="2900101" cy="3569650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576583" y="2367689"/>
            <a:ext cx="8104279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많은 사람이 ‘돈을 좇느냐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의미 있는 일을 하느냐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?’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를 두고 고민한다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무엇을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선택해야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할까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돈일까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아니면 의미일까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정답은 없다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물음부터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잘못됐기 때문이다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돈과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의미 중 하나만을 골라야 한다는 생각은 그른 생각이다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돈을 많이 버는 것과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의미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있는 일을 하는 것은 둘 중 하나를 선택해야 하는 문제가 아니다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돈과 의미는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내가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소중하게 여기는 것을 평가하는 두 가지 다른 척도일 뿐이다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빌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버넷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 외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일의 철학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endParaRPr lang="en-US" altLang="ko-KR" sz="14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6959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4324752"/>
            <a:ext cx="4500748" cy="25332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40018" y="1596520"/>
            <a:ext cx="8601887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저는 예전부터 그림 그리는 일이 즐거웠어요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제가 잘하는 일이기도 하였지요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그래서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그림을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그리는 직업에는 무엇이 있는지 찾다가 만화와 관련된 여러 경험을 쌓아 만화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작가가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되었고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지금은 웹툰 작가로 활동하고 있습니다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자신의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재능을 발휘하는 일을 할 수 있고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 일이 즐겁기까지 하다면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행복한 사람이겠지요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저에게는 웹툰 작가가 바로 그런 사람이에요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자신이 원하고 좋아하는 일을 하면서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즐거움을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찾는 인생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괜찮은 인생 아닌가요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en-US" altLang="ko-KR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5" name="자유형 4"/>
          <p:cNvSpPr/>
          <p:nvPr/>
        </p:nvSpPr>
        <p:spPr>
          <a:xfrm>
            <a:off x="4429496" y="5818909"/>
            <a:ext cx="7291449" cy="1104405"/>
          </a:xfrm>
          <a:custGeom>
            <a:avLst/>
            <a:gdLst>
              <a:gd name="connsiteX0" fmla="*/ 0 w 7291449"/>
              <a:gd name="connsiteY0" fmla="*/ 0 h 1104405"/>
              <a:gd name="connsiteX1" fmla="*/ 7291449 w 7291449"/>
              <a:gd name="connsiteY1" fmla="*/ 1068779 h 1104405"/>
              <a:gd name="connsiteX2" fmla="*/ 0 w 7291449"/>
              <a:gd name="connsiteY2" fmla="*/ 1104405 h 1104405"/>
              <a:gd name="connsiteX3" fmla="*/ 0 w 7291449"/>
              <a:gd name="connsiteY3" fmla="*/ 0 h 1104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1449" h="1104405">
                <a:moveTo>
                  <a:pt x="0" y="0"/>
                </a:moveTo>
                <a:lnTo>
                  <a:pt x="7291449" y="1068779"/>
                </a:lnTo>
                <a:lnTo>
                  <a:pt x="0" y="1104405"/>
                </a:lnTo>
                <a:lnTo>
                  <a:pt x="0" y="0"/>
                </a:lnTo>
                <a:close/>
              </a:path>
            </a:pathLst>
          </a:custGeom>
          <a:solidFill>
            <a:srgbClr val="B79A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61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4324752"/>
            <a:ext cx="4500748" cy="25332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40018" y="1596520"/>
            <a:ext cx="8601887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제 작품을 좋아하고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제 작품을 보며 즐거움과 감동을 느끼는 독자들이 있다는 것은 참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근사한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일이에요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제가 매 작품마다 최선을 다하고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독자들이 제 작품을 보고 최고라고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말해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준다면 무척 행복할 것 같아요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그래서 저는 현재의 삶에 안주하기보다 계속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노력하여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발전하고 싶어요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손영완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만화 그리기를 멈출 수 없다면 웹툰 작가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endParaRPr lang="en-US" altLang="ko-KR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5" name="자유형 4"/>
          <p:cNvSpPr/>
          <p:nvPr/>
        </p:nvSpPr>
        <p:spPr>
          <a:xfrm>
            <a:off x="4429496" y="5818909"/>
            <a:ext cx="7291449" cy="1104405"/>
          </a:xfrm>
          <a:custGeom>
            <a:avLst/>
            <a:gdLst>
              <a:gd name="connsiteX0" fmla="*/ 0 w 7291449"/>
              <a:gd name="connsiteY0" fmla="*/ 0 h 1104405"/>
              <a:gd name="connsiteX1" fmla="*/ 7291449 w 7291449"/>
              <a:gd name="connsiteY1" fmla="*/ 1068779 h 1104405"/>
              <a:gd name="connsiteX2" fmla="*/ 0 w 7291449"/>
              <a:gd name="connsiteY2" fmla="*/ 1104405 h 1104405"/>
              <a:gd name="connsiteX3" fmla="*/ 0 w 7291449"/>
              <a:gd name="connsiteY3" fmla="*/ 0 h 1104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1449" h="1104405">
                <a:moveTo>
                  <a:pt x="0" y="0"/>
                </a:moveTo>
                <a:lnTo>
                  <a:pt x="7291449" y="1068779"/>
                </a:lnTo>
                <a:lnTo>
                  <a:pt x="0" y="1104405"/>
                </a:lnTo>
                <a:lnTo>
                  <a:pt x="0" y="0"/>
                </a:lnTo>
                <a:close/>
              </a:path>
            </a:pathLst>
          </a:custGeom>
          <a:solidFill>
            <a:srgbClr val="B79A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831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77382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윗글의 주인공이 직업을 선택할 때 중요하게 생각한 것을 써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자신의 흥미와 적성을 살릴 수 있는 직업인지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자신이 가진 재능과 잠재력을 잘 발휘할 수 있는 직업인지를 중요하게 생각하였다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7941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348" y="1579541"/>
            <a:ext cx="10520759" cy="516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7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가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ko-KR" altLang="en-US" sz="2000" b="1" dirty="0">
                <a:latin typeface="+mn-ea"/>
              </a:rPr>
              <a:t>는 어떤 동네의 저녁 모습이고</a:t>
            </a:r>
            <a:r>
              <a:rPr lang="en-US" altLang="ko-KR" sz="2000" b="1" dirty="0">
                <a:latin typeface="+mn-ea"/>
              </a:rPr>
              <a:t>, (</a:t>
            </a:r>
            <a:r>
              <a:rPr lang="ko-KR" altLang="en-US" sz="2000" b="1" dirty="0">
                <a:latin typeface="+mn-ea"/>
              </a:rPr>
              <a:t>나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ko-KR" altLang="en-US" sz="2000" b="1" dirty="0">
                <a:latin typeface="+mn-ea"/>
              </a:rPr>
              <a:t>는 며칠 뒤 아침 모습이다</a:t>
            </a:r>
            <a:r>
              <a:rPr lang="en-US" altLang="ko-KR" sz="2000" b="1" dirty="0">
                <a:latin typeface="+mn-ea"/>
              </a:rPr>
              <a:t>. </a:t>
            </a:r>
            <a:r>
              <a:rPr lang="ko-KR" altLang="en-US" sz="2000" b="1" dirty="0" smtClean="0">
                <a:latin typeface="+mn-ea"/>
              </a:rPr>
              <a:t>달라진 점을 </a:t>
            </a:r>
            <a:r>
              <a:rPr lang="ko-KR" altLang="en-US" sz="2000" b="1" dirty="0">
                <a:latin typeface="+mn-ea"/>
              </a:rPr>
              <a:t>찾아 ◯표를 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이러한 변화를 만든 사람이 누구일지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4875" y="3322761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787399" y="3322761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3217" y="2839090"/>
            <a:ext cx="7713288" cy="334405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7399" y="2683401"/>
            <a:ext cx="27571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달라진 점 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4041422" y="2683401"/>
            <a:ext cx="6630658" cy="3576155"/>
            <a:chOff x="4041422" y="2683401"/>
            <a:chExt cx="6630658" cy="3576155"/>
          </a:xfrm>
        </p:grpSpPr>
        <p:sp>
          <p:nvSpPr>
            <p:cNvPr id="2" name="타원 1"/>
            <p:cNvSpPr/>
            <p:nvPr/>
          </p:nvSpPr>
          <p:spPr>
            <a:xfrm>
              <a:off x="5134052" y="5593278"/>
              <a:ext cx="1264092" cy="630800"/>
            </a:xfrm>
            <a:prstGeom prst="ellips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041422" y="5298345"/>
              <a:ext cx="1092630" cy="884797"/>
            </a:xfrm>
            <a:prstGeom prst="ellips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6" name="타원 25"/>
            <p:cNvSpPr/>
            <p:nvPr/>
          </p:nvSpPr>
          <p:spPr>
            <a:xfrm>
              <a:off x="9579450" y="2683401"/>
              <a:ext cx="1092630" cy="884797"/>
            </a:xfrm>
            <a:prstGeom prst="ellips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7" name="타원 26"/>
            <p:cNvSpPr/>
            <p:nvPr/>
          </p:nvSpPr>
          <p:spPr>
            <a:xfrm>
              <a:off x="9096359" y="5628756"/>
              <a:ext cx="1264092" cy="630800"/>
            </a:xfrm>
            <a:prstGeom prst="ellips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8" name="타원 27"/>
            <p:cNvSpPr/>
            <p:nvPr/>
          </p:nvSpPr>
          <p:spPr>
            <a:xfrm>
              <a:off x="8003729" y="5333823"/>
              <a:ext cx="1092630" cy="884797"/>
            </a:xfrm>
            <a:prstGeom prst="ellips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9" name="타원 28"/>
            <p:cNvSpPr/>
            <p:nvPr/>
          </p:nvSpPr>
          <p:spPr>
            <a:xfrm>
              <a:off x="5589431" y="2762677"/>
              <a:ext cx="1092630" cy="884797"/>
            </a:xfrm>
            <a:prstGeom prst="ellips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74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가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ko-KR" altLang="en-US" sz="2000" b="1" dirty="0">
                <a:latin typeface="+mn-ea"/>
              </a:rPr>
              <a:t>는 어떤 동네의 저녁 모습이고</a:t>
            </a:r>
            <a:r>
              <a:rPr lang="en-US" altLang="ko-KR" sz="2000" b="1" dirty="0">
                <a:latin typeface="+mn-ea"/>
              </a:rPr>
              <a:t>, (</a:t>
            </a:r>
            <a:r>
              <a:rPr lang="ko-KR" altLang="en-US" sz="2000" b="1" dirty="0">
                <a:latin typeface="+mn-ea"/>
              </a:rPr>
              <a:t>나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ko-KR" altLang="en-US" sz="2000" b="1" dirty="0">
                <a:latin typeface="+mn-ea"/>
              </a:rPr>
              <a:t>는 며칠 뒤 아침 모습이다</a:t>
            </a:r>
            <a:r>
              <a:rPr lang="en-US" altLang="ko-KR" sz="2000" b="1" dirty="0">
                <a:latin typeface="+mn-ea"/>
              </a:rPr>
              <a:t>. </a:t>
            </a:r>
            <a:r>
              <a:rPr lang="ko-KR" altLang="en-US" sz="2000" b="1" dirty="0" smtClean="0">
                <a:latin typeface="+mn-ea"/>
              </a:rPr>
              <a:t>달라진 점을 </a:t>
            </a:r>
            <a:r>
              <a:rPr lang="ko-KR" altLang="en-US" sz="2000" b="1" dirty="0">
                <a:latin typeface="+mn-ea"/>
              </a:rPr>
              <a:t>찾아 ◯표를 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이러한 변화를 만든 사람이 누구일지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8187" y="2718736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3380711" y="2718736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7399" y="2683401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변화를 만든 사람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327290"/>
            <a:ext cx="10293350" cy="179137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2556" y="3334900"/>
            <a:ext cx="46820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환경미화원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도시 시설을 수리하는 기술자</a:t>
            </a:r>
          </a:p>
        </p:txBody>
      </p: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31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6" grpId="0"/>
      <p:bldP spid="26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직업의 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가치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생계유지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인간이 살아가려면 </a:t>
            </a:r>
            <a:r>
              <a:rPr lang="ko-KR" altLang="en-US" sz="2400" dirty="0" smtClean="0">
                <a:latin typeface="+mn-ea"/>
              </a:rPr>
              <a:t>기본적인 </a:t>
            </a:r>
            <a:r>
              <a:rPr lang="ko-KR" altLang="en-US" sz="2400" dirty="0">
                <a:latin typeface="+mn-ea"/>
              </a:rPr>
              <a:t>생계를 유지하기 위한 소득이 </a:t>
            </a:r>
            <a:r>
              <a:rPr lang="ko-KR" altLang="en-US" sz="2400" dirty="0" smtClean="0">
                <a:latin typeface="+mn-ea"/>
              </a:rPr>
              <a:t>필요함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직업을 </a:t>
            </a:r>
            <a:r>
              <a:rPr lang="ko-KR" altLang="en-US" sz="2400" dirty="0">
                <a:latin typeface="+mn-ea"/>
              </a:rPr>
              <a:t>통해 </a:t>
            </a:r>
            <a:r>
              <a:rPr lang="ko-KR" altLang="en-US" sz="2400" dirty="0" smtClean="0">
                <a:latin typeface="+mn-ea"/>
              </a:rPr>
              <a:t>경제적 보상을 </a:t>
            </a:r>
            <a:r>
              <a:rPr lang="ko-KR" altLang="en-US" sz="2400" dirty="0">
                <a:latin typeface="+mn-ea"/>
              </a:rPr>
              <a:t>얻고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이를 바탕으로 안정적으로 생활할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자아실현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우리는 직업 생활에서 자신이 지닌 잠재력을 마음껏 발휘함으로써 </a:t>
            </a:r>
            <a:r>
              <a:rPr lang="ko-KR" altLang="en-US" sz="2400" dirty="0" smtClean="0">
                <a:latin typeface="+mn-ea"/>
              </a:rPr>
              <a:t>자아실현을 하고</a:t>
            </a:r>
            <a:r>
              <a:rPr lang="en-US" altLang="ko-KR" sz="2400" dirty="0" smtClean="0">
                <a:latin typeface="+mn-ea"/>
              </a:rPr>
              <a:t>,</a:t>
            </a:r>
            <a:r>
              <a:rPr lang="ko-KR" altLang="en-US" sz="2400" dirty="0" smtClean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이를 통해 즐거움과 보람을 느끼며 살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441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직업의 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가치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타원 17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622056" y="1510186"/>
            <a:ext cx="11028475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사회 발전에 이바지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직업은 </a:t>
            </a:r>
            <a:r>
              <a:rPr lang="ko-KR" altLang="en-US" sz="2400" dirty="0" err="1">
                <a:latin typeface="+mn-ea"/>
              </a:rPr>
              <a:t>생계유지나</a:t>
            </a:r>
            <a:r>
              <a:rPr lang="ko-KR" altLang="en-US" sz="2400" dirty="0">
                <a:latin typeface="+mn-ea"/>
              </a:rPr>
              <a:t> 자아실현이라는 개인적 차원에서의 가치 외에 사회적 </a:t>
            </a:r>
            <a:r>
              <a:rPr lang="ko-KR" altLang="en-US" sz="2400" dirty="0" smtClean="0">
                <a:latin typeface="+mn-ea"/>
              </a:rPr>
              <a:t>차원에서의 </a:t>
            </a:r>
            <a:r>
              <a:rPr lang="ko-KR" altLang="en-US" sz="2400" dirty="0">
                <a:latin typeface="+mn-ea"/>
              </a:rPr>
              <a:t>가치도 </a:t>
            </a:r>
            <a:r>
              <a:rPr lang="ko-KR" altLang="en-US" sz="2400" dirty="0" smtClean="0">
                <a:latin typeface="+mn-ea"/>
              </a:rPr>
              <a:t>지님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우리는 </a:t>
            </a:r>
            <a:r>
              <a:rPr lang="ko-KR" altLang="en-US" sz="2400" dirty="0">
                <a:latin typeface="+mn-ea"/>
              </a:rPr>
              <a:t>직업을 통해 사회 </a:t>
            </a:r>
            <a:r>
              <a:rPr lang="ko-KR" altLang="en-US" sz="2400" dirty="0" smtClean="0">
                <a:latin typeface="+mn-ea"/>
              </a:rPr>
              <a:t>구성원으로서 </a:t>
            </a:r>
            <a:r>
              <a:rPr lang="ko-KR" altLang="en-US" sz="2400" dirty="0">
                <a:latin typeface="+mn-ea"/>
              </a:rPr>
              <a:t>역할을 분담하고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이를 수행하는 과정에서 사회 발전에 이바지할 </a:t>
            </a:r>
            <a:r>
              <a:rPr lang="ko-KR" altLang="en-US" sz="2400" dirty="0" smtClean="0">
                <a:latin typeface="+mn-ea"/>
              </a:rPr>
              <a:t>수 있음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32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4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직업의 가치를 잘 이해했는지 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V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표를 하며 점검하고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이 단원을 </a:t>
            </a:r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배우며 느낀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점을 써 </a:t>
            </a:r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5" y="4546283"/>
            <a:ext cx="8165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우리 사회를 유지 및 발전하도록 돕는 여러 직업인에게 감사함을 느꼈다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936087" y="3953767"/>
            <a:ext cx="1328154" cy="458932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느낀 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54762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4206598" y="2854762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604964" y="2854762"/>
            <a:ext cx="3400802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5916" y="2781066"/>
            <a:ext cx="2452744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생계유지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368296" y="2791824"/>
            <a:ext cx="2452744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자아실현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87494" y="2783912"/>
            <a:ext cx="29781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사회 발전에 이바지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461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smtClean="0">
                <a:solidFill>
                  <a:schemeClr val="tx1"/>
                </a:solidFill>
                <a:latin typeface="+mn-ea"/>
              </a:rPr>
              <a:t>“02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직업윤리가 필요한 까닭은 무엇일까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직업의 의미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직업 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우리가 살아가면서 하는 다양한 일 중에서 노동력을 제공한 대가를 받으며 자발적으로 일정한 기간 계속하여 하는 일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집안일, 공부, 봉사도 일이지만 직업은 아니다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직업과 직업이 아닌 것을 구분하는 조건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직업은 경제적인 보상을 얻을 수 있어야 함.  (예) 봉사 활동은 경제적 보상이 없으므로 직업이 아님.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직업은 지속적으로 수행하는 일상의 활동이어야 함.  (예) 일시적으로 하는 것은 직업이 아님.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직업은 자발적으로 하는 행위여야 함.  (예) 누군가의 강요에 의해 강제로 하는 일은 직업이 아님.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직업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우리가 살아가면서 하는 다양한 일 중에서 노동력을 제공한 대가를 받으며 자발적으로 일정한 기간 계속하여 하는 일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집안일, 공부, 봉사도 일이지만 직업은 아니다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직업과 직업이 아닌 것을 구분하는 조건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직업은 경제적인 보상을 얻을 수 있어야 함.  (예) 봉사 활동은 경제적 보상이 없으므로 직업이 아님.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직업은 지속적으로 수행하는 일상의 활동이어야 함.  (예) 일시적으로 하는 것은 직업이 아님.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직업은 자발적으로 하는 행위여야 함.  (예) 누군가의 강요에 의해 강제로 하는 일은 직업이 아님.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직업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우리가 살아가면서 하는 다양한 일 중에서 노동력을 제공한 대가를 받으며 자발적으로 일정한 기간 계속하여 하는 일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집안일, 공부, 봉사도 일이지만 직업은 아니다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직업과 직업이 아닌 것을 구분하는 조건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직업은 경제적인 보상을 얻을 수 있어야 함.  (예) 봉사 활동은 경제적 보상이 없으므로 직업이 아님.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직업은 지속적으로 수행하는 일상의 활동이어야 함.  (예) 일시적으로 하는 것은 직업이 아님.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직업은 자발적으로 하는 행위여야 함.  (예) 누군가의 강요에 의해 강제로 하는 일은 직업이 아님.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직업의 의미 (이어서)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직업은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윤리 </a:t>
            </a:r>
            <a:r>
              <a:rPr sz="2400" b="0">
                <a:solidFill>
                  <a:srgbClr val="262626"/>
                </a:solidFill>
              </a:rPr>
              <a:t>적이어야 함.  (예) 절도, 사기는 윤리적이지 못하므로 경제적인 이익이 생겨도 직업이 아님.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보이스피싱으로 돈을 벌어도 직업이라고 하지 않는다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윤리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적이어야 함.  (예) 절도, 사기는 윤리적이지 못하므로 경제적인 이익이 생겨도 직업이 아님.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보이스피싱으로 돈을 벌어도 직업이라고 하지 않는다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직업은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윤리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적이어야 함.  (예) 절도, 사기는 윤리적이지 못하므로 경제적인 이익이 생겨도 직업이 아님.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보이스피싱으로 돈을 벌어도 직업이라고 하지 않는다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b="1" dirty="0">
                <a:solidFill>
                  <a:srgbClr val="FFFF00"/>
                </a:solidFill>
                <a:latin typeface="+mn-ea"/>
              </a:rPr>
              <a:t>복권에 당첨되어 돈이 충분하다면, 그래도 일할까?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🙋 · 그래도 일한다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🏖️ · 일하지 않는다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직업의 가치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직업은 안정된 삶을 뒷받침하는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생계유지 </a:t>
            </a:r>
            <a:r>
              <a:rPr sz="2400" b="0">
                <a:solidFill>
                  <a:srgbClr val="262626"/>
                </a:solidFill>
              </a:rPr>
              <a:t> 수단임.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월급으로 집세를 내고 장을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우리는 직업을 통해 경제적인 보상을 얻고, 이를 바탕으로 안정적으로 생활할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직업을 통해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자아실현 </a:t>
            </a:r>
            <a:r>
              <a:rPr sz="2400" b="0">
                <a:solidFill>
                  <a:srgbClr val="262626"/>
                </a:solidFill>
              </a:rPr>
              <a:t>을 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그림을 좋아하던 주인공이 웹툰 작가가 되어 행복해하다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우리는 직업 생활에서 자신이 지닌 잠재력을 마음껏 발휘함으로써 자아실현을 하고, 이를 통해 즐거움과 보람을 느끼며 살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직업을 통해 사회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발전 </a:t>
            </a:r>
            <a:r>
              <a:rPr sz="2400" b="0">
                <a:solidFill>
                  <a:srgbClr val="262626"/>
                </a:solidFill>
              </a:rPr>
              <a:t>에 이바지 함.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직업은 안정된 삶을 뒷받침하는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생계유지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수단임.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월급으로 집세를 내고 장을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우리는 직업을 통해 경제적인 보상을 얻고, 이를 바탕으로 안정적으로 생활할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직업을 통해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자아실현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그림을 좋아하던 주인공이 웹툰 작가가 되어 행복해하다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우리는 직업 생활에서 자신이 지닌 잠재력을 마음껏 발휘함으로써 자아실현을 하고, 이를 통해 즐거움과 보람을 느끼며 살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직업을 통해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발전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이바지 함.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직업은 안정된 삶을 뒷받침하는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생계유지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수단임.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월급으로 집세를 내고 장을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우리는 직업을 통해 경제적인 보상을 얻고, 이를 바탕으로 안정적으로 생활할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직업을 통해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자아실현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그림을 좋아하던 주인공이 웹툰 작가가 되어 행복해하다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우리는 직업 생활에서 자신이 지닌 잠재력을 마음껏 발휘함으로써 자아실현을 하고, 이를 통해 즐거움과 보람을 느끼며 살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직업을 통해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발전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이바지 함.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직업은 안정된 삶을 뒷받침하는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생계유지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수단임.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월급으로 집세를 내고 장을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우리는 직업을 통해 경제적인 보상을 얻고, 이를 바탕으로 안정적으로 생활할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직업을 통해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자아실현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그림을 좋아하던 주인공이 웹툰 작가가 되어 행복해하다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우리는 직업 생활에서 자신이 지닌 잠재력을 마음껏 발휘함으로써 자아실현을 하고, 이를 통해 즐거움과 보람을 느끼며 살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직업을 통해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발전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이바지 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직업은 안정된 삶을 뒷받침하는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생계유지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수단임.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월급으로 집세를 내고 장을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우리는 직업을 통해 경제적인 보상을 얻고, 이를 바탕으로 안정적으로 생활할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직업을 통해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자아실현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그림을 좋아하던 주인공이 웹툰 작가가 되어 행복해하다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우리는 직업 생활에서 자신이 지닌 잠재력을 마음껏 발휘함으로써 자아실현을 하고, 이를 통해 즐거움과 보람을 느끼며 살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직업을 통해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발전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이바지 함.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직업은 안정된 삶을 뒷받침하는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생계유지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수단임.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월급으로 집세를 내고 장을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우리는 직업을 통해 경제적인 보상을 얻고, 이를 바탕으로 안정적으로 생활할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직업을 통해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자아실현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그림을 좋아하던 주인공이 웹툰 작가가 되어 행복해하다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우리는 직업 생활에서 자신이 지닌 잠재력을 마음껏 발휘함으로써 자아실현을 하고, 이를 통해 즐거움과 보람을 느끼며 살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직업을 통해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발전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이바지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직업의 가치 (이어서)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우리는 직업을 통해 사회 구성원으로서 역할을 분담하고, 이를 수행하는 과정에서 사회 발전에 이바지할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새벽 환경미화원 덕분에 깨끗한 아침 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우리는 직업을 통해 사회 구성원으로서 역할을 분담하고, 이를 수행하는 과정에서 사회 발전에 이바지할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새벽 환경미화원 덕분에 깨끗한 아침 거리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7분의 기적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일본 도쿄역 · 신칸센 청소 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시간 · 종착역에 도착한 고속 열차가 다시 떠나기까지 청소 시간은 7분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일 · 객실 한 칸을 한 사람이 맡아 좌석을 돌리고 쓰레기를 치운다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인사 · 열차가 들어오고 나갈 때 승객에게 고개 숙여 인사한다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변화 · ‘청소 노동자’에서 ‘여행을 완성하는 사람’으로 스스로를 다시 정의했다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같은 일도 무엇이 달라졌을까?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일본 도쿄역 · 신칸센 청소 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시간 · 종착역에 도착한 고속 열차가 다시 떠나기까지 청소 시간은 7분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일 · 객실 한 칸을 한 사람이 맡아 좌석을 돌리고 쓰레기를 치운다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인사 · 열차가 들어오고 나갈 때 승객에게 고개 숙여 인사한다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변화 · ‘청소 노동자’에서 ‘여행을 완성하는 사람’으로 스스로를 다시 정의했다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같은 일도 무엇이 달라졌을까?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사상가의 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“거리 청소부라면 미켈란젤로가 그림을 그리듯 베토벤이 곡을 쓰듯 거리를 쓸어라”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마틴 루서 킹, 「네 삶의 청사진은 무엇인가?」(1967) 연설의 뜻을 풀어 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동양과 서양의 직업관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60쪽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공자 · 정명 · 자기 자리의 이름값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플라톤 · 각자 자기 일을 잘할 때 정의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칼뱅 · 직업은 신이 맡긴 소명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봉사 활동은 경제적인 보상을 받지 않아도 꾸준히 한다면 직업으로 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직업은 개인적 차원에서 생계유지 수단이라는 가치를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직업은 사회적 차원에서 자아실현의 수단이라는 가치를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직업은 생계유지나 자아실현이라는 가치 외에 사회적 차원에서 사회 발전에 이바지할 수 있다는 가치를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봉사 활동은 경제적인 보상을 받지 않아도 꾸준히 한다면 직업으로 볼 수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직업은 개인적 차원에서 생계유지 수단이라는 가치를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직업은 사회적 차원에서 자아실현의 수단이라는 가치를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직업은 생계유지나 자아실현이라는 가치 외에 사회적 차원에서 사회 발전에 이바지할 수 있다는 가치를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봉사 활동은 경제적인 보상을 받지 않아도 꾸준히 한다면 직업으로 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직업은 개인적 차원에서 생계유지 수단이라는 가치를 지닌다.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직업은 사회적 차원에서 자아실현의 수단이라는 가치를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직업은 생계유지나 자아실현이라는 가치 외에 사회적 차원에서 사회 발전에 이바지할 수 있다는 가치를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봉사 활동은 경제적인 보상을 받지 않아도 꾸준히 한다면 직업으로 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직업은 개인적 차원에서 생계유지 수단이라는 가치를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직업은 사회적 차원에서 자아실현의 수단이라는 가치를 지닌다.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직업은 생계유지나 자아실현이라는 가치 외에 사회적 차원에서 사회 발전에 이바지할 수 있다는 가치를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봉사 활동은 경제적인 보상을 받지 않아도 꾸준히 한다면 직업으로 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직업은 개인적 차원에서 생계유지 수단이라는 가치를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직업은 사회적 차원에서 자아실현의 수단이라는 가치를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직업은 생계유지나 자아실현이라는 가치 외에 사회적 차원에서 사회 발전에 이바지할 수 있다는 가치를 지닌다.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직업일까? (60쪽 네 가지 조건)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직업이다 · 직업이 아니다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주말마다 하는 무료 봉사 활동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(경제적 보상 없음)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월급을 받으며 몇 년째 하는 간호사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직업이다 (네 조건 모두 충족)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남을 속여 돈을 버는 사기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(윤리적이지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딱 하루 해 본 행사 도우미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(지속성 없음)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스스로 선택해 꾸준히 하는 웹툰 작가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직업이다 (직업)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강제로 시키는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(자발성 없음)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직업이다 · 직업이 아니다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주말마다 하는 무료 봉사 활동</a:t>
            </a:r>
            <a:r>
              <a:rPr sz="2300" b="1">
                <a:solidFill>
                  <a:srgbClr val="C0392B"/>
                </a:solidFill>
              </a:rPr>
              <a:t>   → 직업이 아니다 (경제적 보상 없음)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월급을 받으며 몇 년째 하는 간호사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직업이다 (네 조건 모두 충족)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남을 속여 돈을 버는 사기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(윤리적이지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딱 하루 해 본 행사 도우미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(지속성 없음)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스스로 선택해 꾸준히 하는 웹툰 작가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직업이다 (직업)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강제로 시키는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(자발성 없음)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직업이다 · 직업이 아니다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주말마다 하는 무료 봉사 활동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(경제적 보상 없음)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월급을 받으며 몇 년째 하는 간호사 일</a:t>
            </a:r>
            <a:r>
              <a:rPr sz="2300" b="1">
                <a:solidFill>
                  <a:srgbClr val="C0392B"/>
                </a:solidFill>
              </a:rPr>
              <a:t>   → 직업이다 (네 조건 모두 충족)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남을 속여 돈을 버는 사기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(윤리적이지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딱 하루 해 본 행사 도우미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(지속성 없음)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스스로 선택해 꾸준히 하는 웹툰 작가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직업이다 (직업)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강제로 시키는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(자발성 없음)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직업이다 · 직업이 아니다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주말마다 하는 무료 봉사 활동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(경제적 보상 없음)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월급을 받으며 몇 년째 하는 간호사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직업이다 (네 조건 모두 충족)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남을 속여 돈을 버는 사기</a:t>
            </a:r>
            <a:r>
              <a:rPr sz="2300" b="1">
                <a:solidFill>
                  <a:srgbClr val="C0392B"/>
                </a:solidFill>
              </a:rPr>
              <a:t>   → 직업이 아니다 (윤리적이지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딱 하루 해 본 행사 도우미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(지속성 없음)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스스로 선택해 꾸준히 하는 웹툰 작가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직업이다 (직업)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강제로 시키는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(자발성 없음)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직업이다 · 직업이 아니다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주말마다 하는 무료 봉사 활동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(경제적 보상 없음)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월급을 받으며 몇 년째 하는 간호사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직업이다 (네 조건 모두 충족)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남을 속여 돈을 버는 사기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(윤리적이지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딱 하루 해 본 행사 도우미</a:t>
            </a:r>
            <a:r>
              <a:rPr sz="2300" b="1">
                <a:solidFill>
                  <a:srgbClr val="C0392B"/>
                </a:solidFill>
              </a:rPr>
              <a:t>   → 직업이 아니다 (지속성 없음)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스스로 선택해 꾸준히 하는 웹툰 작가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직업이다 (직업)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강제로 시키는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(자발성 없음)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직업이다 · 직업이 아니다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주말마다 하는 무료 봉사 활동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(경제적 보상 없음)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월급을 받으며 몇 년째 하는 간호사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직업이다 (네 조건 모두 충족)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남을 속여 돈을 버는 사기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(윤리적이지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딱 하루 해 본 행사 도우미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(지속성 없음)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스스로 선택해 꾸준히 하는 웹툰 작가 일</a:t>
            </a:r>
            <a:r>
              <a:rPr sz="2300" b="1">
                <a:solidFill>
                  <a:srgbClr val="C0392B"/>
                </a:solidFill>
              </a:rPr>
              <a:t>   → 직업이다 (직업)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강제로 시키는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(자발성 없음)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직업이다 · 직업이 아니다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주말마다 하는 무료 봉사 활동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(경제적 보상 없음)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월급을 받으며 몇 년째 하는 간호사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직업이다 (네 조건 모두 충족)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남을 속여 돈을 버는 사기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(윤리적이지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딱 하루 해 본 행사 도우미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 아니다 (지속성 없음)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스스로 선택해 꾸준히 하는 웹툰 작가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직업이다 (직업)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강제로 시키는 일</a:t>
            </a:r>
            <a:r>
              <a:rPr sz="2300" b="1">
                <a:solidFill>
                  <a:srgbClr val="C0392B"/>
                </a:solidFill>
              </a:rPr>
              <a:t>   → 직업이 아니다 (자발성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직업의 어떤 가치일까?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생계유지 · 자아실현 · 사회 발전에 이바지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월급으로 가족의 생활비를 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생계유지 (생계)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좋아하는 그림으로 독자에게 감동을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자아실현 (자아실현)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환경미화원 덕분에 거리가 깨끗해졌다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발전에 이바지 (사회 기여)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기술자가 가로등을 고쳤다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발전에 이바지 (사회 기여)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일을 할수록 실력이 늘어 보람차다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자아실현 (자아실현)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생계유지 · 자아실현 · 사회 발전에 이바지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월급으로 가족의 생활비를 낸다</a:t>
            </a:r>
            <a:r>
              <a:rPr sz="2300" b="1">
                <a:solidFill>
                  <a:srgbClr val="C0392B"/>
                </a:solidFill>
              </a:rPr>
              <a:t>   → 생계유지 (생계)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좋아하는 그림으로 독자에게 감동을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자아실현 (자아실현)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환경미화원 덕분에 거리가 깨끗해졌다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발전에 이바지 (사회 기여)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기술자가 가로등을 고쳤다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발전에 이바지 (사회 기여)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일을 할수록 실력이 늘어 보람차다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자아실현 (자아실현)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생계유지 · 자아실현 · 사회 발전에 이바지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월급으로 가족의 생활비를 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생계유지 (생계)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좋아하는 그림으로 독자에게 감동을 준다</a:t>
            </a:r>
            <a:r>
              <a:rPr sz="2300" b="1">
                <a:solidFill>
                  <a:srgbClr val="C0392B"/>
                </a:solidFill>
              </a:rPr>
              <a:t>   → 자아실현 (자아실현)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환경미화원 덕분에 거리가 깨끗해졌다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발전에 이바지 (사회 기여)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기술자가 가로등을 고쳤다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발전에 이바지 (사회 기여)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일을 할수록 실력이 늘어 보람차다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자아실현 (자아실현)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생계유지 · 자아실현 · 사회 발전에 이바지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월급으로 가족의 생활비를 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생계유지 (생계)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좋아하는 그림으로 독자에게 감동을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자아실현 (자아실현)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환경미화원 덕분에 거리가 깨끗해졌다</a:t>
            </a:r>
            <a:r>
              <a:rPr sz="2300" b="1">
                <a:solidFill>
                  <a:srgbClr val="C0392B"/>
                </a:solidFill>
              </a:rPr>
              <a:t>   → 사회 발전에 이바지 (사회 기여)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기술자가 가로등을 고쳤다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발전에 이바지 (사회 기여)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일을 할수록 실력이 늘어 보람차다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자아실현 (자아실현)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생계유지 · 자아실현 · 사회 발전에 이바지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월급으로 가족의 생활비를 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생계유지 (생계)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좋아하는 그림으로 독자에게 감동을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자아실현 (자아실현)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환경미화원 덕분에 거리가 깨끗해졌다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발전에 이바지 (사회 기여)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기술자가 가로등을 고쳤다</a:t>
            </a:r>
            <a:r>
              <a:rPr sz="2300" b="1">
                <a:solidFill>
                  <a:srgbClr val="C0392B"/>
                </a:solidFill>
              </a:rPr>
              <a:t>   → 사회 발전에 이바지 (사회 기여)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일을 할수록 실력이 늘어 보람차다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자아실현 (자아실현)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생계유지 · 자아실현 · 사회 발전에 이바지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월급으로 가족의 생활비를 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생계유지 (생계)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좋아하는 그림으로 독자에게 감동을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자아실현 (자아실현)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환경미화원 덕분에 거리가 깨끗해졌다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발전에 이바지 (사회 기여)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기술자가 가로등을 고쳤다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발전에 이바지 (사회 기여)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일을 할수록 실력이 늘어 보람차다</a:t>
            </a:r>
            <a:r>
              <a:rPr sz="2300" b="1">
                <a:solidFill>
                  <a:srgbClr val="C0392B"/>
                </a:solidFill>
              </a:rPr>
              <a:t>   → 자아실현 (자아실현)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➕ 돈이 충분하다면 그래도 일할까?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삶에서 직업이 갖는 의미는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직업윤리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손을 들어 투표해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🙋 그래도 일한다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🏖️ 일하지 않는다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🤔 잘 모르겠다   ✋ ____ 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8934</TotalTime>
  <Words>928</Words>
  <Application>Microsoft Office PowerPoint</Application>
  <PresentationFormat>와이드스크린</PresentationFormat>
  <Paragraphs>183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223</cp:revision>
  <cp:lastPrinted>2024-06-05T04:53:22Z</cp:lastPrinted>
  <dcterms:created xsi:type="dcterms:W3CDTF">2023-10-31T05:50:03Z</dcterms:created>
  <dcterms:modified xsi:type="dcterms:W3CDTF">2025-01-14T02:17:35Z</dcterms:modified>
</cp:coreProperties>
</file>