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3"/>
  </p:notesMasterIdLst>
  <p:handoutMasterIdLst>
    <p:handoutMasterId r:id="rId24"/>
  </p:handoutMasterIdLst>
  <p:sldIdLst>
    <p:sldId id="302" r:id="rId2"/>
    <p:sldId id="301" r:id="rId3"/>
    <p:sldId id="258" r:id="rId4"/>
    <p:sldId id="366" r:id="rId5"/>
    <p:sldId id="375" r:id="rId6"/>
    <p:sldId id="367" r:id="rId7"/>
    <p:sldId id="391" r:id="rId30"/>
    <p:sldId id="392" r:id="rId31"/>
    <p:sldId id="376" r:id="rId8"/>
    <p:sldId id="377" r:id="rId9"/>
    <p:sldId id="378" r:id="rId10"/>
    <p:sldId id="393" r:id="rId32"/>
    <p:sldId id="379" r:id="rId11"/>
    <p:sldId id="381" r:id="rId12"/>
    <p:sldId id="382" r:id="rId13"/>
    <p:sldId id="384" r:id="rId14"/>
    <p:sldId id="385" r:id="rId15"/>
    <p:sldId id="386" r:id="rId16"/>
    <p:sldId id="383" r:id="rId17"/>
    <p:sldId id="394" r:id="rId33"/>
    <p:sldId id="395" r:id="rId34"/>
    <p:sldId id="396" r:id="rId35"/>
    <p:sldId id="397" r:id="rId36"/>
    <p:sldId id="387" r:id="rId18"/>
    <p:sldId id="388" r:id="rId19"/>
    <p:sldId id="389" r:id="rId20"/>
    <p:sldId id="390" r:id="rId21"/>
    <p:sldId id="398" r:id="rId37"/>
    <p:sldId id="399" r:id="rId38"/>
    <p:sldId id="400" r:id="rId39"/>
    <p:sldId id="348" r:id="rId22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3C0C"/>
    <a:srgbClr val="E7DBD3"/>
    <a:srgbClr val="F3F2FF"/>
    <a:srgbClr val="FFF7EE"/>
    <a:srgbClr val="FF9300"/>
    <a:srgbClr val="FFFF00"/>
    <a:srgbClr val="D9E1E9"/>
    <a:srgbClr val="E8F6FD"/>
    <a:srgbClr val="F0FFF6"/>
    <a:srgbClr val="019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84" d="100"/>
          <a:sy n="84" d="100"/>
        </p:scale>
        <p:origin x="114" y="294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handoutMaster" Target="handoutMasters/handoutMaster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04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50~52쪽 · 고통의 원인별 다스리기</a:t>
            </a:r>
          </a:p>
          <a:p>
            <a:r>
              <a:t>지난 시간 배운 고통의 원인 세 가지(부정적인 생각, 욕심·집착, 갈등)와 짝지어 정리한다.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스토아의 지혜</a:t>
            </a:r>
          </a:p>
          <a:p>
            <a:r>
              <a:t>“어떤 것은 우리에게 달려 있고, 어떤 것은 우리에게 달려 있지 않다.”(『엥케이리디온』 1) 내 힘 밖의 일에 매달리면 괴롭고, 내 힘 안의 일에 집중하면 평온해진다.</a:t>
            </a:r>
          </a:p>
          <a:p>
            <a:r>
              <a:t>활동 화면 7에서 고민을 두 칸으로 나눠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통제의 이분법 적용</a:t>
            </a:r>
          </a:p>
          <a:p>
            <a:r>
              <a:t>시험 문제는 내 힘 밖, 잠과 컨디션은 내 힘 안. 걱정을 종이에 적어 두는 것만으로도 마음이 가라앉는다는 연구가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도움 자원</a:t>
            </a:r>
          </a:p>
          <a:p>
            <a:r>
              <a:t>1388: 청소년 상담 복지 센터(전화·문자·카카오톡). 109: 자살 예방 상담 전화(2024년부터 통합 번호). 친구가 힘들어 보이면 “괜찮아?” 한마디와 어른에게 알리기.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 명상을 하고, 원인에 맞는 평온의 방법을 골라 보자.</a:t>
            </a:r>
          </a:p>
          <a:p>
            <a:r>
              <a:t>⏱ 위로와 격려의 차 명상 (50쪽) 1분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 명상을 하고, 원인에 맞는 평온의 방법을 골라 보자.</a:t>
            </a:r>
          </a:p>
          <a:p>
            <a:r>
              <a:t>⏱ 위로와 격려의 차 명상 (50쪽) 1분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4.png"/><Relationship Id="rId3" Type="http://schemas.openxmlformats.org/officeDocument/2006/relationships/image" Target="../media/image24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9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0.png"/><Relationship Id="rId8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1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slide" Target="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4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24.png"/><Relationship Id="rId6" Type="http://schemas.openxmlformats.org/officeDocument/2006/relationships/image" Target="../media/image591.svg"/><Relationship Id="rId7" Type="http://schemas.openxmlformats.org/officeDocument/2006/relationships/slide" Target="slide18.xml"/><Relationship Id="rId8" Type="http://schemas.openxmlformats.org/officeDocument/2006/relationships/image" Target="../media/image45.png"/><Relationship Id="rId9" Type="http://schemas.openxmlformats.org/officeDocument/2006/relationships/image" Target="../media/image4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. </a:t>
            </a:r>
            <a:r>
              <a:rPr lang="ko-KR" altLang="en-US" sz="2800" b="1" dirty="0">
                <a:solidFill>
                  <a:schemeClr val="bg1"/>
                </a:solidFill>
                <a:latin typeface="+mj-ea"/>
                <a:ea typeface="+mj-ea"/>
              </a:rPr>
              <a:t>마음의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평화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454485"/>
            <a:ext cx="6933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atin typeface="Arial Rounded MT Bold" panose="020F0704030504030204" pitchFamily="34" charset="0"/>
              </a:rPr>
              <a:t>마음의 평온을 어떻게 얻을 수 있을까</a:t>
            </a:r>
            <a:r>
              <a:rPr lang="en-US" altLang="ko-KR" sz="5400" b="1" dirty="0">
                <a:latin typeface="Arial Rounded MT Bold" panose="020F0704030504030204" pitchFamily="34" charset="0"/>
              </a:rPr>
              <a:t>?</a:t>
            </a:r>
            <a:endParaRPr lang="ko-KR" altLang="en-US" sz="54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 smtClean="0">
                <a:solidFill>
                  <a:schemeClr val="dk1"/>
                </a:solidFill>
                <a:latin typeface="+mn-ea"/>
              </a:rPr>
              <a:t>마음의 </a:t>
            </a: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평온을 얻는 다양한 방법을 설명할 수 있다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 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57B4A80-0309-7BD0-AAF8-FF35B30F644B}"/>
              </a:ext>
            </a:extLst>
          </p:cNvPr>
          <p:cNvGrpSpPr/>
          <p:nvPr/>
        </p:nvGrpSpPr>
        <p:grpSpPr>
          <a:xfrm>
            <a:off x="787400" y="2933699"/>
            <a:ext cx="10293350" cy="1573773"/>
            <a:chOff x="914400" y="2362199"/>
            <a:chExt cx="10293350" cy="1573773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6561203-5AD4-D0C1-BA20-A7201ACE3939}"/>
                </a:ext>
              </a:extLst>
            </p:cNvPr>
            <p:cNvSpPr/>
            <p:nvPr/>
          </p:nvSpPr>
          <p:spPr>
            <a:xfrm>
              <a:off x="914400" y="2362199"/>
              <a:ext cx="10293350" cy="1573773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AAF1AF8C-61C0-A6D4-27A4-8B03BBAB0C4A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Col="288000" rtlCol="0" anchor="ctr"/>
            <a:lstStyle/>
            <a:p>
              <a:pPr algn="ctr"/>
              <a:endParaRPr lang="ko-KR" altLang="en-US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720905" cy="130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 smtClean="0">
                <a:solidFill>
                  <a:schemeClr val="dk1"/>
                </a:solidFill>
                <a:latin typeface="+mn-ea"/>
              </a:rPr>
              <a:t>마음의 </a:t>
            </a: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평온을 얻는 다양한 방법을 실천하여 건강한 마음을 지닌다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</a:t>
            </a:r>
            <a:endParaRPr lang="ko-KR" altLang="en-US" sz="2800" b="1" dirty="0">
              <a:solidFill>
                <a:schemeClr val="dk1"/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01489" y="942681"/>
            <a:ext cx="675717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" y="1698097"/>
            <a:ext cx="4191971" cy="3737841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774" y="1685398"/>
            <a:ext cx="3820222" cy="443600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704168" y="1929347"/>
            <a:ext cx="14146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소복소복 </a:t>
            </a:r>
          </a:p>
          <a:p>
            <a:pPr algn="ctr"/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눈 덮인 </a:t>
            </a:r>
          </a:p>
          <a:p>
            <a:pPr algn="ctr"/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우리 동네</a:t>
            </a:r>
            <a:endParaRPr lang="en-US" altLang="ko-KR" sz="14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823979" y="4559867"/>
            <a:ext cx="15981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옹기종기</a:t>
            </a:r>
          </a:p>
          <a:p>
            <a:pPr algn="ctr"/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모닥불 앞에 </a:t>
            </a:r>
          </a:p>
          <a:p>
            <a:pPr algn="ctr"/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모여 앉은</a:t>
            </a:r>
          </a:p>
          <a:p>
            <a:pPr algn="ctr"/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우리 가족</a:t>
            </a:r>
            <a:endParaRPr lang="en-US" altLang="ko-KR" sz="14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2" name="그림 41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7816" y="2676525"/>
            <a:ext cx="3776984" cy="395636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41950" y="5067867"/>
            <a:ext cx="14146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새근새근 </a:t>
            </a:r>
          </a:p>
          <a:p>
            <a:pPr algn="ctr"/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잠든 </a:t>
            </a:r>
          </a:p>
          <a:p>
            <a:pPr algn="ctr"/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우리 집 </a:t>
            </a:r>
          </a:p>
          <a:p>
            <a:pPr algn="ctr"/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막둥이</a:t>
            </a:r>
            <a:endParaRPr lang="en-US" altLang="ko-KR" sz="14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평온은 걱정이나 탈 없이 마음이 고요한 상태를 뜻한다</a:t>
            </a:r>
            <a:r>
              <a:rPr lang="en-US" altLang="ko-KR" sz="2000" b="1" dirty="0">
                <a:latin typeface="+mn-ea"/>
              </a:rPr>
              <a:t>. </a:t>
            </a:r>
            <a:r>
              <a:rPr lang="ko-KR" altLang="en-US" sz="2000" b="1" dirty="0">
                <a:latin typeface="+mn-ea"/>
              </a:rPr>
              <a:t>내가 평온했던 상황을 </a:t>
            </a:r>
            <a:r>
              <a:rPr lang="ko-KR" altLang="en-US" sz="2000" b="1" dirty="0" smtClean="0">
                <a:latin typeface="+mn-ea"/>
              </a:rPr>
              <a:t>떠올려 써 </a:t>
            </a:r>
            <a:r>
              <a:rPr lang="ko-KR" altLang="en-US" sz="2000" b="1" dirty="0">
                <a:latin typeface="+mn-ea"/>
              </a:rPr>
              <a:t>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이에 어울리는 제목을 붙여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7399" y="2603409"/>
            <a:ext cx="723900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/>
              <a:t>내가 </a:t>
            </a:r>
            <a:r>
              <a:rPr lang="ko-KR" altLang="en-US" sz="2000" dirty="0"/>
              <a:t>떠올린 </a:t>
            </a:r>
            <a:r>
              <a:rPr lang="ko-KR" altLang="en-US" sz="2000" dirty="0" smtClean="0"/>
              <a:t>상황</a:t>
            </a:r>
            <a:endParaRPr lang="ko-KR" altLang="en-US" sz="2000" dirty="0">
              <a:latin typeface="+mn-ea"/>
            </a:endParaRPr>
          </a:p>
        </p:txBody>
      </p:sp>
      <p:pic>
        <p:nvPicPr>
          <p:cNvPr id="33" name="그림 3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608089"/>
            <a:ext cx="487174" cy="487174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608089"/>
            <a:ext cx="1087577" cy="495431"/>
            <a:chOff x="10075659" y="2003022"/>
            <a:chExt cx="1156006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193619"/>
            <a:ext cx="10293350" cy="1035358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65588" y="3214488"/>
            <a:ext cx="9784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바다에서 튜브 위에 올라가 가만히 누워 파도에 몸을 맡겼던 상황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7399" y="4690715"/>
            <a:ext cx="723900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/>
              <a:t>내가 </a:t>
            </a:r>
            <a:r>
              <a:rPr lang="ko-KR" altLang="en-US" sz="2000" dirty="0"/>
              <a:t>붙인 </a:t>
            </a:r>
            <a:r>
              <a:rPr lang="ko-KR" altLang="en-US" sz="2000" dirty="0" smtClean="0"/>
              <a:t>제목</a:t>
            </a:r>
            <a:endParaRPr lang="ko-KR" altLang="en-US" sz="2000" dirty="0">
              <a:latin typeface="+mn-ea"/>
            </a:endParaRPr>
          </a:p>
        </p:txBody>
      </p:sp>
      <p:pic>
        <p:nvPicPr>
          <p:cNvPr id="42" name="그림 4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4695395"/>
            <a:ext cx="487174" cy="487174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4695395"/>
            <a:ext cx="1087577" cy="495431"/>
            <a:chOff x="10075659" y="2003022"/>
            <a:chExt cx="1156006" cy="495431"/>
          </a:xfrm>
        </p:grpSpPr>
        <p:pic>
          <p:nvPicPr>
            <p:cNvPr id="44" name="그림 4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6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5280925"/>
            <a:ext cx="10293350" cy="1035358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65588" y="5301794"/>
            <a:ext cx="9784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바다 위에 둥둥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파도를 느끼며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01489" y="942681"/>
            <a:ext cx="675717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2070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47" grpId="0"/>
      <p:bldP spid="4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692" y="1596520"/>
            <a:ext cx="1099021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저는 어릴 적 열병을 앓은 이후 소리를 듣지 못해요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그림을 좋아해서 배우고 싶었지만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학교를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다니기도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일을 구하기도 어려웠어요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마치 날카로운 가시밭 속에서 홀로 헤매는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것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같아 절망하였어요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그러던 어느 날 문득 깨달았어요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‘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내가 남보다 가진 것이 없다고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생각한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것은 비교 때문이 아니었을까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내가 할 수 있는 일은 얼마든지 있는데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!’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내가 행복해지는 일을 찾기로 하였어요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구경선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그래도 괜찮은 하루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</a:t>
            </a:r>
            <a:r>
              <a:rPr lang="ko-KR" altLang="en-US" sz="2000" b="1" dirty="0" smtClean="0">
                <a:latin typeface="+mj-ea"/>
                <a:ea typeface="+mj-ea"/>
              </a:rPr>
              <a:t>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8290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rgbClr val="843C0C"/>
                </a:solidFill>
                <a:latin typeface="+mn-ea"/>
              </a:rPr>
              <a:t>상황을 부정적으로 생각하는지 살펴보기</a:t>
            </a:r>
            <a:endParaRPr lang="en-US" altLang="ko-KR" sz="2500" b="1" dirty="0">
              <a:solidFill>
                <a:srgbClr val="843C0C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자신의 고통이 비교나 비관에 따른 부정적인 생각에서 비롯한 것은 아닌지 성찰해야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dirty="0" smtClean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rgbClr val="843C0C"/>
                </a:solidFill>
                <a:latin typeface="+mn-ea"/>
              </a:rPr>
              <a:t>긍정적으로 생각하고 스스로 격려하기</a:t>
            </a:r>
            <a:endParaRPr lang="en-US" altLang="ko-KR" sz="2500" b="1" dirty="0">
              <a:solidFill>
                <a:srgbClr val="843C0C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상황을 긍정적으로 바라보는 것이나 자신을 위로하거나 격려하는 것도 부정적인 생각을 다스리는 데 도움을 줄 수 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부정적인 생각 때문에 마음이 고통스럽다면</a:t>
            </a:r>
            <a:r>
              <a:rPr lang="en-US" altLang="ko-KR" sz="2800" b="1" dirty="0">
                <a:solidFill>
                  <a:srgbClr val="FFFF00"/>
                </a:solidFill>
                <a:latin typeface="+mn-ea"/>
              </a:rPr>
              <a:t>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3103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787400" y="2119341"/>
            <a:ext cx="7734300" cy="4738659"/>
            <a:chOff x="787400" y="2119341"/>
            <a:chExt cx="7734300" cy="473865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5556" y="2119341"/>
              <a:ext cx="7626144" cy="4738659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787400" y="2410535"/>
              <a:ext cx="2311400" cy="9746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787400" y="3356732"/>
              <a:ext cx="622300" cy="9746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2997200" y="2603485"/>
              <a:ext cx="88900" cy="10221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7400" y="1613182"/>
            <a:ext cx="1044004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</a:t>
            </a:r>
            <a:r>
              <a:rPr lang="en-US" altLang="ko-KR" sz="2000" b="1" dirty="0">
                <a:latin typeface="+mn-ea"/>
              </a:rPr>
              <a:t>&lt;</a:t>
            </a:r>
            <a:r>
              <a:rPr lang="ko-KR" altLang="en-US" sz="2000" b="1" dirty="0">
                <a:latin typeface="+mn-ea"/>
              </a:rPr>
              <a:t>활동 방법</a:t>
            </a:r>
            <a:r>
              <a:rPr lang="en-US" altLang="ko-KR" sz="2000" b="1" dirty="0">
                <a:latin typeface="+mn-ea"/>
              </a:rPr>
              <a:t>&gt;</a:t>
            </a:r>
            <a:r>
              <a:rPr lang="ko-KR" altLang="en-US" sz="2000" b="1" dirty="0">
                <a:latin typeface="+mn-ea"/>
              </a:rPr>
              <a:t>에 따라 명상하며 내 마음속 부정적인 생각을 다스려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2" name="그림 1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12671"/>
            <a:ext cx="487174" cy="487174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12671"/>
            <a:ext cx="1087577" cy="495431"/>
            <a:chOff x="10075659" y="2003022"/>
            <a:chExt cx="1156006" cy="495431"/>
          </a:xfrm>
        </p:grpSpPr>
        <p:pic>
          <p:nvPicPr>
            <p:cNvPr id="15" name="그림 1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946245" y="4089304"/>
            <a:ext cx="2495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이만큼 한 것도 정말 대단해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304480" y="2207624"/>
            <a:ext cx="1087577" cy="495431"/>
            <a:chOff x="10075659" y="2003022"/>
            <a:chExt cx="1156006" cy="495431"/>
          </a:xfrm>
        </p:grpSpPr>
        <p:pic>
          <p:nvPicPr>
            <p:cNvPr id="21" name="그림 2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3" name="TextBox 2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433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787400" y="2119341"/>
            <a:ext cx="7734300" cy="4738659"/>
            <a:chOff x="787400" y="2119341"/>
            <a:chExt cx="7734300" cy="473865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5556" y="2119341"/>
              <a:ext cx="7626144" cy="4738659"/>
            </a:xfrm>
            <a:prstGeom prst="rect">
              <a:avLst/>
            </a:prstGeom>
          </p:spPr>
        </p:pic>
        <p:sp>
          <p:nvSpPr>
            <p:cNvPr id="7" name="직사각형 6"/>
            <p:cNvSpPr/>
            <p:nvPr/>
          </p:nvSpPr>
          <p:spPr>
            <a:xfrm>
              <a:off x="787400" y="2410535"/>
              <a:ext cx="2311400" cy="9746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787400" y="3356732"/>
              <a:ext cx="622300" cy="9746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2997200" y="2603485"/>
              <a:ext cx="88900" cy="10221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7400" y="1613182"/>
            <a:ext cx="1044004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</a:t>
            </a:r>
            <a:r>
              <a:rPr lang="en-US" altLang="ko-KR" sz="2000" b="1" dirty="0">
                <a:latin typeface="+mn-ea"/>
              </a:rPr>
              <a:t>&lt;</a:t>
            </a:r>
            <a:r>
              <a:rPr lang="ko-KR" altLang="en-US" sz="2000" b="1" dirty="0">
                <a:latin typeface="+mn-ea"/>
              </a:rPr>
              <a:t>활동 방법</a:t>
            </a:r>
            <a:r>
              <a:rPr lang="en-US" altLang="ko-KR" sz="2000" b="1" dirty="0">
                <a:latin typeface="+mn-ea"/>
              </a:rPr>
              <a:t>&gt;</a:t>
            </a:r>
            <a:r>
              <a:rPr lang="ko-KR" altLang="en-US" sz="2000" b="1" dirty="0">
                <a:latin typeface="+mn-ea"/>
              </a:rPr>
              <a:t>에 따라 명상하며 내 마음속 부정적인 생각을 다스려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2" name="그림 1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12671"/>
            <a:ext cx="487174" cy="487174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12671"/>
            <a:ext cx="1087577" cy="495431"/>
            <a:chOff x="10075659" y="2003022"/>
            <a:chExt cx="1156006" cy="495431"/>
          </a:xfrm>
        </p:grpSpPr>
        <p:pic>
          <p:nvPicPr>
            <p:cNvPr id="15" name="그림 1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4946245" y="4089304"/>
            <a:ext cx="2495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이만큼 한 것도 정말 대단해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304480" y="2207624"/>
            <a:ext cx="1087577" cy="495431"/>
            <a:chOff x="10075659" y="2003022"/>
            <a:chExt cx="1156006" cy="495431"/>
          </a:xfrm>
        </p:grpSpPr>
        <p:pic>
          <p:nvPicPr>
            <p:cNvPr id="21" name="그림 2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3" name="TextBox 2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4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35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6" name="그림 35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5" y="1188983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60" y="2052992"/>
              <a:ext cx="115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방법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22055" y="2016924"/>
            <a:ext cx="1075216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허리를 곧게 펴고 앉아 손을 가볍게 무릎 위에 얹은 뒤 눈을 감는다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숨을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천천히 들이쉬고 내쉬며 나의 호흡을 관찰한다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마음이 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차분해지면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내 마음속 부정적인 생각을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있는 그대로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바라본다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눈을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뜬 뒤 오른쪽 그림에 나를 위로하거나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격려하는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말을 쓴다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내가 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평온하길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 바라며 </a:t>
            </a:r>
            <a:r>
              <a:rPr lang="ko-KR" altLang="en-US" sz="2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④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에서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쓴 말이 담긴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차를 마시는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상상을 한 뒤 명상을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마친다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10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rgbClr val="843C0C"/>
                </a:solidFill>
                <a:latin typeface="+mn-ea"/>
              </a:rPr>
              <a:t>욕심이 </a:t>
            </a:r>
            <a:r>
              <a:rPr lang="ko-KR" altLang="en-US" sz="2500" b="1" dirty="0">
                <a:solidFill>
                  <a:srgbClr val="843C0C"/>
                </a:solidFill>
                <a:latin typeface="+mn-ea"/>
              </a:rPr>
              <a:t>지나치거나 헛된 것에 집착하는지 </a:t>
            </a:r>
            <a:r>
              <a:rPr lang="ko-KR" altLang="en-US" sz="2500" b="1" dirty="0" smtClean="0">
                <a:solidFill>
                  <a:srgbClr val="843C0C"/>
                </a:solidFill>
                <a:latin typeface="+mn-ea"/>
              </a:rPr>
              <a:t>성찰하기</a:t>
            </a:r>
            <a:endParaRPr lang="en-US" altLang="ko-KR" sz="2500" b="1" dirty="0">
              <a:solidFill>
                <a:srgbClr val="843C0C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나의 </a:t>
            </a:r>
            <a:r>
              <a:rPr lang="ko-KR" altLang="en-US" sz="2400" dirty="0">
                <a:latin typeface="+mn-ea"/>
              </a:rPr>
              <a:t>욕심이 지나치지 않은지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내가 헛된 것에 집착하고 </a:t>
            </a:r>
            <a:r>
              <a:rPr lang="ko-KR" altLang="en-US" sz="2400" dirty="0" smtClean="0">
                <a:latin typeface="+mn-ea"/>
              </a:rPr>
              <a:t>있는지 성찰해야 </a:t>
            </a:r>
            <a:r>
              <a:rPr lang="ko-KR" altLang="en-US" sz="2400" dirty="0">
                <a:latin typeface="+mn-ea"/>
              </a:rPr>
              <a:t>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altLang="ko-KR" sz="2400" b="1" dirty="0">
              <a:solidFill>
                <a:srgbClr val="843C0C"/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rgbClr val="843C0C"/>
                </a:solidFill>
                <a:latin typeface="+mn-ea"/>
              </a:rPr>
              <a:t>감사하는 </a:t>
            </a:r>
            <a:r>
              <a:rPr lang="ko-KR" altLang="en-US" sz="2500" b="1" dirty="0">
                <a:solidFill>
                  <a:srgbClr val="843C0C"/>
                </a:solidFill>
                <a:latin typeface="+mn-ea"/>
              </a:rPr>
              <a:t>태도 </a:t>
            </a:r>
            <a:r>
              <a:rPr lang="ko-KR" altLang="en-US" sz="2500" b="1" dirty="0" smtClean="0">
                <a:solidFill>
                  <a:srgbClr val="843C0C"/>
                </a:solidFill>
                <a:latin typeface="+mn-ea"/>
              </a:rPr>
              <a:t>지니기</a:t>
            </a:r>
            <a:endParaRPr lang="en-US" altLang="ko-KR" sz="2500" b="1" dirty="0">
              <a:solidFill>
                <a:srgbClr val="843C0C"/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감사를 </a:t>
            </a:r>
            <a:r>
              <a:rPr lang="ko-KR" altLang="en-US" sz="2400" dirty="0">
                <a:latin typeface="+mn-ea"/>
              </a:rPr>
              <a:t>통해 내가 가진 것을 당연하게 여기지 않고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주변 사람에게 고마움을 느끼며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일상에서 소소한 행복을 찾음으로써 지나친 욕심이나 집착을 다스릴 수 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9145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지나친 욕심이나 집착 때문에 마음이 고통스럽다면</a:t>
            </a:r>
            <a:r>
              <a:rPr lang="en-US" altLang="ko-KR" sz="2800" b="1" dirty="0">
                <a:solidFill>
                  <a:srgbClr val="FFFF00"/>
                </a:solidFill>
                <a:latin typeface="+mn-ea"/>
              </a:rPr>
              <a:t>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330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99" y="2820302"/>
            <a:ext cx="10486483" cy="38391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바라는 대로 되지 않아 마음이 괴로운 일을 떠올려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그럼에도 불구하고 감사한 점을 세 가지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7" name="그림 1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2" y="2233024"/>
            <a:ext cx="487174" cy="48717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6" y="2233024"/>
            <a:ext cx="1087577" cy="495431"/>
            <a:chOff x="10075659" y="2003022"/>
            <a:chExt cx="1156006" cy="495431"/>
          </a:xfrm>
        </p:grpSpPr>
        <p:pic>
          <p:nvPicPr>
            <p:cNvPr id="26" name="그림 2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2067996" y="3111138"/>
            <a:ext cx="6069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내가 좋아하는 친구와 같은 반이 되지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않았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067996" y="3747441"/>
            <a:ext cx="7467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방과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후에 친구와 만나서 함께 놀고 공부할 수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067996" y="4439195"/>
            <a:ext cx="60242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친구에게 교과서나 준비물을 빌릴 수 있다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067996" y="5204439"/>
            <a:ext cx="54136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학급에서 새로운 친구를 사귈 수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있다</a:t>
            </a:r>
            <a:r>
              <a:rPr lang="en-US" altLang="ko-KR" sz="2400" dirty="0" smtClean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3313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31" grpId="0"/>
      <p:bldP spid="31" grpId="1"/>
      <p:bldP spid="5" grpId="0"/>
      <p:bldP spid="5" grpId="1"/>
      <p:bldP spid="7" grpId="0"/>
      <p:bldP spid="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동서양 사상에서 말하는 마음의 평온을 얻는 방법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76583" y="2367689"/>
            <a:ext cx="6484617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동양의 불교에서는 인간이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고통받는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까닭은 모든 것이 영원할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것이라는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생각으로 탐욕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분노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어리석음에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빠지기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때문이라고 말한다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그러므로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모든 것은 변한다는 사실을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깨닫고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집착에서 벗어나야 마음이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지극히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고요하고 평온한 상태에 이를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있다고 보았다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71000" y="3468947"/>
            <a:ext cx="2615255" cy="3210808"/>
          </a:xfrm>
          <a:prstGeom prst="rect">
            <a:avLst/>
          </a:prstGeom>
        </p:spPr>
      </p:pic>
      <p:sp>
        <p:nvSpPr>
          <p:cNvPr id="27" name="타원형 설명선 26"/>
          <p:cNvSpPr/>
          <p:nvPr/>
        </p:nvSpPr>
        <p:spPr>
          <a:xfrm>
            <a:off x="7298290" y="2367689"/>
            <a:ext cx="2943671" cy="1933375"/>
          </a:xfrm>
          <a:prstGeom prst="wedgeEllipseCallout">
            <a:avLst>
              <a:gd name="adj1" fmla="val 37014"/>
              <a:gd name="adj2" fmla="val 5145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욕심과 집착에서 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벗어나야 한다</a:t>
            </a:r>
            <a:r>
              <a:rPr lang="en-US" altLang="ko-KR" sz="20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9500" y="5367743"/>
            <a:ext cx="2290466" cy="46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53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동서양 사상에서 말하는 마음의 평온을 얻는 방법</a:t>
            </a:r>
            <a:endParaRPr lang="en-US" altLang="ko-KR" sz="28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76583" y="2367689"/>
            <a:ext cx="51895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한편 서양의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스토아학파에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따르면 우리의 마음이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혼란스러운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까닭은 이성에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따르지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않고 감정에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끌려다니기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때문이다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그러므로 세상을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이성적으로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바라보고 자신의 감정을 잘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다스릴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때 마음의 평온을 얻을 수 있다고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보았다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타원 1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8000" y="3298299"/>
            <a:ext cx="2531981" cy="3381455"/>
          </a:xfrm>
          <a:prstGeom prst="rect">
            <a:avLst/>
          </a:prstGeom>
        </p:spPr>
      </p:pic>
      <p:sp>
        <p:nvSpPr>
          <p:cNvPr id="27" name="타원형 설명선 26"/>
          <p:cNvSpPr/>
          <p:nvPr/>
        </p:nvSpPr>
        <p:spPr>
          <a:xfrm>
            <a:off x="5869376" y="2462312"/>
            <a:ext cx="3935023" cy="2422667"/>
          </a:xfrm>
          <a:prstGeom prst="wedgeEllipseCallout">
            <a:avLst>
              <a:gd name="adj1" fmla="val 56263"/>
              <a:gd name="adj2" fmla="val 2037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마음을 어지럽히는 </a:t>
            </a:r>
            <a:r>
              <a:rPr lang="ko-KR" altLang="en-US" sz="20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것은 어떤 </a:t>
            </a:r>
            <a:r>
              <a:rPr lang="ko-KR" altLang="en-US" sz="20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외부의 일이 </a:t>
            </a:r>
            <a:r>
              <a:rPr lang="ko-KR" altLang="en-US" sz="20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아니라 그 </a:t>
            </a:r>
            <a:r>
              <a:rPr lang="ko-KR" altLang="en-US" sz="20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일에 관한 </a:t>
            </a:r>
            <a:r>
              <a:rPr lang="ko-KR" altLang="en-US" sz="200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우리의 믿음 </a:t>
            </a:r>
            <a:r>
              <a:rPr lang="ko-KR" altLang="en-US" sz="20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때문이다</a:t>
            </a:r>
            <a:r>
              <a:rPr lang="en-US" altLang="ko-KR" sz="20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0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42684" y="5311999"/>
            <a:ext cx="3066817" cy="45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34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오프라 </a:t>
            </a:r>
            <a:r>
              <a:rPr lang="ko-KR" altLang="en-US" sz="2000" b="1" dirty="0" err="1">
                <a:latin typeface="+mn-ea"/>
              </a:rPr>
              <a:t>윈프리가</a:t>
            </a:r>
            <a:r>
              <a:rPr lang="ko-KR" altLang="en-US" sz="2000" b="1" dirty="0">
                <a:latin typeface="+mn-ea"/>
              </a:rPr>
              <a:t> 용서를 강조한 까닭을 이야기해 보자</a:t>
            </a:r>
            <a:r>
              <a:rPr lang="en-US" altLang="ko-KR" sz="2000" b="1" dirty="0">
                <a:latin typeface="+mn-ea"/>
              </a:rPr>
              <a:t>. 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36" y="2526253"/>
            <a:ext cx="3193223" cy="4319334"/>
          </a:xfrm>
          <a:prstGeom prst="rect">
            <a:avLst/>
          </a:prstGeom>
        </p:spPr>
      </p:pic>
      <p:sp>
        <p:nvSpPr>
          <p:cNvPr id="5" name="모서리가 둥근 사각형 설명선 4"/>
          <p:cNvSpPr/>
          <p:nvPr/>
        </p:nvSpPr>
        <p:spPr>
          <a:xfrm>
            <a:off x="3888582" y="2299183"/>
            <a:ext cx="7251524" cy="1409217"/>
          </a:xfrm>
          <a:prstGeom prst="wedgeRoundRectCallout">
            <a:avLst>
              <a:gd name="adj1" fmla="val -61750"/>
              <a:gd name="adj2" fmla="val 31077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상대방을 향한 분노 때문에 과거에만 머물고 앞으로 </a:t>
            </a:r>
            <a:r>
              <a:rPr lang="ko-KR" altLang="en-US" sz="20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나아가지 못하는 </a:t>
            </a:r>
            <a:r>
              <a:rPr lang="ko-KR" altLang="en-US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것은 자신을 위한 일이 아니에요</a:t>
            </a:r>
            <a:r>
              <a:rPr lang="en-US" altLang="ko-KR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분노를 놓아 버리세요</a:t>
            </a:r>
            <a:r>
              <a:rPr lang="en-US" altLang="ko-KR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0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그리고 </a:t>
            </a:r>
            <a:r>
              <a:rPr lang="ko-KR" altLang="en-US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자신을 위해 상대방을 용서하세요</a:t>
            </a:r>
            <a:r>
              <a:rPr lang="en-US" altLang="ko-KR" sz="20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en-US" altLang="ko-KR" sz="2000" spc="-150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                      </a:t>
            </a:r>
            <a:r>
              <a:rPr lang="en-US" altLang="ko-KR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오프라 </a:t>
            </a:r>
            <a:r>
              <a:rPr lang="ko-KR" altLang="en-US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윈프리</a:t>
            </a: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7" name="그림 16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2" y="3872371"/>
            <a:ext cx="487174" cy="48717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6" y="3872371"/>
            <a:ext cx="1087577" cy="495431"/>
            <a:chOff x="10075659" y="2003022"/>
            <a:chExt cx="1156006" cy="495431"/>
          </a:xfrm>
        </p:grpSpPr>
        <p:pic>
          <p:nvPicPr>
            <p:cNvPr id="26" name="그림 2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3888583" y="4456631"/>
            <a:ext cx="7251524" cy="170205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23360" y="4437494"/>
            <a:ext cx="69923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용서는 나를 위한 일이기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용서를 통해 우리는 마음의 평온을 얻고 자신을 위한 일에 집중할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165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29" grpId="0"/>
      <p:bldP spid="2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2</a:t>
            </a:r>
            <a:r>
              <a:rPr lang="en-US" altLang="ko-KR" sz="2000" b="1" dirty="0" smtClean="0">
                <a:latin typeface="+mn-ea"/>
              </a:rPr>
              <a:t>. </a:t>
            </a:r>
            <a:r>
              <a:rPr lang="ko-KR" altLang="en-US" sz="2000" b="1" dirty="0">
                <a:latin typeface="+mn-ea"/>
              </a:rPr>
              <a:t>평소에 원망스러웠던 사람을 마음속으로 </a:t>
            </a:r>
            <a:r>
              <a:rPr lang="ko-KR" altLang="en-US" sz="2000" b="1" dirty="0" smtClean="0">
                <a:latin typeface="+mn-ea"/>
              </a:rPr>
              <a:t>용서한 뒤 </a:t>
            </a:r>
            <a:r>
              <a:rPr lang="ko-KR" altLang="en-US" sz="2000" b="1" dirty="0">
                <a:latin typeface="+mn-ea"/>
              </a:rPr>
              <a:t>나의 감정을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4" name="그림 2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09119"/>
            <a:ext cx="10293350" cy="270955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42004" y="2817376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 사람을 미워할 때는 마음이 괴롭고 불편했는데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용서하니 마음이 후련하고 고요해졌다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35" name="그림 3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646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33" grpId="0"/>
      <p:bldP spid="3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 smtClean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/>
              <a:t>2</a:t>
            </a:r>
            <a:r>
              <a:rPr lang="en-US" altLang="ko-KR" sz="2000" b="1" dirty="0" smtClean="0"/>
              <a:t>. </a:t>
            </a:r>
            <a:r>
              <a:rPr lang="ko-KR" altLang="en-US" sz="2000" b="1" dirty="0"/>
              <a:t>평소에 원망스러웠던 사람을 마음속으로 </a:t>
            </a:r>
            <a:r>
              <a:rPr lang="ko-KR" altLang="en-US" sz="2000" b="1" dirty="0" smtClean="0"/>
              <a:t>용서한 뒤 </a:t>
            </a:r>
            <a:r>
              <a:rPr lang="ko-KR" altLang="en-US" sz="2000" b="1" dirty="0"/>
              <a:t>나의 감정을 써 보자</a:t>
            </a:r>
            <a:r>
              <a:rPr lang="en-US" altLang="ko-KR" sz="2000" b="1" dirty="0"/>
              <a:t>.</a:t>
            </a:r>
            <a:endParaRPr lang="ko-KR" altLang="en-US" sz="2000" b="1" dirty="0"/>
          </a:p>
        </p:txBody>
      </p:sp>
      <p:pic>
        <p:nvPicPr>
          <p:cNvPr id="24" name="그림 2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029" y="2196609"/>
            <a:ext cx="487174" cy="487174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23553" y="2196609"/>
            <a:ext cx="1087577" cy="495431"/>
            <a:chOff x="10075659" y="2003022"/>
            <a:chExt cx="1156006" cy="495431"/>
          </a:xfrm>
        </p:grpSpPr>
        <p:pic>
          <p:nvPicPr>
            <p:cNvPr id="30" name="그림 2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09119"/>
            <a:ext cx="10293350" cy="2709553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42004" y="2817376"/>
            <a:ext cx="9784141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태어났을 때부터 늘 함께하던 소중한 반려동물이 죽었을 때 삶에는 끝이 있음을 깨달았다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8111266" y="2196609"/>
            <a:ext cx="1282388" cy="495431"/>
            <a:chOff x="10075659" y="2003022"/>
            <a:chExt cx="1178665" cy="495431"/>
          </a:xfrm>
        </p:grpSpPr>
        <p:pic>
          <p:nvPicPr>
            <p:cNvPr id="35" name="그림 3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6" name="타원 25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Google Shape;229;p6"/>
          <p:cNvSpPr/>
          <p:nvPr/>
        </p:nvSpPr>
        <p:spPr>
          <a:xfrm>
            <a:off x="0" y="3639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9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7" name="그림 36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622056" y="1200053"/>
            <a:ext cx="1282388" cy="495431"/>
            <a:chOff x="10075659" y="2003022"/>
            <a:chExt cx="1178665" cy="495431"/>
          </a:xfrm>
        </p:grpSpPr>
        <p:pic>
          <p:nvPicPr>
            <p:cNvPr id="39" name="그림 38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075659" y="2052992"/>
              <a:ext cx="1178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활동 길잡이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622055" y="2016924"/>
            <a:ext cx="109133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다음 ‘용서를 위한 </a:t>
            </a:r>
            <a:r>
              <a:rPr lang="ko-KR" altLang="en-US" sz="2000" b="1" dirty="0" err="1">
                <a:latin typeface="돋움" panose="020B0600000101010101" pitchFamily="50" charset="-127"/>
                <a:ea typeface="돋움" panose="020B0600000101010101" pitchFamily="50" charset="-127"/>
              </a:rPr>
              <a:t>물음’에</a:t>
            </a: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 </a:t>
            </a:r>
            <a:r>
              <a:rPr lang="ko-KR" altLang="en-US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답하며 </a:t>
            </a:r>
            <a:r>
              <a:rPr lang="ko-KR" altLang="en-US" sz="2000" b="1" dirty="0">
                <a:latin typeface="돋움" panose="020B0600000101010101" pitchFamily="50" charset="-127"/>
                <a:ea typeface="돋움" panose="020B0600000101010101" pitchFamily="50" charset="-127"/>
              </a:rPr>
              <a:t>상대방을 용서해 보아요</a:t>
            </a:r>
            <a:r>
              <a:rPr lang="en-US" altLang="ko-KR" sz="2000" b="1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그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사람을 생각하면 마음이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어떤가요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그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사람의 입장에서 왜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그랬을지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생각해 보았나요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다른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사람에게 용서받았을 때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나는 </a:t>
            </a:r>
            <a:r>
              <a:rPr lang="ko-KR" altLang="en-US" sz="2000" dirty="0">
                <a:latin typeface="돋움" panose="020B0600000101010101" pitchFamily="50" charset="-127"/>
                <a:ea typeface="돋움" panose="020B0600000101010101" pitchFamily="50" charset="-127"/>
              </a:rPr>
              <a:t>어떤 </a:t>
            </a:r>
            <a:r>
              <a:rPr lang="ko-KR" altLang="en-US" sz="2000" dirty="0" err="1">
                <a:latin typeface="돋움" panose="020B0600000101010101" pitchFamily="50" charset="-127"/>
                <a:ea typeface="돋움" panose="020B0600000101010101" pitchFamily="50" charset="-127"/>
              </a:rPr>
              <a:t>기분이었나요</a:t>
            </a:r>
            <a:r>
              <a:rPr lang="en-US" altLang="ko-KR" sz="2000" dirty="0">
                <a:latin typeface="돋움" panose="020B0600000101010101" pitchFamily="50" charset="-127"/>
                <a:ea typeface="돋움" panose="020B0600000101010101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4889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rgbClr val="843C0C"/>
                </a:solidFill>
                <a:latin typeface="+mn-ea"/>
              </a:rPr>
              <a:t>상대방을 용서하기</a:t>
            </a:r>
            <a:endParaRPr lang="en-US" altLang="ko-KR" sz="2500" b="1" dirty="0">
              <a:solidFill>
                <a:srgbClr val="843C0C"/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갈등이 </a:t>
            </a:r>
            <a:r>
              <a:rPr lang="ko-KR" altLang="en-US" sz="2400" dirty="0">
                <a:latin typeface="+mn-ea"/>
              </a:rPr>
              <a:t>상대방의 잘못 때문에 일어났다고 여기면 그 사람에 대한 원망으로 고통스러울 수 있음</a:t>
            </a:r>
            <a:r>
              <a:rPr lang="en-US" altLang="ko-KR" sz="2400" dirty="0">
                <a:latin typeface="+mn-ea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따라서 나에게 </a:t>
            </a:r>
            <a:r>
              <a:rPr lang="ko-KR" altLang="en-US" sz="2400" dirty="0">
                <a:latin typeface="+mn-ea"/>
              </a:rPr>
              <a:t>잘못한 상대방을 용서해야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rgbClr val="843C0C"/>
                </a:solidFill>
                <a:latin typeface="+mn-ea"/>
              </a:rPr>
              <a:t>상대방에게 </a:t>
            </a:r>
            <a:r>
              <a:rPr lang="ko-KR" altLang="en-US" sz="2500" b="1" smtClean="0">
                <a:solidFill>
                  <a:srgbClr val="843C0C"/>
                </a:solidFill>
                <a:latin typeface="+mn-ea"/>
              </a:rPr>
              <a:t>용서를 구하는 </a:t>
            </a:r>
            <a:r>
              <a:rPr lang="ko-KR" altLang="en-US" sz="2500" b="1" dirty="0" smtClean="0">
                <a:solidFill>
                  <a:srgbClr val="843C0C"/>
                </a:solidFill>
                <a:latin typeface="+mn-ea"/>
              </a:rPr>
              <a:t>용기 내기</a:t>
            </a:r>
            <a:endParaRPr lang="en-US" altLang="ko-KR" sz="2500" b="1" dirty="0">
              <a:solidFill>
                <a:srgbClr val="843C0C"/>
              </a:solidFill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갈등의 </a:t>
            </a:r>
            <a:r>
              <a:rPr lang="ko-KR" altLang="en-US" sz="2400" dirty="0">
                <a:latin typeface="+mn-ea"/>
              </a:rPr>
              <a:t>원인이 나에게 있다면 죄책감 때문에 괴로울 수 있음</a:t>
            </a:r>
            <a:r>
              <a:rPr lang="en-US" altLang="ko-KR" sz="2400" dirty="0">
                <a:latin typeface="+mn-ea"/>
              </a:rPr>
              <a:t>.</a:t>
            </a:r>
            <a:r>
              <a:rPr lang="ko-KR" altLang="en-US" sz="2400" dirty="0">
                <a:latin typeface="+mn-ea"/>
              </a:rPr>
              <a:t> </a:t>
            </a:r>
            <a:endParaRPr lang="en-US" altLang="ko-KR" sz="24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따라서 상대방에게 </a:t>
            </a:r>
            <a:r>
              <a:rPr lang="ko-KR" altLang="en-US" sz="2400" dirty="0">
                <a:latin typeface="+mn-ea"/>
              </a:rPr>
              <a:t>먼저 용서를 구하는 용기를 내야 함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b="1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9145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다른 사람과의 갈등 때문에 마음이 고통스럽다면</a:t>
            </a:r>
            <a:r>
              <a:rPr lang="en-US" altLang="ko-KR" sz="2800" b="1" dirty="0">
                <a:solidFill>
                  <a:srgbClr val="FFFF00"/>
                </a:solidFill>
                <a:latin typeface="+mn-ea"/>
              </a:rPr>
              <a:t>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0904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2528047"/>
            <a:ext cx="8522936" cy="3399417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5918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마음이 괴로웠던 경험을 떠올려 보고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마음의 평온을 얻기 위해 내가 실천할 수 있는 방법을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553035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2553035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3169302"/>
            <a:ext cx="8165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좋아하는 노래를 틀고 산책을 하면서 스트레스를 푼다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936087" y="2619813"/>
            <a:ext cx="1328154" cy="458932"/>
            <a:chOff x="877165" y="3739778"/>
            <a:chExt cx="1328154" cy="458932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실천 방법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2615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320" y="3574706"/>
            <a:ext cx="3723074" cy="2921181"/>
          </a:xfrm>
          <a:prstGeom prst="rect">
            <a:avLst/>
          </a:prstGeom>
        </p:spPr>
      </p:pic>
      <p:sp>
        <p:nvSpPr>
          <p:cNvPr id="4" name="모서리가 둥근 직사각형 3"/>
          <p:cNvSpPr/>
          <p:nvPr/>
        </p:nvSpPr>
        <p:spPr>
          <a:xfrm>
            <a:off x="3947533" y="3568393"/>
            <a:ext cx="7532107" cy="233060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672357" y="654715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마음이 힘들 때는 몸을 움직여 보자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!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8" name="타원 27"/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hlinkClick r:id="" action="ppaction://hlinkshowjump?jump=next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6" y="578256"/>
            <a:ext cx="1160024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894395" y="578256"/>
            <a:ext cx="1742296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20700" y="1749744"/>
            <a:ext cx="10858575" cy="1267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몸을 움직이면 뇌에서 엔도르핀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세로토닌과 같이 기분을 좋게 만드는 호르몬이 나오기 때문에 분노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불안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우울과 같은 부정적인 감정을 조절하는 데 도움이 된다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몸을 움직이는 여러 활동을 하며 부정적인 감정을 조절하고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바른 인성을 길러 보자</a:t>
            </a:r>
            <a:r>
              <a:rPr lang="en-US" altLang="ko-KR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20918" y="3672686"/>
            <a:ext cx="7169149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가벼운 운동하기</a:t>
            </a:r>
            <a:endParaRPr lang="en-US" altLang="ko-KR" sz="2200" b="1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마음의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고통 때문에 아무것도 하기 싫거나 다른 사람에게 짜증을 낼 것 같다면 가벼운 운동을 하며 기분을 전환해 보자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집에서 스트레칭을 하거나 밖으로 산책을 나가면 어떨까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1" name="타원 30">
            <a:hlinkClick r:id="rId5" action="ppaction://hlinksldjump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720988" y="806138"/>
            <a:ext cx="769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인성</a:t>
            </a:r>
            <a:r>
              <a:rPr lang="en-US" altLang="ko-KR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7694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894395" y="578256"/>
            <a:ext cx="1742296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2720364" y="5024060"/>
            <a:ext cx="808171" cy="704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672357" y="654715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마음이 힘들 때는 몸을 움직여 보자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!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4247626" y="2502589"/>
            <a:ext cx="7000914" cy="288344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4533134" y="2602332"/>
            <a:ext cx="6517723" cy="26314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주변 사람 돕기</a:t>
            </a:r>
            <a:endParaRPr lang="en-US" altLang="ko-KR" sz="2200" b="1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이왕이면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주변 사람들을 위해 몸을 움직여 보자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부모님을 도와 설거지를 하거나 다친 친구의 책가방을 들어 주는 등 주변 사람을 돕는 일을 하면 뿌듯함을 느끼고 배려도 실천할 수 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11" y="2175893"/>
            <a:ext cx="4114082" cy="3740650"/>
          </a:xfrm>
          <a:prstGeom prst="rect">
            <a:avLst/>
          </a:prstGeom>
        </p:spPr>
      </p:pic>
      <p:sp>
        <p:nvSpPr>
          <p:cNvPr id="34" name="타원 33">
            <a:hlinkClick r:id="" action="ppaction://hlinkshowjump?jump=previousslide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hlinkClick r:id="" action="ppaction://hlinkshowjump?jump=nextslide"/>
          </p:cNvPr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720988" y="806138"/>
            <a:ext cx="769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인성</a:t>
            </a:r>
            <a:r>
              <a:rPr lang="en-US" altLang="ko-KR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7791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894395" y="578256"/>
            <a:ext cx="1742296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16" y="4161235"/>
            <a:ext cx="2786231" cy="269676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6683" y="5115388"/>
            <a:ext cx="7047177" cy="2187811"/>
          </a:xfrm>
          <a:prstGeom prst="rect">
            <a:avLst/>
          </a:prstGeom>
        </p:spPr>
      </p:pic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672357" y="654715"/>
            <a:ext cx="59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마음이 힘들 때는 몸을 움직여 보자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!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424043" y="1835251"/>
            <a:ext cx="8351968" cy="235599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542285" y="1934994"/>
            <a:ext cx="8138883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사회를 위해 봉사하기</a:t>
            </a:r>
            <a:endParaRPr lang="en-US" altLang="ko-KR" sz="2200" b="1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여러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사람과 함께 산책하며 쓰레기 줍기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동물 보호 캠페인과 같은 봉사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활동을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해 보자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열심히 활동하고 나면 활력을 얻을 수 있을 뿐만 아니라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다른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사람과 공감을 주고받으며 보람과 기쁨을 느낄 수 있다</a:t>
            </a: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타원 32">
            <a:hlinkClick r:id="rId7" action="ppaction://hlinksldjump"/>
          </p:cNvPr>
          <p:cNvSpPr/>
          <p:nvPr/>
        </p:nvSpPr>
        <p:spPr>
          <a:xfrm>
            <a:off x="5639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previousslide"/>
          </p:cNvPr>
          <p:cNvSpPr/>
          <p:nvPr/>
        </p:nvSpPr>
        <p:spPr>
          <a:xfrm>
            <a:off x="6034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6429851" y="625921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876093" y="4417257"/>
            <a:ext cx="1239305" cy="495431"/>
            <a:chOff x="10075659" y="2003022"/>
            <a:chExt cx="1156006" cy="495431"/>
          </a:xfrm>
        </p:grpSpPr>
        <p:pic>
          <p:nvPicPr>
            <p:cNvPr id="39" name="그림 38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96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실천 톡톡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7" name="모서리가 둥근 사각형 설명선 6"/>
          <p:cNvSpPr/>
          <p:nvPr/>
        </p:nvSpPr>
        <p:spPr>
          <a:xfrm>
            <a:off x="9419980" y="2396639"/>
            <a:ext cx="2151529" cy="1753497"/>
          </a:xfrm>
          <a:prstGeom prst="wedgeRoundRectCallout">
            <a:avLst>
              <a:gd name="adj1" fmla="val 8564"/>
              <a:gd name="adj2" fmla="val 6188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+mn-ea"/>
              </a:rPr>
              <a:t>몸을 움직여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주변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사람을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도우며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마음의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평온을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얻어 보자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6" name="그림 45" descr="클립아트, 곰, 만화 영화이(가) 표시된 사진&#10;&#10;자동 생성된 설명">
            <a:extLst>
              <a:ext uri="{FF2B5EF4-FFF2-40B4-BE49-F238E27FC236}">
                <a16:creationId xmlns:a16="http://schemas.microsoft.com/office/drawing/2014/main" id="{7E57931C-BC2D-94A0-17C9-B8C790C398EF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4312" y="4776162"/>
            <a:ext cx="1951723" cy="208183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720988" y="806138"/>
            <a:ext cx="769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인성</a:t>
            </a:r>
            <a:r>
              <a:rPr lang="en-US" altLang="ko-KR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9702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“4.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직업윤리 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– </a:t>
            </a: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01.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삶에서 직업이 갖는 의미는 무엇일까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마음의 평온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평온 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걱정이나 탈 없이 마음이 고요한 상태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시험이 끝난 날 이불 속에서 느끼는 고요함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우리는 고통 없이 마음이 고요할 때 평온하다고 여김.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⇨ 마음이 고통스러울 때 마음의 평온을 얻는 방법은?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평온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걱정이나 탈 없이 마음이 고요한 상태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시험이 끝난 날 이불 속에서 느끼는 고요함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우리는 고통 없이 마음이 고요할 때 평온하다고 여김.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마음이 고통스러울 때 마음의 평온을 얻는 방법은?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평온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걱정이나 탈 없이 마음이 고요한 상태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시험이 끝난 날 이불 속에서 느끼는 고요함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우리는 고통 없이 마음이 고요할 때 평온하다고 여김.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⇨ 마음이 고통스러울 때 마음의 평온을 얻는 방법은?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b="1" dirty="0">
                <a:solidFill>
                  <a:srgbClr val="FFFF00"/>
                </a:solidFill>
                <a:latin typeface="+mn-ea"/>
              </a:rPr>
              <a:t>부정적인 생각 때문에 마음이 고통스럽다면?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자신의 고통이 비교나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비관 </a:t>
            </a:r>
            <a:r>
              <a:rPr sz="2400" b="0">
                <a:solidFill>
                  <a:srgbClr val="262626"/>
                </a:solidFill>
              </a:rPr>
              <a:t>에 따른 부정적인 생각에서 비롯한 것은 아닌지 성찰해야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“이번엔 70점, 지난번보다 5점 올랐어. 잘했어, 나!”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상황을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긍정 </a:t>
            </a:r>
            <a:r>
              <a:rPr sz="2400" b="0">
                <a:solidFill>
                  <a:srgbClr val="262626"/>
                </a:solidFill>
              </a:rPr>
              <a:t>적으로 바라보는 것이나 자신을 위로하거나 격려하는 것도 도움을 줄 수 있음.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자신의 고통이 비교나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비관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따른 부정적인 생각에서 비롯한 것은 아닌지 성찰해야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“이번엔 70점, 지난번보다 5점 올랐어. 잘했어, 나!”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상황을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긍정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적으로 바라보는 것이나 자신을 위로하거나 격려하는 것도 도움을 줄 수 있음.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자신의 고통이 비교나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비관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따른 부정적인 생각에서 비롯한 것은 아닌지 성찰해야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“이번엔 70점, 지난번보다 5점 올랐어. 잘했어, 나!”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상황을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긍정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적으로 바라보는 것이나 자신을 위로하거나 격려하는 것도 도움을 줄 수 있음.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자신의 고통이 비교나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비관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 따른 부정적인 생각에서 비롯한 것은 아닌지 성찰해야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“이번엔 70점, 지난번보다 5점 올랐어. 잘했어, 나!”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상황을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긍정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적으로 바라보는 것이나 자신을 위로하거나 격려하는 것도 도움을 줄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100" b="1" dirty="0">
                <a:solidFill>
                  <a:srgbClr val="FFFF00"/>
                </a:solidFill>
                <a:latin typeface="+mn-ea"/>
              </a:rPr>
              <a:t>지나친 욕심이나 집착 때문에 마음이 고통스럽다면?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나의 욕심이 지나치지 않은지, 내가 헛된 것에 집착하고 있지 않은지 성찰해야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감사 </a:t>
            </a:r>
            <a:r>
              <a:rPr sz="2400" b="0">
                <a:solidFill>
                  <a:srgbClr val="262626"/>
                </a:solidFill>
              </a:rPr>
              <a:t>를 통해 내가 가진 것을 당연하게 여기지 않고, 주변 사람에게 고마움을 느끼며, 일상에서 소소한 행복을 찾음으로써 지나친 욕심이나 집착을 다스릴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잠들기 전 ‘오늘 고마웠던 일 세 가지’ 쓰기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나의 욕심이 지나치지 않은지, 내가 헛된 것에 집착하고 있지 않은지 성찰해야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감사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통해 내가 가진 것을 당연하게 여기지 않고, 주변 사람에게 고마움을 느끼며, 일상에서 소소한 행복을 찾음으로써 지나친 욕심이나 집착을 다스릴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잠들기 전 ‘오늘 고마웠던 일 세 가지’ 쓰기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나의 욕심이 지나치지 않은지, 내가 헛된 것에 집착하고 있지 않은지 성찰해야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감사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통해 내가 가진 것을 당연하게 여기지 않고, 주변 사람에게 고마움을 느끼며, 일상에서 소소한 행복을 찾음으로써 지나친 욕심이나 집착을 다스릴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잠들기 전 ‘오늘 고마웠던 일 세 가지’ 쓰기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b="1" dirty="0">
                <a:solidFill>
                  <a:srgbClr val="FFFF00"/>
                </a:solidFill>
                <a:latin typeface="+mn-ea"/>
              </a:rPr>
              <a:t>다른 사람과의 갈등 때문에 마음이 고통스럽다면?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갈등을 해결하려고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나에게 잘못한 사람을 원망하며 고통을 겪기보다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용서 </a:t>
            </a:r>
            <a:r>
              <a:rPr sz="2400" b="0">
                <a:solidFill>
                  <a:srgbClr val="262626"/>
                </a:solidFill>
              </a:rPr>
              <a:t>함으로써 마음의 평온을 얻을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“그때 내가 심했어, 미안해.” 먼저 보내는 메시지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내가 잘못한 것이 있다면 상대방에게 먼저 용서를 구하는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용기 </a:t>
            </a:r>
            <a:r>
              <a:rPr sz="2400" b="0">
                <a:solidFill>
                  <a:srgbClr val="262626"/>
                </a:solidFill>
              </a:rPr>
              <a:t>도 필요함.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갈등을 해결하려고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나에게 잘못한 사람을 원망하며 고통을 겪기보다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용서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함으로써 마음의 평온을 얻을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“그때 내가 심했어, 미안해.” 먼저 보내는 메시지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내가 잘못한 것이 있다면 상대방에게 먼저 용서를 구하는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 필요함.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갈등을 해결하려고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나에게 잘못한 사람을 원망하며 고통을 겪기보다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함으로써 마음의 평온을 얻을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“그때 내가 심했어, 미안해.” 먼저 보내는 메시지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내가 잘못한 것이 있다면 상대방에게 먼저 용서를 구하는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 필요함.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갈등을 해결하려고 노력해야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나에게 잘못한 사람을 원망하며 고통을 겪기보다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함으로써 마음의 평온을 얻을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“그때 내가 심했어, 미안해.” 먼저 보내는 메시지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내가 잘못한 것이 있다면 상대방에게 먼저 용서를 구하는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용기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 필요함.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통제의 이분법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🙆 내 힘으로 · 내 생각 · 내 노력 · 내 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🙅 내 힘 밖 · 남의 생각 · 날씨 · 지나간 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딜레마 · 나라면?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시험 전날 밤 11시. 걱정 때문에 잠이 오지 않는다.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밤새 공부 — 불안해서 한 자라도 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정리하고 잔다 — 내일 할 일을 적고 숨 고르기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내 힘으로 할 수 있는 것은 무엇일까?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시험 전날 밤 11시. 걱정 때문에 잠이 오지 않는다.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밤새 공부 — 불안해서 한 자라도 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정리하고 잔다 — 내일 할 일을 적고 숨 고르기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내 힘으로 할 수 있는 것은 무엇일까?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도움을 청하는 것도 용기다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51쪽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🏫 · 담임 선생님 · Wee 클래스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📞 · 청소년 상담 1388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📞 · 자살 예방 상담 109 (24시간)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우리는 고통 때문에 마음이 고요할 때 평온하다고 여긴다.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자신의 상황을 다른 사람과 비교해서 고통스럽다면 상황을 긍정적으로 바라봄으로써 고통을 극복할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모두에게 인정받고 싶다거나 절대 실패하지 않겠다는 생각은 현실에서 이루어지기 어려우므로 주의해야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갈등의 원인이 나에게 있다면 죄책감 때문에 괴로울 수 있으므로 상대방이 내게 사과하기를 기다려야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고통 때문에 마음이 고요할 때 평온하다고 여긴다.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자신의 상황을 다른 사람과 비교해서 고통스럽다면 상황을 긍정적으로 바라봄으로써 고통을 극복할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모두에게 인정받고 싶다거나 절대 실패하지 않겠다는 생각은 현실에서 이루어지기 어려우므로 주의해야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갈등의 원인이 나에게 있다면 죄책감 때문에 괴로울 수 있으므로 상대방이 내게 사과하기를 기다려야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고통 때문에 마음이 고요할 때 평온하다고 여긴다.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자신의 상황을 다른 사람과 비교해서 고통스럽다면 상황을 긍정적으로 바라봄으로써 고통을 극복할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모두에게 인정받고 싶다거나 절대 실패하지 않겠다는 생각은 현실에서 이루어지기 어려우므로 주의해야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갈등의 원인이 나에게 있다면 죄책감 때문에 괴로울 수 있으므로 상대방이 내게 사과하기를 기다려야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고통 때문에 마음이 고요할 때 평온하다고 여긴다.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자신의 상황을 다른 사람과 비교해서 고통스럽다면 상황을 긍정적으로 바라봄으로써 고통을 극복할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모두에게 인정받고 싶다거나 절대 실패하지 않겠다는 생각은 현실에서 이루어지기 어려우므로 주의해야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갈등의 원인이 나에게 있다면 죄책감 때문에 괴로울 수 있으므로 상대방이 내게 사과하기를 기다려야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우리는 고통 때문에 마음이 고요할 때 평온하다고 여긴다.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자신의 상황을 다른 사람과 비교해서 고통스럽다면 상황을 긍정적으로 바라봄으로써 고통을 극복할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모두에게 인정받고 싶다거나 절대 실패하지 않겠다는 생각은 현실에서 이루어지기 어려우므로 주의해야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갈등의 원인이 나에게 있다면 죄책감 때문에 괴로울 수 있으므로 상대방이 내게 사과하기를 기다려야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원인에 맞는 방법은?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“많이 힘들었구나. 잘할 수 있을 거야.” 나를 격려하기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부정적인 생각 (위로와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그래도 감사한 점 세 가지 쓰기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욕심이나 집착 (감사)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원망스러운 사람을 마음속으로 용서하기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다른 사람과의 갈등 (용서)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남과 비교하고 있지 않은지 살피기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부정적인 생각 (비교 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내가 먼저 사과하기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다른 사람과의 갈등 (용서를 구하는 용기)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모두에게 인정받겠다는 생각 내려놓기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욕심이나 집착 (집착 성찰)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“많이 힘들었구나. 잘할 수 있을 거야.” 나를 격려하기</a:t>
            </a:r>
            <a:r>
              <a:rPr sz="2300" b="1">
                <a:solidFill>
                  <a:srgbClr val="C0392B"/>
                </a:solidFill>
              </a:rPr>
              <a:t>   → 부정적인 생각 (위로와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그래도 감사한 점 세 가지 쓰기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욕심이나 집착 (감사)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원망스러운 사람을 마음속으로 용서하기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다른 사람과의 갈등 (용서)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남과 비교하고 있지 않은지 살피기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부정적인 생각 (비교 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내가 먼저 사과하기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다른 사람과의 갈등 (용서를 구하는 용기)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모두에게 인정받겠다는 생각 내려놓기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욕심이나 집착 (집착 성찰)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“많이 힘들었구나. 잘할 수 있을 거야.” 나를 격려하기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부정적인 생각 (위로와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그래도 감사한 점 세 가지 쓰기</a:t>
            </a:r>
            <a:r>
              <a:rPr sz="2300" b="1">
                <a:solidFill>
                  <a:srgbClr val="C0392B"/>
                </a:solidFill>
              </a:rPr>
              <a:t>   → 욕심이나 집착 (감사)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원망스러운 사람을 마음속으로 용서하기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다른 사람과의 갈등 (용서)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남과 비교하고 있지 않은지 살피기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부정적인 생각 (비교 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내가 먼저 사과하기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다른 사람과의 갈등 (용서를 구하는 용기)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모두에게 인정받겠다는 생각 내려놓기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욕심이나 집착 (집착 성찰)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“많이 힘들었구나. 잘할 수 있을 거야.” 나를 격려하기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부정적인 생각 (위로와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그래도 감사한 점 세 가지 쓰기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욕심이나 집착 (감사)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원망스러운 사람을 마음속으로 용서하기</a:t>
            </a:r>
            <a:r>
              <a:rPr sz="2300" b="1">
                <a:solidFill>
                  <a:srgbClr val="C0392B"/>
                </a:solidFill>
              </a:rPr>
              <a:t>   → 다른 사람과의 갈등 (용서)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남과 비교하고 있지 않은지 살피기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부정적인 생각 (비교 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내가 먼저 사과하기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다른 사람과의 갈등 (용서를 구하는 용기)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모두에게 인정받겠다는 생각 내려놓기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욕심이나 집착 (집착 성찰)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“많이 힘들었구나. 잘할 수 있을 거야.” 나를 격려하기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부정적인 생각 (위로와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그래도 감사한 점 세 가지 쓰기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욕심이나 집착 (감사)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원망스러운 사람을 마음속으로 용서하기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다른 사람과의 갈등 (용서)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남과 비교하고 있지 않은지 살피기</a:t>
            </a:r>
            <a:r>
              <a:rPr sz="2300" b="1">
                <a:solidFill>
                  <a:srgbClr val="C0392B"/>
                </a:solidFill>
              </a:rPr>
              <a:t>   → 부정적인 생각 (비교 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내가 먼저 사과하기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다른 사람과의 갈등 (용서를 구하는 용기)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모두에게 인정받겠다는 생각 내려놓기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욕심이나 집착 (집착 성찰)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“많이 힘들었구나. 잘할 수 있을 거야.” 나를 격려하기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부정적인 생각 (위로와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그래도 감사한 점 세 가지 쓰기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욕심이나 집착 (감사)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원망스러운 사람을 마음속으로 용서하기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다른 사람과의 갈등 (용서)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남과 비교하고 있지 않은지 살피기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부정적인 생각 (비교 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내가 먼저 사과하기</a:t>
            </a:r>
            <a:r>
              <a:rPr sz="2300" b="1">
                <a:solidFill>
                  <a:srgbClr val="C0392B"/>
                </a:solidFill>
              </a:rPr>
              <a:t>   → 다른 사람과의 갈등 (용서를 구하는 용기)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모두에게 인정받겠다는 생각 내려놓기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욕심이나 집착 (집착 성찰)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부정적인 생각 · 욕심이나 집착 · 다른 사람과의 갈등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“많이 힘들었구나. 잘할 수 있을 거야.” 나를 격려하기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부정적인 생각 (위로와 격려)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그래도 감사한 점 세 가지 쓰기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욕심이나 집착 (감사)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원망스러운 사람을 마음속으로 용서하기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다른 사람과의 갈등 (용서)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남과 비교하고 있지 않은지 살피기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부정적인 생각 (비교 성찰)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내가 먼저 사과하기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다른 사람과의 갈등 (용서를 구하는 용기)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6. 모두에게 인정받겠다는 생각 내려놓기</a:t>
            </a:r>
            <a:r>
              <a:rPr sz="2300" b="1">
                <a:solidFill>
                  <a:srgbClr val="C0392B"/>
                </a:solidFill>
              </a:rPr>
              <a:t>   → 욕심이나 집착 (집착 성찰)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그래도 감사한 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마음의 평화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49쪽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마음의 평온을 어떻게 얻을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바라는 대로 되지 않았던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시험 성적이 기대만 못했다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그럼에도 감사한 점 1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위로해 주는 친구들이 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그럼에도 감사한 점 2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모르는 문제가 무엇인지 알 수 있었다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그럼에도 감사한 점 3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수행 평가 기회가 남아 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바라는 대로 되지 않았던 일</a:t>
            </a:r>
            <a:r>
              <a:rPr sz="2300" b="1">
                <a:solidFill>
                  <a:srgbClr val="C0392B"/>
                </a:solidFill>
              </a:rPr>
              <a:t>   예) 시험 성적이 기대만 못했다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그럼에도 감사한 점 1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위로해 주는 친구들이 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그럼에도 감사한 점 2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모르는 문제가 무엇인지 알 수 있었다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그럼에도 감사한 점 3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수행 평가 기회가 남아 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바라는 대로 되지 않았던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시험 성적이 기대만 못했다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그럼에도 감사한 점 1</a:t>
            </a:r>
            <a:r>
              <a:rPr sz="2300" b="1">
                <a:solidFill>
                  <a:srgbClr val="C0392B"/>
                </a:solidFill>
              </a:rPr>
              <a:t>   예) 위로해 주는 친구들이 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그럼에도 감사한 점 2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모르는 문제가 무엇인지 알 수 있었다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그럼에도 감사한 점 3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수행 평가 기회가 남아 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바라는 대로 되지 않았던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시험 성적이 기대만 못했다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그럼에도 감사한 점 1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위로해 주는 친구들이 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그럼에도 감사한 점 2</a:t>
            </a:r>
            <a:r>
              <a:rPr sz="2300" b="1">
                <a:solidFill>
                  <a:srgbClr val="C0392B"/>
                </a:solidFill>
              </a:rPr>
              <a:t>   예) 모르는 문제가 무엇인지 알 수 있었다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그럼에도 감사한 점 3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수행 평가 기회가 남아 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바라는 대로 되지 않았던 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시험 성적이 기대만 못했다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그럼에도 감사한 점 1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위로해 주는 친구들이 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그럼에도 감사한 점 2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모르는 문제가 무엇인지 알 수 있었다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그럼에도 감사한 점 3</a:t>
            </a:r>
            <a:r>
              <a:rPr sz="2300" b="1">
                <a:solidFill>
                  <a:srgbClr val="C0392B"/>
                </a:solidFill>
              </a:rPr>
              <a:t>   예) 수행 평가 기회가 남아 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</p:bldLst>
  </p:timing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8830</TotalTime>
  <Words>1418</Words>
  <Application>Microsoft Office PowerPoint</Application>
  <PresentationFormat>와이드스크린</PresentationFormat>
  <Paragraphs>242</Paragraphs>
  <Slides>21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1" baseType="lpstr">
      <vt:lpstr>AppleSDGothicNeoB00</vt:lpstr>
      <vt:lpstr>굴림</vt:lpstr>
      <vt:lpstr>나눔고딕</vt:lpstr>
      <vt:lpstr>나눔스퀘어라운드 ExtraBold</vt:lpstr>
      <vt:lpstr>돋움</vt:lpstr>
      <vt:lpstr>Malgun Gothic</vt:lpstr>
      <vt:lpstr>Malgun Gothic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208</cp:revision>
  <cp:lastPrinted>2024-06-05T04:53:22Z</cp:lastPrinted>
  <dcterms:created xsi:type="dcterms:W3CDTF">2023-10-31T05:50:03Z</dcterms:created>
  <dcterms:modified xsi:type="dcterms:W3CDTF">2025-01-14T02:16:57Z</dcterms:modified>
</cp:coreProperties>
</file>