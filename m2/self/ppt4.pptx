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6"/>
  </p:notesMasterIdLst>
  <p:handoutMasterIdLst>
    <p:handoutMasterId r:id="rId27"/>
  </p:handoutMasterIdLst>
  <p:sldIdLst>
    <p:sldId id="302" r:id="rId2"/>
    <p:sldId id="301" r:id="rId3"/>
    <p:sldId id="258" r:id="rId4"/>
    <p:sldId id="304" r:id="rId5"/>
    <p:sldId id="305" r:id="rId6"/>
    <p:sldId id="260" r:id="rId7"/>
    <p:sldId id="349" r:id="rId33"/>
    <p:sldId id="350" r:id="rId34"/>
    <p:sldId id="351" r:id="rId35"/>
    <p:sldId id="306" r:id="rId8"/>
    <p:sldId id="270" r:id="rId9"/>
    <p:sldId id="307" r:id="rId10"/>
    <p:sldId id="309" r:id="rId11"/>
    <p:sldId id="308" r:id="rId12"/>
    <p:sldId id="310" r:id="rId13"/>
    <p:sldId id="311" r:id="rId14"/>
    <p:sldId id="312" r:id="rId15"/>
    <p:sldId id="313" r:id="rId16"/>
    <p:sldId id="352" r:id="rId36"/>
    <p:sldId id="353" r:id="rId37"/>
    <p:sldId id="354" r:id="rId38"/>
    <p:sldId id="355" r:id="rId39"/>
    <p:sldId id="356" r:id="rId40"/>
    <p:sldId id="316" r:id="rId17"/>
    <p:sldId id="317" r:id="rId18"/>
    <p:sldId id="318" r:id="rId19"/>
    <p:sldId id="321" r:id="rId20"/>
    <p:sldId id="291" r:id="rId21"/>
    <p:sldId id="282" r:id="rId22"/>
    <p:sldId id="324" r:id="rId23"/>
    <p:sldId id="328" r:id="rId24"/>
    <p:sldId id="357" r:id="rId41"/>
    <p:sldId id="358" r:id="rId42"/>
    <p:sldId id="359" r:id="rId43"/>
    <p:sldId id="360" r:id="rId44"/>
    <p:sldId id="348" r:id="rId25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070"/>
    <a:srgbClr val="CDCED2"/>
    <a:srgbClr val="FFF7EE"/>
    <a:srgbClr val="FF9300"/>
    <a:srgbClr val="FFFF00"/>
    <a:srgbClr val="D9E1E9"/>
    <a:srgbClr val="E8F6FD"/>
    <a:srgbClr val="F0FFF6"/>
    <a:srgbClr val="019B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84" d="100"/>
          <a:sy n="84" d="100"/>
        </p:scale>
        <p:origin x="114" y="294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죽음의 특성 (교과서 29~31쪽)</a:t>
            </a:r>
          </a:p>
          <a:p>
            <a:r>
              <a:t>여기에 언제 올지 모른다는 예측 불가능성도 덧붙인다. 이 특성들 때문에 삶은 하나뿐이고 소중하다.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31~32쪽 · 죽음에 관한 성찰</a:t>
            </a:r>
          </a:p>
          <a:p>
            <a:r>
              <a:t>죽음을 두렵게만 다루지 않는다. 최근 가족을 잃은 학생이 있을 수 있으니 미리 살피고, 말하고 싶지 않으면 쓰지 않아도 된다고 알린다.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유교의 관점</a:t>
            </a:r>
          </a:p>
          <a:p>
            <a:r>
              <a:t>제자 자로가 죽음에 대해 묻자 공자가 한 답. 죽음 이후보다 지금 사람의 도리를 다하는 삶을 강조했다.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에피쿠로스학파</a:t>
            </a:r>
          </a:p>
          <a:p>
            <a:r>
              <a:t>죽음에 대한 두려움에서 벗어나 마음의 평온을 얻으라고 했다. 불교는 삶과 죽음이 이어지는 윤회와 집착에서 벗어남을 말한다(7차시).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생명 존중</a:t>
            </a:r>
          </a:p>
          <a:p>
            <a:r>
              <a:t>힘들 때는 혼자 견디지 않기: 자살 예방 상담 109(24시간), 청소년 상담 1388, 학교 Wee 클래스. 이 장에서는 번호를 칠판에 함께 적어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삶의 특성을 확인하고, 묘비명과 하이데거 미션을 써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삶의 특성을 확인하고, 묘비명과 하이데거 미션을 써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삶의 특성을 확인하고, 묘비명과 하이데거 미션을 써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4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4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4.png"/><Relationship Id="rId6" Type="http://schemas.openxmlformats.org/officeDocument/2006/relationships/slide" Target="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2 </a:t>
            </a:r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삶과 죽음을 어떻게 생각해야 할까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삶의 의미와 특성을 말할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57B4A80-0309-7BD0-AAF8-FF35B30F644B}"/>
              </a:ext>
            </a:extLst>
          </p:cNvPr>
          <p:cNvGrpSpPr/>
          <p:nvPr/>
        </p:nvGrpSpPr>
        <p:grpSpPr>
          <a:xfrm>
            <a:off x="787400" y="2933699"/>
            <a:ext cx="10293350" cy="1573773"/>
            <a:chOff x="914400" y="2362199"/>
            <a:chExt cx="10293350" cy="157377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62975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죽음에 관한 성찰을 통해 생명의 소중함과 의미 있는 삶의 중요성을 설명할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0500" y="1433380"/>
            <a:ext cx="9474200" cy="4672865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33" name="타원 3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4746171" y="5852160"/>
            <a:ext cx="1184366" cy="254085"/>
          </a:xfrm>
          <a:prstGeom prst="rect">
            <a:avLst/>
          </a:prstGeom>
          <a:solidFill>
            <a:srgbClr val="CDCE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6029922" y="5852159"/>
            <a:ext cx="376931" cy="254085"/>
          </a:xfrm>
          <a:prstGeom prst="rect">
            <a:avLst/>
          </a:prstGeom>
          <a:solidFill>
            <a:srgbClr val="A9D0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10039787" y="1763336"/>
            <a:ext cx="1264931" cy="1383051"/>
          </a:xfrm>
          <a:prstGeom prst="rect">
            <a:avLst/>
          </a:prstGeom>
          <a:solidFill>
            <a:srgbClr val="E8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80" y="1810100"/>
            <a:ext cx="11722440" cy="4084819"/>
          </a:xfrm>
          <a:prstGeom prst="rect">
            <a:avLst/>
          </a:prstGeom>
        </p:spPr>
      </p:pic>
      <p:sp>
        <p:nvSpPr>
          <p:cNvPr id="33" name="직사각형 32"/>
          <p:cNvSpPr/>
          <p:nvPr/>
        </p:nvSpPr>
        <p:spPr>
          <a:xfrm>
            <a:off x="948866" y="1669554"/>
            <a:ext cx="3153234" cy="508718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6279810" y="1581141"/>
            <a:ext cx="4680290" cy="508718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9533505" y="2102548"/>
            <a:ext cx="1435100" cy="1618551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 rot="1923637">
            <a:off x="5844331" y="1581285"/>
            <a:ext cx="631214" cy="371318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 rot="20146199">
            <a:off x="3846733" y="1584428"/>
            <a:ext cx="631214" cy="371318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17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2174739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966915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죽음을 대하는 진시황의 태도는 바람직하지 않다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왜냐하면 모든 사람은 누구나 죽음을 맞이하므로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죽음을 피하려고 애쓰기보다 초연하게 받아들이는 자세가 필요하기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만화에서 죽음을 대하는 진시황의 태도가 바람직한지 생각해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그렇게 생각한 까닭을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삶의 의미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chemeClr val="tx1"/>
                </a:solidFill>
                <a:latin typeface="+mn-ea"/>
              </a:rPr>
              <a:t>우리가 세상에 태어나 하루하루를 살아가며 채워 가는 모든 과정</a:t>
            </a:r>
            <a:endParaRPr lang="en-US" altLang="ko-KR" sz="2400" dirty="0">
              <a:solidFill>
                <a:schemeClr val="tx1"/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삶의 특성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solidFill>
                  <a:schemeClr val="tx1"/>
                </a:solidFill>
                <a:latin typeface="+mn-ea"/>
              </a:rPr>
              <a:t>한 </a:t>
            </a:r>
            <a:r>
              <a:rPr lang="ko-KR" altLang="en-US" sz="2400" b="1" dirty="0" err="1">
                <a:solidFill>
                  <a:schemeClr val="tx1"/>
                </a:solidFill>
                <a:latin typeface="+mn-ea"/>
              </a:rPr>
              <a:t>번뿐임</a:t>
            </a:r>
            <a:r>
              <a:rPr lang="en-US" altLang="ko-KR" sz="2400" b="1" dirty="0">
                <a:solidFill>
                  <a:schemeClr val="tx1"/>
                </a:solidFill>
                <a:latin typeface="+mn-ea"/>
              </a:rPr>
              <a:t>: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+mn-ea"/>
              </a:rPr>
              <a:t>삶을 살아갈 기회는 누구에게나 단 </a:t>
            </a: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한 번씩만 </a:t>
            </a:r>
            <a:r>
              <a:rPr lang="ko-KR" altLang="en-US" sz="2400" dirty="0">
                <a:solidFill>
                  <a:schemeClr val="tx1"/>
                </a:solidFill>
                <a:latin typeface="+mn-ea"/>
              </a:rPr>
              <a:t>주어짐</a:t>
            </a:r>
            <a:r>
              <a:rPr lang="en-US" altLang="ko-KR" sz="24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solidFill>
                  <a:schemeClr val="tx1"/>
                </a:solidFill>
                <a:latin typeface="+mn-ea"/>
              </a:rPr>
              <a:t>대체 불가능함</a:t>
            </a:r>
            <a:r>
              <a:rPr lang="en-US" altLang="ko-KR" sz="2400" b="1" dirty="0">
                <a:solidFill>
                  <a:schemeClr val="tx1"/>
                </a:solidFill>
                <a:latin typeface="+mn-ea"/>
              </a:rPr>
              <a:t>:</a:t>
            </a:r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+mn-ea"/>
              </a:rPr>
              <a:t>나의 삶은 그 무엇과도 바꿀 수 없음</a:t>
            </a:r>
            <a:r>
              <a:rPr lang="en-US" altLang="ko-KR" sz="24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solidFill>
                  <a:schemeClr val="tx1"/>
                </a:solidFill>
                <a:latin typeface="+mn-ea"/>
              </a:rPr>
              <a:t>끝이 있음</a:t>
            </a:r>
            <a:r>
              <a:rPr lang="en-US" altLang="ko-KR" sz="2400" b="1" dirty="0">
                <a:solidFill>
                  <a:schemeClr val="tx1"/>
                </a:solidFill>
                <a:latin typeface="+mn-ea"/>
              </a:rPr>
              <a:t>:</a:t>
            </a:r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+mn-ea"/>
              </a:rPr>
              <a:t>삶은 유한하며 삶의 끝에는 죽음이 있음</a:t>
            </a:r>
            <a:r>
              <a:rPr lang="en-US" altLang="ko-KR" sz="24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삶의 의미와 특성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67100"/>
            <a:ext cx="3889482" cy="33911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40018" y="1596520"/>
            <a:ext cx="860188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할머니는 편찮으셔서 오랫동안 병원에 입원해 계셨다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어느 날 할머니가 위독하시다는 연락을 받고 부모님과 함께 병원으로 향하였다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할머니는 인공호흡기를 달고 가쁘게 호흡을 이어 가고 계셨다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그리고 얼마 지나지 않아 할머니가 돌아가셨다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장례식을 치르고 며칠 뒤 할머니 댁에 갔다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할머니 방에 들어가니 방이 텅 비어 있었다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 순간 늘 내 곁에 계실 것이라고 여겼던 할머니를 직접 뵐 수 없다는 사실이 실감 났다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그리고 명절에 할머니와 더 이상 정겹게 이야기할 수 없다는 생각에 슬퍼졌다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7189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>
                <a:latin typeface="+mn-ea"/>
              </a:rPr>
              <a:t>윗글과 </a:t>
            </a:r>
            <a:r>
              <a:rPr lang="ko-KR" altLang="en-US" sz="2000" b="1" dirty="0">
                <a:latin typeface="+mn-ea"/>
              </a:rPr>
              <a:t>같이 삶에 끝이 있음을 깨달았던 경험을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태어났을 때부터 늘 함께하던 소중한 반려동물이 죽었을 때 삶에는 끝이 있음을 깨달았다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835" y="1637187"/>
            <a:ext cx="9871131" cy="38664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066509" y="5449887"/>
            <a:ext cx="95261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6"/>
                </a:solidFill>
              </a:rPr>
              <a:t>사전 연명 의료 의향서 </a:t>
            </a:r>
            <a:r>
              <a:rPr lang="ko-KR" altLang="en-US" sz="1600" dirty="0"/>
              <a:t>성인이 죽음을 앞둔 환자가 되었을 때를 대비하여 치료 효과 없이 생명을 연장하는 처치를 받지 않겠다는 뜻을 밝힌 문서</a:t>
            </a:r>
            <a:r>
              <a:rPr lang="ko-KR" altLang="en-US" sz="2400" b="1" dirty="0">
                <a:solidFill>
                  <a:prstClr val="black"/>
                </a:solidFill>
              </a:rPr>
              <a:t>  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0900" y="2820603"/>
            <a:ext cx="7458495" cy="3417997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646375" y="2175258"/>
            <a:ext cx="7991475" cy="155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092" y="1468688"/>
            <a:ext cx="5401835" cy="356487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62066" y="1910091"/>
            <a:ext cx="2454447" cy="190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17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66660" y="3195625"/>
            <a:ext cx="7066331" cy="323828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위</a:t>
            </a:r>
            <a:r>
              <a:rPr lang="ko-KR" altLang="en-US" sz="2000" b="1" dirty="0" smtClean="0">
                <a:latin typeface="+mn-ea"/>
              </a:rPr>
              <a:t> </a:t>
            </a:r>
            <a:r>
              <a:rPr lang="ko-KR" altLang="en-US" sz="2000" b="1" dirty="0">
                <a:latin typeface="+mn-ea"/>
              </a:rPr>
              <a:t>만화의 주인공이 깨달은 점은 무엇인지 상상하여 </a:t>
            </a:r>
            <a:r>
              <a:rPr lang="ko-KR" altLang="en-US" sz="2000" b="1" dirty="0" smtClean="0">
                <a:latin typeface="+mn-ea"/>
              </a:rPr>
              <a:t>생각 풍선에 써 </a:t>
            </a:r>
            <a:r>
              <a:rPr lang="ko-KR" altLang="en-US" sz="2000" b="1" dirty="0">
                <a:latin typeface="+mn-ea"/>
              </a:rPr>
              <a:t>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9331" y="3547874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21855" y="3547874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4635" y="2451767"/>
            <a:ext cx="2179250" cy="1639779"/>
          </a:xfrm>
          <a:prstGeom prst="rect">
            <a:avLst/>
          </a:prstGeom>
        </p:spPr>
      </p:pic>
      <p:sp>
        <p:nvSpPr>
          <p:cNvPr id="2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4488873" y="4182983"/>
            <a:ext cx="6537632" cy="187773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659251" y="4180281"/>
            <a:ext cx="6184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지금 살아 있다는 것을 당연하게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여기지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말고 감사하게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생각해야겠어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4073236" y="4453247"/>
            <a:ext cx="237507" cy="237506"/>
          </a:xfrm>
          <a:prstGeom prst="ellipse">
            <a:avLst/>
          </a:prstGeom>
          <a:solidFill>
            <a:srgbClr val="FFF7EE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3824635" y="4384924"/>
            <a:ext cx="148148" cy="136645"/>
          </a:xfrm>
          <a:prstGeom prst="ellipse">
            <a:avLst/>
          </a:prstGeom>
          <a:solidFill>
            <a:srgbClr val="FFF7EE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54500"/>
            <a:ext cx="3974865" cy="32017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40018" y="1596520"/>
            <a:ext cx="8601887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사형 직전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사형수에게 단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5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분이 남았다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사형수는 가족과 친구에게 작별 인사를 하는 데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분을 쓰고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그동안의 삶을 돌아보는 데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분을 썼다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그리고 남은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분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‘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내가 만약 살 수 있다면 앞으로 남은 인생을 단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초도 소홀히 보내지 않을 텐데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…….’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라며 후회하는 순간 기적적으로 사형이 중지되었고 사형수는 목숨을 건졌다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이후 그는 사형 직전에 겪은 ‘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5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분’을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생각하며 하루하루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순간순간을 소중하게 여기며 살았다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 사형수는 러시아의 소설가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도스토옙스키였다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9" name="타원 28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7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40018" y="1596520"/>
            <a:ext cx="8601887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그는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죽는 날까지 성실하게 글을 썼고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모든 작품을 마지막 작품이라고 여기며 최선을 다해 집필하였다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그리고 글을 쓰지 않을 때조차 앞으로 쓸 내용을 중얼거리며 다녔다고 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 결과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도스토옙스키는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죄와 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》, 《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백치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등 세계적으로 손꼽히는 소설을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연달아 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수 있었다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박민호 엮음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마음을 움직이는 인성 이야기 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111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가지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2" name="타원 31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54500"/>
            <a:ext cx="3974865" cy="320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30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사형수가 하루하루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순간순간을 소중하게 여기며 살게 된 까닭을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죽음에 관해 성찰함으로써 자신이 충실하게 살지 못했음을 후회하고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앞으로 남은 삶을 의미 있게 살고자 다짐하였기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</p:spTree>
    <p:extLst>
      <p:ext uri="{BB962C8B-B14F-4D97-AF65-F5344CB8AC3E}">
        <p14:creationId xmlns:p14="http://schemas.microsoft.com/office/powerpoint/2010/main" val="22102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죽음에 관한 성찰의 중요성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생명의 소중함을 깨달음</a:t>
            </a:r>
            <a:r>
              <a:rPr lang="en-US" altLang="ko-KR" sz="2400" b="1" dirty="0">
                <a:latin typeface="+mn-ea"/>
              </a:rPr>
              <a:t>: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언젠가 죽는다는 사실을 성찰하면 우리에게 주어진 생명을 더욱 소중하게 여길 수 있음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의미 있는 삶의 중요성을 깨달음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만약 우리가 살날이 얼마 남지 않았다면 지금까지의 삶을 되돌아보고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남은 삶을 더욱 의미 있게 살고자 노력할 것임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죽음에 관한 성찰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</p:spTree>
    <p:extLst>
      <p:ext uri="{BB962C8B-B14F-4D97-AF65-F5344CB8AC3E}">
        <p14:creationId xmlns:p14="http://schemas.microsoft.com/office/powerpoint/2010/main" val="360710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34821" y="3136221"/>
            <a:ext cx="4066350" cy="3707572"/>
          </a:xfrm>
          <a:prstGeom prst="rect">
            <a:avLst/>
          </a:prstGeom>
        </p:spPr>
      </p:pic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생각하기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0018" y="1596520"/>
            <a:ext cx="86018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저는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호스피스 병원에서 의사로 일하며 많은 환자의 죽음을 지켜보았습니다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환자들은 죽음을 앞둔 상황에서도 다른 사람을 위해 행동했을 때 가장 행복해 보였습니다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삶과 죽음 사이에는 ‘죽어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감’이라는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과정이 있고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이러한 과정도 삶의 일부분이라고 생각합니다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‘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죽어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감’이라는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과정에서도 우리가 할 수 있는 일이 무척 많다는 것을 깨닫길 바랍니다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                                                                       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매일신문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》, 2022. 3. 6.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4619500" y="4990007"/>
            <a:ext cx="6911471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>
                <a:solidFill>
                  <a:schemeClr val="accent6"/>
                </a:solidFill>
                <a:latin typeface="+mn-ea"/>
              </a:rPr>
              <a:t>호스피스</a:t>
            </a:r>
            <a:r>
              <a:rPr lang="ko-KR" altLang="en-US" sz="1600" dirty="0">
                <a:latin typeface="+mn-ea"/>
              </a:rPr>
              <a:t> 죽음이 가까운 환자가 인간적인 마지막 삶을 누릴 수 있게 하는 특수 시설</a:t>
            </a:r>
            <a:endParaRPr lang="en-US" altLang="ko-KR" sz="1600" dirty="0">
              <a:latin typeface="+mn-ea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3654029" y="1680454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나의 묘비명 만들기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</p:spTree>
    <p:extLst>
      <p:ext uri="{BB962C8B-B14F-4D97-AF65-F5344CB8AC3E}">
        <p14:creationId xmlns:p14="http://schemas.microsoft.com/office/powerpoint/2010/main" val="309717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생각하기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 smtClean="0">
                <a:latin typeface="+mn-ea"/>
              </a:rPr>
              <a:t>내가 </a:t>
            </a:r>
            <a:r>
              <a:rPr lang="ko-KR" altLang="en-US" sz="2000" b="1" dirty="0">
                <a:latin typeface="+mn-ea"/>
              </a:rPr>
              <a:t>살날이 얼마 남지 않았다고 상상해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남은 시간 동안 하고 싶은 일을 세 가지 써 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7" name="그림 2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0050" y="3084618"/>
            <a:ext cx="10947423" cy="2461063"/>
          </a:xfrm>
          <a:prstGeom prst="rect">
            <a:avLst/>
          </a:prstGeom>
        </p:spPr>
      </p:pic>
      <p:grpSp>
        <p:nvGrpSpPr>
          <p:cNvPr id="38" name="그룹 37"/>
          <p:cNvGrpSpPr/>
          <p:nvPr/>
        </p:nvGrpSpPr>
        <p:grpSpPr>
          <a:xfrm>
            <a:off x="611850" y="3280142"/>
            <a:ext cx="10564357" cy="1691349"/>
            <a:chOff x="620634" y="2452108"/>
            <a:chExt cx="11002471" cy="1754326"/>
          </a:xfrm>
        </p:grpSpPr>
        <p:sp>
          <p:nvSpPr>
            <p:cNvPr id="39" name="TextBox 38"/>
            <p:cNvSpPr txBox="1"/>
            <p:nvPr/>
          </p:nvSpPr>
          <p:spPr>
            <a:xfrm>
              <a:off x="620634" y="2511800"/>
              <a:ext cx="3429000" cy="1129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사랑하는 사람들과 함께 여행 가기</a:t>
              </a:r>
              <a:endPara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420829" y="2452108"/>
              <a:ext cx="3429000" cy="1129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소중한 사람에게 감사 편지 남기기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194105" y="2452108"/>
              <a:ext cx="342900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내가 살아왔던 삶을 되돌아보면서 가족에게 유언장 쓰기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나의 묘비명 만들기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</p:spTree>
    <p:extLst>
      <p:ext uri="{BB962C8B-B14F-4D97-AF65-F5344CB8AC3E}">
        <p14:creationId xmlns:p14="http://schemas.microsoft.com/office/powerpoint/2010/main" val="342350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생각하기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 smtClean="0">
                <a:latin typeface="+mn-ea"/>
              </a:rPr>
              <a:t>나는 죽은 뒤 다른 사람들에게 어떤 모습으로 기억되고 싶은지 써 보고</a:t>
            </a:r>
            <a:r>
              <a:rPr lang="en-US" altLang="ko-KR" sz="2000" b="1" dirty="0" smtClean="0">
                <a:latin typeface="+mn-ea"/>
              </a:rPr>
              <a:t>, </a:t>
            </a:r>
            <a:r>
              <a:rPr lang="ko-KR" altLang="en-US" sz="2000" b="1" dirty="0" smtClean="0">
                <a:latin typeface="+mn-ea"/>
              </a:rPr>
              <a:t>이를 토대로 나의 묘비명을 만들어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7399" y="2920909"/>
            <a:ext cx="27571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기억되고 싶은 모습</a:t>
            </a:r>
            <a:endParaRPr lang="ko-KR" altLang="en-US" sz="2000" dirty="0"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64839" y="3045582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54" name="그림 5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925589"/>
            <a:ext cx="487174" cy="487174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925589"/>
            <a:ext cx="1087577" cy="495431"/>
            <a:chOff x="10075659" y="2003022"/>
            <a:chExt cx="1156006" cy="495431"/>
          </a:xfrm>
        </p:grpSpPr>
        <p:pic>
          <p:nvPicPr>
            <p:cNvPr id="56" name="그림 5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6127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65588" y="3633588"/>
            <a:ext cx="9784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나에게 주어진 일에 최선을 다했던 사람</a:t>
            </a:r>
          </a:p>
        </p:txBody>
      </p:sp>
      <p:sp>
        <p:nvSpPr>
          <p:cNvPr id="60" name="타원 59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나의 묘비명 만들기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</p:spTree>
    <p:extLst>
      <p:ext uri="{BB962C8B-B14F-4D97-AF65-F5344CB8AC3E}">
        <p14:creationId xmlns:p14="http://schemas.microsoft.com/office/powerpoint/2010/main" val="303138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59" grpId="0"/>
      <p:bldP spid="59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" y="2138532"/>
            <a:ext cx="11768866" cy="4795607"/>
            <a:chOff x="168291" y="2095500"/>
            <a:chExt cx="11856339" cy="4795607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425" y="2301160"/>
              <a:ext cx="11597205" cy="4517516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787399" y="2095500"/>
              <a:ext cx="5943601" cy="1790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68291" y="6565172"/>
              <a:ext cx="1113714" cy="3259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생각하기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 smtClean="0">
                <a:latin typeface="+mn-ea"/>
              </a:rPr>
              <a:t>나는 죽은 뒤 다른 사람들에게 어떤 모습으로 기억되고 싶은지 써 보고</a:t>
            </a:r>
            <a:r>
              <a:rPr lang="en-US" altLang="ko-KR" sz="2000" b="1" dirty="0" smtClean="0">
                <a:latin typeface="+mn-ea"/>
              </a:rPr>
              <a:t>, </a:t>
            </a:r>
            <a:r>
              <a:rPr lang="ko-KR" altLang="en-US" sz="2000" b="1" dirty="0" smtClean="0">
                <a:latin typeface="+mn-ea"/>
              </a:rPr>
              <a:t>이를 토대로 나의 묘비명을 만들어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7399" y="2920909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나의 묘비명</a:t>
            </a:r>
            <a:endParaRPr lang="ko-KR" altLang="en-US" sz="2000" dirty="0">
              <a:latin typeface="+mn-ea"/>
            </a:endParaRPr>
          </a:p>
        </p:txBody>
      </p:sp>
      <p:pic>
        <p:nvPicPr>
          <p:cNvPr id="54" name="그림 5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3487" y="2925589"/>
            <a:ext cx="487174" cy="487174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2716011" y="2925589"/>
            <a:ext cx="1087577" cy="495431"/>
            <a:chOff x="10075659" y="2003022"/>
            <a:chExt cx="1156006" cy="495431"/>
          </a:xfrm>
        </p:grpSpPr>
        <p:pic>
          <p:nvPicPr>
            <p:cNvPr id="56" name="그림 5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타원 2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나의 묘비명 만들기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7184572" y="3073309"/>
            <a:ext cx="3271236" cy="2052320"/>
            <a:chOff x="7184572" y="3073309"/>
            <a:chExt cx="3271236" cy="2052320"/>
          </a:xfrm>
        </p:grpSpPr>
        <p:sp>
          <p:nvSpPr>
            <p:cNvPr id="32" name="TextBox 31"/>
            <p:cNvSpPr txBox="1"/>
            <p:nvPr/>
          </p:nvSpPr>
          <p:spPr>
            <a:xfrm>
              <a:off x="7774431" y="3073309"/>
              <a:ext cx="11028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 smtClean="0">
                  <a:solidFill>
                    <a:srgbClr val="0070C0"/>
                  </a:solidFill>
                  <a:latin typeface="맑은 고딕" panose="020B0503020000020004" pitchFamily="50" charset="-127"/>
                </a:rPr>
                <a:t>○○○</a:t>
              </a:r>
              <a:endPara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84572" y="3925300"/>
              <a:ext cx="327123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늘 최선을 다했던 ◯◯◯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, 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웃으며 떠나다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400" dirty="0">
                <a:solidFill>
                  <a:srgbClr val="0070C0"/>
                </a:solidFill>
                <a:latin typeface="+mn-ea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</p:spTree>
    <p:extLst>
      <p:ext uri="{BB962C8B-B14F-4D97-AF65-F5344CB8AC3E}">
        <p14:creationId xmlns:p14="http://schemas.microsoft.com/office/powerpoint/2010/main" val="377387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답하며 자신의 모습을 성찰해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742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445911"/>
            <a:ext cx="98095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삶의 의미와 특성을 설명할 수 있는가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죽음에 관한 성찰을 통해 생명의 소중함과 의미 있는 삶의 중요성을 </a:t>
            </a:r>
            <a:r>
              <a:rPr lang="ko-KR" altLang="en-US" sz="2000" dirty="0" err="1">
                <a:latin typeface="굴림" panose="020B0600000101010101" pitchFamily="50" charset="-127"/>
                <a:ea typeface="굴림" panose="020B0600000101010101" pitchFamily="50" charset="-127"/>
              </a:rPr>
              <a:t>깨달았는가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4546283"/>
            <a:ext cx="8165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나에게 주어진 단 한 번뿐인 삶을 의미 있게 살고자 노력해야겠다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373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2720364" y="5024060"/>
            <a:ext cx="808171" cy="704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5671" y="1605498"/>
            <a:ext cx="9070182" cy="477253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1737360" y="1605498"/>
            <a:ext cx="805815" cy="309027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4517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2"/>
                </a:solidFill>
                <a:latin typeface="+mj-ea"/>
                <a:ea typeface="+mj-ea"/>
              </a:rPr>
              <a:t>죽음을 어떻게 생각해야 할까</a:t>
            </a:r>
            <a:r>
              <a:rPr lang="en-US" altLang="ko-KR" sz="2400" b="1" dirty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삶과</a:t>
            </a:r>
            <a:r>
              <a:rPr lang="en-US" altLang="ko-KR" b="1" dirty="0" smtClean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5" name="타원 24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rId5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9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122" y="2563485"/>
            <a:ext cx="4503788" cy="4294515"/>
          </a:xfrm>
          <a:prstGeom prst="rect">
            <a:avLst/>
          </a:prstGeom>
        </p:spPr>
      </p:pic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2"/>
                </a:solidFill>
                <a:latin typeface="+mj-ea"/>
                <a:ea typeface="+mj-ea"/>
              </a:rPr>
              <a:t>죽음을 어떻게 생각해야 할까</a:t>
            </a:r>
            <a:r>
              <a:rPr lang="en-US" altLang="ko-KR" sz="2400" b="1" dirty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52" y="1504406"/>
            <a:ext cx="2867025" cy="7143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24500" y="1596520"/>
            <a:ext cx="7517405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죽음은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인간이 결코 넘어설 수 없는 것이며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인간은 언제나 죽음과 함께하고 있습니다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그래서 인간은 죽음에 대해 불안을 느낍니다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하지만 죽음에 관한 자각을 통해 삶이 한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번뿐임과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삶에는 끝이 있음을 깨달으면 삶을 의미 있고 가치 있게 보낼 수 있습니다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어떻게 살아갈 것인지 스스로 결정해 나가면서 진정한 자기 모습으로 살아갈 수 있는 것이지요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타원 27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33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122" y="2563485"/>
            <a:ext cx="4503788" cy="4294515"/>
          </a:xfrm>
          <a:prstGeom prst="rect">
            <a:avLst/>
          </a:prstGeom>
        </p:spPr>
      </p:pic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2"/>
                </a:solidFill>
                <a:latin typeface="+mj-ea"/>
                <a:ea typeface="+mj-ea"/>
              </a:rPr>
              <a:t>죽음을 어떻게 생각해야 할까</a:t>
            </a:r>
            <a:r>
              <a:rPr lang="en-US" altLang="ko-KR" sz="2400" b="1" dirty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52" y="1504406"/>
            <a:ext cx="2867025" cy="7143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24500" y="1596520"/>
            <a:ext cx="7517405" cy="2044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죽음에 관해 불안을 느낄 때 죽음 앞으로 미리 달려가 생각해 보는 것은 어떨까요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누구든 자신이 곧 죽는다고 상상해 보면 정말 자신이 해야 할 일은 무엇인지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하지 말아야 할 일은 무엇인지 알게 될 것입니다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6" name="타원 15">
            <a:hlinkClick r:id="rId6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26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“02.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의미 있는 삶을 살려면 어떻게 해야 할까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삶의 의미와 특성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/>
                </a:solidFill>
              </a:rPr>
              <a:t>(1) </a:t>
            </a:r>
            <a:r>
              <a:rPr sz="1260" b="1">
                <a:solidFill>
                  <a:srgbClr val="2F6FD0"/>
                </a:solidFill>
              </a:rPr>
              <a:t>①</a:t>
            </a:r>
            <a:r>
              <a:rPr sz="21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삶 </a:t>
            </a:r>
            <a:r>
              <a:rPr sz="2100" b="1">
                <a:solidFill>
                  <a:srgbClr val="843C0C"/>
                </a:solidFill>
              </a:rPr>
              <a:t>의 의미</a:t>
            </a:r>
            <a:r>
              <a:rPr sz="2100" b="1">
                <a:solidFill>
                  <a:srgbClr val="843C0C"/>
                </a:solidFill>
              </a:rPr>
              <a:t> : </a:t>
            </a:r>
            <a:r>
              <a:rPr sz="2100" b="0">
                <a:solidFill>
                  <a:srgbClr val="262626"/>
                </a:solidFill>
              </a:rPr>
              <a:t>우리가 세상에 태어나 하루하루 살아가며 채워 가는 모든 과정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오늘 아침 급식, 친구와 웃은 일도 내 삶의 한 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/>
                </a:solidFill>
              </a:rPr>
              <a:t>(2) 삶의 특성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/>
                </a:solidFill>
              </a:rPr>
              <a:t>한 번뿐임</a:t>
            </a:r>
            <a:r>
              <a:rPr sz="2100" b="1">
                <a:solidFill>
                  <a:srgbClr val="843C0C"/>
                </a:solidFill>
              </a:rPr>
              <a:t> : </a:t>
            </a:r>
            <a:r>
              <a:rPr sz="1260" b="1">
                <a:solidFill>
                  <a:srgbClr val="2F6FD0"/>
                </a:solidFill>
              </a:rPr>
              <a:t>②</a:t>
            </a:r>
            <a:r>
              <a:rPr sz="21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생명 </a:t>
            </a:r>
            <a:r>
              <a:rPr sz="2100" b="0">
                <a:solidFill>
                  <a:srgbClr val="262626"/>
                </a:solidFill>
              </a:rPr>
              <a:t>은 누구에게나 오직 하나만 주어지므로, 삶을 살아갈 기회도 단 한 번씩만 주어짐.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게임처럼 ‘다시 하기’ 버튼이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/>
                </a:solidFill>
              </a:rPr>
              <a:t>대체 불가능함</a:t>
            </a:r>
            <a:r>
              <a:rPr sz="2100" b="1">
                <a:solidFill>
                  <a:srgbClr val="843C0C"/>
                </a:solidFill>
              </a:rPr>
              <a:t> : </a:t>
            </a:r>
            <a:r>
              <a:rPr sz="2100" b="0">
                <a:solidFill>
                  <a:srgbClr val="262626"/>
                </a:solidFill>
              </a:rPr>
              <a:t>나의 삶은 마음에 안 든다는 이유로 다른 사람의 삶과 바꿀 수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쌍둥이도 서로의 삶을 대신 살아 줄 수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/>
                </a:solidFill>
              </a:rPr>
              <a:t>끝이 있음</a:t>
            </a:r>
            <a:r>
              <a:rPr sz="2100" b="1">
                <a:solidFill>
                  <a:srgbClr val="843C0C"/>
                </a:solidFill>
              </a:rPr>
              <a:t> : </a:t>
            </a:r>
            <a:r>
              <a:rPr sz="2100" b="0">
                <a:solidFill>
                  <a:srgbClr val="262626"/>
                </a:solidFill>
              </a:rPr>
              <a:t>우리 삶의 끝에는 죽음이 있음. ⇨ 우리는 죽음을 통해 삶이 </a:t>
            </a:r>
            <a:r>
              <a:rPr sz="1260" b="1">
                <a:solidFill>
                  <a:srgbClr val="2F6FD0"/>
                </a:solidFill>
              </a:rPr>
              <a:t>③</a:t>
            </a:r>
            <a:r>
              <a:rPr sz="21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유한 </a:t>
            </a:r>
            <a:r>
              <a:rPr sz="2100" b="0">
                <a:solidFill>
                  <a:srgbClr val="262626"/>
                </a:solidFill>
              </a:rPr>
              <a:t>하다는 것을 깨달음.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할머니의 장례식에서 처음 실감한 이별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100" b="1">
                <a:solidFill>
                  <a:srgbClr val="C0392B"/>
                </a:solidFill>
              </a:rPr>
              <a:t> 삶 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우리가 세상에 태어나 하루하루 살아가며 채워 가는 모든 과정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오늘 아침 급식, 친구와 웃은 일도 내 삶의 한 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(2) 삶의 특성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한 번뿐임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생명 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은 누구에게나 오직 하나만 주어지므로, 삶을 살아갈 기회도 단 한 번씩만 주어짐.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게임처럼 ‘다시 하기’ 버튼이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대체 불가능함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나의 삶은 마음에 안 든다는 이유로 다른 사람의 삶과 바꿀 수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쌍둥이도 서로의 삶을 대신 살아 줄 수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끝이 있음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우리 삶의 끝에는 죽음이 있음. ⇨ 우리는 죽음을 통해 삶이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유한 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하다는 것을 깨달음.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할머니의 장례식에서 처음 실감한 이별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우리가 세상에 태어나 하루하루 살아가며 채워 가는 모든 과정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/>
                </a:solidFill>
              </a:rPr>
              <a:t>💡 오늘 아침 급식, 친구와 웃은 일도 내 삶의 한 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(2) 삶의 특성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한 번뿐임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생명 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은 누구에게나 오직 하나만 주어지므로, 삶을 살아갈 기회도 단 한 번씩만 주어짐.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게임처럼 ‘다시 하기’ 버튼이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대체 불가능함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나의 삶은 마음에 안 든다는 이유로 다른 사람의 삶과 바꿀 수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쌍둥이도 서로의 삶을 대신 살아 줄 수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끝이 있음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우리 삶의 끝에는 죽음이 있음. ⇨ 우리는 죽음을 통해 삶이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유한 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하다는 것을 깨달음.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할머니의 장례식에서 처음 실감한 이별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우리가 세상에 태어나 하루하루 살아가며 채워 가는 모든 과정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오늘 아침 급식, 친구와 웃은 일도 내 삶의 한 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(2) 삶의 특성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한 번뿐임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100" b="1">
                <a:solidFill>
                  <a:srgbClr val="C0392B"/>
                </a:solidFill>
              </a:rPr>
              <a:t> 생명 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은 누구에게나 오직 하나만 주어지므로, 삶을 살아갈 기회도 단 한 번씩만 주어짐.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게임처럼 ‘다시 하기’ 버튼이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대체 불가능함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나의 삶은 마음에 안 든다는 이유로 다른 사람의 삶과 바꿀 수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쌍둥이도 서로의 삶을 대신 살아 줄 수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끝이 있음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우리 삶의 끝에는 죽음이 있음. ⇨ 우리는 죽음을 통해 삶이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유한 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하다는 것을 깨달음.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할머니의 장례식에서 처음 실감한 이별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우리가 세상에 태어나 하루하루 살아가며 채워 가는 모든 과정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오늘 아침 급식, 친구와 웃은 일도 내 삶의 한 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(2) 삶의 특성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한 번뿐임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생명 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은 누구에게나 오직 하나만 주어지므로, 삶을 살아갈 기회도 단 한 번씩만 주어짐.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/>
                </a:solidFill>
              </a:rPr>
              <a:t>💡 게임처럼 ‘다시 하기’ 버튼이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대체 불가능함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나의 삶은 마음에 안 든다는 이유로 다른 사람의 삶과 바꿀 수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쌍둥이도 서로의 삶을 대신 살아 줄 수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끝이 있음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우리 삶의 끝에는 죽음이 있음. ⇨ 우리는 죽음을 통해 삶이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유한 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하다는 것을 깨달음.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할머니의 장례식에서 처음 실감한 이별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우리가 세상에 태어나 하루하루 살아가며 채워 가는 모든 과정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오늘 아침 급식, 친구와 웃은 일도 내 삶의 한 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(2) 삶의 특성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한 번뿐임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생명 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은 누구에게나 오직 하나만 주어지므로, 삶을 살아갈 기회도 단 한 번씩만 주어짐.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게임처럼 ‘다시 하기’ 버튼이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대체 불가능함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나의 삶은 마음에 안 든다는 이유로 다른 사람의 삶과 바꿀 수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/>
                </a:solidFill>
              </a:rPr>
              <a:t>💡 쌍둥이도 서로의 삶을 대신 살아 줄 수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끝이 있음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우리 삶의 끝에는 죽음이 있음. ⇨ 우리는 죽음을 통해 삶이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유한 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하다는 것을 깨달음.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할머니의 장례식에서 처음 실감한 이별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우리가 세상에 태어나 하루하루 살아가며 채워 가는 모든 과정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오늘 아침 급식, 친구와 웃은 일도 내 삶의 한 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(2) 삶의 특성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한 번뿐임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생명 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은 누구에게나 오직 하나만 주어지므로, 삶을 살아갈 기회도 단 한 번씩만 주어짐.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게임처럼 ‘다시 하기’ 버튼이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대체 불가능함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나의 삶은 마음에 안 든다는 이유로 다른 사람의 삶과 바꿀 수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쌍둥이도 서로의 삶을 대신 살아 줄 수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끝이 있음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우리 삶의 끝에는 죽음이 있음. ⇨ 우리는 죽음을 통해 삶이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100" b="1">
                <a:solidFill>
                  <a:srgbClr val="C0392B"/>
                </a:solidFill>
              </a:rPr>
              <a:t> 유한 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하다는 것을 깨달음.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할머니의 장례식에서 처음 실감한 이별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우리가 세상에 태어나 하루하루 살아가며 채워 가는 모든 과정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오늘 아침 급식, 친구와 웃은 일도 내 삶의 한 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(2) 삶의 특성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한 번뿐임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생명 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은 누구에게나 오직 하나만 주어지므로, 삶을 살아갈 기회도 단 한 번씩만 주어짐.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게임처럼 ‘다시 하기’ 버튼이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대체 불가능함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나의 삶은 마음에 안 든다는 이유로 다른 사람의 삶과 바꿀 수 없음.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>
                    <a:alpha val="0"/>
                  </a:srgbClr>
                </a:solidFill>
              </a:rPr>
              <a:t>💡 쌍둥이도 서로의 삶을 대신 살아 줄 수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끝이 있음</a:t>
            </a:r>
            <a:r>
              <a:rPr sz="21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우리 삶의 끝에는 죽음이 있음. ⇨ 우리는 죽음을 통해 삶이 </a:t>
            </a:r>
            <a:r>
              <a:rPr sz="1260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 유한 </a:t>
            </a:r>
            <a:r>
              <a:rPr sz="2100" b="0">
                <a:solidFill>
                  <a:srgbClr val="262626">
                    <a:alpha val="0"/>
                  </a:srgbClr>
                </a:solidFill>
              </a:rPr>
              <a:t>하다는 것을 깨달음.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1800" b="1">
                <a:solidFill>
                  <a:srgbClr val="B45F06"/>
                </a:solidFill>
              </a:rPr>
              <a:t>💡 할머니의 장례식에서 처음 실감한 이별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죽음의 특성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보편성 · 누구에게나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필연성 · 반드시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비대체성 · 누가 대신할 수 없이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불가역성 · 되돌릴 수 없이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죽음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육체의 모든 기능이 정지하여 생명이 끊어지는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키우던 강아지와의 이별 — 처음 마주한 죽음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⇨ 우리가 죽음에 관해 성찰해야 하는 까닭은?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육체의 모든 기능이 정지하여 생명이 끊어지는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키우던 강아지와의 이별 — 처음 마주한 죽음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우리가 죽음에 관해 성찰해야 하는 까닭은?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죽음에 관한 성찰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생명의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소중함 </a:t>
            </a:r>
            <a:r>
              <a:rPr sz="2400" b="0">
                <a:solidFill>
                  <a:srgbClr val="262626"/>
                </a:solidFill>
              </a:rPr>
              <a:t>을 깨달음.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큰 병을 이겨 낸 사람이 “숨 쉬는 것도 감사하다”고 말한다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언젠가 죽는다는 사실을 성찰하면 지금 살아 있다는 사실에 감사함을 느끼고, 우리에게 주어진 하나뿐인 생명을 더욱 소중하게 여길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의미 </a:t>
            </a:r>
            <a:r>
              <a:rPr sz="2400" b="0">
                <a:solidFill>
                  <a:srgbClr val="262626"/>
                </a:solidFill>
              </a:rPr>
              <a:t> 있는 삶의 중요성을 깨달음.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죽음에 관해 성찰하면서 지나온 삶을 반성하고, 앞으로 어떻게 살아갈 것인가를 생각하며 한 번뿐인 자신의 삶을 더 의미 있는 삶으로 만들어 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삶은 유한하므로 인간은 누구나 죽음을 맞이할 수밖에 없음.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생명의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소중함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깨달음.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큰 병을 이겨 낸 사람이 “숨 쉬는 것도 감사하다”고 말한다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언젠가 죽는다는 사실을 성찰하면 지금 살아 있다는 사실에 감사함을 느끼고, 우리에게 주어진 하나뿐인 생명을 더욱 소중하게 여길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있는 삶의 중요성을 깨달음.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죽음에 관해 성찰하면서 지나온 삶을 반성하고, 앞으로 어떻게 살아갈 것인가를 생각하며 한 번뿐인 자신의 삶을 더 의미 있는 삶으로 만들어 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삶은 유한하므로 인간은 누구나 죽음을 맞이할 수밖에 없음.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생명의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소중함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깨달음.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큰 병을 이겨 낸 사람이 “숨 쉬는 것도 감사하다”고 말한다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언젠가 죽는다는 사실을 성찰하면 지금 살아 있다는 사실에 감사함을 느끼고, 우리에게 주어진 하나뿐인 생명을 더욱 소중하게 여길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있는 삶의 중요성을 깨달음.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죽음에 관해 성찰하면서 지나온 삶을 반성하고, 앞으로 어떻게 살아갈 것인가를 생각하며 한 번뿐인 자신의 삶을 더 의미 있는 삶으로 만들어 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삶은 유한하므로 인간은 누구나 죽음을 맞이할 수밖에 없음.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생명의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소중함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깨달음.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큰 병을 이겨 낸 사람이 “숨 쉬는 것도 감사하다”고 말한다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언젠가 죽는다는 사실을 성찰하면 지금 살아 있다는 사실에 감사함을 느끼고, 우리에게 주어진 하나뿐인 생명을 더욱 소중하게 여길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의미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있는 삶의 중요성을 깨달음.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죽음에 관해 성찰하면서 지나온 삶을 반성하고, 앞으로 어떻게 살아갈 것인가를 생각하며 한 번뿐인 자신의 삶을 더 의미 있는 삶으로 만들어 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삶은 유한하므로 인간은 누구나 죽음을 맞이할 수밖에 없음.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죽음에 관한 성찰 (이어서)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죽음을 두려워하기보다 누구나 겪는 자연스러운 삶의 과정으로 받아들인다면 마음이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평안 </a:t>
            </a:r>
            <a:r>
              <a:rPr sz="2400" b="0">
                <a:solidFill>
                  <a:srgbClr val="262626"/>
                </a:solidFill>
              </a:rPr>
              <a:t>해질 것임.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할머니 장례식에서 “잘 사셨다”는 말에 위로받았다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죽음을 두려워하기보다 누구나 겪는 자연스러운 삶의 과정으로 받아들인다면 마음이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평안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해질 것임.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할머니 장례식에서 “잘 사셨다”는 말에 위로받았다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죽음을 두려워하기보다 누구나 겪는 자연스러운 삶의 과정으로 받아들인다면 마음이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평안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해질 것임.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할머니 장례식에서 “잘 사셨다”는 말에 위로받았다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사상가의 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“아직 삶도 알지 못하는데 어찌 죽음을 알겠느냐”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『논어』 「선진」 · 未知生 焉知死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죽음보다 지금의 삶을 바르게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사상가의 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“죽음은 우리에게 아무것도 아니다. 우리가 있을 때 죽음은 없고, 죽음이 있을 때 우리는 없다”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에피쿠로스, 「메노이케우스에게 보낸 편지」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그래서, 생명은 소중하다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하나뿐 · 다시 얻을 수 없는 나의 삶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관계 · 나를 아끼는 사람들과 이어진 삶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가능성 · 아직 펼쳐지지 않은 날들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학교를 다니고, 친구를 만나는 등 일상에서 다양한 활동을 하는 것도 삶의 일부이다.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우리의 삶은 한 번뿐이며, 대체 가능하며, 유한하다는 특성을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죽음이란 영혼의 모든 기능이 정지하여 생명이 끊어지는 것을 말한다.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죽음에 관한 진지한 성찰을 통해 생명의 소중함을 깨닫고, 의미 있는 삶을 살아가는 계기로 삼아야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학교를 다니고, 친구를 만나는 등 일상에서 다양한 활동을 하는 것도 삶의 일부이다.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우리의 삶은 한 번뿐이며, 대체 가능하며, 유한하다는 특성을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죽음이란 영혼의 모든 기능이 정지하여 생명이 끊어지는 것을 말한다.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죽음에 관한 진지한 성찰을 통해 생명의 소중함을 깨닫고, 의미 있는 삶을 살아가는 계기로 삼아야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학교를 다니고, 친구를 만나는 등 일상에서 다양한 활동을 하는 것도 삶의 일부이다.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우리의 삶은 한 번뿐이며, 대체 가능하며, 유한하다는 특성을 지닌다.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죽음이란 영혼의 모든 기능이 정지하여 생명이 끊어지는 것을 말한다.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죽음에 관한 진지한 성찰을 통해 생명의 소중함을 깨닫고, 의미 있는 삶을 살아가는 계기로 삼아야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학교를 다니고, 친구를 만나는 등 일상에서 다양한 활동을 하는 것도 삶의 일부이다.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우리의 삶은 한 번뿐이며, 대체 가능하며, 유한하다는 특성을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죽음이란 영혼의 모든 기능이 정지하여 생명이 끊어지는 것을 말한다.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죽음에 관한 진지한 성찰을 통해 생명의 소중함을 깨닫고, 의미 있는 삶을 살아가는 계기로 삼아야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학교를 다니고, 친구를 만나는 등 일상에서 다양한 활동을 하는 것도 삶의 일부이다.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우리의 삶은 한 번뿐이며, 대체 가능하며, 유한하다는 특성을 지닌다.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죽음이란 영혼의 모든 기능이 정지하여 생명이 끊어지는 것을 말한다.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죽음에 관한 진지한 성찰을 통해 생명의 소중함을 깨닫고, 의미 있는 삶을 살아가는 계기로 삼아야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삶의 세 가지 특성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한 번뿐임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생명은 누구에게나 하나만 주어진다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대체 불가능함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마음에 안 든다고 다른 사람의 삶과 바꿀 수 없다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끝이 있음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삶의 끝에는 죽음이 있다 — 삶은 유한하다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한 번뿐임</a:t>
            </a:r>
            <a:r>
              <a:rPr sz="2300" b="1">
                <a:solidFill>
                  <a:srgbClr val="C0392B"/>
                </a:solidFill>
              </a:rPr>
              <a:t>   → 생명은 누구에게나 하나만 주어진다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대체 불가능함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마음에 안 든다고 다른 사람의 삶과 바꿀 수 없다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끝이 있음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삶의 끝에는 죽음이 있다 — 삶은 유한하다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한 번뿐임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생명은 누구에게나 하나만 주어진다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대체 불가능함</a:t>
            </a:r>
            <a:r>
              <a:rPr sz="2300" b="1">
                <a:solidFill>
                  <a:srgbClr val="C0392B"/>
                </a:solidFill>
              </a:rPr>
              <a:t>   → 마음에 안 든다고 다른 사람의 삶과 바꿀 수 없다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끝이 있음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삶의 끝에는 죽음이 있다 — 삶은 유한하다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한 번뿐임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생명은 누구에게나 하나만 주어진다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대체 불가능함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마음에 안 든다고 다른 사람의 삶과 바꿀 수 없다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끝이 있음</a:t>
            </a:r>
            <a:r>
              <a:rPr sz="2300" b="1">
                <a:solidFill>
                  <a:srgbClr val="C0392B"/>
                </a:solidFill>
              </a:rPr>
              <a:t>   → 삶의 끝에는 죽음이 있다 — 삶은 유한하다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나의 묘비명 만들기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남은 시간 동안 하고 싶은 일 세 가지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가족 여행, 친구에게 편지, 할머니께 감사 인사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어떤 모습으로 기억되고 싶나?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곁에 있으면 마음이 편해지는 사람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나의 묘비명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함께 웃게 해 준 사람, 여기 잠들다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남은 시간 동안 하고 싶은 일 세 가지</a:t>
            </a:r>
            <a:r>
              <a:rPr sz="2300" b="1">
                <a:solidFill>
                  <a:srgbClr val="C0392B"/>
                </a:solidFill>
              </a:rPr>
              <a:t>   예) 가족 여행, 친구에게 편지, 할머니께 감사 인사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모습으로 기억되고 싶나?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곁에 있으면 마음이 편해지는 사람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나의 묘비명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함께 웃게 해 준 사람, 여기 잠들다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남은 시간 동안 하고 싶은 일 세 가지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가족 여행, 친구에게 편지, 할머니께 감사 인사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모습으로 기억되고 싶나?</a:t>
            </a:r>
            <a:r>
              <a:rPr sz="2300" b="1">
                <a:solidFill>
                  <a:srgbClr val="C0392B"/>
                </a:solidFill>
              </a:rPr>
              <a:t>   예) 곁에 있으면 마음이 편해지는 사람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나의 묘비명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함께 웃게 해 준 사람, 여기 잠들다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남은 시간 동안 하고 싶은 일 세 가지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가족 여행, 친구에게 편지, 할머니께 감사 인사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모습으로 기억되고 싶나?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곁에 있으면 마음이 편해지는 사람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나의 묘비명</a:t>
            </a:r>
            <a:r>
              <a:rPr sz="2300" b="1">
                <a:solidFill>
                  <a:srgbClr val="C0392B"/>
                </a:solidFill>
              </a:rPr>
              <a:t>   예) 함께 웃게 해 준 사람, 여기 잠들다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➕ 누구의 죽음관일까?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삶과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죽음을 어떻게 생각해야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삶과 죽음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공자 · 장자 · 에피쿠로스 · 하이데거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아직 삶도 모르는데 어찌 죽음을 알겠느냐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공자 (지금의 삶을 바르게)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삶과 죽음은 사계절의 변화와 같다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장자 (자연의 흐름)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우리가 있을 때 죽음은 없고, 죽음이 있을 때 우리는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에피쿠로스 (두려워할 까닭이 없다)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죽음 앞으로 미리 달려가 보라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하이데거 (선구)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공자 · 장자 · 에피쿠로스 · 하이데거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아직 삶도 모르는데 어찌 죽음을 알겠느냐</a:t>
            </a:r>
            <a:r>
              <a:rPr sz="2300" b="1">
                <a:solidFill>
                  <a:srgbClr val="C0392B"/>
                </a:solidFill>
              </a:rPr>
              <a:t>   → 공자 (지금의 삶을 바르게)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삶과 죽음은 사계절의 변화와 같다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장자 (자연의 흐름)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우리가 있을 때 죽음은 없고, 죽음이 있을 때 우리는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에피쿠로스 (두려워할 까닭이 없다)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죽음 앞으로 미리 달려가 보라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하이데거 (선구)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공자 · 장자 · 에피쿠로스 · 하이데거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아직 삶도 모르는데 어찌 죽음을 알겠느냐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공자 (지금의 삶을 바르게)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삶과 죽음은 사계절의 변화와 같다</a:t>
            </a:r>
            <a:r>
              <a:rPr sz="2300" b="1">
                <a:solidFill>
                  <a:srgbClr val="C0392B"/>
                </a:solidFill>
              </a:rPr>
              <a:t>   → 장자 (자연의 흐름)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우리가 있을 때 죽음은 없고, 죽음이 있을 때 우리는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에피쿠로스 (두려워할 까닭이 없다)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죽음 앞으로 미리 달려가 보라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하이데거 (선구)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공자 · 장자 · 에피쿠로스 · 하이데거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아직 삶도 모르는데 어찌 죽음을 알겠느냐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공자 (지금의 삶을 바르게)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삶과 죽음은 사계절의 변화와 같다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장자 (자연의 흐름)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우리가 있을 때 죽음은 없고, 죽음이 있을 때 우리는 없다</a:t>
            </a:r>
            <a:r>
              <a:rPr sz="2300" b="1">
                <a:solidFill>
                  <a:srgbClr val="C0392B"/>
                </a:solidFill>
              </a:rPr>
              <a:t>   → 에피쿠로스 (두려워할 까닭이 없다)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죽음 앞으로 미리 달려가 보라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하이데거 (선구)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공자 · 장자 · 에피쿠로스 · 하이데거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아직 삶도 모르는데 어찌 죽음을 알겠느냐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공자 (지금의 삶을 바르게)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삶과 죽음은 사계절의 변화와 같다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장자 (자연의 흐름)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우리가 있을 때 죽음은 없고, 죽음이 있을 때 우리는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에피쿠로스 (두려워할 까닭이 없다)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죽음 앞으로 미리 달려가 보라</a:t>
            </a:r>
            <a:r>
              <a:rPr sz="2300" b="1">
                <a:solidFill>
                  <a:srgbClr val="C0392B"/>
                </a:solidFill>
              </a:rPr>
              <a:t>   → 하이데거 (선구)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8460</TotalTime>
  <Words>1368</Words>
  <Application>Microsoft Office PowerPoint</Application>
  <PresentationFormat>와이드스크린</PresentationFormat>
  <Paragraphs>242</Paragraphs>
  <Slides>24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147</cp:revision>
  <cp:lastPrinted>2024-06-05T04:53:22Z</cp:lastPrinted>
  <dcterms:created xsi:type="dcterms:W3CDTF">2023-10-31T05:50:03Z</dcterms:created>
  <dcterms:modified xsi:type="dcterms:W3CDTF">2025-01-14T02:12:14Z</dcterms:modified>
</cp:coreProperties>
</file>