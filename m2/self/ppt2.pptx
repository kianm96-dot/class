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2"/>
  </p:notesMasterIdLst>
  <p:handoutMasterIdLst>
    <p:handoutMasterId r:id="rId23"/>
  </p:handoutMasterIdLst>
  <p:sldIdLst>
    <p:sldId id="302" r:id="rId2"/>
    <p:sldId id="301" r:id="rId3"/>
    <p:sldId id="258" r:id="rId4"/>
    <p:sldId id="305" r:id="rId5"/>
    <p:sldId id="394" r:id="rId6"/>
    <p:sldId id="390" r:id="rId7"/>
    <p:sldId id="260" r:id="rId8"/>
    <p:sldId id="406" r:id="rId29"/>
    <p:sldId id="391" r:id="rId9"/>
    <p:sldId id="396" r:id="rId10"/>
    <p:sldId id="395" r:id="rId11"/>
    <p:sldId id="397" r:id="rId12"/>
    <p:sldId id="398" r:id="rId13"/>
    <p:sldId id="399" r:id="rId14"/>
    <p:sldId id="407" r:id="rId30"/>
    <p:sldId id="408" r:id="rId31"/>
    <p:sldId id="409" r:id="rId32"/>
    <p:sldId id="410" r:id="rId33"/>
    <p:sldId id="411" r:id="rId34"/>
    <p:sldId id="400" r:id="rId15"/>
    <p:sldId id="401" r:id="rId16"/>
    <p:sldId id="402" r:id="rId17"/>
    <p:sldId id="403" r:id="rId18"/>
    <p:sldId id="404" r:id="rId19"/>
    <p:sldId id="405" r:id="rId20"/>
    <p:sldId id="412" r:id="rId35"/>
    <p:sldId id="413" r:id="rId36"/>
    <p:sldId id="414" r:id="rId37"/>
    <p:sldId id="415" r:id="rId38"/>
    <p:sldId id="348" r:id="rId21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0D2"/>
    <a:srgbClr val="EDE8F3"/>
    <a:srgbClr val="FF9300"/>
    <a:srgbClr val="FFFF00"/>
    <a:srgbClr val="D9E1E9"/>
    <a:srgbClr val="E8F6FD"/>
    <a:srgbClr val="F0FFF6"/>
    <a:srgbClr val="019BFF"/>
    <a:srgbClr val="FFF7E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242" autoAdjust="0"/>
  </p:normalViewPr>
  <p:slideViewPr>
    <p:cSldViewPr snapToGrid="0">
      <p:cViewPr varScale="1">
        <p:scale>
          <a:sx n="84" d="100"/>
          <a:sy n="84" d="100"/>
        </p:scale>
        <p:origin x="114" y="294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3" d="100"/>
          <a:sy n="73" d="100"/>
        </p:scale>
        <p:origin x="2700" y="5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handoutMaster" Target="handoutMasters/handoutMaster1.xml"/><Relationship Id="rId24" Type="http://schemas.openxmlformats.org/officeDocument/2006/relationships/commentAuthors" Target="commentAuthors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도덕적 상상력이 바꾼 것</a:t>
            </a:r>
          </a:p>
          <a:p>
            <a:r>
              <a:t>1996년 월드컵 전후로 아동 노동 문제가 알려지며 시알코트 축구공 산업의 아동 노동 퇴치 협약(1997년 2월 애틀랜타)이 맺어졌다. 이후 공정 무역 축구공도 생겼다.</a:t>
            </a:r>
          </a:p>
          <a:p>
            <a:r>
              <a:t>물건 뒤에 있는 보이지 않는 사람을 떠올리는 것 — 도덕적 상상력.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상상 연습</a:t>
            </a:r>
          </a:p>
          <a:p>
            <a:r>
              <a:t>활동 화면 2의 ‘물건 뒤의 사람’ 쓰기. 한 물건에 얽힌 사람을 최대한 많이 떠올린다.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공감 상상</a:t>
            </a:r>
          </a:p>
          <a:p>
            <a:r>
              <a:t>사진 속 친구가 아침에 일어나 휴대 전화를 켜는 순간부터 학교에 오는 순간까지를 함께 상상해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가지 방법으로 영희를 도울 방법을 찾아보자.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가지 방법으로 영희를 도울 방법을 찾아보자.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가지 방법으로 영희를 도울 방법을 찾아보자.</a:t>
            </a:r>
          </a:p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image" Target="../media/image35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12.xml"/><Relationship Id="rId6" Type="http://schemas.openxmlformats.org/officeDocument/2006/relationships/slide" Target="slide13.xml"/><Relationship Id="rId7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slide" Target="slide13.xml"/><Relationship Id="rId3" Type="http://schemas.openxmlformats.org/officeDocument/2006/relationships/image" Target="../media/image32.png"/><Relationship Id="rId4" Type="http://schemas.openxmlformats.org/officeDocument/2006/relationships/image" Target="../media/image24.png"/><Relationship Id="rId5" Type="http://schemas.openxmlformats.org/officeDocument/2006/relationships/image" Target="../media/image59.svg"/><Relationship Id="rId6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10.xml"/><Relationship Id="rId6" Type="http://schemas.openxmlformats.org/officeDocument/2006/relationships/image" Target="../media/image3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slide" Target="slide11.xml"/><Relationship Id="rId6" Type="http://schemas.openxmlformats.org/officeDocument/2006/relationships/slide" Target="slide10.xml"/><Relationship Id="rId7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41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4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0.sv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0.sv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4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2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 smtClean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02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42249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1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옳고 그름의 분별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758326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도덕적 상상력을 어떻게 키울 수 있을까</a:t>
            </a:r>
            <a:r>
              <a:rPr lang="en-US" altLang="ko-KR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  <a:endParaRPr lang="en-US" altLang="ko-KR" sz="5400" b="1" dirty="0">
              <a:ln w="22225">
                <a:noFill/>
                <a:prstDash val="solid"/>
              </a:ln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 dirty="0">
                <a:solidFill>
                  <a:schemeClr val="dk1"/>
                </a:solidFill>
                <a:latin typeface="+mn-ea"/>
              </a:rPr>
              <a:t> 도덕적 상상력의 의미와 역할을 설명할 수 있다</a:t>
            </a:r>
            <a:r>
              <a:rPr lang="en-US" altLang="ko-KR" sz="2800" b="1" dirty="0">
                <a:solidFill>
                  <a:schemeClr val="dk1"/>
                </a:solidFill>
                <a:latin typeface="+mn-ea"/>
              </a:rPr>
              <a:t>.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915072"/>
            <a:ext cx="10293350" cy="787400"/>
            <a:chOff x="914400" y="2362200"/>
            <a:chExt cx="10293350" cy="787400"/>
          </a:xfrm>
        </p:grpSpPr>
        <p:sp>
          <p:nvSpPr>
            <p:cNvPr id="32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타원 33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2916689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Clr>
                <a:schemeClr val="dk1"/>
              </a:buClr>
              <a:buSzPts val="2300"/>
            </a:pPr>
            <a:r>
              <a:rPr lang="ko-KR" altLang="en-US" sz="2800" b="1" dirty="0">
                <a:solidFill>
                  <a:schemeClr val="dk1"/>
                </a:solidFill>
                <a:latin typeface="+mn-ea"/>
              </a:rPr>
              <a:t>도덕적 상상력을 키우고 발휘할 수 있다</a:t>
            </a:r>
            <a:r>
              <a:rPr lang="en-US" altLang="ko-KR" sz="2800" b="1" dirty="0">
                <a:solidFill>
                  <a:schemeClr val="dk1"/>
                </a:solidFill>
                <a:latin typeface="+mn-ea"/>
              </a:rPr>
              <a:t>.</a:t>
            </a:r>
            <a:endParaRPr lang="ko-KR" altLang="en-US" sz="2800" b="1" dirty="0">
              <a:solidFill>
                <a:schemeClr val="dk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9806" y="1477578"/>
            <a:ext cx="1530209" cy="1309270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00084" y="1316308"/>
            <a:ext cx="1530209" cy="1309270"/>
          </a:xfrm>
          <a:prstGeom prst="rect">
            <a:avLst/>
          </a:prstGeom>
        </p:spPr>
      </p:pic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83760" y="1382334"/>
            <a:ext cx="7352125" cy="5280897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59635" y="5723910"/>
            <a:ext cx="1999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r">
              <a:buFontTx/>
              <a:buChar char="-"/>
            </a:pPr>
            <a:r>
              <a:rPr lang="ko-KR" altLang="en-US" spc="-150" dirty="0" err="1" smtClean="0">
                <a:latin typeface="굴림" panose="020B0600000101010101" pitchFamily="50" charset="-127"/>
                <a:ea typeface="굴림" panose="020B0600000101010101" pitchFamily="50" charset="-127"/>
              </a:rPr>
              <a:t>피터르</a:t>
            </a:r>
            <a:r>
              <a:rPr lang="ko-KR" altLang="en-US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브뤼헐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〈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일곱 가지 </a:t>
            </a:r>
            <a:endParaRPr lang="en-US" altLang="ko-KR" spc="-15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r"/>
            <a:r>
              <a:rPr lang="ko-KR" altLang="en-US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자비로운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행위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〉</a:t>
            </a:r>
            <a:endParaRPr lang="ko-KR" altLang="en-US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67415"/>
            <a:ext cx="10293350" cy="2581070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그림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다음 그림에서 도움이 필요한 상황을 찾아 ◯표를 해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어떤 도움을 줄 수 있는지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4" name="TextBox 3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120530" y="2976726"/>
            <a:ext cx="96358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아픈 사람을 간병할 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배고픈 사람에게 빵을 줄 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목마른 사람에게 물을 줄 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헐벗은 사람에게 내가 입은 옷을 나누어 줄 수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36" grpId="0"/>
      <p:bldP spid="36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710371"/>
            <a:ext cx="2708011" cy="214762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40018" y="1596520"/>
            <a:ext cx="8601887" cy="4075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태호는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키오스크로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주문하는 식당에서 할머니 한 분이 우물쭈물하며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키오스크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화면을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만지는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모습을 보았다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할머니 뒤로는 줄을 선 사람들이 투덜거리고 있었다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태호는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할머니가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키오스크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사용 방법을 몰라 당황하고 있음을 알아채고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얼마나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난처하실까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헤아려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보았다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그리고 할머니를 도울 여러 방법을 생각해 본 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할머니에게 “제가 사용 방법을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알려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드릴까요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?”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라고 말을 건네며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키오스크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사용 방법을 알려 드렸다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할머니는 주문을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마치고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태호에게 “참 곤란했는데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사용 방법을 알려 주어서 고마워요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다음에는 혼자서도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주문할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수 있겠어요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.”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라고 말하였다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521562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400" y="1613182"/>
            <a:ext cx="1029335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>
                <a:latin typeface="+mn-ea"/>
              </a:rPr>
              <a:t>태호가 할머니를 도울 수 있었던 까닭은 무엇인지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pic>
        <p:nvPicPr>
          <p:cNvPr id="23" name="그림 22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19945"/>
            <a:ext cx="487174" cy="487174"/>
          </a:xfrm>
          <a:prstGeom prst="rect">
            <a:avLst/>
          </a:prstGeom>
        </p:spPr>
      </p:pic>
      <p:grpSp>
        <p:nvGrpSpPr>
          <p:cNvPr id="26" name="그룹 2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19945"/>
            <a:ext cx="1087577" cy="495431"/>
            <a:chOff x="10075659" y="2003022"/>
            <a:chExt cx="1156006" cy="495431"/>
          </a:xfrm>
        </p:grpSpPr>
        <p:pic>
          <p:nvPicPr>
            <p:cNvPr id="27" name="그림 2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58626"/>
            <a:ext cx="10293350" cy="2771514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065588" y="2379495"/>
            <a:ext cx="97841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할머니의 행동을 잘 관찰하여 할머니가 어려움을 겪고 있는 상황에 관심을 두었기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할머니를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도울 수 있는 여러 가지 방안을 생각하고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그중 가장 적절한 방안을 골랐기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48221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</p:childTnLst>
        </p:cTn>
      </p:par>
    </p:tnLst>
    <p:bldLst>
      <p:bldP spid="30" grpId="0"/>
      <p:bldP spid="30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5101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도덕적 상상력의 의미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어떤 상황을 도덕적 문제 상황으로 민감하게 인식하고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그러한 상황에서 다른 사람이 겪는 어려움에 공감하며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그 사람을 도울 수 있는 다양한 방법과 그 결과를 예측해 보는 </a:t>
            </a:r>
            <a:r>
              <a:rPr lang="ko-KR" altLang="en-US" sz="2400" dirty="0" smtClean="0">
                <a:latin typeface="+mn-ea"/>
              </a:rPr>
              <a:t>능력</a:t>
            </a:r>
            <a:endParaRPr lang="en-US" altLang="ko-KR" sz="2400" dirty="0" smtClean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도덕적 상상력의 </a:t>
            </a:r>
            <a:r>
              <a:rPr lang="ko-KR" altLang="en-US" sz="24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역할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일상에서 </a:t>
            </a:r>
            <a:r>
              <a:rPr lang="ko-KR" altLang="en-US" sz="2400" dirty="0">
                <a:latin typeface="+mn-ea"/>
              </a:rPr>
              <a:t>지나칠 수 있는 다양한 도덕 문제를 쉽게 발견할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그 </a:t>
            </a:r>
            <a:r>
              <a:rPr lang="ko-KR" altLang="en-US" sz="2400" dirty="0">
                <a:latin typeface="+mn-ea"/>
              </a:rPr>
              <a:t>문제를 해결하는 적절한 방법을 찾아 도덕적 행동을 실천할 수 있음</a:t>
            </a:r>
            <a:r>
              <a:rPr lang="en-US" altLang="ko-KR" sz="2400" dirty="0">
                <a:latin typeface="+mn-ea"/>
              </a:rPr>
              <a:t>.</a:t>
            </a:r>
            <a:endParaRPr lang="en-US" altLang="ko-KR" sz="2400" b="1" dirty="0">
              <a:latin typeface="+mn-ea"/>
            </a:endParaRPr>
          </a:p>
          <a:p>
            <a:pPr algn="just">
              <a:lnSpc>
                <a:spcPct val="150000"/>
              </a:lnSpc>
            </a:pP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상상력의 의미와 역할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98144" y="1654495"/>
            <a:ext cx="4823707" cy="4389118"/>
          </a:xfrm>
          <a:prstGeom prst="rect">
            <a:avLst/>
          </a:prstGeom>
        </p:spPr>
      </p:pic>
      <p:pic>
        <p:nvPicPr>
          <p:cNvPr id="17" name="그림 1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2964" y="1654495"/>
            <a:ext cx="4923136" cy="4389118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</a:t>
            </a:r>
            <a:r>
              <a:rPr lang="ko-KR" altLang="en-US" sz="2000" b="1" dirty="0" smtClean="0">
                <a:latin typeface="+mj-ea"/>
                <a:ea typeface="+mj-ea"/>
              </a:rPr>
              <a:t>그림을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" name="타원 22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2927282" y="5865742"/>
            <a:ext cx="542015" cy="461665"/>
          </a:xfrm>
          <a:prstGeom prst="rect">
            <a:avLst/>
          </a:prstGeom>
          <a:solidFill>
            <a:srgbClr val="CFD0D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 smtClean="0"/>
              <a:t>1</a:t>
            </a:r>
            <a:endParaRPr lang="ko-KR" altLang="en-US" sz="24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8694948" y="5865742"/>
            <a:ext cx="542015" cy="461665"/>
          </a:xfrm>
          <a:prstGeom prst="rect">
            <a:avLst/>
          </a:prstGeom>
          <a:solidFill>
            <a:srgbClr val="CFD0D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 smtClean="0"/>
              <a:t>2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988075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4400" y="1665579"/>
            <a:ext cx="4773337" cy="4297538"/>
          </a:xfrm>
          <a:prstGeom prst="rect">
            <a:avLst/>
          </a:prstGeom>
        </p:spPr>
      </p:pic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mtClean="0">
                <a:solidFill>
                  <a:schemeClr val="bg1"/>
                </a:solidFill>
                <a:latin typeface="+mj-ea"/>
                <a:ea typeface="+mj-ea"/>
              </a:rPr>
              <a:t>읽어 보기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61580" y="732169"/>
            <a:ext cx="91262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latin typeface="+mj-ea"/>
                <a:ea typeface="+mj-ea"/>
              </a:rPr>
              <a:t>다음 </a:t>
            </a:r>
            <a:r>
              <a:rPr lang="ko-KR" altLang="en-US" sz="2000" b="1" dirty="0" smtClean="0">
                <a:latin typeface="+mj-ea"/>
                <a:ea typeface="+mj-ea"/>
              </a:rPr>
              <a:t>그림을 살펴보자</a:t>
            </a:r>
            <a:r>
              <a:rPr lang="en-US" altLang="ko-KR" sz="2000" b="1" dirty="0" smtClean="0">
                <a:latin typeface="+mj-ea"/>
                <a:ea typeface="+mj-ea"/>
              </a:rPr>
              <a:t>.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3" name="타원 22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2927282" y="5865742"/>
            <a:ext cx="542015" cy="461665"/>
          </a:xfrm>
          <a:prstGeom prst="rect">
            <a:avLst/>
          </a:prstGeom>
          <a:solidFill>
            <a:srgbClr val="CFD0D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 smtClean="0"/>
              <a:t>3</a:t>
            </a:r>
            <a:endParaRPr lang="ko-KR" altLang="en-US" sz="24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8694948" y="5865742"/>
            <a:ext cx="542015" cy="461665"/>
          </a:xfrm>
          <a:prstGeom prst="rect">
            <a:avLst/>
          </a:prstGeom>
          <a:solidFill>
            <a:srgbClr val="CFD0D2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 smtClean="0"/>
              <a:t>4</a:t>
            </a:r>
            <a:endParaRPr lang="ko-KR" altLang="en-US" sz="2400" b="1" dirty="0"/>
          </a:p>
        </p:txBody>
      </p:sp>
      <p:grpSp>
        <p:nvGrpSpPr>
          <p:cNvPr id="7" name="그룹 6"/>
          <p:cNvGrpSpPr/>
          <p:nvPr/>
        </p:nvGrpSpPr>
        <p:grpSpPr>
          <a:xfrm>
            <a:off x="6161476" y="1575201"/>
            <a:ext cx="5007208" cy="4387915"/>
            <a:chOff x="6161476" y="1575201"/>
            <a:chExt cx="5007208" cy="4387915"/>
          </a:xfrm>
        </p:grpSpPr>
        <p:pic>
          <p:nvPicPr>
            <p:cNvPr id="21" name="그림 20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61476" y="1575201"/>
              <a:ext cx="5007208" cy="4387915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6161476" y="3971925"/>
              <a:ext cx="339337" cy="4143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6733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7" y="1510186"/>
            <a:ext cx="6053102" cy="3439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도덕적 문제 상황에 관심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두기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일상에서 도덕적 문제 상황을 잘 찾을 수 있도록 관심을 두어야 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나에게는 쉽거나 사소한 일도 다른 사람에게는 어렵거나 중요한 일일 수 있음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상상력을 키우는 방법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타원 12">
            <a:hlinkClick r:id="" action="ppaction://hlinkshowjump?jump=next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rId5" action="ppaction://hlinksldjump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hlinkClick r:id="rId6" action="ppaction://hlinksldjump"/>
          </p:cNvPr>
          <p:cNvSpPr/>
          <p:nvPr/>
        </p:nvSpPr>
        <p:spPr>
          <a:xfrm>
            <a:off x="6556851" y="6270893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hlinkClick r:id="" action="ppaction://hlinkshowjump?jump=previousslide"/>
          </p:cNvPr>
          <p:cNvSpPr/>
          <p:nvPr/>
        </p:nvSpPr>
        <p:spPr>
          <a:xfrm>
            <a:off x="5370726" y="6283217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24902" y="1952899"/>
            <a:ext cx="4973045" cy="443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196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hlinkClick r:id="rId2" action="ppaction://hlinksldjump"/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7" y="1510186"/>
            <a:ext cx="6053102" cy="3993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상대방의 처지에서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생각하기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도덕적 문제 상황에 처한 상대방의 처지에서 생각하여 어떤 도움이 필요한지 헤아려야 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타인의 감정에 </a:t>
            </a:r>
            <a:r>
              <a:rPr lang="ko-KR" altLang="en-US" sz="2400" dirty="0" smtClean="0">
                <a:latin typeface="+mn-ea"/>
              </a:rPr>
              <a:t>공감하여 </a:t>
            </a:r>
            <a:r>
              <a:rPr lang="ko-KR" altLang="en-US" sz="2400" dirty="0">
                <a:latin typeface="+mn-ea"/>
              </a:rPr>
              <a:t>그 사람의 처지에서 생각하면 어떤 </a:t>
            </a:r>
            <a:r>
              <a:rPr lang="ko-KR" altLang="en-US" sz="2400" dirty="0" smtClean="0">
                <a:latin typeface="+mn-ea"/>
              </a:rPr>
              <a:t>도움이 </a:t>
            </a:r>
            <a:r>
              <a:rPr lang="ko-KR" altLang="en-US" sz="2400" dirty="0">
                <a:latin typeface="+mn-ea"/>
              </a:rPr>
              <a:t>필요한지 헤아릴 수 </a:t>
            </a:r>
            <a:r>
              <a:rPr lang="ko-KR" altLang="en-US" sz="2400" dirty="0" smtClean="0">
                <a:latin typeface="+mn-ea"/>
              </a:rPr>
              <a:t>있</a:t>
            </a:r>
            <a:r>
              <a:rPr lang="ko-KR" altLang="en-US" sz="2400" dirty="0">
                <a:latin typeface="+mn-ea"/>
              </a:rPr>
              <a:t>음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상상력을 키우는 방법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타원 12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hlinkClick r:id="rId2" action="ppaction://hlinksldjump"/>
          </p:cNvPr>
          <p:cNvSpPr/>
          <p:nvPr/>
        </p:nvSpPr>
        <p:spPr>
          <a:xfrm>
            <a:off x="6556851" y="6270893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hlinkClick r:id="" action="ppaction://hlinkshowjump?jump=previousslide"/>
          </p:cNvPr>
          <p:cNvSpPr/>
          <p:nvPr/>
        </p:nvSpPr>
        <p:spPr>
          <a:xfrm>
            <a:off x="5370726" y="628321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6600" y="2042557"/>
            <a:ext cx="4817301" cy="424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275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7" y="1510186"/>
            <a:ext cx="6053102" cy="3439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다양한 해결책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탐색하기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도덕적 문제 상황을 해결하는 방법은 다양할 수 있으므로</a:t>
            </a:r>
            <a:r>
              <a:rPr lang="en-US" altLang="ko-KR" sz="2400" dirty="0">
                <a:latin typeface="+mn-ea"/>
              </a:rPr>
              <a:t>, </a:t>
            </a:r>
            <a:r>
              <a:rPr lang="ko-KR" altLang="en-US" sz="2400" dirty="0">
                <a:latin typeface="+mn-ea"/>
              </a:rPr>
              <a:t>여러 측면에서 </a:t>
            </a:r>
            <a:r>
              <a:rPr lang="ko-KR" altLang="en-US" sz="2400" dirty="0" smtClean="0">
                <a:latin typeface="+mn-ea"/>
              </a:rPr>
              <a:t>해결책을 </a:t>
            </a:r>
            <a:r>
              <a:rPr lang="ko-KR" altLang="en-US" sz="2400" dirty="0">
                <a:latin typeface="+mn-ea"/>
              </a:rPr>
              <a:t>찾아야 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여러 측면에서 </a:t>
            </a:r>
            <a:r>
              <a:rPr lang="ko-KR" altLang="en-US" sz="2400" dirty="0" smtClean="0">
                <a:latin typeface="+mn-ea"/>
              </a:rPr>
              <a:t>해결책을 </a:t>
            </a:r>
            <a:r>
              <a:rPr lang="ko-KR" altLang="en-US" sz="2400" dirty="0">
                <a:latin typeface="+mn-ea"/>
              </a:rPr>
              <a:t>찾는다면 더욱 바람직한 선택을 내릴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상상력을 키우는 방법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타원 12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>
            <a:hlinkClick r:id="" action="ppaction://hlinkshowjump?jump=nextslide"/>
          </p:cNvPr>
          <p:cNvSpPr/>
          <p:nvPr/>
        </p:nvSpPr>
        <p:spPr>
          <a:xfrm>
            <a:off x="6556851" y="6270893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hlinkClick r:id="rId5" action="ppaction://hlinksldjump"/>
          </p:cNvPr>
          <p:cNvSpPr/>
          <p:nvPr/>
        </p:nvSpPr>
        <p:spPr>
          <a:xfrm>
            <a:off x="5370726" y="628321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림 25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00888" y="2043113"/>
            <a:ext cx="4814887" cy="4221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79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7" y="1510186"/>
            <a:ext cx="6053102" cy="45473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행동의 결과 </a:t>
            </a:r>
            <a:r>
              <a:rPr lang="ko-KR" altLang="en-US" sz="2500" b="1" dirty="0" smtClean="0">
                <a:solidFill>
                  <a:schemeClr val="accent2">
                    <a:lumMod val="50000"/>
                  </a:schemeClr>
                </a:solidFill>
                <a:latin typeface="+mn-ea"/>
              </a:rPr>
              <a:t>예측하기</a:t>
            </a:r>
            <a:endParaRPr lang="en-US" altLang="ko-KR" sz="2500" b="1" dirty="0" smtClean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 smtClean="0">
                <a:latin typeface="+mn-ea"/>
              </a:rPr>
              <a:t>나의 </a:t>
            </a:r>
            <a:r>
              <a:rPr lang="ko-KR" altLang="en-US" sz="2400" dirty="0">
                <a:latin typeface="+mn-ea"/>
              </a:rPr>
              <a:t>행동이 어떤 결과를 가져올지 예측하여 가장 바람직한 결과가 무엇인지 생각해야 함</a:t>
            </a:r>
            <a:r>
              <a:rPr lang="en-US" altLang="ko-KR" sz="2400" dirty="0" smtClean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+mj-ea"/>
              <a:buAutoNum type="circleNumDbPlain"/>
            </a:pPr>
            <a:r>
              <a:rPr lang="ko-KR" altLang="en-US" sz="2400" dirty="0">
                <a:latin typeface="+mn-ea"/>
              </a:rPr>
              <a:t>나의 </a:t>
            </a:r>
            <a:r>
              <a:rPr lang="ko-KR" altLang="en-US" sz="2400" dirty="0" smtClean="0">
                <a:latin typeface="+mn-ea"/>
              </a:rPr>
              <a:t>사소한 </a:t>
            </a:r>
            <a:r>
              <a:rPr lang="ko-KR" altLang="en-US" sz="2400" dirty="0">
                <a:latin typeface="+mn-ea"/>
              </a:rPr>
              <a:t>행동이 여러 가지 결과를 낳을 수 있으므로 </a:t>
            </a:r>
            <a:r>
              <a:rPr lang="ko-KR" altLang="en-US" sz="2400" dirty="0" smtClean="0">
                <a:latin typeface="+mn-ea"/>
              </a:rPr>
              <a:t>자신의 </a:t>
            </a:r>
            <a:r>
              <a:rPr lang="ko-KR" altLang="en-US" sz="2400" dirty="0">
                <a:latin typeface="+mn-ea"/>
              </a:rPr>
              <a:t>행동이 미칠 결과를 생각한다면 </a:t>
            </a:r>
            <a:r>
              <a:rPr lang="ko-KR" altLang="en-US" sz="2400" dirty="0" smtClean="0">
                <a:latin typeface="+mn-ea"/>
              </a:rPr>
              <a:t>도덕적인 </a:t>
            </a:r>
            <a:r>
              <a:rPr lang="ko-KR" altLang="en-US" sz="2400" dirty="0">
                <a:latin typeface="+mn-ea"/>
              </a:rPr>
              <a:t>행동을 할 수 </a:t>
            </a:r>
            <a:r>
              <a:rPr lang="ko-KR" altLang="en-US" sz="2400" dirty="0" smtClean="0">
                <a:latin typeface="+mn-ea"/>
              </a:rPr>
              <a:t>있음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 </a:t>
            </a:r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상상력을 키우는 방법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13" name="타원 12">
            <a:hlinkClick r:id="rId5" action="ppaction://hlinksldjump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타원 19">
            <a:hlinkClick r:id="" action="ppaction://hlinkshowjump?jump=previous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타원 22"/>
          <p:cNvSpPr/>
          <p:nvPr/>
        </p:nvSpPr>
        <p:spPr>
          <a:xfrm>
            <a:off x="6556851" y="6270893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>
            <a:hlinkClick r:id="rId6" action="ppaction://hlinksldjump"/>
          </p:cNvPr>
          <p:cNvSpPr/>
          <p:nvPr/>
        </p:nvSpPr>
        <p:spPr>
          <a:xfrm>
            <a:off x="5370726" y="6283217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7" name="그룹 26"/>
          <p:cNvGrpSpPr/>
          <p:nvPr/>
        </p:nvGrpSpPr>
        <p:grpSpPr>
          <a:xfrm>
            <a:off x="6915150" y="2037331"/>
            <a:ext cx="4960175" cy="4137838"/>
            <a:chOff x="6161476" y="1575201"/>
            <a:chExt cx="5007208" cy="4387915"/>
          </a:xfrm>
        </p:grpSpPr>
        <p:pic>
          <p:nvPicPr>
            <p:cNvPr id="31" name="그림 30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161476" y="1575201"/>
              <a:ext cx="5007208" cy="4387915"/>
            </a:xfrm>
            <a:prstGeom prst="rect">
              <a:avLst/>
            </a:prstGeom>
          </p:spPr>
        </p:pic>
        <p:sp>
          <p:nvSpPr>
            <p:cNvPr id="32" name="직사각형 31"/>
            <p:cNvSpPr/>
            <p:nvPr/>
          </p:nvSpPr>
          <p:spPr>
            <a:xfrm>
              <a:off x="6161476" y="3971925"/>
              <a:ext cx="339337" cy="4143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54419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774062"/>
            <a:ext cx="5110064" cy="5110064"/>
          </a:xfrm>
          <a:prstGeom prst="rect">
            <a:avLst/>
          </a:prstGeom>
        </p:spPr>
      </p:pic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72297" y="1596520"/>
            <a:ext cx="666960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같은 반 친구인 영희의 표정이 어둡다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영희는 며칠 전에 강아지와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산책하다가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강아지를 잃어버렸다고 털어놓았다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그리고 며칠 동안 동네를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돌아 다니며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강아지를 찾으려고 애썼지만 찾지 못했다고 말하였다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도덕적 상상력 발휘하기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3561284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윗글에서 찾을 수 있는 도덕적 문제 상황을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도덕적 상상력 발휘하기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42" name="그림 41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19945"/>
            <a:ext cx="487174" cy="487174"/>
          </a:xfrm>
          <a:prstGeom prst="rect">
            <a:avLst/>
          </a:prstGeom>
        </p:spPr>
      </p:pic>
      <p:grpSp>
        <p:nvGrpSpPr>
          <p:cNvPr id="43" name="그룹 4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19945"/>
            <a:ext cx="1087577" cy="495431"/>
            <a:chOff x="10075659" y="2003022"/>
            <a:chExt cx="1156006" cy="495431"/>
          </a:xfrm>
        </p:grpSpPr>
        <p:pic>
          <p:nvPicPr>
            <p:cNvPr id="44" name="그림 43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6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58626"/>
            <a:ext cx="10293350" cy="2771514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65588" y="2379495"/>
            <a:ext cx="9784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영희가 강아지를 잃어버려서 괴로워하고 있다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76628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47" grpId="0"/>
      <p:bldP spid="47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</a:t>
            </a:r>
            <a:r>
              <a:rPr lang="ko-KR" altLang="en-US" sz="2000" b="1" dirty="0">
                <a:latin typeface="+mn-ea"/>
              </a:rPr>
              <a:t>영희의 마음이 어떠할지 영희의 처지에서 생각하여 써 </a:t>
            </a:r>
            <a:r>
              <a:rPr lang="ko-KR" altLang="en-US" sz="2000" b="1" dirty="0" smtClean="0">
                <a:latin typeface="+mn-ea"/>
              </a:rPr>
              <a:t>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도덕적 상상력 발휘하기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42" name="그림 41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1619945"/>
            <a:ext cx="487174" cy="487174"/>
          </a:xfrm>
          <a:prstGeom prst="rect">
            <a:avLst/>
          </a:prstGeom>
        </p:spPr>
      </p:pic>
      <p:grpSp>
        <p:nvGrpSpPr>
          <p:cNvPr id="43" name="그룹 4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1619945"/>
            <a:ext cx="1087577" cy="495431"/>
            <a:chOff x="10075659" y="2003022"/>
            <a:chExt cx="1156006" cy="495431"/>
          </a:xfrm>
        </p:grpSpPr>
        <p:pic>
          <p:nvPicPr>
            <p:cNvPr id="44" name="그림 43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6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58626"/>
            <a:ext cx="10293350" cy="2771514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065588" y="2379495"/>
            <a:ext cx="9784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무척 슬프고 강아지가 걱정되어 초조할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06164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  <p:bldLst>
      <p:bldP spid="47" grpId="0"/>
      <p:bldP spid="47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3</a:t>
            </a:r>
            <a:r>
              <a:rPr lang="en-US" altLang="ko-KR" sz="2000" b="1" dirty="0" smtClean="0">
                <a:latin typeface="+mn-ea"/>
              </a:rPr>
              <a:t>. </a:t>
            </a:r>
            <a:r>
              <a:rPr lang="ko-KR" altLang="en-US" sz="2000" b="1" dirty="0">
                <a:latin typeface="+mn-ea"/>
              </a:rPr>
              <a:t>영희를 도울 다양한 방법을 생각해 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그 방법이 가져올 결과를 예측하여 써 보자</a:t>
            </a:r>
            <a:r>
              <a:rPr lang="en-US" altLang="ko-KR" sz="2000" b="1" dirty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도덕적 상상력 발휘하기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pic>
        <p:nvPicPr>
          <p:cNvPr id="42" name="그림 41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37464"/>
            <a:ext cx="487174" cy="487174"/>
          </a:xfrm>
          <a:prstGeom prst="rect">
            <a:avLst/>
          </a:prstGeom>
        </p:spPr>
      </p:pic>
      <p:grpSp>
        <p:nvGrpSpPr>
          <p:cNvPr id="43" name="그룹 4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37464"/>
            <a:ext cx="1087577" cy="495431"/>
            <a:chOff x="10075659" y="2003022"/>
            <a:chExt cx="1156006" cy="495431"/>
          </a:xfrm>
        </p:grpSpPr>
        <p:pic>
          <p:nvPicPr>
            <p:cNvPr id="44" name="그림 43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pic>
        <p:nvPicPr>
          <p:cNvPr id="2" name="그림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330" y="2845857"/>
            <a:ext cx="10966576" cy="4012143"/>
          </a:xfrm>
          <a:prstGeom prst="rect">
            <a:avLst/>
          </a:prstGeom>
        </p:spPr>
      </p:pic>
      <p:grpSp>
        <p:nvGrpSpPr>
          <p:cNvPr id="4" name="그룹 3"/>
          <p:cNvGrpSpPr/>
          <p:nvPr/>
        </p:nvGrpSpPr>
        <p:grpSpPr>
          <a:xfrm>
            <a:off x="1139888" y="3536170"/>
            <a:ext cx="10000219" cy="3011437"/>
            <a:chOff x="1139888" y="3536170"/>
            <a:chExt cx="10000219" cy="3011437"/>
          </a:xfrm>
        </p:grpSpPr>
        <p:sp>
          <p:nvSpPr>
            <p:cNvPr id="49" name="TextBox 48"/>
            <p:cNvSpPr txBox="1"/>
            <p:nvPr/>
          </p:nvSpPr>
          <p:spPr>
            <a:xfrm>
              <a:off x="1139888" y="3536170"/>
              <a:ext cx="44506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400" spc="-150" dirty="0">
                  <a:solidFill>
                    <a:srgbClr val="0070C0"/>
                  </a:solidFill>
                  <a:latin typeface="+mn-ea"/>
                </a:rPr>
                <a:t>동네에서 영희와 함께 강아지를 찾는다</a:t>
              </a:r>
              <a:r>
                <a:rPr lang="en-US" altLang="ko-KR" sz="2400" spc="-150" dirty="0">
                  <a:solidFill>
                    <a:srgbClr val="0070C0"/>
                  </a:solidFill>
                  <a:latin typeface="+mn-ea"/>
                </a:rPr>
                <a:t>.</a:t>
              </a:r>
              <a:endParaRPr lang="ko-KR" altLang="en-US" sz="2400" spc="-150" dirty="0">
                <a:solidFill>
                  <a:srgbClr val="0070C0"/>
                </a:solidFill>
                <a:latin typeface="+mn-ea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1139888" y="4603185"/>
              <a:ext cx="44506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400" spc="-150" dirty="0">
                  <a:solidFill>
                    <a:srgbClr val="0070C0"/>
                  </a:solidFill>
                  <a:latin typeface="+mn-ea"/>
                </a:rPr>
                <a:t>동네에 강아지를 찾는 안내문을 만들어 붙인다</a:t>
              </a:r>
              <a:r>
                <a:rPr lang="en-US" altLang="ko-KR" sz="2400" spc="-150" dirty="0">
                  <a:solidFill>
                    <a:srgbClr val="0070C0"/>
                  </a:solidFill>
                  <a:latin typeface="+mn-ea"/>
                </a:rPr>
                <a:t>.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139888" y="5711368"/>
              <a:ext cx="445068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400" spc="-150" dirty="0" err="1">
                  <a:solidFill>
                    <a:srgbClr val="0070C0"/>
                  </a:solidFill>
                  <a:latin typeface="+mn-ea"/>
                </a:rPr>
                <a:t>유기견</a:t>
              </a:r>
              <a:r>
                <a:rPr lang="ko-KR" altLang="en-US" sz="2400" spc="-150" dirty="0">
                  <a:solidFill>
                    <a:srgbClr val="0070C0"/>
                  </a:solidFill>
                  <a:latin typeface="+mn-ea"/>
                </a:rPr>
                <a:t> </a:t>
              </a:r>
              <a:r>
                <a:rPr lang="ko-KR" altLang="en-US" sz="2400" spc="-150" dirty="0" smtClean="0">
                  <a:solidFill>
                    <a:srgbClr val="0070C0"/>
                  </a:solidFill>
                  <a:latin typeface="+mn-ea"/>
                </a:rPr>
                <a:t>보호 센터에 </a:t>
              </a:r>
              <a:r>
                <a:rPr lang="ko-KR" altLang="en-US" sz="2400" spc="-150" dirty="0">
                  <a:solidFill>
                    <a:srgbClr val="0070C0"/>
                  </a:solidFill>
                  <a:latin typeface="+mn-ea"/>
                </a:rPr>
                <a:t>연락해서 영희의 강아지를 찾는다</a:t>
              </a:r>
              <a:r>
                <a:rPr lang="en-US" altLang="ko-KR" sz="2400" spc="-150" dirty="0">
                  <a:solidFill>
                    <a:srgbClr val="0070C0"/>
                  </a:solidFill>
                  <a:latin typeface="+mn-ea"/>
                </a:rPr>
                <a:t>.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6579838" y="3541412"/>
              <a:ext cx="456026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400" spc="-150" dirty="0">
                  <a:solidFill>
                    <a:srgbClr val="0070C0"/>
                  </a:solidFill>
                  <a:latin typeface="+mn-ea"/>
                </a:rPr>
                <a:t>이미 영희가 동네를 </a:t>
              </a:r>
              <a:r>
                <a:rPr lang="ko-KR" altLang="en-US" sz="2400" spc="-150" dirty="0" err="1" smtClean="0">
                  <a:solidFill>
                    <a:srgbClr val="0070C0"/>
                  </a:solidFill>
                  <a:latin typeface="+mn-ea"/>
                </a:rPr>
                <a:t>돌아다녔으므로</a:t>
              </a:r>
              <a:r>
                <a:rPr lang="ko-KR" altLang="en-US" sz="2400" spc="-150" dirty="0" smtClean="0">
                  <a:solidFill>
                    <a:srgbClr val="0070C0"/>
                  </a:solidFill>
                  <a:latin typeface="+mn-ea"/>
                </a:rPr>
                <a:t> 강아지를 못 찾을 </a:t>
              </a:r>
              <a:r>
                <a:rPr lang="ko-KR" altLang="en-US" sz="2400" spc="-150" dirty="0">
                  <a:solidFill>
                    <a:srgbClr val="0070C0"/>
                  </a:solidFill>
                  <a:latin typeface="+mn-ea"/>
                </a:rPr>
                <a:t>확률이 크다</a:t>
              </a:r>
              <a:r>
                <a:rPr lang="en-US" altLang="ko-KR" sz="2400" spc="-150" dirty="0">
                  <a:solidFill>
                    <a:srgbClr val="0070C0"/>
                  </a:solidFill>
                  <a:latin typeface="+mn-ea"/>
                </a:rPr>
                <a:t>.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6579838" y="4608427"/>
              <a:ext cx="456026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400" spc="-150" dirty="0">
                  <a:solidFill>
                    <a:srgbClr val="0070C0"/>
                  </a:solidFill>
                  <a:latin typeface="+mn-ea"/>
                </a:rPr>
                <a:t>강아지를 보살피고 있던 사람이 안내문을 보고 연락을 준다</a:t>
              </a:r>
              <a:r>
                <a:rPr lang="en-US" altLang="ko-KR" sz="2400" spc="-150" dirty="0">
                  <a:solidFill>
                    <a:srgbClr val="0070C0"/>
                  </a:solidFill>
                  <a:latin typeface="+mn-ea"/>
                </a:rPr>
                <a:t>.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6579838" y="5716610"/>
              <a:ext cx="456026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ko-KR" altLang="en-US" sz="2400" spc="-150" dirty="0" err="1">
                  <a:solidFill>
                    <a:srgbClr val="0070C0"/>
                  </a:solidFill>
                  <a:latin typeface="+mn-ea"/>
                </a:rPr>
                <a:t>유기견</a:t>
              </a:r>
              <a:r>
                <a:rPr lang="ko-KR" altLang="en-US" sz="2400" spc="-150" dirty="0">
                  <a:solidFill>
                    <a:srgbClr val="0070C0"/>
                  </a:solidFill>
                  <a:latin typeface="+mn-ea"/>
                </a:rPr>
                <a:t> </a:t>
              </a:r>
              <a:r>
                <a:rPr lang="ko-KR" altLang="en-US" sz="2400" spc="-150" dirty="0" smtClean="0">
                  <a:solidFill>
                    <a:srgbClr val="0070C0"/>
                  </a:solidFill>
                  <a:latin typeface="+mn-ea"/>
                </a:rPr>
                <a:t>보호 센터에서 </a:t>
              </a:r>
              <a:r>
                <a:rPr lang="ko-KR" altLang="en-US" sz="2400" spc="-150" dirty="0">
                  <a:solidFill>
                    <a:srgbClr val="0070C0"/>
                  </a:solidFill>
                  <a:latin typeface="+mn-ea"/>
                </a:rPr>
                <a:t>잃어버렸던 강아지를 찾을 수 있다</a:t>
              </a:r>
              <a:r>
                <a:rPr lang="en-US" altLang="ko-KR" sz="2400" spc="-150" dirty="0">
                  <a:solidFill>
                    <a:srgbClr val="0070C0"/>
                  </a:solidFill>
                  <a:latin typeface="+mn-ea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3102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2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4. </a:t>
            </a:r>
            <a:r>
              <a:rPr lang="en-US" altLang="ko-KR" sz="2000" b="1" dirty="0" smtClean="0">
                <a:latin typeface="+mn-ea"/>
              </a:rPr>
              <a:t>3</a:t>
            </a:r>
            <a:r>
              <a:rPr lang="ko-KR" altLang="en-US" sz="2000" b="1" dirty="0" smtClean="0">
                <a:latin typeface="+mn-ea"/>
              </a:rPr>
              <a:t>에서 </a:t>
            </a:r>
            <a:r>
              <a:rPr lang="ko-KR" altLang="en-US" sz="2000" b="1" dirty="0">
                <a:latin typeface="+mn-ea"/>
              </a:rPr>
              <a:t>쓴 방법 중 가장 적절한 것을 고르고</a:t>
            </a:r>
            <a:r>
              <a:rPr lang="en-US" altLang="ko-KR" sz="2000" b="1" dirty="0">
                <a:latin typeface="+mn-ea"/>
              </a:rPr>
              <a:t>, </a:t>
            </a:r>
            <a:r>
              <a:rPr lang="ko-KR" altLang="en-US" sz="2000" b="1" dirty="0">
                <a:latin typeface="+mn-ea"/>
              </a:rPr>
              <a:t>그 까닭을 써 </a:t>
            </a:r>
            <a:r>
              <a:rPr lang="ko-KR" altLang="en-US" sz="2000" b="1" dirty="0" smtClean="0">
                <a:latin typeface="+mn-ea"/>
              </a:rPr>
              <a:t>보자</a:t>
            </a:r>
            <a:r>
              <a:rPr lang="en-US" altLang="ko-KR" sz="2000" b="1" dirty="0" smtClean="0">
                <a:latin typeface="+mn-ea"/>
              </a:rPr>
              <a:t>.</a:t>
            </a:r>
            <a:endParaRPr lang="ko-KR" altLang="en-US" sz="2000" b="1" dirty="0">
              <a:latin typeface="+mn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실천하기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  <a:ea typeface="+mj-ea"/>
              </a:rPr>
              <a:t>도덕적 상상력 발휘하기 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87399" y="2279639"/>
            <a:ext cx="275719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dirty="0">
                <a:latin typeface="+mn-ea"/>
              </a:rPr>
              <a:t>내가 고른 방법 </a:t>
            </a:r>
            <a:endParaRPr lang="en-US" altLang="ko-KR" sz="2000" dirty="0">
              <a:latin typeface="+mn-ea"/>
            </a:endParaRPr>
          </a:p>
        </p:txBody>
      </p:sp>
      <p:pic>
        <p:nvPicPr>
          <p:cNvPr id="29" name="그림 28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84319"/>
            <a:ext cx="487174" cy="487174"/>
          </a:xfrm>
          <a:prstGeom prst="rect">
            <a:avLst/>
          </a:prstGeom>
        </p:spPr>
      </p:pic>
      <p:grpSp>
        <p:nvGrpSpPr>
          <p:cNvPr id="33" name="그룹 32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84319"/>
            <a:ext cx="1087577" cy="495431"/>
            <a:chOff x="10075659" y="2003022"/>
            <a:chExt cx="1156006" cy="495431"/>
          </a:xfrm>
        </p:grpSpPr>
        <p:pic>
          <p:nvPicPr>
            <p:cNvPr id="34" name="그림 33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3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876449"/>
            <a:ext cx="10293350" cy="144616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65588" y="2897318"/>
            <a:ext cx="9784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동네에 강아지를 찾는 안내문을 만들어 붙이고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, </a:t>
            </a:r>
            <a:r>
              <a:rPr lang="ko-KR" altLang="en-US" sz="2400" dirty="0" err="1">
                <a:solidFill>
                  <a:srgbClr val="0070C0"/>
                </a:solidFill>
                <a:latin typeface="+mn-ea"/>
              </a:rPr>
              <a:t>유기견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 </a:t>
            </a:r>
            <a:r>
              <a:rPr lang="ko-KR" altLang="en-US" sz="2400" dirty="0" smtClean="0">
                <a:solidFill>
                  <a:srgbClr val="0070C0"/>
                </a:solidFill>
                <a:latin typeface="+mn-ea"/>
              </a:rPr>
              <a:t>보호 센터에도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연락해 본다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7399" y="4534907"/>
            <a:ext cx="2757191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dirty="0" smtClean="0"/>
              <a:t>고른 까닭</a:t>
            </a:r>
            <a:endParaRPr lang="ko-KR" altLang="en-US" sz="2000" dirty="0">
              <a:latin typeface="+mn-ea"/>
            </a:endParaRPr>
          </a:p>
        </p:txBody>
      </p:sp>
      <p:pic>
        <p:nvPicPr>
          <p:cNvPr id="41" name="그림 4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4539587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4539587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9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5131717"/>
            <a:ext cx="10293350" cy="144616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065588" y="5152586"/>
            <a:ext cx="97841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영희가 해 보지 않은 방법을 사용해야지 강아지를 찾을 확률이 높아지기 때문이다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32384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  <p:bldLst>
      <p:bldP spid="39" grpId="0"/>
      <p:bldP spid="39" grpId="1"/>
      <p:bldP spid="50" grpId="0"/>
      <p:bldP spid="50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39262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 smtClean="0">
                <a:solidFill>
                  <a:srgbClr val="00B050"/>
                </a:solidFill>
                <a:latin typeface="+mn-ea"/>
              </a:rPr>
              <a:t>다음 물음에 답하며 자신의 모습을 성찰해 보자</a:t>
            </a:r>
            <a:r>
              <a:rPr lang="en-US" altLang="ko-KR" sz="2200" b="1" dirty="0" smtClean="0">
                <a:solidFill>
                  <a:srgbClr val="00B050"/>
                </a:solidFill>
                <a:latin typeface="+mn-ea"/>
              </a:rPr>
              <a:t>.</a:t>
            </a:r>
            <a:endParaRPr lang="ko-KR" altLang="en-US" sz="2200" b="1" dirty="0">
              <a:solidFill>
                <a:srgbClr val="00B050"/>
              </a:solidFill>
              <a:latin typeface="+mn-ea"/>
            </a:endParaRPr>
          </a:p>
        </p:txBody>
      </p: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374242"/>
            <a:ext cx="10293350" cy="1160691"/>
          </a:xfrm>
          <a:prstGeom prst="roundRect">
            <a:avLst>
              <a:gd name="adj" fmla="val 8608"/>
            </a:avLst>
          </a:prstGeom>
          <a:noFill/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40188" y="2445911"/>
            <a:ext cx="9809541" cy="943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일상에서 도덕적 문제 상황을 민감하게 인식하는가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굴림" panose="020B0600000101010101" pitchFamily="50" charset="-127"/>
                <a:ea typeface="굴림" panose="020B0600000101010101" pitchFamily="50" charset="-127"/>
              </a:rPr>
              <a:t>도덕적 문제 상황에서 타인이 겪는 어려움에 공감하는가</a:t>
            </a:r>
            <a:r>
              <a:rPr lang="en-US" altLang="ko-KR" sz="2000" dirty="0">
                <a:latin typeface="굴림" panose="020B0600000101010101" pitchFamily="50" charset="-127"/>
                <a:ea typeface="굴림" panose="020B0600000101010101" pitchFamily="50" charset="-127"/>
              </a:rPr>
              <a:t>?</a:t>
            </a:r>
            <a:endParaRPr lang="ko-KR" altLang="en-US" sz="200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3930020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3930019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4546283"/>
            <a:ext cx="81650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나는 도덕적 문제 상황에서 타인이 겪는 어려움에 공감하지 못했던 것 같다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앞으로는 타인의 처지에서 생각하며 도덕적 상상력을 발휘하기 위해 노력할 것이다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+mn-ea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936087" y="3953767"/>
            <a:ext cx="1328154" cy="507831"/>
            <a:chOff x="877165" y="3739778"/>
            <a:chExt cx="1328154" cy="507831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5078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 smtClean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나의 성찰</a:t>
              </a:r>
              <a:endParaRPr lang="ko-KR" altLang="en-US" b="1" dirty="0">
                <a:solidFill>
                  <a:schemeClr val="accent6">
                    <a:lumMod val="50000"/>
                  </a:schemeClr>
                </a:solidFill>
                <a:latin typeface="돋움" panose="020B0600000101010101" pitchFamily="50" charset="-127"/>
                <a:ea typeface="돋움" panose="020B0600000101010101" pitchFamily="50" charset="-127"/>
              </a:endParaRP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53798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“03. </a:t>
            </a:r>
            <a:r>
              <a:rPr lang="ko-KR" altLang="en-US" sz="2800" b="1" dirty="0" smtClean="0">
                <a:solidFill>
                  <a:schemeClr val="tx1"/>
                </a:solidFill>
                <a:latin typeface="+mn-ea"/>
              </a:rPr>
              <a:t>도덕적 추론은 어떻게 할까</a:t>
            </a:r>
            <a:r>
              <a:rPr lang="en-US" altLang="ko-KR" sz="2800" b="1" dirty="0" smtClean="0">
                <a:solidFill>
                  <a:schemeClr val="tx1"/>
                </a:solidFill>
                <a:latin typeface="+mn-ea"/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를</a:t>
            </a:r>
            <a:endParaRPr lang="en-US" altLang="ko-KR" sz="2800" dirty="0" smtClean="0">
              <a:solidFill>
                <a:schemeClr val="tx1"/>
              </a:solidFill>
              <a:latin typeface="+mn-ea"/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  <a:latin typeface="+mn-ea"/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  <a:latin typeface="+mn-ea"/>
              </a:rPr>
              <a:t>.</a:t>
            </a:r>
            <a:endParaRPr lang="ko-KR" altLang="en-US" sz="28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 상상력의 의미와 역할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16쪽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도덕적 상상력의 의미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어떤 상황을 도덕적 문제 상황으로 민감하게 인식하고, 그러한 상황에서 다른 사람이 겪는 어려움에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공감 </a:t>
            </a:r>
            <a:r>
              <a:rPr sz="2400" b="0">
                <a:solidFill>
                  <a:srgbClr val="262626"/>
                </a:solidFill>
              </a:rPr>
              <a:t>하며, 그 사람을 도울 수 있는 다양한 방법과 그 결과를 예측해 보는 능력(2) 도덕적 상상력의 역할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키오스크 앞에서 머뭇거리는 할머니를 알아차리고 도울 방법을 떠올린다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일상에서 지나칠 수 있는 다양한 도덕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문제 </a:t>
            </a:r>
            <a:r>
              <a:rPr sz="2400" b="0">
                <a:solidFill>
                  <a:srgbClr val="262626"/>
                </a:solidFill>
              </a:rPr>
              <a:t>를 쉽게 발견할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혼자 밥 먹는 전학생을 ‘그냥 그런가 보다’ 하지 않고 알아본다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그 문제를 해결하는 적절한 방법을 찾아 도덕적 행동을 실천할 수 있음.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도덕적 상상력의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어떤 상황을 도덕적 문제 상황으로 민감하게 인식하고, 그러한 상황에서 다른 사람이 겪는 어려움에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공감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하며, 그 사람을 도울 수 있는 다양한 방법과 그 결과를 예측해 보는 능력(2) 도덕적 상상력의 역할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키오스크 앞에서 머뭇거리는 할머니를 알아차리고 도울 방법을 떠올린다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일상에서 지나칠 수 있는 다양한 도덕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쉽게 발견할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혼자 밥 먹는 전학생을 ‘그냥 그런가 보다’ 하지 않고 알아본다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그 문제를 해결하는 적절한 방법을 찾아 도덕적 행동을 실천할 수 있음.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도덕적 상상력의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어떤 상황을 도덕적 문제 상황으로 민감하게 인식하고, 그러한 상황에서 다른 사람이 겪는 어려움에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하며, 그 사람을 도울 수 있는 다양한 방법과 그 결과를 예측해 보는 능력(2) 도덕적 상상력의 역할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키오스크 앞에서 머뭇거리는 할머니를 알아차리고 도울 방법을 떠올린다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일상에서 지나칠 수 있는 다양한 도덕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쉽게 발견할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혼자 밥 먹는 전학생을 ‘그냥 그런가 보다’ 하지 않고 알아본다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그 문제를 해결하는 적절한 방법을 찾아 도덕적 행동을 실천할 수 있음.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도덕적 상상력의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어떤 상황을 도덕적 문제 상황으로 민감하게 인식하고, 그러한 상황에서 다른 사람이 겪는 어려움에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하며, 그 사람을 도울 수 있는 다양한 방법과 그 결과를 예측해 보는 능력(2) 도덕적 상상력의 역할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키오스크 앞에서 머뭇거리는 할머니를 알아차리고 도울 방법을 떠올린다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일상에서 지나칠 수 있는 다양한 도덕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쉽게 발견할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혼자 밥 먹는 전학생을 ‘그냥 그런가 보다’ 하지 않고 알아본다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그 문제를 해결하는 적절한 방법을 찾아 도덕적 행동을 실천할 수 있음.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도덕적 상상력의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어떤 상황을 도덕적 문제 상황으로 민감하게 인식하고, 그러한 상황에서 다른 사람이 겪는 어려움에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공감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하며, 그 사람을 도울 수 있는 다양한 방법과 그 결과를 예측해 보는 능력(2) 도덕적 상상력의 역할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키오스크 앞에서 머뭇거리는 할머니를 알아차리고 도울 방법을 떠올린다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일상에서 지나칠 수 있는 다양한 도덕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문제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쉽게 발견할 수 있음.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혼자 밥 먹는 전학생을 ‘그냥 그런가 보다’ 하지 않고 알아본다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그 문제를 해결하는 적절한 방법을 찾아 도덕적 행동을 실천할 수 있음.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 상상력을 키우는 방법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일상에서 도덕적 문제 상황을 잘 찾을 수 있도록 </a:t>
            </a: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관심 </a:t>
            </a:r>
            <a:r>
              <a:rPr sz="2400" b="0">
                <a:solidFill>
                  <a:srgbClr val="262626"/>
                </a:solidFill>
              </a:rPr>
              <a:t>을 두어야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나에게 계단은 그냥 계단, 휠체어 친구에게는 벽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나에게는 쉽거나 사소한 일도 다른 사람에게는 어렵거나 중요한 일일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(2) 상대방의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처지 </a:t>
            </a:r>
            <a:r>
              <a:rPr sz="2400" b="0">
                <a:solidFill>
                  <a:srgbClr val="262626"/>
                </a:solidFill>
              </a:rPr>
              <a:t>에서 생각해야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표정이 어두운 친구 — 위로가 필요할까, 혼자 있고 싶을까?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타인의 감정에 공감하여 그 사람의 처지에서 생각하면 어떤 도움이 필요한지 헤아릴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(3) 다양한 해결책을 탐색해야 함.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일상에서 도덕적 문제 상황을 잘 찾을 수 있도록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관심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두어야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나에게 계단은 그냥 계단, 휠체어 친구에게는 벽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나에게는 쉽거나 사소한 일도 다른 사람에게는 어렵거나 중요한 일일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상대방의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처지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에서 생각해야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표정이 어두운 친구 — 위로가 필요할까, 혼자 있고 싶을까?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타인의 감정에 공감하여 그 사람의 처지에서 생각하면 어떤 도움이 필요한지 헤아릴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다양한 해결책을 탐색해야 함.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일상에서 도덕적 문제 상황을 잘 찾을 수 있도록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관심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두어야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나에게 계단은 그냥 계단, 휠체어 친구에게는 벽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나에게는 쉽거나 사소한 일도 다른 사람에게는 어렵거나 중요한 일일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상대방의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처지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에서 생각해야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표정이 어두운 친구 — 위로가 필요할까, 혼자 있고 싶을까?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타인의 감정에 공감하여 그 사람의 처지에서 생각하면 어떤 도움이 필요한지 헤아릴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다양한 해결책을 탐색해야 함.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일상에서 도덕적 문제 상황을 잘 찾을 수 있도록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관심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두어야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나에게 계단은 그냥 계단, 휠체어 친구에게는 벽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나에게는 쉽거나 사소한 일도 다른 사람에게는 어렵거나 중요한 일일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상대방의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처지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에서 생각해야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표정이 어두운 친구 — 위로가 필요할까, 혼자 있고 싶을까?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타인의 감정에 공감하여 그 사람의 처지에서 생각하면 어떤 도움이 필요한지 헤아릴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다양한 해결책을 탐색해야 함.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일상에서 도덕적 문제 상황을 잘 찾을 수 있도록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관심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을 두어야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나에게 계단은 그냥 계단, 휠체어 친구에게는 벽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나에게는 쉽거나 사소한 일도 다른 사람에게는 어렵거나 중요한 일일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(2) 상대방의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처지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에서 생각해야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표정이 어두운 친구 — 위로가 필요할까, 혼자 있고 싶을까?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타인의 감정에 공감하여 그 사람의 처지에서 생각하면 어떤 도움이 필요한지 헤아릴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(3) 다양한 해결책을 탐색해야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도덕적 상상력을 키우는 방법 (이어서)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도덕적 문제 상황을 해결하는 방법은 다양할 수 있으므로, 여러 측면에서 가장 바람직한 해결책을 찾아야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(4) 나의 행동이 어떤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결과 </a:t>
            </a:r>
            <a:r>
              <a:rPr sz="2400" b="0">
                <a:solidFill>
                  <a:srgbClr val="262626"/>
                </a:solidFill>
              </a:rPr>
              <a:t>를 가져올지 예측해 보아야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장난으로 올린 사진 한 장이 친구에게 어떤 하루를 만들까?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⇨ 나의 사소한 행동이 여러 가지 결과를 낳을 수 있으므로 자신의 행동이 미칠 결과를 생각해야 함.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도덕적 문제 상황을 해결하는 방법은 다양할 수 있으므로, 여러 측면에서 가장 바람직한 해결책을 찾아야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(4) 나의 행동이 어떤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결과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가져올지 예측해 보아야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장난으로 올린 사진 한 장이 친구에게 어떤 하루를 만들까?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나의 사소한 행동이 여러 가지 결과를 낳을 수 있으므로 자신의 행동이 미칠 결과를 생각해야 함.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도덕적 문제 상황을 해결하는 방법은 다양할 수 있으므로, 여러 측면에서 가장 바람직한 해결책을 찾아야 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(4) 나의 행동이 어떤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결과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를 가져올지 예측해 보아야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장난으로 올린 사진 한 장이 친구에게 어떤 하루를 만들까?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⇨ 나의 사소한 행동이 여러 가지 결과를 낳을 수 있으므로 자신의 행동이 미칠 결과를 생각해야 함.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축구공을 꿰매는 열두 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1996년 6월 · 미국 잡지 『라이프』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사진 · 파키스탄 시알코트의 한 아이가 바닥에 앉아 축구공을 꿰매는 모습이 실렸다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현실 · 세계 축구공의 많은 양이 그 지역에서 손바느질로 만들어졌다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반응 · 소비자들이 항의하고 기업에 아동 노동을 멈추라고 요구했다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1997 · 국제 기구와 업체들이 아동 노동을 없애기로 약속했다(애틀랜타 협약)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사진을 본 사람들은 무엇을 ‘상상’했을까?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1996년 6월 · 미국 잡지 『라이프』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사진 · 파키스탄 시알코트의 한 아이가 바닥에 앉아 축구공을 꿰매는 모습이 실렸다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현실 · 세계 축구공의 많은 양이 그 지역에서 손바느질로 만들어졌다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반응 · 소비자들이 항의하고 기업에 아동 노동을 멈추라고 요구했다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1997 · 국제 기구와 업체들이 아동 노동을 없애기로 약속했다(애틀랜타 협약)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사진을 본 사람들은 무엇을 ‘상상’했을까?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700" b="1" dirty="0" smtClean="0">
                <a:solidFill>
                  <a:srgbClr val="FFFF00"/>
                </a:solidFill>
                <a:latin typeface="+mn-ea"/>
              </a:rPr>
              <a:t>내 운동화 한 켤레가 여기까지 오는 동안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🌱 · 재료를 기른 사람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🏭 · 만든 사람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🚚 · 옮긴 사람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🗑️ · 버린 뒤의 지구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딜레마 · 나라면?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친구가 장난으로 만든 다른 친구의 합성 사진. 단톡방 모두가 ‘ㅋㅋㅋ’를 보냈다.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나도 웃는다 — 다들 웃으니까 장난이겠지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멈춘다 — 사진 속 친구가 이걸 본다면?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사진 속 친구의 하루를 상상해 보면?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친구가 장난으로 만든 다른 친구의 합성 사진. 단톡방 모두가 ‘ㅋㅋㅋ’를 보냈다.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나도 웃는다 — 다들 웃으니까 장난이겠지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멈춘다 — 사진 속 친구가 이걸 본다면?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사진 속 친구의 하루를 상상해 보면?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도덕적 상상력을 발휘한 사람은 일상에서 도덕 문제를 쉽게 지나칠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도덕적 상상력을 발휘하면 도덕 문제를 해결하는 적절한 방안을 찾아 도덕적 행동을 실천할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도덕적 상상력을 키우려면 타인의 감정에 공감하여 그 사람의 처지에서 생각해야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도덕적 문제 상황을 해결하는 방법은 오직 하나이므로 해결책을 신중하게 생각해야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자신의 행동이 미칠 결과를 생각한다면 도덕적인 행동을 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도덕적 상상력을 발휘한 사람은 일상에서 도덕 문제를 쉽게 지나칠 수 있다.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도덕적 상상력을 발휘하면 도덕 문제를 해결하는 적절한 방안을 찾아 도덕적 행동을 실천할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도덕적 상상력을 키우려면 타인의 감정에 공감하여 그 사람의 처지에서 생각해야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도덕적 문제 상황을 해결하는 방법은 오직 하나이므로 해결책을 신중하게 생각해야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자신의 행동이 미칠 결과를 생각한다면 도덕적인 행동을 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도덕적 상상력을 발휘한 사람은 일상에서 도덕 문제를 쉽게 지나칠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도덕적 상상력을 발휘하면 도덕 문제를 해결하는 적절한 방안을 찾아 도덕적 행동을 실천할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도덕적 상상력을 키우려면 타인의 감정에 공감하여 그 사람의 처지에서 생각해야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도덕적 문제 상황을 해결하는 방법은 오직 하나이므로 해결책을 신중하게 생각해야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자신의 행동이 미칠 결과를 생각한다면 도덕적인 행동을 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도덕적 상상력을 발휘한 사람은 일상에서 도덕 문제를 쉽게 지나칠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도덕적 상상력을 발휘하면 도덕 문제를 해결하는 적절한 방안을 찾아 도덕적 행동을 실천할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도덕적 상상력을 키우려면 타인의 감정에 공감하여 그 사람의 처지에서 생각해야 한다.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도덕적 문제 상황을 해결하는 방법은 오직 하나이므로 해결책을 신중하게 생각해야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자신의 행동이 미칠 결과를 생각한다면 도덕적인 행동을 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도덕적 상상력을 발휘한 사람은 일상에서 도덕 문제를 쉽게 지나칠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도덕적 상상력을 발휘하면 도덕 문제를 해결하는 적절한 방안을 찾아 도덕적 행동을 실천할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도덕적 상상력을 키우려면 타인의 감정에 공감하여 그 사람의 처지에서 생각해야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도덕적 문제 상황을 해결하는 방법은 오직 하나이므로 해결책을 신중하게 생각해야 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자신의 행동이 미칠 결과를 생각한다면 도덕적인 행동을 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도덕적 상상력을 발휘한 사람은 일상에서 도덕 문제를 쉽게 지나칠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도덕적 상상력을 발휘하면 도덕 문제를 해결하는 적절한 방안을 찾아 도덕적 행동을 실천할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도덕적 상상력을 키우려면 타인의 감정에 공감하여 그 사람의 처지에서 생각해야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도덕적 문제 상황을 해결하는 방법은 오직 하나이므로 해결책을 신중하게 생각해야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5. 자신의 행동이 미칠 결과를 생각한다면 도덕적인 행동을 할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</p:bld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어떤 방법일까?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어느 칸일까? 관심 두기 · 처지에서 생각 · 해결책 탐색 · 결과 예측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“할머니가 당황하신 것 같아.”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관심 두기 (도덕적 문제 상황을 알아챔)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“뒤에 사람도 많은데 얼마나 난처하실까.”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처지에서 생각 (상대의 감정 헤아리기)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“대신 주문해 드릴까, 방법을 알려 드릴까?”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해결책 탐색 (여러 방법 떠올리기)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“방법을 알려 드리면 다음엔 혼자 하실 수 있겠지.”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결과 예측 (결과 상상하기)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관심 두기 · 처지에서 생각 · 해결책 탐색 · 결과 예측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“할머니가 당황하신 것 같아.”</a:t>
            </a:r>
            <a:r>
              <a:rPr sz="2300" b="1">
                <a:solidFill>
                  <a:srgbClr val="C0392B"/>
                </a:solidFill>
              </a:rPr>
              <a:t>   → 관심 두기 (도덕적 문제 상황을 알아챔)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“뒤에 사람도 많은데 얼마나 난처하실까.”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처지에서 생각 (상대의 감정 헤아리기)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“대신 주문해 드릴까, 방법을 알려 드릴까?”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해결책 탐색 (여러 방법 떠올리기)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“방법을 알려 드리면 다음엔 혼자 하실 수 있겠지.”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결과 예측 (결과 상상하기)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관심 두기 · 처지에서 생각 · 해결책 탐색 · 결과 예측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“할머니가 당황하신 것 같아.”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관심 두기 (도덕적 문제 상황을 알아챔)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“뒤에 사람도 많은데 얼마나 난처하실까.”</a:t>
            </a:r>
            <a:r>
              <a:rPr sz="2300" b="1">
                <a:solidFill>
                  <a:srgbClr val="C0392B"/>
                </a:solidFill>
              </a:rPr>
              <a:t>   → 처지에서 생각 (상대의 감정 헤아리기)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“대신 주문해 드릴까, 방법을 알려 드릴까?”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해결책 탐색 (여러 방법 떠올리기)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“방법을 알려 드리면 다음엔 혼자 하실 수 있겠지.”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결과 예측 (결과 상상하기)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관심 두기 · 처지에서 생각 · 해결책 탐색 · 결과 예측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“할머니가 당황하신 것 같아.”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관심 두기 (도덕적 문제 상황을 알아챔)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“뒤에 사람도 많은데 얼마나 난처하실까.”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처지에서 생각 (상대의 감정 헤아리기)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“대신 주문해 드릴까, 방법을 알려 드릴까?”</a:t>
            </a:r>
            <a:r>
              <a:rPr sz="2300" b="1">
                <a:solidFill>
                  <a:srgbClr val="C0392B"/>
                </a:solidFill>
              </a:rPr>
              <a:t>   → 해결책 탐색 (여러 방법 떠올리기)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“방법을 알려 드리면 다음엔 혼자 하실 수 있겠지.”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결과 예측 (결과 상상하기)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어느 칸일까? 관심 두기 · 처지에서 생각 · 해결책 탐색 · 결과 예측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“할머니가 당황하신 것 같아.”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관심 두기 (도덕적 문제 상황을 알아챔)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“뒤에 사람도 많은데 얼마나 난처하실까.”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처지에서 생각 (상대의 감정 헤아리기)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“대신 주문해 드릴까, 방법을 알려 드릴까?”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→ 해결책 탐색 (여러 방법 떠올리기)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“방법을 알려 드리면 다음엔 혼자 하실 수 있겠지.”</a:t>
            </a:r>
            <a:r>
              <a:rPr sz="2300" b="1">
                <a:solidFill>
                  <a:srgbClr val="C0392B"/>
                </a:solidFill>
              </a:rPr>
              <a:t>   → 결과 예측 (결과 상상하기)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영희를 도울 방법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도덕적 문제 상황은?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강아지를 잃어버린 영희가 며칠째 슬퍼한다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영희의 마음은?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걱정되고 미안하고 지쳤을 것이다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도울 방법과 결과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실종 전단지를 함께 만든다 → 찾을 가능성이 커지고 영희가 덜 외롭다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✍️ 가장 적절한 방법과 까닭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함께 찾아다니기 — 마음을 나눌 수 있어서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도덕적 문제 상황은?</a:t>
            </a:r>
            <a:r>
              <a:rPr sz="2300" b="1">
                <a:solidFill>
                  <a:srgbClr val="C0392B"/>
                </a:solidFill>
              </a:rPr>
              <a:t>   예) 강아지를 잃어버린 영희가 며칠째 슬퍼한다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영희의 마음은?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걱정되고 미안하고 지쳤을 것이다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도울 방법과 결과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실종 전단지를 함께 만든다 → 찾을 가능성이 커지고 영희가 덜 외롭다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가장 적절한 방법과 까닭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함께 찾아다니기 — 마음을 나눌 수 있어서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도덕적 문제 상황은?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강아지를 잃어버린 영희가 며칠째 슬퍼한다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영희의 마음은?</a:t>
            </a:r>
            <a:r>
              <a:rPr sz="2300" b="1">
                <a:solidFill>
                  <a:srgbClr val="C0392B"/>
                </a:solidFill>
              </a:rPr>
              <a:t>   예) 걱정되고 미안하고 지쳤을 것이다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도울 방법과 결과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실종 전단지를 함께 만든다 → 찾을 가능성이 커지고 영희가 덜 외롭다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가장 적절한 방법과 까닭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함께 찾아다니기 — 마음을 나눌 수 있어서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도덕적 문제 상황은?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강아지를 잃어버린 영희가 며칠째 슬퍼한다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영희의 마음은?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걱정되고 미안하고 지쳤을 것이다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도울 방법과 결과</a:t>
            </a:r>
            <a:r>
              <a:rPr sz="2300" b="1">
                <a:solidFill>
                  <a:srgbClr val="C0392B"/>
                </a:solidFill>
              </a:rPr>
              <a:t>   예) 실종 전단지를 함께 만든다 → 찾을 가능성이 커지고 영희가 덜 외롭다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가장 적절한 방법과 까닭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함께 찾아다니기 — 마음을 나눌 수 있어서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빈칸을 채워 문장을 완성해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도덕적 문제 상황은?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강아지를 잃어버린 영희가 며칠째 슬퍼한다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영희의 마음은?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걱정되고 미안하고 지쳤을 것이다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도울 방법과 결과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예) 실종 전단지를 함께 만든다 → 찾을 가능성이 커지고 영희가 덜 외롭다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✍️ 가장 적절한 방법과 까닭</a:t>
            </a:r>
            <a:r>
              <a:rPr sz="2300" b="1">
                <a:solidFill>
                  <a:srgbClr val="C0392B"/>
                </a:solidFill>
              </a:rPr>
              <a:t>   예) 함께 찾아다니기 — 마음을 나눌 수 있어서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</p:bld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500" b="1" dirty="0" smtClean="0">
                <a:solidFill>
                  <a:srgbClr val="FFFF00"/>
                </a:solidFill>
                <a:latin typeface="+mn-ea"/>
              </a:rPr>
              <a:t>➕ 물건 카드 뽑기 · 보이지 않는 사람 찾기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 smtClean="0">
                <a:solidFill>
                  <a:srgbClr val="6C768E"/>
                </a:solidFill>
                <a:latin typeface="+mj-ea"/>
                <a:ea typeface="+mj-ea"/>
              </a:rPr>
              <a:t>1. </a:t>
            </a:r>
            <a:r>
              <a:rPr lang="ko-KR" altLang="en-US" sz="1000" b="1" dirty="0" smtClean="0">
                <a:solidFill>
                  <a:srgbClr val="6C768E"/>
                </a:solidFill>
                <a:latin typeface="+mj-ea"/>
                <a:ea typeface="+mj-ea"/>
              </a:rPr>
              <a:t>옳고 그름의 분별</a:t>
            </a:r>
            <a:endParaRPr lang="ko-KR" altLang="en-US" sz="1000" b="1" dirty="0">
              <a:solidFill>
                <a:srgbClr val="6C768E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15쪽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 smtClean="0">
                <a:latin typeface="+mj-ea"/>
                <a:ea typeface="+mj-ea"/>
              </a:rPr>
              <a:t>02. </a:t>
            </a:r>
            <a:r>
              <a:rPr lang="ko-KR" altLang="en-US" b="1" dirty="0">
                <a:latin typeface="+mj-ea"/>
                <a:ea typeface="+mj-ea"/>
              </a:rPr>
              <a:t>도덕적 상상력을 어떻게 키울 수 있을까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  <a:endParaRPr lang="ko-KR" altLang="en-US" b="1" dirty="0">
              <a:latin typeface="+mj-ea"/>
              <a:ea typeface="+mj-ea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모둠이 번호를 하나 골라 미션 수행!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운동화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초콜릿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스마트폰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급식 한 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5. 티셔츠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6. 택배 상자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8201</TotalTime>
  <Words>1141</Words>
  <Application>Microsoft Office PowerPoint</Application>
  <PresentationFormat>와이드스크린</PresentationFormat>
  <Paragraphs>216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굴림</vt:lpstr>
      <vt:lpstr>나눔스퀘어라운드 ExtraBold</vt:lpstr>
      <vt:lpstr>돋움</vt:lpstr>
      <vt:lpstr>맑은 고딕</vt:lpstr>
      <vt:lpstr>Arial</vt:lpstr>
      <vt:lpstr>Wingdings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DB400SDA</cp:lastModifiedBy>
  <cp:revision>169</cp:revision>
  <cp:lastPrinted>2024-06-05T04:53:22Z</cp:lastPrinted>
  <dcterms:created xsi:type="dcterms:W3CDTF">2023-10-31T05:50:03Z</dcterms:created>
  <dcterms:modified xsi:type="dcterms:W3CDTF">2025-01-14T02:11:12Z</dcterms:modified>
</cp:coreProperties>
</file>