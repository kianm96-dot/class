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8"/>
  </p:notesMasterIdLst>
  <p:handoutMasterIdLst>
    <p:handoutMasterId r:id="rId29"/>
  </p:handoutMasterIdLst>
  <p:sldIdLst>
    <p:sldId id="302" r:id="rId2"/>
    <p:sldId id="301" r:id="rId3"/>
    <p:sldId id="258" r:id="rId4"/>
    <p:sldId id="305" r:id="rId5"/>
    <p:sldId id="406" r:id="rId6"/>
    <p:sldId id="260" r:id="rId7"/>
    <p:sldId id="407" r:id="rId8"/>
    <p:sldId id="427" r:id="rId35"/>
    <p:sldId id="408" r:id="rId9"/>
    <p:sldId id="409" r:id="rId10"/>
    <p:sldId id="410" r:id="rId11"/>
    <p:sldId id="411" r:id="rId12"/>
    <p:sldId id="412" r:id="rId13"/>
    <p:sldId id="413" r:id="rId14"/>
    <p:sldId id="415" r:id="rId15"/>
    <p:sldId id="414" r:id="rId16"/>
    <p:sldId id="428" r:id="rId36"/>
    <p:sldId id="429" r:id="rId37"/>
    <p:sldId id="430" r:id="rId38"/>
    <p:sldId id="416" r:id="rId17"/>
    <p:sldId id="419" r:id="rId18"/>
    <p:sldId id="418" r:id="rId19"/>
    <p:sldId id="420" r:id="rId20"/>
    <p:sldId id="421" r:id="rId21"/>
    <p:sldId id="422" r:id="rId22"/>
    <p:sldId id="431" r:id="rId39"/>
    <p:sldId id="432" r:id="rId40"/>
    <p:sldId id="433" r:id="rId41"/>
    <p:sldId id="423" r:id="rId23"/>
    <p:sldId id="424" r:id="rId24"/>
    <p:sldId id="425" r:id="rId25"/>
    <p:sldId id="426" r:id="rId26"/>
    <p:sldId id="434" r:id="rId42"/>
    <p:sldId id="435" r:id="rId43"/>
    <p:sldId id="348" r:id="rId27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3C0C"/>
    <a:srgbClr val="FBF3E4"/>
    <a:srgbClr val="FECE7A"/>
    <a:srgbClr val="CFD0D2"/>
    <a:srgbClr val="EDE8F3"/>
    <a:srgbClr val="FF9300"/>
    <a:srgbClr val="FFFF00"/>
    <a:srgbClr val="D9E1E9"/>
    <a:srgbClr val="E8F6FD"/>
    <a:srgbClr val="F0FF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242" autoAdjust="0"/>
  </p:normalViewPr>
  <p:slideViewPr>
    <p:cSldViewPr snapToGrid="0">
      <p:cViewPr varScale="1">
        <p:scale>
          <a:sx n="84" d="100"/>
          <a:sy n="84" d="100"/>
        </p:scale>
        <p:origin x="114" y="294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commentAuthors" Target="commentAuthors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554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086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20쪽 · 판단의 종류</a:t>
            </a:r>
          </a:p>
          <a:p>
            <a:r>
              <a:t>수달 대화의 세 문장을 하나씩 분류한다. 가치 판단 ⊃ 도덕 판단 — 도덕 판단은 가치 판단의 한 종류임을 그림(큰 원 안의 작은 원)으로 그려 준다.</a:t>
            </a:r>
          </a:p>
          <a:p>
            <a:r>
              <a:t>발문 “‘급식이 맛있다’와 ‘급식을 남기는 것은 옳지 않다’는 어떻게 다를까?”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21쪽</a:t>
            </a:r>
          </a:p>
          <a:p>
            <a:r>
              <a:t>윤희가 조퇴하고 영화 보러 가자고 하자 명호가 한 추론. 삼단 논법(모든 사람은 죽는다 → 소크라테스는 사람이다 → 소크라테스는 죽는다)과 구조가 같다.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도덕적 추론의 구조</a:t>
            </a:r>
          </a:p>
          <a:p>
            <a:r>
              <a:t>도덕 원리(큰 전제) + 사실 판단(작은 전제) → 도덕 판단(결론).</a:t>
            </a:r>
          </a:p>
          <a:p>
            <a:r>
              <a:t>추론이 틀리는 두 경우: 사실이 틀렸을 때(정말 속이는 것인가?), 원리가 받아들일 수 없을 때(“이기려면 무엇이든 해도 된다”). 그래서 원리를 검사하는 방법이 필요하다(6장).</a:t>
            </a:r>
          </a:p>
          <a:p>
            <a:r>
              <a:t>활동 화면 6에서 블록을 맞춰 추론을 만들어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사례 · 「버밍엄 감옥에서 보낸 편지」</a:t>
            </a:r>
          </a:p>
          <a:p>
            <a:r>
              <a:t>마틴 루서 킹 목사는 1963년 4월 버밍엄에서 인종 분리에 맞선 시위를 이끌다 체포되었다. 백인 목사 여덟 명이 신문에 ‘시위는 현명하지 않고 때가 이르다’는 글을 내자, 감옥에서 답장을 썼다.</a:t>
            </a:r>
          </a:p>
          <a:p>
            <a:r>
              <a:t>킹의 추론: (원리) 사람의 인격을 깎아내리는 법은 정의롭지 않다. (사실) 인종 분리법은 흑인의 인격을 깎아내린다. (판단) 인종 분리법은 정의롭지 않으며, 공개적으로, 사랑으로, 처벌을 받아들이며 따르지 않을 수 있다.</a:t>
            </a:r>
          </a:p>
          <a:p>
            <a:r>
              <a:t>발문 “킹은 법을 무시한 걸까, 법을 존중한 걸까?” → 처벌을 받아들인 것은 법 자체를 존중했기 때문이라고 그는 썼다. 1964년 노벨 평화상.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황금률</a:t>
            </a:r>
          </a:p>
          <a:p>
            <a:r>
              <a:t>자공이 평생 지킬 한마디를 묻자 공자는 ‘서(恕)’라 하고 이 말을 했다(己所不欲 勿施於人). 성경에도 “남에게 대접받고자 하는 대로 남을 대접하라”(마태복음 7:12)는 말이 있다. 많은 문화에서 비슷한 원칙을 찾을 수 있다.</a:t>
            </a:r>
          </a:p>
          <a:p>
            <a:r>
              <a:t>발문 “역할 교환 검사와 무엇이 같은가?”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하인츠 딜레마</a:t>
            </a:r>
          </a:p>
          <a:p>
            <a:r>
              <a:t>심리학자 로런스 콜버그는 이 이야기로 사람들의 도덕 판단을 조사했다. 그는 무엇을 골랐는지보다 왜 그렇게 판단했는지(처벌이 두려워서 / 남에게 인정받으려고 / 법과 질서 / 생명의 존엄 같은 보편 원리)를 보았다.</a:t>
            </a:r>
          </a:p>
          <a:p>
            <a:r>
              <a:t>모둠별로 선택하고 까닭을 도덕적 추론 형식(원리+사실→판단)으로 쓴 뒤, 세 가지 검사를 해 본다.</a:t>
            </a:r>
          </a:p>
          <a:p>
            <a:r>
              <a:t>후속 “훔치지 않고 생명을 구할 다른 길은?” → 도덕적 상상력(다음 장).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3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slide" Target="slide12.xml"/><Relationship Id="rId6" Type="http://schemas.openxmlformats.org/officeDocument/2006/relationships/slide" Target="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2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Relationship Id="rId6" Type="http://schemas.openxmlformats.org/officeDocument/2006/relationships/slide" Target="slide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slide" Target="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slide" Target="slide13.xml"/><Relationship Id="rId9" Type="http://schemas.openxmlformats.org/officeDocument/2006/relationships/slide" Target="slide12.xml"/><Relationship Id="rId10" Type="http://schemas.openxmlformats.org/officeDocument/2006/relationships/image" Target="../media/image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4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slide" Target="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slide" Target="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48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4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03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4224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1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옳고 그름의 분별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75832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도덕적 </a:t>
            </a:r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추론은 어떻게 할까</a:t>
            </a:r>
            <a:r>
              <a:rPr lang="en-US" altLang="ko-KR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  <a:endParaRPr lang="en-US" altLang="ko-KR" sz="5400" b="1" dirty="0">
              <a:ln w="22225">
                <a:noFill/>
                <a:prstDash val="solid"/>
              </a:ln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93571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dk1"/>
              </a:buClr>
              <a:buSzPts val="2300"/>
            </a:pPr>
            <a:r>
              <a:rPr lang="ko-KR" altLang="en-US" sz="2800" b="1" dirty="0" smtClean="0">
                <a:solidFill>
                  <a:schemeClr val="dk1"/>
                </a:solidFill>
                <a:latin typeface="+mn-ea"/>
              </a:rPr>
              <a:t>도덕 </a:t>
            </a:r>
            <a:r>
              <a:rPr lang="ko-KR" altLang="en-US" sz="2800" b="1" dirty="0">
                <a:solidFill>
                  <a:schemeClr val="dk1"/>
                </a:solidFill>
                <a:latin typeface="+mn-ea"/>
              </a:rPr>
              <a:t>판단의 의미와 도덕적 추론의 방법을 설명할 수 있다</a:t>
            </a:r>
            <a:r>
              <a:rPr lang="en-US" altLang="ko-KR" sz="2800" b="1" dirty="0">
                <a:solidFill>
                  <a:schemeClr val="dk1"/>
                </a:solidFill>
                <a:latin typeface="+mn-ea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2915072"/>
            <a:ext cx="10293350" cy="787400"/>
            <a:chOff x="914400" y="2362200"/>
            <a:chExt cx="10293350" cy="787400"/>
          </a:xfrm>
        </p:grpSpPr>
        <p:sp>
          <p:nvSpPr>
            <p:cNvPr id="32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2916689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dk1"/>
              </a:buClr>
              <a:buSzPts val="2300"/>
            </a:pPr>
            <a:r>
              <a:rPr lang="ko-KR" altLang="en-US" sz="2800" b="1" dirty="0">
                <a:solidFill>
                  <a:schemeClr val="dk1"/>
                </a:solidFill>
                <a:latin typeface="+mn-ea"/>
              </a:rPr>
              <a:t>일상의 도덕 문제에 도덕적 추론을 적용할 수 있다</a:t>
            </a:r>
            <a:r>
              <a:rPr lang="en-US" altLang="ko-KR" sz="2800" b="1" dirty="0">
                <a:solidFill>
                  <a:schemeClr val="dk1"/>
                </a:solidFill>
                <a:latin typeface="+mn-ea"/>
              </a:rPr>
              <a:t>.</a:t>
            </a:r>
            <a:endParaRPr lang="ko-KR" altLang="en-US" sz="2800" b="1" dirty="0">
              <a:solidFill>
                <a:schemeClr val="dk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33" y="1371600"/>
            <a:ext cx="9730174" cy="550355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85075" y="5613400"/>
            <a:ext cx="625821" cy="465137"/>
          </a:xfrm>
          <a:prstGeom prst="rect">
            <a:avLst/>
          </a:prstGeom>
        </p:spPr>
      </p:pic>
      <p:sp>
        <p:nvSpPr>
          <p:cNvPr id="27" name="모서리가 둥근 사각형 설명선 26"/>
          <p:cNvSpPr/>
          <p:nvPr/>
        </p:nvSpPr>
        <p:spPr>
          <a:xfrm>
            <a:off x="7660307" y="2399464"/>
            <a:ext cx="3363293" cy="1931752"/>
          </a:xfrm>
          <a:prstGeom prst="wedgeRoundRectCallout">
            <a:avLst>
              <a:gd name="adj1" fmla="val -58059"/>
              <a:gd name="adj2" fmla="val 29407"/>
              <a:gd name="adj3" fmla="val 16667"/>
            </a:avLst>
          </a:prstGeom>
          <a:solidFill>
            <a:srgbClr val="FECE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3203" y="2601657"/>
            <a:ext cx="2897704" cy="151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19715"/>
            <a:ext cx="10293350" cy="2581070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다음 만화를 보고 지수의 주장에는 어떤 문제가 있는지 써 </a:t>
            </a:r>
            <a:r>
              <a:rPr lang="ko-KR" altLang="en-US" sz="2000" b="1" dirty="0" smtClean="0">
                <a:latin typeface="+mn-ea"/>
              </a:rPr>
              <a:t>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42889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42889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20530" y="2329026"/>
            <a:ext cx="96358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지수는 ‘아무도 안 볼 때는 다른 사람의 물건을 써도 된다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.’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라는 잘못된 근거를 토대로 자신의 주장을 정당화하고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36" grpId="0"/>
      <p:bldP spid="3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</a:t>
            </a:r>
            <a:r>
              <a:rPr lang="ko-KR" altLang="en-US" sz="2000" b="1" dirty="0" smtClean="0">
                <a:latin typeface="+mj-ea"/>
                <a:ea typeface="+mj-ea"/>
              </a:rPr>
              <a:t>그림을 살펴보자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867" y="1828800"/>
            <a:ext cx="114681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8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사실 </a:t>
            </a:r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판단</a:t>
            </a:r>
            <a:r>
              <a:rPr lang="en-US" altLang="ko-KR" sz="2800" b="1" dirty="0">
                <a:solidFill>
                  <a:srgbClr val="FFFF00"/>
                </a:solidFill>
                <a:latin typeface="+mn-ea"/>
              </a:rPr>
              <a:t>, </a:t>
            </a:r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가치 판단</a:t>
            </a:r>
            <a:r>
              <a:rPr lang="en-US" altLang="ko-KR" sz="2800" b="1" dirty="0">
                <a:solidFill>
                  <a:srgbClr val="FFFF00"/>
                </a:solidFill>
                <a:latin typeface="+mn-ea"/>
              </a:rPr>
              <a:t>, </a:t>
            </a:r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도덕 </a:t>
            </a:r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판단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사실 판단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참이나 거짓을 객관적으로 확인할 수 있는 판단 </a:t>
            </a:r>
            <a:endParaRPr lang="en-US" altLang="ko-KR" sz="2400" dirty="0" smtClean="0"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2400" dirty="0" smtClean="0">
                <a:solidFill>
                  <a:srgbClr val="843C0C"/>
                </a:solidFill>
                <a:latin typeface="+mn-ea"/>
                <a:cs typeface="Arial"/>
                <a:sym typeface="Arial"/>
              </a:rPr>
              <a:t>(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  <a:cs typeface="Arial"/>
                <a:sym typeface="Arial"/>
              </a:rPr>
              <a:t>예</a:t>
            </a:r>
            <a:r>
              <a:rPr lang="en-US" altLang="ko-KR" sz="2400" dirty="0" smtClean="0">
                <a:solidFill>
                  <a:srgbClr val="843C0C"/>
                </a:solidFill>
                <a:latin typeface="+mn-ea"/>
                <a:cs typeface="Arial"/>
                <a:sym typeface="Arial"/>
              </a:rPr>
              <a:t>) 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  <a:cs typeface="Arial"/>
                <a:sym typeface="Arial"/>
              </a:rPr>
              <a:t>수달은 </a:t>
            </a:r>
            <a:r>
              <a:rPr lang="ko-KR" altLang="en-US" sz="2400" dirty="0">
                <a:solidFill>
                  <a:srgbClr val="843C0C"/>
                </a:solidFill>
                <a:latin typeface="+mn-ea"/>
                <a:cs typeface="Arial"/>
                <a:sym typeface="Arial"/>
              </a:rPr>
              <a:t>멸종 위기종이다</a:t>
            </a:r>
            <a:r>
              <a:rPr lang="en-US" altLang="ko-KR" sz="2400" dirty="0">
                <a:solidFill>
                  <a:srgbClr val="843C0C"/>
                </a:solidFill>
                <a:latin typeface="+mn-ea"/>
                <a:cs typeface="Arial"/>
                <a:sym typeface="Arial"/>
              </a:rPr>
              <a:t>.</a:t>
            </a:r>
            <a:endParaRPr lang="ko-KR" altLang="en-US" sz="2400" dirty="0">
              <a:solidFill>
                <a:srgbClr val="843C0C"/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dirty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가치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판단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좋고 싫음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아름다움과 추함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옳고 그름 등과 같은 가치에 관한 </a:t>
            </a:r>
            <a:r>
              <a:rPr lang="ko-KR" altLang="en-US" sz="2400" dirty="0" smtClean="0">
                <a:latin typeface="+mn-ea"/>
              </a:rPr>
              <a:t>판단</a:t>
            </a:r>
            <a:r>
              <a:rPr lang="en-US" altLang="ko-KR" sz="2400" dirty="0" smtClean="0">
                <a:latin typeface="+mn-ea"/>
              </a:rPr>
              <a:t/>
            </a:r>
            <a:br>
              <a:rPr lang="en-US" altLang="ko-KR" sz="2400" dirty="0" smtClean="0">
                <a:latin typeface="+mn-ea"/>
              </a:rPr>
            </a:br>
            <a:r>
              <a:rPr lang="en-US" altLang="ko-KR" sz="2400" dirty="0">
                <a:solidFill>
                  <a:srgbClr val="843C0C"/>
                </a:solidFill>
                <a:latin typeface="+mn-ea"/>
                <a:cs typeface="Arial"/>
                <a:sym typeface="Arial"/>
              </a:rPr>
              <a:t>(</a:t>
            </a:r>
            <a:r>
              <a:rPr lang="ko-KR" altLang="en-US" sz="2400" dirty="0">
                <a:solidFill>
                  <a:srgbClr val="843C0C"/>
                </a:solidFill>
                <a:latin typeface="+mn-ea"/>
                <a:cs typeface="Arial"/>
                <a:sym typeface="Arial"/>
              </a:rPr>
              <a:t>예</a:t>
            </a:r>
            <a:r>
              <a:rPr lang="en-US" altLang="ko-KR" sz="2400" dirty="0">
                <a:solidFill>
                  <a:srgbClr val="843C0C"/>
                </a:solidFill>
                <a:latin typeface="+mn-ea"/>
                <a:cs typeface="Arial"/>
                <a:sym typeface="Arial"/>
              </a:rPr>
              <a:t>) </a:t>
            </a:r>
            <a:r>
              <a:rPr lang="ko-KR" altLang="en-US" sz="2400" dirty="0">
                <a:solidFill>
                  <a:srgbClr val="843C0C"/>
                </a:solidFill>
                <a:latin typeface="+mn-ea"/>
                <a:cs typeface="Arial"/>
                <a:sym typeface="Arial"/>
              </a:rPr>
              <a:t>수달이 귀엽다</a:t>
            </a:r>
            <a:r>
              <a:rPr lang="en-US" altLang="ko-KR" sz="2400" dirty="0">
                <a:solidFill>
                  <a:srgbClr val="843C0C"/>
                </a:solidFill>
                <a:latin typeface="+mn-ea"/>
                <a:cs typeface="Arial"/>
                <a:sym typeface="Arial"/>
              </a:rPr>
              <a:t>.</a:t>
            </a:r>
            <a:endParaRPr lang="en-US" altLang="ko-KR" sz="2400" dirty="0"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사람에 </a:t>
            </a:r>
            <a:r>
              <a:rPr lang="ko-KR" altLang="en-US" sz="2400" dirty="0">
                <a:latin typeface="+mn-ea"/>
              </a:rPr>
              <a:t>따라 </a:t>
            </a:r>
            <a:r>
              <a:rPr lang="ko-KR" altLang="en-US" sz="2400" dirty="0" smtClean="0">
                <a:latin typeface="+mn-ea"/>
              </a:rPr>
              <a:t>다른 판단을 </a:t>
            </a:r>
            <a:r>
              <a:rPr lang="ko-KR" altLang="en-US" sz="2400" dirty="0">
                <a:latin typeface="+mn-ea"/>
              </a:rPr>
              <a:t>내릴 수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 </a:t>
            </a:r>
            <a:endParaRPr lang="ko-KR" altLang="en-US" sz="2400" dirty="0">
              <a:latin typeface="+mn-ea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사실 </a:t>
            </a:r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판단</a:t>
            </a:r>
            <a:r>
              <a:rPr lang="en-US" altLang="ko-KR" sz="2800" b="1" dirty="0">
                <a:solidFill>
                  <a:srgbClr val="FFFF00"/>
                </a:solidFill>
                <a:latin typeface="+mn-ea"/>
              </a:rPr>
              <a:t>, </a:t>
            </a:r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가치 판단</a:t>
            </a:r>
            <a:r>
              <a:rPr lang="en-US" altLang="ko-KR" sz="2800" b="1" dirty="0">
                <a:solidFill>
                  <a:srgbClr val="FFFF00"/>
                </a:solidFill>
                <a:latin typeface="+mn-ea"/>
              </a:rPr>
              <a:t>, </a:t>
            </a:r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도덕 </a:t>
            </a:r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판단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2331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도덕 판단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 가치 판단 중에서도 어떤 사람의 인품이나 행동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 smtClean="0">
                <a:latin typeface="+mn-ea"/>
              </a:rPr>
              <a:t>도덕적 </a:t>
            </a:r>
            <a:r>
              <a:rPr lang="ko-KR" altLang="en-US" sz="2400" dirty="0">
                <a:latin typeface="+mn-ea"/>
              </a:rPr>
              <a:t>상황 등에 관하여 도덕적 관점에서 내리는 </a:t>
            </a:r>
            <a:r>
              <a:rPr lang="ko-KR" altLang="en-US" sz="2400" dirty="0" smtClean="0">
                <a:latin typeface="+mn-ea"/>
              </a:rPr>
              <a:t>판단 </a:t>
            </a:r>
            <a:endParaRPr lang="en-US" altLang="ko-KR" sz="2400" dirty="0" smtClean="0"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2400" dirty="0" smtClean="0">
                <a:solidFill>
                  <a:srgbClr val="843C0C"/>
                </a:solidFill>
                <a:latin typeface="+mn-ea"/>
                <a:cs typeface="Arial"/>
                <a:sym typeface="Arial"/>
              </a:rPr>
              <a:t>(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  <a:cs typeface="Arial"/>
                <a:sym typeface="Arial"/>
              </a:rPr>
              <a:t>예</a:t>
            </a:r>
            <a:r>
              <a:rPr lang="en-US" altLang="ko-KR" sz="2400" dirty="0" smtClean="0">
                <a:solidFill>
                  <a:srgbClr val="843C0C"/>
                </a:solidFill>
                <a:latin typeface="+mn-ea"/>
                <a:cs typeface="Arial"/>
                <a:sym typeface="Arial"/>
              </a:rPr>
              <a:t>) </a:t>
            </a:r>
            <a:r>
              <a:rPr lang="ko-KR" altLang="en-US" sz="2400" dirty="0">
                <a:solidFill>
                  <a:srgbClr val="843C0C"/>
                </a:solidFill>
                <a:latin typeface="+mn-ea"/>
                <a:cs typeface="Arial"/>
                <a:sym typeface="Arial"/>
              </a:rPr>
              <a:t>멸종 </a:t>
            </a:r>
            <a:r>
              <a:rPr lang="ko-KR" altLang="en-US" sz="2400" dirty="0" err="1" smtClean="0">
                <a:solidFill>
                  <a:srgbClr val="843C0C"/>
                </a:solidFill>
                <a:latin typeface="+mn-ea"/>
                <a:cs typeface="Arial"/>
                <a:sym typeface="Arial"/>
              </a:rPr>
              <a:t>위기종을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  <a:cs typeface="Arial"/>
                <a:sym typeface="Arial"/>
              </a:rPr>
              <a:t> 보호하는 </a:t>
            </a:r>
            <a:r>
              <a:rPr lang="ko-KR" altLang="en-US" sz="2400" dirty="0">
                <a:solidFill>
                  <a:srgbClr val="843C0C"/>
                </a:solidFill>
                <a:latin typeface="+mn-ea"/>
                <a:cs typeface="Arial"/>
                <a:sym typeface="Arial"/>
              </a:rPr>
              <a:t>행동은 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  <a:cs typeface="Arial"/>
                <a:sym typeface="Arial"/>
              </a:rPr>
              <a:t>옳은 행동이다</a:t>
            </a:r>
            <a:r>
              <a:rPr lang="en-US" altLang="ko-KR" sz="2400" dirty="0" smtClean="0">
                <a:solidFill>
                  <a:srgbClr val="843C0C"/>
                </a:solidFill>
                <a:latin typeface="+mn-ea"/>
                <a:cs typeface="Arial"/>
                <a:sym typeface="Arial"/>
              </a:rPr>
              <a:t>.</a:t>
            </a:r>
            <a:endParaRPr lang="ko-KR" altLang="en-US" sz="2400" dirty="0">
              <a:solidFill>
                <a:srgbClr val="843C0C"/>
              </a:solidFill>
              <a:latin typeface="+mn-ea"/>
            </a:endParaRPr>
          </a:p>
        </p:txBody>
      </p:sp>
      <p:sp>
        <p:nvSpPr>
          <p:cNvPr id="12" name="타원 11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237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7400" y="1613182"/>
            <a:ext cx="54392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다음 내용이 해당하는 판단에 ∨표를 해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12" name="그림 11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19945"/>
            <a:ext cx="487174" cy="487174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19945"/>
            <a:ext cx="1087577" cy="495431"/>
            <a:chOff x="10075659" y="2003022"/>
            <a:chExt cx="1156006" cy="495431"/>
          </a:xfrm>
        </p:grpSpPr>
        <p:pic>
          <p:nvPicPr>
            <p:cNvPr id="18" name="그림 1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4047" y="2364150"/>
            <a:ext cx="10154913" cy="4176350"/>
          </a:xfrm>
          <a:prstGeom prst="rect">
            <a:avLst/>
          </a:prstGeom>
        </p:spPr>
      </p:pic>
      <p:grpSp>
        <p:nvGrpSpPr>
          <p:cNvPr id="4" name="그룹 3"/>
          <p:cNvGrpSpPr/>
          <p:nvPr/>
        </p:nvGrpSpPr>
        <p:grpSpPr>
          <a:xfrm>
            <a:off x="6785814" y="2629477"/>
            <a:ext cx="3736074" cy="4017793"/>
            <a:chOff x="6785814" y="2629477"/>
            <a:chExt cx="3736074" cy="4017793"/>
          </a:xfrm>
        </p:grpSpPr>
        <p:sp>
          <p:nvSpPr>
            <p:cNvPr id="23" name="TextBox 22"/>
            <p:cNvSpPr txBox="1"/>
            <p:nvPr/>
          </p:nvSpPr>
          <p:spPr>
            <a:xfrm>
              <a:off x="8346914" y="2629477"/>
              <a:ext cx="55026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4000" b="1" dirty="0" smtClean="0">
                  <a:solidFill>
                    <a:srgbClr val="0070C0"/>
                  </a:solidFill>
                  <a:latin typeface="+mn-ea"/>
                </a:rPr>
                <a:t>∨</a:t>
              </a:r>
              <a:endParaRPr lang="ko-KR" altLang="en-US" sz="4000" b="1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971622" y="2636202"/>
              <a:ext cx="55026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4000" b="1" dirty="0" smtClean="0">
                  <a:solidFill>
                    <a:srgbClr val="0070C0"/>
                  </a:solidFill>
                  <a:latin typeface="+mn-ea"/>
                </a:rPr>
                <a:t>∨</a:t>
              </a:r>
              <a:endParaRPr lang="ko-KR" altLang="en-US" sz="4000" b="1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351630" y="3378778"/>
              <a:ext cx="55026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4000" b="1" dirty="0" smtClean="0">
                  <a:solidFill>
                    <a:srgbClr val="0070C0"/>
                  </a:solidFill>
                  <a:latin typeface="+mn-ea"/>
                </a:rPr>
                <a:t>∨</a:t>
              </a:r>
              <a:endParaRPr lang="ko-KR" altLang="en-US" sz="4000" b="1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785814" y="4110923"/>
              <a:ext cx="55026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4000" b="1" dirty="0" smtClean="0">
                  <a:solidFill>
                    <a:srgbClr val="0070C0"/>
                  </a:solidFill>
                  <a:latin typeface="+mn-ea"/>
                </a:rPr>
                <a:t>∨</a:t>
              </a:r>
              <a:endParaRPr lang="ko-KR" altLang="en-US" sz="4000" b="1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785814" y="4860013"/>
              <a:ext cx="55026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4000" b="1" dirty="0" smtClean="0">
                  <a:solidFill>
                    <a:srgbClr val="0070C0"/>
                  </a:solidFill>
                  <a:latin typeface="+mn-ea"/>
                </a:rPr>
                <a:t>∨</a:t>
              </a:r>
              <a:endParaRPr lang="ko-KR" altLang="en-US" sz="4000" b="1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349272" y="5631607"/>
              <a:ext cx="55026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4000" b="1" dirty="0" smtClean="0">
                  <a:solidFill>
                    <a:srgbClr val="0070C0"/>
                  </a:solidFill>
                  <a:latin typeface="+mn-ea"/>
                </a:rPr>
                <a:t>∨</a:t>
              </a:r>
              <a:endParaRPr lang="ko-KR" altLang="en-US" sz="4000" b="1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971622" y="5604446"/>
              <a:ext cx="55026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4000" b="1" dirty="0" smtClean="0">
                  <a:solidFill>
                    <a:srgbClr val="0070C0"/>
                  </a:solidFill>
                  <a:latin typeface="+mn-ea"/>
                </a:rPr>
                <a:t>∨</a:t>
              </a:r>
              <a:endParaRPr lang="ko-KR" altLang="en-US" sz="4000" b="1" dirty="0">
                <a:solidFill>
                  <a:srgbClr val="0070C0"/>
                </a:solidFill>
                <a:latin typeface="+mn-ea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110134" y="1613183"/>
            <a:ext cx="1282388" cy="528524"/>
            <a:chOff x="10075659" y="2003022"/>
            <a:chExt cx="1178665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1837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7400" y="1613182"/>
            <a:ext cx="102933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다음 내용이 해당하는 판단에 ∨표를 해 보자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  <p:pic>
        <p:nvPicPr>
          <p:cNvPr id="12" name="그림 11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19945"/>
            <a:ext cx="487174" cy="487174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19945"/>
            <a:ext cx="1087577" cy="495431"/>
            <a:chOff x="10075659" y="2003022"/>
            <a:chExt cx="1156006" cy="495431"/>
          </a:xfrm>
        </p:grpSpPr>
        <p:pic>
          <p:nvPicPr>
            <p:cNvPr id="18" name="그림 1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4047" y="2364150"/>
            <a:ext cx="10154913" cy="41763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46914" y="2707858"/>
            <a:ext cx="550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3200" b="1" dirty="0" smtClean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∨</a:t>
            </a:r>
            <a:endParaRPr lang="ko-KR" altLang="en-US" sz="3200" b="1" dirty="0">
              <a:solidFill>
                <a:srgbClr val="0070C0"/>
              </a:solidFill>
              <a:latin typeface="Arial Rounded MT Bold" panose="020F0704030504030204" pitchFamily="34" charset="0"/>
              <a:ea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71622" y="2714583"/>
            <a:ext cx="550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3200" b="1" dirty="0" smtClean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∨</a:t>
            </a:r>
            <a:endParaRPr lang="ko-KR" altLang="en-US" sz="3200" b="1" dirty="0">
              <a:solidFill>
                <a:srgbClr val="0070C0"/>
              </a:solidFill>
              <a:latin typeface="Arial Rounded MT Bold" panose="020F0704030504030204" pitchFamily="34" charset="0"/>
              <a:ea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51630" y="3457159"/>
            <a:ext cx="550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3200" b="1" dirty="0" smtClean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∨</a:t>
            </a:r>
            <a:endParaRPr lang="ko-KR" altLang="en-US" sz="3200" b="1" dirty="0">
              <a:solidFill>
                <a:srgbClr val="0070C0"/>
              </a:solidFill>
              <a:latin typeface="Arial Rounded MT Bold" panose="020F0704030504030204" pitchFamily="34" charset="0"/>
              <a:ea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85814" y="4189304"/>
            <a:ext cx="550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3200" b="1" dirty="0" smtClean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∨</a:t>
            </a:r>
            <a:endParaRPr lang="ko-KR" altLang="en-US" sz="3200" b="1" dirty="0">
              <a:solidFill>
                <a:srgbClr val="0070C0"/>
              </a:solidFill>
              <a:latin typeface="Arial Rounded MT Bold" panose="020F0704030504030204" pitchFamily="34" charset="0"/>
              <a:ea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85814" y="4938394"/>
            <a:ext cx="550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3200" b="1" dirty="0" smtClean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∨</a:t>
            </a:r>
            <a:endParaRPr lang="ko-KR" altLang="en-US" sz="3200" b="1" dirty="0">
              <a:solidFill>
                <a:srgbClr val="0070C0"/>
              </a:solidFill>
              <a:latin typeface="Arial Rounded MT Bold" panose="020F0704030504030204" pitchFamily="34" charset="0"/>
              <a:ea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49272" y="5709988"/>
            <a:ext cx="550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3200" b="1" dirty="0" smtClean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∨</a:t>
            </a:r>
            <a:endParaRPr lang="ko-KR" altLang="en-US" sz="3200" b="1" dirty="0">
              <a:solidFill>
                <a:srgbClr val="0070C0"/>
              </a:solidFill>
              <a:latin typeface="Arial Rounded MT Bold" panose="020F0704030504030204" pitchFamily="34" charset="0"/>
              <a:ea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971622" y="5682827"/>
            <a:ext cx="550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3200" b="1" dirty="0" smtClean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∨</a:t>
            </a:r>
            <a:endParaRPr lang="ko-KR" altLang="en-US" sz="3200" b="1" dirty="0">
              <a:solidFill>
                <a:srgbClr val="0070C0"/>
              </a:solidFill>
              <a:latin typeface="Arial Rounded MT Bold" panose="020F0704030504030204" pitchFamily="34" charset="0"/>
              <a:ea typeface="+mn-ea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110134" y="1646275"/>
            <a:ext cx="1282388" cy="495431"/>
            <a:chOff x="10075659" y="2003022"/>
            <a:chExt cx="1178665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3" name="Google Shape;229;p6"/>
          <p:cNvSpPr/>
          <p:nvPr/>
        </p:nvSpPr>
        <p:spPr>
          <a:xfrm>
            <a:off x="0" y="3639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34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248168" y="827095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5" name="그림 34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622056" y="1200053"/>
            <a:ext cx="1282388" cy="495431"/>
            <a:chOff x="10075659" y="2003022"/>
            <a:chExt cx="1178665" cy="495431"/>
          </a:xfrm>
        </p:grpSpPr>
        <p:pic>
          <p:nvPicPr>
            <p:cNvPr id="48" name="그림 4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622055" y="2016924"/>
            <a:ext cx="109133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>
                <a:latin typeface="Arial Rounded MT Bold" panose="020F0704030504030204" pitchFamily="34" charset="0"/>
              </a:rPr>
              <a:t>내용이 여러 가지 판단에 해당하면</a:t>
            </a:r>
            <a:r>
              <a:rPr lang="en-US" altLang="ko-KR" sz="2000" dirty="0">
                <a:latin typeface="Arial Rounded MT Bold" panose="020F0704030504030204" pitchFamily="34" charset="0"/>
              </a:rPr>
              <a:t>, </a:t>
            </a:r>
            <a:r>
              <a:rPr lang="ko-KR" altLang="en-US" sz="2000" dirty="0">
                <a:latin typeface="Arial Rounded MT Bold" panose="020F0704030504030204" pitchFamily="34" charset="0"/>
              </a:rPr>
              <a:t>해당하는 판단에 모두 </a:t>
            </a:r>
            <a:r>
              <a:rPr lang="ko-KR" altLang="en-US" sz="2000" dirty="0" smtClean="0">
                <a:latin typeface="Arial Rounded MT Bold" panose="020F0704030504030204" pitchFamily="34" charset="0"/>
              </a:rPr>
              <a:t>표시해요</a:t>
            </a:r>
            <a:r>
              <a:rPr lang="en-US" altLang="ko-KR" sz="2000" dirty="0">
                <a:latin typeface="Arial Rounded MT Bold" panose="020F0704030504030204" pitchFamily="34" charset="0"/>
              </a:rPr>
              <a:t>.</a:t>
            </a:r>
            <a:endParaRPr lang="ko-KR" altLang="en-US" sz="20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538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1270000" y="3467100"/>
            <a:ext cx="8128000" cy="18957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</a:t>
            </a:r>
            <a:r>
              <a:rPr lang="ko-KR" altLang="en-US" sz="2000" b="1" dirty="0" smtClean="0">
                <a:latin typeface="+mj-ea"/>
                <a:ea typeface="+mj-ea"/>
              </a:rPr>
              <a:t>글을 읽어 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8800" y="1596520"/>
            <a:ext cx="1088310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윤희와 명호는 학교를 마치고 영화를 보기로 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그런데 보고 싶은 영화의 상영 시작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시간이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학교를 마치는 시간보다 이른 것밖에 없었다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b="1" spc="-150" dirty="0">
                <a:latin typeface="굴림" panose="020B0600000101010101" pitchFamily="50" charset="-127"/>
                <a:ea typeface="굴림" panose="020B0600000101010101" pitchFamily="50" charset="-127"/>
              </a:rPr>
              <a:t>윤희</a:t>
            </a:r>
            <a:r>
              <a:rPr lang="en-US" altLang="ko-KR" sz="2200" b="1" spc="-150" dirty="0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명호야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우리 조퇴하고 영화 보러 가자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부모님과 선생님께 아프다고 말하면 어때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b="1" spc="-150" dirty="0">
                <a:latin typeface="굴림" panose="020B0600000101010101" pitchFamily="50" charset="-127"/>
                <a:ea typeface="굴림" panose="020B0600000101010101" pitchFamily="50" charset="-127"/>
              </a:rPr>
              <a:t>명호</a:t>
            </a:r>
            <a:r>
              <a:rPr lang="en-US" altLang="ko-KR" sz="2200" b="1" spc="-150" dirty="0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아프지 않은데 아프다고 말하는 것은 옳지 않아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그것은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거짓말이잖아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18" name="타원 17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8738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</a:t>
            </a:r>
            <a:r>
              <a:rPr lang="ko-KR" altLang="en-US" sz="2000" b="1" dirty="0" smtClean="0">
                <a:latin typeface="+mj-ea"/>
                <a:ea typeface="+mj-ea"/>
              </a:rPr>
              <a:t>글을 읽어 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380" y="1500117"/>
            <a:ext cx="10203520" cy="4603680"/>
          </a:xfrm>
          <a:prstGeom prst="rect">
            <a:avLst/>
          </a:prstGeom>
        </p:spPr>
      </p:pic>
      <p:sp>
        <p:nvSpPr>
          <p:cNvPr id="13" name="타원 12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931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도덕적 추론의 방법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2331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도덕적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추론의 의미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>
                <a:latin typeface="+mn-ea"/>
              </a:rPr>
              <a:t>도덕적 추론</a:t>
            </a:r>
            <a:r>
              <a:rPr lang="en-US" altLang="ko-KR" sz="2400" b="1" dirty="0" smtClean="0">
                <a:latin typeface="+mn-ea"/>
              </a:rPr>
              <a:t>: </a:t>
            </a:r>
            <a:r>
              <a:rPr lang="ko-KR" altLang="en-US" sz="2400" dirty="0" smtClean="0">
                <a:latin typeface="+mn-ea"/>
              </a:rPr>
              <a:t>도덕적 </a:t>
            </a:r>
            <a:r>
              <a:rPr lang="ko-KR" altLang="en-US" sz="2400" dirty="0">
                <a:latin typeface="+mn-ea"/>
              </a:rPr>
              <a:t>문제 상황에서 합당한 이유나 근거를 들어 올바른 도덕 판단을 이끌어 내고 그 판단을 정당화하는 과정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올바른 도덕 판단을 내리려면 도덕적 추론이 필요함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7" name="타원 16">
            <a:hlinkClick r:id="" action="ppaction://hlinkshowjump?jump=next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hlinkClick r:id="rId5" action="ppaction://hlinksldjump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hlinkClick r:id="rId6" action="ppaction://hlinksldjump"/>
          </p:cNvPr>
          <p:cNvSpPr/>
          <p:nvPr/>
        </p:nvSpPr>
        <p:spPr>
          <a:xfrm>
            <a:off x="6556851" y="6270893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5370726" y="6283217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7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도덕적 추론의 방법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2331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도덕적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추론의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과정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모든 </a:t>
            </a:r>
            <a:r>
              <a:rPr lang="ko-KR" altLang="en-US" sz="2400" dirty="0">
                <a:latin typeface="+mn-ea"/>
              </a:rPr>
              <a:t>사람에게 보편적으로 적용되는 규범인 ‘도덕 </a:t>
            </a:r>
            <a:r>
              <a:rPr lang="ko-KR" altLang="en-US" sz="2400" dirty="0" err="1">
                <a:latin typeface="+mn-ea"/>
              </a:rPr>
              <a:t>원리’와</a:t>
            </a:r>
            <a:r>
              <a:rPr lang="ko-KR" altLang="en-US" sz="2400" dirty="0">
                <a:latin typeface="+mn-ea"/>
              </a:rPr>
              <a:t> 도덕적 문제 상황과 관련한 ‘사실 </a:t>
            </a:r>
            <a:r>
              <a:rPr lang="ko-KR" altLang="en-US" sz="2400" dirty="0" err="1">
                <a:latin typeface="+mn-ea"/>
              </a:rPr>
              <a:t>판단’을</a:t>
            </a:r>
            <a:r>
              <a:rPr lang="ko-KR" altLang="en-US" sz="2400" dirty="0">
                <a:latin typeface="+mn-ea"/>
              </a:rPr>
              <a:t> 찾고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 smtClean="0">
                <a:latin typeface="+mn-ea"/>
              </a:rPr>
              <a:t>타당한 </a:t>
            </a:r>
            <a:r>
              <a:rPr lang="ko-KR" altLang="en-US" sz="2400" dirty="0">
                <a:latin typeface="+mn-ea"/>
              </a:rPr>
              <a:t>도덕 원리와 </a:t>
            </a:r>
            <a:r>
              <a:rPr lang="ko-KR" altLang="en-US" sz="2400" dirty="0" smtClean="0">
                <a:latin typeface="+mn-ea"/>
              </a:rPr>
              <a:t>사실 </a:t>
            </a:r>
            <a:r>
              <a:rPr lang="ko-KR" altLang="en-US" sz="2400" dirty="0">
                <a:latin typeface="+mn-ea"/>
              </a:rPr>
              <a:t>판단을 근거로 올바른 </a:t>
            </a:r>
            <a:r>
              <a:rPr lang="ko-KR" altLang="en-US" sz="2400" dirty="0" smtClean="0">
                <a:latin typeface="+mn-ea"/>
              </a:rPr>
              <a:t>‘도덕 </a:t>
            </a:r>
            <a:r>
              <a:rPr lang="ko-KR" altLang="en-US" sz="2400" dirty="0" err="1" smtClean="0">
                <a:latin typeface="+mn-ea"/>
              </a:rPr>
              <a:t>판단’을</a:t>
            </a:r>
            <a:r>
              <a:rPr lang="ko-KR" altLang="en-US" sz="2400" dirty="0" smtClean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내려야 </a:t>
            </a:r>
            <a:r>
              <a:rPr lang="ko-KR" altLang="en-US" sz="2400" dirty="0" smtClean="0">
                <a:latin typeface="+mn-ea"/>
              </a:rPr>
              <a:t>함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sp>
        <p:nvSpPr>
          <p:cNvPr id="25" name="타원 24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hlinkClick r:id="rId6" action="ppaction://hlinksldjump"/>
          </p:cNvPr>
          <p:cNvSpPr/>
          <p:nvPr/>
        </p:nvSpPr>
        <p:spPr>
          <a:xfrm>
            <a:off x="6556851" y="6270893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hlinkClick r:id="" action="ppaction://hlinkshowjump?jump=previousslide"/>
          </p:cNvPr>
          <p:cNvSpPr/>
          <p:nvPr/>
        </p:nvSpPr>
        <p:spPr>
          <a:xfrm>
            <a:off x="5370726" y="628321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847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도덕적 추론의 방법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1706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도덕적 추론과 삼단 논법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>
                <a:latin typeface="+mn-ea"/>
              </a:rPr>
              <a:t>삼단 논법</a:t>
            </a:r>
            <a:r>
              <a:rPr lang="en-US" altLang="ko-KR" sz="2400" b="1" dirty="0" smtClean="0">
                <a:latin typeface="+mn-ea"/>
              </a:rPr>
              <a:t>:</a:t>
            </a:r>
            <a:r>
              <a:rPr lang="ko-KR" altLang="en-US" sz="2400" b="1" dirty="0" smtClean="0">
                <a:latin typeface="+mn-ea"/>
              </a:rPr>
              <a:t> </a:t>
            </a:r>
            <a:r>
              <a:rPr lang="ko-KR" altLang="en-US" sz="2400" dirty="0" smtClean="0">
                <a:latin typeface="+mn-ea"/>
              </a:rPr>
              <a:t>대전제와 소전제를 근거로 결론을 도출하는 추론 방법</a:t>
            </a:r>
            <a:endParaRPr lang="en-US" altLang="ko-KR" sz="2400" dirty="0" smtClean="0"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도덕적 추론은 삼단 논법과 구조가 같음</a:t>
            </a:r>
            <a:r>
              <a:rPr lang="en-US" altLang="ko-KR" sz="2400" dirty="0" smtClean="0">
                <a:latin typeface="+mn-ea"/>
              </a:rPr>
              <a:t>.</a:t>
            </a:r>
            <a:endParaRPr lang="ko-KR" altLang="en-US" sz="2400" dirty="0">
              <a:latin typeface="+mn-ea"/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052382"/>
              </p:ext>
            </p:extLst>
          </p:nvPr>
        </p:nvGraphicFramePr>
        <p:xfrm>
          <a:off x="6243776" y="3886183"/>
          <a:ext cx="5291619" cy="2124825"/>
        </p:xfrm>
        <a:graphic>
          <a:graphicData uri="http://schemas.openxmlformats.org/drawingml/2006/table">
            <a:tbl>
              <a:tblPr firstRow="1" bandRow="1"/>
              <a:tblGrid>
                <a:gridCol w="1003351">
                  <a:extLst>
                    <a:ext uri="{9D8B030D-6E8A-4147-A177-3AD203B41FA5}">
                      <a16:colId xmlns:a16="http://schemas.microsoft.com/office/drawing/2014/main" val="1307403752"/>
                    </a:ext>
                  </a:extLst>
                </a:gridCol>
                <a:gridCol w="4288268">
                  <a:extLst>
                    <a:ext uri="{9D8B030D-6E8A-4147-A177-3AD203B41FA5}">
                      <a16:colId xmlns:a16="http://schemas.microsoft.com/office/drawing/2014/main" val="3223802048"/>
                    </a:ext>
                  </a:extLst>
                </a:gridCol>
              </a:tblGrid>
              <a:tr h="708275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800" b="0" dirty="0" smtClean="0">
                          <a:latin typeface="+mn-ea"/>
                          <a:ea typeface="+mn-ea"/>
                        </a:rPr>
                        <a:t>도덕 </a:t>
                      </a:r>
                      <a:endParaRPr lang="en-US" altLang="ko-KR" sz="1800" b="0" dirty="0" smtClean="0">
                        <a:latin typeface="+mn-ea"/>
                        <a:ea typeface="+mn-ea"/>
                      </a:endParaRPr>
                    </a:p>
                    <a:p>
                      <a:pPr lvl="0" algn="ctr" latinLnBrk="1"/>
                      <a:r>
                        <a:rPr lang="ko-KR" altLang="en-US" sz="1800" b="0" dirty="0" smtClean="0">
                          <a:latin typeface="+mn-ea"/>
                          <a:ea typeface="+mn-ea"/>
                        </a:rPr>
                        <a:t>원리</a:t>
                      </a:r>
                      <a:endParaRPr lang="ko-KR" altLang="en-US" sz="18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800" dirty="0">
                        <a:solidFill>
                          <a:srgbClr val="0070C0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117230"/>
                  </a:ext>
                </a:extLst>
              </a:tr>
              <a:tr h="708275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800" b="0" dirty="0" smtClean="0">
                          <a:latin typeface="+mn-ea"/>
                          <a:ea typeface="+mn-ea"/>
                        </a:rPr>
                        <a:t>사실 </a:t>
                      </a:r>
                      <a:endParaRPr lang="en-US" altLang="ko-KR" sz="1800" b="0" dirty="0" smtClean="0">
                        <a:latin typeface="+mn-ea"/>
                        <a:ea typeface="+mn-ea"/>
                      </a:endParaRPr>
                    </a:p>
                    <a:p>
                      <a:pPr lvl="0" algn="ctr" latinLnBrk="1"/>
                      <a:r>
                        <a:rPr lang="ko-KR" altLang="en-US" sz="1800" b="0" dirty="0" smtClean="0">
                          <a:latin typeface="+mn-ea"/>
                          <a:ea typeface="+mn-ea"/>
                        </a:rPr>
                        <a:t>판단</a:t>
                      </a:r>
                      <a:endParaRPr lang="en-US" altLang="ko-KR" sz="1800" b="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609093"/>
                  </a:ext>
                </a:extLst>
              </a:tr>
              <a:tr h="708275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800" b="0" dirty="0" smtClean="0">
                          <a:latin typeface="+mn-ea"/>
                          <a:ea typeface="+mn-ea"/>
                        </a:rPr>
                        <a:t>도덕 </a:t>
                      </a:r>
                      <a:endParaRPr lang="en-US" altLang="ko-KR" sz="1800" b="0" dirty="0" smtClean="0">
                        <a:latin typeface="+mn-ea"/>
                        <a:ea typeface="+mn-ea"/>
                      </a:endParaRPr>
                    </a:p>
                    <a:p>
                      <a:pPr lvl="0" algn="ctr" latinLnBrk="1"/>
                      <a:r>
                        <a:rPr lang="ko-KR" altLang="en-US" sz="1800" b="0" dirty="0" smtClean="0">
                          <a:latin typeface="+mn-ea"/>
                          <a:ea typeface="+mn-ea"/>
                        </a:rPr>
                        <a:t>판단</a:t>
                      </a:r>
                      <a:endParaRPr lang="ko-KR" altLang="en-US" sz="18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78276"/>
                  </a:ext>
                </a:extLst>
              </a:tr>
            </a:tbl>
          </a:graphicData>
        </a:graphic>
      </p:graphicFrame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695404"/>
              </p:ext>
            </p:extLst>
          </p:nvPr>
        </p:nvGraphicFramePr>
        <p:xfrm>
          <a:off x="622056" y="3886183"/>
          <a:ext cx="5291619" cy="2124825"/>
        </p:xfrm>
        <a:graphic>
          <a:graphicData uri="http://schemas.openxmlformats.org/drawingml/2006/table">
            <a:tbl>
              <a:tblPr firstRow="1" bandRow="1"/>
              <a:tblGrid>
                <a:gridCol w="990626">
                  <a:extLst>
                    <a:ext uri="{9D8B030D-6E8A-4147-A177-3AD203B41FA5}">
                      <a16:colId xmlns:a16="http://schemas.microsoft.com/office/drawing/2014/main" val="1307403752"/>
                    </a:ext>
                  </a:extLst>
                </a:gridCol>
                <a:gridCol w="4300993">
                  <a:extLst>
                    <a:ext uri="{9D8B030D-6E8A-4147-A177-3AD203B41FA5}">
                      <a16:colId xmlns:a16="http://schemas.microsoft.com/office/drawing/2014/main" val="3223802048"/>
                    </a:ext>
                  </a:extLst>
                </a:gridCol>
              </a:tblGrid>
              <a:tr h="708275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800" b="0" dirty="0" smtClean="0">
                          <a:latin typeface="+mn-ea"/>
                          <a:ea typeface="+mn-ea"/>
                        </a:rPr>
                        <a:t>대전제</a:t>
                      </a:r>
                      <a:endParaRPr lang="ko-KR" altLang="en-US" sz="18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800" dirty="0">
                        <a:solidFill>
                          <a:srgbClr val="0070C0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117230"/>
                  </a:ext>
                </a:extLst>
              </a:tr>
              <a:tr h="708275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800" b="0" dirty="0" smtClean="0">
                          <a:latin typeface="+mn-ea"/>
                          <a:ea typeface="+mn-ea"/>
                        </a:rPr>
                        <a:t>소전제</a:t>
                      </a:r>
                      <a:endParaRPr lang="ko-KR" altLang="en-US" sz="18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609093"/>
                  </a:ext>
                </a:extLst>
              </a:tr>
              <a:tr h="708275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800" b="0" dirty="0" smtClean="0">
                          <a:latin typeface="+mn-ea"/>
                          <a:ea typeface="+mn-ea"/>
                        </a:rPr>
                        <a:t>결론</a:t>
                      </a:r>
                      <a:endParaRPr lang="ko-KR" altLang="en-US" sz="18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78276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39682" y="3933148"/>
            <a:ext cx="2019518" cy="61427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39683" y="4650239"/>
            <a:ext cx="2299208" cy="58912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39683" y="5402157"/>
            <a:ext cx="2022644" cy="553919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26706" y="3917233"/>
            <a:ext cx="2017721" cy="640923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32348" y="4678223"/>
            <a:ext cx="2012079" cy="561138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68972" y="5431689"/>
            <a:ext cx="1988155" cy="49898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2056" y="3309890"/>
            <a:ext cx="408964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dirty="0" smtClean="0">
                <a:solidFill>
                  <a:srgbClr val="843C0C"/>
                </a:solidFill>
                <a:latin typeface="+mn-ea"/>
              </a:rPr>
              <a:t>삼단 논법의 구조</a:t>
            </a:r>
            <a:endParaRPr lang="en-US" altLang="ko-KR" sz="2200" dirty="0">
              <a:solidFill>
                <a:srgbClr val="843C0C"/>
              </a:solidFill>
              <a:latin typeface="+mn-ea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161476" y="3345792"/>
            <a:ext cx="5299261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dirty="0" smtClean="0">
                <a:solidFill>
                  <a:srgbClr val="843C0C"/>
                </a:solidFill>
                <a:latin typeface="+mn-ea"/>
              </a:rPr>
              <a:t>도덕적 추론의 구조</a:t>
            </a:r>
            <a:endParaRPr lang="en-US" altLang="ko-KR" sz="2200" dirty="0">
              <a:solidFill>
                <a:srgbClr val="843C0C"/>
              </a:solidFill>
              <a:latin typeface="+mn-ea"/>
            </a:endParaRPr>
          </a:p>
        </p:txBody>
      </p:sp>
      <p:sp>
        <p:nvSpPr>
          <p:cNvPr id="39" name="타원 38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hlinkClick r:id="" action="ppaction://hlinkshowjump?jump=nextslide"/>
          </p:cNvPr>
          <p:cNvSpPr/>
          <p:nvPr/>
        </p:nvSpPr>
        <p:spPr>
          <a:xfrm>
            <a:off x="6556851" y="6270893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hlinkClick r:id="rId12" action="ppaction://hlinksldjump"/>
          </p:cNvPr>
          <p:cNvSpPr/>
          <p:nvPr/>
        </p:nvSpPr>
        <p:spPr>
          <a:xfrm>
            <a:off x="5370726" y="628321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98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2056" y="1510186"/>
            <a:ext cx="11028475" cy="5101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도덕적 추론을 할 때 주의할 점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일상에서는 도덕 원리나 사실 판단을 생략한 채 도덕 판단을 내리기도 함</a:t>
            </a:r>
            <a:r>
              <a:rPr lang="en-US" altLang="ko-KR" sz="2400" dirty="0">
                <a:latin typeface="+mn-ea"/>
              </a:rPr>
              <a:t>.</a:t>
            </a:r>
            <a:br>
              <a:rPr lang="en-US" altLang="ko-KR" sz="2400" dirty="0">
                <a:latin typeface="+mn-ea"/>
              </a:rPr>
            </a:br>
            <a:endParaRPr lang="en-US" altLang="ko-KR" sz="2400" dirty="0" smtClean="0"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endParaRPr lang="en-US" altLang="ko-KR" sz="2400" dirty="0">
              <a:solidFill>
                <a:srgbClr val="843C0C"/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endParaRPr lang="en-US" altLang="ko-KR" sz="2000" dirty="0">
              <a:solidFill>
                <a:srgbClr val="843C0C"/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endParaRPr lang="en-US" altLang="ko-KR" sz="2400" dirty="0" smtClean="0"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endParaRPr lang="en-US" altLang="ko-KR" sz="1400" dirty="0"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endParaRPr lang="en-US" altLang="ko-KR" sz="700" dirty="0" smtClean="0"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올바른 </a:t>
            </a:r>
            <a:r>
              <a:rPr lang="ko-KR" altLang="en-US" sz="2400" dirty="0">
                <a:latin typeface="+mn-ea"/>
              </a:rPr>
              <a:t>도덕 판단을 내리려면 생략된 도덕 원리나 사실 판단을 찾아낼 수 있어야 함</a:t>
            </a:r>
            <a:r>
              <a:rPr lang="en-US" altLang="ko-KR" sz="2400" dirty="0">
                <a:latin typeface="+mn-ea"/>
              </a:rPr>
              <a:t>.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도덕적 추론의 방법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" name="모서리가 둥근 직사각형 2"/>
          <p:cNvSpPr/>
          <p:nvPr/>
        </p:nvSpPr>
        <p:spPr>
          <a:xfrm>
            <a:off x="1163293" y="2844800"/>
            <a:ext cx="9976814" cy="22478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790648" y="2998459"/>
            <a:ext cx="765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843C0C"/>
                </a:solidFill>
                <a:latin typeface="+mn-ea"/>
              </a:rPr>
              <a:t>(</a:t>
            </a:r>
            <a:r>
              <a:rPr lang="ko-KR" altLang="en-US" b="1" dirty="0" smtClean="0">
                <a:solidFill>
                  <a:srgbClr val="843C0C"/>
                </a:solidFill>
                <a:latin typeface="+mn-ea"/>
              </a:rPr>
              <a:t>예</a:t>
            </a:r>
            <a:r>
              <a:rPr lang="en-US" altLang="ko-KR" b="1" dirty="0" smtClean="0">
                <a:solidFill>
                  <a:srgbClr val="843C0C"/>
                </a:solidFill>
                <a:latin typeface="+mn-ea"/>
              </a:rPr>
              <a:t>) </a:t>
            </a:r>
            <a:r>
              <a:rPr lang="ko-KR" altLang="en-US" b="1" dirty="0" smtClean="0">
                <a:solidFill>
                  <a:srgbClr val="843C0C"/>
                </a:solidFill>
                <a:latin typeface="+mn-ea"/>
              </a:rPr>
              <a:t>무단 </a:t>
            </a:r>
            <a:r>
              <a:rPr lang="ko-KR" altLang="en-US" b="1" dirty="0">
                <a:solidFill>
                  <a:srgbClr val="843C0C"/>
                </a:solidFill>
                <a:latin typeface="+mn-ea"/>
              </a:rPr>
              <a:t>횡단은 공공질서를 위반하는 행동이야</a:t>
            </a:r>
            <a:r>
              <a:rPr lang="en-US" altLang="ko-KR" b="1" dirty="0">
                <a:solidFill>
                  <a:srgbClr val="843C0C"/>
                </a:solidFill>
                <a:latin typeface="+mn-ea"/>
              </a:rPr>
              <a:t>. </a:t>
            </a:r>
            <a:r>
              <a:rPr lang="ko-KR" altLang="en-US" b="1" dirty="0" smtClean="0">
                <a:solidFill>
                  <a:srgbClr val="843C0C"/>
                </a:solidFill>
                <a:latin typeface="+mn-ea"/>
              </a:rPr>
              <a:t>무단 </a:t>
            </a:r>
            <a:r>
              <a:rPr lang="ko-KR" altLang="en-US" b="1" dirty="0">
                <a:solidFill>
                  <a:srgbClr val="843C0C"/>
                </a:solidFill>
                <a:latin typeface="+mn-ea"/>
              </a:rPr>
              <a:t>횡단은 옳지 않아</a:t>
            </a:r>
            <a:r>
              <a:rPr lang="en-US" altLang="ko-KR" b="1" dirty="0" smtClean="0">
                <a:solidFill>
                  <a:srgbClr val="843C0C"/>
                </a:solidFill>
                <a:latin typeface="+mn-ea"/>
              </a:rPr>
              <a:t>.</a:t>
            </a:r>
            <a:endParaRPr lang="ko-KR" altLang="en-US" b="1" dirty="0">
              <a:solidFill>
                <a:srgbClr val="843C0C"/>
              </a:solidFill>
              <a:latin typeface="+mn-ea"/>
            </a:endParaRPr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370212"/>
              </p:ext>
            </p:extLst>
          </p:nvPr>
        </p:nvGraphicFramePr>
        <p:xfrm>
          <a:off x="1790649" y="3521448"/>
          <a:ext cx="8741653" cy="1366576"/>
        </p:xfrm>
        <a:graphic>
          <a:graphicData uri="http://schemas.openxmlformats.org/drawingml/2006/table">
            <a:tbl>
              <a:tblPr firstRow="1" bandRow="1"/>
              <a:tblGrid>
                <a:gridCol w="997381">
                  <a:extLst>
                    <a:ext uri="{9D8B030D-6E8A-4147-A177-3AD203B41FA5}">
                      <a16:colId xmlns:a16="http://schemas.microsoft.com/office/drawing/2014/main" val="1307403752"/>
                    </a:ext>
                  </a:extLst>
                </a:gridCol>
                <a:gridCol w="7744272">
                  <a:extLst>
                    <a:ext uri="{9D8B030D-6E8A-4147-A177-3AD203B41FA5}">
                      <a16:colId xmlns:a16="http://schemas.microsoft.com/office/drawing/2014/main" val="3223802048"/>
                    </a:ext>
                  </a:extLst>
                </a:gridCol>
              </a:tblGrid>
              <a:tr h="452176">
                <a:tc>
                  <a:txBody>
                    <a:bodyPr/>
                    <a:lstStyle/>
                    <a:p>
                      <a:pPr lvl="0" algn="l"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800" dirty="0">
                        <a:solidFill>
                          <a:srgbClr val="0070C0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117230"/>
                  </a:ext>
                </a:extLst>
              </a:tr>
              <a:tr h="452176">
                <a:tc>
                  <a:txBody>
                    <a:bodyPr/>
                    <a:lstStyle/>
                    <a:p>
                      <a:pPr lvl="0" algn="l"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400" b="0" i="0" u="none" strike="noStrike" cap="none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무단 횡단은 공공질서를 위반하는 행동이다</a:t>
                      </a:r>
                      <a:r>
                        <a:rPr lang="en-US" altLang="ko-KR" sz="2400" b="0" i="0" u="none" strike="noStrike" cap="none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.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609093"/>
                  </a:ext>
                </a:extLst>
              </a:tr>
              <a:tr h="452176">
                <a:tc>
                  <a:txBody>
                    <a:bodyPr/>
                    <a:lstStyle/>
                    <a:p>
                      <a:pPr lvl="0" algn="l"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400" b="0" i="0" u="none" strike="noStrike" cap="none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무단 횡단은 옳지 않다</a:t>
                      </a:r>
                      <a:r>
                        <a:rPr lang="en-US" altLang="ko-KR" sz="2400" b="0" i="0" u="none" strike="noStrike" cap="none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.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78276"/>
                  </a:ext>
                </a:extLst>
              </a:tr>
            </a:tbl>
          </a:graphicData>
        </a:graphic>
      </p:graphicFrame>
      <p:pic>
        <p:nvPicPr>
          <p:cNvPr id="23" name="그림 2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6125" y="3581991"/>
            <a:ext cx="754941" cy="315791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6125" y="4064139"/>
            <a:ext cx="754941" cy="290362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6125" y="4500632"/>
            <a:ext cx="754940" cy="311988"/>
          </a:xfrm>
          <a:prstGeom prst="rect">
            <a:avLst/>
          </a:prstGeom>
        </p:spPr>
      </p:pic>
      <p:sp>
        <p:nvSpPr>
          <p:cNvPr id="33" name="타원 32">
            <a:hlinkClick r:id="rId8" action="ppaction://hlinksldjump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hlinkClick r:id="" action="ppaction://hlinkshowjump?jump=previous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6556851" y="6270893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hlinkClick r:id="rId9" action="ppaction://hlinksldjump"/>
          </p:cNvPr>
          <p:cNvSpPr/>
          <p:nvPr/>
        </p:nvSpPr>
        <p:spPr>
          <a:xfrm>
            <a:off x="5370726" y="628321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46678" y="2900844"/>
            <a:ext cx="1087577" cy="523220"/>
            <a:chOff x="10075659" y="1995840"/>
            <a:chExt cx="1156006" cy="523220"/>
          </a:xfrm>
        </p:grpSpPr>
        <p:pic>
          <p:nvPicPr>
            <p:cNvPr id="45" name="그림 4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60" y="1995840"/>
              <a:ext cx="11539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도덕 원리 </a:t>
              </a:r>
              <a:endParaRPr lang="en-US" altLang="ko-KR" sz="1400" b="1" dirty="0" smtClean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 sz="1400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보기</a:t>
              </a:r>
              <a:endParaRPr lang="ko-KR" altLang="en-US" sz="1400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2782732" y="3422643"/>
            <a:ext cx="6342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공공질서를 위반하는 행동은 옳지 않다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06469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7400" y="1613182"/>
            <a:ext cx="102933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다음 주장의 도덕적 추론 과정을 빈칸에 정리해 보자</a:t>
            </a:r>
            <a:r>
              <a:rPr lang="en-US" altLang="ko-KR" sz="2000" b="1" dirty="0">
                <a:latin typeface="+mn-ea"/>
              </a:rPr>
              <a:t>. 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12" name="그림 11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19945"/>
            <a:ext cx="487174" cy="487174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19945"/>
            <a:ext cx="1087577" cy="495431"/>
            <a:chOff x="10075659" y="2003022"/>
            <a:chExt cx="1156006" cy="495431"/>
          </a:xfrm>
        </p:grpSpPr>
        <p:pic>
          <p:nvPicPr>
            <p:cNvPr id="18" name="그림 1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1" name="직사각형 40"/>
          <p:cNvSpPr/>
          <p:nvPr/>
        </p:nvSpPr>
        <p:spPr>
          <a:xfrm>
            <a:off x="5643154" y="4850092"/>
            <a:ext cx="1280467" cy="3249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855511"/>
              </p:ext>
            </p:extLst>
          </p:nvPr>
        </p:nvGraphicFramePr>
        <p:xfrm>
          <a:off x="787399" y="3699984"/>
          <a:ext cx="7868922" cy="28786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8764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6990158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98847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2200" b="0" dirty="0" smtClean="0">
                          <a:latin typeface="+mn-ea"/>
                          <a:ea typeface="+mn-ea"/>
                        </a:rPr>
                        <a:t>도덕 </a:t>
                      </a:r>
                      <a:endParaRPr lang="en-US" altLang="ko-KR" sz="2200" b="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2200" b="0" dirty="0" smtClean="0">
                          <a:latin typeface="+mn-ea"/>
                          <a:ea typeface="+mn-ea"/>
                        </a:rPr>
                        <a:t>원리</a:t>
                      </a:r>
                      <a:endParaRPr lang="en-US" altLang="ko-KR" sz="22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r>
                        <a:rPr lang="ko-KR" altLang="en-US" sz="2200" b="0" dirty="0" smtClean="0">
                          <a:latin typeface="+mn-ea"/>
                          <a:ea typeface="+mn-ea"/>
                        </a:rPr>
                        <a:t>다른 사람에게 피해를 주는 행동은 </a:t>
                      </a:r>
                      <a:r>
                        <a:rPr lang="en-US" altLang="ko-KR" sz="2200" b="0" dirty="0" smtClean="0">
                          <a:latin typeface="+mn-ea"/>
                          <a:ea typeface="+mn-ea"/>
                        </a:rPr>
                        <a:t>(                    ).</a:t>
                      </a:r>
                      <a:endParaRPr lang="ko-KR" altLang="en-US" sz="22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98847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2200" b="0" dirty="0" smtClean="0">
                          <a:latin typeface="+mn-ea"/>
                          <a:ea typeface="+mn-ea"/>
                        </a:rPr>
                        <a:t>사실 </a:t>
                      </a:r>
                      <a:endParaRPr lang="en-US" altLang="ko-KR" sz="2200" b="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2200" b="0" dirty="0" smtClean="0">
                          <a:latin typeface="+mn-ea"/>
                          <a:ea typeface="+mn-ea"/>
                        </a:rPr>
                        <a:t>판단</a:t>
                      </a:r>
                      <a:endParaRPr lang="en-US" altLang="ko-KR" sz="2200" b="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r>
                        <a:rPr lang="en-US" altLang="ko-KR" sz="2200" b="0" dirty="0" smtClean="0">
                          <a:latin typeface="+mn-ea"/>
                          <a:ea typeface="+mn-ea"/>
                        </a:rPr>
                        <a:t>(                   )</a:t>
                      </a:r>
                      <a:r>
                        <a:rPr lang="ko-KR" altLang="en-US" sz="2200" b="0" dirty="0" smtClean="0">
                          <a:latin typeface="+mn-ea"/>
                          <a:ea typeface="+mn-ea"/>
                        </a:rPr>
                        <a:t>다른 사람에게 피해를 주는 행동이다</a:t>
                      </a:r>
                      <a:r>
                        <a:rPr lang="en-US" altLang="ko-KR" sz="2200" b="0" dirty="0" smtClean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22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  <a:tr h="90167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2200" b="0" dirty="0" smtClean="0">
                          <a:latin typeface="+mn-ea"/>
                          <a:ea typeface="+mn-ea"/>
                        </a:rPr>
                        <a:t>도덕 </a:t>
                      </a:r>
                      <a:endParaRPr lang="en-US" altLang="ko-KR" sz="2200" b="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2200" b="0" dirty="0" smtClean="0">
                          <a:latin typeface="+mn-ea"/>
                          <a:ea typeface="+mn-ea"/>
                        </a:rPr>
                        <a:t>판단</a:t>
                      </a:r>
                      <a:endParaRPr lang="ko-KR" altLang="en-US" sz="22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r>
                        <a:rPr lang="ko-KR" altLang="en-US" sz="2200" b="0" dirty="0" smtClean="0">
                          <a:latin typeface="+mn-ea"/>
                          <a:ea typeface="+mn-ea"/>
                        </a:rPr>
                        <a:t>수업 시간에 떠드는 것은 옳지 않다</a:t>
                      </a:r>
                      <a:r>
                        <a:rPr lang="en-US" altLang="ko-KR" sz="2200" b="0" dirty="0" smtClean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22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80683"/>
                  </a:ext>
                </a:extLst>
              </a:tr>
            </a:tbl>
          </a:graphicData>
        </a:graphic>
      </p:graphicFrame>
      <p:grpSp>
        <p:nvGrpSpPr>
          <p:cNvPr id="2" name="그룹 1"/>
          <p:cNvGrpSpPr/>
          <p:nvPr/>
        </p:nvGrpSpPr>
        <p:grpSpPr>
          <a:xfrm>
            <a:off x="1748965" y="3901688"/>
            <a:ext cx="6353635" cy="1704191"/>
            <a:chOff x="1748965" y="3901688"/>
            <a:chExt cx="6353635" cy="1704191"/>
          </a:xfrm>
        </p:grpSpPr>
        <p:sp>
          <p:nvSpPr>
            <p:cNvPr id="46" name="TextBox 45"/>
            <p:cNvSpPr txBox="1"/>
            <p:nvPr/>
          </p:nvSpPr>
          <p:spPr>
            <a:xfrm>
              <a:off x="5765800" y="3901688"/>
              <a:ext cx="2336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400" dirty="0" smtClean="0">
                  <a:solidFill>
                    <a:srgbClr val="0070C0"/>
                  </a:solidFill>
                  <a:latin typeface="+mn-ea"/>
                </a:rPr>
                <a:t>옳지 않다</a:t>
              </a:r>
              <a:endParaRPr lang="ko-KR" altLang="en-US" sz="24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748965" y="4774882"/>
              <a:ext cx="20449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수업 시간에 떠드는 것은 </a:t>
              </a:r>
            </a:p>
          </p:txBody>
        </p:sp>
      </p:grpSp>
      <p:pic>
        <p:nvPicPr>
          <p:cNvPr id="8" name="그림 7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21700" y="3170683"/>
            <a:ext cx="3257675" cy="3449787"/>
          </a:xfrm>
          <a:prstGeom prst="rect">
            <a:avLst/>
          </a:prstGeom>
        </p:spPr>
      </p:pic>
      <p:sp>
        <p:nvSpPr>
          <p:cNvPr id="43" name="모서리가 둥근 사각형 설명선 42"/>
          <p:cNvSpPr/>
          <p:nvPr/>
        </p:nvSpPr>
        <p:spPr>
          <a:xfrm>
            <a:off x="787401" y="2422758"/>
            <a:ext cx="7505700" cy="962453"/>
          </a:xfrm>
          <a:prstGeom prst="wedgeRoundRectCallout">
            <a:avLst>
              <a:gd name="adj1" fmla="val 59235"/>
              <a:gd name="adj2" fmla="val 44496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ko-KR" altLang="en-US" sz="20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수업 시간에 떠드는 것은 옳지 않아</a:t>
            </a:r>
            <a:r>
              <a:rPr lang="en-US" altLang="ko-KR" sz="20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endParaRPr lang="en-US" altLang="ko-KR" sz="2000" spc="-150" dirty="0" smtClean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0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왜냐하면 </a:t>
            </a:r>
            <a:r>
              <a:rPr lang="ko-KR" altLang="en-US" sz="20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그러한 행동은 다른 사람에게 피해를 주기 때문이야</a:t>
            </a:r>
            <a:r>
              <a:rPr lang="en-US" altLang="ko-KR" sz="20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675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7400" y="1613182"/>
            <a:ext cx="10293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n-ea"/>
              </a:rPr>
              <a:t>다음 </a:t>
            </a:r>
            <a:r>
              <a:rPr lang="en-US" altLang="ko-KR" sz="2000" b="1" dirty="0">
                <a:latin typeface="+mn-ea"/>
              </a:rPr>
              <a:t>(</a:t>
            </a:r>
            <a:r>
              <a:rPr lang="ko-KR" altLang="en-US" sz="2000" b="1" dirty="0">
                <a:latin typeface="+mn-ea"/>
              </a:rPr>
              <a:t>가</a:t>
            </a:r>
            <a:r>
              <a:rPr lang="en-US" altLang="ko-KR" sz="2000" b="1" dirty="0">
                <a:latin typeface="+mn-ea"/>
              </a:rPr>
              <a:t>), (</a:t>
            </a:r>
            <a:r>
              <a:rPr lang="ko-KR" altLang="en-US" sz="2000" b="1" dirty="0">
                <a:latin typeface="+mn-ea"/>
              </a:rPr>
              <a:t>나</a:t>
            </a:r>
            <a:r>
              <a:rPr lang="en-US" altLang="ko-KR" sz="2000" b="1" dirty="0">
                <a:latin typeface="+mn-ea"/>
              </a:rPr>
              <a:t>)</a:t>
            </a:r>
            <a:r>
              <a:rPr lang="ko-KR" altLang="en-US" sz="2000" b="1" dirty="0">
                <a:latin typeface="+mn-ea"/>
              </a:rPr>
              <a:t>의 빈칸에 생략된 내용을 채워 도덕적 추론을 완성해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12" name="그림 11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7526" y="2211625"/>
            <a:ext cx="487174" cy="487174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330050" y="2211625"/>
            <a:ext cx="1087577" cy="495431"/>
            <a:chOff x="10075659" y="2003022"/>
            <a:chExt cx="1156006" cy="495431"/>
          </a:xfrm>
        </p:grpSpPr>
        <p:pic>
          <p:nvPicPr>
            <p:cNvPr id="18" name="그림 1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1" name="직사각형 40"/>
          <p:cNvSpPr/>
          <p:nvPr/>
        </p:nvSpPr>
        <p:spPr>
          <a:xfrm>
            <a:off x="5643154" y="4850092"/>
            <a:ext cx="1280467" cy="3249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415954"/>
              </p:ext>
            </p:extLst>
          </p:nvPr>
        </p:nvGraphicFramePr>
        <p:xfrm>
          <a:off x="787399" y="2758876"/>
          <a:ext cx="10147301" cy="34641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4708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8342593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11547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2400" b="0" dirty="0" smtClean="0">
                          <a:latin typeface="+mn-ea"/>
                          <a:ea typeface="+mn-ea"/>
                        </a:rPr>
                        <a:t>도덕 원리</a:t>
                      </a:r>
                      <a:endParaRPr lang="en-US" altLang="ko-KR" sz="2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endParaRPr lang="ko-KR" altLang="en-US" sz="2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11547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2400" b="0" dirty="0" smtClean="0">
                          <a:latin typeface="+mn-ea"/>
                          <a:ea typeface="+mn-ea"/>
                        </a:rPr>
                        <a:t>사실 판단</a:t>
                      </a:r>
                      <a:endParaRPr lang="en-US" altLang="ko-KR" sz="2400" b="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r>
                        <a:rPr lang="ko-KR" altLang="en-US" sz="2400" b="0" spc="-150" dirty="0" smtClean="0">
                          <a:latin typeface="+mn-ea"/>
                          <a:ea typeface="+mn-ea"/>
                        </a:rPr>
                        <a:t>지각하는 것은 교칙을 어기는 것이다</a:t>
                      </a:r>
                      <a:r>
                        <a:rPr lang="en-US" altLang="ko-KR" sz="2400" b="0" spc="-150" dirty="0" smtClean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2400" b="0" spc="-1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  <a:tr h="11547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2400" b="0" dirty="0" smtClean="0">
                          <a:latin typeface="+mn-ea"/>
                          <a:ea typeface="+mn-ea"/>
                        </a:rPr>
                        <a:t>도덕 판단</a:t>
                      </a:r>
                      <a:endParaRPr lang="ko-KR" altLang="en-US" sz="2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r>
                        <a:rPr lang="ko-KR" altLang="en-US" sz="2400" b="0" dirty="0" smtClean="0">
                          <a:latin typeface="+mn-ea"/>
                          <a:ea typeface="+mn-ea"/>
                        </a:rPr>
                        <a:t>지각하는 것은 바람직하지 않다</a:t>
                      </a:r>
                      <a:r>
                        <a:rPr lang="en-US" altLang="ko-KR" sz="2400" b="0" dirty="0" smtClean="0">
                          <a:latin typeface="+mn-ea"/>
                          <a:ea typeface="+mn-ea"/>
                        </a:rPr>
                        <a:t>. </a:t>
                      </a:r>
                      <a:endParaRPr lang="ko-KR" altLang="en-US" sz="2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80683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87399" y="2153058"/>
            <a:ext cx="9618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smtClean="0">
                <a:latin typeface="+mn-ea"/>
              </a:rPr>
              <a:t>(</a:t>
            </a:r>
            <a:r>
              <a:rPr lang="ko-KR" altLang="en-US" sz="2000" dirty="0" smtClean="0">
                <a:latin typeface="+mn-ea"/>
              </a:rPr>
              <a:t>가</a:t>
            </a:r>
            <a:r>
              <a:rPr lang="en-US" altLang="ko-KR" sz="2000" dirty="0" smtClean="0">
                <a:latin typeface="+mn-ea"/>
              </a:rPr>
              <a:t>) </a:t>
            </a:r>
            <a:endParaRPr lang="ko-KR" altLang="en-US" sz="2000" dirty="0">
              <a:latin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11281" y="3003406"/>
            <a:ext cx="6342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교칙을 어기는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것은 바람직하지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않다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578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29" grpId="0"/>
      <p:bldP spid="29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7400" y="1613182"/>
            <a:ext cx="10293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n-ea"/>
              </a:rPr>
              <a:t>다음 </a:t>
            </a:r>
            <a:r>
              <a:rPr lang="en-US" altLang="ko-KR" sz="2000" b="1" dirty="0">
                <a:latin typeface="+mn-ea"/>
              </a:rPr>
              <a:t>(</a:t>
            </a:r>
            <a:r>
              <a:rPr lang="ko-KR" altLang="en-US" sz="2000" b="1" dirty="0">
                <a:latin typeface="+mn-ea"/>
              </a:rPr>
              <a:t>가</a:t>
            </a:r>
            <a:r>
              <a:rPr lang="en-US" altLang="ko-KR" sz="2000" b="1" dirty="0">
                <a:latin typeface="+mn-ea"/>
              </a:rPr>
              <a:t>), (</a:t>
            </a:r>
            <a:r>
              <a:rPr lang="ko-KR" altLang="en-US" sz="2000" b="1" dirty="0">
                <a:latin typeface="+mn-ea"/>
              </a:rPr>
              <a:t>나</a:t>
            </a:r>
            <a:r>
              <a:rPr lang="en-US" altLang="ko-KR" sz="2000" b="1" dirty="0">
                <a:latin typeface="+mn-ea"/>
              </a:rPr>
              <a:t>)</a:t>
            </a:r>
            <a:r>
              <a:rPr lang="ko-KR" altLang="en-US" sz="2000" b="1" dirty="0">
                <a:latin typeface="+mn-ea"/>
              </a:rPr>
              <a:t>의 빈칸에 생략된 내용을 채워 도덕적 추론을 완성해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12" name="그림 11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7526" y="2211625"/>
            <a:ext cx="487174" cy="487174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330050" y="2211625"/>
            <a:ext cx="1087577" cy="495431"/>
            <a:chOff x="10075659" y="2003022"/>
            <a:chExt cx="1156006" cy="495431"/>
          </a:xfrm>
        </p:grpSpPr>
        <p:pic>
          <p:nvPicPr>
            <p:cNvPr id="18" name="그림 1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1" name="직사각형 40"/>
          <p:cNvSpPr/>
          <p:nvPr/>
        </p:nvSpPr>
        <p:spPr>
          <a:xfrm>
            <a:off x="5643154" y="4850092"/>
            <a:ext cx="1280467" cy="3249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494082"/>
              </p:ext>
            </p:extLst>
          </p:nvPr>
        </p:nvGraphicFramePr>
        <p:xfrm>
          <a:off x="787399" y="2758876"/>
          <a:ext cx="10147301" cy="34641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4708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8342593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11547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2400" b="0" dirty="0" smtClean="0">
                          <a:latin typeface="+mn-ea"/>
                          <a:ea typeface="+mn-ea"/>
                        </a:rPr>
                        <a:t>도덕 원리</a:t>
                      </a:r>
                      <a:endParaRPr lang="en-US" altLang="ko-KR" sz="2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="0" spc="-150" dirty="0" smtClean="0">
                          <a:latin typeface="+mn-ea"/>
                          <a:ea typeface="+mn-ea"/>
                        </a:rPr>
                        <a:t>인권을 침해하는 행동은 옳지 않다</a:t>
                      </a:r>
                      <a:r>
                        <a:rPr lang="en-US" altLang="ko-KR" sz="2400" b="0" spc="-150" dirty="0" smtClean="0">
                          <a:latin typeface="+mn-ea"/>
                          <a:ea typeface="+mn-ea"/>
                        </a:rPr>
                        <a:t>. </a:t>
                      </a:r>
                      <a:endParaRPr lang="ko-KR" altLang="en-US" sz="2400" b="0" spc="-15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11547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2400" b="0" dirty="0" smtClean="0">
                          <a:latin typeface="+mn-ea"/>
                          <a:ea typeface="+mn-ea"/>
                        </a:rPr>
                        <a:t>사실 판단</a:t>
                      </a:r>
                      <a:endParaRPr lang="en-US" altLang="ko-KR" sz="2400" b="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endParaRPr lang="ko-KR" altLang="en-US" sz="2400" b="0" spc="-1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  <a:tr h="11547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2400" b="0" dirty="0" smtClean="0">
                          <a:latin typeface="+mn-ea"/>
                          <a:ea typeface="+mn-ea"/>
                        </a:rPr>
                        <a:t>도덕 판단</a:t>
                      </a:r>
                      <a:endParaRPr lang="ko-KR" altLang="en-US" sz="2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r>
                        <a:rPr lang="ko-KR" altLang="en-US" sz="2400" b="0" dirty="0" smtClean="0">
                          <a:latin typeface="+mn-ea"/>
                          <a:ea typeface="+mn-ea"/>
                        </a:rPr>
                        <a:t>인종 차별은 옳지 않다</a:t>
                      </a:r>
                      <a:r>
                        <a:rPr lang="en-US" altLang="ko-KR" sz="2400" b="0" dirty="0" smtClean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2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80683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87399" y="2153058"/>
            <a:ext cx="961893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smtClean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나</a:t>
            </a:r>
            <a:r>
              <a:rPr lang="en-US" altLang="ko-KR" sz="2000" dirty="0" smtClean="0">
                <a:latin typeface="+mn-ea"/>
              </a:rPr>
              <a:t>) </a:t>
            </a:r>
            <a:endParaRPr lang="ko-KR" altLang="en-US" sz="2000" dirty="0">
              <a:latin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594991" y="4193408"/>
            <a:ext cx="6342220" cy="575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인종 차별은 인권을 침해하는 행동이다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0" name="타원 29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31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29" grpId="0"/>
      <p:bldP spid="29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도덕적 추론을 검토하는 방법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사실 판단 검토하기</a:t>
            </a: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제시된 정보가 신뢰할 만한 전문성과 객관성을 갖추었는지 정보의 원천을 평가해야 함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2400" dirty="0">
                <a:solidFill>
                  <a:srgbClr val="843C0C"/>
                </a:solidFill>
                <a:latin typeface="+mn-ea"/>
              </a:rPr>
              <a:t>(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예</a:t>
            </a:r>
            <a:r>
              <a:rPr lang="en-US" altLang="ko-KR" sz="2400" dirty="0">
                <a:solidFill>
                  <a:srgbClr val="843C0C"/>
                </a:solidFill>
                <a:latin typeface="+mn-ea"/>
              </a:rPr>
              <a:t>) ‘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사형 제도는 범죄 예방 효과가 있다</a:t>
            </a:r>
            <a:r>
              <a:rPr lang="en-US" altLang="ko-KR" sz="2400" dirty="0">
                <a:solidFill>
                  <a:srgbClr val="843C0C"/>
                </a:solidFill>
                <a:latin typeface="+mn-ea"/>
              </a:rPr>
              <a:t>.’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라는 사실 판단을 검토하려면 그 정보가 신뢰할 만한 전문가나 객관적인 증거에서 비롯된 것인지 확인해야 함</a:t>
            </a:r>
            <a:r>
              <a:rPr lang="en-US" altLang="ko-KR" sz="2400" dirty="0">
                <a:solidFill>
                  <a:srgbClr val="843C0C"/>
                </a:solidFill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hlinkClick r:id="rId5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40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도덕적 추론을 검토하는 방법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288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도덕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원리 검토하기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>
                <a:latin typeface="+mn-ea"/>
              </a:rPr>
              <a:t>역할 </a:t>
            </a:r>
            <a:r>
              <a:rPr lang="ko-KR" altLang="en-US" sz="2400" b="1" dirty="0">
                <a:latin typeface="+mn-ea"/>
              </a:rPr>
              <a:t>교환 검사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입장을 바꾸어 나에게 도덕 원리가 적용된다고 생각했을 때 그 도덕 원리를 받아들일 수 있는지 확인해 보는 것</a:t>
            </a:r>
            <a:r>
              <a:rPr lang="en-US" altLang="ko-KR" sz="2400" dirty="0" smtClean="0">
                <a:latin typeface="+mn-ea"/>
              </a:rPr>
              <a:t>.</a:t>
            </a:r>
            <a:br>
              <a:rPr lang="en-US" altLang="ko-KR" sz="2400" dirty="0" smtClean="0">
                <a:latin typeface="+mn-ea"/>
              </a:rPr>
            </a:br>
            <a:r>
              <a:rPr lang="en-US" altLang="ko-KR" sz="2400" dirty="0" smtClean="0">
                <a:solidFill>
                  <a:srgbClr val="843C0C"/>
                </a:solidFill>
                <a:latin typeface="+mn-ea"/>
              </a:rPr>
              <a:t>(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예</a:t>
            </a:r>
            <a:r>
              <a:rPr lang="en-US" altLang="ko-KR" sz="2400" dirty="0" smtClean="0">
                <a:solidFill>
                  <a:srgbClr val="843C0C"/>
                </a:solidFill>
                <a:latin typeface="+mn-ea"/>
              </a:rPr>
              <a:t>)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 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‘바쁠 때는 새치기해도 된다</a:t>
            </a:r>
            <a:r>
              <a:rPr lang="en-US" altLang="ko-KR" sz="2400" dirty="0">
                <a:solidFill>
                  <a:srgbClr val="843C0C"/>
                </a:solidFill>
                <a:latin typeface="+mn-ea"/>
              </a:rPr>
              <a:t>.’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라는 도덕 원리에 대해 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“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어떤 사람이 바쁘다고 내 앞에서 새치기해도 나는 괜찮을까</a:t>
            </a:r>
            <a:r>
              <a:rPr lang="en-US" altLang="ko-KR" sz="2400" dirty="0">
                <a:solidFill>
                  <a:srgbClr val="843C0C"/>
                </a:solidFill>
                <a:latin typeface="+mn-ea"/>
              </a:rPr>
              <a:t>?”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라고 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물어보는 것</a:t>
            </a:r>
            <a:r>
              <a:rPr lang="en-US" altLang="ko-KR" sz="2400" dirty="0" smtClean="0">
                <a:solidFill>
                  <a:srgbClr val="843C0C"/>
                </a:solidFill>
                <a:latin typeface="+mn-ea"/>
              </a:rPr>
              <a:t>.</a:t>
            </a:r>
            <a:endParaRPr lang="en-US" altLang="ko-KR" sz="2400" dirty="0">
              <a:latin typeface="+mn-ea"/>
            </a:endParaRPr>
          </a:p>
        </p:txBody>
      </p:sp>
      <p:sp>
        <p:nvSpPr>
          <p:cNvPr id="33" name="타원 32">
            <a:hlinkClick r:id="" action="ppaction://hlinkshowjump?jump=previousslide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/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hlinkClick r:id="" action="ppaction://hlinkshowjump?jump=nextslide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2448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도덕적 추론을 검토하는 방법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288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도덕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원리 검토하기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 startAt="2"/>
            </a:pPr>
            <a:r>
              <a:rPr lang="ko-KR" altLang="en-US" sz="2400" b="1" dirty="0" smtClean="0">
                <a:latin typeface="+mn-ea"/>
              </a:rPr>
              <a:t>보편화 </a:t>
            </a:r>
            <a:r>
              <a:rPr lang="ko-KR" altLang="en-US" sz="2400" b="1" dirty="0">
                <a:latin typeface="+mn-ea"/>
              </a:rPr>
              <a:t>결과 검사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문제가 되는 도덕 원리를 모든 사람이 채택할 때 일어날 수 있는 결과를 예상하여 도덕 원리의 적절성을 검토하는 </a:t>
            </a:r>
            <a:r>
              <a:rPr lang="ko-KR" altLang="en-US" sz="2400" dirty="0" smtClean="0">
                <a:latin typeface="+mn-ea"/>
              </a:rPr>
              <a:t>것</a:t>
            </a:r>
            <a:r>
              <a:rPr lang="en-US" altLang="ko-KR" sz="2400" dirty="0" smtClean="0">
                <a:latin typeface="+mn-ea"/>
              </a:rPr>
              <a:t/>
            </a:r>
            <a:br>
              <a:rPr lang="en-US" altLang="ko-KR" sz="2400" dirty="0" smtClean="0">
                <a:latin typeface="+mn-ea"/>
              </a:rPr>
            </a:br>
            <a:r>
              <a:rPr lang="en-US" altLang="ko-KR" sz="2400" dirty="0">
                <a:solidFill>
                  <a:srgbClr val="843C0C"/>
                </a:solidFill>
                <a:latin typeface="+mn-ea"/>
              </a:rPr>
              <a:t>(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예</a:t>
            </a:r>
            <a:r>
              <a:rPr lang="en-US" altLang="ko-KR" sz="2400" dirty="0">
                <a:solidFill>
                  <a:srgbClr val="843C0C"/>
                </a:solidFill>
                <a:latin typeface="+mn-ea"/>
              </a:rPr>
              <a:t>)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 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‘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바쁠 때는 새치기해도 된다</a:t>
            </a:r>
            <a:r>
              <a:rPr lang="en-US" altLang="ko-KR" sz="2400" dirty="0">
                <a:solidFill>
                  <a:srgbClr val="843C0C"/>
                </a:solidFill>
                <a:latin typeface="+mn-ea"/>
              </a:rPr>
              <a:t>.’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라는 도덕 원리에 대해 “모든 사람이 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바쁘다고 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새치기하면 어떤 결과가 나타날까</a:t>
            </a:r>
            <a:r>
              <a:rPr lang="en-US" altLang="ko-KR" sz="2400" dirty="0">
                <a:solidFill>
                  <a:srgbClr val="843C0C"/>
                </a:solidFill>
                <a:latin typeface="+mn-ea"/>
              </a:rPr>
              <a:t>?”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라고 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물어보는 것</a:t>
            </a:r>
            <a:endParaRPr lang="en-US" altLang="ko-KR" sz="2400" dirty="0" smtClean="0">
              <a:latin typeface="+mn-ea"/>
            </a:endParaRPr>
          </a:p>
        </p:txBody>
      </p:sp>
      <p:sp>
        <p:nvSpPr>
          <p:cNvPr id="25" name="타원 24">
            <a:hlinkClick r:id="rId5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hlinkClick r:id="" action="ppaction://hlinkshowjump?jump=previous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730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31" y="2733847"/>
            <a:ext cx="3123488" cy="3622196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7400" y="1613182"/>
            <a:ext cx="10293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b="1" dirty="0">
                <a:latin typeface="+mn-ea"/>
              </a:rPr>
              <a:t>1. </a:t>
            </a:r>
            <a:r>
              <a:rPr lang="ko-KR" altLang="en-US" sz="2000" b="1" dirty="0">
                <a:latin typeface="+mn-ea"/>
              </a:rPr>
              <a:t>다음 학생의 도덕적 추론 과정을 완성해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12" name="그림 11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7526" y="1741725"/>
            <a:ext cx="487174" cy="487174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330050" y="1741725"/>
            <a:ext cx="1087577" cy="495431"/>
            <a:chOff x="10075659" y="2003022"/>
            <a:chExt cx="1156006" cy="495431"/>
          </a:xfrm>
        </p:grpSpPr>
        <p:pic>
          <p:nvPicPr>
            <p:cNvPr id="18" name="그림 1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1" name="직사각형 40"/>
          <p:cNvSpPr/>
          <p:nvPr/>
        </p:nvSpPr>
        <p:spPr>
          <a:xfrm>
            <a:off x="5643154" y="4850092"/>
            <a:ext cx="1280467" cy="3249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054512"/>
              </p:ext>
            </p:extLst>
          </p:nvPr>
        </p:nvGraphicFramePr>
        <p:xfrm>
          <a:off x="3238500" y="3478187"/>
          <a:ext cx="7696200" cy="25416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3600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6832600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8472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2400" b="0" dirty="0" smtClean="0">
                          <a:latin typeface="+mn-ea"/>
                          <a:ea typeface="+mn-ea"/>
                        </a:rPr>
                        <a:t>도덕 원리</a:t>
                      </a:r>
                      <a:endParaRPr lang="en-US" altLang="ko-KR" sz="2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400" b="0" spc="-15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8472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2400" b="0" dirty="0" smtClean="0">
                          <a:latin typeface="+mn-ea"/>
                          <a:ea typeface="+mn-ea"/>
                        </a:rPr>
                        <a:t>사실 판단</a:t>
                      </a:r>
                      <a:endParaRPr lang="en-US" altLang="ko-KR" sz="2400" b="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endParaRPr lang="ko-KR" altLang="en-US" sz="2400" b="0" spc="-1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  <a:tr h="8472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2400" b="0" dirty="0" smtClean="0">
                          <a:latin typeface="+mn-ea"/>
                          <a:ea typeface="+mn-ea"/>
                        </a:rPr>
                        <a:t>도덕 판단</a:t>
                      </a:r>
                      <a:endParaRPr lang="ko-KR" altLang="en-US" sz="2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endParaRPr lang="ko-KR" altLang="en-US" sz="2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80683"/>
                  </a:ext>
                </a:extLst>
              </a:tr>
            </a:tbl>
          </a:graphicData>
        </a:graphic>
      </p:graphicFrame>
      <p:sp>
        <p:nvSpPr>
          <p:cNvPr id="21" name="모서리가 둥근 사각형 설명선 20"/>
          <p:cNvSpPr/>
          <p:nvPr/>
        </p:nvSpPr>
        <p:spPr>
          <a:xfrm>
            <a:off x="3238500" y="2372317"/>
            <a:ext cx="7696200" cy="859425"/>
          </a:xfrm>
          <a:prstGeom prst="wedgeRoundRectCallout">
            <a:avLst>
              <a:gd name="adj1" fmla="val -57009"/>
              <a:gd name="adj2" fmla="val 3789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ko-KR" altLang="en-US" sz="20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동한이는 나와 한 약속을 안 </a:t>
            </a:r>
            <a:r>
              <a:rPr lang="ko-KR" altLang="en-US" sz="2000" spc="-150" dirty="0" err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지켰어</a:t>
            </a:r>
            <a:r>
              <a:rPr lang="en-US" altLang="ko-KR" sz="20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0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나는 </a:t>
            </a:r>
            <a:r>
              <a:rPr lang="ko-KR" altLang="en-US" sz="2000" spc="-150" dirty="0" err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동한이를</a:t>
            </a:r>
            <a:r>
              <a:rPr lang="ko-KR" altLang="en-US" sz="20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괴롭혀도 돼</a:t>
            </a:r>
            <a:r>
              <a:rPr lang="en-US" altLang="ko-KR" sz="20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4113507" y="3589046"/>
            <a:ext cx="6343193" cy="2344674"/>
            <a:chOff x="4113507" y="3589046"/>
            <a:chExt cx="6343193" cy="2344674"/>
          </a:xfrm>
        </p:grpSpPr>
        <p:sp>
          <p:nvSpPr>
            <p:cNvPr id="29" name="TextBox 28"/>
            <p:cNvSpPr txBox="1"/>
            <p:nvPr/>
          </p:nvSpPr>
          <p:spPr>
            <a:xfrm>
              <a:off x="4114480" y="3589046"/>
              <a:ext cx="63422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약속을 안 지킨 사람은 괴롭혀도 된다</a:t>
              </a:r>
              <a:r>
                <a:rPr lang="en-US" altLang="ko-KR" sz="2400" dirty="0">
                  <a:solidFill>
                    <a:srgbClr val="0070C0"/>
                  </a:solidFill>
                  <a:latin typeface="+mn-ea"/>
                </a:rPr>
                <a:t>.</a:t>
              </a:r>
              <a:endParaRPr lang="ko-KR" altLang="en-US" sz="24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113507" y="4439938"/>
              <a:ext cx="63422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동한이는 약속을 안 지킨 </a:t>
              </a:r>
              <a:r>
                <a:rPr lang="ko-KR" altLang="en-US" sz="2400" dirty="0" smtClean="0">
                  <a:solidFill>
                    <a:srgbClr val="0070C0"/>
                  </a:solidFill>
                  <a:latin typeface="+mn-ea"/>
                </a:rPr>
                <a:t>사람이다</a:t>
              </a:r>
              <a:r>
                <a:rPr lang="en-US" altLang="ko-KR" sz="2400" dirty="0" smtClean="0">
                  <a:solidFill>
                    <a:srgbClr val="0070C0"/>
                  </a:solidFill>
                  <a:latin typeface="+mn-ea"/>
                </a:rPr>
                <a:t>.</a:t>
              </a:r>
              <a:endParaRPr lang="ko-KR" altLang="en-US" sz="24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113507" y="5287389"/>
              <a:ext cx="63422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동한이는 괴롭혀도 된다</a:t>
              </a:r>
              <a:r>
                <a:rPr lang="en-US" altLang="ko-KR" sz="2400" dirty="0">
                  <a:solidFill>
                    <a:srgbClr val="0070C0"/>
                  </a:solidFill>
                  <a:latin typeface="+mn-ea"/>
                </a:rPr>
                <a:t>.</a:t>
              </a:r>
              <a:endParaRPr lang="ko-KR" altLang="en-US" sz="2400" dirty="0">
                <a:solidFill>
                  <a:srgbClr val="0070C0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4183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7400" y="1613182"/>
            <a:ext cx="10293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b="1" dirty="0" smtClean="0">
                <a:latin typeface="+mn-ea"/>
              </a:rPr>
              <a:t>2. </a:t>
            </a:r>
            <a:r>
              <a:rPr lang="ko-KR" altLang="en-US" sz="2000" b="1" dirty="0">
                <a:latin typeface="+mn-ea"/>
              </a:rPr>
              <a:t>역할 교환 검사와 보편화 결과 검사를 활용하여 </a:t>
            </a:r>
            <a:r>
              <a:rPr lang="en-US" altLang="ko-KR" sz="2000" b="1" dirty="0">
                <a:latin typeface="+mn-ea"/>
              </a:rPr>
              <a:t>1</a:t>
            </a:r>
            <a:r>
              <a:rPr lang="ko-KR" altLang="en-US" sz="2000" b="1" dirty="0">
                <a:latin typeface="+mn-ea"/>
              </a:rPr>
              <a:t>에서 답한 도덕 원리를 검토해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12" name="그림 11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7526" y="2211625"/>
            <a:ext cx="487174" cy="487174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330050" y="2211625"/>
            <a:ext cx="1087577" cy="495431"/>
            <a:chOff x="10075659" y="2003022"/>
            <a:chExt cx="1156006" cy="495431"/>
          </a:xfrm>
        </p:grpSpPr>
        <p:pic>
          <p:nvPicPr>
            <p:cNvPr id="18" name="그림 1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1" name="직사각형 40"/>
          <p:cNvSpPr/>
          <p:nvPr/>
        </p:nvSpPr>
        <p:spPr>
          <a:xfrm>
            <a:off x="5643154" y="4850092"/>
            <a:ext cx="1280467" cy="3249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787399" y="2197009"/>
            <a:ext cx="2757191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+mn-ea"/>
              </a:rPr>
              <a:t>역할 교환 검사</a:t>
            </a:r>
            <a:endParaRPr lang="ko-KR" altLang="en-US" sz="2000" dirty="0">
              <a:latin typeface="+mn-ea"/>
            </a:endParaRPr>
          </a:p>
        </p:txBody>
      </p:sp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761819"/>
            <a:ext cx="10293350" cy="1302181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5588" y="2782688"/>
            <a:ext cx="9784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내가 약속을 안 지켰다고 해서 누군가가 나를 괴롭혀도 괜찮다는 도덕 원리에는 동의할 수 없다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pic>
        <p:nvPicPr>
          <p:cNvPr id="35" name="그림 3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7526" y="4239859"/>
            <a:ext cx="487174" cy="487174"/>
          </a:xfrm>
          <a:prstGeom prst="rect">
            <a:avLst/>
          </a:prstGeom>
        </p:spPr>
      </p:pic>
      <p:grpSp>
        <p:nvGrpSpPr>
          <p:cNvPr id="36" name="그룹 3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330050" y="4239859"/>
            <a:ext cx="1087577" cy="495431"/>
            <a:chOff x="10075659" y="2003022"/>
            <a:chExt cx="1156006" cy="495431"/>
          </a:xfrm>
        </p:grpSpPr>
        <p:pic>
          <p:nvPicPr>
            <p:cNvPr id="37" name="그림 3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87399" y="4225243"/>
            <a:ext cx="4622801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보편화 결과 검사</a:t>
            </a:r>
          </a:p>
        </p:txBody>
      </p: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4790053"/>
            <a:ext cx="10293350" cy="1302181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65588" y="4810922"/>
            <a:ext cx="9784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모든 사람이 약속을 안 지킨 사람을 괴롭혀도 된다면 우리 사회는 혼란에 빠질 것이다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32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</p:childTnLst>
        </p:cTn>
      </p:par>
    </p:tnLst>
    <p:bldLst>
      <p:bldP spid="24" grpId="0"/>
      <p:bldP spid="24" grpId="1"/>
      <p:bldP spid="42" grpId="0"/>
      <p:bldP spid="42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7400" y="1613182"/>
            <a:ext cx="10293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b="1" dirty="0" smtClean="0">
                <a:latin typeface="+mn-ea"/>
              </a:rPr>
              <a:t>2. </a:t>
            </a:r>
            <a:r>
              <a:rPr lang="ko-KR" altLang="en-US" sz="2000" b="1" dirty="0">
                <a:latin typeface="+mn-ea"/>
              </a:rPr>
              <a:t>역할 교환 검사와 보편화 결과 검사를 활용하여 </a:t>
            </a:r>
            <a:r>
              <a:rPr lang="en-US" altLang="ko-KR" sz="2000" b="1" dirty="0">
                <a:latin typeface="+mn-ea"/>
              </a:rPr>
              <a:t>1</a:t>
            </a:r>
            <a:r>
              <a:rPr lang="ko-KR" altLang="en-US" sz="2000" b="1" dirty="0">
                <a:latin typeface="+mn-ea"/>
              </a:rPr>
              <a:t>에서 답한 도덕 원리를 검토해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12" name="그림 11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7526" y="2211625"/>
            <a:ext cx="487174" cy="487174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330050" y="2211625"/>
            <a:ext cx="1087577" cy="495431"/>
            <a:chOff x="10075659" y="2003022"/>
            <a:chExt cx="1156006" cy="495431"/>
          </a:xfrm>
        </p:grpSpPr>
        <p:pic>
          <p:nvPicPr>
            <p:cNvPr id="18" name="그림 1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0" name="타원 29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821553"/>
            <a:ext cx="10293350" cy="1070353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61155" y="2935845"/>
            <a:ext cx="97841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ko-KR" altLang="en-US" sz="2400" dirty="0" smtClean="0">
                <a:latin typeface="+mn-ea"/>
              </a:rPr>
              <a:t>검토 결과</a:t>
            </a:r>
            <a:r>
              <a:rPr lang="en-US" altLang="ko-KR" sz="2400" dirty="0" smtClean="0">
                <a:latin typeface="+mn-ea"/>
              </a:rPr>
              <a:t>, </a:t>
            </a:r>
            <a:r>
              <a:rPr lang="ko-KR" altLang="en-US" sz="2400" dirty="0" smtClean="0">
                <a:latin typeface="+mn-ea"/>
              </a:rPr>
              <a:t>이 도덕 원리는 </a:t>
            </a:r>
            <a:r>
              <a:rPr lang="en-US" altLang="ko-KR" sz="2400" dirty="0" smtClean="0">
                <a:latin typeface="+mn-ea"/>
              </a:rPr>
              <a:t>(   </a:t>
            </a:r>
            <a:r>
              <a:rPr lang="ko-KR" altLang="en-US" sz="2400" dirty="0" smtClean="0">
                <a:latin typeface="+mn-ea"/>
              </a:rPr>
              <a:t>적절하다  </a:t>
            </a:r>
            <a:r>
              <a:rPr lang="en-US" altLang="ko-KR" sz="2400" dirty="0" smtClean="0">
                <a:latin typeface="+mn-ea"/>
              </a:rPr>
              <a:t>/   </a:t>
            </a:r>
            <a:r>
              <a:rPr lang="ko-KR" altLang="en-US" sz="2400" dirty="0" smtClean="0">
                <a:latin typeface="+mn-ea"/>
              </a:rPr>
              <a:t>적절하지 않다   </a:t>
            </a:r>
            <a:r>
              <a:rPr lang="en-US" altLang="ko-KR" sz="2400" dirty="0" smtClean="0">
                <a:latin typeface="+mn-ea"/>
              </a:rPr>
              <a:t>).</a:t>
            </a:r>
            <a:endParaRPr lang="ko-KR" altLang="en-US" sz="2400" dirty="0">
              <a:latin typeface="+mn-ea"/>
            </a:endParaRPr>
          </a:p>
        </p:txBody>
      </p:sp>
      <p:sp>
        <p:nvSpPr>
          <p:cNvPr id="4" name="타원 3"/>
          <p:cNvSpPr/>
          <p:nvPr/>
        </p:nvSpPr>
        <p:spPr>
          <a:xfrm>
            <a:off x="7035800" y="3035300"/>
            <a:ext cx="2159000" cy="755006"/>
          </a:xfrm>
          <a:prstGeom prst="ellipse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9624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3527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다음 개념을 잘 이해했는지 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V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표를 하며 점검하고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이 단원을 배우며 새롭게 알게 된 점을 써 보자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.</a:t>
            </a:r>
          </a:p>
        </p:txBody>
      </p:sp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608700"/>
            <a:ext cx="8522936" cy="3020700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3" name="그림 2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623278"/>
            <a:ext cx="487174" cy="487174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623278"/>
            <a:ext cx="1087577" cy="495431"/>
            <a:chOff x="10075659" y="2003022"/>
            <a:chExt cx="1156006" cy="495431"/>
          </a:xfrm>
        </p:grpSpPr>
        <p:pic>
          <p:nvPicPr>
            <p:cNvPr id="25" name="그림 2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935915" y="4228783"/>
            <a:ext cx="81650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도덕적 추론을 통해 내린 도덕 판단이 올바른지 확인하기 위해서는 역할 교환 검사나 보편화 결과 검사와 같은 다양한 방법을 활용해 도덕 원리가 적절한지 검토해야 한다는 것을 알게 되었다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29" name="그룹 28"/>
          <p:cNvGrpSpPr/>
          <p:nvPr/>
        </p:nvGrpSpPr>
        <p:grpSpPr>
          <a:xfrm>
            <a:off x="936087" y="3636267"/>
            <a:ext cx="2378614" cy="458932"/>
            <a:chOff x="877165" y="3739778"/>
            <a:chExt cx="1328154" cy="458932"/>
          </a:xfrm>
        </p:grpSpPr>
        <p:sp>
          <p:nvSpPr>
            <p:cNvPr id="30" name="모서리가 둥근 직사각형 29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48928" y="3739778"/>
              <a:ext cx="1224117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새롭게 알게 된 점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1" y="2537262"/>
            <a:ext cx="2362200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35916" y="2463566"/>
            <a:ext cx="2105164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사실 판단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3473824" y="2537262"/>
            <a:ext cx="2362200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622339" y="2463566"/>
            <a:ext cx="21051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가치 판단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5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6195430" y="2545305"/>
            <a:ext cx="2362200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343945" y="2471609"/>
            <a:ext cx="2105164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도덕 판단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7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8912875" y="2522059"/>
            <a:ext cx="2362200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061390" y="2448363"/>
            <a:ext cx="21051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도덕적 추론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2232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7" grpId="0"/>
      <p:bldP spid="27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117600" y="2086984"/>
            <a:ext cx="9956800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“</a:t>
            </a:r>
            <a:r>
              <a:rPr lang="en-US" altLang="ko-KR" sz="2800" b="1" spc="-150" dirty="0" smtClean="0">
                <a:solidFill>
                  <a:schemeClr val="tx1"/>
                </a:solidFill>
                <a:latin typeface="+mn-ea"/>
              </a:rPr>
              <a:t>2. </a:t>
            </a:r>
            <a:r>
              <a:rPr lang="ko-KR" altLang="en-US" sz="2800" b="1" spc="-150" dirty="0" smtClean="0">
                <a:solidFill>
                  <a:schemeClr val="tx1"/>
                </a:solidFill>
                <a:latin typeface="+mn-ea"/>
              </a:rPr>
              <a:t>삶과 죽음 </a:t>
            </a:r>
            <a:r>
              <a:rPr lang="en-US" altLang="ko-KR" sz="2800" b="1" spc="-150" dirty="0" smtClean="0">
                <a:solidFill>
                  <a:schemeClr val="tx1"/>
                </a:solidFill>
                <a:latin typeface="+mn-ea"/>
              </a:rPr>
              <a:t>– 01. </a:t>
            </a:r>
            <a:r>
              <a:rPr lang="ko-KR" altLang="en-US" sz="2800" b="1" spc="-150" dirty="0" smtClean="0">
                <a:solidFill>
                  <a:schemeClr val="tx1"/>
                </a:solidFill>
                <a:latin typeface="+mn-ea"/>
              </a:rPr>
              <a:t>삶과 죽음을 어떻게 생각해야 할까</a:t>
            </a:r>
            <a:r>
              <a:rPr lang="en-US" altLang="ko-KR" sz="2800" b="1" spc="-150" dirty="0" smtClean="0">
                <a:solidFill>
                  <a:schemeClr val="tx1"/>
                </a:solidFill>
                <a:latin typeface="+mn-ea"/>
              </a:rPr>
              <a:t>?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”</a:t>
            </a:r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를 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28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사실 판단, 가치 판단, 도덕 판단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사실 </a:t>
            </a:r>
            <a:r>
              <a:rPr sz="2400" b="1">
                <a:solidFill>
                  <a:srgbClr val="843C0C"/>
                </a:solidFill>
              </a:rPr>
              <a:t> 판단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참이나 거짓을 객관적으로 확인할 수 있는 판단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수달은 멸종 위기종이다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가치 </a:t>
            </a:r>
            <a:r>
              <a:rPr sz="2400" b="1">
                <a:solidFill>
                  <a:srgbClr val="843C0C"/>
                </a:solidFill>
              </a:rPr>
              <a:t> 판단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좋고 싫음, 아름다움과 추함, 옳고 그름 등과 같은 가치에 관한 판단으로, 사람에 따라 다른 판단을 내릴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수달이 귀엽다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도덕 </a:t>
            </a:r>
            <a:r>
              <a:rPr sz="2400" b="1">
                <a:solidFill>
                  <a:srgbClr val="843C0C"/>
                </a:solidFill>
              </a:rPr>
              <a:t> 판단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가치 판단 중 어떤 사람의 인품, 행동, 도덕적 상황 등에 관하여 도덕적 관점에서 내리는 판단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멸종 위기종을 보호하는 행동은 옳은 행동이다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사실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판단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참이나 거짓을 객관적으로 확인할 수 있는 판단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수달은 멸종 위기종이다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가치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판단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좋고 싫음, 아름다움과 추함, 옳고 그름 등과 같은 가치에 관한 판단으로, 사람에 따라 다른 판단을 내릴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수달이 귀엽다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판단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가치 판단 중 어떤 사람의 인품, 행동, 도덕적 상황 등에 관하여 도덕적 관점에서 내리는 판단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멸종 위기종을 보호하는 행동은 옳은 행동이다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사실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판단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참이나 거짓을 객관적으로 확인할 수 있는 판단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수달은 멸종 위기종이다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가치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판단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좋고 싫음, 아름다움과 추함, 옳고 그름 등과 같은 가치에 관한 판단으로, 사람에 따라 다른 판단을 내릴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수달이 귀엽다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판단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가치 판단 중 어떤 사람의 인품, 행동, 도덕적 상황 등에 관하여 도덕적 관점에서 내리는 판단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멸종 위기종을 보호하는 행동은 옳은 행동이다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사실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판단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참이나 거짓을 객관적으로 확인할 수 있는 판단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수달은 멸종 위기종이다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가치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판단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좋고 싫음, 아름다움과 추함, 옳고 그름 등과 같은 가치에 관한 판단으로, 사람에 따라 다른 판단을 내릴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수달이 귀엽다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판단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가치 판단 중 어떤 사람의 인품, 행동, 도덕적 상황 등에 관하여 도덕적 관점에서 내리는 판단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멸종 위기종을 보호하는 행동은 옳은 행동이다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사실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판단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참이나 거짓을 객관적으로 확인할 수 있는 판단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수달은 멸종 위기종이다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가치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판단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좋고 싫음, 아름다움과 추함, 옳고 그름 등과 같은 가치에 관한 판단으로, 사람에 따라 다른 판단을 내릴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수달이 귀엽다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판단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가치 판단 중 어떤 사람의 인품, 행동, 도덕적 상황 등에 관하여 도덕적 관점에서 내리는 판단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멸종 위기종을 보호하는 행동은 옳은 행동이다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사실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판단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참이나 거짓을 객관적으로 확인할 수 있는 판단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수달은 멸종 위기종이다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가치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판단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좋고 싫음, 아름다움과 추함, 옳고 그름 등과 같은 가치에 관한 판단으로, 사람에 따라 다른 판단을 내릴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수달이 귀엽다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도덕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판단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가치 판단 중 어떤 사람의 인품, 행동, 도덕적 상황 등에 관하여 도덕적 관점에서 내리는 판단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멸종 위기종을 보호하는 행동은 옳은 행동이다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사실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판단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참이나 거짓을 객관적으로 확인할 수 있는 판단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수달은 멸종 위기종이다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가치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판단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좋고 싫음, 아름다움과 추함, 옳고 그름 등과 같은 가치에 관한 판단으로, 사람에 따라 다른 판단을 내릴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수달이 귀엽다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판단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가치 판단 중 어떤 사람의 인품, 행동, 도덕적 상황 등에 관하여 도덕적 관점에서 내리는 판단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멸종 위기종을 보호하는 행동은 옳은 행동이다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도덕적 추론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의미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도덕적 문제 상황에서 합당한 이유나 근거를 들어 올바른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도덕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판단 </a:t>
            </a:r>
            <a:r>
              <a:rPr sz="2400" b="0">
                <a:solidFill>
                  <a:srgbClr val="262626"/>
                </a:solidFill>
              </a:rPr>
              <a:t>을 이끌어 내고 그 판단을 정당화하는 과정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“숙제 베끼기는 옳지 않아. 왜냐하면 정직하지 않으니까.”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과정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모든 사람에게 보편적으로 적용되는 규범인 ‘도덕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원리 </a:t>
            </a:r>
            <a:r>
              <a:rPr sz="2400" b="0">
                <a:solidFill>
                  <a:srgbClr val="262626"/>
                </a:solidFill>
              </a:rPr>
              <a:t>’와 도덕적 문제 상황과 관련한 ‘사실 판단’을 찾고, 타당한 도덕 원리와 사실 판단을 근거로 올바른 도덕 판단을 내려야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(3) 올바른 도덕 판단을 내리려면 생략된 도덕 원리나 사실 판단을 찾아낼 수 있어야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“무단 횡단은 공공질서 위반이야.” 뒤에 숨은 원리: 공공질서를 어기는 것은 옳지 않다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 문제 상황에서 합당한 이유나 근거를 들어 올바른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도덕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판단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이끌어 내고 그 판단을 정당화하는 과정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“숙제 베끼기는 옳지 않아. 왜냐하면 정직하지 않으니까.”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과정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모든 사람에게 보편적으로 적용되는 규범인 ‘도덕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원리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’와 도덕적 문제 상황과 관련한 ‘사실 판단’을 찾고, 타당한 도덕 원리와 사실 판단을 근거로 올바른 도덕 판단을 내려야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올바른 도덕 판단을 내리려면 생략된 도덕 원리나 사실 판단을 찾아낼 수 있어야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“무단 횡단은 공공질서 위반이야.” 뒤에 숨은 원리: 공공질서를 어기는 것은 옳지 않다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 문제 상황에서 합당한 이유나 근거를 들어 올바른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판단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이끌어 내고 그 판단을 정당화하는 과정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“숙제 베끼기는 옳지 않아. 왜냐하면 정직하지 않으니까.”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과정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모든 사람에게 보편적으로 적용되는 규범인 ‘도덕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원리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’와 도덕적 문제 상황과 관련한 ‘사실 판단’을 찾고, 타당한 도덕 원리와 사실 판단을 근거로 올바른 도덕 판단을 내려야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올바른 도덕 판단을 내리려면 생략된 도덕 원리나 사실 판단을 찾아낼 수 있어야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“무단 횡단은 공공질서 위반이야.” 뒤에 숨은 원리: 공공질서를 어기는 것은 옳지 않다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 문제 상황에서 합당한 이유나 근거를 들어 올바른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판단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이끌어 내고 그 판단을 정당화하는 과정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“숙제 베끼기는 옳지 않아. 왜냐하면 정직하지 않으니까.”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과정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모든 사람에게 보편적으로 적용되는 규범인 ‘도덕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원리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’와 도덕적 문제 상황과 관련한 ‘사실 판단’을 찾고, 타당한 도덕 원리와 사실 판단을 근거로 올바른 도덕 판단을 내려야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올바른 도덕 판단을 내리려면 생략된 도덕 원리나 사실 판단을 찾아낼 수 있어야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“무단 횡단은 공공질서 위반이야.” 뒤에 숨은 원리: 공공질서를 어기는 것은 옳지 않다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 문제 상황에서 합당한 이유나 근거를 들어 올바른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판단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이끌어 내고 그 판단을 정당화하는 과정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“숙제 베끼기는 옳지 않아. 왜냐하면 정직하지 않으니까.”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과정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모든 사람에게 보편적으로 적용되는 규범인 ‘도덕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원리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’와 도덕적 문제 상황과 관련한 ‘사실 판단’을 찾고, 타당한 도덕 원리와 사실 판단을 근거로 올바른 도덕 판단을 내려야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올바른 도덕 판단을 내리려면 생략된 도덕 원리나 사실 판단을 찾아낼 수 있어야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“무단 횡단은 공공질서 위반이야.” 뒤에 숨은 원리: 공공질서를 어기는 것은 옳지 않다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 문제 상황에서 합당한 이유나 근거를 들어 올바른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판단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이끌어 내고 그 판단을 정당화하는 과정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“숙제 베끼기는 옳지 않아. 왜냐하면 정직하지 않으니까.”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과정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모든 사람에게 보편적으로 적용되는 규범인 ‘도덕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원리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’와 도덕적 문제 상황과 관련한 ‘사실 판단’을 찾고, 타당한 도덕 원리와 사실 판단을 근거로 올바른 도덕 판단을 내려야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올바른 도덕 판단을 내리려면 생략된 도덕 원리나 사실 판단을 찾아낼 수 있어야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“무단 횡단은 공공질서 위반이야.” 뒤에 숨은 원리: 공공질서를 어기는 것은 옳지 않다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원리 + 사실 → 판단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도덕 원리 · 남을 속여서는 안 된다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사실 판단 · 시험에서 남의 답을 베끼는 것은 속이는 것이다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도덕 판단 · 그러므로 남의 답을 베껴서는 안 된다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감옥에서 쓴 편지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1963년 4월 · 미국 앨라배마주 버밍엄 감옥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상황 · 흑인 차별에 맞선 비폭력 행진으로 갇히다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비판 · “법을 어기는 시위는 옳지 않다”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킹의 원리 · 사람을 깎아내리는 법은 정의롭지 않다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킹의 판단 · 부정의한 법에는 평화롭게, 처벌을 받아들이며 따르지 않을 수 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킹의 추론에서 원리와 사실은 무엇일까?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1963년 4월 · 미국 앨라배마주 버밍엄 감옥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상황 · 흑인 차별에 맞선 비폭력 행진으로 갇히다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비판 · “법을 어기는 시위는 옳지 않다”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킹의 원리 · 사람을 깎아내리는 법은 정의롭지 않다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킹의 판단 · 부정의한 법에는 평화롭게, 처벌을 받아들이며 따르지 않을 수 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킹의 추론에서 원리와 사실은 무엇일까?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도덕적 추론을 검토하는 방법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사실 판단을 검토하려면 정보가 신뢰할 만한 전문성과 객관성을 갖추었는지 정보의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원천 </a:t>
            </a:r>
            <a:r>
              <a:rPr sz="2400" b="0">
                <a:solidFill>
                  <a:srgbClr val="262626"/>
                </a:solidFill>
              </a:rPr>
              <a:t>을 평가해야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“사형 제도는 범죄 예방 효과가 있다” — 누가 조사한 결과일까?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도덕 원리를 검토 방법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역할 </a:t>
            </a:r>
            <a:r>
              <a:rPr sz="1439" b="1">
                <a:solidFill>
                  <a:srgbClr val="2F6FD0"/>
                </a:solidFill>
              </a:rPr>
              <a:t>⑧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교환 </a:t>
            </a:r>
            <a:r>
              <a:rPr sz="2400" b="1">
                <a:solidFill>
                  <a:srgbClr val="843C0C"/>
                </a:solidFill>
              </a:rPr>
              <a:t> 검사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입장을 바꾸어 나에게 도덕 원리가 적용된다고 생각했을 때 그 도덕 원리를 받아들일 수 있는지 확인해 보는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“바쁘면 새치기해도 된다” → 누가 내 앞에서 새치기하면?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보편화 결과 검사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문제가 되는 도덕 원리를 모든 사람이 채택할 때 일어날 수 있는 </a:t>
            </a:r>
            <a:r>
              <a:rPr sz="1439" b="1">
                <a:solidFill>
                  <a:srgbClr val="2F6FD0"/>
                </a:solidFill>
              </a:rPr>
              <a:t>⑨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결과 </a:t>
            </a:r>
            <a:r>
              <a:rPr sz="2400" b="0">
                <a:solidFill>
                  <a:srgbClr val="262626"/>
                </a:solidFill>
              </a:rPr>
              <a:t>를 예상하여 도덕 원리의 적절성을 검토하는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모두 바쁘다고 새치기하면 줄은 어떻게 될까?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사실 판단을 검토하려면 정보가 신뢰할 만한 전문성과 객관성을 갖추었는지 정보의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원천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평가해야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“사형 제도는 범죄 예방 효과가 있다” — 누가 조사한 결과일까?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 원리를 검토 방법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역할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교환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검사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입장을 바꾸어 나에게 도덕 원리가 적용된다고 생각했을 때 그 도덕 원리를 받아들일 수 있는지 확인해 보는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“바쁘면 새치기해도 된다” → 누가 내 앞에서 새치기하면?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보편화 결과 검사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문제가 되는 도덕 원리를 모든 사람이 채택할 때 일어날 수 있는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결과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예상하여 도덕 원리의 적절성을 검토하는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모두 바쁘다고 새치기하면 줄은 어떻게 될까?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사실 판단을 검토하려면 정보가 신뢰할 만한 전문성과 객관성을 갖추었는지 정보의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원천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평가해야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“사형 제도는 범죄 예방 효과가 있다” — 누가 조사한 결과일까?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 원리를 검토 방법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역할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교환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검사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입장을 바꾸어 나에게 도덕 원리가 적용된다고 생각했을 때 그 도덕 원리를 받아들일 수 있는지 확인해 보는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“바쁘면 새치기해도 된다” → 누가 내 앞에서 새치기하면?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보편화 결과 검사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문제가 되는 도덕 원리를 모든 사람이 채택할 때 일어날 수 있는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결과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예상하여 도덕 원리의 적절성을 검토하는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모두 바쁘다고 새치기하면 줄은 어떻게 될까?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사실 판단을 검토하려면 정보가 신뢰할 만한 전문성과 객관성을 갖추었는지 정보의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원천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평가해야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“사형 제도는 범죄 예방 효과가 있다” — 누가 조사한 결과일까?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 원리를 검토 방법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역할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/>
                </a:solidFill>
              </a:rPr>
              <a:t> 교환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검사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입장을 바꾸어 나에게 도덕 원리가 적용된다고 생각했을 때 그 도덕 원리를 받아들일 수 있는지 확인해 보는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“바쁘면 새치기해도 된다” → 누가 내 앞에서 새치기하면?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보편화 결과 검사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문제가 되는 도덕 원리를 모든 사람이 채택할 때 일어날 수 있는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결과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예상하여 도덕 원리의 적절성을 검토하는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모두 바쁘다고 새치기하면 줄은 어떻게 될까?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사실 판단을 검토하려면 정보가 신뢰할 만한 전문성과 객관성을 갖추었는지 정보의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원천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평가해야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“사형 제도는 범죄 예방 효과가 있다” — 누가 조사한 결과일까?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 원리를 검토 방법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역할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교환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검사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입장을 바꾸어 나에게 도덕 원리가 적용된다고 생각했을 때 그 도덕 원리를 받아들일 수 있는지 확인해 보는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“바쁘면 새치기해도 된다” → 누가 내 앞에서 새치기하면?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보편화 결과 검사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문제가 되는 도덕 원리를 모든 사람이 채택할 때 일어날 수 있는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결과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예상하여 도덕 원리의 적절성을 검토하는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모두 바쁘다고 새치기하면 줄은 어떻게 될까?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사실 판단을 검토하려면 정보가 신뢰할 만한 전문성과 객관성을 갖추었는지 정보의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원천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평가해야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“사형 제도는 범죄 예방 효과가 있다” — 누가 조사한 결과일까?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 원리를 검토 방법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역할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교환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검사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입장을 바꾸어 나에게 도덕 원리가 적용된다고 생각했을 때 그 도덕 원리를 받아들일 수 있는지 확인해 보는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“바쁘면 새치기해도 된다” → 누가 내 앞에서 새치기하면?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보편화 결과 검사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문제가 되는 도덕 원리를 모든 사람이 채택할 때 일어날 수 있는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/>
                </a:solidFill>
              </a:rPr>
              <a:t> 결과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예상하여 도덕 원리의 적절성을 검토하는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모두 바쁘다고 새치기하면 줄은 어떻게 될까?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사실 판단을 검토하려면 정보가 신뢰할 만한 전문성과 객관성을 갖추었는지 정보의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원천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평가해야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“사형 제도는 범죄 예방 효과가 있다” — 누가 조사한 결과일까?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 원리를 검토 방법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역할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교환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검사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입장을 바꾸어 나에게 도덕 원리가 적용된다고 생각했을 때 그 도덕 원리를 받아들일 수 있는지 확인해 보는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“바쁘면 새치기해도 된다” → 누가 내 앞에서 새치기하면?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보편화 결과 검사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문제가 되는 도덕 원리를 모든 사람이 채택할 때 일어날 수 있는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결과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예상하여 도덕 원리의 적절성을 검토하는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모두 바쁘다고 새치기하면 줄은 어떻게 될까?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사상가의 말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“내가 원하지 않는 것을 남에게 하지 마라”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— 공자, 『논어』 「위령공」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= 입장 바꾸어 생각하기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딜레마 · 나라면?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아내가 죽어 가는데 약값은 너무 비싸다. 약사는 값을 깎아 주지 않는다. (콜버그의 하인츠 딜레마)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훔친다 — 생명을 구하려고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안 훔친다 — 법과 남의 재산을 지키려고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무엇을 골랐든, 까닭이 더 중요하다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아내가 죽어 가는데 약값은 너무 비싸다. 약사는 값을 깎아 주지 않는다. (콜버그의 하인츠 딜레마)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훔친다 — 생명을 구하려고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안 훔친다 — 법과 남의 재산을 지키려고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무엇을 골랐든, 까닭이 더 중요하다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‘수달은 멸종 위기종이야.’는 사실 판단에 해당한다.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‘친구에게 욕하는 것은 옳지 않다.’는 가치 판단과 도덕 판단에 모두 해당한다.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‘바쁠 때는 새치기해도 된다.’라는 도덕 원리에 대해 “어떤 사람이 바쁘다고 내 앞에서 새치기해도 나는 괜찮을까?”라고 물어보는 것은 보편화 결과 검사에 해당한다.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‘수달은 멸종 위기종이야.’는 사실 판단에 해당한다.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‘친구에게 욕하는 것은 옳지 않다.’는 가치 판단과 도덕 판단에 모두 해당한다.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‘바쁠 때는 새치기해도 된다.’라는 도덕 원리에 대해 “어떤 사람이 바쁘다고 내 앞에서 새치기해도 나는 괜찮을까?”라고 물어보는 것은 보편화 결과 검사에 해당한다.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‘수달은 멸종 위기종이야.’는 사실 판단에 해당한다.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‘친구에게 욕하는 것은 옳지 않다.’는 가치 판단과 도덕 판단에 모두 해당한다.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‘바쁠 때는 새치기해도 된다.’라는 도덕 원리에 대해 “어떤 사람이 바쁘다고 내 앞에서 새치기해도 나는 괜찮을까?”라고 물어보는 것은 보편화 결과 검사에 해당한다.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‘수달은 멸종 위기종이야.’는 사실 판단에 해당한다.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‘친구에게 욕하는 것은 옳지 않다.’는 가치 판단과 도덕 판단에 모두 해당한다.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‘바쁠 때는 새치기해도 된다.’라는 도덕 원리에 대해 “어떤 사람이 바쁘다고 내 앞에서 새치기해도 나는 괜찮을까?”라고 물어보는 것은 보편화 결과 검사에 해당한다.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추론 블록 맞추기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>
                <a:latin typeface="+mj-ea"/>
                <a:ea typeface="+mj-ea"/>
              </a:rPr>
              <a:t>도덕적 </a:t>
            </a:r>
            <a:r>
              <a:rPr lang="ko-KR" altLang="en-US" b="1" dirty="0" smtClean="0">
                <a:latin typeface="+mj-ea"/>
                <a:ea typeface="+mj-ea"/>
              </a:rPr>
              <a:t>추론은 어떻게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상황을 고르고, 도덕 원리를 골라 추론을 완성한 뒤 역할 교환 검사와 보편화 결과 검사로 따져 보자.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① 혼자 생각하기 — 2분 동안 나의 답을 정해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② 짝·모둠과 나누기 — 서로의 까닭을 들어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③ 한 문장으로 발표하기 — “나는 ___ 왜냐하면 ___”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8472</TotalTime>
  <Words>1406</Words>
  <Application>Microsoft Office PowerPoint</Application>
  <PresentationFormat>와이드스크린</PresentationFormat>
  <Paragraphs>315</Paragraphs>
  <Slides>26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6" baseType="lpstr">
      <vt:lpstr>AppleSDGothicNeoB00</vt:lpstr>
      <vt:lpstr>굴림</vt:lpstr>
      <vt:lpstr>나눔고딕</vt:lpstr>
      <vt:lpstr>나눔스퀘어라운드 ExtraBold</vt:lpstr>
      <vt:lpstr>돋움</vt:lpstr>
      <vt:lpstr>Malgun Gothic</vt:lpstr>
      <vt:lpstr>Malgun Gothic</vt:lpstr>
      <vt:lpstr>Arial</vt:lpstr>
      <vt:lpstr>Arial Rounded MT Bold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DB400SDA</cp:lastModifiedBy>
  <cp:revision>200</cp:revision>
  <cp:lastPrinted>2024-06-05T04:53:22Z</cp:lastPrinted>
  <dcterms:created xsi:type="dcterms:W3CDTF">2023-10-31T05:50:03Z</dcterms:created>
  <dcterms:modified xsi:type="dcterms:W3CDTF">2025-01-14T02:11:41Z</dcterms:modified>
</cp:coreProperties>
</file>