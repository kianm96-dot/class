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media/image5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3"/>
  </p:notesMasterIdLst>
  <p:handoutMasterIdLst>
    <p:handoutMasterId r:id="rId24"/>
  </p:handoutMasterIdLst>
  <p:sldIdLst>
    <p:sldId id="302" r:id="rId2"/>
    <p:sldId id="301" r:id="rId3"/>
    <p:sldId id="258" r:id="rId4"/>
    <p:sldId id="366" r:id="rId5"/>
    <p:sldId id="443" r:id="rId36"/>
    <p:sldId id="412" r:id="rId6"/>
    <p:sldId id="424" r:id="rId7"/>
    <p:sldId id="437" r:id="rId30"/>
    <p:sldId id="438" r:id="rId31"/>
    <p:sldId id="395" r:id="rId8"/>
    <p:sldId id="425" r:id="rId9"/>
    <p:sldId id="426" r:id="rId10"/>
    <p:sldId id="427" r:id="rId11"/>
    <p:sldId id="439" r:id="rId32"/>
    <p:sldId id="440" r:id="rId33"/>
    <p:sldId id="441" r:id="rId34"/>
    <p:sldId id="442" r:id="rId35"/>
    <p:sldId id="415" r:id="rId12"/>
    <p:sldId id="416" r:id="rId13"/>
    <p:sldId id="428" r:id="rId14"/>
    <p:sldId id="429" r:id="rId15"/>
    <p:sldId id="430" r:id="rId16"/>
    <p:sldId id="431" r:id="rId17"/>
    <p:sldId id="432" r:id="rId18"/>
    <p:sldId id="436" r:id="rId19"/>
    <p:sldId id="434" r:id="rId20"/>
    <p:sldId id="435" r:id="rId21"/>
    <p:sldId id="444" r:id="rId37"/>
    <p:sldId id="445" r:id="rId38"/>
    <p:sldId id="446" r:id="rId39"/>
    <p:sldId id="447" r:id="rId40"/>
    <p:sldId id="348" r:id="rId22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DC6"/>
    <a:srgbClr val="52B2E1"/>
    <a:srgbClr val="F8AC9A"/>
    <a:srgbClr val="9FCDEE"/>
    <a:srgbClr val="843C0C"/>
    <a:srgbClr val="6081C0"/>
    <a:srgbClr val="C8C7C8"/>
    <a:srgbClr val="99DAF6"/>
    <a:srgbClr val="E8F6FD"/>
    <a:srgbClr val="B79A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70쪽</a:t>
            </a:r>
          </a:p>
          <a:p>
            <a:r>
              <a:t>대한 의사 협회 「의사 윤리 강령」을 예로, 각자 희망 직업의 윤리 강령 세 줄을 만들어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69쪽 · 진로 설계</a:t>
            </a:r>
          </a:p>
          <a:p>
            <a:r>
              <a:t>진로를 설계할 때는 개인의 특성, 직업 탐색과 함께 직업윤리도 고려해야 한다 → 다음 장으로.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새로운 직업의 윤리</a:t>
            </a:r>
          </a:p>
          <a:p>
            <a:r>
              <a:t>「추천·보증 등에 관한 표시·광고 심사 지침」 개정. 경제적 대가를 받았으면 ‘유료 광고 포함’ 등을 잘 보이게 표시해야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직업의 윤리</a:t>
            </a:r>
          </a:p>
          <a:p>
            <a:r>
              <a:t>과학기술의 발전으로 생기는 새로운 직업에도 정직·책임·공정이라는 기본 윤리와 그 직업만의 윤리가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 딜레마 연습</a:t>
            </a:r>
          </a:p>
          <a:p>
            <a:r>
              <a:t>정답보다 직업윤리의 여러 가치(생명, 정직, 존중)를 함께 고려하는 연습. 꼭 필요한 검사를 설명하고 비용을 줄일 방법을 함께 찾는 대안.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 탐색</a:t>
            </a:r>
          </a:p>
          <a:p>
            <a:r>
              <a:t>아직 정하지 못했어도 괜찮다. 관심 분야로 써도 된다. 커리어넷(career.go.kr)의 직업 정보를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진로를 설계하고, 희망 직업의 직업윤리 강령을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진로를 설계하고, 희망 직업의 직업윤리 강령을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진로를 설계하고, 희망 직업의 직업윤리 강령을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slide" Target="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slide" Target="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7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png"/><Relationship Id="rId8" Type="http://schemas.openxmlformats.org/officeDocument/2006/relationships/slide" Target="slide18.xml"/><Relationship Id="rId9" Type="http://schemas.openxmlformats.org/officeDocument/2006/relationships/image" Target="../media/image41.png"/><Relationship Id="rId10" Type="http://schemas.openxmlformats.org/officeDocument/2006/relationships/slide" Target="slide16.xml"/><Relationship Id="rId11" Type="http://schemas.openxmlformats.org/officeDocument/2006/relationships/slide" Target="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41.png"/><Relationship Id="rId8" Type="http://schemas.openxmlformats.org/officeDocument/2006/relationships/slide" Target="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41.png"/><Relationship Id="rId8" Type="http://schemas.openxmlformats.org/officeDocument/2006/relationships/slide" Target="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41.png"/><Relationship Id="rId8" Type="http://schemas.openxmlformats.org/officeDocument/2006/relationships/slide" Target="slide15.xml"/><Relationship Id="rId9" Type="http://schemas.openxmlformats.org/officeDocument/2006/relationships/slide" Target="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png"/><Relationship Id="rId8" Type="http://schemas.openxmlformats.org/officeDocument/2006/relationships/image" Target="../media/image41.png"/><Relationship Id="rId9" Type="http://schemas.openxmlformats.org/officeDocument/2006/relationships/slide" Target="slide14.xml"/><Relationship Id="rId10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2.sv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03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직업윤리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454485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Arial Rounded MT Bold" panose="020F0704030504030204" pitchFamily="34" charset="0"/>
              </a:rPr>
              <a:t>내가 희망하는 직업의 </a:t>
            </a:r>
            <a:r>
              <a:rPr lang="ko-KR" altLang="en-US" sz="5400" b="1" dirty="0" err="1">
                <a:latin typeface="Arial Rounded MT Bold" panose="020F0704030504030204" pitchFamily="34" charset="0"/>
              </a:rPr>
              <a:t>직업윤리는</a:t>
            </a:r>
            <a:r>
              <a:rPr lang="ko-KR" altLang="en-US" sz="5400" b="1" dirty="0">
                <a:latin typeface="Arial Rounded MT Bold" panose="020F0704030504030204" pitchFamily="34" charset="0"/>
              </a:rPr>
              <a:t> 무엇일까</a:t>
            </a:r>
            <a:r>
              <a:rPr lang="en-US" altLang="ko-KR" sz="5400" b="1" dirty="0">
                <a:latin typeface="Arial Rounded MT Bold" panose="020F0704030504030204" pitchFamily="34" charset="0"/>
              </a:rPr>
              <a:t>?</a:t>
            </a:r>
            <a:endParaRPr lang="ko-KR" altLang="en-US" sz="54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내가 희망하는 진로를 설계할 수 있다</a:t>
            </a:r>
            <a:r>
              <a:rPr lang="en-US" altLang="ko-KR" sz="2800" b="1" dirty="0" smtClean="0">
                <a:solidFill>
                  <a:schemeClr val="dk1"/>
                </a:solidFill>
                <a:latin typeface="+mn-ea"/>
              </a:rPr>
              <a:t>.</a:t>
            </a:r>
            <a:endParaRPr lang="en-US" altLang="ko-KR" sz="2800" b="1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68530"/>
            <a:ext cx="10293350" cy="787400"/>
            <a:chOff x="914400" y="2362200"/>
            <a:chExt cx="10293350" cy="787400"/>
          </a:xfrm>
        </p:grpSpPr>
        <p:sp>
          <p:nvSpPr>
            <p:cNvPr id="32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77777"/>
            <a:ext cx="101748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내가 희망하는 직업에서 필요한 직업윤리를 </a:t>
            </a: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구성할 수 있다</a:t>
            </a:r>
            <a:r>
              <a:rPr lang="en-US" altLang="ko-KR" sz="2800" b="1" dirty="0" smtClean="0">
                <a:solidFill>
                  <a:schemeClr val="dk1"/>
                </a:solidFill>
                <a:latin typeface="+mn-ea"/>
              </a:rPr>
              <a:t>.</a:t>
            </a:r>
            <a:endParaRPr lang="en-US" altLang="ko-KR" sz="2800" b="1" dirty="0">
              <a:solidFill>
                <a:schemeClr val="dk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974444" y="2451414"/>
            <a:ext cx="7665545" cy="4511647"/>
            <a:chOff x="1518726" y="1384137"/>
            <a:chExt cx="8582763" cy="5358911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18726" y="1384137"/>
              <a:ext cx="8582763" cy="5358911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03917" y="1915885"/>
              <a:ext cx="2456745" cy="1294489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74444" y="2016935"/>
              <a:ext cx="2538179" cy="1321531"/>
            </a:xfrm>
            <a:prstGeom prst="rect">
              <a:avLst/>
            </a:prstGeom>
          </p:spPr>
        </p:pic>
      </p:grpSp>
      <p:grpSp>
        <p:nvGrpSpPr>
          <p:cNvPr id="38" name="그룹 37"/>
          <p:cNvGrpSpPr/>
          <p:nvPr/>
        </p:nvGrpSpPr>
        <p:grpSpPr>
          <a:xfrm>
            <a:off x="380011" y="4386956"/>
            <a:ext cx="2980008" cy="1823839"/>
            <a:chOff x="380011" y="4386956"/>
            <a:chExt cx="2980008" cy="1823839"/>
          </a:xfrm>
        </p:grpSpPr>
        <p:sp>
          <p:nvSpPr>
            <p:cNvPr id="14" name="모서리가 둥근 사각형 설명선 13"/>
            <p:cNvSpPr/>
            <p:nvPr/>
          </p:nvSpPr>
          <p:spPr>
            <a:xfrm>
              <a:off x="380011" y="4386956"/>
              <a:ext cx="2980008" cy="1823839"/>
            </a:xfrm>
            <a:prstGeom prst="wedgeRoundRectCallout">
              <a:avLst>
                <a:gd name="adj1" fmla="val 65641"/>
                <a:gd name="adj2" fmla="val -37027"/>
                <a:gd name="adj3" fmla="val 16667"/>
              </a:avLst>
            </a:prstGeom>
            <a:solidFill>
              <a:srgbClr val="9FCD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7502" y="4682872"/>
              <a:ext cx="2105025" cy="1228725"/>
            </a:xfrm>
            <a:prstGeom prst="rect">
              <a:avLst/>
            </a:prstGeom>
          </p:spPr>
        </p:pic>
      </p:grpSp>
      <p:grpSp>
        <p:nvGrpSpPr>
          <p:cNvPr id="23" name="그룹 22"/>
          <p:cNvGrpSpPr/>
          <p:nvPr/>
        </p:nvGrpSpPr>
        <p:grpSpPr>
          <a:xfrm>
            <a:off x="8393406" y="4386956"/>
            <a:ext cx="2980008" cy="1823839"/>
            <a:chOff x="8393406" y="4386956"/>
            <a:chExt cx="2980008" cy="1823839"/>
          </a:xfrm>
        </p:grpSpPr>
        <p:sp>
          <p:nvSpPr>
            <p:cNvPr id="35" name="모서리가 둥근 사각형 설명선 34"/>
            <p:cNvSpPr/>
            <p:nvPr/>
          </p:nvSpPr>
          <p:spPr>
            <a:xfrm>
              <a:off x="8393406" y="4386956"/>
              <a:ext cx="2980008" cy="1823839"/>
            </a:xfrm>
            <a:prstGeom prst="wedgeRoundRectCallout">
              <a:avLst>
                <a:gd name="adj1" fmla="val -67856"/>
                <a:gd name="adj2" fmla="val -37678"/>
                <a:gd name="adj3" fmla="val 16667"/>
              </a:avLst>
            </a:prstGeom>
            <a:solidFill>
              <a:srgbClr val="F8AC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82657" y="4559048"/>
              <a:ext cx="2457450" cy="1476375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8538358" y="5798671"/>
              <a:ext cx="285008" cy="305246"/>
            </a:xfrm>
            <a:prstGeom prst="rect">
              <a:avLst/>
            </a:prstGeom>
            <a:solidFill>
              <a:srgbClr val="F8AC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935903" y="5787173"/>
              <a:ext cx="285008" cy="305246"/>
            </a:xfrm>
            <a:prstGeom prst="rect">
              <a:avLst/>
            </a:prstGeom>
            <a:solidFill>
              <a:srgbClr val="F8AC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9" name="그림 38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1054" y="1429254"/>
            <a:ext cx="3317236" cy="120346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10342"/>
            <a:ext cx="10293350" cy="2534788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" y="1613182"/>
            <a:ext cx="8518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두 학생의 ‘미래 직업 </a:t>
            </a:r>
            <a:r>
              <a:rPr lang="ko-KR" altLang="en-US" sz="2000" b="1" dirty="0" err="1">
                <a:latin typeface="+mn-ea"/>
              </a:rPr>
              <a:t>명함’을</a:t>
            </a:r>
            <a:r>
              <a:rPr lang="ko-KR" altLang="en-US" sz="2000" b="1" dirty="0">
                <a:latin typeface="+mn-ea"/>
              </a:rPr>
              <a:t> 비교해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어떤 차이가 있는지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69940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69940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08654" y="2342073"/>
            <a:ext cx="9668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여학생의 명함에는 직업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회사명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이름만 쓰여 있는 데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비해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남학생의 명함에는 ‘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정직’이라는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직업윤리가 담겨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2070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40" grpId="0"/>
      <p:bldP spid="4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희망 진로 설계하기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22056" y="150193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rgbClr val="843C0C"/>
                </a:solidFill>
                <a:latin typeface="+mn-ea"/>
              </a:rPr>
              <a:t>진로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‘앞으로 나아갈 </a:t>
            </a:r>
            <a:r>
              <a:rPr lang="ko-KR" altLang="en-US" sz="2400" dirty="0" err="1">
                <a:latin typeface="+mn-ea"/>
              </a:rPr>
              <a:t>길’이라는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뜻</a:t>
            </a: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우리가 </a:t>
            </a:r>
            <a:r>
              <a:rPr lang="ko-KR" altLang="en-US" sz="2400" dirty="0">
                <a:latin typeface="+mn-ea"/>
              </a:rPr>
              <a:t>살아가는 모든 삶의 과정과 관련이 깊음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진로를 설계할 때는 개인의 특성이나 직업에 관한 탐색과 함께 직업윤리를 고려해야 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3282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056" y="1501936"/>
            <a:ext cx="110284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rgbClr val="843C0C"/>
                </a:solidFill>
                <a:latin typeface="+mn-ea"/>
              </a:rPr>
              <a:t>희망 </a:t>
            </a:r>
            <a:r>
              <a:rPr lang="ko-KR" altLang="en-US" sz="2400" b="1" dirty="0">
                <a:solidFill>
                  <a:srgbClr val="843C0C"/>
                </a:solidFill>
                <a:latin typeface="+mn-ea"/>
              </a:rPr>
              <a:t>진로를 설계하는 </a:t>
            </a:r>
            <a:r>
              <a:rPr lang="ko-KR" altLang="en-US" sz="2400" b="1" dirty="0" smtClean="0">
                <a:solidFill>
                  <a:srgbClr val="843C0C"/>
                </a:solidFill>
                <a:latin typeface="+mn-ea"/>
              </a:rPr>
              <a:t>방법</a:t>
            </a:r>
            <a:endParaRPr lang="en-US" altLang="ko-KR" sz="2400" b="1" dirty="0" smtClean="0">
              <a:solidFill>
                <a:srgbClr val="843C0C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내가 </a:t>
            </a:r>
            <a:r>
              <a:rPr lang="ko-KR" altLang="en-US" sz="2400" dirty="0">
                <a:latin typeface="+mn-ea"/>
              </a:rPr>
              <a:t>잘하는 일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좋아하는 일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의미 있다고 생각하는 일 </a:t>
            </a:r>
            <a:r>
              <a:rPr lang="ko-KR" altLang="en-US" sz="2400" dirty="0" smtClean="0">
                <a:latin typeface="+mn-ea"/>
              </a:rPr>
              <a:t>등을 </a:t>
            </a:r>
            <a:r>
              <a:rPr lang="ko-KR" altLang="en-US" sz="2400" dirty="0">
                <a:latin typeface="+mn-ea"/>
              </a:rPr>
              <a:t>토대로 자신에 관해 탐구하여 희망 </a:t>
            </a:r>
            <a:r>
              <a:rPr lang="ko-KR" altLang="en-US" sz="2400" dirty="0" smtClean="0">
                <a:latin typeface="+mn-ea"/>
              </a:rPr>
              <a:t>직업 찾기</a:t>
            </a:r>
            <a:endParaRPr lang="en-US" altLang="ko-KR" sz="24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희망 </a:t>
            </a:r>
            <a:r>
              <a:rPr lang="ko-KR" altLang="en-US" sz="2400" dirty="0">
                <a:latin typeface="+mn-ea"/>
              </a:rPr>
              <a:t>직업에 관한 </a:t>
            </a:r>
            <a:r>
              <a:rPr lang="ko-KR" altLang="en-US" sz="2400" dirty="0" smtClean="0">
                <a:latin typeface="+mn-ea"/>
              </a:rPr>
              <a:t>정보 탐색하기</a:t>
            </a:r>
            <a:endParaRPr lang="en-US" altLang="ko-KR" sz="24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희망 직업이 자신의 삶에 어떤 의미나 가치가 있는지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자신이 </a:t>
            </a:r>
            <a:r>
              <a:rPr lang="ko-KR" altLang="en-US" sz="2400" dirty="0" smtClean="0">
                <a:latin typeface="+mn-ea"/>
              </a:rPr>
              <a:t>추구하는 </a:t>
            </a:r>
            <a:r>
              <a:rPr lang="ko-KR" altLang="en-US" sz="2400" dirty="0">
                <a:latin typeface="+mn-ea"/>
              </a:rPr>
              <a:t>삶의 방향과 일치하는지 등을 </a:t>
            </a:r>
            <a:r>
              <a:rPr lang="ko-KR" altLang="en-US" sz="2400" dirty="0" smtClean="0">
                <a:latin typeface="+mn-ea"/>
              </a:rPr>
              <a:t>살펴보기</a:t>
            </a:r>
            <a:endParaRPr lang="en-US" altLang="ko-KR" sz="24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희망 진로 설계하기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183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344384" y="2131638"/>
            <a:ext cx="11034891" cy="4726362"/>
            <a:chOff x="344384" y="2131638"/>
            <a:chExt cx="11034891" cy="474390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4384" y="2131638"/>
              <a:ext cx="11034891" cy="4743906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88612" y="4592251"/>
              <a:ext cx="2590663" cy="1903636"/>
            </a:xfrm>
            <a:prstGeom prst="rect">
              <a:avLst/>
            </a:prstGeom>
          </p:spPr>
        </p:pic>
        <p:sp>
          <p:nvSpPr>
            <p:cNvPr id="8" name="자유형 7"/>
            <p:cNvSpPr/>
            <p:nvPr/>
          </p:nvSpPr>
          <p:spPr>
            <a:xfrm>
              <a:off x="8728364" y="5759532"/>
              <a:ext cx="617517" cy="629393"/>
            </a:xfrm>
            <a:custGeom>
              <a:avLst/>
              <a:gdLst>
                <a:gd name="connsiteX0" fmla="*/ 0 w 617517"/>
                <a:gd name="connsiteY0" fmla="*/ 11876 h 629393"/>
                <a:gd name="connsiteX1" fmla="*/ 261257 w 617517"/>
                <a:gd name="connsiteY1" fmla="*/ 0 h 629393"/>
                <a:gd name="connsiteX2" fmla="*/ 617517 w 617517"/>
                <a:gd name="connsiteY2" fmla="*/ 451263 h 629393"/>
                <a:gd name="connsiteX3" fmla="*/ 510639 w 617517"/>
                <a:gd name="connsiteY3" fmla="*/ 629393 h 629393"/>
                <a:gd name="connsiteX4" fmla="*/ 35626 w 617517"/>
                <a:gd name="connsiteY4" fmla="*/ 570016 h 629393"/>
                <a:gd name="connsiteX5" fmla="*/ 0 w 617517"/>
                <a:gd name="connsiteY5" fmla="*/ 11876 h 629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7517" h="629393">
                  <a:moveTo>
                    <a:pt x="0" y="11876"/>
                  </a:moveTo>
                  <a:lnTo>
                    <a:pt x="261257" y="0"/>
                  </a:lnTo>
                  <a:lnTo>
                    <a:pt x="617517" y="451263"/>
                  </a:lnTo>
                  <a:lnTo>
                    <a:pt x="510639" y="629393"/>
                  </a:lnTo>
                  <a:lnTo>
                    <a:pt x="35626" y="570016"/>
                  </a:lnTo>
                  <a:lnTo>
                    <a:pt x="0" y="11876"/>
                  </a:lnTo>
                  <a:close/>
                </a:path>
              </a:pathLst>
            </a:custGeom>
            <a:solidFill>
              <a:srgbClr val="52B2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순서에 따라 답하며 나의 희망 진로를 설계해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rId8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975056" y="2582954"/>
            <a:ext cx="8535610" cy="3449711"/>
          </a:xfrm>
          <a:prstGeom prst="roundRect">
            <a:avLst>
              <a:gd name="adj" fmla="val 8608"/>
            </a:avLst>
          </a:prstGeom>
          <a:solidFill>
            <a:srgbClr val="FBE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3182" y="2812800"/>
            <a:ext cx="51763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내가 잘하는 일</a:t>
            </a:r>
            <a:r>
              <a:rPr lang="en-US" altLang="ko-KR" sz="2000" dirty="0" smtClean="0">
                <a:latin typeface="+mn-ea"/>
              </a:rPr>
              <a:t>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내가 </a:t>
            </a:r>
            <a:r>
              <a:rPr lang="ko-KR" altLang="en-US" sz="2000" dirty="0">
                <a:latin typeface="+mn-ea"/>
              </a:rPr>
              <a:t>좋아하는 일</a:t>
            </a:r>
            <a:r>
              <a:rPr lang="en-US" altLang="ko-KR" sz="2000" dirty="0" smtClean="0">
                <a:latin typeface="+mn-ea"/>
              </a:rPr>
              <a:t>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내게 </a:t>
            </a:r>
            <a:r>
              <a:rPr lang="ko-KR" altLang="en-US" sz="2000" dirty="0">
                <a:latin typeface="+mn-ea"/>
              </a:rPr>
              <a:t>의미 있는 일</a:t>
            </a:r>
            <a:r>
              <a:rPr lang="en-US" altLang="ko-KR" sz="2000" dirty="0" smtClean="0">
                <a:latin typeface="+mn-ea"/>
              </a:rPr>
              <a:t>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이들의 공통점을 토대로 찾은 희망 </a:t>
            </a:r>
            <a:r>
              <a:rPr lang="ko-KR" altLang="en-US" sz="2000" dirty="0" smtClean="0">
                <a:latin typeface="+mn-ea"/>
              </a:rPr>
              <a:t>직업</a:t>
            </a:r>
            <a:r>
              <a:rPr lang="en-US" altLang="ko-KR" sz="2000" dirty="0" smtClean="0">
                <a:latin typeface="+mn-ea"/>
              </a:rPr>
              <a:t>:</a:t>
            </a:r>
            <a:endParaRPr lang="ko-KR" altLang="en-US" sz="2000" dirty="0">
              <a:latin typeface="+mn-ea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3597751" y="4583151"/>
            <a:ext cx="5664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3597751" y="3954501"/>
            <a:ext cx="5664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3597751" y="3356694"/>
            <a:ext cx="5664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6034476" y="5225143"/>
            <a:ext cx="3227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/>
          <p:cNvGrpSpPr/>
          <p:nvPr/>
        </p:nvGrpSpPr>
        <p:grpSpPr>
          <a:xfrm>
            <a:off x="3531857" y="2854582"/>
            <a:ext cx="5835560" cy="2374401"/>
            <a:chOff x="3531857" y="2854582"/>
            <a:chExt cx="5835560" cy="2374401"/>
          </a:xfrm>
        </p:grpSpPr>
        <p:sp>
          <p:nvSpPr>
            <p:cNvPr id="41" name="TextBox 40"/>
            <p:cNvSpPr txBox="1"/>
            <p:nvPr/>
          </p:nvSpPr>
          <p:spPr>
            <a:xfrm>
              <a:off x="3597751" y="2854582"/>
              <a:ext cx="2278018" cy="534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인터넷 검색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531857" y="3457568"/>
              <a:ext cx="5769666" cy="534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새롭고 신기한 물건 찾고 경험해 보기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597751" y="4084689"/>
              <a:ext cx="5769666" cy="534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새로운 것을 경험하고 남에게 알리는 일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034476" y="4674985"/>
              <a:ext cx="227801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상품 기획자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1207146" y="2449015"/>
            <a:ext cx="270269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+mn-ea"/>
              </a:rPr>
              <a:t>  나의 희망 직업 찾기</a:t>
            </a:r>
            <a:endParaRPr lang="ko-KR" altLang="en-US" b="1" dirty="0">
              <a:latin typeface="+mn-ea"/>
            </a:endParaRPr>
          </a:p>
        </p:txBody>
      </p:sp>
      <p:sp>
        <p:nvSpPr>
          <p:cNvPr id="52" name="포인트가 5개인 별 51"/>
          <p:cNvSpPr/>
          <p:nvPr/>
        </p:nvSpPr>
        <p:spPr>
          <a:xfrm>
            <a:off x="698070" y="2155300"/>
            <a:ext cx="821169" cy="762000"/>
          </a:xfrm>
          <a:prstGeom prst="star5">
            <a:avLst/>
          </a:prstGeom>
          <a:solidFill>
            <a:schemeClr val="accent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941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344384" y="2131638"/>
            <a:ext cx="11034891" cy="4726362"/>
            <a:chOff x="344384" y="2131638"/>
            <a:chExt cx="11034891" cy="474390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4384" y="2131638"/>
              <a:ext cx="11034891" cy="4743906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88612" y="4592251"/>
              <a:ext cx="2590663" cy="1903636"/>
            </a:xfrm>
            <a:prstGeom prst="rect">
              <a:avLst/>
            </a:prstGeom>
          </p:spPr>
        </p:pic>
        <p:sp>
          <p:nvSpPr>
            <p:cNvPr id="8" name="자유형 7"/>
            <p:cNvSpPr/>
            <p:nvPr/>
          </p:nvSpPr>
          <p:spPr>
            <a:xfrm>
              <a:off x="8728364" y="5759532"/>
              <a:ext cx="617517" cy="629393"/>
            </a:xfrm>
            <a:custGeom>
              <a:avLst/>
              <a:gdLst>
                <a:gd name="connsiteX0" fmla="*/ 0 w 617517"/>
                <a:gd name="connsiteY0" fmla="*/ 11876 h 629393"/>
                <a:gd name="connsiteX1" fmla="*/ 261257 w 617517"/>
                <a:gd name="connsiteY1" fmla="*/ 0 h 629393"/>
                <a:gd name="connsiteX2" fmla="*/ 617517 w 617517"/>
                <a:gd name="connsiteY2" fmla="*/ 451263 h 629393"/>
                <a:gd name="connsiteX3" fmla="*/ 510639 w 617517"/>
                <a:gd name="connsiteY3" fmla="*/ 629393 h 629393"/>
                <a:gd name="connsiteX4" fmla="*/ 35626 w 617517"/>
                <a:gd name="connsiteY4" fmla="*/ 570016 h 629393"/>
                <a:gd name="connsiteX5" fmla="*/ 0 w 617517"/>
                <a:gd name="connsiteY5" fmla="*/ 11876 h 629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7517" h="629393">
                  <a:moveTo>
                    <a:pt x="0" y="11876"/>
                  </a:moveTo>
                  <a:lnTo>
                    <a:pt x="261257" y="0"/>
                  </a:lnTo>
                  <a:lnTo>
                    <a:pt x="617517" y="451263"/>
                  </a:lnTo>
                  <a:lnTo>
                    <a:pt x="510639" y="629393"/>
                  </a:lnTo>
                  <a:lnTo>
                    <a:pt x="35626" y="570016"/>
                  </a:lnTo>
                  <a:lnTo>
                    <a:pt x="0" y="11876"/>
                  </a:lnTo>
                  <a:close/>
                </a:path>
              </a:pathLst>
            </a:custGeom>
            <a:solidFill>
              <a:srgbClr val="52B2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순서에 따라 답하며 나의 희망 진로를 설계해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975056" y="2582954"/>
            <a:ext cx="8535610" cy="3449711"/>
          </a:xfrm>
          <a:prstGeom prst="roundRect">
            <a:avLst>
              <a:gd name="adj" fmla="val 8608"/>
            </a:avLst>
          </a:prstGeom>
          <a:solidFill>
            <a:srgbClr val="FBE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3182" y="2812800"/>
            <a:ext cx="53079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하는 일</a:t>
            </a:r>
            <a:r>
              <a:rPr lang="en-US" altLang="ko-KR" sz="2000" dirty="0" smtClean="0">
                <a:latin typeface="+mn-ea"/>
              </a:rPr>
              <a:t>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준비 </a:t>
            </a:r>
            <a:r>
              <a:rPr lang="ko-KR" altLang="en-US" sz="2000" dirty="0">
                <a:latin typeface="+mn-ea"/>
              </a:rPr>
              <a:t>방법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관련 학과 및 자격증 등</a:t>
            </a:r>
            <a:r>
              <a:rPr lang="en-US" altLang="ko-KR" sz="2000" dirty="0">
                <a:latin typeface="+mn-ea"/>
              </a:rPr>
              <a:t>):</a:t>
            </a:r>
            <a:endParaRPr lang="ko-KR" altLang="en-US" sz="2000" dirty="0">
              <a:latin typeface="+mn-ea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5455920" y="4017095"/>
            <a:ext cx="38060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2438328" y="3342057"/>
            <a:ext cx="6787871" cy="10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1402080" y="5225143"/>
            <a:ext cx="7859871" cy="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1402079" y="5849600"/>
            <a:ext cx="7859871" cy="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/>
          <p:cNvCxnSpPr/>
          <p:nvPr/>
        </p:nvCxnSpPr>
        <p:spPr>
          <a:xfrm flipV="1">
            <a:off x="1402079" y="4637199"/>
            <a:ext cx="7859871" cy="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/>
        </p:nvGrpSpPr>
        <p:grpSpPr>
          <a:xfrm>
            <a:off x="1314993" y="2841292"/>
            <a:ext cx="8108589" cy="2951635"/>
            <a:chOff x="1314993" y="2841292"/>
            <a:chExt cx="8108589" cy="2951635"/>
          </a:xfrm>
        </p:grpSpPr>
        <p:sp>
          <p:nvSpPr>
            <p:cNvPr id="50" name="TextBox 49"/>
            <p:cNvSpPr txBox="1"/>
            <p:nvPr/>
          </p:nvSpPr>
          <p:spPr>
            <a:xfrm>
              <a:off x="2438803" y="2841292"/>
              <a:ext cx="662847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시장 동향을 파악하여 상품을 기획한다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332823" y="3530649"/>
              <a:ext cx="4090759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특별한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자격은 없으나</a:t>
              </a:r>
              <a:r>
                <a:rPr lang="en-US" altLang="ko-KR" sz="2200" dirty="0" smtClean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대학교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314993" y="4177100"/>
              <a:ext cx="7871745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에서 경영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무역 등을 전공하거나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의상</a:t>
              </a:r>
              <a:r>
                <a:rPr lang="en-US" altLang="ko-KR" sz="2200" dirty="0" smtClean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식품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등 특정 분야에 대한 전문 지식을 갖추고 있는 것이 유리하다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.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외국어 능력을 향상시키는 것이 취업에 유리하다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207146" y="2449015"/>
            <a:ext cx="327595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+mn-ea"/>
              </a:rPr>
              <a:t>  희망 직업의 정보 탐색하기</a:t>
            </a:r>
            <a:endParaRPr lang="ko-KR" altLang="en-US" b="1" dirty="0">
              <a:latin typeface="+mn-ea"/>
            </a:endParaRPr>
          </a:p>
        </p:txBody>
      </p:sp>
      <p:sp>
        <p:nvSpPr>
          <p:cNvPr id="61" name="포인트가 5개인 별 60"/>
          <p:cNvSpPr/>
          <p:nvPr/>
        </p:nvSpPr>
        <p:spPr>
          <a:xfrm>
            <a:off x="698070" y="2155300"/>
            <a:ext cx="821169" cy="762000"/>
          </a:xfrm>
          <a:prstGeom prst="star5">
            <a:avLst/>
          </a:prstGeom>
          <a:solidFill>
            <a:schemeClr val="accent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222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344384" y="2131638"/>
            <a:ext cx="11034891" cy="4726362"/>
            <a:chOff x="344384" y="2131638"/>
            <a:chExt cx="11034891" cy="474390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4384" y="2131638"/>
              <a:ext cx="11034891" cy="4743906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88612" y="4592251"/>
              <a:ext cx="2590663" cy="1903636"/>
            </a:xfrm>
            <a:prstGeom prst="rect">
              <a:avLst/>
            </a:prstGeom>
          </p:spPr>
        </p:pic>
        <p:sp>
          <p:nvSpPr>
            <p:cNvPr id="8" name="자유형 7"/>
            <p:cNvSpPr/>
            <p:nvPr/>
          </p:nvSpPr>
          <p:spPr>
            <a:xfrm>
              <a:off x="8728364" y="5759532"/>
              <a:ext cx="617517" cy="629393"/>
            </a:xfrm>
            <a:custGeom>
              <a:avLst/>
              <a:gdLst>
                <a:gd name="connsiteX0" fmla="*/ 0 w 617517"/>
                <a:gd name="connsiteY0" fmla="*/ 11876 h 629393"/>
                <a:gd name="connsiteX1" fmla="*/ 261257 w 617517"/>
                <a:gd name="connsiteY1" fmla="*/ 0 h 629393"/>
                <a:gd name="connsiteX2" fmla="*/ 617517 w 617517"/>
                <a:gd name="connsiteY2" fmla="*/ 451263 h 629393"/>
                <a:gd name="connsiteX3" fmla="*/ 510639 w 617517"/>
                <a:gd name="connsiteY3" fmla="*/ 629393 h 629393"/>
                <a:gd name="connsiteX4" fmla="*/ 35626 w 617517"/>
                <a:gd name="connsiteY4" fmla="*/ 570016 h 629393"/>
                <a:gd name="connsiteX5" fmla="*/ 0 w 617517"/>
                <a:gd name="connsiteY5" fmla="*/ 11876 h 629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7517" h="629393">
                  <a:moveTo>
                    <a:pt x="0" y="11876"/>
                  </a:moveTo>
                  <a:lnTo>
                    <a:pt x="261257" y="0"/>
                  </a:lnTo>
                  <a:lnTo>
                    <a:pt x="617517" y="451263"/>
                  </a:lnTo>
                  <a:lnTo>
                    <a:pt x="510639" y="629393"/>
                  </a:lnTo>
                  <a:lnTo>
                    <a:pt x="35626" y="570016"/>
                  </a:lnTo>
                  <a:lnTo>
                    <a:pt x="0" y="11876"/>
                  </a:lnTo>
                  <a:close/>
                </a:path>
              </a:pathLst>
            </a:custGeom>
            <a:solidFill>
              <a:srgbClr val="52B2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순서에 따라 답하며 나의 희망 진로를 설계해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975056" y="2582954"/>
            <a:ext cx="8535610" cy="3449711"/>
          </a:xfrm>
          <a:prstGeom prst="roundRect">
            <a:avLst>
              <a:gd name="adj" fmla="val 8608"/>
            </a:avLst>
          </a:prstGeom>
          <a:solidFill>
            <a:srgbClr val="FBE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타원 40">
            <a:hlinkClick r:id="rId8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1192750" y="2989621"/>
            <a:ext cx="80660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다른 사람의 삶이 편리해질 수 있도록 도울 수 있으며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새롭고 다양한 </a:t>
            </a:r>
            <a:r>
              <a:rPr lang="ko-KR" altLang="en-US" sz="2200" dirty="0" smtClean="0">
                <a:solidFill>
                  <a:srgbClr val="0070C0"/>
                </a:solidFill>
                <a:latin typeface="+mn-ea"/>
              </a:rPr>
              <a:t>것을 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끊임없이 접하며 성장할 수 있다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2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07145" y="2449015"/>
            <a:ext cx="545937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+mn-ea"/>
              </a:rPr>
              <a:t>  희망 </a:t>
            </a:r>
            <a:r>
              <a:rPr lang="ko-KR" altLang="en-US" b="1" smtClean="0">
                <a:latin typeface="+mn-ea"/>
              </a:rPr>
              <a:t>직업을 통해 얻을 수 있는 의미나 가치 쓰기</a:t>
            </a:r>
            <a:endParaRPr lang="ko-KR" altLang="en-US" b="1" dirty="0">
              <a:latin typeface="+mn-ea"/>
            </a:endParaRPr>
          </a:p>
        </p:txBody>
      </p:sp>
      <p:sp>
        <p:nvSpPr>
          <p:cNvPr id="52" name="포인트가 5개인 별 51"/>
          <p:cNvSpPr/>
          <p:nvPr/>
        </p:nvSpPr>
        <p:spPr>
          <a:xfrm>
            <a:off x="698070" y="2155300"/>
            <a:ext cx="821169" cy="762000"/>
          </a:xfrm>
          <a:prstGeom prst="star5">
            <a:avLst/>
          </a:prstGeom>
          <a:solidFill>
            <a:schemeClr val="accent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254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9" grpId="0"/>
      <p:bldP spid="4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희망 직업의 직업윤리 구성하기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056" y="150193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희망 직업과 직업윤리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희망 </a:t>
            </a:r>
            <a:r>
              <a:rPr lang="ko-KR" altLang="en-US" sz="2400" dirty="0">
                <a:latin typeface="+mn-ea"/>
              </a:rPr>
              <a:t>진로를 설계하여 내가 희망하는 직업을 찾았다면 그 직업에서 </a:t>
            </a:r>
            <a:r>
              <a:rPr lang="ko-KR" altLang="en-US" sz="2400" dirty="0" smtClean="0">
                <a:latin typeface="+mn-ea"/>
              </a:rPr>
              <a:t>필요한 직업윤리를 </a:t>
            </a:r>
            <a:r>
              <a:rPr lang="ko-KR" altLang="en-US" sz="2400" dirty="0">
                <a:latin typeface="+mn-ea"/>
              </a:rPr>
              <a:t>탐색해야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앞으로 </a:t>
            </a:r>
            <a:r>
              <a:rPr lang="ko-KR" altLang="en-US" sz="2400" dirty="0">
                <a:latin typeface="+mn-ea"/>
              </a:rPr>
              <a:t>직업 생활을 하면서 자신의 </a:t>
            </a:r>
            <a:r>
              <a:rPr lang="ko-KR" altLang="en-US" sz="2400" dirty="0" smtClean="0">
                <a:latin typeface="+mn-ea"/>
              </a:rPr>
              <a:t>직업에 </a:t>
            </a:r>
            <a:r>
              <a:rPr lang="ko-KR" altLang="en-US" sz="2400" dirty="0">
                <a:latin typeface="+mn-ea"/>
              </a:rPr>
              <a:t>필요한 직업윤리를 알고 이를 지킨다면 바람직한 직업 생활을 할 수 </a:t>
            </a:r>
            <a:r>
              <a:rPr lang="ko-KR" altLang="en-US" sz="2400" dirty="0" smtClean="0">
                <a:latin typeface="+mn-ea"/>
              </a:rPr>
              <a:t>있으며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도덕적인 삶을 살아갈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6636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3458029"/>
            <a:ext cx="3822899" cy="33999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200" b="1" spc="-150" dirty="0">
                <a:latin typeface="굴림" panose="020B0600000101010101" pitchFamily="50" charset="-127"/>
                <a:ea typeface="굴림" panose="020B0600000101010101" pitchFamily="50" charset="-127"/>
              </a:rPr>
              <a:t>의사 윤리 강령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의사는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인간의 존엄과 가치를 존중하며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의료를 적정하고 공정하게 시행하여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인류의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건강을 보호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증진함에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헌신한다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‌의사는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새로운 의학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지식</a:t>
            </a:r>
            <a:r>
              <a:rPr lang="en-US" altLang="ko-KR" sz="2200" spc="-1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기술의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습득과 전문 직업성 함양에 노력하며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공중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보건의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개선과 발전에 이바지한다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의사는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환자의 알 권리를 존중하며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직무상 알게 된 환자의 비밀과 개인 정보를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보호한다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……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대한 의사 협회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〈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의사 윤리 강령 의사 윤리 지침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6358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42" y="2493764"/>
            <a:ext cx="8677068" cy="4211836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다음은 의사가 지켜야 하는 직업윤리를 담은 강령이다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이를 참고하여 </a:t>
            </a:r>
            <a:r>
              <a:rPr lang="ko-KR" altLang="en-US" sz="2000" b="1" dirty="0" smtClean="0">
                <a:latin typeface="+mn-ea"/>
              </a:rPr>
              <a:t>내가 </a:t>
            </a:r>
            <a:r>
              <a:rPr lang="ko-KR" altLang="en-US" sz="2000" b="1" dirty="0">
                <a:latin typeface="+mn-ea"/>
              </a:rPr>
              <a:t>희망하는 직업의 직업윤리 강령을 만들어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630925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630925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9417229" y="5368116"/>
            <a:ext cx="195869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강령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어떤 단체의 </a:t>
            </a:r>
            <a:r>
              <a:rPr lang="ko-KR" altLang="en-US" sz="1600" dirty="0" smtClean="0">
                <a:latin typeface="+mn-ea"/>
              </a:rPr>
              <a:t>방침이나 행동 </a:t>
            </a:r>
            <a:r>
              <a:rPr lang="ko-KR" altLang="en-US" sz="1600" dirty="0">
                <a:latin typeface="+mn-ea"/>
              </a:rPr>
              <a:t>규범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5995198" y="1658061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1637276" y="2936843"/>
            <a:ext cx="7637354" cy="2441079"/>
            <a:chOff x="1637276" y="2936843"/>
            <a:chExt cx="7637354" cy="2441079"/>
          </a:xfrm>
        </p:grpSpPr>
        <p:sp>
          <p:nvSpPr>
            <p:cNvPr id="41" name="TextBox 40"/>
            <p:cNvSpPr txBox="1"/>
            <p:nvPr/>
          </p:nvSpPr>
          <p:spPr>
            <a:xfrm>
              <a:off x="1637276" y="3558479"/>
              <a:ext cx="76373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맡은 일을 성실하게 완수한다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37276" y="4196021"/>
              <a:ext cx="76373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타인의 아이디어를 표절하지 않는다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7276" y="4916257"/>
              <a:ext cx="7637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공공의 이익에 해가 되는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상품을 기획하지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않는다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809155" y="2936843"/>
              <a:ext cx="17062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spc="-150" dirty="0" smtClean="0">
                  <a:solidFill>
                    <a:srgbClr val="0070C0"/>
                  </a:solidFill>
                  <a:latin typeface="+mn-ea"/>
                </a:rPr>
                <a:t>상품 기획자</a:t>
              </a:r>
              <a:endParaRPr lang="ko-KR" altLang="en-US" sz="2400" spc="-150" dirty="0">
                <a:solidFill>
                  <a:srgbClr val="0070C0"/>
                </a:solidFill>
                <a:latin typeface="+mn-ea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3256873"/>
            <a:ext cx="1282388" cy="495431"/>
            <a:chOff x="10075659" y="2003022"/>
            <a:chExt cx="1178665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375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42" y="2493764"/>
            <a:ext cx="8677068" cy="4211836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다음은 의사가 지켜야 하는 직업윤리를 담은 강령이다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이를 참고하여 </a:t>
            </a:r>
            <a:r>
              <a:rPr lang="ko-KR" altLang="en-US" sz="2000" b="1" dirty="0" smtClean="0">
                <a:latin typeface="+mn-ea"/>
              </a:rPr>
              <a:t>내가 </a:t>
            </a:r>
            <a:r>
              <a:rPr lang="ko-KR" altLang="en-US" sz="2000" b="1" dirty="0">
                <a:latin typeface="+mn-ea"/>
              </a:rPr>
              <a:t>희망하는 직업의 직업윤리 강령을 만들어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630925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630925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9417229" y="5368116"/>
            <a:ext cx="16466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강령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어떤 단체의 </a:t>
            </a:r>
            <a:r>
              <a:rPr lang="ko-KR" altLang="en-US" sz="1600" dirty="0" smtClean="0">
                <a:latin typeface="+mn-ea"/>
              </a:rPr>
              <a:t>방침이나 행동 </a:t>
            </a:r>
            <a:r>
              <a:rPr lang="ko-KR" altLang="en-US" sz="1600" dirty="0">
                <a:latin typeface="+mn-ea"/>
              </a:rPr>
              <a:t>규범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5982498" y="1607261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637276" y="3558479"/>
            <a:ext cx="7637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맡은 일을 성실하게 완수한다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37276" y="4196021"/>
            <a:ext cx="7637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타인의 아이디어를 표절하지 않는다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37276" y="4916257"/>
            <a:ext cx="7637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공공의 이익에 해가 되는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상품을 기획하지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않는다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09155" y="2936843"/>
            <a:ext cx="1706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150" dirty="0" smtClean="0">
                <a:solidFill>
                  <a:srgbClr val="0070C0"/>
                </a:solidFill>
                <a:latin typeface="+mn-ea"/>
              </a:rPr>
              <a:t>상품 기획자</a:t>
            </a:r>
            <a:endParaRPr lang="ko-KR" altLang="en-US" sz="2400" spc="-15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3256873"/>
            <a:ext cx="1282388" cy="495431"/>
            <a:chOff x="10075659" y="2003022"/>
            <a:chExt cx="1178665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8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49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0" name="그림 49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52" name="그림 5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622055" y="2016924"/>
            <a:ext cx="10752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직업윤리 강령을 만들 때는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내가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직업 생활에서 해야 할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것과 하지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말아야 할 것을 생각해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보아요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453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직업윤리의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실천을 다짐하는 연설문 작성하기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en-US" altLang="ko-KR" sz="2000" b="1" dirty="0">
                <a:latin typeface="+mn-ea"/>
              </a:rPr>
              <a:t>30</a:t>
            </a:r>
            <a:r>
              <a:rPr lang="ko-KR" altLang="en-US" sz="2000" b="1" dirty="0">
                <a:latin typeface="+mn-ea"/>
              </a:rPr>
              <a:t>년 뒤 직업윤리를 잘 지킨 인물로 뽑혀 직업윤리에 관한 연설을 한다고 상상해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연설문을 </a:t>
            </a:r>
            <a:r>
              <a:rPr lang="ko-KR" altLang="en-US" sz="2000" b="1" dirty="0" smtClean="0">
                <a:latin typeface="+mn-ea"/>
              </a:rPr>
              <a:t>작성해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22024" y="2239038"/>
            <a:ext cx="1282388" cy="495431"/>
            <a:chOff x="10075659" y="2003022"/>
            <a:chExt cx="1178665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hlinkClick r:id="rId8" action="ppaction://hlinksldjump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6261" y="4296228"/>
            <a:ext cx="1606635" cy="2619828"/>
          </a:xfrm>
          <a:prstGeom prst="rect">
            <a:avLst/>
          </a:prstGeom>
        </p:spPr>
      </p:pic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4497"/>
            <a:ext cx="9260246" cy="316699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just">
              <a:lnSpc>
                <a:spcPct val="150000"/>
              </a:lnSpc>
            </a:pPr>
            <a:endParaRPr lang="ko-KR" altLang="en-US" sz="2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028" y="2914497"/>
            <a:ext cx="89081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+mn-ea"/>
              </a:rPr>
              <a:t>  저는 </a:t>
            </a:r>
            <a:r>
              <a:rPr lang="ko-KR" altLang="en-US" sz="2200" dirty="0">
                <a:latin typeface="+mn-ea"/>
              </a:rPr>
              <a:t>지난 </a:t>
            </a:r>
            <a:r>
              <a:rPr lang="en-US" altLang="ko-KR" sz="2200" dirty="0">
                <a:latin typeface="+mn-ea"/>
              </a:rPr>
              <a:t>30</a:t>
            </a:r>
            <a:r>
              <a:rPr lang="ko-KR" altLang="en-US" sz="2200" dirty="0">
                <a:latin typeface="+mn-ea"/>
              </a:rPr>
              <a:t>년 동안 </a:t>
            </a:r>
            <a:r>
              <a:rPr lang="ko-KR" altLang="en-US" sz="2200" dirty="0" smtClean="0">
                <a:latin typeface="+mn-ea"/>
              </a:rPr>
              <a:t>⑴</a:t>
            </a:r>
            <a:r>
              <a:rPr lang="en-US" altLang="ko-KR" sz="2200" dirty="0">
                <a:latin typeface="+mn-ea"/>
              </a:rPr>
              <a:t> </a:t>
            </a:r>
            <a:r>
              <a:rPr lang="en-US" altLang="ko-KR" sz="2200" dirty="0" smtClean="0">
                <a:latin typeface="+mn-ea"/>
              </a:rPr>
              <a:t>                                             (</a:t>
            </a:r>
            <a:r>
              <a:rPr lang="ko-KR" altLang="en-US" sz="2200" dirty="0">
                <a:latin typeface="+mn-ea"/>
              </a:rPr>
              <a:t>으</a:t>
            </a:r>
            <a:r>
              <a:rPr lang="en-US" altLang="ko-KR" sz="2200" dirty="0">
                <a:latin typeface="+mn-ea"/>
              </a:rPr>
              <a:t>)</a:t>
            </a:r>
            <a:r>
              <a:rPr lang="ko-KR" altLang="en-US" sz="2200" dirty="0">
                <a:latin typeface="+mn-ea"/>
              </a:rPr>
              <a:t>로서 </a:t>
            </a:r>
            <a:endParaRPr lang="en-US" altLang="ko-KR" sz="22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+mn-ea"/>
              </a:rPr>
              <a:t>직업윤리를 </a:t>
            </a:r>
            <a:r>
              <a:rPr lang="ko-KR" altLang="en-US" sz="2200" dirty="0">
                <a:latin typeface="+mn-ea"/>
              </a:rPr>
              <a:t>지켜 일한 공로를 인정받아 지금 이 자리에 섰습니다</a:t>
            </a:r>
            <a:r>
              <a:rPr lang="en-US" altLang="ko-KR" sz="2200" dirty="0">
                <a:latin typeface="+mn-ea"/>
              </a:rPr>
              <a:t>. </a:t>
            </a:r>
            <a:r>
              <a:rPr lang="ko-KR" altLang="en-US" sz="2200" dirty="0">
                <a:latin typeface="+mn-ea"/>
              </a:rPr>
              <a:t>직업윤리를 지키기 위한 저의 노력은 중학교 때 제가 희망하는 직업에서 지켜야 할 직업윤리 강령을 스스로 만들었던 것에서부터 시작되었지요</a:t>
            </a:r>
            <a:r>
              <a:rPr lang="en-US" altLang="ko-KR" sz="2200" dirty="0">
                <a:latin typeface="+mn-ea"/>
              </a:rPr>
              <a:t>. </a:t>
            </a:r>
            <a:r>
              <a:rPr lang="ko-KR" altLang="en-US" sz="2200" dirty="0">
                <a:latin typeface="+mn-ea"/>
              </a:rPr>
              <a:t>그리고 제가 꿈꾸던 직업을 얻은 뒤</a:t>
            </a:r>
            <a:r>
              <a:rPr lang="en-US" altLang="ko-KR" sz="2200" dirty="0">
                <a:latin typeface="+mn-ea"/>
              </a:rPr>
              <a:t>, </a:t>
            </a:r>
            <a:r>
              <a:rPr lang="ko-KR" altLang="en-US" sz="2200" dirty="0">
                <a:latin typeface="+mn-ea"/>
              </a:rPr>
              <a:t>직업윤리를 지키는 것을 더욱 중요하게 여기며 직업 생활을 하였습니다</a:t>
            </a:r>
            <a:r>
              <a:rPr lang="en-US" altLang="ko-KR" sz="2200" dirty="0" smtClean="0">
                <a:latin typeface="+mn-ea"/>
              </a:rPr>
              <a:t>.</a:t>
            </a:r>
            <a:endParaRPr lang="ko-KR" altLang="en-US" sz="2200" dirty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52686" y="2889565"/>
            <a:ext cx="441234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200" dirty="0" smtClean="0">
                <a:solidFill>
                  <a:srgbClr val="0070C0"/>
                </a:solidFill>
                <a:latin typeface="+mn-ea"/>
              </a:rPr>
              <a:t>의사</a:t>
            </a:r>
            <a:endParaRPr lang="ko-KR" altLang="en-US" sz="22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252686" y="3384059"/>
            <a:ext cx="44123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hlinkClick r:id="" action="ppaction://hlinkshowjump?jump=next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hlinkClick r:id="rId10" action="ppaction://hlinksldjump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hlinkClick r:id="rId11" action="ppaction://hlinksldjump"/>
          </p:cNvPr>
          <p:cNvSpPr/>
          <p:nvPr/>
        </p:nvSpPr>
        <p:spPr>
          <a:xfrm>
            <a:off x="6556851" y="626151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68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직업윤리의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실천을 다짐하는 연설문 작성하기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en-US" altLang="ko-KR" sz="2000" b="1" dirty="0">
                <a:latin typeface="+mn-ea"/>
              </a:rPr>
              <a:t>30</a:t>
            </a:r>
            <a:r>
              <a:rPr lang="ko-KR" altLang="en-US" sz="2000" b="1" dirty="0">
                <a:latin typeface="+mn-ea"/>
              </a:rPr>
              <a:t>년 뒤 직업윤리를 잘 지킨 인물로 뽑혀 직업윤리에 관한 연설을 한다고 상상해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연설문을 </a:t>
            </a:r>
            <a:r>
              <a:rPr lang="ko-KR" altLang="en-US" sz="2000" b="1" dirty="0" smtClean="0">
                <a:latin typeface="+mn-ea"/>
              </a:rPr>
              <a:t>작성해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6261" y="4296228"/>
            <a:ext cx="1606635" cy="2619828"/>
          </a:xfrm>
          <a:prstGeom prst="rect">
            <a:avLst/>
          </a:prstGeom>
        </p:spPr>
      </p:pic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4497"/>
            <a:ext cx="9260246" cy="316699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just">
              <a:lnSpc>
                <a:spcPct val="150000"/>
              </a:lnSpc>
            </a:pPr>
            <a:endParaRPr lang="ko-KR" altLang="en-US" sz="2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028" y="2914497"/>
            <a:ext cx="8908171" cy="26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200" dirty="0">
                <a:latin typeface="+mn-ea"/>
              </a:rPr>
              <a:t>  제가 중요하게 여긴 </a:t>
            </a:r>
            <a:r>
              <a:rPr lang="ko-KR" altLang="en-US" sz="2200" dirty="0" err="1">
                <a:latin typeface="+mn-ea"/>
              </a:rPr>
              <a:t>직업윤리는</a:t>
            </a:r>
            <a:r>
              <a:rPr lang="ko-KR" altLang="en-US" sz="2200" dirty="0">
                <a:latin typeface="+mn-ea"/>
              </a:rPr>
              <a:t> ⑵ </a:t>
            </a:r>
            <a:endParaRPr lang="en-US" altLang="ko-KR" sz="2200" dirty="0" smtClean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2200" dirty="0">
                <a:latin typeface="+mn-ea"/>
              </a:rPr>
              <a:t> </a:t>
            </a:r>
            <a:r>
              <a:rPr lang="en-US" altLang="ko-KR" sz="2200" dirty="0" smtClean="0">
                <a:latin typeface="+mn-ea"/>
              </a:rPr>
              <a:t>                                                  </a:t>
            </a:r>
          </a:p>
          <a:p>
            <a:pPr algn="r">
              <a:lnSpc>
                <a:spcPct val="200000"/>
              </a:lnSpc>
            </a:pPr>
            <a:endParaRPr lang="en-US" altLang="ko-KR" sz="22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2200" dirty="0" smtClean="0">
                <a:latin typeface="+mn-ea"/>
              </a:rPr>
              <a:t>                            </a:t>
            </a:r>
            <a:r>
              <a:rPr lang="ko-KR" altLang="en-US" sz="2200" dirty="0" smtClean="0">
                <a:latin typeface="+mn-ea"/>
              </a:rPr>
              <a:t>입니다</a:t>
            </a:r>
            <a:r>
              <a:rPr lang="en-US" altLang="ko-KR" sz="2200" dirty="0" smtClean="0">
                <a:latin typeface="+mn-ea"/>
              </a:rPr>
              <a:t>.</a:t>
            </a:r>
          </a:p>
        </p:txBody>
      </p:sp>
      <p:cxnSp>
        <p:nvCxnSpPr>
          <p:cNvPr id="10" name="직선 연결선 9"/>
          <p:cNvCxnSpPr/>
          <p:nvPr/>
        </p:nvCxnSpPr>
        <p:spPr>
          <a:xfrm flipV="1">
            <a:off x="1108655" y="5583763"/>
            <a:ext cx="7722926" cy="1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5838" y="3568153"/>
            <a:ext cx="8848606" cy="1338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환자와 서로 신뢰하고 존중하는 관계를 유지하며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환자의 건강을 최우선으로 고려한다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.’</a:t>
            </a:r>
            <a:endParaRPr lang="ko-KR" altLang="en-US" sz="22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108655" y="4165597"/>
            <a:ext cx="86552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5639101" y="3476172"/>
            <a:ext cx="4089637" cy="2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1105384" y="4876797"/>
            <a:ext cx="86552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hlinkClick r:id="" action="ppaction://hlinkshowjump?jump=previousslide"/>
          </p:cNvPr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hlinkClick r:id="rId8" action="ppaction://hlinksldjump"/>
          </p:cNvPr>
          <p:cNvSpPr/>
          <p:nvPr/>
        </p:nvSpPr>
        <p:spPr>
          <a:xfrm>
            <a:off x="6556851" y="626151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67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직업윤리의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실천을 다짐하는 연설문 작성하기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en-US" altLang="ko-KR" sz="2000" b="1" dirty="0">
                <a:latin typeface="+mn-ea"/>
              </a:rPr>
              <a:t>30</a:t>
            </a:r>
            <a:r>
              <a:rPr lang="ko-KR" altLang="en-US" sz="2000" b="1" dirty="0">
                <a:latin typeface="+mn-ea"/>
              </a:rPr>
              <a:t>년 뒤 직업윤리를 잘 지킨 인물로 뽑혀 직업윤리에 관한 연설을 한다고 상상해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연설문을 </a:t>
            </a:r>
            <a:r>
              <a:rPr lang="ko-KR" altLang="en-US" sz="2000" b="1" dirty="0" smtClean="0">
                <a:latin typeface="+mn-ea"/>
              </a:rPr>
              <a:t>작성해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6261" y="4296228"/>
            <a:ext cx="1606635" cy="2619828"/>
          </a:xfrm>
          <a:prstGeom prst="rect">
            <a:avLst/>
          </a:prstGeom>
        </p:spPr>
      </p:pic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4497"/>
            <a:ext cx="9260246" cy="316699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just">
              <a:lnSpc>
                <a:spcPct val="150000"/>
              </a:lnSpc>
            </a:pPr>
            <a:endParaRPr lang="ko-KR" altLang="en-US" sz="2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2171" y="2941118"/>
            <a:ext cx="890817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200" dirty="0">
                <a:latin typeface="+mn-ea"/>
              </a:rPr>
              <a:t>  저는 직업윤리를 지키고자 </a:t>
            </a:r>
            <a:r>
              <a:rPr lang="ko-KR" altLang="en-US" sz="2200" dirty="0" smtClean="0">
                <a:latin typeface="+mn-ea"/>
              </a:rPr>
              <a:t>⑶</a:t>
            </a:r>
            <a:endParaRPr lang="en-US" altLang="ko-KR" sz="2200" dirty="0" smtClean="0">
              <a:latin typeface="+mn-ea"/>
            </a:endParaRPr>
          </a:p>
          <a:p>
            <a:pPr algn="just">
              <a:lnSpc>
                <a:spcPct val="200000"/>
              </a:lnSpc>
            </a:pPr>
            <a:endParaRPr lang="en-US" altLang="ko-KR" sz="22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2200" dirty="0" smtClean="0">
                <a:latin typeface="+mn-ea"/>
              </a:rPr>
              <a:t>                                                   (</a:t>
            </a:r>
            <a:r>
              <a:rPr lang="ko-KR" altLang="en-US" sz="2200" dirty="0">
                <a:latin typeface="+mn-ea"/>
              </a:rPr>
              <a:t>이</a:t>
            </a:r>
            <a:r>
              <a:rPr lang="en-US" altLang="ko-KR" sz="2200" dirty="0">
                <a:latin typeface="+mn-ea"/>
              </a:rPr>
              <a:t>)</a:t>
            </a:r>
            <a:r>
              <a:rPr lang="ko-KR" altLang="en-US" sz="2200" dirty="0">
                <a:latin typeface="+mn-ea"/>
              </a:rPr>
              <a:t>라는 노력을 해 왔습니다</a:t>
            </a:r>
            <a:r>
              <a:rPr lang="en-US" altLang="ko-KR" sz="2200" dirty="0">
                <a:latin typeface="+mn-ea"/>
              </a:rPr>
              <a:t>. </a:t>
            </a:r>
            <a:endParaRPr lang="en-US" altLang="ko-KR" sz="2200" dirty="0" smtClean="0">
              <a:latin typeface="+mn-ea"/>
            </a:endParaRPr>
          </a:p>
          <a:p>
            <a:pPr algn="just">
              <a:lnSpc>
                <a:spcPct val="200000"/>
              </a:lnSpc>
            </a:pPr>
            <a:r>
              <a:rPr lang="ko-KR" altLang="en-US" sz="2200" dirty="0" smtClean="0">
                <a:latin typeface="+mn-ea"/>
              </a:rPr>
              <a:t>이러한 </a:t>
            </a:r>
            <a:r>
              <a:rPr lang="ko-KR" altLang="en-US" sz="2200" dirty="0">
                <a:latin typeface="+mn-ea"/>
              </a:rPr>
              <a:t>노력 덕분에 이 자리에서 공로상을 받을 수 있다고 생각합니다</a:t>
            </a:r>
            <a:r>
              <a:rPr lang="en-US" altLang="ko-KR" sz="2200" dirty="0">
                <a:latin typeface="+mn-ea"/>
              </a:rPr>
              <a:t>. </a:t>
            </a:r>
            <a:r>
              <a:rPr lang="ko-KR" altLang="en-US" sz="2200" dirty="0" smtClean="0">
                <a:latin typeface="+mn-ea"/>
              </a:rPr>
              <a:t> </a:t>
            </a:r>
            <a:endParaRPr lang="en-US" altLang="ko-KR" sz="2200" dirty="0" smtClean="0">
              <a:latin typeface="+mn-ea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1108655" y="4165597"/>
            <a:ext cx="86552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4876800" y="3526971"/>
            <a:ext cx="48871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1118342" y="4876800"/>
            <a:ext cx="48871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005838" y="2885633"/>
            <a:ext cx="9251549" cy="2129070"/>
            <a:chOff x="1005838" y="2885633"/>
            <a:chExt cx="9251549" cy="2129070"/>
          </a:xfrm>
        </p:grpSpPr>
        <p:sp>
          <p:nvSpPr>
            <p:cNvPr id="49" name="TextBox 48"/>
            <p:cNvSpPr txBox="1"/>
            <p:nvPr/>
          </p:nvSpPr>
          <p:spPr>
            <a:xfrm>
              <a:off x="1005838" y="3568153"/>
              <a:ext cx="884860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환자의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이해를 돕고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환자에게 정확한 정보를 제공하여 서로 신뢰하는 관계를 만들기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366179" y="2885633"/>
              <a:ext cx="489120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어려운 의학 용어를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쉽게 설명하여 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</p:grpSp>
      <p:sp>
        <p:nvSpPr>
          <p:cNvPr id="51" name="타원 5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hlinkClick r:id="rId8" action="ppaction://hlinksldjump"/>
          </p:cNvPr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hlinkClick r:id="" action="ppaction://hlinkshowjump?jump=nextslide"/>
          </p:cNvPr>
          <p:cNvSpPr/>
          <p:nvPr/>
        </p:nvSpPr>
        <p:spPr>
          <a:xfrm>
            <a:off x="6556851" y="626151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04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직업윤리의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실천을 다짐하는 연설문 작성하기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en-US" altLang="ko-KR" sz="2000" b="1" dirty="0">
                <a:latin typeface="+mn-ea"/>
              </a:rPr>
              <a:t>30</a:t>
            </a:r>
            <a:r>
              <a:rPr lang="ko-KR" altLang="en-US" sz="2000" b="1" dirty="0">
                <a:latin typeface="+mn-ea"/>
              </a:rPr>
              <a:t>년 뒤 직업윤리를 잘 지킨 인물로 뽑혀 직업윤리에 관한 연설을 한다고 상상해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연설문을 </a:t>
            </a:r>
            <a:r>
              <a:rPr lang="ko-KR" altLang="en-US" sz="2000" b="1" dirty="0" smtClean="0">
                <a:latin typeface="+mn-ea"/>
              </a:rPr>
              <a:t>작성해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6261" y="4296228"/>
            <a:ext cx="1606635" cy="2619828"/>
          </a:xfrm>
          <a:prstGeom prst="rect">
            <a:avLst/>
          </a:prstGeom>
        </p:spPr>
      </p:pic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4497"/>
            <a:ext cx="9260246" cy="316699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just">
              <a:lnSpc>
                <a:spcPct val="150000"/>
              </a:lnSpc>
            </a:pPr>
            <a:endParaRPr lang="ko-KR" altLang="en-US" sz="2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2171" y="2941118"/>
            <a:ext cx="890817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200" dirty="0">
                <a:latin typeface="+mn-ea"/>
              </a:rPr>
              <a:t>  앞으로도 직업 생활을 마치는 날까지 직업윤리를 잘 지킬 수 있도록 ⑷ </a:t>
            </a:r>
          </a:p>
          <a:p>
            <a:pPr algn="just">
              <a:lnSpc>
                <a:spcPct val="200000"/>
              </a:lnSpc>
            </a:pPr>
            <a:endParaRPr lang="en-US" altLang="ko-KR" sz="2800" dirty="0" smtClean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ko-KR" altLang="en-US" sz="2200" dirty="0" smtClean="0">
                <a:latin typeface="+mn-ea"/>
              </a:rPr>
              <a:t>과</a:t>
            </a:r>
            <a:r>
              <a:rPr lang="en-US" altLang="ko-KR" sz="2200" dirty="0">
                <a:latin typeface="+mn-ea"/>
              </a:rPr>
              <a:t>/</a:t>
            </a:r>
            <a:r>
              <a:rPr lang="ko-KR" altLang="en-US" sz="2200" dirty="0">
                <a:latin typeface="+mn-ea"/>
              </a:rPr>
              <a:t>와 같은 노력을 하겠습니다</a:t>
            </a:r>
            <a:r>
              <a:rPr lang="en-US" altLang="ko-KR" sz="2200" dirty="0">
                <a:latin typeface="+mn-ea"/>
              </a:rPr>
              <a:t>. </a:t>
            </a:r>
            <a:r>
              <a:rPr lang="ko-KR" altLang="en-US" sz="2200" dirty="0">
                <a:latin typeface="+mn-ea"/>
              </a:rPr>
              <a:t>감사합니다</a:t>
            </a:r>
            <a:endParaRPr lang="en-US" altLang="ko-KR" sz="2200" dirty="0" smtClean="0">
              <a:latin typeface="+mn-ea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1108655" y="4252681"/>
            <a:ext cx="86552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1094442" y="5000166"/>
            <a:ext cx="86552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94442" y="5737225"/>
            <a:ext cx="33251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365524" y="3682754"/>
            <a:ext cx="56575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환자의 입장에서 생각하는 의료인이 되기</a:t>
            </a:r>
          </a:p>
        </p:txBody>
      </p:sp>
      <p:sp>
        <p:nvSpPr>
          <p:cNvPr id="44" name="타원 43">
            <a:hlinkClick r:id="rId8" action="ppaction://hlinksldjump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hlinkClick r:id="" action="ppaction://hlinkshowjump?jump=previous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hlinkClick r:id="rId9" action="ppaction://hlinksldjump"/>
          </p:cNvPr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6556851" y="626151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08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42" grpId="0"/>
      <p:bldP spid="4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직업윤리의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실천을 다짐하는 연설문 작성하기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en-US" altLang="ko-KR" sz="2000" b="1" dirty="0">
                <a:latin typeface="+mn-ea"/>
              </a:rPr>
              <a:t>30</a:t>
            </a:r>
            <a:r>
              <a:rPr lang="ko-KR" altLang="en-US" sz="2000" b="1" dirty="0">
                <a:latin typeface="+mn-ea"/>
              </a:rPr>
              <a:t>년 뒤 직업윤리를 잘 지킨 인물로 뽑혀 직업윤리에 관한 연설을 한다고 상상해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연설문을 </a:t>
            </a:r>
            <a:r>
              <a:rPr lang="ko-KR" altLang="en-US" sz="2000" b="1" dirty="0" smtClean="0">
                <a:latin typeface="+mn-ea"/>
              </a:rPr>
              <a:t>작성해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22024" y="2239038"/>
            <a:ext cx="1282388" cy="495431"/>
            <a:chOff x="10075659" y="2003022"/>
            <a:chExt cx="1178665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6261" y="4296228"/>
            <a:ext cx="1606635" cy="2619828"/>
          </a:xfrm>
          <a:prstGeom prst="rect">
            <a:avLst/>
          </a:prstGeom>
        </p:spPr>
      </p:pic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4497"/>
            <a:ext cx="9260246" cy="316699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just">
              <a:lnSpc>
                <a:spcPct val="150000"/>
              </a:lnSpc>
            </a:pPr>
            <a:endParaRPr lang="ko-KR" altLang="en-US" sz="2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2171" y="2941118"/>
            <a:ext cx="890817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200" dirty="0">
                <a:latin typeface="+mn-ea"/>
              </a:rPr>
              <a:t>  앞으로도 직업 생활을 마치는 날까지 직업윤리를 잘 지킬 수 있도록 ⑷ </a:t>
            </a:r>
          </a:p>
          <a:p>
            <a:pPr algn="just">
              <a:lnSpc>
                <a:spcPct val="200000"/>
              </a:lnSpc>
            </a:pPr>
            <a:endParaRPr lang="en-US" altLang="ko-KR" sz="2800" dirty="0" smtClean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ko-KR" altLang="en-US" sz="2200" dirty="0" smtClean="0">
                <a:latin typeface="+mn-ea"/>
              </a:rPr>
              <a:t>과</a:t>
            </a:r>
            <a:r>
              <a:rPr lang="en-US" altLang="ko-KR" sz="2200" dirty="0">
                <a:latin typeface="+mn-ea"/>
              </a:rPr>
              <a:t>/</a:t>
            </a:r>
            <a:r>
              <a:rPr lang="ko-KR" altLang="en-US" sz="2200" dirty="0">
                <a:latin typeface="+mn-ea"/>
              </a:rPr>
              <a:t>와 같은 노력을 하겠습니다</a:t>
            </a:r>
            <a:r>
              <a:rPr lang="en-US" altLang="ko-KR" sz="2200" dirty="0">
                <a:latin typeface="+mn-ea"/>
              </a:rPr>
              <a:t>. </a:t>
            </a:r>
            <a:r>
              <a:rPr lang="ko-KR" altLang="en-US" sz="2200" dirty="0">
                <a:latin typeface="+mn-ea"/>
              </a:rPr>
              <a:t>감사합니다</a:t>
            </a:r>
            <a:endParaRPr lang="en-US" altLang="ko-KR" sz="2200" dirty="0" smtClean="0">
              <a:latin typeface="+mn-ea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1108655" y="4252681"/>
            <a:ext cx="86552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1094442" y="5000166"/>
            <a:ext cx="86552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94442" y="5737225"/>
            <a:ext cx="33251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365524" y="3682754"/>
            <a:ext cx="56575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환자의 입장에서 생각하는 의료인이 되기</a:t>
            </a:r>
          </a:p>
        </p:txBody>
      </p:sp>
      <p:sp>
        <p:nvSpPr>
          <p:cNvPr id="44" name="타원 4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/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hlinkClick r:id="" action="ppaction://hlinkshowjump?jump=nextslide"/>
          </p:cNvPr>
          <p:cNvSpPr/>
          <p:nvPr/>
        </p:nvSpPr>
        <p:spPr>
          <a:xfrm>
            <a:off x="6556851" y="626151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40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1" name="그림 40" descr="상징, 원, 다채로움, 그린이(가) 표시된 사진&#10;&#10;자동 생성된 설명">
            <a:hlinkClick r:id="rId9" action="ppaction://hlinksldjump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49" name="그림 4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622055" y="2016924"/>
            <a:ext cx="1075216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아래 내용을 포함하여 연설문을 작성해요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(1)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나의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희망 직업 </a:t>
            </a: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(2)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내가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구성한 희망 직업의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직업윤리</a:t>
            </a: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(3)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직업윤리를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실천하기 위한 구체적인 노력 </a:t>
            </a: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(4)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직업윤리를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지키려는 다짐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142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직업윤리의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실천을 다짐하는 연설문 작성하기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2. 1</a:t>
            </a:r>
            <a:r>
              <a:rPr lang="ko-KR" altLang="en-US" sz="2000" b="1" dirty="0" smtClean="0">
                <a:latin typeface="+mn-ea"/>
              </a:rPr>
              <a:t>에서 </a:t>
            </a:r>
            <a:r>
              <a:rPr lang="ko-KR" altLang="en-US" sz="2000" b="1" dirty="0">
                <a:latin typeface="+mn-ea"/>
              </a:rPr>
              <a:t>작성한 연설문을 읽으며 미래에 직업윤리를 실천할 것을 다짐해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399" y="2914497"/>
            <a:ext cx="10251561" cy="316699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just">
              <a:lnSpc>
                <a:spcPct val="150000"/>
              </a:lnSpc>
            </a:pPr>
            <a:endParaRPr lang="ko-KR" altLang="en-US" sz="2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31848" y="2920997"/>
            <a:ext cx="9440231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나는 미래에 직업윤리를 잘 지키며 직업 생활에 임할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008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물음에 답하며 이 단원에서 배운 내용을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앞으로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노력할 점을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생각하여 써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885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5602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희망하는 진로를 충실히 설계하였는가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희망하는 직업에서 지켜야 하는 직업윤리를 구성하였는가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나의 희망 직업에 필요한 직업윤리를 알아보고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미래에 이를 지키고자 노력할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노력할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1097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관계적 존재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- 01.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나 혼자만 존재할 수 있을까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진로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‘앞으로 나아갈 길’이라는 뜻으로, 우리가 살아가는 모든 삶의 과정과 관련이 깊음.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직업 하나가 아니라 어떤 사람으로 살지의 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진로를 설계할 때는 개인의 특성이나 직업에 관한 탐색과 함께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직업윤리 </a:t>
            </a:r>
            <a:r>
              <a:rPr sz="2400" b="0">
                <a:solidFill>
                  <a:srgbClr val="262626"/>
                </a:solidFill>
              </a:rPr>
              <a:t>를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의사 → 환자의 생명 존중, 비밀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희망 진로를 설계하는 방법은?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‘앞으로 나아갈 길’이라는 뜻으로, 우리가 살아가는 모든 삶의 과정과 관련이 깊음.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직업 하나가 아니라 어떤 사람으로 살지의 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진로를 설계할 때는 개인의 특성이나 직업에 관한 탐색과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직업윤리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의사 → 환자의 생명 존중, 비밀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희망 진로를 설계하는 방법은?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‘앞으로 나아갈 길’이라는 뜻으로, 우리가 살아가는 모든 삶의 과정과 관련이 깊음.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직업 하나가 아니라 어떤 사람으로 살지의 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진로를 설계할 때는 개인의 특성이나 직업에 관한 탐색과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직업윤리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의사 → 환자의 생명 존중, 비밀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희망 진로를 설계하는 방법은?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‘앞으로 나아갈 길’이라는 뜻으로, 우리가 살아가는 모든 삶의 과정과 관련이 깊음.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직업 하나가 아니라 어떤 사람으로 살지의 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진로를 설계할 때는 개인의 특성이나 직업에 관한 탐색과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직업윤리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의사 → 환자의 생명 존중, 비밀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희망 진로를 설계하는 방법은?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희망 진로 설계하기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내가 잘하는 일, 좋아하는 일, 의미 있다고 생각하는 일 등을 토대로 자신에 관해 탐구하여 희망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직업 </a:t>
            </a:r>
            <a:r>
              <a:rPr sz="2400" b="0">
                <a:solidFill>
                  <a:srgbClr val="262626"/>
                </a:solidFill>
              </a:rPr>
              <a:t>을 찾아야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동물을 좋아하고 과학을 잘한다 → 수의사, 사육사, 생태 연구원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나의 희망 직업에 관한 정보를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희망 직업이 자신의 삶에 어떤 의미나 가치가 있는지, 자신이 추구하는 삶의 방향과 일치하는지 등을 살펴보아야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내가 잘하는 일, 좋아하는 일, 의미 있다고 생각하는 일 등을 토대로 자신에 관해 탐구하여 희망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직업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찾아야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동물을 좋아하고 과학을 잘한다 → 수의사, 사육사, 생태 연구원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나의 희망 직업에 관한 정보를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희망 직업이 자신의 삶에 어떤 의미나 가치가 있는지, 자신이 추구하는 삶의 방향과 일치하는지 등을 살펴보아야 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내가 잘하는 일, 좋아하는 일, 의미 있다고 생각하는 일 등을 토대로 자신에 관해 탐구하여 희망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직업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찾아야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동물을 좋아하고 과학을 잘한다 → 수의사, 사육사, 생태 연구원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나의 희망 직업에 관한 정보를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희망 직업이 자신의 삶에 어떤 의미나 가치가 있는지, 자신이 추구하는 삶의 방향과 일치하는지 등을 살펴보아야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희망 직업의 직업윤리 구성하기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희망 진로를 설계하여 내가 희망하는 직업을 찾았다면 그 직업에서 필요한 직업윤리를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직업윤리를 구성하는 것의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직업윤리를 스스로 구성해 봄으로써 우리는 직업윤리를 지키려는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의지 </a:t>
            </a:r>
            <a:r>
              <a:rPr sz="2400" b="0">
                <a:solidFill>
                  <a:srgbClr val="262626"/>
                </a:solidFill>
              </a:rPr>
              <a:t>를 기를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직업은 우리 삶의 중요한 부분으로, 직업윤리를 지키는 것은 도덕적으로 행동하는 것임.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앞으로 직업 생활을 하면서 자신의 직업에 필요한 직업윤리를 알고 이를 지킨다면 바람직한 직업 생활을 할 수 있으며,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도덕 </a:t>
            </a:r>
            <a:r>
              <a:rPr sz="2400" b="0">
                <a:solidFill>
                  <a:srgbClr val="262626"/>
                </a:solidFill>
              </a:rPr>
              <a:t>적인 삶을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“30년 뒤 나는 어떤 직업윤리 공로상을 받을까?”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희망 진로를 설계하여 내가 희망하는 직업을 찾았다면 그 직업에서 필요한 직업윤리를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직업윤리를 구성하는 것의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스스로 구성해 봄으로써 우리는 직업윤리를 지키려는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기를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우리 삶의 중요한 부분으로, 직업윤리를 지키는 것은 도덕적으로 행동하는 것임.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앞으로 직업 생활을 하면서 자신의 직업에 필요한 직업윤리를 알고 이를 지킨다면 바람직한 직업 생활을 할 수 있으며,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삶을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“30년 뒤 나는 어떤 직업윤리 공로상을 받을까?”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희망 진로를 설계하여 내가 희망하는 직업을 찾았다면 그 직업에서 필요한 직업윤리를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직업윤리를 구성하는 것의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스스로 구성해 봄으로써 우리는 직업윤리를 지키려는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기를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우리 삶의 중요한 부분으로, 직업윤리를 지키는 것은 도덕적으로 행동하는 것임.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앞으로 직업 생활을 하면서 자신의 직업에 필요한 직업윤리를 알고 이를 지킨다면 바람직한 직업 생활을 할 수 있으며,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삶을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“30년 뒤 나는 어떤 직업윤리 공로상을 받을까?”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희망 진로를 설계하여 내가 희망하는 직업을 찾았다면 그 직업에서 필요한 직업윤리를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직업윤리를 구성하는 것의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스스로 구성해 봄으로써 우리는 직업윤리를 지키려는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기를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우리 삶의 중요한 부분으로, 직업윤리를 지키는 것은 도덕적으로 행동하는 것임.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앞으로 직업 생활을 하면서 자신의 직업에 필요한 직업윤리를 알고 이를 지킨다면 바람직한 직업 생활을 할 수 있으며,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삶을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“30년 뒤 나는 어떤 직업윤리 공로상을 받을까?”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‘뒷광고’ 논란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2020년 · 대한민국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일 · 여러 유튜버가 돈을 받고 만든 광고 영상을 광고라고 밝히지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반응 · 구독자들이 속았다며 크게 실망했다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제도 · 공정거래위원회가 광고임을 분명히 표시하도록 지침을 고쳤다(2020.9 시행)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교훈 · 새로운 직업일수록 스스로 지키는 윤리가 중요하다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유튜버에게 필요한 직업윤리는?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2020년 · 대한민국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 · 여러 유튜버가 돈을 받고 만든 광고 영상을 광고라고 밝히지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반응 · 구독자들이 속았다며 크게 실망했다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제도 · 공정거래위원회가 광고임을 분명히 표시하도록 지침을 고쳤다(2020.9 시행)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교훈 · 새로운 직업일수록 스스로 지키는 윤리가 중요하다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유튜버에게 필요한 직업윤리는?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새로운 직업, 새로운 윤리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🤖 AI 개발자 · 편견 없는 공정한 프로그램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🎮 게임 개발자 · 이용자 보호 · 과몰입 예방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🎥 크리에이터 · 정직한 표시 · 저작권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🛵 배달 기사 · 안전 운행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수의사가 된 나. 보호자가 치료비를 걱정하며 “검사를 다 하지 말아 달라”고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보호자 뜻대로 — 보호자의 형편을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필요한 검사를 권한다 — 동물의 건강이 먼저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두 가지를 함께 지킬 방법은?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수의사가 된 나. 보호자가 치료비를 걱정하며 “검사를 다 하지 말아 달라”고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보호자 뜻대로 — 보호자의 형편을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필요한 검사를 권한다 — 동물의 건강이 먼저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두 가지를 함께 지킬 방법은?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나의 희망 직업은?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흥미 · 좋아하는 것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적성 · 잘하는 것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가치 · 소중히 여기는 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진로는 우리가 살아가는 모든 삶의 과정과 관련이 깊으므로, 우리는 신중하게 진로를 설계해야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진로를 설계하려면 희망 직업이 자신의 삶에 어떤 의미나 가치가 있는지 등을 살펴야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직업윤리를 알고 이를 지키는 것과 도덕적인 삶을 사는 것에는 아무런 관련이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진로는 우리가 살아가는 모든 삶의 과정과 관련이 깊으므로, 우리는 신중하게 진로를 설계해야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진로를 설계하려면 희망 직업이 자신의 삶에 어떤 의미나 가치가 있는지 등을 살펴야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직업윤리를 알고 이를 지키는 것과 도덕적인 삶을 사는 것에는 아무런 관련이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진로는 우리가 살아가는 모든 삶의 과정과 관련이 깊으므로, 우리는 신중하게 진로를 설계해야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진로를 설계하려면 희망 직업이 자신의 삶에 어떤 의미나 가치가 있는지 등을 살펴야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직업윤리를 알고 이를 지키는 것과 도덕적인 삶을 사는 것에는 아무런 관련이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진로는 우리가 살아가는 모든 삶의 과정과 관련이 깊으므로, 우리는 신중하게 진로를 설계해야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진로를 설계하려면 희망 직업이 자신의 삶에 어떤 의미나 가치가 있는지 등을 살펴야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직업윤리를 알고 이를 지키는 것과 도덕적인 삶을 사는 것에는 아무런 관련이 없다.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나의 희망 진로 설계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잘하는 일 · 좋아하는 일 · 의미 있는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꼼꼼히 관찰하기 · 동물 돌보기 · 아픈 생명 돕기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희망 직업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수의사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얻을 수 있는 의미나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아픈 동물과 보호자에게 도움을 준다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잘하는 일 · 좋아하는 일 · 의미 있는 일</a:t>
            </a:r>
            <a:r>
              <a:rPr sz="2300" b="1">
                <a:solidFill>
                  <a:srgbClr val="C0392B"/>
                </a:solidFill>
              </a:rPr>
              <a:t>   예) 꼼꼼히 관찰하기 · 동물 돌보기 · 아픈 생명 돕기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희망 직업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수의사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얻을 수 있는 의미나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아픈 동물과 보호자에게 도움을 준다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잘하는 일 · 좋아하는 일 · 의미 있는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꼼꼼히 관찰하기 · 동물 돌보기 · 아픈 생명 돕기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희망 직업</a:t>
            </a:r>
            <a:r>
              <a:rPr sz="2300" b="1">
                <a:solidFill>
                  <a:srgbClr val="C0392B"/>
                </a:solidFill>
              </a:rPr>
              <a:t>   예) 수의사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얻을 수 있는 의미나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아픈 동물과 보호자에게 도움을 준다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잘하는 일 · 좋아하는 일 · 의미 있는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꼼꼼히 관찰하기 · 동물 돌보기 · 아픈 생명 돕기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희망 직업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수의사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얻을 수 있는 의미나 가치</a:t>
            </a:r>
            <a:r>
              <a:rPr sz="2300" b="1">
                <a:solidFill>
                  <a:srgbClr val="C0392B"/>
                </a:solidFill>
              </a:rPr>
              <a:t>   예) 아픈 동물과 보호자에게 도움을 준다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직업 카드 뽑기 · 윤리 세 가지 말하기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/>
                </a:solidFill>
              </a:rPr>
              <a:t>모둠이 번호를 하나 골라 미션 수행!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1. 🩺 의사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2. 🎥 크리에이터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3. 🤖 AI 개발자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4. 👩‍🏫 교사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5. 👮 경찰관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6. 🍳 요리사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7. 📰 기자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8. 🎮 게임 개발자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9. 🐾 수의사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10. 🛒 상품 기획자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나의 직업윤리 강령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내가 희망하는 직업의 </a:t>
            </a:r>
            <a:r>
              <a:rPr lang="ko-KR" altLang="en-US" b="1" dirty="0" err="1">
                <a:latin typeface="+mj-ea"/>
                <a:ea typeface="+mj-ea"/>
              </a:rPr>
              <a:t>직업윤리는</a:t>
            </a:r>
            <a:r>
              <a:rPr lang="ko-KR" altLang="en-US" b="1" dirty="0">
                <a:latin typeface="+mj-ea"/>
                <a:ea typeface="+mj-ea"/>
              </a:rPr>
              <a:t>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하나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생명을 존중하며 공정하게 진료한다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보호자에게 정직하게 설명한다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셋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새로운 지식을 꾸준히 배운다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하나</a:t>
            </a:r>
            <a:r>
              <a:rPr sz="2300" b="1">
                <a:solidFill>
                  <a:srgbClr val="C0392B"/>
                </a:solidFill>
              </a:rPr>
              <a:t>   예) 생명을 존중하며 공정하게 진료한다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보호자에게 정직하게 설명한다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셋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새로운 지식을 꾸준히 배운다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하나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생명을 존중하며 공정하게 진료한다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둘</a:t>
            </a:r>
            <a:r>
              <a:rPr sz="2300" b="1">
                <a:solidFill>
                  <a:srgbClr val="C0392B"/>
                </a:solidFill>
              </a:rPr>
              <a:t>   예) 보호자에게 정직하게 설명한다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셋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새로운 지식을 꾸준히 배운다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하나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생명을 존중하며 공정하게 진료한다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보호자에게 정직하게 설명한다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셋</a:t>
            </a:r>
            <a:r>
              <a:rPr sz="2300" b="1">
                <a:solidFill>
                  <a:srgbClr val="C0392B"/>
                </a:solidFill>
              </a:rPr>
              <a:t>   예) 새로운 지식을 꾸준히 배운다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9269</TotalTime>
  <Words>1385</Words>
  <Application>Microsoft Office PowerPoint</Application>
  <PresentationFormat>와이드스크린</PresentationFormat>
  <Paragraphs>261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AppleSDGothicNeoB00</vt:lpstr>
      <vt:lpstr>굴림</vt:lpstr>
      <vt:lpstr>나눔고딕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262</cp:revision>
  <cp:lastPrinted>2024-06-05T04:53:22Z</cp:lastPrinted>
  <dcterms:created xsi:type="dcterms:W3CDTF">2023-10-31T05:50:03Z</dcterms:created>
  <dcterms:modified xsi:type="dcterms:W3CDTF">2025-01-14T02:18:29Z</dcterms:modified>
</cp:coreProperties>
</file>