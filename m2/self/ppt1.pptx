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17"/>
  </p:notesMasterIdLst>
  <p:handoutMasterIdLst>
    <p:handoutMasterId r:id="rId18"/>
  </p:handoutMasterIdLst>
  <p:sldIdLst>
    <p:sldId id="302" r:id="rId2"/>
    <p:sldId id="301" r:id="rId3"/>
    <p:sldId id="258" r:id="rId4"/>
    <p:sldId id="304" r:id="rId5"/>
    <p:sldId id="305" r:id="rId6"/>
    <p:sldId id="387" r:id="rId7"/>
    <p:sldId id="389" r:id="rId8"/>
    <p:sldId id="306" r:id="rId9"/>
    <p:sldId id="390" r:id="rId10"/>
    <p:sldId id="391" r:id="rId11"/>
    <p:sldId id="260" r:id="rId12"/>
    <p:sldId id="393" r:id="rId13"/>
    <p:sldId id="392" r:id="rId14"/>
    <p:sldId id="394" r:id="rId24"/>
    <p:sldId id="395" r:id="rId25"/>
    <p:sldId id="396" r:id="rId26"/>
    <p:sldId id="397" r:id="rId27"/>
    <p:sldId id="398" r:id="rId28"/>
    <p:sldId id="399" r:id="rId29"/>
    <p:sldId id="400" r:id="rId30"/>
    <p:sldId id="355" r:id="rId15"/>
    <p:sldId id="401" r:id="rId31"/>
    <p:sldId id="402" r:id="rId32"/>
    <p:sldId id="403" r:id="rId33"/>
    <p:sldId id="404" r:id="rId34"/>
    <p:sldId id="348" r:id="rId16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8F3"/>
    <a:srgbClr val="FF9300"/>
    <a:srgbClr val="FFFF00"/>
    <a:srgbClr val="D9E1E9"/>
    <a:srgbClr val="E8F6FD"/>
    <a:srgbClr val="F0FFF6"/>
    <a:srgbClr val="019BFF"/>
    <a:srgbClr val="FFF7EE"/>
    <a:srgbClr val="FFC000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1" autoAdjust="0"/>
    <p:restoredTop sz="96242" autoAdjust="0"/>
  </p:normalViewPr>
  <p:slideViewPr>
    <p:cSldViewPr snapToGrid="0">
      <p:cViewPr varScale="1">
        <p:scale>
          <a:sx n="85" d="100"/>
          <a:sy n="85" d="100"/>
        </p:scale>
        <p:origin x="96" y="270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309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14쪽 날개</a:t>
            </a:r>
          </a:p>
          <a:p>
            <a:r>
              <a:t>공자: “군자는 덕을 생각하고 소인은 사는 곳의 편안함을 생각한다.”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아이히만 재판과 악의 평범성</a:t>
            </a:r>
          </a:p>
          <a:p>
            <a:r>
              <a:t>아렌트는 재판을 지켜본 뒤 『예루살렘의 아이히만』(1963)을 썼다. 스스로 생각하고 판단하지 않을 때 평범한 사람도 끔찍한 일에 가담할 수 있다.</a:t>
            </a:r>
          </a:p>
          <a:p>
            <a:r>
              <a:t>법과 관습은 중요한 기준이지만, 그것이 옳은지 따져 보는 도덕적 기준이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 안의 도덕 법칙</a:t>
            </a:r>
          </a:p>
          <a:p>
            <a:r>
              <a:t>칸트는 누구나 마음속에 도덕 법칙을 알아보는 이성을 가지고 있다고 보았다. 이 문장은 그의 묘비에도 새겨졌다.</a:t>
            </a:r>
          </a:p>
          <a:p>
            <a:r>
              <a:t>양심: 옳고 그름을 판단하고 옳은 것을 따르게 하는 마음의 목소리.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지갑 문제에 투표하고, 행동의 결과·동기·덕으로 판단해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지갑 문제에 투표하고, 행동의 결과·동기·덕으로 판단해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지갑 문제에 투표하고, 행동의 결과·동기·덕으로 판단해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7.png"/><Relationship Id="rId6" Type="http://schemas.openxmlformats.org/officeDocument/2006/relationships/image" Target="../media/image36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422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1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옳고 그름의 분별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181653"/>
            <a:ext cx="75832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옳고 그름을 분별하는 기준의 필요성을 말할 수 있다</a:t>
            </a:r>
            <a:r>
              <a:rPr lang="en-US" altLang="ko-KR" sz="2800" b="1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15072"/>
            <a:ext cx="10293350" cy="787400"/>
            <a:chOff x="914400" y="2362200"/>
            <a:chExt cx="10293350" cy="787400"/>
          </a:xfrm>
        </p:grpSpPr>
        <p:sp>
          <p:nvSpPr>
            <p:cNvPr id="32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2916689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옳고 그름을 분별하는 다양한 기준을 설명할 수 있다</a:t>
            </a:r>
            <a:r>
              <a:rPr lang="en-US" altLang="ko-KR" sz="2800" b="1" dirty="0">
                <a:solidFill>
                  <a:schemeClr val="dk1"/>
                </a:solidFill>
                <a:latin typeface="+mn-ea"/>
              </a:rPr>
              <a:t>.</a:t>
            </a:r>
            <a:endParaRPr lang="ko-KR" altLang="en-US" sz="2800" b="1" dirty="0">
              <a:solidFill>
                <a:schemeClr val="dk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9920720" y="1657167"/>
            <a:ext cx="1455206" cy="3651103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427776" y="2080673"/>
            <a:ext cx="10501159" cy="3534601"/>
            <a:chOff x="279731" y="2246066"/>
            <a:chExt cx="10501159" cy="3227597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0379" y="2617846"/>
              <a:ext cx="10040511" cy="2855817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9731" y="2246066"/>
              <a:ext cx="2735782" cy="15525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867" y="1471952"/>
            <a:ext cx="11292527" cy="4824195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 rot="1923637">
            <a:off x="5844331" y="1581285"/>
            <a:ext cx="631214" cy="371318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417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2581070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61155" y="2999345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ko-KR" sz="2400" dirty="0" smtClean="0">
                <a:latin typeface="+mn-ea"/>
              </a:rPr>
              <a:t>                                             </a:t>
            </a:r>
            <a:r>
              <a:rPr lang="ko-KR" altLang="en-US" sz="2400" dirty="0" smtClean="0">
                <a:latin typeface="+mn-ea"/>
              </a:rPr>
              <a:t>의 주장을 따르는 것이 옳다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ko-KR" altLang="en-US" sz="2400" dirty="0" smtClean="0">
                <a:latin typeface="+mn-ea"/>
              </a:rPr>
              <a:t>왜냐하면</a:t>
            </a:r>
            <a:endParaRPr lang="en-US" altLang="ko-KR" sz="2400" dirty="0" smtClean="0">
              <a:latin typeface="+mn-ea"/>
            </a:endParaRPr>
          </a:p>
          <a:p>
            <a:pPr algn="just">
              <a:lnSpc>
                <a:spcPct val="200000"/>
              </a:lnSpc>
            </a:pPr>
            <a:endParaRPr lang="ko-KR" altLang="en-US" sz="2400" dirty="0">
              <a:latin typeface="+mn-ea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91309" y="3818703"/>
            <a:ext cx="8353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길에서 다른 사람의 돈을 주웠다면 그것을 주인에게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돌려주는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만화를 보고 지호와 윤희 중 누구의 주장을 따르는 것이 옳다고 생각하는지 그 까닭과 함께 써 보자</a:t>
            </a:r>
            <a:r>
              <a:rPr lang="en-US" altLang="ko-KR" sz="2000" b="1" dirty="0">
                <a:latin typeface="+mn-ea"/>
              </a:rPr>
              <a:t>.</a:t>
            </a: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444829" y="3074056"/>
            <a:ext cx="959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지호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2491308" y="4363425"/>
            <a:ext cx="82413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61154" y="4529831"/>
            <a:ext cx="3546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것이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마땅하기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42" name="직선 연결선 41"/>
          <p:cNvCxnSpPr/>
          <p:nvPr/>
        </p:nvCxnSpPr>
        <p:spPr>
          <a:xfrm>
            <a:off x="1192981" y="3610095"/>
            <a:ext cx="47410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>
            <a:off x="1192981" y="5176162"/>
            <a:ext cx="95634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36" grpId="0"/>
      <p:bldP spid="36" grpId="1"/>
      <p:bldP spid="40" grpId="0"/>
      <p:bldP spid="4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363611" y="3843334"/>
            <a:ext cx="11015664" cy="2886074"/>
            <a:chOff x="-77858" y="3614738"/>
            <a:chExt cx="11857871" cy="3214686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77858" y="3671887"/>
              <a:ext cx="11857871" cy="3157537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2386013" y="3614738"/>
              <a:ext cx="7072312" cy="16430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2547332" y="4707186"/>
              <a:ext cx="6582381" cy="16430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40018" y="1596520"/>
            <a:ext cx="860188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우림이는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학교에 가다가 길을 잃은 아이를 만났다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아이는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우림이에게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부모님을 찾아 달라고 부탁하였다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우림이는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주변을 둘러보았지만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길에는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아무도 없어서 자신 말고는 아이를 도와줄 사람이 없었다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만약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우림이가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아이를 돕는다면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우림이는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학교에 지각할 것이다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우림이는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어떤 행동을 하는 것이 옳은지 몰라 생각에 잠겼다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8562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0307" y="4814888"/>
            <a:ext cx="1879989" cy="2043112"/>
          </a:xfrm>
          <a:prstGeom prst="rect">
            <a:avLst/>
          </a:prstGeom>
        </p:spPr>
      </p:pic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5579875" y="3128967"/>
            <a:ext cx="4749990" cy="324326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399" y="3128967"/>
            <a:ext cx="4617424" cy="324326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>
                <a:latin typeface="+mn-ea"/>
              </a:rPr>
              <a:t>우림이가</a:t>
            </a:r>
            <a:r>
              <a:rPr lang="ko-KR" altLang="en-US" sz="2000" b="1" dirty="0">
                <a:latin typeface="+mn-ea"/>
              </a:rPr>
              <a:t> 아이를 도울 때와 돕지 않을 때의 결과를 예상하여 써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7" name="그림 1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2" y="1640329"/>
            <a:ext cx="487174" cy="48717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6" y="1640329"/>
            <a:ext cx="1087577" cy="495431"/>
            <a:chOff x="10075659" y="2003022"/>
            <a:chExt cx="1156006" cy="495431"/>
          </a:xfrm>
        </p:grpSpPr>
        <p:pic>
          <p:nvPicPr>
            <p:cNvPr id="26" name="그림 2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800096" y="3245287"/>
            <a:ext cx="9329741" cy="2862322"/>
            <a:chOff x="800096" y="3245287"/>
            <a:chExt cx="9329741" cy="2862322"/>
          </a:xfrm>
        </p:grpSpPr>
        <p:sp>
          <p:nvSpPr>
            <p:cNvPr id="29" name="TextBox 28"/>
            <p:cNvSpPr txBox="1"/>
            <p:nvPr/>
          </p:nvSpPr>
          <p:spPr>
            <a:xfrm>
              <a:off x="800096" y="3245287"/>
              <a:ext cx="4409477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학교에 지각한다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아이와 가족이 만나고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, 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아이는 가족을 찾아 행복해한다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400" dirty="0" err="1">
                  <a:solidFill>
                    <a:srgbClr val="0070C0"/>
                  </a:solidFill>
                  <a:latin typeface="+mn-ea"/>
                </a:rPr>
                <a:t>우림이는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 아이를 도와 뿌듯함을 느낀다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602262" y="3245287"/>
              <a:ext cx="4527575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제시간에 등교한다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아이는 계속 길을 헤매면서 두려워한다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 </a:t>
              </a:r>
              <a:endParaRPr lang="en-US" altLang="ko-KR" sz="2400" dirty="0">
                <a:solidFill>
                  <a:srgbClr val="0070C0"/>
                </a:solidFill>
                <a:latin typeface="+mn-ea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400" dirty="0" err="1">
                  <a:solidFill>
                    <a:srgbClr val="0070C0"/>
                  </a:solidFill>
                  <a:latin typeface="+mn-ea"/>
                </a:rPr>
                <a:t>우림이는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 아이를 외면한 자신에게 실망한다</a:t>
              </a:r>
              <a:r>
                <a:rPr lang="en-US" altLang="ko-KR" sz="2400" dirty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+mn-ea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787399" y="2592291"/>
            <a:ext cx="41213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만약 </a:t>
            </a:r>
            <a:r>
              <a:rPr lang="ko-KR" altLang="en-US" sz="2000" dirty="0" err="1">
                <a:latin typeface="+mn-ea"/>
              </a:rPr>
              <a:t>우림이가</a:t>
            </a:r>
            <a:r>
              <a:rPr lang="ko-KR" altLang="en-US" sz="2000" dirty="0">
                <a:latin typeface="+mn-ea"/>
              </a:rPr>
              <a:t> 아이를 돕는다면</a:t>
            </a:r>
            <a:r>
              <a:rPr lang="en-US" altLang="ko-KR" sz="2000" dirty="0">
                <a:latin typeface="+mn-ea"/>
              </a:rPr>
              <a:t>?</a:t>
            </a:r>
            <a:endParaRPr lang="ko-KR" altLang="en-US" sz="2000" dirty="0"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579875" y="2592291"/>
            <a:ext cx="52573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만약 </a:t>
            </a:r>
            <a:r>
              <a:rPr lang="ko-KR" altLang="en-US" sz="2000" dirty="0" err="1">
                <a:latin typeface="+mn-ea"/>
              </a:rPr>
              <a:t>우림이가</a:t>
            </a:r>
            <a:r>
              <a:rPr lang="ko-KR" altLang="en-US" sz="2000" dirty="0">
                <a:latin typeface="+mn-ea"/>
              </a:rPr>
              <a:t> 아이를 </a:t>
            </a:r>
            <a:r>
              <a:rPr lang="ko-KR" altLang="en-US" sz="2000" dirty="0" smtClean="0">
                <a:latin typeface="+mn-ea"/>
              </a:rPr>
              <a:t>돕지 않는다면</a:t>
            </a:r>
            <a:r>
              <a:rPr lang="en-US" altLang="ko-KR" sz="2000" dirty="0">
                <a:latin typeface="+mn-ea"/>
              </a:rPr>
              <a:t>?</a:t>
            </a:r>
            <a:endParaRPr lang="ko-KR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443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087" y="1704726"/>
            <a:ext cx="10435320" cy="4182997"/>
          </a:xfrm>
          <a:prstGeom prst="rect">
            <a:avLst/>
          </a:prstGeom>
        </p:spPr>
      </p:pic>
      <p:sp>
        <p:nvSpPr>
          <p:cNvPr id="17" name="타원 16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400" y="1613182"/>
            <a:ext cx="10293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가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ko-KR" altLang="en-US" sz="2000" b="1" dirty="0">
                <a:latin typeface="+mn-ea"/>
              </a:rPr>
              <a:t>와 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나</a:t>
            </a:r>
            <a:r>
              <a:rPr lang="en-US" altLang="ko-KR" sz="2000" b="1" dirty="0">
                <a:latin typeface="+mn-ea"/>
              </a:rPr>
              <a:t>) </a:t>
            </a:r>
            <a:r>
              <a:rPr lang="ko-KR" altLang="en-US" sz="2000" b="1" dirty="0">
                <a:latin typeface="+mn-ea"/>
              </a:rPr>
              <a:t>중 어떤 동기에서 비롯된 행동이 바람직한지 골라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 smtClean="0">
                <a:latin typeface="+mn-ea"/>
              </a:rPr>
              <a:t>그렇게 생각한 </a:t>
            </a:r>
            <a:r>
              <a:rPr lang="ko-KR" altLang="en-US" sz="2000" b="1" dirty="0">
                <a:latin typeface="+mn-ea"/>
              </a:rPr>
              <a:t>까닭을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7458"/>
            <a:ext cx="487174" cy="487174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7458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7613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5588" y="2997008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(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나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)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왜냐하면 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(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가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)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는 자신의 이익을 위해 아이를 도운 것이고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(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나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)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는 자신의 이익과 상관없이 곤경에 처한 아이를 돕겠다는 선한 마음에서 비롯한 것이기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3" name="타원 32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22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30" grpId="0"/>
      <p:bldP spid="30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그림을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569" y="1528801"/>
            <a:ext cx="10984706" cy="444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075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510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행동의 결과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행동의 </a:t>
            </a:r>
            <a:r>
              <a:rPr lang="ko-KR" altLang="en-US" sz="2400" dirty="0">
                <a:latin typeface="+mn-ea"/>
              </a:rPr>
              <a:t>결과를 옳고 그름을 분별하는 기준으로 삼을 수 있음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어떤 행동이 좋은 결과를 가져온다면 그 행동은 도덕적으로 옳다고 봄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행동의 동기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행동의 동기에 따라 옳고 그름을 분별할 수도 있음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어떤 행동이 선한 동기에 따른 것이라면 그 행동은 결과와 상관없이 도덕적으로 옳다고 봄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옳고 그름을 분별하는 기준의 필요성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덕 있는 행동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덕 있는 행동을 옳고 그름의 분별 기준으로 삼아 어떤 행동이 덕 있는 행동이라면 그 행동은 도덕적으로 옳다고 판단할 수 있음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덕 있는 행동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덕 있는 사람이 실천할 만한 행동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덕 있는 사람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도덕적으로 훌륭한 성품을 지니고 이를 실천하는 사람으로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동서양의 여러 사상에 서는 덕 있는 사람이 되는 것을 목표로 삼아 덕을 기르고 실천할 것을 중시하였음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옳고 그름을 분별하는 기준의 필요성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타원 1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2" name="그림 21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3" name="TextBox 2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319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922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덕 있는 행동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덕 있는 행동을 옳고 그름의 분별 기준으로 삼아 어떤 행동이 덕 있는 행동이라면 그 행동은 도덕적으로 옳다고 판단할 수 있음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덕 있는 행동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덕 있는 사람이 실천할 만한 행동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덕 있는 사람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도덕적으로 훌륭한 성품을 지니고 이를 실천하는 사람으로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동서양의 여러 사상에 서는 덕 있는 사람이 되는 것을 목표로 삼아 덕을 기르고 실천할 것을 중시하였음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옳고 그름을 분별하는 기준의 필요성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타원 1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30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1" name="그림 30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622056" y="1194899"/>
            <a:ext cx="1944697" cy="492328"/>
            <a:chOff x="377032" y="923820"/>
            <a:chExt cx="1944697" cy="492328"/>
          </a:xfrm>
        </p:grpSpPr>
        <p:pic>
          <p:nvPicPr>
            <p:cNvPr id="33" name="그림 3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2657698" y="1133260"/>
            <a:ext cx="7874038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덕의 실천을 강조한 동서양 사상</a:t>
            </a:r>
            <a:endParaRPr lang="en-US" altLang="ko-KR" sz="22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2056" y="2016924"/>
            <a:ext cx="66074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유교</a:t>
            </a:r>
            <a:r>
              <a:rPr lang="en-US" altLang="ko-KR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어질고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의롭고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예의 있고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지혜로우며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믿음이 있는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행동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[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仁義禮智信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]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을 실천할 것을 강조함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불교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다른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사람을 깊이 사랑하고 가엾게 여겨 베푸는 자비의 덕을 실천할 것을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중시함</a:t>
            </a:r>
            <a:r>
              <a:rPr lang="en-US" altLang="ko-KR" sz="200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en-US" altLang="ko-KR" sz="2000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플라톤</a:t>
            </a:r>
            <a:r>
              <a:rPr lang="en-US" altLang="ko-KR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:</a:t>
            </a: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지혜롭고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용기 있고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절제하며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정의로운 행동을 실천할 것을 강조함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아리스토텔레스</a:t>
            </a:r>
            <a:r>
              <a:rPr lang="en-US" altLang="ko-KR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:</a:t>
            </a: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중용에 따라 덕을 지속해서 실천할 것을 중시함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6" y="1988145"/>
            <a:ext cx="3974958" cy="226735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3943" y="4343400"/>
            <a:ext cx="4293094" cy="216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21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다음 중 나는 평소에 무엇을 옳고 그름을 분별하는 기준으로 </a:t>
            </a:r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삼는지 성찰해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559482"/>
            <a:ext cx="8522936" cy="292840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574061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574061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5" y="4179566"/>
            <a:ext cx="81650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나는 평소에 어떤 행동의 동기에 상관없이 결과가 좋으면 옳은 것이라고 생각하였다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이를 토대로 생각해 볼 때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나는 행동의 결과를 옳고 그름을 분별하는 기준으로 삼았던 것 같다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936087" y="3587050"/>
            <a:ext cx="1328154" cy="458932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54706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4206598" y="2454706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604964" y="2454706"/>
            <a:ext cx="3400802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5916" y="2495314"/>
            <a:ext cx="2452744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행동의 결과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68296" y="2506072"/>
            <a:ext cx="2452744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행동의 동기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87494" y="2512448"/>
            <a:ext cx="29781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덕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있는 행동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5590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“02.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도덕적 상상력을 어떻게 키울 수 있을까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dirty="0">
                <a:solidFill>
                  <a:srgbClr val="FFFF00"/>
                </a:solidFill>
                <a:latin typeface="+mn-ea"/>
              </a:rPr>
              <a:t>옳고 그름을 분별하는 기준에는 무엇이 있을까?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옳고 그름을 분별하는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기준 </a:t>
            </a:r>
            <a:r>
              <a:rPr sz="2400" b="1">
                <a:solidFill>
                  <a:srgbClr val="843C0C"/>
                </a:solidFill>
              </a:rPr>
              <a:t>의 필요성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옳고 그름의 분별 기준을 알아야 올바른 판단을 내릴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심판마다 반칙 기준이 다르면 경기가 엉망이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⇨ 옳고 그름을 분별하는 다양한 기준은?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옳고 그름을 분별하는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기준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필요성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옳고 그름의 분별 기준을 알아야 올바른 판단을 내릴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심판마다 반칙 기준이 다르면 경기가 엉망이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옳고 그름을 분별하는 다양한 기준은?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옳고 그름을 분별하는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필요성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옳고 그름의 분별 기준을 알아야 올바른 판단을 내릴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심판마다 반칙 기준이 다르면 경기가 엉망이 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옳고 그름을 분별하는 다양한 기준은?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행동의 결과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행동의 결과를 예상하여 더 좋은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결과 </a:t>
            </a:r>
            <a:r>
              <a:rPr sz="2400" b="0">
                <a:solidFill>
                  <a:srgbClr val="262626"/>
                </a:solidFill>
              </a:rPr>
              <a:t>를 낳는 행동이 바람직하다고 판단할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거짓말이라도 친구의 깜짝 생일 파티를 성공시켰다면?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어떤 행동이 좋은 결과를 가져온다면 그 행동은 도덕적으로 옳다고 봄.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행동의 결과를 예상하여 더 좋은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결과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낳는 행동이 바람직하다고 판단할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거짓말이라도 친구의 깜짝 생일 파티를 성공시켰다면?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어떤 행동이 좋은 결과를 가져온다면 그 행동은 도덕적으로 옳다고 봄.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행동의 결과를 예상하여 더 좋은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결과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낳는 행동이 바람직하다고 판단할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거짓말이라도 친구의 깜짝 생일 파티를 성공시켰다면?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어떤 행동이 좋은 결과를 가져온다면 그 행동은 도덕적으로 옳다고 봄.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행동의 동기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선한 동기에 따른 행동이 옳다고 판단할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돕고 싶어 무거운 짐을 들어 드리다 넘어뜨렸어도 마음은 선했다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어떤 행동이 선한 동기에 따른 것이라면 그 행동은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결과 </a:t>
            </a:r>
            <a:r>
              <a:rPr sz="2400" b="0">
                <a:solidFill>
                  <a:srgbClr val="262626"/>
                </a:solidFill>
              </a:rPr>
              <a:t>와 상관없이 도덕적으로 옳다고 봄.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선한 동기에 따른 행동이 옳다고 판단할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돕고 싶어 무거운 짐을 들어 드리다 넘어뜨렸어도 마음은 선했다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어떤 행동이 선한 동기에 따른 것이라면 그 행동은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결과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와 상관없이 도덕적으로 옳다고 봄.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선한 동기에 따른 행동이 옳다고 판단할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돕고 싶어 무거운 짐을 들어 드리다 넘어뜨렸어도 마음은 선했다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어떤 행동이 선한 동기에 따른 것이라면 그 행동은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결과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와 상관없이 도덕적으로 옳다고 봄.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덕 있는 행동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어떤 행동이 덕 있는 행동이라면 그 행동은 도덕적으로 옳다고 판단할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덕 있는 행동이란 덕 있는 사람이 실천할 만한 행동을 말하며, 덕 있는 사람은 도덕적으로 훌륭한 성품을 지니고 이를 실천하는 사람임.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동서양 사상에서는 덕 있는 사람이 되는 것을 목표로 삼아 덕을 기르고 실천할 것을 중시하였음.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유교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어질고, 의롭고, 예의 있고, 지혜로우며, 믿음 있는 행동[仁義禮智信]을 실천할 것을 강조하였음.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부모님께 먼저 안부 전화 드리기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어떤 행동이 덕 있는 행동이라면 그 행동은 도덕적으로 옳다고 판단할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덕 있는 행동이란 덕 있는 사람이 실천할 만한 행동을 말하며, 덕 있는 사람은 도덕적으로 훌륭한 성품을 지니고 이를 실천하는 사람임.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동서양 사상에서는 덕 있는 사람이 되는 것을 목표로 삼아 덕을 기르고 실천할 것을 중시하였음.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유교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어질고, 의롭고, 예의 있고, 지혜로우며, 믿음 있는 행동[仁義禮智信]을 실천할 것을 강조하였음.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부모님께 먼저 안부 전화 드리기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덕 있는 행동 (이어서)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불교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다른 사람을 깊이 사랑하고 가엾게 여겨 베푸는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자비 </a:t>
            </a:r>
            <a:r>
              <a:rPr sz="2400" b="0">
                <a:solidFill>
                  <a:srgbClr val="262626"/>
                </a:solidFill>
              </a:rPr>
              <a:t>의 덕을 실천할 것을 중시하였음.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길 잃은 아이 곁에 함께 서 있어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플라톤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지혜롭고, 용기 있고, 절제하며, 정의로운 행동을 실천할 것을 강조하였음.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아리스토텔레스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중용에 따라 덕을 지속해서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실천 </a:t>
            </a:r>
            <a:r>
              <a:rPr sz="2400" b="0">
                <a:solidFill>
                  <a:srgbClr val="262626"/>
                </a:solidFill>
              </a:rPr>
              <a:t>할 것을 중시하였음.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무모함과 비겁함 사이의 용기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불교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사람을 깊이 사랑하고 가엾게 여겨 베푸는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자비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덕을 실천할 것을 중시하였음.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길 잃은 아이 곁에 함께 서 있어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플라톤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지혜롭고, 용기 있고, 절제하며, 정의로운 행동을 실천할 것을 강조하였음.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아리스토텔레스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중용에 따라 덕을 지속해서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것을 중시하였음.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무모함과 비겁함 사이의 용기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불교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사람을 깊이 사랑하고 가엾게 여겨 베푸는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덕을 실천할 것을 중시하였음.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길 잃은 아이 곁에 함께 서 있어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플라톤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지혜롭고, 용기 있고, 절제하며, 정의로운 행동을 실천할 것을 강조하였음.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아리스토텔레스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중용에 따라 덕을 지속해서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것을 중시하였음.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무모함과 비겁함 사이의 용기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불교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사람을 깊이 사랑하고 가엾게 여겨 베푸는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덕을 실천할 것을 중시하였음.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길 잃은 아이 곁에 함께 서 있어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플라톤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지혜롭고, 용기 있고, 절제하며, 정의로운 행동을 실천할 것을 강조하였음.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아리스토텔레스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중용에 따라 덕을 지속해서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실천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것을 중시하였음.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무모함과 비겁함 사이의 용기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불교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사람을 깊이 사랑하고 가엾게 여겨 베푸는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덕을 실천할 것을 중시하였음.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길 잃은 아이 곁에 함께 서 있어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플라톤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지혜롭고, 용기 있고, 절제하며, 정의로운 행동을 실천할 것을 강조하였음.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아리스토텔레스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중용에 따라 덕을 지속해서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것을 중시하였음.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무모함과 비겁함 사이의 용기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“나는 명령에 따랐을 뿐이다”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1961년 · 이스라엘 예루살렘 법정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피고 · 나치 독일에서 유대인 이송을 맡았던 관리 아돌프 아이히만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주장 · 법과 상관의 명령을 충실히 따랐을 뿐이다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관찰 · 철학자 한나 아렌트는 그가 괴물이 아니라 생각하지 않는 평범한 사람이었다고 썼다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낱말 · ‘악의 평범성’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명령과 법을 따랐다면 잘못이 없을까?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1961년 · 이스라엘 예루살렘 법정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피고 · 나치 독일에서 유대인 이송을 맡았던 관리 아돌프 아이히만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주장 · 법과 상관의 명령을 충실히 따랐을 뿐이다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관찰 · 철학자 한나 아렌트는 그가 괴물이 아니라 생각하지 않는 평범한 사람이었다고 썼다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낱말 · ‘악의 평범성’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명령과 법을 따랐다면 잘못이 없을까?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사상가의 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“생각할수록 놀라움과 경외로 내 마음을 채우는 두 가지, 내 위의 별이 빛나는 하늘과 내 안의 도덕 법칙”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임마누엘 칸트, 『실천이성비판』(1788) 맺음말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행동의 결과를 옳고 그름의 분별 기준으로 삼는다면 더 좋은 결과를 낳는 행동이 바람직하다고 본다.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선한 동기에 따른 행동이 옳다고 보는 것은 덕 있는 행동을 옳고 그름의 분별 기준으로 삼은 것이다.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아리스토텔레스는 중용에 따라 덕을 지속해서 실천할 것을 중시하였다.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행동의 결과를 옳고 그름의 분별 기준으로 삼는다면 더 좋은 결과를 낳는 행동이 바람직하다고 본다.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선한 동기에 따른 행동이 옳다고 보는 것은 덕 있는 행동을 옳고 그름의 분별 기준으로 삼은 것이다.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아리스토텔레스는 중용에 따라 덕을 지속해서 실천할 것을 중시하였다.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행동의 결과를 옳고 그름의 분별 기준으로 삼는다면 더 좋은 결과를 낳는 행동이 바람직하다고 본다.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선한 동기에 따른 행동이 옳다고 보는 것은 덕 있는 행동을 옳고 그름의 분별 기준으로 삼은 것이다.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아리스토텔레스는 중용에 따라 덕을 지속해서 실천할 것을 중시하였다.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행동의 결과를 옳고 그름의 분별 기준으로 삼는다면 더 좋은 결과를 낳는 행동이 바람직하다고 본다.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선한 동기에 따른 행동이 옳다고 보는 것은 덕 있는 행동을 옳고 그름의 분별 기준으로 삼은 것이다.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아리스토텔레스는 중용에 따라 덕을 지속해서 실천할 것을 중시하였다.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주운 지갑, 누구의 주장이 옳을까?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손을 들어 투표해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지호 · 주인에게 돌려준다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윤희 · 어려운 사람에게 기부한다   ✋ ____ 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어떤 기준으로 판단했을까?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/>
                </a:solidFill>
              </a:rPr>
              <a:t>어느 칸일까? 행동의 결과 · 행동의 동기 · 덕 있는 행동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1. “아이를 도우면 아이가 부모님을 만날 수 있으니 돕는 게 옳아.”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결과 (좋은 결과)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2. “사례금 때문이 아니라 마땅하니까 돕는 거야.”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동기 (선한 동기)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3. “친절하고 용기 있는 사람이라면 그렇게 했을 거야.”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덕 있는 행동 (덕 있는 사람이 실천할 행동)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4. “거짓말하면 모두가 피해를 보니까 하면 안 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결과 (결과)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5. “보상을 바라고 하는 선행은 진짜 선행이 아니야.”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동기 (동기)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6. “지나치지도 모자라지도 않게, 중용을 지키자.”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덕 있는 행동 (아리스토텔레스의 덕)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행동의 결과 · 행동의 동기 · 덕 있는 행동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“아이를 도우면 아이가 부모님을 만날 수 있으니 돕는 게 옳아.”</a:t>
            </a:r>
            <a:r>
              <a:rPr sz="2100" b="1">
                <a:solidFill>
                  <a:srgbClr val="C0392B"/>
                </a:solidFill>
              </a:rPr>
              <a:t>   → 행동의 결과 (좋은 결과)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“사례금 때문이 아니라 마땅하니까 돕는 거야.”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동기 (선한 동기)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“친절하고 용기 있는 사람이라면 그렇게 했을 거야.”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덕 있는 행동 (덕 있는 사람이 실천할 행동)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“거짓말하면 모두가 피해를 보니까 하면 안 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결과 (결과)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“보상을 바라고 하는 선행은 진짜 선행이 아니야.”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동기 (동기)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“지나치지도 모자라지도 않게, 중용을 지키자.”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덕 있는 행동 (아리스토텔레스의 덕)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행동의 결과 · 행동의 동기 · 덕 있는 행동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“아이를 도우면 아이가 부모님을 만날 수 있으니 돕는 게 옳아.”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결과 (좋은 결과)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“사례금 때문이 아니라 마땅하니까 돕는 거야.”</a:t>
            </a:r>
            <a:r>
              <a:rPr sz="2100" b="1">
                <a:solidFill>
                  <a:srgbClr val="C0392B"/>
                </a:solidFill>
              </a:rPr>
              <a:t>   → 행동의 동기 (선한 동기)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“친절하고 용기 있는 사람이라면 그렇게 했을 거야.”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덕 있는 행동 (덕 있는 사람이 실천할 행동)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“거짓말하면 모두가 피해를 보니까 하면 안 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결과 (결과)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“보상을 바라고 하는 선행은 진짜 선행이 아니야.”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동기 (동기)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“지나치지도 모자라지도 않게, 중용을 지키자.”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덕 있는 행동 (아리스토텔레스의 덕)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행동의 결과 · 행동의 동기 · 덕 있는 행동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“아이를 도우면 아이가 부모님을 만날 수 있으니 돕는 게 옳아.”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결과 (좋은 결과)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“사례금 때문이 아니라 마땅하니까 돕는 거야.”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동기 (선한 동기)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“친절하고 용기 있는 사람이라면 그렇게 했을 거야.”</a:t>
            </a:r>
            <a:r>
              <a:rPr sz="2100" b="1">
                <a:solidFill>
                  <a:srgbClr val="C0392B"/>
                </a:solidFill>
              </a:rPr>
              <a:t>   → 덕 있는 행동 (덕 있는 사람이 실천할 행동)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“거짓말하면 모두가 피해를 보니까 하면 안 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결과 (결과)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“보상을 바라고 하는 선행은 진짜 선행이 아니야.”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동기 (동기)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“지나치지도 모자라지도 않게, 중용을 지키자.”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덕 있는 행동 (아리스토텔레스의 덕)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행동의 결과 · 행동의 동기 · 덕 있는 행동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“아이를 도우면 아이가 부모님을 만날 수 있으니 돕는 게 옳아.”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결과 (좋은 결과)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“사례금 때문이 아니라 마땅하니까 돕는 거야.”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동기 (선한 동기)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“친절하고 용기 있는 사람이라면 그렇게 했을 거야.”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덕 있는 행동 (덕 있는 사람이 실천할 행동)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“거짓말하면 모두가 피해를 보니까 하면 안 돼.”</a:t>
            </a:r>
            <a:r>
              <a:rPr sz="2100" b="1">
                <a:solidFill>
                  <a:srgbClr val="C0392B"/>
                </a:solidFill>
              </a:rPr>
              <a:t>   → 행동의 결과 (결과)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“보상을 바라고 하는 선행은 진짜 선행이 아니야.”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동기 (동기)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“지나치지도 모자라지도 않게, 중용을 지키자.”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덕 있는 행동 (아리스토텔레스의 덕)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행동의 결과 · 행동의 동기 · 덕 있는 행동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“아이를 도우면 아이가 부모님을 만날 수 있으니 돕는 게 옳아.”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결과 (좋은 결과)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“사례금 때문이 아니라 마땅하니까 돕는 거야.”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동기 (선한 동기)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“친절하고 용기 있는 사람이라면 그렇게 했을 거야.”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덕 있는 행동 (덕 있는 사람이 실천할 행동)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“거짓말하면 모두가 피해를 보니까 하면 안 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결과 (결과)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“보상을 바라고 하는 선행은 진짜 선행이 아니야.”</a:t>
            </a:r>
            <a:r>
              <a:rPr sz="2100" b="1">
                <a:solidFill>
                  <a:srgbClr val="C0392B"/>
                </a:solidFill>
              </a:rPr>
              <a:t>   → 행동의 동기 (동기)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“지나치지도 모자라지도 않게, 중용을 지키자.”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덕 있는 행동 (아리스토텔레스의 덕)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행동의 결과 · 행동의 동기 · 덕 있는 행동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“아이를 도우면 아이가 부모님을 만날 수 있으니 돕는 게 옳아.”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결과 (좋은 결과)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“사례금 때문이 아니라 마땅하니까 돕는 거야.”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동기 (선한 동기)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“친절하고 용기 있는 사람이라면 그렇게 했을 거야.”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덕 있는 행동 (덕 있는 사람이 실천할 행동)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“거짓말하면 모두가 피해를 보니까 하면 안 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결과 (결과)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“보상을 바라고 하는 선행은 진짜 선행이 아니야.”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행동의 동기 (동기)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“지나치지도 모자라지도 않게, 중용을 지키자.”</a:t>
            </a:r>
            <a:r>
              <a:rPr sz="2100" b="1">
                <a:solidFill>
                  <a:srgbClr val="C0392B"/>
                </a:solidFill>
              </a:rPr>
              <a:t>   → 덕 있는 행동 (아리스토텔레스의 덕)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나의 성찰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옳고 그름을 분별하는 기준에는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나는 평소 무엇을 기준으로 삼을까? 까닭은?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행동의 동기. 결과가 좋아도 나쁜 마음으로 한 일은 떳떳하지 않기 때문이다.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나는 평소 무엇을 기준으로 삼을까? 까닭은?</a:t>
            </a:r>
            <a:r>
              <a:rPr sz="2300" b="1">
                <a:solidFill>
                  <a:srgbClr val="C0392B"/>
                </a:solidFill>
              </a:rPr>
              <a:t>   예) 행동의 동기. 결과가 좋아도 나쁜 마음으로 한 일은 떳떳하지 않기 때문이다.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8101</TotalTime>
  <Words>890</Words>
  <Application>Microsoft Office PowerPoint</Application>
  <PresentationFormat>와이드스크린</PresentationFormat>
  <Paragraphs>159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AppleSDGothicNeoB00</vt:lpstr>
      <vt:lpstr>굴림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158</cp:revision>
  <cp:lastPrinted>2024-06-05T04:53:22Z</cp:lastPrinted>
  <dcterms:created xsi:type="dcterms:W3CDTF">2023-10-31T05:50:03Z</dcterms:created>
  <dcterms:modified xsi:type="dcterms:W3CDTF">2025-01-14T02:10:25Z</dcterms:modified>
</cp:coreProperties>
</file>