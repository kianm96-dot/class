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media/image59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19"/>
  </p:notesMasterIdLst>
  <p:handoutMasterIdLst>
    <p:handoutMasterId r:id="rId20"/>
  </p:handoutMasterIdLst>
  <p:sldIdLst>
    <p:sldId id="302" r:id="rId2"/>
    <p:sldId id="301" r:id="rId3"/>
    <p:sldId id="258" r:id="rId4"/>
    <p:sldId id="366" r:id="rId5"/>
    <p:sldId id="381" r:id="rId32"/>
    <p:sldId id="367" r:id="rId6"/>
    <p:sldId id="260" r:id="rId7"/>
    <p:sldId id="375" r:id="rId26"/>
    <p:sldId id="376" r:id="rId27"/>
    <p:sldId id="306" r:id="rId8"/>
    <p:sldId id="270" r:id="rId9"/>
    <p:sldId id="368" r:id="rId10"/>
    <p:sldId id="369" r:id="rId11"/>
    <p:sldId id="371" r:id="rId12"/>
    <p:sldId id="370" r:id="rId13"/>
    <p:sldId id="377" r:id="rId28"/>
    <p:sldId id="378" r:id="rId29"/>
    <p:sldId id="379" r:id="rId30"/>
    <p:sldId id="380" r:id="rId31"/>
    <p:sldId id="316" r:id="rId14"/>
    <p:sldId id="372" r:id="rId15"/>
    <p:sldId id="373" r:id="rId16"/>
    <p:sldId id="374" r:id="rId17"/>
    <p:sldId id="382" r:id="rId33"/>
    <p:sldId id="383" r:id="rId34"/>
    <p:sldId id="384" r:id="rId35"/>
    <p:sldId id="385" r:id="rId36"/>
    <p:sldId id="348" r:id="rId18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D9BA"/>
    <a:srgbClr val="843C0C"/>
    <a:srgbClr val="FFF7EE"/>
    <a:srgbClr val="FF9300"/>
    <a:srgbClr val="FFFF00"/>
    <a:srgbClr val="D9E1E9"/>
    <a:srgbClr val="E8F6FD"/>
    <a:srgbClr val="F0FFF6"/>
    <a:srgbClr val="019BFF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6242" autoAdjust="0"/>
  </p:normalViewPr>
  <p:slideViewPr>
    <p:cSldViewPr snapToGrid="0">
      <p:cViewPr varScale="1">
        <p:scale>
          <a:sx n="84" d="100"/>
          <a:sy n="84" d="100"/>
        </p:scale>
        <p:origin x="114" y="294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commentAuthors" Target="commentAuthors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46쪽 · 고통의 의의</a:t>
            </a:r>
          </a:p>
          <a:p>
            <a:r>
              <a:t>고통을 미화하지 않는다. “고통이 좋다”가 아니라 “고통을 겪을 때 이렇게 자랄 수도 있다”는 것. 지금 힘든 학생에게는 도움을 청하는 것도 이겨 내는 방법임을 덧붙인다(청소년 상담 1388).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본문 핵심</a:t>
            </a:r>
          </a:p>
          <a:p>
            <a:r>
              <a:t>고통의 원인을 알아야 잘 대처할 수 있다. 차분히 성찰해 보는 자세.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번째 화살</a:t>
            </a:r>
          </a:p>
          <a:p>
            <a:r>
              <a:t>초기 불교 경전(『상윳따 니까야』 「화살 경」, 『잡아함경』)에 나오는 비유. 일어난 일 자체보다 그것에 대한 괴로운 생각과 반응이 고통을 키운다.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스토아학파</a:t>
            </a:r>
          </a:p>
          <a:p>
            <a:r>
              <a:t>노예 출신의 철학자. 같은 일도 어떻게 해석하느냐에 따라 고통이 달라진다. 다음 시간 ‘마음의 평온’에서 더 깊이.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익명 투표</a:t>
            </a:r>
          </a:p>
          <a:p>
            <a:r>
              <a:t>활동 화면 6의 투표로 센다. 우리 반 결과를 보며 “나만 그런 게 아니구나”를 느끼게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우리 반 마음 날씨를 살피고, 고통의 원인을 찾아보자.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우리 반 마음 날씨를 살피고, 고통의 원인을 찾아보자.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우리 반 마음 날씨를 살피고, 고통의 원인을 찾아보자.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8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8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1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Relationship Id="rId3" Type="http://schemas.openxmlformats.org/officeDocument/2006/relationships/image" Target="../media/image590.sv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4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 smtClean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01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2801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r>
              <a:rPr lang="en-US" altLang="ko-KR" sz="2800" b="1" dirty="0">
                <a:solidFill>
                  <a:schemeClr val="bg1"/>
                </a:solidFill>
                <a:latin typeface="+mj-ea"/>
                <a:ea typeface="+mj-ea"/>
              </a:rPr>
              <a:t>. </a:t>
            </a:r>
            <a:r>
              <a:rPr lang="ko-KR" altLang="en-US" sz="2800" b="1" dirty="0">
                <a:solidFill>
                  <a:schemeClr val="bg1"/>
                </a:solidFill>
                <a:latin typeface="+mj-ea"/>
                <a:ea typeface="+mj-ea"/>
              </a:rPr>
              <a:t>마음의 </a:t>
            </a:r>
            <a:r>
              <a:rPr lang="ko-KR" altLang="en-US" sz="2800" b="1" dirty="0" smtClean="0">
                <a:solidFill>
                  <a:schemeClr val="bg1"/>
                </a:solidFill>
                <a:latin typeface="+mj-ea"/>
                <a:ea typeface="+mj-ea"/>
              </a:rPr>
              <a:t>평화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40" y="2454485"/>
            <a:ext cx="69336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>
                <a:latin typeface="Arial Rounded MT Bold" panose="020F0704030504030204" pitchFamily="34" charset="0"/>
              </a:rPr>
              <a:t>고통은 왜 생겨날까</a:t>
            </a:r>
            <a:r>
              <a:rPr lang="en-US" altLang="ko-KR" sz="5400" b="1" dirty="0">
                <a:latin typeface="Arial Rounded MT Bold" panose="020F0704030504030204" pitchFamily="34" charset="0"/>
              </a:rPr>
              <a:t>?</a:t>
            </a:r>
            <a:endParaRPr lang="ko-KR" altLang="en-US" sz="54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1765300"/>
            <a:ext cx="10293350" cy="787400"/>
            <a:chOff x="914400" y="2362200"/>
            <a:chExt cx="10293350" cy="78740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786422"/>
            <a:ext cx="9228663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chemeClr val="dk1"/>
              </a:buClr>
              <a:buSzPts val="2300"/>
            </a:pPr>
            <a:r>
              <a:rPr lang="ko-KR" altLang="en-US" sz="2800" b="1" dirty="0">
                <a:solidFill>
                  <a:schemeClr val="dk1"/>
                </a:solidFill>
                <a:latin typeface="+mn-ea"/>
              </a:rPr>
              <a:t>고통의 의미와 원인을 설명할 수 있다</a:t>
            </a:r>
            <a:r>
              <a:rPr lang="en-US" altLang="ko-KR" sz="2800" b="1" dirty="0">
                <a:solidFill>
                  <a:schemeClr val="dk1"/>
                </a:solidFill>
                <a:latin typeface="+mn-ea"/>
              </a:rPr>
              <a:t>. 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57B4A80-0309-7BD0-AAF8-FF35B30F644B}"/>
              </a:ext>
            </a:extLst>
          </p:cNvPr>
          <p:cNvGrpSpPr/>
          <p:nvPr/>
        </p:nvGrpSpPr>
        <p:grpSpPr>
          <a:xfrm>
            <a:off x="787400" y="2933699"/>
            <a:ext cx="10293350" cy="1573773"/>
            <a:chOff x="914400" y="2362199"/>
            <a:chExt cx="10293350" cy="1573773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D6561203-5AD4-D0C1-BA20-A7201ACE3939}"/>
                </a:ext>
              </a:extLst>
            </p:cNvPr>
            <p:cNvSpPr/>
            <p:nvPr/>
          </p:nvSpPr>
          <p:spPr>
            <a:xfrm>
              <a:off x="914400" y="2362199"/>
              <a:ext cx="10293350" cy="1573773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Col="288000" rtlCol="0" anchor="ctr"/>
            <a:lstStyle/>
            <a:p>
              <a:pPr algn="ctr"/>
              <a:endPara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AAF1AF8C-61C0-A6D4-27A4-8B03BBAB0C4A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Col="288000" rtlCol="0" anchor="ctr"/>
            <a:lstStyle/>
            <a:p>
              <a:pPr algn="ctr"/>
              <a:endParaRPr lang="ko-KR" altLang="en-US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204394" y="2975356"/>
            <a:ext cx="9720905" cy="1301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chemeClr val="dk1"/>
              </a:buClr>
              <a:buSzPts val="2300"/>
            </a:pPr>
            <a:r>
              <a:rPr lang="ko-KR" altLang="en-US" sz="2800" b="1" dirty="0">
                <a:solidFill>
                  <a:schemeClr val="dk1"/>
                </a:solidFill>
                <a:latin typeface="+mn-ea"/>
              </a:rPr>
              <a:t>내면을 성찰하여 자신이 겪는 고통의 원인을 찾아 제시할 수 있다</a:t>
            </a:r>
            <a:r>
              <a:rPr lang="en-US" altLang="ko-KR" sz="2800" b="1" dirty="0">
                <a:solidFill>
                  <a:schemeClr val="dk1"/>
                </a:solidFill>
                <a:latin typeface="+mn-ea"/>
              </a:rPr>
              <a:t>. </a:t>
            </a:r>
            <a:endParaRPr lang="ko-KR" altLang="en-US" sz="2800" b="1" dirty="0">
              <a:solidFill>
                <a:schemeClr val="dk1"/>
              </a:solidFill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고통은 </a:t>
            </a:r>
            <a:r>
              <a:rPr lang="ko-KR" altLang="en-US" b="1" dirty="0">
                <a:latin typeface="+mj-ea"/>
                <a:ea typeface="+mj-ea"/>
              </a:rPr>
              <a:t>왜 생겨날까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/>
          <p:cNvSpPr txBox="1"/>
          <p:nvPr/>
        </p:nvSpPr>
        <p:spPr>
          <a:xfrm>
            <a:off x="4600575" y="1482216"/>
            <a:ext cx="684133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온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세상이 너무나 캄캄해 매일 밤을 울던 날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차라리 내가 사라지면 마음이 편할까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모두가 나를 바라보는 시선이 너무나 두려워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아름답게 아름답던 그 시절을 나는 아파서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사랑받을 수 없었던 내가 너무나 싫어서</a:t>
            </a:r>
          </a:p>
          <a:p>
            <a:pPr algn="just">
              <a:lnSpc>
                <a:spcPct val="150000"/>
              </a:lnSpc>
            </a:pP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……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그래도 나는 어쩌면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내가 이 세상에 밝은 빛이라도 될까 봐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어쩌면 그 모든 아픔을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내딛고서라도</a:t>
            </a:r>
            <a:endParaRPr lang="ko-KR" altLang="en-US" sz="2200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짧게 빛을 내 볼까 봐</a:t>
            </a:r>
            <a:r>
              <a:rPr lang="en-US" altLang="ko-KR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    - 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볼 빨간 사춘기 노래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, &lt;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나의 </a:t>
            </a:r>
            <a:r>
              <a:rPr lang="ko-KR" altLang="en-US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사춘기에게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&gt;</a:t>
            </a:r>
            <a:endParaRPr lang="en-US" altLang="ko-KR" sz="1400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089914" y="942681"/>
            <a:ext cx="684803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spc="-300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spc="-30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고통은 </a:t>
            </a:r>
            <a:r>
              <a:rPr lang="ko-KR" altLang="en-US" b="1" dirty="0">
                <a:latin typeface="+mj-ea"/>
                <a:ea typeface="+mj-ea"/>
              </a:rPr>
              <a:t>왜 생겨날까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3048" y="2368720"/>
            <a:ext cx="4963623" cy="4485124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95816" y="2368719"/>
            <a:ext cx="472998" cy="795337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10704973" y="1672534"/>
            <a:ext cx="886578" cy="689561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활동</a:t>
            </a: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13894" y="3731782"/>
            <a:ext cx="401164" cy="671513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-165253" y="6202496"/>
            <a:ext cx="4765828" cy="657971"/>
          </a:xfrm>
          <a:prstGeom prst="rect">
            <a:avLst/>
          </a:prstGeom>
          <a:solidFill>
            <a:srgbClr val="E9D9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089914" y="942681"/>
            <a:ext cx="684803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spc="-30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spc="-3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고통은 </a:t>
            </a:r>
            <a:r>
              <a:rPr lang="ko-KR" altLang="en-US" b="1" dirty="0">
                <a:latin typeface="+mj-ea"/>
                <a:ea typeface="+mj-ea"/>
              </a:rPr>
              <a:t>왜 생겨날까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6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967415"/>
            <a:ext cx="10293350" cy="3623390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5588" y="2966915"/>
            <a:ext cx="9784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공부는 하기 싫고 어떻게 해야 하는지도 잘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모르겠는데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부모님께서는 내 성적이 오를 것으로 </a:t>
            </a:r>
            <a:r>
              <a:rPr lang="ko-KR" altLang="en-US" sz="2400" dirty="0" err="1">
                <a:solidFill>
                  <a:srgbClr val="0070C0"/>
                </a:solidFill>
                <a:latin typeface="+mn-ea"/>
              </a:rPr>
              <a:t>기대하셔서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 마음이 고통스럽다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다음은 청소년기에 겪을 수 있는 마음의 고통을 그린 가사이다</a:t>
            </a:r>
            <a:r>
              <a:rPr lang="en-US" altLang="ko-KR" sz="2000" b="1" dirty="0">
                <a:latin typeface="+mn-ea"/>
              </a:rPr>
              <a:t>. </a:t>
            </a:r>
            <a:r>
              <a:rPr lang="ko-KR" altLang="en-US" sz="2000" b="1" dirty="0">
                <a:latin typeface="+mn-ea"/>
              </a:rPr>
              <a:t>가사를 읽고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최근에 내가 </a:t>
            </a:r>
            <a:r>
              <a:rPr lang="ko-KR" altLang="en-US" sz="2000" b="1" dirty="0" smtClean="0">
                <a:latin typeface="+mn-ea"/>
              </a:rPr>
              <a:t>겪은 </a:t>
            </a:r>
            <a:r>
              <a:rPr lang="ko-KR" altLang="en-US" sz="2000" b="1" dirty="0">
                <a:latin typeface="+mn-ea"/>
              </a:rPr>
              <a:t>마음의 고통을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22" name="그림 21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79489"/>
            <a:ext cx="487174" cy="487174"/>
          </a:xfrm>
          <a:prstGeom prst="rect">
            <a:avLst/>
          </a:prstGeom>
        </p:spPr>
      </p:pic>
      <p:grpSp>
        <p:nvGrpSpPr>
          <p:cNvPr id="23" name="그룹 22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79489"/>
            <a:ext cx="1087577" cy="495431"/>
            <a:chOff x="10075659" y="2003022"/>
            <a:chExt cx="1156006" cy="495431"/>
          </a:xfrm>
        </p:grpSpPr>
        <p:pic>
          <p:nvPicPr>
            <p:cNvPr id="24" name="그림 23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0701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17" grpId="0"/>
      <p:bldP spid="1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3439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고통의 의미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+mn-ea"/>
              </a:rPr>
              <a:t>고통</a:t>
            </a:r>
            <a:r>
              <a:rPr lang="en-US" altLang="ko-KR" sz="2400" b="1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몸이나 마음이 아프고 괴로운 것</a:t>
            </a:r>
            <a:endParaRPr lang="en-US" altLang="ko-KR" sz="2400" dirty="0"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+mn-ea"/>
              </a:rPr>
              <a:t>고통의 </a:t>
            </a:r>
            <a:r>
              <a:rPr lang="ko-KR" altLang="en-US" sz="2400" b="1" dirty="0" smtClean="0">
                <a:latin typeface="+mn-ea"/>
              </a:rPr>
              <a:t>유형</a:t>
            </a:r>
            <a:endParaRPr lang="en-US" altLang="ko-KR" sz="2400" b="1" dirty="0" smtClean="0">
              <a:latin typeface="+mn-ea"/>
            </a:endParaRPr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endParaRPr lang="en-US" altLang="ko-KR" sz="2400" b="1" dirty="0">
              <a:latin typeface="+mn-ea"/>
            </a:endParaRPr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endParaRPr lang="en-US" altLang="ko-KR" sz="2400" b="1" dirty="0" smtClean="0">
              <a:latin typeface="+mn-ea"/>
            </a:endParaRPr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endParaRPr lang="en-US" altLang="ko-KR" sz="2400" b="1" dirty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고통의 의미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고통은 </a:t>
            </a:r>
            <a:r>
              <a:rPr lang="ko-KR" altLang="en-US" b="1" dirty="0">
                <a:latin typeface="+mj-ea"/>
                <a:ea typeface="+mj-ea"/>
              </a:rPr>
              <a:t>왜 생겨날까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966334"/>
              </p:ext>
            </p:extLst>
          </p:nvPr>
        </p:nvGraphicFramePr>
        <p:xfrm>
          <a:off x="1064871" y="3286406"/>
          <a:ext cx="10470524" cy="19183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4157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8896367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7296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몸의 고통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병이 나거나 다쳤을 때 느끼는 아픔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7296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2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Arial"/>
                        </a:rPr>
                        <a:t>마음의</a:t>
                      </a:r>
                      <a:endParaRPr kumimoji="0" lang="en-US" altLang="ko-KR" sz="2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2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Arial"/>
                        </a:rPr>
                        <a:t>고통</a:t>
                      </a:r>
                      <a:endParaRPr kumimoji="0" lang="ko-KR" alt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감당하기 어려운 상황에 부닥쳤을 때 느끼는 스트레스</a:t>
                      </a: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dirty="0" err="1" smtClean="0">
                          <a:latin typeface="+mn-ea"/>
                          <a:ea typeface="+mn-ea"/>
                        </a:rPr>
                        <a:t>우울감</a:t>
                      </a: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불안</a:t>
                      </a: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혼란스러움과 같은 괴로움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</a:tbl>
          </a:graphicData>
        </a:graphic>
      </p:graphicFrame>
      <p:sp>
        <p:nvSpPr>
          <p:cNvPr id="13" name="타원 12"/>
          <p:cNvSpPr/>
          <p:nvPr/>
        </p:nvSpPr>
        <p:spPr>
          <a:xfrm>
            <a:off x="8771344" y="4111652"/>
            <a:ext cx="150020" cy="12730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007610" y="5186685"/>
            <a:ext cx="58677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</a:rPr>
              <a:t>스트레스 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적응하기 어려운 환경에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처할 때 느끼는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긴장 상태 </a:t>
            </a:r>
            <a:endParaRPr lang="ko-KR" altLang="en-US" sz="1600" dirty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b="1" dirty="0" err="1" smtClean="0">
                <a:solidFill>
                  <a:schemeClr val="accent6"/>
                </a:solidFill>
              </a:rPr>
              <a:t>우울감</a:t>
            </a:r>
            <a:r>
              <a:rPr lang="ko-KR" altLang="en-US" sz="1600" b="1" dirty="0" smtClean="0">
                <a:solidFill>
                  <a:schemeClr val="accent6"/>
                </a:solidFill>
              </a:rPr>
              <a:t> 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마음이 답답하거나 근심스러워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활기가 없는 느낌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10153369" y="4111651"/>
            <a:ext cx="150020" cy="12730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035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2885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고통의 의의</a:t>
            </a:r>
            <a:endParaRPr lang="ko-KR" altLang="en-US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고통을 </a:t>
            </a:r>
            <a:r>
              <a:rPr lang="ko-KR" altLang="en-US" sz="2400" dirty="0">
                <a:latin typeface="+mn-ea"/>
              </a:rPr>
              <a:t>이겨 내는 가운데 자신을 이해하거나 굳건한 마음가짐을 지니며 성장할 수 </a:t>
            </a:r>
            <a:r>
              <a:rPr lang="ko-KR" altLang="en-US" sz="2400" dirty="0" smtClean="0">
                <a:latin typeface="+mn-ea"/>
              </a:rPr>
              <a:t>있음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고통은 나와 같은 고통을 겪는 사람들에게 공감하고 도움을 주는 계기가 되기도 함</a:t>
            </a:r>
            <a:r>
              <a:rPr lang="en-US" altLang="ko-KR" sz="2400" dirty="0" smtClean="0">
                <a:latin typeface="+mn-ea"/>
              </a:rPr>
              <a:t>.</a:t>
            </a:r>
            <a:endParaRPr lang="en-US" altLang="ko-KR" sz="2400" b="1" dirty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고통의 의미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고통은 </a:t>
            </a:r>
            <a:r>
              <a:rPr lang="ko-KR" altLang="en-US" b="1" dirty="0">
                <a:latin typeface="+mj-ea"/>
                <a:ea typeface="+mj-ea"/>
              </a:rPr>
              <a:t>왜 생겨날까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5" name="타원 24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48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07509"/>
            <a:ext cx="3426106" cy="50504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40018" y="1596520"/>
            <a:ext cx="860188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저는 제 외모를 증오하였어요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희귀병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때문에 다른 사람들과는 다른 제 외모가 </a:t>
            </a:r>
            <a:r>
              <a:rPr lang="ko-KR" altLang="en-US" sz="2200" spc="-15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싫었거든요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매일 아침에 거울을 볼 때마다 얼굴을 지워 버리고 싶었어요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그러던 어느 날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누군가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‘세상에서 가장 못생긴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여자’라는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제목으로 제 사진을 인터넷에 올렸어요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제 사진을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본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사람들은 저를 ‘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괴물’이라고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불렀어요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저는 무척 절망하였어요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그러나 저를 괴물로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취급하는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사람들이 마음대로 ‘나’라는 사람을 설명하게 둘 수 없다는 생각이 들었어요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또한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제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외모가 아니라 제가 꿈꾸고 이루어 낸 것으로 ‘나’라는 사람을 설명하겠다고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결심하였지요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그래서 열심히 노력하여 더 나은 사람이 되겠다고 마음먹었어요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</a:p>
          <a:p>
            <a:pPr algn="r">
              <a:lnSpc>
                <a:spcPct val="150000"/>
              </a:lnSpc>
            </a:pPr>
            <a:r>
              <a:rPr lang="en-US" altLang="ko-KR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리지 </a:t>
            </a:r>
            <a:r>
              <a:rPr lang="ko-KR" altLang="en-US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벨라스케스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en-US" altLang="ko-KR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TEDx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연설문</a:t>
            </a:r>
            <a:endParaRPr lang="en-US" altLang="ko-KR" sz="1400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고통은 </a:t>
            </a:r>
            <a:r>
              <a:rPr lang="ko-KR" altLang="en-US" b="1" dirty="0">
                <a:latin typeface="+mj-ea"/>
                <a:ea typeface="+mj-ea"/>
              </a:rPr>
              <a:t>왜 생겨날까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693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윗글의 주인공에게 고통은 어떤 의미를 지니는지 써 보자</a:t>
            </a:r>
            <a:r>
              <a:rPr lang="en-US" altLang="ko-KR" sz="2000" b="1" dirty="0">
                <a:latin typeface="+mn-ea"/>
              </a:rPr>
              <a:t>. 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4189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58712" y="2439788"/>
            <a:ext cx="99609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주인공은 남들과 다른 외모로 사람들의 조롱을 받아 큰 고통을 겪었으나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오히려 이러한 고통을 자신이 성장하는 발판으로 삼았다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따라서 주인공에게 고통은 성장의 디딤돌이라는 의미를 지닌다고 볼 수 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고통은 </a:t>
            </a:r>
            <a:r>
              <a:rPr lang="ko-KR" altLang="en-US" b="1" dirty="0">
                <a:latin typeface="+mj-ea"/>
                <a:ea typeface="+mj-ea"/>
              </a:rPr>
              <a:t>왜 생겨날까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3124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40018" y="1596520"/>
            <a:ext cx="8601887" cy="3060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승민이는 시험을 앞두고 마음이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울적하였다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‘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지난 시험에서 노력한 만큼 성적이 안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나왔으니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이번에도 공부를 해 봤자 소용없을 거야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.’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라고 생각했기 때문이다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또 친구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수아를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떠올리며 ‘수아는 공부를 열심히 안 해도 늘 나보다 성적이 좋네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.’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라고 생각하니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스스로가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보잘것없이 느껴졌다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승민이는 책상 앞에 앉아 ‘공부를 안 해도 성적이 잘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나왔으면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…….’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이라는 생각만 반복하며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우울해하였다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2200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글을 읽어 </a:t>
            </a:r>
            <a:r>
              <a:rPr lang="ko-KR" altLang="en-US" sz="2000" b="1" dirty="0" smtClean="0">
                <a:latin typeface="+mj-ea"/>
                <a:ea typeface="+mj-ea"/>
              </a:rPr>
              <a:t>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고통은 </a:t>
            </a:r>
            <a:r>
              <a:rPr lang="ko-KR" altLang="en-US" b="1" dirty="0">
                <a:latin typeface="+mj-ea"/>
                <a:ea typeface="+mj-ea"/>
              </a:rPr>
              <a:t>왜 생겨날까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986" y="2667958"/>
            <a:ext cx="1548053" cy="1275757"/>
          </a:xfrm>
          <a:prstGeom prst="rect">
            <a:avLst/>
          </a:prstGeom>
        </p:spPr>
      </p:pic>
      <p:grpSp>
        <p:nvGrpSpPr>
          <p:cNvPr id="10" name="그룹 9"/>
          <p:cNvGrpSpPr/>
          <p:nvPr/>
        </p:nvGrpSpPr>
        <p:grpSpPr>
          <a:xfrm>
            <a:off x="1197517" y="3794102"/>
            <a:ext cx="1555709" cy="1572220"/>
            <a:chOff x="1881972" y="3435732"/>
            <a:chExt cx="1583349" cy="1608893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74444" y="3435733"/>
              <a:ext cx="1490877" cy="1496018"/>
            </a:xfrm>
            <a:prstGeom prst="rect">
              <a:avLst/>
            </a:prstGeom>
          </p:spPr>
        </p:pic>
        <p:grpSp>
          <p:nvGrpSpPr>
            <p:cNvPr id="9" name="그룹 8"/>
            <p:cNvGrpSpPr/>
            <p:nvPr/>
          </p:nvGrpSpPr>
          <p:grpSpPr>
            <a:xfrm>
              <a:off x="1881972" y="3435732"/>
              <a:ext cx="663355" cy="1608893"/>
              <a:chOff x="1881972" y="3435732"/>
              <a:chExt cx="663355" cy="1608893"/>
            </a:xfrm>
          </p:grpSpPr>
          <p:sp>
            <p:nvSpPr>
              <p:cNvPr id="8" name="직사각형 7"/>
              <p:cNvSpPr/>
              <p:nvPr/>
            </p:nvSpPr>
            <p:spPr>
              <a:xfrm>
                <a:off x="1974444" y="3435732"/>
                <a:ext cx="386791" cy="1061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직사각형 23"/>
              <p:cNvSpPr/>
              <p:nvPr/>
            </p:nvSpPr>
            <p:spPr>
              <a:xfrm>
                <a:off x="1974444" y="3518703"/>
                <a:ext cx="288145" cy="1544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직사각형 24"/>
              <p:cNvSpPr/>
              <p:nvPr/>
            </p:nvSpPr>
            <p:spPr>
              <a:xfrm flipV="1">
                <a:off x="1881972" y="4612567"/>
                <a:ext cx="288145" cy="40215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직사각형 25"/>
              <p:cNvSpPr/>
              <p:nvPr/>
            </p:nvSpPr>
            <p:spPr>
              <a:xfrm flipV="1">
                <a:off x="2043777" y="4755346"/>
                <a:ext cx="288145" cy="22574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직사각형 26"/>
              <p:cNvSpPr/>
              <p:nvPr/>
            </p:nvSpPr>
            <p:spPr>
              <a:xfrm flipV="1">
                <a:off x="2257182" y="4818876"/>
                <a:ext cx="288145" cy="22574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pic>
        <p:nvPicPr>
          <p:cNvPr id="5" name="그림 4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589" y="1538645"/>
            <a:ext cx="1454508" cy="1206067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196636"/>
            <a:ext cx="3550024" cy="2043328"/>
          </a:xfrm>
          <a:prstGeom prst="rect">
            <a:avLst/>
          </a:prstGeom>
        </p:spPr>
      </p:pic>
      <p:sp>
        <p:nvSpPr>
          <p:cNvPr id="28" name="타원 27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75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40018" y="1596520"/>
            <a:ext cx="860188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승민이는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저녁 식사를 할 때도 마음이 괴로운 나머지 밥을 남겼다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그러자 엄마가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“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밥을 남기면 어떡해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?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잘 먹어야 공부할 힘이 나지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.”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라고 말씀하셨다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갑자기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눈물이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날 것 같아 방문을 세게 닫고 방으로 들어가니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문밖에서 엄마가 “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버릇없게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무슨 짓이니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!”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라며 혼내는 소리가 들렸다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승민이는 문을 세게 닫은 것을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후회하면서도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자기 마음을 몰라주는 엄마에게 서운함을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느꼈다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2200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글을 읽어 </a:t>
            </a:r>
            <a:r>
              <a:rPr lang="ko-KR" altLang="en-US" sz="2000" b="1" dirty="0" smtClean="0">
                <a:latin typeface="+mj-ea"/>
                <a:ea typeface="+mj-ea"/>
              </a:rPr>
              <a:t>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고통은 </a:t>
            </a:r>
            <a:r>
              <a:rPr lang="ko-KR" altLang="en-US" b="1" dirty="0">
                <a:latin typeface="+mj-ea"/>
                <a:ea typeface="+mj-ea"/>
              </a:rPr>
              <a:t>왜 생겨날까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986" y="2667958"/>
            <a:ext cx="1548053" cy="1275757"/>
          </a:xfrm>
          <a:prstGeom prst="rect">
            <a:avLst/>
          </a:prstGeom>
        </p:spPr>
      </p:pic>
      <p:grpSp>
        <p:nvGrpSpPr>
          <p:cNvPr id="10" name="그룹 9"/>
          <p:cNvGrpSpPr/>
          <p:nvPr/>
        </p:nvGrpSpPr>
        <p:grpSpPr>
          <a:xfrm>
            <a:off x="1197517" y="3794102"/>
            <a:ext cx="1555709" cy="1572220"/>
            <a:chOff x="1881972" y="3435732"/>
            <a:chExt cx="1583349" cy="1608893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74444" y="3435733"/>
              <a:ext cx="1490877" cy="1496018"/>
            </a:xfrm>
            <a:prstGeom prst="rect">
              <a:avLst/>
            </a:prstGeom>
          </p:spPr>
        </p:pic>
        <p:grpSp>
          <p:nvGrpSpPr>
            <p:cNvPr id="9" name="그룹 8"/>
            <p:cNvGrpSpPr/>
            <p:nvPr/>
          </p:nvGrpSpPr>
          <p:grpSpPr>
            <a:xfrm>
              <a:off x="1881972" y="3435732"/>
              <a:ext cx="663355" cy="1608893"/>
              <a:chOff x="1881972" y="3435732"/>
              <a:chExt cx="663355" cy="1608893"/>
            </a:xfrm>
          </p:grpSpPr>
          <p:sp>
            <p:nvSpPr>
              <p:cNvPr id="8" name="직사각형 7"/>
              <p:cNvSpPr/>
              <p:nvPr/>
            </p:nvSpPr>
            <p:spPr>
              <a:xfrm>
                <a:off x="1974444" y="3435732"/>
                <a:ext cx="386791" cy="1061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직사각형 23"/>
              <p:cNvSpPr/>
              <p:nvPr/>
            </p:nvSpPr>
            <p:spPr>
              <a:xfrm>
                <a:off x="1974444" y="3518703"/>
                <a:ext cx="288145" cy="1544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직사각형 24"/>
              <p:cNvSpPr/>
              <p:nvPr/>
            </p:nvSpPr>
            <p:spPr>
              <a:xfrm flipV="1">
                <a:off x="1881972" y="4612567"/>
                <a:ext cx="288145" cy="40215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직사각형 25"/>
              <p:cNvSpPr/>
              <p:nvPr/>
            </p:nvSpPr>
            <p:spPr>
              <a:xfrm flipV="1">
                <a:off x="2043777" y="4755346"/>
                <a:ext cx="288145" cy="22574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직사각형 26"/>
              <p:cNvSpPr/>
              <p:nvPr/>
            </p:nvSpPr>
            <p:spPr>
              <a:xfrm flipV="1">
                <a:off x="2257182" y="4818876"/>
                <a:ext cx="288145" cy="22574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pic>
        <p:nvPicPr>
          <p:cNvPr id="5" name="그림 4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589" y="1538645"/>
            <a:ext cx="1454508" cy="1206067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196636"/>
            <a:ext cx="3550024" cy="2043328"/>
          </a:xfrm>
          <a:prstGeom prst="rect">
            <a:avLst/>
          </a:prstGeom>
        </p:spPr>
      </p:pic>
      <p:sp>
        <p:nvSpPr>
          <p:cNvPr id="23" name="타원 22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0293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2885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부정적인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생각</a:t>
            </a: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앞으로의 일이 안될 것이라고 비관하거나 자신의 상황을 남과 비교하며 부정적으로 생각하는 것은 고통의 원인이 될 수 있음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2400" dirty="0" smtClean="0">
                <a:solidFill>
                  <a:srgbClr val="843C0C"/>
                </a:solidFill>
                <a:latin typeface="+mn-ea"/>
              </a:rPr>
              <a:t>(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예</a:t>
            </a:r>
            <a:r>
              <a:rPr lang="en-US" altLang="ko-KR" sz="2400" dirty="0">
                <a:solidFill>
                  <a:srgbClr val="843C0C"/>
                </a:solidFill>
                <a:latin typeface="+mn-ea"/>
              </a:rPr>
              <a:t>) 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‘공부를 해 봤자 소용없을 거야</a:t>
            </a:r>
            <a:r>
              <a:rPr lang="en-US" altLang="ko-KR" sz="2400" dirty="0">
                <a:solidFill>
                  <a:srgbClr val="843C0C"/>
                </a:solidFill>
                <a:latin typeface="+mn-ea"/>
              </a:rPr>
              <a:t>.’, ‘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수아는 공부를 열심히 안 해도 늘 나보다 성적이 좋네</a:t>
            </a:r>
            <a:r>
              <a:rPr lang="en-US" altLang="ko-KR" sz="2400" dirty="0">
                <a:solidFill>
                  <a:srgbClr val="843C0C"/>
                </a:solidFill>
                <a:latin typeface="+mn-ea"/>
              </a:rPr>
              <a:t>.’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고통의 원인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고통은 </a:t>
            </a:r>
            <a:r>
              <a:rPr lang="ko-KR" altLang="en-US" b="1" dirty="0">
                <a:latin typeface="+mj-ea"/>
                <a:ea typeface="+mj-ea"/>
              </a:rPr>
              <a:t>왜 생겨날까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타원 23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832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지나친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욕심이나 집착</a:t>
            </a:r>
          </a:p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latin typeface="+mn-ea"/>
              </a:rPr>
              <a:t>무엇을 지나치게 탐내거나 어떤 것에 지나치게 매달리면 고통이 생길 수 있음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2400" dirty="0" smtClean="0">
                <a:solidFill>
                  <a:srgbClr val="843C0C"/>
                </a:solidFill>
                <a:latin typeface="+mn-ea"/>
              </a:rPr>
              <a:t>(</a:t>
            </a:r>
            <a:r>
              <a:rPr lang="ko-KR" altLang="en-US" sz="2400" spc="-150" dirty="0">
                <a:solidFill>
                  <a:srgbClr val="843C0C"/>
                </a:solidFill>
                <a:latin typeface="+mn-ea"/>
              </a:rPr>
              <a:t>예</a:t>
            </a:r>
            <a:r>
              <a:rPr lang="en-US" altLang="ko-KR" sz="2400" spc="-150" dirty="0">
                <a:solidFill>
                  <a:srgbClr val="843C0C"/>
                </a:solidFill>
                <a:latin typeface="+mn-ea"/>
              </a:rPr>
              <a:t>) </a:t>
            </a:r>
            <a:r>
              <a:rPr lang="ko-KR" altLang="en-US" sz="2400" spc="-150" dirty="0" smtClean="0">
                <a:solidFill>
                  <a:srgbClr val="843C0C"/>
                </a:solidFill>
                <a:latin typeface="+mn-ea"/>
              </a:rPr>
              <a:t>노력하지 </a:t>
            </a:r>
            <a:r>
              <a:rPr lang="ko-KR" altLang="en-US" sz="2400" spc="-150" dirty="0">
                <a:solidFill>
                  <a:srgbClr val="843C0C"/>
                </a:solidFill>
                <a:latin typeface="+mn-ea"/>
              </a:rPr>
              <a:t>않고도 성적이 잘 나오기를 바라고 그러한 생각을 계속 </a:t>
            </a:r>
            <a:r>
              <a:rPr lang="ko-KR" altLang="en-US" sz="2400" spc="-150" dirty="0" smtClean="0">
                <a:solidFill>
                  <a:srgbClr val="843C0C"/>
                </a:solidFill>
                <a:latin typeface="+mn-ea"/>
              </a:rPr>
              <a:t>반복하는 것</a:t>
            </a:r>
            <a:endParaRPr lang="en-US" altLang="ko-KR" sz="2400" spc="-150" dirty="0" smtClean="0">
              <a:solidFill>
                <a:srgbClr val="843C0C"/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en-US" altLang="ko-KR" sz="2400" dirty="0">
              <a:solidFill>
                <a:srgbClr val="843C0C"/>
              </a:solidFill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다른 사람과의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갈등</a:t>
            </a:r>
            <a:endParaRPr lang="ko-KR" altLang="en-US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 다른 사람과의 갈등이 깊어지면 </a:t>
            </a:r>
            <a:r>
              <a:rPr lang="ko-KR" altLang="en-US" sz="2400" dirty="0" smtClean="0">
                <a:latin typeface="+mn-ea"/>
              </a:rPr>
              <a:t>여러 </a:t>
            </a:r>
            <a:r>
              <a:rPr lang="ko-KR" altLang="en-US" sz="2400" dirty="0">
                <a:latin typeface="+mn-ea"/>
              </a:rPr>
              <a:t>부정적인 감정으로 고통을 겪을 수 </a:t>
            </a:r>
            <a:r>
              <a:rPr lang="ko-KR" altLang="en-US" sz="2400" dirty="0" smtClean="0">
                <a:latin typeface="+mn-ea"/>
              </a:rPr>
              <a:t>있음</a:t>
            </a:r>
            <a:r>
              <a:rPr lang="en-US" altLang="ko-KR" sz="2400" dirty="0" smtClean="0">
                <a:latin typeface="+mn-ea"/>
              </a:rPr>
              <a:t>.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고통의 원인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고통은 </a:t>
            </a:r>
            <a:r>
              <a:rPr lang="ko-KR" altLang="en-US" b="1" dirty="0">
                <a:latin typeface="+mj-ea"/>
                <a:ea typeface="+mj-ea"/>
              </a:rPr>
              <a:t>왜 생겨날까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타원 23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9236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/>
          <p:cNvSpPr txBox="1"/>
          <p:nvPr/>
        </p:nvSpPr>
        <p:spPr>
          <a:xfrm>
            <a:off x="787400" y="1613182"/>
            <a:ext cx="10472291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latin typeface="+mn-ea"/>
              </a:rPr>
              <a:t>1. </a:t>
            </a:r>
            <a:r>
              <a:rPr lang="ko-KR" altLang="en-US" sz="2000" b="1" dirty="0">
                <a:latin typeface="+mn-ea"/>
              </a:rPr>
              <a:t>내가 겪는 마음의 고통을 한 가지 떠올려 보고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다음 </a:t>
            </a:r>
            <a:r>
              <a:rPr lang="en-US" altLang="ko-KR" sz="2000" b="1" dirty="0">
                <a:latin typeface="+mn-ea"/>
              </a:rPr>
              <a:t>&lt;</a:t>
            </a:r>
            <a:r>
              <a:rPr lang="ko-KR" altLang="en-US" sz="2000" b="1" dirty="0">
                <a:latin typeface="+mn-ea"/>
              </a:rPr>
              <a:t>활동 방법</a:t>
            </a:r>
            <a:r>
              <a:rPr lang="en-US" altLang="ko-KR" sz="2000" b="1" dirty="0">
                <a:latin typeface="+mn-ea"/>
              </a:rPr>
              <a:t>&gt;</a:t>
            </a:r>
            <a:r>
              <a:rPr lang="ko-KR" altLang="en-US" sz="2000" b="1" dirty="0">
                <a:latin typeface="+mn-ea"/>
              </a:rPr>
              <a:t>에 따라 짝과 함께 ‘동서남북 </a:t>
            </a:r>
            <a:r>
              <a:rPr lang="ko-KR" altLang="en-US" sz="2000" b="1" dirty="0" err="1">
                <a:latin typeface="+mn-ea"/>
              </a:rPr>
              <a:t>놀이’를</a:t>
            </a:r>
            <a:r>
              <a:rPr lang="ko-KR" altLang="en-US" sz="2000" b="1" dirty="0">
                <a:latin typeface="+mn-ea"/>
              </a:rPr>
              <a:t> </a:t>
            </a:r>
            <a:r>
              <a:rPr lang="ko-KR" altLang="en-US" sz="2000" b="1" dirty="0" smtClean="0">
                <a:latin typeface="+mn-ea"/>
              </a:rPr>
              <a:t>해 </a:t>
            </a:r>
            <a:r>
              <a:rPr lang="ko-KR" altLang="en-US" sz="2000" b="1" dirty="0">
                <a:latin typeface="+mn-ea"/>
              </a:rPr>
              <a:t>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400" y="2551612"/>
            <a:ext cx="9253804" cy="4306388"/>
          </a:xfrm>
          <a:prstGeom prst="rect">
            <a:avLst/>
          </a:prstGeom>
        </p:spPr>
      </p:pic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599006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5577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339760" y="654715"/>
            <a:ext cx="7417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9300"/>
                </a:solidFill>
                <a:latin typeface="+mj-ea"/>
                <a:ea typeface="+mj-ea"/>
              </a:rPr>
              <a:t>내 마음속 고통의 원인 성찰하기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고통은 </a:t>
            </a:r>
            <a:r>
              <a:rPr lang="ko-KR" altLang="en-US" b="1" dirty="0">
                <a:latin typeface="+mj-ea"/>
                <a:ea typeface="+mj-ea"/>
              </a:rPr>
              <a:t>왜 생겨날까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10107880" y="2581368"/>
            <a:ext cx="1087577" cy="495431"/>
            <a:chOff x="10075659" y="2003022"/>
            <a:chExt cx="1156006" cy="495431"/>
          </a:xfrm>
        </p:grpSpPr>
        <p:pic>
          <p:nvPicPr>
            <p:cNvPr id="50" name="그림 4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51" name="TextBox 5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60" y="2052992"/>
              <a:ext cx="115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방법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7174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619109" y="2018581"/>
            <a:ext cx="691263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종이접기 방법에 따라 종이를 접는다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.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완성한 종이 바깥쪽에는 ‘고통의’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‘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진짜’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, ‘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원인을’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, ‘</a:t>
            </a:r>
            <a:r>
              <a:rPr lang="ko-KR" altLang="en-US" sz="2000" dirty="0" err="1">
                <a:latin typeface="돋움" panose="020B0600000101010101" pitchFamily="50" charset="-127"/>
                <a:ea typeface="돋움" panose="020B0600000101010101" pitchFamily="50" charset="-127"/>
              </a:rPr>
              <a:t>찾아라’라고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 쓰고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종이 안쪽에는 ‘㉮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~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㉵’라고 쓴다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짝과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번갈아 가며 종이 바깥쪽에 쓰인 단어 하나와 횟수를 외친다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. 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(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예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)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‘</a:t>
            </a:r>
            <a:r>
              <a:rPr lang="ko-KR" altLang="en-US" sz="2000" dirty="0" err="1">
                <a:latin typeface="돋움" panose="020B0600000101010101" pitchFamily="50" charset="-127"/>
                <a:ea typeface="돋움" panose="020B0600000101010101" pitchFamily="50" charset="-127"/>
              </a:rPr>
              <a:t>진짜’로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 두 번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!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짝이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외친 </a:t>
            </a:r>
            <a:r>
              <a:rPr lang="ko-KR" altLang="en-US" sz="2000" dirty="0" err="1">
                <a:latin typeface="돋움" panose="020B0600000101010101" pitchFamily="50" charset="-127"/>
                <a:ea typeface="돋움" panose="020B0600000101010101" pitchFamily="50" charset="-127"/>
              </a:rPr>
              <a:t>횟수대로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 종이를 폈다 접은 뒤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짝과 함께 종이 안쪽의 기호에 해당하는 물음을 확인한다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내가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겪는 마음의 고통을 떠올리며 물음에 ‘예’ 혹은 ‘</a:t>
            </a:r>
            <a:r>
              <a:rPr lang="ko-KR" altLang="en-US" sz="2000" dirty="0" err="1">
                <a:latin typeface="돋움" panose="020B0600000101010101" pitchFamily="50" charset="-127"/>
                <a:ea typeface="돋움" panose="020B0600000101010101" pitchFamily="50" charset="-127"/>
              </a:rPr>
              <a:t>아니요’로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 답하고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그 까닭을 말한다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7400" y="1613182"/>
            <a:ext cx="10472291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latin typeface="+mn-ea"/>
              </a:rPr>
              <a:t>1. </a:t>
            </a:r>
            <a:r>
              <a:rPr lang="ko-KR" altLang="en-US" sz="2000" b="1" dirty="0">
                <a:latin typeface="+mn-ea"/>
              </a:rPr>
              <a:t>내가 겪는 마음의 고통을 한 가지 떠올려 보고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다음 </a:t>
            </a:r>
            <a:r>
              <a:rPr lang="en-US" altLang="ko-KR" sz="2000" b="1" dirty="0">
                <a:latin typeface="+mn-ea"/>
              </a:rPr>
              <a:t>&lt;</a:t>
            </a:r>
            <a:r>
              <a:rPr lang="ko-KR" altLang="en-US" sz="2000" b="1" dirty="0">
                <a:latin typeface="+mn-ea"/>
              </a:rPr>
              <a:t>활동 방법</a:t>
            </a:r>
            <a:r>
              <a:rPr lang="en-US" altLang="ko-KR" sz="2000" b="1" dirty="0">
                <a:latin typeface="+mn-ea"/>
              </a:rPr>
              <a:t>&gt;</a:t>
            </a:r>
            <a:r>
              <a:rPr lang="ko-KR" altLang="en-US" sz="2000" b="1" dirty="0">
                <a:latin typeface="+mn-ea"/>
              </a:rPr>
              <a:t>에 따라 짝과 함께 ‘동서남북 </a:t>
            </a:r>
            <a:r>
              <a:rPr lang="ko-KR" altLang="en-US" sz="2000" b="1" dirty="0" err="1">
                <a:latin typeface="+mn-ea"/>
              </a:rPr>
              <a:t>놀이’를</a:t>
            </a:r>
            <a:r>
              <a:rPr lang="ko-KR" altLang="en-US" sz="2000" b="1" dirty="0">
                <a:latin typeface="+mn-ea"/>
              </a:rPr>
              <a:t> </a:t>
            </a:r>
            <a:r>
              <a:rPr lang="ko-KR" altLang="en-US" sz="2000" b="1" dirty="0" smtClean="0">
                <a:latin typeface="+mn-ea"/>
              </a:rPr>
              <a:t>해 </a:t>
            </a:r>
            <a:r>
              <a:rPr lang="ko-KR" altLang="en-US" sz="2000" b="1" dirty="0">
                <a:latin typeface="+mn-ea"/>
              </a:rPr>
              <a:t>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400" y="2551612"/>
            <a:ext cx="9253804" cy="4306388"/>
          </a:xfrm>
          <a:prstGeom prst="rect">
            <a:avLst/>
          </a:prstGeom>
        </p:spPr>
      </p:pic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599006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5577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339760" y="654715"/>
            <a:ext cx="7417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9300"/>
                </a:solidFill>
                <a:latin typeface="+mj-ea"/>
                <a:ea typeface="+mj-ea"/>
              </a:rPr>
              <a:t>내 마음속 고통의 원인 성찰하기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고통은 </a:t>
            </a:r>
            <a:r>
              <a:rPr lang="ko-KR" altLang="en-US" b="1" dirty="0">
                <a:latin typeface="+mj-ea"/>
                <a:ea typeface="+mj-ea"/>
              </a:rPr>
              <a:t>왜 생겨날까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10107880" y="2233024"/>
            <a:ext cx="1087577" cy="495431"/>
            <a:chOff x="10075659" y="2003022"/>
            <a:chExt cx="1156006" cy="495431"/>
          </a:xfrm>
        </p:grpSpPr>
        <p:pic>
          <p:nvPicPr>
            <p:cNvPr id="50" name="그림 4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51" name="TextBox 5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60" y="2052992"/>
              <a:ext cx="115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방법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17" name="Google Shape;229;p6"/>
          <p:cNvSpPr/>
          <p:nvPr/>
        </p:nvSpPr>
        <p:spPr>
          <a:xfrm>
            <a:off x="0" y="3639"/>
            <a:ext cx="12192000" cy="6858000"/>
          </a:xfrm>
          <a:prstGeom prst="rect">
            <a:avLst/>
          </a:prstGeom>
          <a:solidFill>
            <a:schemeClr val="dk1">
              <a:alpha val="6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AppleSDGothicNeoB00" panose="02000503000000000000" pitchFamily="2" charset="-127"/>
              <a:ea typeface="AppleSDGothicNeoB00" panose="02000503000000000000" pitchFamily="2" charset="-127"/>
              <a:cs typeface="Malgun Gothic"/>
              <a:sym typeface="Malgun Gothic"/>
            </a:endParaRPr>
          </a:p>
        </p:txBody>
      </p:sp>
      <p:sp>
        <p:nvSpPr>
          <p:cNvPr id="18" name="사각형: 둥근 모서리 25">
            <a:extLst>
              <a:ext uri="{FF2B5EF4-FFF2-40B4-BE49-F238E27FC236}">
                <a16:creationId xmlns:a16="http://schemas.microsoft.com/office/drawing/2014/main" id="{5774C9A1-97EC-0D55-CC78-E79C45A8BF25}"/>
              </a:ext>
            </a:extLst>
          </p:cNvPr>
          <p:cNvSpPr/>
          <p:nvPr/>
        </p:nvSpPr>
        <p:spPr>
          <a:xfrm>
            <a:off x="248168" y="827095"/>
            <a:ext cx="11695665" cy="5880209"/>
          </a:xfrm>
          <a:prstGeom prst="roundRect">
            <a:avLst>
              <a:gd name="adj" fmla="val 43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0" name="그림 19" descr="상징, 원, 다채로움, 그린이(가) 표시된 사진&#10;&#10;자동 생성된 설명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7505E8B-AD8F-CFF6-FC0F-0FF6BE8CC75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4222" y="897340"/>
            <a:ext cx="473351" cy="473351"/>
          </a:xfrm>
          <a:prstGeom prst="rect">
            <a:avLst/>
          </a:prstGeom>
        </p:spPr>
      </p:pic>
      <p:grpSp>
        <p:nvGrpSpPr>
          <p:cNvPr id="23" name="그룹 22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622055" y="1188983"/>
            <a:ext cx="1087577" cy="495431"/>
            <a:chOff x="10075659" y="2003022"/>
            <a:chExt cx="1156006" cy="495431"/>
          </a:xfrm>
        </p:grpSpPr>
        <p:pic>
          <p:nvPicPr>
            <p:cNvPr id="25" name="그림 24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60" y="2052992"/>
              <a:ext cx="115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방법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622055" y="2016924"/>
            <a:ext cx="69126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종이접기 방법에 따라 종이를 접는다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.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완성한 종이 바깥쪽에는 ‘고통의’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‘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진짜’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, ‘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원인을’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, ‘</a:t>
            </a:r>
            <a:r>
              <a:rPr lang="ko-KR" altLang="en-US" sz="2000" dirty="0" err="1">
                <a:latin typeface="돋움" panose="020B0600000101010101" pitchFamily="50" charset="-127"/>
                <a:ea typeface="돋움" panose="020B0600000101010101" pitchFamily="50" charset="-127"/>
              </a:rPr>
              <a:t>찾아라’라고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 쓰고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종이 안쪽에는 ‘㉮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~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㉵’라고 쓴다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endParaRPr lang="en-US" altLang="ko-KR" sz="20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22055" y="3394307"/>
            <a:ext cx="107521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ea"/>
              <a:buAutoNum type="circleNumDbPlain" startAt="2"/>
            </a:pP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짝과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번갈아 가며 종이 바깥쪽에 쓰인 단어 하나와 횟수를 외친다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. 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(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예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)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‘</a:t>
            </a:r>
            <a:r>
              <a:rPr lang="ko-KR" altLang="en-US" sz="2000" dirty="0" err="1">
                <a:latin typeface="돋움" panose="020B0600000101010101" pitchFamily="50" charset="-127"/>
                <a:ea typeface="돋움" panose="020B0600000101010101" pitchFamily="50" charset="-127"/>
              </a:rPr>
              <a:t>진짜’로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 두 번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!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 startAt="2"/>
            </a:pP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짝이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외친 </a:t>
            </a:r>
            <a:r>
              <a:rPr lang="ko-KR" altLang="en-US" sz="2000" dirty="0" err="1">
                <a:latin typeface="돋움" panose="020B0600000101010101" pitchFamily="50" charset="-127"/>
                <a:ea typeface="돋움" panose="020B0600000101010101" pitchFamily="50" charset="-127"/>
              </a:rPr>
              <a:t>횟수대로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 종이를 폈다 접은 뒤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짝과 함께 종이 안쪽의 기호에 해당하는 물음을 확인한다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 startAt="2"/>
            </a:pP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내가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겪는 마음의 고통을 떠올리며 물음에 ‘예’ 혹은 ‘</a:t>
            </a:r>
            <a:r>
              <a:rPr lang="ko-KR" altLang="en-US" sz="2000" dirty="0" err="1">
                <a:latin typeface="돋움" panose="020B0600000101010101" pitchFamily="50" charset="-127"/>
                <a:ea typeface="돋움" panose="020B0600000101010101" pitchFamily="50" charset="-127"/>
              </a:rPr>
              <a:t>아니요’로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 답하고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그 까닭을 말한다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7836061" y="1345524"/>
            <a:ext cx="3182615" cy="1875674"/>
            <a:chOff x="7720314" y="1414973"/>
            <a:chExt cx="3182615" cy="1875674"/>
          </a:xfrm>
        </p:grpSpPr>
        <p:pic>
          <p:nvPicPr>
            <p:cNvPr id="27" name="그림 26"/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24480" y="1414973"/>
              <a:ext cx="2974283" cy="1875674"/>
            </a:xfrm>
            <a:prstGeom prst="rect">
              <a:avLst/>
            </a:prstGeom>
          </p:spPr>
        </p:pic>
        <p:sp>
          <p:nvSpPr>
            <p:cNvPr id="4" name="직사각형 3"/>
            <p:cNvSpPr/>
            <p:nvPr/>
          </p:nvSpPr>
          <p:spPr>
            <a:xfrm>
              <a:off x="7720314" y="1452068"/>
              <a:ext cx="520861" cy="2496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9047504" y="1430029"/>
              <a:ext cx="582632" cy="271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0233196" y="1422555"/>
              <a:ext cx="669733" cy="2652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8626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/>
          <p:cNvSpPr txBox="1"/>
          <p:nvPr/>
        </p:nvSpPr>
        <p:spPr>
          <a:xfrm>
            <a:off x="787400" y="1613182"/>
            <a:ext cx="104400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2. </a:t>
            </a:r>
            <a:r>
              <a:rPr lang="ko-KR" altLang="en-US" sz="2000" b="1" dirty="0">
                <a:latin typeface="+mn-ea"/>
              </a:rPr>
              <a:t>내가 ‘</a:t>
            </a:r>
            <a:r>
              <a:rPr lang="ko-KR" altLang="en-US" sz="2000" b="1" dirty="0" err="1">
                <a:latin typeface="+mn-ea"/>
              </a:rPr>
              <a:t>예’라고</a:t>
            </a:r>
            <a:r>
              <a:rPr lang="ko-KR" altLang="en-US" sz="2000" b="1" dirty="0">
                <a:latin typeface="+mn-ea"/>
              </a:rPr>
              <a:t> 답한 물음을 다시 한번 살펴보고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내 마음속 고통의 원인이 무엇인지 성찰하여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599006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5577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339760" y="654715"/>
            <a:ext cx="7417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9300"/>
                </a:solidFill>
                <a:latin typeface="+mj-ea"/>
                <a:ea typeface="+mj-ea"/>
              </a:rPr>
              <a:t>내 마음속 고통의 원인 성찰하기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고통은 </a:t>
            </a:r>
            <a:r>
              <a:rPr lang="ko-KR" altLang="en-US" b="1" dirty="0">
                <a:latin typeface="+mj-ea"/>
                <a:ea typeface="+mj-ea"/>
              </a:rPr>
              <a:t>왜 생겨날까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17" name="그림 16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12671"/>
            <a:ext cx="487174" cy="487174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12671"/>
            <a:ext cx="1087577" cy="495431"/>
            <a:chOff x="10075659" y="2003022"/>
            <a:chExt cx="1156006" cy="495431"/>
          </a:xfrm>
        </p:grpSpPr>
        <p:pic>
          <p:nvPicPr>
            <p:cNvPr id="20" name="그림 1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3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951352"/>
            <a:ext cx="10293350" cy="2835990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58712" y="2972221"/>
            <a:ext cx="996091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내가 ‘</a:t>
            </a:r>
            <a:r>
              <a:rPr lang="ko-KR" altLang="en-US" sz="2400" dirty="0" err="1">
                <a:solidFill>
                  <a:srgbClr val="0070C0"/>
                </a:solidFill>
                <a:latin typeface="+mn-ea"/>
              </a:rPr>
              <a:t>예’라고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 답한 물음은 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“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자신을 원망하거나 비난하고 있나요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?”, “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누군가에게 미안한 마음이 들어 힘든가요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?”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였다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생각해 보니 나는 지난 주말에 약속에 늦어 친구를 기다리게 한 것에 대한 죄책감 때문에 약속 시간을 지키지 못한 자신을 탓하면서 괴로워하고 있었다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53843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25" grpId="0"/>
      <p:bldP spid="25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3926200"/>
            <a:ext cx="8522936" cy="2550288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B44B34C4-36B3-18D5-1B79-4D677D4EDB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 smtClean="0">
                <a:solidFill>
                  <a:srgbClr val="00B050"/>
                </a:solidFill>
                <a:latin typeface="+mn-ea"/>
              </a:rPr>
              <a:t>다음 물음에 답하며 자신의 모습을 성찰해 보자</a:t>
            </a:r>
            <a:r>
              <a:rPr lang="en-US" altLang="ko-KR" sz="2200" b="1" dirty="0" smtClean="0">
                <a:solidFill>
                  <a:srgbClr val="00B050"/>
                </a:solidFill>
                <a:latin typeface="+mn-ea"/>
              </a:rPr>
              <a:t>.</a:t>
            </a:r>
            <a:endParaRPr lang="ko-KR" altLang="en-US" sz="2200" b="1" dirty="0">
              <a:solidFill>
                <a:srgbClr val="00B050"/>
              </a:solidFill>
              <a:latin typeface="+mn-ea"/>
            </a:endParaRPr>
          </a:p>
        </p:txBody>
      </p: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374242"/>
            <a:ext cx="10293350" cy="116069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40188" y="2445911"/>
            <a:ext cx="9809541" cy="943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고통이 내 삶에 주는 의미를 알고 있는가</a:t>
            </a: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내 마음속 고통의 원인을 찾을 수 있는가</a:t>
            </a: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45" name="그림 4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3930020"/>
            <a:ext cx="487174" cy="487174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3930019"/>
            <a:ext cx="1087577" cy="495431"/>
            <a:chOff x="10075659" y="2003022"/>
            <a:chExt cx="1156006" cy="495431"/>
          </a:xfrm>
        </p:grpSpPr>
        <p:pic>
          <p:nvPicPr>
            <p:cNvPr id="47" name="그림 4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935915" y="4546283"/>
            <a:ext cx="81650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고통을 극복하는 과정에서 굳은 마음가짐을 지닐 수 있음을 알았다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앞으로는 고통을 겪어도 좌절하기보다 내가 성장하는 발판으로 삼도록 노력할 것이다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936087" y="3953767"/>
            <a:ext cx="1328154" cy="507831"/>
            <a:chOff x="877165" y="3739778"/>
            <a:chExt cx="1328154" cy="507831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48928" y="3739778"/>
              <a:ext cx="1224117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나의 성찰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고통은 </a:t>
            </a:r>
            <a:r>
              <a:rPr lang="ko-KR" altLang="en-US" b="1" dirty="0">
                <a:latin typeface="+mj-ea"/>
                <a:ea typeface="+mj-ea"/>
              </a:rPr>
              <a:t>왜 생겨날까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48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91766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</p:childTnLst>
        </p:cTn>
      </p:par>
    </p:tnLst>
    <p:bldLst>
      <p:bldP spid="50" grpId="0"/>
      <p:bldP spid="50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“02. </a:t>
            </a:r>
            <a:r>
              <a:rPr lang="ko-KR" altLang="en-US" sz="2800" b="1" dirty="0">
                <a:solidFill>
                  <a:schemeClr val="tx1"/>
                </a:solidFill>
                <a:latin typeface="+mn-ea"/>
              </a:rPr>
              <a:t>마음의 평온을 어떻게 얻을 수 있을까</a:t>
            </a:r>
            <a:r>
              <a:rPr lang="en-US" altLang="ko-KR" sz="2800" b="1" dirty="0">
                <a:solidFill>
                  <a:schemeClr val="tx1"/>
                </a:solidFill>
                <a:latin typeface="+mn-ea"/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를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28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22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고통의 의미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고통은 </a:t>
            </a:r>
            <a:r>
              <a:rPr lang="ko-KR" altLang="en-US" b="1" dirty="0">
                <a:latin typeface="+mj-ea"/>
                <a:ea typeface="+mj-ea"/>
              </a:rPr>
              <a:t>왜 생겨날까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966334"/>
              </p:ext>
            </p:extLst>
          </p:nvPr>
        </p:nvGraphicFramePr>
        <p:xfrm>
          <a:off x="1064871" y="3286406"/>
          <a:ext cx="10470524" cy="19183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4157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8896367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7296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몸의 고통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병이 나거나 다쳤을 때 느끼는 아픔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7296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2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Arial"/>
                        </a:rPr>
                        <a:t>마음의</a:t>
                      </a:r>
                      <a:endParaRPr kumimoji="0" lang="en-US" altLang="ko-KR" sz="2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2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Arial"/>
                        </a:rPr>
                        <a:t>고통</a:t>
                      </a:r>
                      <a:endParaRPr kumimoji="0" lang="ko-KR" alt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감당하기 어려운 상황에 부닥쳤을 때 느끼는 스트레스</a:t>
                      </a: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dirty="0" err="1" smtClean="0">
                          <a:latin typeface="+mn-ea"/>
                          <a:ea typeface="+mn-ea"/>
                        </a:rPr>
                        <a:t>우울감</a:t>
                      </a: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불안</a:t>
                      </a: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혼란스러움과 같은 괴로움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007610" y="5186685"/>
            <a:ext cx="58677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</a:rPr>
              <a:t>스트레스 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적응하기 어려운 환경에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처할 때 느끼는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긴장 상태 </a:t>
            </a:r>
            <a:endParaRPr lang="ko-KR" altLang="en-US" sz="1600" dirty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b="1" dirty="0" err="1" smtClean="0">
                <a:solidFill>
                  <a:schemeClr val="accent6"/>
                </a:solidFill>
              </a:rPr>
              <a:t>우울감</a:t>
            </a:r>
            <a:r>
              <a:rPr lang="ko-KR" altLang="en-US" sz="1600" b="1" dirty="0" smtClean="0">
                <a:solidFill>
                  <a:schemeClr val="accent6"/>
                </a:solidFill>
              </a:rPr>
              <a:t> 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마음이 답답하거나 근심스러워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활기가 없는 느낌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고통이란 몸이나 마음이 아프고 괴로운 것을 뜻함.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시험을 망친 날 머리가 지끈거리고 밥맛이 없다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몸 </a:t>
            </a:r>
            <a:r>
              <a:rPr sz="2400" b="1">
                <a:solidFill>
                  <a:srgbClr val="843C0C"/>
                </a:solidFill>
              </a:rPr>
              <a:t>의 고통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병이 나거나 다쳤을 때 느끼는 아픔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발목을 삔 아픔 / 친구와 다툰 뒤 잠 못 드는 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마음 </a:t>
            </a:r>
            <a:r>
              <a:rPr sz="2400" b="1">
                <a:solidFill>
                  <a:srgbClr val="843C0C"/>
                </a:solidFill>
              </a:rPr>
              <a:t>의 고통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감당하기 어려운 상황에 부닥쳤을 때 느끼는 스트레스, 우울감, 불안, 혼란스러움과 같은 괴로움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마음의 고통은 몸의 고통보다 괴로울 수 있으며, 지속되면 건강을 해치는 등 삶에도 부정적인 영향을 줄 수 있음.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고통이란 몸이나 마음이 아프고 괴로운 것을 뜻함.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시험을 망친 날 머리가 지끈거리고 밥맛이 없다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몸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의 고통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병이 나거나 다쳤을 때 느끼는 아픔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발목을 삔 아픔 / 친구와 다툰 뒤 잠 못 드는 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마음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의 고통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감당하기 어려운 상황에 부닥쳤을 때 느끼는 스트레스, 우울감, 불안, 혼란스러움과 같은 괴로움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마음의 고통은 몸의 고통보다 괴로울 수 있으며, 지속되면 건강을 해치는 등 삶에도 부정적인 영향을 줄 수 있음.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고통이란 몸이나 마음이 아프고 괴로운 것을 뜻함.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시험을 망친 날 머리가 지끈거리고 밥맛이 없다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몸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의 고통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병이 나거나 다쳤을 때 느끼는 아픔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발목을 삔 아픔 / 친구와 다툰 뒤 잠 못 드는 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마음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의 고통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감당하기 어려운 상황에 부닥쳤을 때 느끼는 스트레스, 우울감, 불안, 혼란스러움과 같은 괴로움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마음의 고통은 몸의 고통보다 괴로울 수 있으며, 지속되면 건강을 해치는 등 삶에도 부정적인 영향을 줄 수 있음.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고통이란 몸이나 마음이 아프고 괴로운 것을 뜻함.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시험을 망친 날 머리가 지끈거리고 밥맛이 없다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몸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의 고통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병이 나거나 다쳤을 때 느끼는 아픔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발목을 삔 아픔 / 친구와 다툰 뒤 잠 못 드는 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마음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의 고통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감당하기 어려운 상황에 부닥쳤을 때 느끼는 스트레스, 우울감, 불안, 혼란스러움과 같은 괴로움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마음의 고통은 몸의 고통보다 괴로울 수 있으며, 지속되면 건강을 해치는 등 삶에도 부정적인 영향을 줄 수 있음.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고통이란 몸이나 마음이 아프고 괴로운 것을 뜻함.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시험을 망친 날 머리가 지끈거리고 밥맛이 없다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몸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의 고통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병이 나거나 다쳤을 때 느끼는 아픔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발목을 삔 아픔 / 친구와 다툰 뒤 잠 못 드는 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마음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의 고통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감당하기 어려운 상황에 부닥쳤을 때 느끼는 스트레스, 우울감, 불안, 혼란스러움과 같은 괴로움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마음의 고통은 몸의 고통보다 괴로울 수 있으며, 지속되면 건강을 해치는 등 삶에도 부정적인 영향을 줄 수 있음.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고통의 의미 (이어서)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고통은 </a:t>
            </a:r>
            <a:r>
              <a:rPr lang="ko-KR" altLang="en-US" b="1" dirty="0">
                <a:latin typeface="+mj-ea"/>
                <a:ea typeface="+mj-ea"/>
              </a:rPr>
              <a:t>왜 생겨날까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966334"/>
              </p:ext>
            </p:extLst>
          </p:nvPr>
        </p:nvGraphicFramePr>
        <p:xfrm>
          <a:off x="1064871" y="3286406"/>
          <a:ext cx="10470524" cy="19183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4157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8896367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7296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몸의 고통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병이 나거나 다쳤을 때 느끼는 아픔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7296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2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Arial"/>
                        </a:rPr>
                        <a:t>마음의</a:t>
                      </a:r>
                      <a:endParaRPr kumimoji="0" lang="en-US" altLang="ko-KR" sz="2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2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Arial"/>
                        </a:rPr>
                        <a:t>고통</a:t>
                      </a:r>
                      <a:endParaRPr kumimoji="0" lang="ko-KR" alt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감당하기 어려운 상황에 부닥쳤을 때 느끼는 스트레스</a:t>
                      </a: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dirty="0" err="1" smtClean="0">
                          <a:latin typeface="+mn-ea"/>
                          <a:ea typeface="+mn-ea"/>
                        </a:rPr>
                        <a:t>우울감</a:t>
                      </a: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불안</a:t>
                      </a: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혼란스러움과 같은 괴로움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007610" y="5186685"/>
            <a:ext cx="58677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</a:rPr>
              <a:t>스트레스 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적응하기 어려운 환경에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처할 때 느끼는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긴장 상태 </a:t>
            </a:r>
            <a:endParaRPr lang="ko-KR" altLang="en-US" sz="1600" dirty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b="1" dirty="0" err="1" smtClean="0">
                <a:solidFill>
                  <a:schemeClr val="accent6"/>
                </a:solidFill>
              </a:rPr>
              <a:t>우울감</a:t>
            </a:r>
            <a:r>
              <a:rPr lang="ko-KR" altLang="en-US" sz="1600" b="1" dirty="0" smtClean="0">
                <a:solidFill>
                  <a:schemeClr val="accent6"/>
                </a:solidFill>
              </a:rPr>
              <a:t> 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마음이 답답하거나 근심스러워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활기가 없는 느낌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(3) 그러나 고통을 이겨 내는 가운데 자신을 이해하거나 굳건한 마음가짐을 지니며 성장할 수 있고, 고통은 나와 같은 고통을 겪는 사람들에게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공감 </a:t>
            </a:r>
            <a:r>
              <a:rPr sz="2400" b="0">
                <a:solidFill>
                  <a:srgbClr val="262626"/>
                </a:solidFill>
              </a:rPr>
              <a:t>하고 도움을 주는 계기가 되기도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리지 벨라스케스는 놀림받은 경험으로 따돌림 반대 강연을 한다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그러나 고통을 이겨 내는 가운데 자신을 이해하거나 굳건한 마음가짐을 지니며 성장할 수 있고, 고통은 나와 같은 고통을 겪는 사람들에게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공감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하고 도움을 주는 계기가 되기도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리지 벨라스케스는 놀림받은 경험으로 따돌림 반대 강연을 한다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그러나 고통을 이겨 내는 가운데 자신을 이해하거나 굳건한 마음가짐을 지니며 성장할 수 있고, 고통은 나와 같은 고통을 겪는 사람들에게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공감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하고 도움을 주는 계기가 되기도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리지 벨라스케스는 놀림받은 경험으로 따돌림 반대 강연을 한다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고통의 원인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고통은 </a:t>
            </a:r>
            <a:r>
              <a:rPr lang="ko-KR" altLang="en-US" b="1" dirty="0">
                <a:latin typeface="+mj-ea"/>
                <a:ea typeface="+mj-ea"/>
              </a:rPr>
              <a:t>왜 생겨날까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966334"/>
              </p:ext>
            </p:extLst>
          </p:nvPr>
        </p:nvGraphicFramePr>
        <p:xfrm>
          <a:off x="1064871" y="3286406"/>
          <a:ext cx="10470524" cy="19183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4157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8896367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7296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몸의 고통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병이 나거나 다쳤을 때 느끼는 아픔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7296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2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Arial"/>
                        </a:rPr>
                        <a:t>마음의</a:t>
                      </a:r>
                      <a:endParaRPr kumimoji="0" lang="en-US" altLang="ko-KR" sz="2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2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Arial"/>
                        </a:rPr>
                        <a:t>고통</a:t>
                      </a:r>
                      <a:endParaRPr kumimoji="0" lang="ko-KR" alt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감당하기 어려운 상황에 부닥쳤을 때 느끼는 스트레스</a:t>
                      </a: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dirty="0" err="1" smtClean="0">
                          <a:latin typeface="+mn-ea"/>
                          <a:ea typeface="+mn-ea"/>
                        </a:rPr>
                        <a:t>우울감</a:t>
                      </a: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불안</a:t>
                      </a: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혼란스러움과 같은 괴로움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007610" y="5186685"/>
            <a:ext cx="58677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</a:rPr>
              <a:t>스트레스 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적응하기 어려운 환경에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처할 때 느끼는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긴장 상태 </a:t>
            </a:r>
            <a:endParaRPr lang="ko-KR" altLang="en-US" sz="1600" dirty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b="1" dirty="0" err="1" smtClean="0">
                <a:solidFill>
                  <a:schemeClr val="accent6"/>
                </a:solidFill>
              </a:rPr>
              <a:t>우울감</a:t>
            </a:r>
            <a:r>
              <a:rPr lang="ko-KR" altLang="en-US" sz="1600" b="1" dirty="0" smtClean="0">
                <a:solidFill>
                  <a:schemeClr val="accent6"/>
                </a:solidFill>
              </a:rPr>
              <a:t> 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마음이 답답하거나 근심스러워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활기가 없는 느낌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사고나 질병과 같이 바꿀 수 없는 현실이나 상황 때문에 발생함.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부정 </a:t>
            </a:r>
            <a:r>
              <a:rPr sz="2400" b="0">
                <a:solidFill>
                  <a:srgbClr val="262626"/>
                </a:solidFill>
              </a:rPr>
              <a:t>적인 생각 때문에 발생함.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⇨ 앞으로의 일이 안 될 것이라고 비관하거나 자신의 상황을 남과 비교하며 부정적으로 생각하는 것은 고통의 원인이 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(3) 지나친 욕심이나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집착 </a:t>
            </a:r>
            <a:r>
              <a:rPr sz="2400" b="0">
                <a:solidFill>
                  <a:srgbClr val="262626"/>
                </a:solidFill>
              </a:rPr>
              <a:t> 때문에 발생함.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노력 없이 성적이 오르기만 바라며 그 생각만 되풀이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⇨ 무엇을 지나치게 탐내거나 어떤 것에 지나치게 매달리면 고통이 생길 수 있음.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사고나 질병과 같이 바꿀 수 없는 현실이나 상황 때문에 발생함.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부정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적인 생각 때문에 발생함.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앞으로의 일이 안 될 것이라고 비관하거나 자신의 상황을 남과 비교하며 부정적으로 생각하는 것은 고통의 원인이 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지나친 욕심이나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집착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때문에 발생함.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노력 없이 성적이 오르기만 바라며 그 생각만 되풀이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무엇을 지나치게 탐내거나 어떤 것에 지나치게 매달리면 고통이 생길 수 있음.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사고나 질병과 같이 바꿀 수 없는 현실이나 상황 때문에 발생함.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부정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적인 생각 때문에 발생함.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앞으로의 일이 안 될 것이라고 비관하거나 자신의 상황을 남과 비교하며 부정적으로 생각하는 것은 고통의 원인이 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지나친 욕심이나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집착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때문에 발생함.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노력 없이 성적이 오르기만 바라며 그 생각만 되풀이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무엇을 지나치게 탐내거나 어떤 것에 지나치게 매달리면 고통이 생길 수 있음.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사고나 질병과 같이 바꿀 수 없는 현실이나 상황 때문에 발생함.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부정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적인 생각 때문에 발생함.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앞으로의 일이 안 될 것이라고 비관하거나 자신의 상황을 남과 비교하며 부정적으로 생각하는 것은 고통의 원인이 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지나친 욕심이나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집착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때문에 발생함.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노력 없이 성적이 오르기만 바라며 그 생각만 되풀이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무엇을 지나치게 탐내거나 어떤 것에 지나치게 매달리면 고통이 생길 수 있음.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고통의 원인 (이어서)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고통은 </a:t>
            </a:r>
            <a:r>
              <a:rPr lang="ko-KR" altLang="en-US" b="1" dirty="0">
                <a:latin typeface="+mj-ea"/>
                <a:ea typeface="+mj-ea"/>
              </a:rPr>
              <a:t>왜 생겨날까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966334"/>
              </p:ext>
            </p:extLst>
          </p:nvPr>
        </p:nvGraphicFramePr>
        <p:xfrm>
          <a:off x="1064871" y="3286406"/>
          <a:ext cx="10470524" cy="19183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4157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8896367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7296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몸의 고통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병이 나거나 다쳤을 때 느끼는 아픔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7296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2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Arial"/>
                        </a:rPr>
                        <a:t>마음의</a:t>
                      </a:r>
                      <a:endParaRPr kumimoji="0" lang="en-US" altLang="ko-KR" sz="2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2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Arial"/>
                        </a:rPr>
                        <a:t>고통</a:t>
                      </a:r>
                      <a:endParaRPr kumimoji="0" lang="ko-KR" alt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감당하기 어려운 상황에 부닥쳤을 때 느끼는 스트레스</a:t>
                      </a: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dirty="0" err="1" smtClean="0">
                          <a:latin typeface="+mn-ea"/>
                          <a:ea typeface="+mn-ea"/>
                        </a:rPr>
                        <a:t>우울감</a:t>
                      </a: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불안</a:t>
                      </a: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혼란스러움과 같은 괴로움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007610" y="5186685"/>
            <a:ext cx="58677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</a:rPr>
              <a:t>스트레스 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적응하기 어려운 환경에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처할 때 느끼는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긴장 상태 </a:t>
            </a:r>
            <a:endParaRPr lang="ko-KR" altLang="en-US" sz="1600" dirty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b="1" dirty="0" err="1" smtClean="0">
                <a:solidFill>
                  <a:schemeClr val="accent6"/>
                </a:solidFill>
              </a:rPr>
              <a:t>우울감</a:t>
            </a:r>
            <a:r>
              <a:rPr lang="ko-KR" altLang="en-US" sz="1600" b="1" dirty="0" smtClean="0">
                <a:solidFill>
                  <a:schemeClr val="accent6"/>
                </a:solidFill>
              </a:rPr>
              <a:t> 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마음이 답답하거나 근심스러워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활기가 없는 느낌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(4) 다른 사람과의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갈등 </a:t>
            </a:r>
            <a:r>
              <a:rPr sz="2400" b="0">
                <a:solidFill>
                  <a:srgbClr val="262626"/>
                </a:solidFill>
              </a:rPr>
              <a:t> 때문에 발생함.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단짝과 싸운 뒤 일주일째 말을 안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⇨ 다른 사람과의 갈등이 깊어지면 여러 부정적인 감정으로 고통을 겪을 수 있음.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(4) 다른 사람과의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갈등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때문에 발생함.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단짝과 싸운 뒤 일주일째 말을 안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다른 사람과의 갈등이 깊어지면 여러 부정적인 감정으로 고통을 겪을 수 있음.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(4) 다른 사람과의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갈등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때문에 발생함.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단짝과 싸운 뒤 일주일째 말을 안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다른 사람과의 갈등이 깊어지면 여러 부정적인 감정으로 고통을 겪을 수 있음.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두 번째 화살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고통은 </a:t>
            </a:r>
            <a:r>
              <a:rPr lang="ko-KR" altLang="en-US" b="1" dirty="0">
                <a:latin typeface="+mj-ea"/>
                <a:ea typeface="+mj-ea"/>
              </a:rPr>
              <a:t>왜 생겨날까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966334"/>
              </p:ext>
            </p:extLst>
          </p:nvPr>
        </p:nvGraphicFramePr>
        <p:xfrm>
          <a:off x="1064871" y="3286406"/>
          <a:ext cx="10470524" cy="19183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4157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8896367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7296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몸의 고통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병이 나거나 다쳤을 때 느끼는 아픔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7296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2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Arial"/>
                        </a:rPr>
                        <a:t>마음의</a:t>
                      </a:r>
                      <a:endParaRPr kumimoji="0" lang="en-US" altLang="ko-KR" sz="2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2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Arial"/>
                        </a:rPr>
                        <a:t>고통</a:t>
                      </a:r>
                      <a:endParaRPr kumimoji="0" lang="ko-KR" alt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감당하기 어려운 상황에 부닥쳤을 때 느끼는 스트레스</a:t>
                      </a: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dirty="0" err="1" smtClean="0">
                          <a:latin typeface="+mn-ea"/>
                          <a:ea typeface="+mn-ea"/>
                        </a:rPr>
                        <a:t>우울감</a:t>
                      </a: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불안</a:t>
                      </a: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혼란스러움과 같은 괴로움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007610" y="5186685"/>
            <a:ext cx="58677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</a:rPr>
              <a:t>스트레스 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적응하기 어려운 환경에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처할 때 느끼는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긴장 상태 </a:t>
            </a:r>
            <a:endParaRPr lang="ko-KR" altLang="en-US" sz="1600" dirty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b="1" dirty="0" err="1" smtClean="0">
                <a:solidFill>
                  <a:schemeClr val="accent6"/>
                </a:solidFill>
              </a:rPr>
              <a:t>우울감</a:t>
            </a:r>
            <a:r>
              <a:rPr lang="ko-KR" altLang="en-US" sz="1600" b="1" dirty="0" smtClean="0">
                <a:solidFill>
                  <a:schemeClr val="accent6"/>
                </a:solidFill>
              </a:rPr>
              <a:t> 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마음이 답답하거나 근심스러워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활기가 없는 느낌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불교 경전 「화살 경」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첫 화살 · 살다 보면 아픈 일이 생긴다 — 누구도 피할 수 없다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두 번째 · “왜 나만!” “망했어!” — 내 마음이 다시 쏘는 화살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지혜 · 첫 화살은 막을 수 없어도 두 번째 화살은 맞지 않을 수 있다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내가 나에게 쏜 두 번째 화살은?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불교 경전 「화살 경」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첫 화살 · 살다 보면 아픈 일이 생긴다 — 누구도 피할 수 없다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두 번째 · “왜 나만!” “망했어!” — 내 마음이 다시 쏘는 화살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지혜 · 첫 화살은 막을 수 없어도 두 번째 화살은 맞지 않을 수 있다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내가 나에게 쏜 두 번째 화살은?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사상가의 말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고통은 </a:t>
            </a:r>
            <a:r>
              <a:rPr lang="ko-KR" altLang="en-US" b="1" dirty="0">
                <a:latin typeface="+mj-ea"/>
                <a:ea typeface="+mj-ea"/>
              </a:rPr>
              <a:t>왜 생겨날까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966334"/>
              </p:ext>
            </p:extLst>
          </p:nvPr>
        </p:nvGraphicFramePr>
        <p:xfrm>
          <a:off x="1064871" y="3286406"/>
          <a:ext cx="10470524" cy="19183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4157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8896367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7296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몸의 고통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병이 나거나 다쳤을 때 느끼는 아픔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7296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2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Arial"/>
                        </a:rPr>
                        <a:t>마음의</a:t>
                      </a:r>
                      <a:endParaRPr kumimoji="0" lang="en-US" altLang="ko-KR" sz="2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2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Arial"/>
                        </a:rPr>
                        <a:t>고통</a:t>
                      </a:r>
                      <a:endParaRPr kumimoji="0" lang="ko-KR" alt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감당하기 어려운 상황에 부닥쳤을 때 느끼는 스트레스</a:t>
                      </a: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dirty="0" err="1" smtClean="0">
                          <a:latin typeface="+mn-ea"/>
                          <a:ea typeface="+mn-ea"/>
                        </a:rPr>
                        <a:t>우울감</a:t>
                      </a: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불안</a:t>
                      </a: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혼란스러움과 같은 괴로움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007610" y="5186685"/>
            <a:ext cx="58677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</a:rPr>
              <a:t>스트레스 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적응하기 어려운 환경에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처할 때 느끼는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긴장 상태 </a:t>
            </a:r>
            <a:endParaRPr lang="ko-KR" altLang="en-US" sz="1600" dirty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b="1" dirty="0" err="1" smtClean="0">
                <a:solidFill>
                  <a:schemeClr val="accent6"/>
                </a:solidFill>
              </a:rPr>
              <a:t>우울감</a:t>
            </a:r>
            <a:r>
              <a:rPr lang="ko-KR" altLang="en-US" sz="1600" b="1" dirty="0" smtClean="0">
                <a:solidFill>
                  <a:schemeClr val="accent6"/>
                </a:solidFill>
              </a:rPr>
              <a:t> 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마음이 답답하거나 근심스러워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활기가 없는 느낌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“사람을 괴롭히는 것은 일 그 자체가 아니라 그 일에 대한 생각이다”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— 에픽테토스, 『엥케이리디온』 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요즘 나를 가장 힘들게 하는 것은?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고통은 </a:t>
            </a:r>
            <a:r>
              <a:rPr lang="ko-KR" altLang="en-US" b="1" dirty="0">
                <a:latin typeface="+mj-ea"/>
                <a:ea typeface="+mj-ea"/>
              </a:rPr>
              <a:t>왜 생겨날까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966334"/>
              </p:ext>
            </p:extLst>
          </p:nvPr>
        </p:nvGraphicFramePr>
        <p:xfrm>
          <a:off x="1064871" y="3286406"/>
          <a:ext cx="10470524" cy="19183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4157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8896367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7296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몸의 고통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병이 나거나 다쳤을 때 느끼는 아픔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7296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2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Arial"/>
                        </a:rPr>
                        <a:t>마음의</a:t>
                      </a:r>
                      <a:endParaRPr kumimoji="0" lang="en-US" altLang="ko-KR" sz="2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2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Arial"/>
                        </a:rPr>
                        <a:t>고통</a:t>
                      </a:r>
                      <a:endParaRPr kumimoji="0" lang="ko-KR" alt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감당하기 어려운 상황에 부닥쳤을 때 느끼는 스트레스</a:t>
                      </a: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dirty="0" err="1" smtClean="0">
                          <a:latin typeface="+mn-ea"/>
                          <a:ea typeface="+mn-ea"/>
                        </a:rPr>
                        <a:t>우울감</a:t>
                      </a: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불안</a:t>
                      </a: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혼란스러움과 같은 괴로움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007610" y="5186685"/>
            <a:ext cx="58677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</a:rPr>
              <a:t>스트레스 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적응하기 어려운 환경에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처할 때 느끼는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긴장 상태 </a:t>
            </a:r>
            <a:endParaRPr lang="ko-KR" altLang="en-US" sz="1600" dirty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b="1" dirty="0" err="1" smtClean="0">
                <a:solidFill>
                  <a:schemeClr val="accent6"/>
                </a:solidFill>
              </a:rPr>
              <a:t>우울감</a:t>
            </a:r>
            <a:r>
              <a:rPr lang="ko-KR" altLang="en-US" sz="1600" b="1" dirty="0" smtClean="0">
                <a:solidFill>
                  <a:schemeClr val="accent6"/>
                </a:solidFill>
              </a:rPr>
              <a:t> 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마음이 답답하거나 근심스러워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활기가 없는 느낌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📚 · 공부 · 성적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👥 · 친구 관계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🏠 · 가족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🪞 · 외모 · 나 자신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🔮 · 미래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고통은 </a:t>
            </a:r>
            <a:r>
              <a:rPr lang="ko-KR" altLang="en-US" b="1" dirty="0">
                <a:latin typeface="+mj-ea"/>
                <a:ea typeface="+mj-ea"/>
              </a:rPr>
              <a:t>왜 생겨날까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966334"/>
              </p:ext>
            </p:extLst>
          </p:nvPr>
        </p:nvGraphicFramePr>
        <p:xfrm>
          <a:off x="1064871" y="3286406"/>
          <a:ext cx="10470524" cy="19183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4157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8896367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7296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몸의 고통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병이 나거나 다쳤을 때 느끼는 아픔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7296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2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Arial"/>
                        </a:rPr>
                        <a:t>마음의</a:t>
                      </a:r>
                      <a:endParaRPr kumimoji="0" lang="en-US" altLang="ko-KR" sz="2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2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Arial"/>
                        </a:rPr>
                        <a:t>고통</a:t>
                      </a:r>
                      <a:endParaRPr kumimoji="0" lang="ko-KR" alt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감당하기 어려운 상황에 부닥쳤을 때 느끼는 스트레스</a:t>
                      </a: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dirty="0" err="1" smtClean="0">
                          <a:latin typeface="+mn-ea"/>
                          <a:ea typeface="+mn-ea"/>
                        </a:rPr>
                        <a:t>우울감</a:t>
                      </a: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불안</a:t>
                      </a: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혼란스러움과 같은 괴로움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007610" y="5186685"/>
            <a:ext cx="58677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</a:rPr>
              <a:t>스트레스 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적응하기 어려운 환경에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처할 때 느끼는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긴장 상태 </a:t>
            </a:r>
            <a:endParaRPr lang="ko-KR" altLang="en-US" sz="1600" dirty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b="1" dirty="0" err="1" smtClean="0">
                <a:solidFill>
                  <a:schemeClr val="accent6"/>
                </a:solidFill>
              </a:rPr>
              <a:t>우울감</a:t>
            </a:r>
            <a:r>
              <a:rPr lang="ko-KR" altLang="en-US" sz="1600" b="1" dirty="0" smtClean="0">
                <a:solidFill>
                  <a:schemeClr val="accent6"/>
                </a:solidFill>
              </a:rPr>
              <a:t> 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마음이 답답하거나 근심스러워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활기가 없는 느낌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우리는 고통을 이겨 내는 과정에서 더 나은 사람으로 성장할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고통은 ‘공부를 해 봤자 소용없을 거야.’와 같은 부정적인 생각 때문에 생길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고통은 ‘쟤는 늘 나보다 성적이 좋네.’라며 괴로워하듯 다른 사람과의 갈등으로 생길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고통은 노력하지 않고도 성적이 잘 나오기를 바라고 그러한 생각을 계속 반복한 것과 같이 지나친 욕심이나 집착 때문에 생길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우리는 고통을 이겨 내는 과정에서 더 나은 사람으로 성장할 수 있다.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고통은 ‘공부를 해 봤자 소용없을 거야.’와 같은 부정적인 생각 때문에 생길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고통은 ‘쟤는 늘 나보다 성적이 좋네.’라며 괴로워하듯 다른 사람과의 갈등으로 생길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고통은 노력하지 않고도 성적이 잘 나오기를 바라고 그러한 생각을 계속 반복한 것과 같이 지나친 욕심이나 집착 때문에 생길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우리는 고통을 이겨 내는 과정에서 더 나은 사람으로 성장할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고통은 ‘공부를 해 봤자 소용없을 거야.’와 같은 부정적인 생각 때문에 생길 수 있다.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고통은 ‘쟤는 늘 나보다 성적이 좋네.’라며 괴로워하듯 다른 사람과의 갈등으로 생길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고통은 노력하지 않고도 성적이 잘 나오기를 바라고 그러한 생각을 계속 반복한 것과 같이 지나친 욕심이나 집착 때문에 생길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우리는 고통을 이겨 내는 과정에서 더 나은 사람으로 성장할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고통은 ‘공부를 해 봤자 소용없을 거야.’와 같은 부정적인 생각 때문에 생길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고통은 ‘쟤는 늘 나보다 성적이 좋네.’라며 괴로워하듯 다른 사람과의 갈등으로 생길 수 있다.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고통은 노력하지 않고도 성적이 잘 나오기를 바라고 그러한 생각을 계속 반복한 것과 같이 지나친 욕심이나 집착 때문에 생길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우리는 고통을 이겨 내는 과정에서 더 나은 사람으로 성장할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고통은 ‘공부를 해 봤자 소용없을 거야.’와 같은 부정적인 생각 때문에 생길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고통은 ‘쟤는 늘 나보다 성적이 좋네.’라며 괴로워하듯 다른 사람과의 갈등으로 생길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고통은 노력하지 않고도 성적이 잘 나오기를 바라고 그러한 생각을 계속 반복한 것과 같이 지나친 욕심이나 집착 때문에 생길 수 있다.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오늘 내 마음 날씨는?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고통은 </a:t>
            </a:r>
            <a:r>
              <a:rPr lang="ko-KR" altLang="en-US" b="1" dirty="0">
                <a:latin typeface="+mj-ea"/>
                <a:ea typeface="+mj-ea"/>
              </a:rPr>
              <a:t>왜 생겨날까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966334"/>
              </p:ext>
            </p:extLst>
          </p:nvPr>
        </p:nvGraphicFramePr>
        <p:xfrm>
          <a:off x="1064871" y="3286406"/>
          <a:ext cx="10470524" cy="19183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4157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8896367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7296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몸의 고통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병이 나거나 다쳤을 때 느끼는 아픔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7296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2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Arial"/>
                        </a:rPr>
                        <a:t>마음의</a:t>
                      </a:r>
                      <a:endParaRPr kumimoji="0" lang="en-US" altLang="ko-KR" sz="2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2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Arial"/>
                        </a:rPr>
                        <a:t>고통</a:t>
                      </a:r>
                      <a:endParaRPr kumimoji="0" lang="ko-KR" alt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감당하기 어려운 상황에 부닥쳤을 때 느끼는 스트레스</a:t>
                      </a: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dirty="0" err="1" smtClean="0">
                          <a:latin typeface="+mn-ea"/>
                          <a:ea typeface="+mn-ea"/>
                        </a:rPr>
                        <a:t>우울감</a:t>
                      </a: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불안</a:t>
                      </a: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혼란스러움과 같은 괴로움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007610" y="5186685"/>
            <a:ext cx="58677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</a:rPr>
              <a:t>스트레스 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적응하기 어려운 환경에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처할 때 느끼는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긴장 상태 </a:t>
            </a:r>
            <a:endParaRPr lang="ko-KR" altLang="en-US" sz="1600" dirty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b="1" dirty="0" err="1" smtClean="0">
                <a:solidFill>
                  <a:schemeClr val="accent6"/>
                </a:solidFill>
              </a:rPr>
              <a:t>우울감</a:t>
            </a:r>
            <a:r>
              <a:rPr lang="ko-KR" altLang="en-US" sz="1600" b="1" dirty="0" smtClean="0">
                <a:solidFill>
                  <a:schemeClr val="accent6"/>
                </a:solidFill>
              </a:rPr>
              <a:t> 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마음이 답답하거나 근심스러워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활기가 없는 느낌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손을 들어 투표해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☀️ 맑음   ✋ ____ 명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⛅ 구름 조금   ✋ ____ 명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🌧️ 비   ✋ ____ 명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⛈️ 천둥 번개   ✋ ____ 명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rgbClr val="FFFF00"/>
                </a:solidFill>
                <a:latin typeface="+mn-ea"/>
              </a:rPr>
              <a:t>고통의 원인은? (47쪽 · 동서남북 놀이 물음)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고통은 </a:t>
            </a:r>
            <a:r>
              <a:rPr lang="ko-KR" altLang="en-US" b="1" dirty="0">
                <a:latin typeface="+mj-ea"/>
                <a:ea typeface="+mj-ea"/>
              </a:rPr>
              <a:t>왜 생겨날까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966334"/>
              </p:ext>
            </p:extLst>
          </p:nvPr>
        </p:nvGraphicFramePr>
        <p:xfrm>
          <a:off x="1064871" y="3286406"/>
          <a:ext cx="10470524" cy="19183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4157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8896367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7296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몸의 고통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병이 나거나 다쳤을 때 느끼는 아픔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7296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2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Arial"/>
                        </a:rPr>
                        <a:t>마음의</a:t>
                      </a:r>
                      <a:endParaRPr kumimoji="0" lang="en-US" altLang="ko-KR" sz="2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2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Arial"/>
                        </a:rPr>
                        <a:t>고통</a:t>
                      </a:r>
                      <a:endParaRPr kumimoji="0" lang="ko-KR" alt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감당하기 어려운 상황에 부닥쳤을 때 느끼는 스트레스</a:t>
                      </a: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dirty="0" err="1" smtClean="0">
                          <a:latin typeface="+mn-ea"/>
                          <a:ea typeface="+mn-ea"/>
                        </a:rPr>
                        <a:t>우울감</a:t>
                      </a: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불안</a:t>
                      </a: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혼란스러움과 같은 괴로움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007610" y="5186685"/>
            <a:ext cx="58677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</a:rPr>
              <a:t>스트레스 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적응하기 어려운 환경에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처할 때 느끼는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긴장 상태 </a:t>
            </a:r>
            <a:endParaRPr lang="ko-KR" altLang="en-US" sz="1600" dirty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b="1" dirty="0" err="1" smtClean="0">
                <a:solidFill>
                  <a:schemeClr val="accent6"/>
                </a:solidFill>
              </a:rPr>
              <a:t>우울감</a:t>
            </a:r>
            <a:r>
              <a:rPr lang="ko-KR" altLang="en-US" sz="1600" b="1" dirty="0" smtClean="0">
                <a:solidFill>
                  <a:schemeClr val="accent6"/>
                </a:solidFill>
              </a:rPr>
              <a:t> 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마음이 답답하거나 근심스러워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활기가 없는 느낌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300" b="1">
                <a:solidFill>
                  <a:srgbClr val="843C0C"/>
                </a:solidFill>
              </a:rPr>
              <a:t>어느 칸일까? 부정적인 생각 · 욕심이나 집착 · 다른 사람과의 갈등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/>
                </a:solidFill>
              </a:rPr>
              <a:t>1. 문제가 해결되지 않을 것 같나요?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부정적인 생각 (㉮)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/>
                </a:solidFill>
              </a:rPr>
              <a:t>2. 자신을 원망하거나 비난하고 있나요?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부정적인 생각 (㉯)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/>
                </a:solidFill>
              </a:rPr>
              <a:t>3. 나한테만 이런 일이 생기는 것 같나요?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부정적인 생각 (㉰)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/>
                </a:solidFill>
              </a:rPr>
              <a:t>4. 어떤 것을 지나치게 탐내고 있나요?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욕심이나 집착 (㉱)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/>
                </a:solidFill>
              </a:rPr>
              <a:t>5. 바라는 것이 계속 떠올라 괴롭나요?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욕심이나 집착 (㉲)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/>
                </a:solidFill>
              </a:rPr>
              <a:t>6. 이해하거나 용서할 수 없는 사람이 있나요?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다른 사람과의 갈등 (㉳)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/>
                </a:solidFill>
              </a:rPr>
              <a:t>7. 누군가에게 미안한 마음이 들어 힘든가요?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다른 사람과의 갈등 (㉴)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/>
                </a:solidFill>
              </a:rPr>
              <a:t>8. 누군가와 다시 가까워지는 방법을 몰라 답답한가요?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다른 사람과의 갈등 (㉵)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어느 칸일까? 부정적인 생각 · 욕심이나 집착 · 다른 사람과의 갈등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1. 문제가 해결되지 않을 것 같나요?</a:t>
            </a:r>
            <a:r>
              <a:rPr sz="2200" b="1">
                <a:solidFill>
                  <a:srgbClr val="C0392B"/>
                </a:solidFill>
              </a:rPr>
              <a:t>   → 부정적인 생각 (㉮)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2. 자신을 원망하거나 비난하고 있나요?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부정적인 생각 (㉯)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3. 나한테만 이런 일이 생기는 것 같나요?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부정적인 생각 (㉰)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4. 어떤 것을 지나치게 탐내고 있나요?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욕심이나 집착 (㉱)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5. 바라는 것이 계속 떠올라 괴롭나요?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욕심이나 집착 (㉲)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6. 이해하거나 용서할 수 없는 사람이 있나요?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다른 사람과의 갈등 (㉳)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7. 누군가에게 미안한 마음이 들어 힘든가요?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다른 사람과의 갈등 (㉴)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8. 누군가와 다시 가까워지는 방법을 몰라 답답한가요?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다른 사람과의 갈등 (㉵)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어느 칸일까? 부정적인 생각 · 욕심이나 집착 · 다른 사람과의 갈등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1. 문제가 해결되지 않을 것 같나요?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부정적인 생각 (㉮)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2. 자신을 원망하거나 비난하고 있나요?</a:t>
            </a:r>
            <a:r>
              <a:rPr sz="2200" b="1">
                <a:solidFill>
                  <a:srgbClr val="C0392B"/>
                </a:solidFill>
              </a:rPr>
              <a:t>   → 부정적인 생각 (㉯)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3. 나한테만 이런 일이 생기는 것 같나요?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부정적인 생각 (㉰)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4. 어떤 것을 지나치게 탐내고 있나요?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욕심이나 집착 (㉱)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5. 바라는 것이 계속 떠올라 괴롭나요?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욕심이나 집착 (㉲)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6. 이해하거나 용서할 수 없는 사람이 있나요?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다른 사람과의 갈등 (㉳)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7. 누군가에게 미안한 마음이 들어 힘든가요?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다른 사람과의 갈등 (㉴)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8. 누군가와 다시 가까워지는 방법을 몰라 답답한가요?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다른 사람과의 갈등 (㉵)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어느 칸일까? 부정적인 생각 · 욕심이나 집착 · 다른 사람과의 갈등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1. 문제가 해결되지 않을 것 같나요?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부정적인 생각 (㉮)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2. 자신을 원망하거나 비난하고 있나요?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부정적인 생각 (㉯)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3. 나한테만 이런 일이 생기는 것 같나요?</a:t>
            </a:r>
            <a:r>
              <a:rPr sz="2200" b="1">
                <a:solidFill>
                  <a:srgbClr val="C0392B"/>
                </a:solidFill>
              </a:rPr>
              <a:t>   → 부정적인 생각 (㉰)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4. 어떤 것을 지나치게 탐내고 있나요?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욕심이나 집착 (㉱)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5. 바라는 것이 계속 떠올라 괴롭나요?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욕심이나 집착 (㉲)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6. 이해하거나 용서할 수 없는 사람이 있나요?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다른 사람과의 갈등 (㉳)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7. 누군가에게 미안한 마음이 들어 힘든가요?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다른 사람과의 갈등 (㉴)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8. 누군가와 다시 가까워지는 방법을 몰라 답답한가요?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다른 사람과의 갈등 (㉵)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어느 칸일까? 부정적인 생각 · 욕심이나 집착 · 다른 사람과의 갈등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1. 문제가 해결되지 않을 것 같나요?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부정적인 생각 (㉮)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2. 자신을 원망하거나 비난하고 있나요?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부정적인 생각 (㉯)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3. 나한테만 이런 일이 생기는 것 같나요?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부정적인 생각 (㉰)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4. 어떤 것을 지나치게 탐내고 있나요?</a:t>
            </a:r>
            <a:r>
              <a:rPr sz="2200" b="1">
                <a:solidFill>
                  <a:srgbClr val="C0392B"/>
                </a:solidFill>
              </a:rPr>
              <a:t>   → 욕심이나 집착 (㉱)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5. 바라는 것이 계속 떠올라 괴롭나요?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욕심이나 집착 (㉲)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6. 이해하거나 용서할 수 없는 사람이 있나요?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다른 사람과의 갈등 (㉳)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7. 누군가에게 미안한 마음이 들어 힘든가요?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다른 사람과의 갈등 (㉴)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8. 누군가와 다시 가까워지는 방법을 몰라 답답한가요?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다른 사람과의 갈등 (㉵)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어느 칸일까? 부정적인 생각 · 욕심이나 집착 · 다른 사람과의 갈등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1. 문제가 해결되지 않을 것 같나요?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부정적인 생각 (㉮)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2. 자신을 원망하거나 비난하고 있나요?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부정적인 생각 (㉯)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3. 나한테만 이런 일이 생기는 것 같나요?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부정적인 생각 (㉰)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4. 어떤 것을 지나치게 탐내고 있나요?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욕심이나 집착 (㉱)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5. 바라는 것이 계속 떠올라 괴롭나요?</a:t>
            </a:r>
            <a:r>
              <a:rPr sz="2200" b="1">
                <a:solidFill>
                  <a:srgbClr val="C0392B"/>
                </a:solidFill>
              </a:rPr>
              <a:t>   → 욕심이나 집착 (㉲)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6. 이해하거나 용서할 수 없는 사람이 있나요?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다른 사람과의 갈등 (㉳)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7. 누군가에게 미안한 마음이 들어 힘든가요?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다른 사람과의 갈등 (㉴)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8. 누군가와 다시 가까워지는 방법을 몰라 답답한가요?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다른 사람과의 갈등 (㉵)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어느 칸일까? 부정적인 생각 · 욕심이나 집착 · 다른 사람과의 갈등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1. 문제가 해결되지 않을 것 같나요?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부정적인 생각 (㉮)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2. 자신을 원망하거나 비난하고 있나요?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부정적인 생각 (㉯)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3. 나한테만 이런 일이 생기는 것 같나요?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부정적인 생각 (㉰)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4. 어떤 것을 지나치게 탐내고 있나요?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욕심이나 집착 (㉱)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5. 바라는 것이 계속 떠올라 괴롭나요?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욕심이나 집착 (㉲)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6. 이해하거나 용서할 수 없는 사람이 있나요?</a:t>
            </a:r>
            <a:r>
              <a:rPr sz="2200" b="1">
                <a:solidFill>
                  <a:srgbClr val="C0392B"/>
                </a:solidFill>
              </a:rPr>
              <a:t>   → 다른 사람과의 갈등 (㉳)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7. 누군가에게 미안한 마음이 들어 힘든가요?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다른 사람과의 갈등 (㉴)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8. 누군가와 다시 가까워지는 방법을 몰라 답답한가요?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다른 사람과의 갈등 (㉵)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어느 칸일까? 부정적인 생각 · 욕심이나 집착 · 다른 사람과의 갈등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1. 문제가 해결되지 않을 것 같나요?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부정적인 생각 (㉮)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2. 자신을 원망하거나 비난하고 있나요?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부정적인 생각 (㉯)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3. 나한테만 이런 일이 생기는 것 같나요?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부정적인 생각 (㉰)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4. 어떤 것을 지나치게 탐내고 있나요?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욕심이나 집착 (㉱)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5. 바라는 것이 계속 떠올라 괴롭나요?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욕심이나 집착 (㉲)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6. 이해하거나 용서할 수 없는 사람이 있나요?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다른 사람과의 갈등 (㉳)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7. 누군가에게 미안한 마음이 들어 힘든가요?</a:t>
            </a:r>
            <a:r>
              <a:rPr sz="2200" b="1">
                <a:solidFill>
                  <a:srgbClr val="C0392B"/>
                </a:solidFill>
              </a:rPr>
              <a:t>   → 다른 사람과의 갈등 (㉴)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8. 누군가와 다시 가까워지는 방법을 몰라 답답한가요?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다른 사람과의 갈등 (㉵)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어느 칸일까? 부정적인 생각 · 욕심이나 집착 · 다른 사람과의 갈등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1. 문제가 해결되지 않을 것 같나요?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부정적인 생각 (㉮)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2. 자신을 원망하거나 비난하고 있나요?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부정적인 생각 (㉯)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3. 나한테만 이런 일이 생기는 것 같나요?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부정적인 생각 (㉰)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4. 어떤 것을 지나치게 탐내고 있나요?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욕심이나 집착 (㉱)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5. 바라는 것이 계속 떠올라 괴롭나요?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욕심이나 집착 (㉲)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6. 이해하거나 용서할 수 없는 사람이 있나요?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다른 사람과의 갈등 (㉳)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7. 누군가에게 미안한 마음이 들어 힘든가요?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다른 사람과의 갈등 (㉴)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8. 누군가와 다시 가까워지는 방법을 몰라 답답한가요?</a:t>
            </a:r>
            <a:r>
              <a:rPr sz="2200" b="1">
                <a:solidFill>
                  <a:srgbClr val="C0392B"/>
                </a:solidFill>
              </a:rPr>
              <a:t>   → 다른 사람과의 갈등 (㉵)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➕ 두 번째 화살 뒤집기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고통은 </a:t>
            </a:r>
            <a:r>
              <a:rPr lang="ko-KR" altLang="en-US" b="1" dirty="0">
                <a:latin typeface="+mj-ea"/>
                <a:ea typeface="+mj-ea"/>
              </a:rPr>
              <a:t>왜 생겨날까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966334"/>
              </p:ext>
            </p:extLst>
          </p:nvPr>
        </p:nvGraphicFramePr>
        <p:xfrm>
          <a:off x="1064871" y="3286406"/>
          <a:ext cx="10470524" cy="19183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4157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8896367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7296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몸의 고통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병이 나거나 다쳤을 때 느끼는 아픔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7296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2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Arial"/>
                        </a:rPr>
                        <a:t>마음의</a:t>
                      </a:r>
                      <a:endParaRPr kumimoji="0" lang="en-US" altLang="ko-KR" sz="24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24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Arial"/>
                        </a:rPr>
                        <a:t>고통</a:t>
                      </a:r>
                      <a:endParaRPr kumimoji="0" lang="ko-KR" alt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감당하기 어려운 상황에 부닥쳤을 때 느끼는 스트레스</a:t>
                      </a: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dirty="0" err="1" smtClean="0">
                          <a:latin typeface="+mn-ea"/>
                          <a:ea typeface="+mn-ea"/>
                        </a:rPr>
                        <a:t>우울감</a:t>
                      </a: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불안</a:t>
                      </a: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dirty="0" smtClean="0">
                          <a:latin typeface="+mn-ea"/>
                          <a:ea typeface="+mn-ea"/>
                        </a:rPr>
                        <a:t>혼란스러움과 같은 괴로움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007610" y="5186685"/>
            <a:ext cx="58677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</a:rPr>
              <a:t>스트레스 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적응하기 어려운 환경에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처할 때 느끼는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긴장 상태 </a:t>
            </a:r>
            <a:endParaRPr lang="ko-KR" altLang="en-US" sz="1600" dirty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b="1" dirty="0" err="1" smtClean="0">
                <a:solidFill>
                  <a:schemeClr val="accent6"/>
                </a:solidFill>
              </a:rPr>
              <a:t>우울감</a:t>
            </a:r>
            <a:r>
              <a:rPr lang="ko-KR" altLang="en-US" sz="1600" b="1" dirty="0" smtClean="0">
                <a:solidFill>
                  <a:schemeClr val="accent6"/>
                </a:solidFill>
              </a:rPr>
              <a:t> 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마음이 답답하거나 근심스러워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활기가 없는 느낌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카드를 뒤집으면?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🃏 “나는 원래 머리가 나빠.”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“이번엔 준비가 부족했어. 다음엔 계획을 세워 보자.”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🃏 “다들 나를 싫어해.”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“한 친구와 오해가 생겼어. 내일 이야기해 보자.”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🃏 “다 망했어.”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“아쉽지만 끝난 건 아니야. 할 수 있는 걸 찾아보자.”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카드를 뒤집으면?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“나는 원래 머리가 나빠.”</a:t>
            </a:r>
            <a:r>
              <a:rPr sz="2300" b="1">
                <a:solidFill>
                  <a:srgbClr val="C0392B"/>
                </a:solidFill>
              </a:rPr>
              <a:t>   → “이번엔 준비가 부족했어. 다음엔 계획을 세워 보자.”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“다들 나를 싫어해.”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“한 친구와 오해가 생겼어. 내일 이야기해 보자.”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“다 망했어.”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“아쉽지만 끝난 건 아니야. 할 수 있는 걸 찾아보자.”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카드를 뒤집으면?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“나는 원래 머리가 나빠.”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“이번엔 준비가 부족했어. 다음엔 계획을 세워 보자.”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“다들 나를 싫어해.”</a:t>
            </a:r>
            <a:r>
              <a:rPr sz="2300" b="1">
                <a:solidFill>
                  <a:srgbClr val="C0392B"/>
                </a:solidFill>
              </a:rPr>
              <a:t>   → “한 친구와 오해가 생겼어. 내일 이야기해 보자.”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“다 망했어.”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“아쉽지만 끝난 건 아니야. 할 수 있는 걸 찾아보자.”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카드를 뒤집으면?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“나는 원래 머리가 나빠.”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“이번엔 준비가 부족했어. 다음엔 계획을 세워 보자.”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“다들 나를 싫어해.”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“한 친구와 오해가 생겼어. 내일 이야기해 보자.”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“다 망했어.”</a:t>
            </a:r>
            <a:r>
              <a:rPr sz="2300" b="1">
                <a:solidFill>
                  <a:srgbClr val="C0392B"/>
                </a:solidFill>
              </a:rPr>
              <a:t>   → “아쉽지만 끝난 건 아니야. 할 수 있는 걸 찾아보자.”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</p:bldLst>
  </p:timing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8777</TotalTime>
  <Words>1296</Words>
  <Application>Microsoft Office PowerPoint</Application>
  <PresentationFormat>와이드스크린</PresentationFormat>
  <Paragraphs>187</Paragraphs>
  <Slides>17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7" baseType="lpstr">
      <vt:lpstr>AppleSDGothicNeoB00</vt:lpstr>
      <vt:lpstr>굴림</vt:lpstr>
      <vt:lpstr>나눔스퀘어라운드 ExtraBold</vt:lpstr>
      <vt:lpstr>돋움</vt:lpstr>
      <vt:lpstr>Malgun Gothic</vt:lpstr>
      <vt:lpstr>Malgun Gothic</vt:lpstr>
      <vt:lpstr>Arial</vt:lpstr>
      <vt:lpstr>Arial Rounded MT Bold</vt:lpstr>
      <vt:lpstr>Wingdings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DB400SDA</cp:lastModifiedBy>
  <cp:revision>187</cp:revision>
  <cp:lastPrinted>2024-06-05T04:53:22Z</cp:lastPrinted>
  <dcterms:created xsi:type="dcterms:W3CDTF">2023-10-31T05:50:03Z</dcterms:created>
  <dcterms:modified xsi:type="dcterms:W3CDTF">2025-01-14T02:15:08Z</dcterms:modified>
</cp:coreProperties>
</file>