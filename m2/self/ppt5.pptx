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02" r:id="rId2"/>
    <p:sldId id="301" r:id="rId3"/>
    <p:sldId id="258" r:id="rId4"/>
    <p:sldId id="350" r:id="rId5"/>
    <p:sldId id="351" r:id="rId6"/>
    <p:sldId id="305" r:id="rId7"/>
    <p:sldId id="306" r:id="rId8"/>
    <p:sldId id="270" r:id="rId9"/>
    <p:sldId id="352" r:id="rId10"/>
    <p:sldId id="354" r:id="rId11"/>
    <p:sldId id="260" r:id="rId12"/>
    <p:sldId id="366" r:id="rId35"/>
    <p:sldId id="367" r:id="rId36"/>
    <p:sldId id="368" r:id="rId37"/>
    <p:sldId id="307" r:id="rId13"/>
    <p:sldId id="355" r:id="rId14"/>
    <p:sldId id="312" r:id="rId15"/>
    <p:sldId id="356" r:id="rId16"/>
    <p:sldId id="357" r:id="rId17"/>
    <p:sldId id="358" r:id="rId18"/>
    <p:sldId id="369" r:id="rId38"/>
    <p:sldId id="370" r:id="rId39"/>
    <p:sldId id="371" r:id="rId40"/>
    <p:sldId id="372" r:id="rId41"/>
    <p:sldId id="359" r:id="rId19"/>
    <p:sldId id="360" r:id="rId20"/>
    <p:sldId id="316" r:id="rId21"/>
    <p:sldId id="361" r:id="rId22"/>
    <p:sldId id="362" r:id="rId23"/>
    <p:sldId id="363" r:id="rId24"/>
    <p:sldId id="364" r:id="rId25"/>
    <p:sldId id="365" r:id="rId26"/>
    <p:sldId id="373" r:id="rId42"/>
    <p:sldId id="374" r:id="rId43"/>
    <p:sldId id="375" r:id="rId44"/>
    <p:sldId id="348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FFF7EE"/>
    <a:srgbClr val="FF9300"/>
    <a:srgbClr val="FFFF00"/>
    <a:srgbClr val="D9E1E9"/>
    <a:srgbClr val="E8F6FD"/>
    <a:srgbClr val="F0FFF6"/>
    <a:srgbClr val="019BFF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36쪽 · 빅터 프랭클</a:t>
            </a:r>
          </a:p>
          <a:p>
            <a:r>
              <a:t>“살아야 할 이유를 아는 사람은 어떤 상황도 견딜 수 있다”(니체의 말을 프랭클이 인용, 『죽음의 수용소에서』).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랜디 포시의 마지막 강의</a:t>
            </a:r>
          </a:p>
          <a:p>
            <a:r>
              <a:t>이 강의는 같은 이름의 책 『마지막 강의』(2008)로도 나왔다. 그는 강의가 사실 세 아이에게 남기는 이야기였다고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38쪽 자료</a:t>
            </a:r>
          </a:p>
          <a:p>
            <a:r>
              <a:t>헬렌 켈러: 시각·청각 장애인으로 대학 교육을 받고, 장애인·노동자·여성의 인권을 위해 싸웠다. “최선을 다할 때 우리 혹은 타인의 삶에 어떤 기적이 나타날지 아무도 모릅니다.”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장애물을 보는 눈</a:t>
            </a:r>
          </a:p>
          <a:p>
            <a:r>
              <a:t>의미 있는 삶은 어려움이 없는 삶이 아니라, 어려움 속에서도 목적을 향해 가는 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활동</a:t>
            </a:r>
          </a:p>
          <a:p>
            <a:r>
              <a:t>활동 화면 5에서 세 칸으로 나누어 쓴다. 하이데거 톡의 미션과 이어 쓰면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의미 있는 삶의 노력을 구분하고, 미래의 나를 인터뷰해 보자.</a:t>
            </a:r>
          </a:p>
          <a:p>
            <a:r>
              <a:t>⏱ 짝 인터뷰 (기자 ↔ 미래의 나) 3분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의미 있는 삶의 노력을 구분하고, 미래의 나를 인터뷰해 보자.</a:t>
            </a:r>
          </a:p>
          <a:p>
            <a:r>
              <a:t>⏱ 짝 인터뷰 (기자 ↔ 미래의 나) 3분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8.png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" Target="slide23.xml"/><Relationship Id="rId10" Type="http://schemas.openxmlformats.org/officeDocument/2006/relationships/slide" Target="slide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" Target="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" Target="slide22.xml"/><Relationship Id="rId10" Type="http://schemas.openxmlformats.org/officeDocument/2006/relationships/slide" Target="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의미 있는 삶을 </a:t>
            </a:r>
            <a:r>
              <a:rPr lang="ko-KR" altLang="en-US" sz="5400" b="1" dirty="0" err="1" smtClean="0">
                <a:latin typeface="Arial Rounded MT Bold" panose="020F0704030504030204" pitchFamily="34" charset="0"/>
              </a:rPr>
              <a:t>살려면어떻게</a:t>
            </a:r>
            <a:r>
              <a:rPr lang="ko-KR" altLang="en-US" sz="5400" b="1" dirty="0" smtClean="0">
                <a:latin typeface="Arial Rounded MT Bold" panose="020F0704030504030204" pitchFamily="34" charset="0"/>
              </a:rPr>
              <a:t> </a:t>
            </a:r>
            <a:r>
              <a:rPr lang="ko-KR" altLang="en-US" sz="5400" b="1" dirty="0">
                <a:latin typeface="Arial Rounded MT Bold" panose="020F0704030504030204" pitchFamily="34" charset="0"/>
              </a:rPr>
              <a:t>해야 할까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의미 있는 삶을 살기 위해 노력하는 자세를 지닌다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7209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자신의 미래 모습을 상상하며 의미 있는 삶을 계획하고 이를 실천할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681351"/>
            <a:ext cx="5478525" cy="31766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6902" y="1241188"/>
            <a:ext cx="6219949" cy="4078737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4183688" y="4419338"/>
            <a:ext cx="5686376" cy="149568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가족들과 함께 한라산에 갔어요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힘든 것을 이겨 내고 정상에 도착했을 때</a:t>
            </a: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마음이 무척 벅찼어요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3497" y="1233548"/>
            <a:ext cx="5285120" cy="42791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681351"/>
            <a:ext cx="5478525" cy="317664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3497" y="1233548"/>
            <a:ext cx="5671069" cy="393141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183688" y="4419338"/>
            <a:ext cx="5686376" cy="149568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친구들과 환경 보호를 위해 일회용품 사용 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줄이기 캠페인을 한 적이 있어요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제가 주도적으로 벌인 활동이라 더 </a:t>
            </a:r>
            <a:r>
              <a:rPr lang="ko-KR" altLang="en-US" sz="2200" spc="-15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뿌듯했어요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161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681351"/>
            <a:ext cx="5478525" cy="31766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3497" y="1233548"/>
            <a:ext cx="5285120" cy="427910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타원 20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183688" y="4419338"/>
            <a:ext cx="5686376" cy="149568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지난겨울에 불우 이웃에게 연탄을 배달하는 </a:t>
            </a: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봉사 활동을 했어요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저의 작은 행동이 </a:t>
            </a:r>
          </a:p>
          <a:p>
            <a:pPr algn="ctr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누군가에게 도움이 된다는 것을 깨달았어요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192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362339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친구와 함께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유기견을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돌보는 봉사 활동을 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유기견이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내가 준 사료를 먹는 모습을 보면서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지금 내가 하는 이 일이 참 의미 있구나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라는 생각을 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올해 학교에서 열린 ‘학교 폭력 예방 포스터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공모전’에서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상을 받았다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시상식에서 동아리 친구들과 선생님이 보는 앞에서 상을 받던 순간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무척 의미 있게 느껴졌다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내가 살면서 했던 일을 떠올려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 err="1">
                <a:latin typeface="+mn-ea"/>
              </a:rPr>
              <a:t>그중에</a:t>
            </a:r>
            <a:r>
              <a:rPr lang="ko-KR" altLang="en-US" sz="2000" b="1" dirty="0">
                <a:latin typeface="+mn-ea"/>
              </a:rPr>
              <a:t> 의미 있었던 일을 두 가지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877" y="4548248"/>
            <a:ext cx="3315212" cy="27949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차 세계 대전 당시 유대인 빅터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프랭클은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아우슈비츠 수용소로 보내졌다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그곳은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추위와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굶주림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언제 죽을지 모른다는 두려움이 가득한 곳이었지만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프랭클은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삶을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포기하지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않았다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사람들을 관찰하며 다음과 같은 사실을 깨달았다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180000" lvl="1"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어떤 상황에서도 인간은 삶의 의미를 찾는 일을 절대로 멈추지 않는다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수용소에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있던 사람 중 삶의 의미를 찾지 못한 사람은 곧 죽었다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해야 할 일이 있다는 것을 알고 있는 사람은 살아남을 수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빅터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프랭클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죽음의 수용소에서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6947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smtClean="0">
                <a:latin typeface="+mn-ea"/>
              </a:rPr>
              <a:t>윗글을 </a:t>
            </a:r>
            <a:r>
              <a:rPr lang="ko-KR" altLang="en-US" sz="2000" b="1" dirty="0">
                <a:latin typeface="+mn-ea"/>
              </a:rPr>
              <a:t>참고하여 삶의 의미를 찾는 것이 중요한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58712" y="2439788"/>
            <a:ext cx="9960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자신이 처한 어려움을 극복하는 힘을 얻을 수 있으며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하루하루 의미 있는 삶을 살 수 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9105590" y="3246482"/>
            <a:ext cx="2090057" cy="3530355"/>
            <a:chOff x="9105590" y="3246482"/>
            <a:chExt cx="2090057" cy="353035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05590" y="3246482"/>
              <a:ext cx="2090057" cy="3530355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9105590" y="4680672"/>
              <a:ext cx="370918" cy="378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623177" y="2499127"/>
            <a:ext cx="2185833" cy="3733800"/>
            <a:chOff x="623177" y="2499127"/>
            <a:chExt cx="2185833" cy="37338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177" y="2499127"/>
              <a:ext cx="2105025" cy="373380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2529444" y="3501818"/>
              <a:ext cx="279566" cy="203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다음 대화를 읽고 내 삶의 의미를 생각하여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모서리가 둥근 사각형 설명선 19"/>
          <p:cNvSpPr/>
          <p:nvPr/>
        </p:nvSpPr>
        <p:spPr>
          <a:xfrm>
            <a:off x="3277589" y="2372259"/>
            <a:ext cx="6198919" cy="2306619"/>
          </a:xfrm>
          <a:prstGeom prst="wedgeRoundRectCallout">
            <a:avLst>
              <a:gd name="adj1" fmla="val -62995"/>
              <a:gd name="adj2" fmla="val -187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나는 극한 상황에서도 사람을 살게끔 만드는 삶의 의미가 있음을 알게 </a:t>
            </a:r>
            <a:r>
              <a:rPr lang="ko-KR" altLang="en-US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되었단다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나에게는 그것이 ‘</a:t>
            </a:r>
            <a:r>
              <a:rPr lang="ko-KR" altLang="en-US" sz="2000" spc="-15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사랑’이었지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나는 사랑하는 아내를 생각하면서 </a:t>
            </a:r>
            <a:r>
              <a:rPr lang="ko-KR" altLang="en-US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수용소에서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맞이한 어려운 고비들을 넘길 수 있었어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3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9105590" y="3246482"/>
            <a:ext cx="2090057" cy="3530355"/>
            <a:chOff x="9105590" y="3246482"/>
            <a:chExt cx="2090057" cy="353035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05590" y="3246482"/>
              <a:ext cx="2090057" cy="3530355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9105590" y="4680672"/>
              <a:ext cx="370918" cy="378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623177" y="2499127"/>
            <a:ext cx="2185833" cy="3733800"/>
            <a:chOff x="623177" y="2499127"/>
            <a:chExt cx="2185833" cy="37338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177" y="2499127"/>
              <a:ext cx="2105025" cy="373380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2529444" y="3501818"/>
              <a:ext cx="279566" cy="203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다음 대화를 읽고 내 삶의 의미를 생각하여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모서리가 둥근 사각형 설명선 19"/>
          <p:cNvSpPr/>
          <p:nvPr/>
        </p:nvSpPr>
        <p:spPr>
          <a:xfrm>
            <a:off x="3016333" y="2505752"/>
            <a:ext cx="6008450" cy="3277532"/>
          </a:xfrm>
          <a:prstGeom prst="wedgeRoundRectCallout">
            <a:avLst>
              <a:gd name="adj1" fmla="val 59148"/>
              <a:gd name="adj2" fmla="val -10147"/>
              <a:gd name="adj3" fmla="val 16667"/>
            </a:avLst>
          </a:prstGeom>
          <a:solidFill>
            <a:srgbClr val="FFF7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endParaRPr lang="en-US" altLang="ko-KR" sz="2400" spc="-15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pc="-150" dirty="0" smtClean="0">
                <a:solidFill>
                  <a:schemeClr val="tx1"/>
                </a:solidFill>
                <a:latin typeface="+mn-ea"/>
              </a:rPr>
              <a:t>그러셨군요</a:t>
            </a:r>
            <a:r>
              <a:rPr lang="en-US" altLang="ko-KR" sz="2400" spc="-15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2400" spc="-150" dirty="0">
                <a:solidFill>
                  <a:schemeClr val="tx1"/>
                </a:solidFill>
                <a:latin typeface="+mn-ea"/>
              </a:rPr>
              <a:t>제 삶의 </a:t>
            </a:r>
            <a:r>
              <a:rPr lang="ko-KR" altLang="en-US" sz="2400" spc="-150" dirty="0" smtClean="0">
                <a:solidFill>
                  <a:schemeClr val="tx1"/>
                </a:solidFill>
                <a:latin typeface="+mn-ea"/>
              </a:rPr>
              <a:t>의미는</a:t>
            </a:r>
            <a:endParaRPr lang="en-US" altLang="ko-KR" sz="2400" spc="-15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spc="-15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spc="-15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spc="-15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spc="-15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spc="-15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198261" y="2939566"/>
            <a:ext cx="56757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나눔’이에요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주변 사람들에게 제가 가진 것을 베풀 때 행복함을 느껴요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이러한 점을 볼 때 제 삶의 의미는 ‘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나눔’인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것 같아요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132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의미를 찾는 것의 중요성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어려움을 </a:t>
            </a:r>
            <a:r>
              <a:rPr lang="ko-KR" altLang="en-US" sz="2400" b="1" dirty="0">
                <a:latin typeface="+mn-ea"/>
              </a:rPr>
              <a:t>극복하는 힘을 얻을 수 있음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삶에서 의미를 찾을 때 절망적인 상황에서도 희망을 잃지 않을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의미 있는 삶을 살 수 있음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자신에게 주어진 삶의 의미를 찾고 이를 이루기 위해 노력하면서 더욱 의미 있게 살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-1" y="1281235"/>
            <a:ext cx="3379809" cy="5576765"/>
            <a:chOff x="0" y="3099460"/>
            <a:chExt cx="2173184" cy="375854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81" y="3344201"/>
              <a:ext cx="1917863" cy="3513799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0" y="3099460"/>
              <a:ext cx="2173184" cy="16862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6" name="타원 2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40018" y="1596520"/>
            <a:ext cx="86018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열 살일 때 한 무장 세력이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사는 파키스탄의 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지역을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점령하였다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무장 세력은 여자아이들이 학교에 다니는 것을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금지하였다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무장 세력이 두려워 모두가 침묵하고 있을 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영국의 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방송국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누리집에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이에 관해 비판하는 글을 올렸다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2012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학교에서 집으로 돌아오던 버스 안에서 무장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세력이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쏜 총에 맞아 크게 다쳤다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몇 차례의 수술 후 목숨을 건졌고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재활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치료를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받으며 건강을 회복하였다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이후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학교에 다니면서 여성과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아동의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교육권을 지키기 위한 운동을 이어 나갔다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-1" y="1281235"/>
            <a:ext cx="3379809" cy="5576765"/>
            <a:chOff x="0" y="3099460"/>
            <a:chExt cx="2173184" cy="3758540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81" y="3344201"/>
              <a:ext cx="1917863" cy="3513799"/>
            </a:xfrm>
            <a:prstGeom prst="rect">
              <a:avLst/>
            </a:prstGeom>
          </p:spPr>
        </p:pic>
        <p:sp>
          <p:nvSpPr>
            <p:cNvPr id="28" name="직사각형 27"/>
            <p:cNvSpPr/>
            <p:nvPr/>
          </p:nvSpPr>
          <p:spPr>
            <a:xfrm>
              <a:off x="0" y="3099460"/>
              <a:ext cx="2173184" cy="16862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40018" y="1596520"/>
            <a:ext cx="8601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2014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어린 나이인데도 위험을 무릅쓰고 아동에 관한 부당한 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억압에 반대하며 그들의 교육권을 위해 투쟁한 공로를 인정받아 노벨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평화상을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수상하였다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유사프자이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나는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말랄라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25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616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말랄라가</a:t>
            </a:r>
            <a:r>
              <a:rPr lang="ko-KR" altLang="en-US" sz="2000" b="1" dirty="0">
                <a:latin typeface="+mn-ea"/>
              </a:rPr>
              <a:t> 의미 있는 삶을 살기 위해 어떤 노력을 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 당시 사회 분위기에 굴하지 않고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주체적으로 여성과 아동의 교육권을 지키겠다는 목표를 설정하였다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0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주체적인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태도 지니기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잘못된 관습을 무조건 </a:t>
            </a:r>
            <a:r>
              <a:rPr lang="ko-KR" altLang="en-US" sz="2400" dirty="0" smtClean="0">
                <a:latin typeface="+mn-ea"/>
              </a:rPr>
              <a:t>받아들이기보다 </a:t>
            </a:r>
            <a:r>
              <a:rPr lang="ko-KR" altLang="en-US" sz="2400" dirty="0">
                <a:latin typeface="+mn-ea"/>
              </a:rPr>
              <a:t>자신이 원하는 삶의 목표를 세울 때 우리는 의미 있는 삶을 살 수 있음</a:t>
            </a:r>
            <a:r>
              <a:rPr lang="en-US" altLang="ko-KR" sz="2400" dirty="0">
                <a:latin typeface="+mn-ea"/>
              </a:rPr>
              <a:t>. 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주체적인 태도를 지니면 한계에 부닥쳐도 주저앉기보다 다시 일어나 </a:t>
            </a:r>
            <a:r>
              <a:rPr lang="ko-KR" altLang="en-US" sz="2400" dirty="0" smtClean="0">
                <a:latin typeface="+mn-ea"/>
              </a:rPr>
              <a:t>삶을 </a:t>
            </a:r>
            <a:r>
              <a:rPr lang="ko-KR" altLang="en-US" sz="2400" dirty="0">
                <a:latin typeface="+mn-ea"/>
              </a:rPr>
              <a:t>더 의미 있게 만들어 나갈 </a:t>
            </a:r>
            <a:r>
              <a:rPr lang="ko-KR" altLang="en-US" sz="2400">
                <a:latin typeface="+mn-ea"/>
              </a:rPr>
              <a:t>수 </a:t>
            </a:r>
            <a:r>
              <a:rPr lang="ko-KR" altLang="en-US" sz="2400" smtClean="0">
                <a:latin typeface="+mn-ea"/>
              </a:rPr>
              <a:t>있음</a:t>
            </a:r>
            <a:r>
              <a:rPr lang="en-US" altLang="ko-KR" sz="2400" smtClean="0">
                <a:latin typeface="+mn-ea"/>
              </a:rPr>
              <a:t>.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삶을 살기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8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긍정적인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부여하기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의미 </a:t>
            </a:r>
            <a:r>
              <a:rPr lang="ko-KR" altLang="en-US" sz="2400" dirty="0" smtClean="0">
                <a:latin typeface="+mn-ea"/>
              </a:rPr>
              <a:t>있는 </a:t>
            </a:r>
            <a:r>
              <a:rPr lang="ko-KR" altLang="en-US" sz="2400" dirty="0">
                <a:latin typeface="+mn-ea"/>
              </a:rPr>
              <a:t>삶을 살려면 어떤 일을 하는지도 중요하지만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내가 하는 일을 어떻게 </a:t>
            </a:r>
            <a:r>
              <a:rPr lang="ko-KR" altLang="en-US" sz="2400" dirty="0" smtClean="0">
                <a:latin typeface="+mn-ea"/>
              </a:rPr>
              <a:t>대하는지도 중요함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자신이 </a:t>
            </a:r>
            <a:r>
              <a:rPr lang="ko-KR" altLang="en-US" sz="2400" dirty="0">
                <a:latin typeface="+mn-ea"/>
              </a:rPr>
              <a:t>하는 일에 긍정적인 의미가 있다고 여길 때 우리는 더 큰 </a:t>
            </a:r>
            <a:r>
              <a:rPr lang="ko-KR" altLang="en-US" sz="2400" dirty="0" smtClean="0">
                <a:latin typeface="+mn-ea"/>
              </a:rPr>
              <a:t>보람과 </a:t>
            </a:r>
            <a:r>
              <a:rPr lang="ko-KR" altLang="en-US" sz="2400" dirty="0">
                <a:latin typeface="+mn-ea"/>
              </a:rPr>
              <a:t>만족감을 느끼며 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삶을 살기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바람직한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 추구하기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인간은 학문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도덕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예술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종교 등의 </a:t>
            </a:r>
            <a:r>
              <a:rPr lang="ko-KR" altLang="en-US" sz="2400" dirty="0" smtClean="0">
                <a:latin typeface="+mn-ea"/>
              </a:rPr>
              <a:t>분야에서 </a:t>
            </a:r>
            <a:r>
              <a:rPr lang="ko-KR" altLang="en-US" sz="2400" dirty="0">
                <a:latin typeface="+mn-ea"/>
              </a:rPr>
              <a:t>바람직한 가치를 추구하며 삶을 더 풍요롭고 의미 있게 발전시켜 </a:t>
            </a:r>
            <a:r>
              <a:rPr lang="ko-KR" altLang="en-US" sz="2400" dirty="0" smtClean="0">
                <a:latin typeface="+mn-ea"/>
              </a:rPr>
              <a:t>왔음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인간과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세계에 관한 진리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[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眞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]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를 추구하며 다양한 학문을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발전시킴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선함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[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善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]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을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추구하며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도덕적으로 살고자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노력함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,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아름다움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[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美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]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을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추구하여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수많은 예술 작품을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만듦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성스러움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[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聖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]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을 추구하여 현실적 고통과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한계를 극복함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진리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선함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아름다움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성스러움 등의 바람직한 가치를 </a:t>
            </a:r>
            <a:r>
              <a:rPr lang="ko-KR" altLang="en-US" sz="2400" dirty="0" smtClean="0">
                <a:latin typeface="+mn-ea"/>
              </a:rPr>
              <a:t>추구할 </a:t>
            </a:r>
            <a:r>
              <a:rPr lang="ko-KR" altLang="en-US" sz="2400" dirty="0">
                <a:latin typeface="+mn-ea"/>
              </a:rPr>
              <a:t>때 우리는 더 의미 있는 삶을 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삶을 살기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09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의미 있는 삶을 추구한 인물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헬렌 </a:t>
            </a:r>
            <a:r>
              <a:rPr lang="ko-KR" altLang="en-US" sz="2800" b="1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켈러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76584" y="1961289"/>
            <a:ext cx="110739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헬렌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켈러는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의미 있는 삶을 산 인물 중 하나이다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세계 최초로 대학 교육을 받은 시각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청각 장애인으로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사회 복지 사업가이자 사회 운동가였다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시각 장애인을 위한 모금 운동에 앞장서고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시각 장애인을 위한 제도를 마련하고자 정치인들을 설득하는 등 장애인의 인권 보장을 위해 노력하였다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헬렌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켈러는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장애인 외에도 인권의 사각지대에 놓인 사람들을 위한 여러 사회 운동을 펼쳤다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낮은 임금을 받거나 열악한 작업 환경에서 일하는 노동자의 인권을 보장하기 위해 싸웠으며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당시에 투표에 참여할 수 없었던 여성의 권리를 보장하기 위한 운동을 펼쳤다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또한 사형제 폐지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아동 노동 및 인종 차별 반대를 주장하는 운동을 벌였다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헬렌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켈러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사흘만 볼 수 있다면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88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6527800" y="1894525"/>
            <a:ext cx="4508499" cy="4760582"/>
            <a:chOff x="6527800" y="1894525"/>
            <a:chExt cx="4508499" cy="4760582"/>
          </a:xfrm>
        </p:grpSpPr>
        <p:grpSp>
          <p:nvGrpSpPr>
            <p:cNvPr id="3" name="그룹 2"/>
            <p:cNvGrpSpPr/>
            <p:nvPr/>
          </p:nvGrpSpPr>
          <p:grpSpPr>
            <a:xfrm>
              <a:off x="6788232" y="1973136"/>
              <a:ext cx="4248067" cy="4681971"/>
              <a:chOff x="6788232" y="1973136"/>
              <a:chExt cx="4248067" cy="4681971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88232" y="1973136"/>
                <a:ext cx="4248067" cy="4681971"/>
              </a:xfrm>
              <a:prstGeom prst="rect">
                <a:avLst/>
              </a:prstGeom>
            </p:spPr>
          </p:pic>
          <p:sp>
            <p:nvSpPr>
              <p:cNvPr id="28" name="직사각형 27"/>
              <p:cNvSpPr/>
              <p:nvPr/>
            </p:nvSpPr>
            <p:spPr>
              <a:xfrm>
                <a:off x="7786294" y="2293108"/>
                <a:ext cx="698500" cy="3050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직사각형 5"/>
            <p:cNvSpPr/>
            <p:nvPr/>
          </p:nvSpPr>
          <p:spPr>
            <a:xfrm>
              <a:off x="6527800" y="1894525"/>
              <a:ext cx="1879600" cy="15598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의미 있는 삶을 추구한 인물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헬렌 </a:t>
            </a:r>
            <a:r>
              <a:rPr lang="ko-KR" altLang="en-US" sz="2800" b="1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켈러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6091424" y="1894525"/>
            <a:ext cx="1428171" cy="1407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형 설명선 20"/>
          <p:cNvSpPr/>
          <p:nvPr/>
        </p:nvSpPr>
        <p:spPr>
          <a:xfrm>
            <a:off x="1686297" y="2238075"/>
            <a:ext cx="5101936" cy="3177073"/>
          </a:xfrm>
          <a:prstGeom prst="wedgeEllipseCallout">
            <a:avLst>
              <a:gd name="adj1" fmla="val 61320"/>
              <a:gd name="adj2" fmla="val 2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우리가 할 수 있는 최선을 다할 때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 혹은 타인의 삶에 어떤 기적이 나타날지 아무도 모릅니다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3952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30833"/>
            <a:ext cx="10293350" cy="264557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나의 미래 모습을 상상하며 의미 있는 삶 계획하기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0" name="그림 3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19956"/>
            <a:ext cx="487174" cy="4871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19956"/>
            <a:ext cx="1087577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065588" y="3027955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행복한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가정을 꾸린 아버지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지구를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지키는 환경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운동가</a:t>
            </a:r>
            <a:endParaRPr lang="en-US" altLang="ko-KR" sz="2400" dirty="0" smtClean="0">
              <a:solidFill>
                <a:srgbClr val="0070C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주변 사람에게 선한 영향력을 미치는 좋은 사람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7400" y="1613182"/>
            <a:ext cx="10472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의미 있는 삶을 사는 나의 미래 모습을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소개하는 말을 만들어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717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44" grpId="0"/>
      <p:bldP spid="4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53" y="5416614"/>
            <a:ext cx="1133338" cy="14413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" y="5533901"/>
            <a:ext cx="1143006" cy="10886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3753"/>
            <a:ext cx="1427763" cy="35424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955775" y="2897012"/>
            <a:ext cx="9809856" cy="3960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나의 미래 모습을 상상하며 의미 있는 삶 계획하기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93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>
                <a:latin typeface="+mn-ea"/>
              </a:rPr>
              <a:t>에서 쓴 모습을 이루기 위한 계획을 세우고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바탕으로 미래의 나와 가상 인터뷰를 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40" name="그림 3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48706"/>
            <a:ext cx="487174" cy="4871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48706"/>
            <a:ext cx="1087577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88718" y="2897012"/>
            <a:ext cx="95196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의미 있는 삶을 사는 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                              )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을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를 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만나다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기자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어떤 삶이 의미 있는 삶이라고 생각하시나요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 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852551" y="4392259"/>
            <a:ext cx="8755827" cy="164040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764504" y="3598964"/>
            <a:ext cx="81513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9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>
            <a:off x="1911926" y="2847262"/>
            <a:ext cx="8609962" cy="3160969"/>
            <a:chOff x="1911926" y="2847262"/>
            <a:chExt cx="8609962" cy="3160969"/>
          </a:xfrm>
        </p:grpSpPr>
        <p:sp>
          <p:nvSpPr>
            <p:cNvPr id="44" name="TextBox 43"/>
            <p:cNvSpPr txBox="1"/>
            <p:nvPr/>
          </p:nvSpPr>
          <p:spPr>
            <a:xfrm>
              <a:off x="1911926" y="4392404"/>
              <a:ext cx="8609962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저는 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‘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나누는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삶</a:t>
              </a:r>
              <a:r>
                <a:rPr lang="en-US" altLang="ko-KR" sz="2200" dirty="0" smtClean="0">
                  <a:solidFill>
                    <a:srgbClr val="0070C0"/>
                  </a:solidFill>
                  <a:latin typeface="+mn-ea"/>
                </a:rPr>
                <a:t>’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이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의미 있는 삶이라고 생각합니다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왜냐하면 주변 사람들에게 제가 가진 것을 베풀 때 행복함을 느끼고 더 열심히 살 수 있는 동력을 얻을 수 있다고 생각하기 때문입니다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58346" y="2847262"/>
              <a:ext cx="2275607" cy="534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200" dirty="0" err="1" smtClean="0">
                  <a:solidFill>
                    <a:srgbClr val="0070C0"/>
                  </a:solidFill>
                  <a:latin typeface="+mn-ea"/>
                </a:rPr>
                <a:t>김도덕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368097" y="626126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10" action="ppaction://hlinksldjump"/>
          </p:cNvPr>
          <p:cNvSpPr/>
          <p:nvPr/>
        </p:nvSpPr>
        <p:spPr>
          <a:xfrm>
            <a:off x="6560872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53" y="5416614"/>
            <a:ext cx="1133338" cy="14413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" y="5533901"/>
            <a:ext cx="1143006" cy="10886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3753"/>
            <a:ext cx="1427763" cy="35424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955775" y="2897012"/>
            <a:ext cx="9809856" cy="3960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나의 미래 모습을 상상하며 의미 있는 삶 계획하기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93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>
                <a:latin typeface="+mn-ea"/>
              </a:rPr>
              <a:t>에서 쓴 모습을 이루기 위한 계획을 세우고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바탕으로 미래의 나와 가상 인터뷰를 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40" name="그림 3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48706"/>
            <a:ext cx="487174" cy="4871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48706"/>
            <a:ext cx="1087577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88718" y="2897012"/>
            <a:ext cx="9519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기자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의미 있는 삶을 살기 위해 구체적으로 어떤 계획을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세웠나요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 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852551" y="3547306"/>
            <a:ext cx="8755827" cy="246092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911926" y="3559027"/>
            <a:ext cx="860996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고민이 있는 청소년들을 돕고 싶다는 생각을 늘 해 왔어요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200" dirty="0" smtClean="0">
                <a:solidFill>
                  <a:srgbClr val="0070C0"/>
                </a:solidFill>
                <a:latin typeface="+mn-ea"/>
              </a:rPr>
              <a:t>대학에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진학하여 심리학을 공부했어요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현재는 청소년들의 고민을 들어주며 상담하고 있어요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5" name="타원 34">
            <a:hlinkClick r:id="" action="ppaction://hlinkshowjump?jump=previousslide"/>
          </p:cNvPr>
          <p:cNvSpPr/>
          <p:nvPr/>
        </p:nvSpPr>
        <p:spPr>
          <a:xfrm>
            <a:off x="5368097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560872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50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53" y="5416614"/>
            <a:ext cx="1133338" cy="14413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" y="5533901"/>
            <a:ext cx="1143006" cy="10886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3753"/>
            <a:ext cx="1427763" cy="35424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955775" y="2897012"/>
            <a:ext cx="9809856" cy="3960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나의 미래 모습을 상상하며 의미 있는 삶 계획하기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93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>
                <a:latin typeface="+mn-ea"/>
              </a:rPr>
              <a:t>에서 쓴 모습을 이루기 위한 계획을 세우고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바탕으로 미래의 나와 가상 인터뷰를 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40" name="그림 3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48706"/>
            <a:ext cx="487174" cy="4871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48706"/>
            <a:ext cx="1087577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88718" y="2897012"/>
            <a:ext cx="9519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기자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spc="-150" dirty="0">
                <a:latin typeface="돋움" panose="020B0600000101010101" pitchFamily="50" charset="-127"/>
                <a:ea typeface="돋움" panose="020B0600000101010101" pitchFamily="50" charset="-127"/>
              </a:rPr>
              <a:t>그 계획을 이루기까지 가장 힘들었던 일은 무엇이었고</a:t>
            </a:r>
            <a:r>
              <a:rPr lang="en-US" altLang="ko-KR" sz="2000" spc="-15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spc="-150" dirty="0">
                <a:latin typeface="돋움" panose="020B0600000101010101" pitchFamily="50" charset="-127"/>
                <a:ea typeface="돋움" panose="020B0600000101010101" pitchFamily="50" charset="-127"/>
              </a:rPr>
              <a:t>이를 어떻게 </a:t>
            </a:r>
            <a:r>
              <a:rPr lang="ko-KR" altLang="en-US" sz="2000" spc="-150" dirty="0" err="1">
                <a:latin typeface="돋움" panose="020B0600000101010101" pitchFamily="50" charset="-127"/>
                <a:ea typeface="돋움" panose="020B0600000101010101" pitchFamily="50" charset="-127"/>
              </a:rPr>
              <a:t>극복하였나요</a:t>
            </a:r>
            <a:r>
              <a:rPr lang="en-US" altLang="ko-KR" sz="20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852551" y="3530279"/>
            <a:ext cx="8755827" cy="250238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타원 3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911926" y="3524304"/>
            <a:ext cx="860996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대학에서 심리학을 공부할 때 처음에는 포기하고 싶었어요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그러나 누군가를 돕기 위해서는 그 사람의 심정과 처지를 이해하는 것이 필요하다는 생각으로 포기하지 않고 학업을 마쳤어요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5" name="타원 34">
            <a:hlinkClick r:id="rId9" action="ppaction://hlinksldjump"/>
          </p:cNvPr>
          <p:cNvSpPr/>
          <p:nvPr/>
        </p:nvSpPr>
        <p:spPr>
          <a:xfrm>
            <a:off x="5368097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6560872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01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53" y="5416614"/>
            <a:ext cx="1133338" cy="14413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" y="5533901"/>
            <a:ext cx="1143006" cy="10886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3753"/>
            <a:ext cx="1427763" cy="35424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955775" y="2897012"/>
            <a:ext cx="9809856" cy="3960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나의 미래 모습을 상상하며 의미 있는 삶 계획하기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93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>
                <a:latin typeface="+mn-ea"/>
              </a:rPr>
              <a:t>에서 쓴 모습을 이루기 위한 계획을 세우고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바탕으로 미래의 나와 가상 인터뷰를 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40" name="그림 3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48706"/>
            <a:ext cx="487174" cy="4871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48706"/>
            <a:ext cx="1087577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88718" y="2897012"/>
            <a:ext cx="95196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기자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만약 과거로 돌아가 의미 있는 삶을 살기 위해 열심히 노력하는 ‘중학생의 나’를 만난다면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어떤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격려의 말을 전하고 싶나요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852551" y="4034941"/>
            <a:ext cx="8755827" cy="199772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타원 31">
            <a:hlinkClick r:id="rId9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" action="ppaction://hlinkshowjump?jump=previous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911926" y="4034941"/>
            <a:ext cx="8609962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너는 충분히 잘하고 있어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하루하루 순간순간을 헛되이 보내지 말고 주어진 일에 최선을 다했으면 좋겠어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!</a:t>
            </a:r>
            <a:endParaRPr lang="ko-KR" altLang="en-US" sz="22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5" name="타원 34">
            <a:hlinkClick r:id="rId10" action="ppaction://hlinksldjump"/>
          </p:cNvPr>
          <p:cNvSpPr/>
          <p:nvPr/>
        </p:nvSpPr>
        <p:spPr>
          <a:xfrm>
            <a:off x="5368097" y="626126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560872" y="6261267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6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44" grpId="0"/>
      <p:bldP spid="4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437" y="1613182"/>
            <a:ext cx="10591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의미 있는 삶의 중요성을 되새기며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의미 있는 삶을 살기 위한 나의 다짐을 써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하루하루 순간순간을 헛되이 보내지 말고 주어진 일에 최선을 다하며 살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83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마음의 평화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고통은 왜 생겨날까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삶의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어떤 사람은 삶을 무의미하게 보내고 후회하지만, 어떤 사람은 자신에게 주어진 한 번뿐인 삶의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의미 </a:t>
            </a:r>
            <a:r>
              <a:rPr sz="2400" b="0">
                <a:solidFill>
                  <a:srgbClr val="262626"/>
                </a:solidFill>
              </a:rPr>
              <a:t>를 찾기도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하루도 “오늘 동생에게 줄넘기를 가르쳤다”고 적으면 달라 보인다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삶의 의미를 찾는 찾아야 하는 까닭은?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사람은 삶을 무의미하게 보내고 후회하지만, 어떤 사람은 자신에게 주어진 한 번뿐인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찾기도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하루도 “오늘 동생에게 줄넘기를 가르쳤다”고 적으면 달라 보인다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삶의 의미를 찾는 찾아야 하는 까닭은?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사람은 삶을 무의미하게 보내고 후회하지만, 어떤 사람은 자신에게 주어진 한 번뿐인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찾기도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같은 하루도 “오늘 동생에게 줄넘기를 가르쳤다”고 적으면 달라 보인다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삶의 의미를 찾는 찾아야 하는 까닭은?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마지막 강의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2007년 9월 18일 · 미국 카네기멜런 대학교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사람 · 컴퓨터 공학 교수 랜디 포시, 췌장암으로 몇 달밖에 남지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제목 · 「어린 시절의 꿈을 진짜로 이루기」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내용 · 죽음이 아니라 꿈, 가족, 다른 사람의 꿈을 돕는 기쁨을 이야기했다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 뒤 · 영상은 수천만 번 넘게 보였고, 그는 2008년 7월 세상을 떠났다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남은 시간 앞에서 그는 왜 ‘꿈’을 이야기했을까?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2007년 9월 18일 · 미국 카네기멜런 대학교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 · 컴퓨터 공학 교수 랜디 포시, 췌장암으로 몇 달밖에 남지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제목 · 「어린 시절의 꿈을 진짜로 이루기」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내용 · 죽음이 아니라 꿈, 가족, 다른 사람의 꿈을 돕는 기쁨을 이야기했다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뒤 · 영상은 수천만 번 넘게 보였고, 그는 2008년 7월 세상을 떠났다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남은 시간 앞에서 그는 왜 ‘꿈’을 이야기했을까?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삶의 의미를 찾고 이를 추구할 때 우리는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어려움 </a:t>
            </a:r>
            <a:r>
              <a:rPr sz="2400" b="0">
                <a:solidFill>
                  <a:srgbClr val="262626"/>
                </a:solidFill>
              </a:rPr>
              <a:t>을 극복하는 힘을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빅터 프랭클은 수용소에서도 다시 만날 가족과 쓸 책을 생각하며 견뎠다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나아가 하루하루 의미 있는 삶을 살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삶의 의미를 찾고 이를 추구할 때 우리는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어려움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극복하는 힘을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빅터 프랭클은 수용소에서도 다시 만날 가족과 쓸 책을 생각하며 견뎠다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나아가 하루하루 의미 있는 삶을 살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삶의 의미를 찾고 이를 추구할 때 우리는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어려움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극복하는 힘을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빅터 프랭클은 수용소에서도 다시 만날 가족과 쓸 책을 생각하며 견뎠다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나아가 하루하루 의미 있는 삶을 살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의미 있는 삶을 살기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주체 </a:t>
            </a:r>
            <a:r>
              <a:rPr sz="2400" b="0">
                <a:solidFill>
                  <a:srgbClr val="262626"/>
                </a:solidFill>
              </a:rPr>
              <a:t>적인 태도를 지니려고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잘못된 관습을 무조건 받아들이기보다 자신이 원하는 삶의 목표를 세울 때 우리는 의미 있는 삶을 살아갈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주체적인 태도를 지니면 한계에 부닥쳐도 주저앉기보다 다시 일어나 삶을 더 의미 있게 만들어 나갈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자신이 하는 일에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긍정 </a:t>
            </a:r>
            <a:r>
              <a:rPr sz="2400" b="0">
                <a:solidFill>
                  <a:srgbClr val="262626"/>
                </a:solidFill>
              </a:rPr>
              <a:t>적인 의미를 부여하려고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의미 있는 삶을 살려면 어떤 일을 하는지도 중요하지만, 내가 하는 일을 어떻게 대하는지도 중요함.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청소도 “우리 반을 위한 일”이라 여기면 보람이 커진다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주체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태도를 지니려고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잘못된 관습을 무조건 받아들이기보다 자신이 원하는 삶의 목표를 세울 때 우리는 의미 있는 삶을 살아갈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주체적인 태도를 지니면 한계에 부닥쳐도 주저앉기보다 다시 일어나 삶을 더 의미 있게 만들어 나갈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하는 일에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의미를 부여하려고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의미 있는 삶을 살려면 어떤 일을 하는지도 중요하지만, 내가 하는 일을 어떻게 대하는지도 중요함.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청소도 “우리 반을 위한 일”이라 여기면 보람이 커진다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태도를 지니려고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잘못된 관습을 무조건 받아들이기보다 자신이 원하는 삶의 목표를 세울 때 우리는 의미 있는 삶을 살아갈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주체적인 태도를 지니면 한계에 부닥쳐도 주저앉기보다 다시 일어나 삶을 더 의미 있게 만들어 나갈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하는 일에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의미를 부여하려고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의미 있는 삶을 살려면 어떤 일을 하는지도 중요하지만, 내가 하는 일을 어떻게 대하는지도 중요함.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청소도 “우리 반을 위한 일”이라 여기면 보람이 커진다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태도를 지니려고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잘못된 관습을 무조건 받아들이기보다 자신이 원하는 삶의 목표를 세울 때 우리는 의미 있는 삶을 살아갈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주체적인 태도를 지니면 한계에 부닥쳐도 주저앉기보다 다시 일어나 삶을 더 의미 있게 만들어 나갈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하는 일에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의미를 부여하려고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의미 있는 삶을 살려면 어떤 일을 하는지도 중요하지만, 내가 하는 일을 어떻게 대하는지도 중요함.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같은 청소도 “우리 반을 위한 일”이라 여기면 보람이 커진다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 dirty="0" smtClean="0">
                <a:solidFill>
                  <a:srgbClr val="FFFF00"/>
                </a:solidFill>
                <a:latin typeface="+mn-ea"/>
              </a:rPr>
              <a:t>의미 있는 삶을 살기 위한 노력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자신이 하는 일에 긍정적인 의미가 있다고 여길 때 우리는 더 큰 보람과 만족감을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진리, 선함, 아름다움, 성스러움 등의 바람직한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 </a:t>
            </a:r>
            <a:r>
              <a:rPr sz="2400" b="0">
                <a:solidFill>
                  <a:srgbClr val="262626"/>
                </a:solidFill>
              </a:rPr>
              <a:t>를 추구할 때 더 의미 있는 삶을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과학자의 실험, 봉사자의 손길, 화가의 그림, 기도하는 마음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하는 일에 긍정적인 의미가 있다고 여길 때 우리는 더 큰 보람과 만족감을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진리, 선함, 아름다움, 성스러움 등의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추구할 때 더 의미 있는 삶을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과학자의 실험, 봉사자의 손길, 화가의 그림, 기도하는 마음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하는 일에 긍정적인 의미가 있다고 여길 때 우리는 더 큰 보람과 만족감을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진리, 선함, 아름다움, 성스러움 등의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추구할 때 더 의미 있는 삶을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과학자의 실험, 봉사자의 손길, 화가의 그림, 기도하는 마음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“벽은 우리를 막으려고 있는 게 아니다. 우리가 그것을 얼마나 간절히 원하는지 보여 줄 기회를 주려고 있다”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랜디 포시, 「마지막 강의」(2007)의 뜻을 풀어 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버킷 리스트 세 가지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😊 · 나를 위한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👨‍👩‍👧 · 함께하는 사람을 위한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🌏 · 세상을 위한 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삶에서 의미를 찾는 사람들은 절망적인 상황에서도 희망을 잃지 않을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주체적인 태도를 지니면 한계에 부닥쳐도 포기하지 않고 삶을 의미 있게 만들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의미 있는 삶을 살려면 사회의 관습에 맞는 삶의 목표만을 세워야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의미 있는 삶을 살려면 자신이 하는 일에 어떤 의미도 부여해서는 안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인간은 학문, 도덕, 예술, 종교 등의 분야에서 바람직한 가치를 추구하며 삶을 더 풍요롭고 의미 있게 발전시켜 왔다.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노력일까?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진리를 탐구하는 과학자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아름다운 작품을 만드는 예술가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/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진리를 탐구하는 과학자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아름다운 작품을 만드는 예술가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/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진리를 탐구하는 과학자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아름다운 작품을 만드는 예술가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진리를 탐구하는 과학자</a:t>
            </a:r>
            <a:r>
              <a:rPr sz="2300" b="1">
                <a:solidFill>
                  <a:srgbClr val="C0392B"/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아름다운 작품을 만드는 예술가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진리를 탐구하는 과학자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아름다운 작품을 만드는 예술가</a:t>
            </a:r>
            <a:r>
              <a:rPr sz="2300" b="1">
                <a:solidFill>
                  <a:srgbClr val="C0392B"/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주체적인 태도 · 긍정적인 의미 부여 · 바람직한 가치 추구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무장 세력에 굴하지 않고 교육권을 외친 말랄라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주체적인 태도 (주체적 태도)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청소도 “여행을 완성하는 일”이라고 여기는 청소 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긍정적인 의미 부여 (긍정적 의미)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진리를 탐구하는 과학자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(진(眞))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아름다운 작품을 만드는 예술가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가치 추구 (미(美))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남들이 다 하는 진로 대신 내가 원하는 목표를 세웠다</a:t>
            </a:r>
            <a:r>
              <a:rPr sz="2300" b="1">
                <a:solidFill>
                  <a:srgbClr val="C0392B"/>
                </a:solidFill>
              </a:rPr>
              <a:t>   → 주체적인 태도 (주체성)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미래의 나와 가상 인터뷰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의미 있는 삶을 살려면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삶이 의미 있다고 생각하나요?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다른 생명과 함께 살아갈 지구를 지키는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구체적인 계획은?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환경 공학을 공부하고 일회용품 줄이기 동아리를 만든다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가장 힘들었던 일과 극복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사람들이 관심을 갖지 않을 때, 작은 캠페인부터 꾸준히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중학생의 나에게 격려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작은 실천이 쌓여 큰 변화가 돼!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삶이 의미 있다고 생각하나요?</a:t>
            </a:r>
            <a:r>
              <a:rPr sz="2300" b="1">
                <a:solidFill>
                  <a:srgbClr val="C0392B"/>
                </a:solidFill>
              </a:rPr>
              <a:t>   예) 다른 생명과 함께 살아갈 지구를 지키는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구체적인 계획은?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환경 공학을 공부하고 일회용품 줄이기 동아리를 만든다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힘들었던 일과 극복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사람들이 관심을 갖지 않을 때, 작은 캠페인부터 꾸준히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중학생의 나에게 격려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작은 실천이 쌓여 큰 변화가 돼!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삶이 의미 있다고 생각하나요?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다른 생명과 함께 살아갈 지구를 지키는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구체적인 계획은?</a:t>
            </a:r>
            <a:r>
              <a:rPr sz="2300" b="1">
                <a:solidFill>
                  <a:srgbClr val="C0392B"/>
                </a:solidFill>
              </a:rPr>
              <a:t>   예) 환경 공학을 공부하고 일회용품 줄이기 동아리를 만든다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힘들었던 일과 극복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사람들이 관심을 갖지 않을 때, 작은 캠페인부터 꾸준히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중학생의 나에게 격려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작은 실천이 쌓여 큰 변화가 돼!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삶이 의미 있다고 생각하나요?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다른 생명과 함께 살아갈 지구를 지키는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구체적인 계획은?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환경 공학을 공부하고 일회용품 줄이기 동아리를 만든다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힘들었던 일과 극복 방법</a:t>
            </a:r>
            <a:r>
              <a:rPr sz="2300" b="1">
                <a:solidFill>
                  <a:srgbClr val="C0392B"/>
                </a:solidFill>
              </a:rPr>
              <a:t>   예) 사람들이 관심을 갖지 않을 때, 작은 캠페인부터 꾸준히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중학생의 나에게 격려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작은 실천이 쌓여 큰 변화가 돼!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삶이 의미 있다고 생각하나요?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다른 생명과 함께 살아갈 지구를 지키는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구체적인 계획은?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환경 공학을 공부하고 일회용품 줄이기 동아리를 만든다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힘들었던 일과 극복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사람들이 관심을 갖지 않을 때, 작은 캠페인부터 꾸준히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중학생의 나에게 격려</a:t>
            </a:r>
            <a:r>
              <a:rPr sz="2300" b="1">
                <a:solidFill>
                  <a:srgbClr val="C0392B"/>
                </a:solidFill>
              </a:rPr>
              <a:t>   예) 작은 실천이 쌓여 큰 변화가 돼!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8547</TotalTime>
  <Words>1805</Words>
  <Application>Microsoft Office PowerPoint</Application>
  <PresentationFormat>와이드스크린</PresentationFormat>
  <Paragraphs>277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170</cp:revision>
  <cp:lastPrinted>2024-06-05T04:53:22Z</cp:lastPrinted>
  <dcterms:created xsi:type="dcterms:W3CDTF">2023-10-31T05:50:03Z</dcterms:created>
  <dcterms:modified xsi:type="dcterms:W3CDTF">2025-01-14T02:13:40Z</dcterms:modified>
</cp:coreProperties>
</file>