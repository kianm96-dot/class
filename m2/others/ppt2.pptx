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8"/>
  </p:notesMasterIdLst>
  <p:handoutMasterIdLst>
    <p:handoutMasterId r:id="rId29"/>
  </p:handoutMasterIdLst>
  <p:sldIdLst>
    <p:sldId id="302" r:id="rId2"/>
    <p:sldId id="301" r:id="rId3"/>
    <p:sldId id="258" r:id="rId4"/>
    <p:sldId id="396" r:id="rId5"/>
    <p:sldId id="305" r:id="rId6"/>
    <p:sldId id="306" r:id="rId7"/>
    <p:sldId id="270" r:id="rId8"/>
    <p:sldId id="397" r:id="rId9"/>
    <p:sldId id="398" r:id="rId10"/>
    <p:sldId id="401" r:id="rId11"/>
    <p:sldId id="402" r:id="rId12"/>
    <p:sldId id="403" r:id="rId13"/>
    <p:sldId id="400" r:id="rId14"/>
    <p:sldId id="404" r:id="rId15"/>
    <p:sldId id="405" r:id="rId16"/>
    <p:sldId id="418" r:id="rId35"/>
    <p:sldId id="419" r:id="rId36"/>
    <p:sldId id="406" r:id="rId17"/>
    <p:sldId id="407" r:id="rId18"/>
    <p:sldId id="408" r:id="rId19"/>
    <p:sldId id="409" r:id="rId20"/>
    <p:sldId id="420" r:id="rId37"/>
    <p:sldId id="421" r:id="rId38"/>
    <p:sldId id="422" r:id="rId39"/>
    <p:sldId id="411" r:id="rId21"/>
    <p:sldId id="412" r:id="rId22"/>
    <p:sldId id="413" r:id="rId23"/>
    <p:sldId id="417" r:id="rId24"/>
    <p:sldId id="414" r:id="rId25"/>
    <p:sldId id="415" r:id="rId26"/>
    <p:sldId id="423" r:id="rId40"/>
    <p:sldId id="424" r:id="rId41"/>
    <p:sldId id="425" r:id="rId42"/>
    <p:sldId id="426" r:id="rId43"/>
    <p:sldId id="380" r:id="rId2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9E8"/>
    <a:srgbClr val="D1CFCF"/>
    <a:srgbClr val="94655A"/>
    <a:srgbClr val="C3EAE5"/>
    <a:srgbClr val="D9E1E9"/>
    <a:srgbClr val="EFF7EB"/>
    <a:srgbClr val="FFF7EE"/>
    <a:srgbClr val="FF9300"/>
    <a:srgbClr val="FFFF00"/>
    <a:srgbClr val="E8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3" autoAdjust="0"/>
    <p:restoredTop sz="96242" autoAdjust="0"/>
  </p:normalViewPr>
  <p:slideViewPr>
    <p:cSldViewPr snapToGrid="0">
      <p:cViewPr varScale="1">
        <p:scale>
          <a:sx n="85" d="100"/>
          <a:sy n="85" d="100"/>
        </p:scale>
        <p:origin x="102" y="27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87쪽 만화</a:t>
            </a:r>
          </a:p>
          <a:p>
            <a:r>
              <a:t>앞을 보지 못하는 사람이 등불을 들고 다닌 까닭: “이 등불은 나를 위한 것이 아니라 당신이 나와 부딪히지 않게 하려는 것입니다.”(『침묵은 말한다』)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공감 교육</a:t>
            </a:r>
          </a:p>
          <a:p>
            <a:r>
              <a:t>‘공감의 뿌리’는 캐나다에서 시작해 여러 나라로 퍼졌다. 공감은 타고나는 것만이 아니라 기를 수 있는 능력.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공감의 말</a:t>
            </a:r>
          </a:p>
          <a:p>
            <a:r>
              <a:t>A는 위로하려는 마음이지만 빨리 기분을 바꾸려 한다. B는 감정을 먼저 알아주는 말. 공감은 해결보다 알아주기가 먼저.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사의재기(四宜齋記)</a:t>
            </a:r>
          </a:p>
          <a:p>
            <a:r>
              <a:t>“생각은 맑아야 하니 맑지 않으면 곧 맑게 하고, 용모는 단정해야 하니… 말은 적어야 하니… 행동은 무거워야 하니…”(『여유당전서』의 뜻을 풀어 씀). 활동 화면 2에서 나만의 ‘사의’를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가치와 덕목을 구분하고, 공감 이모티콘으로 소통해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가치와 덕목을 구분하고, 공감 이모티콘으로 소통해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가치와 덕목을 구분하고, 공감 이모티콘으로 소통해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2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3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관계적 존재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타인과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어울려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살려면 어떻게 해야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1790182"/>
            <a:ext cx="10293350" cy="1573773"/>
            <a:chOff x="914400" y="2362199"/>
            <a:chExt cx="10293350" cy="1573773"/>
          </a:xfrm>
        </p:grpSpPr>
        <p:sp>
          <p:nvSpPr>
            <p:cNvPr id="22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24675"/>
            <a:ext cx="97112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타인과의 관계에서 필요한 가치와 덕목을 바탕으로 자신의 삶을 성찰할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3700470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712345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타인의 생각과 </a:t>
            </a:r>
            <a:r>
              <a:rPr lang="ko-KR" altLang="en-US" sz="2800" b="1" dirty="0">
                <a:solidFill>
                  <a:prstClr val="black"/>
                </a:solidFill>
              </a:rPr>
              <a:t>감정에 공감하며 소통할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2" name="타원 21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" y="1704726"/>
            <a:ext cx="4667250" cy="39909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232" y="1846337"/>
            <a:ext cx="5857875" cy="419100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0001250" y="1846336"/>
            <a:ext cx="1138857" cy="321451"/>
          </a:xfrm>
          <a:prstGeom prst="rect">
            <a:avLst/>
          </a:prstGeom>
          <a:solidFill>
            <a:srgbClr val="C3EA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1250" y="2167788"/>
            <a:ext cx="1138857" cy="282341"/>
          </a:xfrm>
          <a:prstGeom prst="rect">
            <a:avLst/>
          </a:prstGeom>
          <a:solidFill>
            <a:srgbClr val="946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236295" y="1478278"/>
            <a:ext cx="5903812" cy="4876699"/>
            <a:chOff x="5236295" y="1460432"/>
            <a:chExt cx="5903812" cy="487669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36295" y="1460432"/>
              <a:ext cx="5903812" cy="4876699"/>
            </a:xfrm>
            <a:prstGeom prst="rect">
              <a:avLst/>
            </a:prstGeom>
          </p:spPr>
        </p:pic>
        <p:sp>
          <p:nvSpPr>
            <p:cNvPr id="29" name="직사각형 28"/>
            <p:cNvSpPr/>
            <p:nvPr/>
          </p:nvSpPr>
          <p:spPr>
            <a:xfrm>
              <a:off x="5236296" y="3815586"/>
              <a:ext cx="292968" cy="484947"/>
            </a:xfrm>
            <a:prstGeom prst="rect">
              <a:avLst/>
            </a:prstGeom>
            <a:solidFill>
              <a:srgbClr val="F0F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444" y="6060182"/>
            <a:ext cx="4709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한국 교육 방송 공사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</a:p>
          <a:p>
            <a:pPr algn="r"/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지식 채널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e: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생쥐 아파트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684361" y="1478278"/>
            <a:ext cx="4200284" cy="4841006"/>
            <a:chOff x="566781" y="1468688"/>
            <a:chExt cx="4200284" cy="484100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6781" y="1468688"/>
              <a:ext cx="4200284" cy="4841006"/>
            </a:xfrm>
            <a:prstGeom prst="rect">
              <a:avLst/>
            </a:prstGeom>
          </p:spPr>
        </p:pic>
        <p:sp>
          <p:nvSpPr>
            <p:cNvPr id="28" name="직사각형 27"/>
            <p:cNvSpPr/>
            <p:nvPr/>
          </p:nvSpPr>
          <p:spPr>
            <a:xfrm>
              <a:off x="3628208" y="1468688"/>
              <a:ext cx="1138857" cy="321451"/>
            </a:xfrm>
            <a:prstGeom prst="rect">
              <a:avLst/>
            </a:prstGeom>
            <a:solidFill>
              <a:srgbClr val="D1CF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44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26146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325646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샤프만은 경찰관이 자신에게 건넨 따뜻한 말 한마디를 계기로 변화하였다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샤프만은 타인을 배려하는 말 한마디의 힘을 깨닫고 배려와 사랑이 가득한 세상을 보여 주는 동화 작가가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샤프만이 변화하게 된 계기를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6697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6970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3214389"/>
            <a:ext cx="4239491" cy="3643611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3870" y="1596520"/>
            <a:ext cx="704803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민수는 등굣길에 같은 반 친구 설아를 만나 반갑게 인사하였다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설아는 민수를 흘깃 쳐다보고는 인사도 없이 다른 친구와 이야기하며 지나갔다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마음이 상한 민수는 나중에 설아를 만나 “설아야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아까 내가 인사했는데 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무시했니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물었다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그러자 설아는 “친구 사이에 인사를 무시할 수도 있지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너한테 그렇게까지 예의를 지켜야 하니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대답하였다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내가 민수라면 기분이 어땠을지 생각해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타인과의 관계에서 존중과 예의가 필요한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90874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90874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10805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31674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민수라면 설아가 자신을 무시한다고 느껴서 서운하고 속상했을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나를 예의 있게 대하지 않고 존중하지 않는 사람과는 원만히 지내기 어렵다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따라서 타인과의 관계에서는 존중과 예의가 필요하다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오늘 하루 타인을 어떻게 대했는지 성찰해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존중과 예의를 실천하려면 앞으로 어떤 노력을 해야 할지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90874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90874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10805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31674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아침에 엄마에게 괜히 짜증을 부리고 인사도 없이 등교하였다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엄마의 처지였다면 자식에게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존중 받지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못해서 너무 속상했을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타인을 대할 때는 말이나 행동을 하기 전에 상대방의 마음이 어떨지 생각해 보며 기본적인 예의를 지킬 것이다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566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4944" y="1257157"/>
            <a:ext cx="7750652" cy="54001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250" y="5861002"/>
            <a:ext cx="52438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바바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하리 다스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침묵은 말한다</a:t>
            </a:r>
            <a:r>
              <a:rPr lang="en-US" altLang="ko-KR" dirty="0"/>
              <a:t>》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5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935717"/>
            <a:ext cx="3554569" cy="3922283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6976" y="1596520"/>
            <a:ext cx="772492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크리스마스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전날 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산타는 모든 아이에게 선물을 나누어 주고 집에 돌아왔다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아뿔싸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선물 하나가 자루에 남아 있는 것이 아닌가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 선물은 산골 마을의 가난한 아이를 위한 것이었다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산타는 몹시 지쳤고 순록마저 병이 나서 산타를 산골까지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데려다 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 없었다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산타는 선물을 받지 못해 실망할 아이를 걱정하며 아이에게 선물을 주려고 험난한 길을 떠났다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다음 날 아침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아이는 올해도 어김없이 놓인 선물을 발견하고 행복한 크리스마스를 맞이하였다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존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버닝햄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크리스마스 선물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391994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79647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윗글의 산타처럼 타인을 위해 책임을 다한 경험이 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00170"/>
            <a:ext cx="10293350" cy="164244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2103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우리 집에서 내가 맡은 일은 화분에 물 주기이다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나는 내가 맡은 일에 책임을 다하기 위해 귀찮고 피곤해도 화분에 물 주기를 잊지 않는다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65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102515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en-US" altLang="ko-KR" sz="2000" b="1" dirty="0">
                <a:latin typeface="+mn-ea"/>
              </a:rPr>
              <a:t>1</a:t>
            </a:r>
            <a:r>
              <a:rPr lang="ko-KR" altLang="en-US" sz="2000" b="1" dirty="0">
                <a:latin typeface="+mn-ea"/>
              </a:rPr>
              <a:t>을 바탕으로 자신이 책임감이 있고 믿을 만한 사람인지 생각하여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79005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79005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798936"/>
            <a:ext cx="10293350" cy="212932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19805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책임을 다하는 덕분에 부모님은 화분이 시들까 봐 걱정하지 않으신다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이런 점에서 나는 책임감이 있고 신뢰할 만한 사람이라고 생각한다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276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존중과 예의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존중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누군가를 </a:t>
            </a:r>
            <a:r>
              <a:rPr lang="ko-KR" altLang="en-US" sz="2400" dirty="0">
                <a:latin typeface="+mn-ea"/>
              </a:rPr>
              <a:t>존중한다는 것은 그 사람을 함부로 대하지 않고 귀하게 대한다는 것을 </a:t>
            </a:r>
            <a:r>
              <a:rPr lang="ko-KR" altLang="en-US" sz="2400" dirty="0" smtClean="0">
                <a:latin typeface="+mn-ea"/>
              </a:rPr>
              <a:t>의미함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예의</a:t>
            </a:r>
            <a:r>
              <a:rPr lang="en-US" altLang="ko-KR" sz="2400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예의는 </a:t>
            </a:r>
            <a:r>
              <a:rPr lang="ko-KR" altLang="en-US" sz="2400" dirty="0">
                <a:latin typeface="+mn-ea"/>
              </a:rPr>
              <a:t>상대방에게 존중을 표현하는 </a:t>
            </a:r>
            <a:r>
              <a:rPr lang="ko-KR" altLang="en-US" sz="2400" dirty="0" smtClean="0">
                <a:latin typeface="+mn-ea"/>
              </a:rPr>
              <a:t>방법임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우리는 </a:t>
            </a:r>
            <a:r>
              <a:rPr lang="ko-KR" altLang="en-US" sz="2400" dirty="0">
                <a:latin typeface="+mn-ea"/>
              </a:rPr>
              <a:t>타인을 존중하고 예의 있게 대할 때 </a:t>
            </a:r>
            <a:r>
              <a:rPr lang="ko-KR" altLang="en-US" sz="2400" dirty="0" smtClean="0">
                <a:latin typeface="+mn-ea"/>
              </a:rPr>
              <a:t>타인과 잘 </a:t>
            </a:r>
            <a:r>
              <a:rPr lang="ko-KR" altLang="en-US" sz="2400" dirty="0">
                <a:latin typeface="+mn-ea"/>
              </a:rPr>
              <a:t>어울려 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타인과의 관계에서 필요한 가치와 덕목 탐구하기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4635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관심과 배려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타인에게 따뜻한 관심을 기울이고 배려를 실천하면 타인과의 관계를 돈독하게 만들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반면 </a:t>
            </a:r>
            <a:r>
              <a:rPr lang="ko-KR" altLang="en-US" sz="2400" dirty="0">
                <a:latin typeface="+mn-ea"/>
              </a:rPr>
              <a:t>타인에 대한 관심과 배려가 부족하면 다툼이 쉽게 생길 수 있고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사람들과 원만한 관계를 </a:t>
            </a:r>
            <a:r>
              <a:rPr lang="ko-KR" altLang="en-US" sz="2400" dirty="0" smtClean="0">
                <a:latin typeface="+mn-ea"/>
              </a:rPr>
              <a:t>유지하기 </a:t>
            </a:r>
            <a:r>
              <a:rPr lang="ko-KR" altLang="en-US" sz="2400" dirty="0">
                <a:latin typeface="+mn-ea"/>
              </a:rPr>
              <a:t>어려울 수도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따라서 </a:t>
            </a:r>
            <a:r>
              <a:rPr lang="ko-KR" altLang="en-US" sz="2400" dirty="0">
                <a:latin typeface="+mn-ea"/>
              </a:rPr>
              <a:t>우리는 타인에게 관심을 기울여 필요한 것이 무엇인지 헤아리고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타인을 배려하려고 노력해야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타인과의 관계에서 필요한 가치와 덕목 탐구하기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27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책임과 신뢰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타인과 한 </a:t>
            </a:r>
            <a:r>
              <a:rPr lang="ko-KR" altLang="en-US" sz="2400" dirty="0">
                <a:latin typeface="+mn-ea"/>
              </a:rPr>
              <a:t>약속을 지키지 않거나 자신이 맡은 바 책임을 다하지 않고 무책임한 행동을 반복하는 사람은 신뢰하기 어렵고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그러한 사람과는 관계를 유지하기 </a:t>
            </a:r>
            <a:r>
              <a:rPr lang="ko-KR" altLang="en-US" sz="2400" dirty="0" smtClean="0">
                <a:latin typeface="+mn-ea"/>
              </a:rPr>
              <a:t>힘듦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그러므로 우리는 자신의 책임을 다하고 타인과의 관계에서 신뢰를 쌓고자 노력 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타인과의 관계에서 필요한 가치와 덕목 탐구하기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타원 20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4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75678"/>
            <a:ext cx="11732316" cy="391077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0686369" y="4086225"/>
            <a:ext cx="1086534" cy="178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36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320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수민이와</a:t>
            </a:r>
            <a:r>
              <a:rPr lang="ko-KR" altLang="en-US" sz="2000" b="1" dirty="0">
                <a:latin typeface="+mn-ea"/>
              </a:rPr>
              <a:t> 아주머니가 서로 공감하며 소통할 수 있었던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00170"/>
            <a:ext cx="10293350" cy="164244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2103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상대방의 상황에 관심을 기울이고 상대방의 처지에서 생각해 보며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진심을 담아 공감을 표현했기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6295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타인에게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주의 기울이기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타인과 </a:t>
            </a:r>
            <a:r>
              <a:rPr lang="ko-KR" altLang="en-US" sz="2400" dirty="0">
                <a:latin typeface="+mn-ea"/>
              </a:rPr>
              <a:t>공감하며 소통하기 위해서는 상대방이 어떤 상황에 처해 있는지 주의 깊게 살펴야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타인의 처지에서 생각하기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타인과 </a:t>
            </a:r>
            <a:r>
              <a:rPr lang="ko-KR" altLang="en-US" sz="2400" dirty="0">
                <a:latin typeface="+mn-ea"/>
              </a:rPr>
              <a:t>공감하며 </a:t>
            </a:r>
            <a:r>
              <a:rPr lang="ko-KR" altLang="en-US" sz="2400" dirty="0" smtClean="0">
                <a:latin typeface="+mn-ea"/>
              </a:rPr>
              <a:t>소통하려면 </a:t>
            </a:r>
            <a:r>
              <a:rPr lang="ko-KR" altLang="en-US" sz="2400" dirty="0">
                <a:latin typeface="+mn-ea"/>
              </a:rPr>
              <a:t>내가 상대방의 처지에 놓이면 어떠할지 생각해 보며 그 사람의 마음을 헤아려야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타인과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공감하며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소통하기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57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진심으로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공감 표현하기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진심 없이 말로만 공감을 표현하면 오히려 상대방의 감정을 상하게 하거나 상대방과 관계가 멀어질 </a:t>
            </a:r>
            <a:r>
              <a:rPr lang="ko-KR" altLang="en-US" sz="2400" dirty="0" smtClean="0">
                <a:latin typeface="+mn-ea"/>
              </a:rPr>
              <a:t>수 있으므로 </a:t>
            </a:r>
            <a:r>
              <a:rPr lang="ko-KR" altLang="en-US" sz="2400" dirty="0">
                <a:latin typeface="+mn-ea"/>
              </a:rPr>
              <a:t>타인과 소통할 때는 진심 어린 태도로 공감을 표현해야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타인과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공감하며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소통하기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470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latin typeface="+mn-ea"/>
              </a:rPr>
              <a:t>‘</a:t>
            </a:r>
            <a:r>
              <a:rPr lang="ko-KR" altLang="en-US" sz="2000" b="1" dirty="0">
                <a:latin typeface="+mn-ea"/>
              </a:rPr>
              <a:t>공감하며 소통하기</a:t>
            </a:r>
            <a:r>
              <a:rPr lang="en-US" altLang="ko-KR" sz="2000" b="1" dirty="0">
                <a:latin typeface="+mn-ea"/>
              </a:rPr>
              <a:t>’</a:t>
            </a:r>
            <a:r>
              <a:rPr lang="ko-KR" altLang="en-US" sz="2000" b="1" dirty="0">
                <a:latin typeface="+mn-ea"/>
              </a:rPr>
              <a:t>와 관련된 </a:t>
            </a:r>
            <a:r>
              <a:rPr lang="ko-KR" altLang="en-US" sz="2000" b="1" dirty="0" err="1">
                <a:latin typeface="+mn-ea"/>
              </a:rPr>
              <a:t>이모티콘을</a:t>
            </a:r>
            <a:r>
              <a:rPr lang="ko-KR" altLang="en-US" sz="2000" b="1" dirty="0">
                <a:latin typeface="+mn-ea"/>
              </a:rPr>
              <a:t> 만들고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학급 친구들과 공유해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이모티콘을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만들어 공감하며 소통하기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9524" y="2303813"/>
            <a:ext cx="7108827" cy="4218011"/>
          </a:xfrm>
          <a:prstGeom prst="rect">
            <a:avLst/>
          </a:prstGeom>
          <a:noFill/>
          <a:ln w="19050">
            <a:solidFill>
              <a:srgbClr val="D9E1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650" y="3385630"/>
            <a:ext cx="4665209" cy="2876154"/>
          </a:xfrm>
          <a:prstGeom prst="rect">
            <a:avLst/>
          </a:prstGeom>
        </p:spPr>
      </p:pic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6789" y="2369007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29313" y="2369007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55" y="2410535"/>
            <a:ext cx="2165144" cy="48443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217026" y="2369061"/>
            <a:ext cx="1282388" cy="495431"/>
            <a:chOff x="10075659" y="2003022"/>
            <a:chExt cx="1178665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72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470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 err="1">
                <a:latin typeface="+mn-ea"/>
              </a:rPr>
              <a:t>모둠별로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latin typeface="+mn-ea"/>
              </a:rPr>
              <a:t>‘</a:t>
            </a:r>
            <a:r>
              <a:rPr lang="ko-KR" altLang="en-US" sz="2000" b="1" dirty="0">
                <a:latin typeface="+mn-ea"/>
              </a:rPr>
              <a:t>공감하며 소통하기</a:t>
            </a:r>
            <a:r>
              <a:rPr lang="en-US" altLang="ko-KR" sz="2000" b="1" dirty="0">
                <a:latin typeface="+mn-ea"/>
              </a:rPr>
              <a:t>’</a:t>
            </a:r>
            <a:r>
              <a:rPr lang="ko-KR" altLang="en-US" sz="2000" b="1" dirty="0">
                <a:latin typeface="+mn-ea"/>
              </a:rPr>
              <a:t>와 관련된 </a:t>
            </a:r>
            <a:r>
              <a:rPr lang="ko-KR" altLang="en-US" sz="2000" b="1" dirty="0" err="1">
                <a:latin typeface="+mn-ea"/>
              </a:rPr>
              <a:t>이모티콘을</a:t>
            </a:r>
            <a:r>
              <a:rPr lang="ko-KR" altLang="en-US" sz="2000" b="1" dirty="0">
                <a:latin typeface="+mn-ea"/>
              </a:rPr>
              <a:t> 만들고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학급 친구들과 공유해 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이모티콘을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만들어 공감하며 소통하기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79524" y="2303813"/>
            <a:ext cx="7108827" cy="4643252"/>
          </a:xfrm>
          <a:prstGeom prst="rect">
            <a:avLst/>
          </a:prstGeom>
          <a:noFill/>
          <a:ln w="19050">
            <a:solidFill>
              <a:srgbClr val="D9E1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650" y="3385630"/>
            <a:ext cx="4665209" cy="2876154"/>
          </a:xfrm>
          <a:prstGeom prst="rect">
            <a:avLst/>
          </a:prstGeom>
        </p:spPr>
      </p:pic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6789" y="2369007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29313" y="2369007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55" y="2410535"/>
            <a:ext cx="2165144" cy="48443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217026" y="2369061"/>
            <a:ext cx="1282388" cy="495431"/>
            <a:chOff x="10075659" y="2003022"/>
            <a:chExt cx="1178665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44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5" name="그림 44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22055" y="2016924"/>
            <a:ext cx="10913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이모티콘은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타인에게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주의 기울이기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타인의 처지에서 생각하기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진심으로 공감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표현하기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의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내용을 담아 만들어요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직접 그리거나 멀티미디어 기기를 활용해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이모티콘을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만들어요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32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346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/>
              <a:t>에서 만든 </a:t>
            </a:r>
            <a:r>
              <a:rPr lang="ko-KR" altLang="en-US" sz="2000" b="1" dirty="0" err="1"/>
              <a:t>이모티콘을</a:t>
            </a:r>
            <a:r>
              <a:rPr lang="ko-KR" altLang="en-US" sz="2000" b="1" dirty="0"/>
              <a:t> 활용해 누리 </a:t>
            </a:r>
            <a:r>
              <a:rPr lang="ko-KR" altLang="en-US" sz="2000" b="1" dirty="0" err="1"/>
              <a:t>소통망에서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‘</a:t>
            </a:r>
            <a:r>
              <a:rPr lang="ko-KR" altLang="en-US" sz="2000" b="1" dirty="0"/>
              <a:t>우리 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고민거리</a:t>
            </a:r>
            <a:r>
              <a:rPr lang="en-US" altLang="ko-KR" sz="2000" b="1" dirty="0"/>
              <a:t>’</a:t>
            </a:r>
            <a:r>
              <a:rPr lang="ko-KR" altLang="en-US" sz="2000" b="1" dirty="0"/>
              <a:t>를 주제로 소통해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FF9300"/>
                </a:solidFill>
                <a:latin typeface="+mj-ea"/>
                <a:ea typeface="+mj-ea"/>
              </a:rPr>
              <a:t>이모티콘을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 만들어 공감하며 소통하기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824096" y="2314654"/>
            <a:ext cx="9412434" cy="4540946"/>
            <a:chOff x="824096" y="2314654"/>
            <a:chExt cx="9412434" cy="454094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50279" y="2314654"/>
              <a:ext cx="8586251" cy="4540946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6115792" y="2529444"/>
              <a:ext cx="3752603" cy="1472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824096" y="6512283"/>
              <a:ext cx="1474520" cy="343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280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가치와 덕목을 잘 실천하고 있는지 스스로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앞으로 타인과 공감하며 소통하기 위해 노력할 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타인과 소통할 때 상대방에게 주의를 기울이고 그 사람의 처지에서 생각해 보아야겠다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 진심으로 공감을 표현하려고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노력할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604964" y="2854762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887942"/>
            <a:ext cx="245274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존중과 예의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68296" y="2898700"/>
            <a:ext cx="2452744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관심과 배려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87494" y="2890788"/>
            <a:ext cx="2978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책임과 신뢰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214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567116" y="1468688"/>
            <a:ext cx="8934720" cy="5221697"/>
            <a:chOff x="1737360" y="1605498"/>
            <a:chExt cx="8551021" cy="499256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37360" y="1605498"/>
              <a:ext cx="8551021" cy="4992562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1883695" y="5791276"/>
              <a:ext cx="2723931" cy="7046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737360" y="1605498"/>
              <a:ext cx="1100843" cy="309027"/>
            </a:xfrm>
            <a:prstGeom prst="rect">
              <a:avLst/>
            </a:prstGeom>
            <a:solidFill>
              <a:srgbClr val="D7DE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타인을 잘 배려하려면 어떻게 해야 할까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3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3" y="3443110"/>
            <a:ext cx="2996017" cy="3414890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56955" y="1596520"/>
            <a:ext cx="868683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무엇보다 ‘서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恕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)’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로써 타인을 대해야 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서’는 내가 그 사람이라면 어떤 대우를 받고 싶지 않을지 헤아려서 그 사람을 대하는 것을 뜻해요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형을 대할 때는 내가 형이라면 동생에게서 어떤 대우를 받고 싶지 않을지 헤아려서 형을 대해야 하지요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또한 ‘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서’는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상대방의 처지에서 무엇을 바랄지 헤아려서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상대방이 나에게 바라는 것을 해 주는 것이기도 합니다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아버지를 대할 때는 내가 아버지라면 자식에게 무엇을 바랄지 생각해서 아버지를 섬기고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형을 대할 때는 내가 형이라면 동생에게 무엇을 바랄지 생각해서 형을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대해야겠지요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이처럼 타인을 대할 때는 그 사람의 마음을 충분히 헤아리는 것이 중요합니다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848" y="1626461"/>
            <a:ext cx="2506228" cy="5265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타인을 잘 배려하려면 어떻게 해야 할까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35" name="타원 3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46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갈등과 폭력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갈등을 평화적으로 해결하려면 어떻게 해야 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00" b="1" dirty="0">
                <a:solidFill>
                  <a:srgbClr val="FFFF00"/>
                </a:solidFill>
                <a:latin typeface="+mn-ea"/>
              </a:rPr>
              <a:t>타인과의 관계에서 필요한 가치와 덕목 탐구하기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/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/>
                </a:solidFill>
              </a:rPr>
              <a:t>(2) 타인을 함부로 대하지 않고 </a:t>
            </a:r>
            <a:r>
              <a:rPr sz="1380" b="1">
                <a:solidFill>
                  <a:srgbClr val="2F6FD0"/>
                </a:solidFill>
              </a:rPr>
              <a:t>①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예의 </a:t>
            </a:r>
            <a:r>
              <a:rPr sz="2300" b="0">
                <a:solidFill>
                  <a:srgbClr val="262626"/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/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/>
                </a:solidFill>
              </a:rPr>
              <a:t>(4) 자신의 </a:t>
            </a:r>
            <a:r>
              <a:rPr sz="1380" b="1">
                <a:solidFill>
                  <a:srgbClr val="2F6FD0"/>
                </a:solidFill>
              </a:rPr>
              <a:t>②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책임 </a:t>
            </a:r>
            <a:r>
              <a:rPr sz="2300" b="0">
                <a:solidFill>
                  <a:srgbClr val="262626"/>
                </a:solidFill>
              </a:rPr>
              <a:t>을 다하고 타인과의 관계에서 </a:t>
            </a:r>
            <a:r>
              <a:rPr sz="1380" b="1">
                <a:solidFill>
                  <a:srgbClr val="2F6FD0"/>
                </a:solidFill>
              </a:rPr>
              <a:t>③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신뢰 </a:t>
            </a:r>
            <a:r>
              <a:rPr sz="2300" b="0">
                <a:solidFill>
                  <a:srgbClr val="262626"/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/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(2) 타인을 함부로 대하지 않고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300" b="1">
                <a:solidFill>
                  <a:srgbClr val="C0392B"/>
                </a:solidFill>
              </a:rPr>
              <a:t> 예의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(4) 자신의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을 다하고 타인과의 관계에서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신뢰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(2) 타인을 함부로 대하지 않고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예의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(4) 자신의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을 다하고 타인과의 관계에서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신뢰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(2) 타인을 함부로 대하지 않고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예의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(4) 자신의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300" b="1">
                <a:solidFill>
                  <a:srgbClr val="C0392B"/>
                </a:solidFill>
              </a:rPr>
              <a:t> 책임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을 다하고 타인과의 관계에서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신뢰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(2) 타인을 함부로 대하지 않고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예의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(4) 자신의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을 다하고 타인과의 관계에서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300" b="1">
                <a:solidFill>
                  <a:srgbClr val="C0392B"/>
                </a:solidFill>
              </a:rPr>
              <a:t> 신뢰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(1) 인간관계에서 지켜야 할 가치나 덕목을 무시한다면 타인과 원만한 관계를 유지하기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(2) 타인을 함부로 대하지 않고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예의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통해 타인에게 존중을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급식 아주머니께 “잘 먹겠습니다.”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(3) 타인에게 관심을 기울여 필요한 것이 무엇인지 헤아리고, 타인을 배려해야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(4) 자신의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을 다하고 타인과의 관계에서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신뢰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를 쌓고자 노력해야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모둠 과제에서 내 몫을 마감 전에 올리기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0">
                <a:solidFill>
                  <a:srgbClr val="262626">
                    <a:alpha val="0"/>
                  </a:srgbClr>
                </a:solidFill>
              </a:rPr>
              <a:t>⇨ 위와 같은 가치와 덕목을 바탕으로 자신의 삶을 성찰하여 타인과 잘 어울려 살려고 노력해야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공감의 뿌리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1996년부터 · 캐나다 토론토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수업 · 한 학기 동안 한 달에 한 번, 아기와 부모가 교실을 찾아온다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관찰 · 학생들은 아기가 왜 우는지, 무엇을 느끼는지 함께 읽어 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만든 이 · 교육자 메리 고든이 시작한 ‘공감의 뿌리(Roots of Empathy)’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결과 · 여러 연구에서 공격적인 행동이 줄고 서로 돕는 행동이 늘었다고 보고되었다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말 못 하는 아기의 마음을 읽는 연습이 왜 도움이 될까?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1996년부터 · 캐나다 토론토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수업 · 한 학기 동안 한 달에 한 번, 아기와 부모가 교실을 찾아온다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관찰 · 학생들은 아기가 왜 우는지, 무엇을 느끼는지 함께 읽어 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만든 이 · 교육자 메리 고든이 시작한 ‘공감의 뿌리(Roots of Empathy)’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결과 · 여러 연구에서 공격적인 행동이 줄고 서로 돕는 행동이 늘었다고 보고되었다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말 못 하는 아기의 마음을 읽는 연습이 왜 도움이 될까?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타인과 공감하며 소통하기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상대방이 어떤 상황에 처해 있는지 주의 깊게 살펴야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휴대폰을 내려놓고 친구 눈을 보며 듣기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내가 상대방의 처지에 놓이면 어떠할지 생각해 보며 그 사람의 마음을 헤아려야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“내가 아랫집 주민이라면 이 소리가 어떻게 들릴까?”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타인과 소통할 때는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진심 </a:t>
            </a:r>
            <a:r>
              <a:rPr sz="2400" b="0">
                <a:solidFill>
                  <a:srgbClr val="262626"/>
                </a:solidFill>
              </a:rPr>
              <a:t> 어린 태도로 공감을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 그래?” 대신 “많이 속상했겠다.”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어떤 상황에 처해 있는지 주의 깊게 살펴야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휴대폰을 내려놓고 친구 눈을 보며 듣기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내가 상대방의 처지에 놓이면 어떠할지 생각해 보며 그 사람의 마음을 헤아려야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“내가 아랫집 주민이라면 이 소리가 어떻게 들릴까?”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소통할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어린 태도로 공감을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 그래?” 대신 “많이 속상했겠다.”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어떤 상황에 처해 있는지 주의 깊게 살펴야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휴대폰을 내려놓고 친구 눈을 보며 듣기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내가 상대방의 처지에 놓이면 어떠할지 생각해 보며 그 사람의 마음을 헤아려야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“내가 아랫집 주민이라면 이 소리가 어떻게 들릴까?”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소통할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어린 태도로 공감을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 그래?” 대신 “많이 속상했겠다.”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어떤 상황에 처해 있는지 주의 깊게 살펴야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휴대폰을 내려놓고 친구 눈을 보며 듣기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내가 상대방의 처지에 놓이면 어떠할지 생각해 보며 그 사람의 마음을 헤아려야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“내가 아랫집 주민이라면 이 소리가 어떻게 들릴까?”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소통할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진심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어린 태도로 공감을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 그래?” 대신 “많이 속상했겠다.”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어떤 상황에 처해 있는지 주의 깊게 살펴야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휴대폰을 내려놓고 친구 눈을 보며 듣기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내가 상대방의 처지에 놓이면 어떠할지 생각해 보며 그 사람의 마음을 헤아려야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“내가 아랫집 주민이라면 이 소리가 어떻게 들릴까?”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타인과 소통할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진심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어린 태도로 공감을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“아 그래?” 대신 “많이 속상했겠다.”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친구가 시험을 망쳤다며 엎드려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“괜찮아, 나도 망쳤어. 다음에 잘 보면 되지!”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“많이 속상하구나. 열심히 준비했잖아.”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어느 말이 공감에 더 가까울까?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친구가 시험을 망쳤다며 엎드려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“괜찮아, 나도 망쳤어. 다음에 잘 보면 되지!”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“많이 속상하구나. 열심히 준비했잖아.”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어느 말이 공감에 더 가까울까?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정약용의 사의(四宜)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생각 · 맑게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용모 · 단정하게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말 · 적게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행동 · 무겁게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타인과의 관계에서 지켜야 할 가치와 덕목을 무시하면 타인과 원만한 관계를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타인과의 관계에서는 타인에게 관심을 기울여 필요한 것이 무엇인지 헤아리고, 타인을 배려해야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타인과 공감하며 소통하려면 상대방이 어떤 상황에 처해 있는지 주의 깊게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타인과 소통할 때는 말로만 공감을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지켜야 할 가치와 덕목을 무시하면 타인과 원만한 관계를 유지할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타인과의 관계에서는 타인에게 관심을 기울여 필요한 것이 무엇인지 헤아리고, 타인을 배려해야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타인과 공감하며 소통하려면 상대방이 어떤 상황에 처해 있는지 주의 깊게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소통할 때는 말로만 공감을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지켜야 할 가치와 덕목을 무시하면 타인과 원만한 관계를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타인과의 관계에서는 타인에게 관심을 기울여 필요한 것이 무엇인지 헤아리고, 타인을 배려해야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타인과 공감하며 소통하려면 상대방이 어떤 상황에 처해 있는지 주의 깊게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소통할 때는 말로만 공감을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지켜야 할 가치와 덕목을 무시하면 타인과 원만한 관계를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타인과의 관계에서는 타인에게 관심을 기울여 필요한 것이 무엇인지 헤아리고, 타인을 배려해야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타인과 공감하며 소통하려면 상대방이 어떤 상황에 처해 있는지 주의 깊게 살펴야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소통할 때는 말로만 공감을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타인과의 관계에서 지켜야 할 가치와 덕목을 무시하면 타인과 원만한 관계를 유지할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타인과의 관계에서는 타인에게 관심을 기울여 필요한 것이 무엇인지 헤아리고, 타인을 배려해야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타인과 공감하며 소통하려면 상대방이 어떤 상황에 처해 있는지 주의 깊게 살펴야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타인과 소통할 때는 말로만 공감을 표현해야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가치와 덕목일까?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/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/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/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/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/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(존중)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존중과 예의 · 관심과 배려 · 책임과 신뢰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친구의 인사에 반갑게 답한다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존중과 예의 (예의는 존중의 표현)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남이 부딪히지 않도록 등불을 든다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(배려)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지쳤어도 마지막 선물을 전한다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약속 시간을 지킨다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책임과 신뢰 (신뢰)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친구에게 필요한 것을 먼저 헤아린다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관심과 배려 (관심)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나이가 어려도 함부로 대하지 않는다</a:t>
            </a:r>
            <a:r>
              <a:rPr sz="2300" b="1">
                <a:solidFill>
                  <a:srgbClr val="C0392B"/>
                </a:solidFill>
              </a:rPr>
              <a:t>   → 존중과 예의 (존중)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공감의 말 고르기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친구가 “반장 선거에서 떨어졌어…” 하며 시무룩하다.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A. “나는 이번 시험 성적 좋던데!”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88쪽처럼 친구의 감정을 헤아리지 못한 말이에요.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B. “많이 속상하겠다. 준비 열심히 했잖아.”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공감! 주의 기울이기 + 처지에서 생각 + 진심으로 표현.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C. “다음엔 공약을 더 잘 짜 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조언은 공감 뒤에.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친구가 “반장 선거에서 떨어졌어…” 하며 시무룩하다.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“나는 이번 시험 성적 좋던데!”</a:t>
            </a:r>
            <a:r>
              <a:rPr sz="2300" b="1">
                <a:solidFill>
                  <a:srgbClr val="C0392B"/>
                </a:solidFill>
              </a:rPr>
              <a:t>   88쪽처럼 친구의 감정을 헤아리지 못한 말이에요.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“많이 속상하겠다. 준비 열심히 했잖아.”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공감! 주의 기울이기 + 처지에서 생각 + 진심으로 표현.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“다음엔 공약을 더 잘 짜 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조언은 공감 뒤에.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친구가 “반장 선거에서 떨어졌어…” 하며 시무룩하다.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“나는 이번 시험 성적 좋던데!”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88쪽처럼 친구의 감정을 헤아리지 못한 말이에요.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“많이 속상하겠다. 준비 열심히 했잖아.”</a:t>
            </a:r>
            <a:r>
              <a:rPr sz="2300" b="1">
                <a:solidFill>
                  <a:srgbClr val="C0392B"/>
                </a:solidFill>
              </a:rPr>
              <a:t>   공감! 주의 기울이기 + 처지에서 생각 + 진심으로 표현.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“다음엔 공약을 더 잘 짜 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조언은 공감 뒤에.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친구가 “반장 선거에서 떨어졌어…” 하며 시무룩하다.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“나는 이번 시험 성적 좋던데!”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88쪽처럼 친구의 감정을 헤아리지 못한 말이에요.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“많이 속상하겠다. 준비 열심히 했잖아.”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공감! 주의 기울이기 + 처지에서 생각 + 진심으로 표현.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“다음엔 공약을 더 잘 짜 봐.”</a:t>
            </a:r>
            <a:r>
              <a:rPr sz="2300" b="1">
                <a:solidFill>
                  <a:srgbClr val="C0392B"/>
                </a:solidFill>
              </a:rPr>
              <a:t>   조언은 공감 뒤에.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우리 모둠 공감 이모티콘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관계적 존재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타인과 어울려 살려면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85쪽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이모티콘 문구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쫑긋! 너의 말에 귀를 기울일게!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어떤 공감 방법을 담았나?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타인에게 주의 기울이기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이모티콘 문구</a:t>
            </a:r>
            <a:r>
              <a:rPr sz="2300" b="1">
                <a:solidFill>
                  <a:srgbClr val="C0392B"/>
                </a:solidFill>
              </a:rPr>
              <a:t>   예) 쫑긋! 너의 말에 귀를 기울일게!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공감 방법을 담았나?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타인에게 주의 기울이기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이모티콘 문구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쫑긋! 너의 말에 귀를 기울일게!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어떤 공감 방법을 담았나?</a:t>
            </a:r>
            <a:r>
              <a:rPr sz="2300" b="1">
                <a:solidFill>
                  <a:srgbClr val="C0392B"/>
                </a:solidFill>
              </a:rPr>
              <a:t>   예) 타인에게 주의 기울이기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9003</TotalTime>
  <Words>1519</Words>
  <Application>Microsoft Office PowerPoint</Application>
  <PresentationFormat>와이드스크린</PresentationFormat>
  <Paragraphs>259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175</cp:revision>
  <cp:lastPrinted>2024-06-05T04:53:22Z</cp:lastPrinted>
  <dcterms:created xsi:type="dcterms:W3CDTF">2023-10-31T05:50:03Z</dcterms:created>
  <dcterms:modified xsi:type="dcterms:W3CDTF">2025-01-14T04:19:51Z</dcterms:modified>
</cp:coreProperties>
</file>