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9"/>
  </p:notesMasterIdLst>
  <p:handoutMasterIdLst>
    <p:handoutMasterId r:id="rId20"/>
  </p:handoutMasterIdLst>
  <p:sldIdLst>
    <p:sldId id="302" r:id="rId2"/>
    <p:sldId id="301" r:id="rId3"/>
    <p:sldId id="418" r:id="rId4"/>
    <p:sldId id="419" r:id="rId5"/>
    <p:sldId id="305" r:id="rId6"/>
    <p:sldId id="306" r:id="rId7"/>
    <p:sldId id="270" r:id="rId8"/>
    <p:sldId id="420" r:id="rId9"/>
    <p:sldId id="421" r:id="rId10"/>
    <p:sldId id="442" r:id="rId26"/>
    <p:sldId id="443" r:id="rId27"/>
    <p:sldId id="435" r:id="rId11"/>
    <p:sldId id="437" r:id="rId12"/>
    <p:sldId id="436" r:id="rId13"/>
    <p:sldId id="438" r:id="rId14"/>
    <p:sldId id="439" r:id="rId15"/>
    <p:sldId id="444" r:id="rId28"/>
    <p:sldId id="445" r:id="rId29"/>
    <p:sldId id="446" r:id="rId30"/>
    <p:sldId id="447" r:id="rId31"/>
    <p:sldId id="440" r:id="rId16"/>
    <p:sldId id="441" r:id="rId17"/>
    <p:sldId id="448" r:id="rId32"/>
    <p:sldId id="449" r:id="rId33"/>
    <p:sldId id="450" r:id="rId34"/>
    <p:sldId id="451" r:id="rId35"/>
    <p:sldId id="380" r:id="rId18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EC8"/>
    <a:srgbClr val="87D272"/>
    <a:srgbClr val="F0F9E8"/>
    <a:srgbClr val="FFF7EE"/>
    <a:srgbClr val="843C0C"/>
    <a:srgbClr val="95D0E9"/>
    <a:srgbClr val="96B7E3"/>
    <a:srgbClr val="D1CFCF"/>
    <a:srgbClr val="94655A"/>
    <a:srgbClr val="C3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13" autoAdjust="0"/>
    <p:restoredTop sz="96242" autoAdjust="0"/>
  </p:normalViewPr>
  <p:slideViewPr>
    <p:cSldViewPr snapToGrid="0">
      <p:cViewPr varScale="1">
        <p:scale>
          <a:sx n="85" d="100"/>
          <a:sy n="85" d="100"/>
        </p:scale>
        <p:origin x="102" y="270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390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성은 연인·부부·부모가 되는 일 등 인간관계에서 중요한 역할. 부끄럽거나 부정적인 것으로만 생각하지 않고 올바르게 이해하기.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‘성(性)’은 본래 ‘타고난 성품, 본성’이라는 뜻도 있다(성선설의 性). 생각보다 넓은 낱말.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적용</a:t>
            </a:r>
          </a:p>
          <a:p>
            <a:r>
              <a:t>몸에 대한 놀림은 상대의 인격을 존중하지 않는 행동. 다음 시간 ‘바람직한 성윤리’로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성의 세 가지 의미와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성의 세 가지 의미와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성의 세 가지 의미와 가치를 구분해 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3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성윤리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71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성의 의미와 가치는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818866"/>
            <a:ext cx="10293350" cy="787400"/>
            <a:chOff x="914400" y="2362200"/>
            <a:chExt cx="10293350" cy="787400"/>
          </a:xfrm>
        </p:grpSpPr>
        <p:sp>
          <p:nvSpPr>
            <p:cNvPr id="38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830741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성의 의미를 설명할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3079055"/>
            <a:ext cx="10293350" cy="787400"/>
            <a:chOff x="914400" y="2362200"/>
            <a:chExt cx="10293350" cy="787400"/>
          </a:xfrm>
        </p:grpSpPr>
        <p:sp>
          <p:nvSpPr>
            <p:cNvPr id="25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3090930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</a:rPr>
              <a:t>성의 다양한 가치를 제시할 수 있다</a:t>
            </a:r>
            <a:r>
              <a:rPr lang="en-US" altLang="ko-KR" sz="2800" b="1" dirty="0" smtClean="0">
                <a:solidFill>
                  <a:prstClr val="black"/>
                </a:solidFill>
              </a:rPr>
              <a:t>.</a:t>
            </a:r>
            <a:endParaRPr lang="en-US" altLang="ko-KR" sz="28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09" y="1704727"/>
            <a:ext cx="9938552" cy="4372504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5" name="타원 24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6" y="1516944"/>
            <a:ext cx="42291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3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85" y="1468688"/>
            <a:ext cx="4514850" cy="44862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791" y="2564063"/>
            <a:ext cx="6057900" cy="339090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5201791" y="1468688"/>
            <a:ext cx="4959563" cy="1247618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5201791" y="2542643"/>
            <a:ext cx="3148833" cy="1278019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201790" y="3638018"/>
            <a:ext cx="564311" cy="1278019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9170894" y="1451733"/>
            <a:ext cx="2088797" cy="1132401"/>
          </a:xfrm>
          <a:prstGeom prst="rect">
            <a:avLst/>
          </a:prstGeom>
          <a:solidFill>
            <a:srgbClr val="F0F9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구름 8"/>
          <p:cNvSpPr/>
          <p:nvPr/>
        </p:nvSpPr>
        <p:spPr>
          <a:xfrm rot="521747">
            <a:off x="8216153" y="1507062"/>
            <a:ext cx="3159772" cy="1148892"/>
          </a:xfrm>
          <a:prstGeom prst="cloud">
            <a:avLst/>
          </a:prstGeom>
          <a:solidFill>
            <a:srgbClr val="87D2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437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8854"/>
            <a:ext cx="10293349" cy="245960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1" y="1613182"/>
            <a:ext cx="63798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만화를 보고 생각 풍선에 들어갈 말을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4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07139"/>
            <a:ext cx="487174" cy="487174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07139"/>
            <a:ext cx="1087577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108654" y="2348854"/>
            <a:ext cx="96722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그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까닭은 도덕 시간에 성에 관해 공부하면 성에 대한 올바른 가치관과 태도를 지닐 수 있고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청소년기에 겪을 수 있는 다양한 성 문제를 예방할 수 있기 때문이야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873" y="1468688"/>
            <a:ext cx="10627052" cy="527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6242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내가 생각하는 성의 의미는 무엇인지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722147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722147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42078"/>
            <a:ext cx="10293350" cy="3130875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362947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생각하는 성의 의미는 남자와 여자를 구분하는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'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'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누군가 나에게 성이 무엇인지 물으면 나는 나의 성별이 무엇인지 대답할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이라고 하면 인터넷 사이트에 회원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가입하거나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학교에서 설문지를 작성할 때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남성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과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여성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’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중 성별이 무엇인지 선택하는 상황이 가장 먼저 떠오르기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성이란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?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성은 </a:t>
            </a:r>
            <a:r>
              <a:rPr lang="ko-KR" altLang="en-US" sz="2400" dirty="0">
                <a:latin typeface="+mn-ea"/>
              </a:rPr>
              <a:t>연인이나 부부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부모가 되는 일 등 인간관계를 맺는 데 중요한 역할을 </a:t>
            </a:r>
            <a:r>
              <a:rPr lang="ko-KR" altLang="en-US" sz="2400" dirty="0" smtClean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latin typeface="+mn-ea"/>
              </a:rPr>
              <a:t>→</a:t>
            </a:r>
            <a:r>
              <a:rPr lang="en-US" altLang="ko-KR" sz="2400" dirty="0" smtClean="0">
                <a:latin typeface="+mn-ea"/>
              </a:rPr>
              <a:t> </a:t>
            </a:r>
            <a:r>
              <a:rPr lang="ko-KR" altLang="en-US" sz="2400" dirty="0" smtClean="0">
                <a:latin typeface="+mn-ea"/>
              </a:rPr>
              <a:t>성을 </a:t>
            </a:r>
            <a:r>
              <a:rPr lang="ko-KR" altLang="en-US" sz="2400" dirty="0">
                <a:latin typeface="+mn-ea"/>
              </a:rPr>
              <a:t>부끄럽거나 부정적인 것으로 생각하는 것이 아니라 성의 의미를 올바르게 이해할 필요가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성이란</a:t>
            </a:r>
            <a:r>
              <a:rPr lang="en-US" altLang="ko-KR" sz="2800" b="1" dirty="0" smtClean="0">
                <a:solidFill>
                  <a:srgbClr val="FFFF00"/>
                </a:solidFill>
                <a:latin typeface="+mn-ea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927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438936"/>
            <a:ext cx="11028475" cy="59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성의 의미</a:t>
            </a:r>
            <a:endParaRPr lang="en-US" altLang="ko-KR" sz="2400" dirty="0" smtClean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028752"/>
              </p:ext>
            </p:extLst>
          </p:nvPr>
        </p:nvGraphicFramePr>
        <p:xfrm>
          <a:off x="959109" y="2088443"/>
          <a:ext cx="10535410" cy="3731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3750">
                  <a:extLst>
                    <a:ext uri="{9D8B030D-6E8A-4147-A177-3AD203B41FA5}">
                      <a16:colId xmlns:a16="http://schemas.microsoft.com/office/drawing/2014/main" val="181944564"/>
                    </a:ext>
                  </a:extLst>
                </a:gridCol>
                <a:gridCol w="8791660">
                  <a:extLst>
                    <a:ext uri="{9D8B030D-6E8A-4147-A177-3AD203B41FA5}">
                      <a16:colId xmlns:a16="http://schemas.microsoft.com/office/drawing/2014/main" val="75715260"/>
                    </a:ext>
                  </a:extLst>
                </a:gridCol>
              </a:tblGrid>
              <a:tr h="8446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생물학적 </a:t>
                      </a:r>
                      <a:endParaRPr lang="en-US" altLang="ko-KR" sz="2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</a:t>
                      </a:r>
                      <a:endParaRPr lang="en-US" altLang="ko-KR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자와 여자를 구분하는 생물학적 차이를 나타내는 성［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sex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］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26565"/>
                  </a:ext>
                </a:extLst>
              </a:tr>
              <a:tr h="13169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사회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문화적 성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남성다움이나 여성다움과 같은 성적 특징을 의미하는 사회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문화적 성［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gender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］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03349"/>
                  </a:ext>
                </a:extLst>
              </a:tr>
              <a:tr h="131697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성적인 것 전반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성과 관련한 욕망이나 태도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가치관 등을 모두 포함하는 성적인 것 전반을 가리키는 성 ［</a:t>
                      </a:r>
                      <a:r>
                        <a:rPr lang="en-US" altLang="ko-KR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sexuality</a:t>
                      </a:r>
                      <a:r>
                        <a:rPr lang="ko-KR" altLang="en-US" sz="2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］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65395"/>
                  </a:ext>
                </a:extLst>
              </a:tr>
            </a:tbl>
          </a:graphicData>
        </a:graphic>
      </p:graphicFrame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성이란</a:t>
            </a:r>
            <a:r>
              <a:rPr lang="en-US" altLang="ko-KR" sz="2800" b="1" dirty="0" smtClean="0">
                <a:solidFill>
                  <a:srgbClr val="FFFF00"/>
                </a:solidFill>
                <a:latin typeface="+mn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3816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78224" y="1596520"/>
            <a:ext cx="108636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줄리는 마을에 있는 커다란 플라타너스 나무에 올라 경치를 감상하는 것을 즐기는 소녀이다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브라이스를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6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년째 짝사랑하며 쫓아다닌다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이런 줄리를 괴짜로만 여기며 귀찮아한다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어느 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줄리가 아끼는 플라타너스 나무가 베어질 위기에 처하는데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…….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줄리는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브라이스에게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나무를 지키기 위해 힘을 보태 달라고 도움을 청한다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줄리의 간절한 마음을 외면한다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결국 나무는 베어지고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줄리는 크게 상심한다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줄리는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브라이스에게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직접 기른 닭의 달걀을 선물하며 여전히 애정 공세를 펼친다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하지만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이를 쓰레기통에 버리고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줄리는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브라이스의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배려 없는 행동에 상처를 받고 그에 대한 마음을 접는다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2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578224" y="1596520"/>
            <a:ext cx="108636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상처받은 줄리를 보고 죄책감을 느낀다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그러던 중 신문에 실린 줄리의 인터뷰 기사를 읽고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줄리가 나무에 올라 느꼈던 감정을 예술적이고 어른스럽게 표현한 것에 호감을 느낀다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줄리에게 다가가지만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줄리는 그를 외면한다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고민 끝에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줄리가 좋아하던 플라타너스 나무를 줄리의 집 마당에 심고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줄리는 그가 자신을 배려하는 모습을 보고 마음을 연다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함께 나무를 심던 두 사람의 손이 맞닿고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줄리와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브라이스는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서로 마주 보며 교감한다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로브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라이너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감독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플립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40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83834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>
                <a:latin typeface="+mn-ea"/>
              </a:rPr>
              <a:t>브라이스가</a:t>
            </a:r>
            <a:r>
              <a:rPr lang="ko-KR" altLang="en-US" sz="2000" b="1" dirty="0">
                <a:latin typeface="+mn-ea"/>
              </a:rPr>
              <a:t> 줄리를 만나 인격적으로 어떻게 성장했는지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324229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브라이스는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줄리에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대해 부정적으로 생각하며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줄리를 배려하지 않고 함부로 행동하였다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그러나 줄리와의 만남을 통해 사람의 내면을 바라볼 줄 아는 성숙한 태도를 지니게 되었다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또한 상처받은 줄리의 마음을 열기 위해 줄리가 무엇을 좋아하고 원하는지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줄리를 어떻게 배려하고 도울 수 있는지 진지하게 고민하여 행동하는 사람으로 성장하였다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3049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821" y="1438936"/>
            <a:ext cx="11211356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생물학적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성은 </a:t>
            </a:r>
            <a:r>
              <a:rPr lang="ko-KR" altLang="en-US" sz="2400" dirty="0">
                <a:latin typeface="+mn-ea"/>
              </a:rPr>
              <a:t>임신과 출산을 거쳐 종족을 보존하는 생물학적 가치가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성은 </a:t>
            </a:r>
            <a:r>
              <a:rPr lang="ko-KR" altLang="en-US" sz="2400" dirty="0">
                <a:latin typeface="+mn-ea"/>
              </a:rPr>
              <a:t>귀중한 생명의 탄생과 관련이 있기 때문에 성적인 행동에는 책임이 </a:t>
            </a:r>
            <a:r>
              <a:rPr lang="ko-KR" altLang="en-US" sz="2400" dirty="0" smtClean="0">
                <a:latin typeface="+mn-ea"/>
              </a:rPr>
              <a:t>따름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쾌락적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성적 </a:t>
            </a:r>
            <a:r>
              <a:rPr lang="ko-KR" altLang="en-US" sz="2400" dirty="0">
                <a:latin typeface="+mn-ea"/>
              </a:rPr>
              <a:t>활동이 즐거움을 준다는 점에서 성은 쾌락적 가치를 </a:t>
            </a:r>
            <a:r>
              <a:rPr lang="ko-KR" altLang="en-US" sz="2400" dirty="0" smtClean="0">
                <a:latin typeface="+mn-ea"/>
              </a:rPr>
              <a:t>지님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지나치게 </a:t>
            </a:r>
            <a:r>
              <a:rPr lang="ko-KR" altLang="en-US" sz="2400" dirty="0">
                <a:latin typeface="+mn-ea"/>
              </a:rPr>
              <a:t>성적 쾌락만 추구하면 불쾌감을 일으키거나 건강을 해칠 수 있기 때문에 절제가 </a:t>
            </a:r>
            <a:r>
              <a:rPr lang="ko-KR" altLang="en-US" sz="2400" dirty="0" smtClean="0">
                <a:latin typeface="+mn-ea"/>
              </a:rPr>
              <a:t>필요함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가치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9" name="타원 18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6539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821" y="1438936"/>
            <a:ext cx="11130673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인격적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가치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인간은 성을 </a:t>
            </a:r>
            <a:r>
              <a:rPr lang="ko-KR" altLang="en-US" sz="2400" dirty="0">
                <a:latin typeface="+mn-ea"/>
              </a:rPr>
              <a:t>통해 배려와 공감을 바탕으로 하는 인간관계를 </a:t>
            </a:r>
            <a:r>
              <a:rPr lang="ko-KR" altLang="en-US" sz="2400" dirty="0" smtClean="0">
                <a:latin typeface="+mn-ea"/>
              </a:rPr>
              <a:t>맺음으로써 </a:t>
            </a:r>
            <a:r>
              <a:rPr lang="ko-KR" altLang="en-US" sz="2400" dirty="0">
                <a:latin typeface="+mn-ea"/>
              </a:rPr>
              <a:t>인격적 성숙을 이룰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이러한 </a:t>
            </a:r>
            <a:r>
              <a:rPr lang="ko-KR" altLang="en-US" sz="2400" dirty="0">
                <a:latin typeface="+mn-ea"/>
              </a:rPr>
              <a:t>의미에서 성의 인격적 가치는 사랑과 밀접한 관련이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br>
              <a:rPr lang="en-US" altLang="ko-KR" sz="2400" dirty="0" smtClean="0">
                <a:latin typeface="+mn-ea"/>
              </a:rPr>
            </a:br>
            <a:r>
              <a:rPr lang="en-US" altLang="ko-KR" sz="2400" dirty="0" smtClean="0">
                <a:latin typeface="+mn-ea"/>
              </a:rPr>
              <a:t>→ </a:t>
            </a:r>
            <a:r>
              <a:rPr lang="ko-KR" altLang="en-US" sz="2400" dirty="0" smtClean="0">
                <a:latin typeface="+mn-ea"/>
              </a:rPr>
              <a:t>우리는 </a:t>
            </a:r>
            <a:r>
              <a:rPr lang="ko-KR" altLang="en-US" sz="2400" dirty="0">
                <a:latin typeface="+mn-ea"/>
              </a:rPr>
              <a:t>다른 사람을 사랑하며 책임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존경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이해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보호 등과 같은 인격적 가치를 쌓아 </a:t>
            </a:r>
            <a:r>
              <a:rPr lang="ko-KR" altLang="en-US" sz="2400" dirty="0" smtClean="0">
                <a:latin typeface="+mn-ea"/>
              </a:rPr>
              <a:t>나갈 수 있음</a:t>
            </a:r>
            <a:r>
              <a:rPr lang="en-US" altLang="ko-KR" sz="2400" dirty="0" smtClean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가치</a:t>
            </a:r>
            <a:endParaRPr lang="en-US" altLang="ko-KR" sz="2800" b="1" dirty="0" smtClean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5" name="타원 14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49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 smtClean="0">
                <a:latin typeface="+mj-ea"/>
                <a:ea typeface="+mj-ea"/>
              </a:rPr>
              <a:t>다음 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1352317"/>
            <a:ext cx="11787808" cy="550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성의 다양한 의미와 가치를 알고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성이 지니는 도덕적 의미를 설명할 수 있는가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그동안 성을 부끄러운 것으로만 생각했는데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성이 지닌 의미와 가치를 올바르게 이해하려고 노력해야겠다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6651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151906" y="2086984"/>
            <a:ext cx="97496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“02.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청소년기의 바람직한 성윤리는 무엇일까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27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성이란?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남자와 여자를 구분하는 생물학적 차이를 나타내는 성[sex]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염색체, 신체 구조의 차이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남성다움이나 여성다움과 같은 성적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특징 </a:t>
            </a:r>
            <a:r>
              <a:rPr sz="2400" b="0">
                <a:solidFill>
                  <a:srgbClr val="262626"/>
                </a:solidFill>
              </a:rPr>
              <a:t>을 의미하는 사회·문화적 성[gender]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“남자는 울면 안 돼.” — 사회가 만든 기대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성과 관련한 욕망이나 태도, 가치관 등을 모두 포함하는 성적인 것 전반을 가리키는 성[sexuality]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남자와 여자를 구분하는 생물학적 차이를 나타내는 성[sex]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염색체, 신체 구조의 차이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남성다움이나 여성다움과 같은 성적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특징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의미하는 사회·문화적 성[gender]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“남자는 울면 안 돼.” — 사회가 만든 기대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성과 관련한 욕망이나 태도, 가치관 등을 모두 포함하는 성적인 것 전반을 가리키는 성[sexuality]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남자와 여자를 구분하는 생물학적 차이를 나타내는 성[sex]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염색체, 신체 구조의 차이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남성다움이나 여성다움과 같은 성적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특징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의미하는 사회·문화적 성[gender]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“남자는 울면 안 돼.” — 사회가 만든 기대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성과 관련한 욕망이나 태도, 가치관 등을 모두 포함하는 성적인 것 전반을 가리키는 성[sexuality]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남자와 여자를 구분하는 생물학적 차이를 나타내는 성[sex]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염색체, 신체 구조의 차이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남성다움이나 여성다움과 같은 성적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특징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의미하는 사회·문화적 성[gender]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“남자는 울면 안 돼.” — 사회가 만든 기대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성과 관련한 욕망이나 태도, 가치관 등을 모두 포함하는 성적인 것 전반을 가리키는 성[sexuality]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‘성’이라는 낱말, 어디에서 보았을까?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📄 · 성별 · 성 평등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🏫 · 성교육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📱 · 광고 · 영상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가치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생물학 </a:t>
            </a:r>
            <a:r>
              <a:rPr sz="2400" b="1">
                <a:solidFill>
                  <a:srgbClr val="843C0C"/>
                </a:solidFill>
              </a:rPr>
              <a:t>적 가치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임신과 출산을 거쳐 종족을 보존할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 생명이 태어나기까지 열 달의 기다림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성은 귀중한 생명의 탄생과 관련이 있으므로 성적인 행동에는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책임 </a:t>
            </a:r>
            <a:r>
              <a:rPr sz="2400" b="0">
                <a:solidFill>
                  <a:srgbClr val="262626"/>
                </a:solidFill>
              </a:rPr>
              <a:t>이 따름.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쾌락적 가치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성적 활동이 즐거움을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지나치게 성적 쾌락만 추구하면 불쾌감을 일으키거나 건강을 해칠 수 있으므로 절제가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인격적 가치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성을 통해 타인과 교류하며 인격적으로 성숙할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사랑하며 책임, 존경, 이해, 보호를 배운다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생물학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임신과 출산을 거쳐 종족을 보존할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 생명이 태어나기까지 열 달의 기다림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성은 귀중한 생명의 탄생과 관련이 있으므로 성적인 행동에는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따름.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쾌락적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성적 활동이 즐거움을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지나치게 성적 쾌락만 추구하면 불쾌감을 일으키거나 건강을 해칠 수 있으므로 절제가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인격적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성을 통해 타인과 교류하며 인격적으로 성숙할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사랑하며 책임, 존경, 이해, 보호를 배운다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생물학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임신과 출산을 거쳐 종족을 보존할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한 생명이 태어나기까지 열 달의 기다림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성은 귀중한 생명의 탄생과 관련이 있으므로 성적인 행동에는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따름.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쾌락적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성적 활동이 즐거움을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지나치게 성적 쾌락만 추구하면 불쾌감을 일으키거나 건강을 해칠 수 있으므로 절제가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인격적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성을 통해 타인과 교류하며 인격적으로 성숙할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사랑하며 책임, 존경, 이해, 보호를 배운다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생물학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임신과 출산을 거쳐 종족을 보존할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 생명이 태어나기까지 열 달의 기다림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성은 귀중한 생명의 탄생과 관련이 있으므로 성적인 행동에는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따름.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쾌락적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성적 활동이 즐거움을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지나치게 성적 쾌락만 추구하면 불쾌감을 일으키거나 건강을 해칠 수 있으므로 절제가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인격적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성을 통해 타인과 교류하며 인격적으로 성숙할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사랑하며 책임, 존경, 이해, 보호를 배운다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생물학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임신과 출산을 거쳐 종족을 보존할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한 생명이 태어나기까지 열 달의 기다림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성은 귀중한 생명의 탄생과 관련이 있으므로 성적인 행동에는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책임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 따름.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쾌락적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성적 활동이 즐거움을 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지나치게 성적 쾌락만 추구하면 불쾌감을 일으키거나 건강을 해칠 수 있으므로 절제가 필요함.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인격적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성을 통해 타인과 교류하며 인격적으로 성숙할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사랑하며 책임, 존경, 이해, 보호를 배운다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가치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인간은 성을 통해 배려와 공감을 바탕으로 하는 인간관계를 맺음으로써 인격적 성숙을 이룰 수 있으며, 이러한 의미에서 성의 인격적 가치는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사랑 </a:t>
            </a:r>
            <a:r>
              <a:rPr sz="2400" b="0">
                <a:solidFill>
                  <a:srgbClr val="262626"/>
                </a:solidFill>
              </a:rPr>
              <a:t>과 밀접한 관련이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좋아하는 사람이 힘들 때 곁에 있어 주는 마음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인간은 성을 통해 배려와 공감을 바탕으로 하는 인간관계를 맺음으로써 인격적 성숙을 이룰 수 있으며, 이러한 의미에서 성의 인격적 가치는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사랑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밀접한 관련이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좋아하는 사람이 힘들 때 곁에 있어 주는 마음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인간은 성을 통해 배려와 공감을 바탕으로 하는 인간관계를 맺음으로써 인격적 성숙을 이룰 수 있으며, 이러한 의미에서 성의 인격적 가치는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사랑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과 밀접한 관련이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좋아하는 사람이 힘들 때 곁에 있어 주는 마음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사랑의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상대방을 아끼고 소중하게 여기는 마음으로, 상대방에게 적극적인 관심을 기울이고 그 사람이 원하는 것을 헤아려 베풀고자 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좋아하는 간식을 기억해 두었다가 건네는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우리는 타인을 사랑하며 책임, 존경, 이해, 보호 등과 같은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인격적 </a:t>
            </a:r>
            <a:r>
              <a:rPr sz="2400" b="0">
                <a:solidFill>
                  <a:srgbClr val="262626"/>
                </a:solidFill>
              </a:rPr>
              <a:t> 가치를 쌓아 나갈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사랑의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상대방을 아끼고 소중하게 여기는 마음으로, 상대방에게 적극적인 관심을 기울이고 그 사람이 원하는 것을 헤아려 베풀고자 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친구가 좋아하는 간식을 기억해 두었다가 건네는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타인을 사랑하며 책임, 존경, 이해, 보호 등과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인격적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쌓아 나갈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사랑의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상대방을 아끼고 소중하게 여기는 마음으로, 상대방에게 적극적인 관심을 기울이고 그 사람이 원하는 것을 헤아려 베풀고자 하는 마음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친구가 좋아하는 간식을 기억해 두었다가 건네는 것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우리는 타인을 사랑하며 책임, 존경, 이해, 보호 등과 같은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인격적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가치를 쌓아 나갈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반 친구들이 한 친구의 몸의 변화를 두고 별명을 붙여 부른다.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웃어 넘긴다 — 장난인데 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말린다 — 친구가 수치심을 느낄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성의 인격적 가치에 비추어 보면?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반 친구들이 한 친구의 몸의 변화를 두고 별명을 붙여 부른다.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웃어 넘긴다 — 장난인데 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말린다 — 친구가 수치심을 느낄 수 있다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성의 인격적 가치에 비추어 보면?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사회·문화적 성은 남자와 여자를 구분하는 생물학적 차이를 나타낸다.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성은 성적 활동이 즐거움을 준다는 점에서 쾌락적 가치가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인간은 성을 통해 타인과 교류하며 인격적으로 성숙할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사랑이란 상대방을 아끼고 소중하게 여기는 마음이다.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사회·문화적 성은 남자와 여자를 구분하는 생물학적 차이를 나타낸다.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성은 성적 활동이 즐거움을 준다는 점에서 쾌락적 가치가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인간은 성을 통해 타인과 교류하며 인격적으로 성숙할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사랑이란 상대방을 아끼고 소중하게 여기는 마음이다.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사회·문화적 성은 남자와 여자를 구분하는 생물학적 차이를 나타낸다.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성은 성적 활동이 즐거움을 준다는 점에서 쾌락적 가치가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인간은 성을 통해 타인과 교류하며 인격적으로 성숙할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사랑이란 상대방을 아끼고 소중하게 여기는 마음이다.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사회·문화적 성은 남자와 여자를 구분하는 생물학적 차이를 나타낸다.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성은 성적 활동이 즐거움을 준다는 점에서 쾌락적 가치가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인간은 성을 통해 타인과 교류하며 인격적으로 성숙할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사랑이란 상대방을 아끼고 소중하게 여기는 마음이다.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사회·문화적 성은 남자와 여자를 구분하는 생물학적 차이를 나타낸다.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성은 성적 활동이 즐거움을 준다는 점에서 쾌락적 가치가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인간은 성을 통해 타인과 교류하며 인격적으로 성숙할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사랑이란 상대방을 아끼고 소중하게 여기는 마음이다.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어떤 의미일까?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사춘기에 목소리가 변한다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좋아하는 사람을 보면 설렌다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성에 대한 나의 태도와 가치관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사춘기에 목소리가 변한다</a:t>
            </a:r>
            <a:r>
              <a:rPr sz="2300" b="1">
                <a:solidFill>
                  <a:srgbClr val="C0392B"/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좋아하는 사람을 보면 설렌다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성에 대한 나의 태도와 가치관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사춘기에 목소리가 변한다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/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좋아하는 사람을 보면 설렌다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성에 대한 나의 태도와 가치관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사춘기에 목소리가 변한다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좋아하는 사람을 보면 설렌다</a:t>
            </a:r>
            <a:r>
              <a:rPr sz="2300" b="1">
                <a:solidFill>
                  <a:srgbClr val="C0392B"/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성에 대한 나의 태도와 가치관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사춘기에 목소리가 변한다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좋아하는 사람을 보면 설렌다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/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성에 대한 나의 태도와 가치관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생물학적 성 · 사회문화적 성 · 성적인 것 전반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사춘기에 목소리가 변한다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생물학적 성 (sex)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“남자는 파랑, 여자는 분홍”이라는 생각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좋아하는 사람을 보면 설렌다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성적인 것 전반 (sexuality)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시대에 따라 남녀의 역할이 달라졌다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사회문화적 성 (gender)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성에 대한 나의 태도와 가치관</a:t>
            </a:r>
            <a:r>
              <a:rPr sz="2300" b="1">
                <a:solidFill>
                  <a:srgbClr val="C0392B"/>
                </a:solidFill>
              </a:rPr>
              <a:t>   → 성적인 것 전반 (sexuality)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성의 세 가지 가치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생물학적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임신과 출산으로 종족 보존 → 성적인 행동에는 책임이 따른다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쾌락적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즐거움을 준다 → 지나치면 해로우니 절제가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🃏 인격적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타인과 교류하며 인격적으로 성숙 → 사랑과 밀접하다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생물학적 가치</a:t>
            </a:r>
            <a:r>
              <a:rPr sz="2300" b="1">
                <a:solidFill>
                  <a:srgbClr val="C0392B"/>
                </a:solidFill>
              </a:rPr>
              <a:t>   → 임신과 출산으로 종족 보존 → 성적인 행동에는 책임이 따른다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쾌락적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즐거움을 준다 → 지나치면 해로우니 절제가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인격적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타인과 교류하며 인격적으로 성숙 → 사랑과 밀접하다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생물학적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임신과 출산으로 종족 보존 → 성적인 행동에는 책임이 따른다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쾌락적 가치</a:t>
            </a:r>
            <a:r>
              <a:rPr sz="2300" b="1">
                <a:solidFill>
                  <a:srgbClr val="C0392B"/>
                </a:solidFill>
              </a:rPr>
              <a:t>   → 즐거움을 준다 → 지나치면 해로우니 절제가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인격적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타인과 교류하며 인격적으로 성숙 → 사랑과 밀접하다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카드를 뒤집으면?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생물학적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임신과 출산으로 종족 보존 → 성적인 행동에는 책임이 따른다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쾌락적 가치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즐거움을 준다 → 지나치면 해로우니 절제가 필요하다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🃏 인격적 가치</a:t>
            </a:r>
            <a:r>
              <a:rPr sz="2300" b="1">
                <a:solidFill>
                  <a:srgbClr val="C0392B"/>
                </a:solidFill>
              </a:rPr>
              <a:t>   → 타인과 교류하며 인격적으로 성숙 → 사랑과 밀접하다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0" name="그림 29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8011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나는 어떻게 생각할까?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n-ea"/>
              </a:rPr>
              <a:t>01. </a:t>
            </a:r>
            <a:r>
              <a:rPr lang="ko-KR" altLang="en-US" b="1" dirty="0">
                <a:latin typeface="+mn-ea"/>
              </a:rPr>
              <a:t>성의 의미와 가치는 무엇일까</a:t>
            </a:r>
            <a:r>
              <a:rPr lang="en-US" altLang="ko-KR" b="1" dirty="0" smtClean="0">
                <a:latin typeface="+mn-ea"/>
              </a:rPr>
              <a:t>?</a:t>
            </a:r>
            <a:endParaRPr lang="en-US" altLang="ko-KR" b="1" dirty="0">
              <a:ln w="22225">
                <a:noFill/>
                <a:prstDash val="solid"/>
              </a:ln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성윤리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494518" y="90736"/>
            <a:ext cx="570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“성에 대해 이야기하는 것은 부끄러운 일이다”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“친구의 몸을 두고 놀리는 것은 장난일 뿐이다”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“성은 나와 상대의 인격과 연결되어 있다”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동의하지 않는다  ① ── ② ── ③ ── ④ ── ⑤  동의한다   (교실 앞 줄에 서 보기)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9205</TotalTime>
  <Words>898</Words>
  <Application>Microsoft Office PowerPoint</Application>
  <PresentationFormat>와이드스크린</PresentationFormat>
  <Paragraphs>170</Paragraphs>
  <Slides>17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굴림</vt:lpstr>
      <vt:lpstr>나눔스퀘어라운드 ExtraBold</vt:lpstr>
      <vt:lpstr>돋움</vt:lpstr>
      <vt:lpstr>맑은 고딕</vt:lpstr>
      <vt:lpstr>Arial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208</cp:revision>
  <cp:lastPrinted>2024-06-05T04:53:22Z</cp:lastPrinted>
  <dcterms:created xsi:type="dcterms:W3CDTF">2023-10-31T05:50:03Z</dcterms:created>
  <dcterms:modified xsi:type="dcterms:W3CDTF">2025-01-14T04:21:27Z</dcterms:modified>
</cp:coreProperties>
</file>