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418" r:id="rId4"/>
    <p:sldId id="305" r:id="rId5"/>
    <p:sldId id="306" r:id="rId6"/>
    <p:sldId id="446" r:id="rId7"/>
    <p:sldId id="270" r:id="rId8"/>
    <p:sldId id="460" r:id="rId35"/>
    <p:sldId id="420" r:id="rId9"/>
    <p:sldId id="447" r:id="rId10"/>
    <p:sldId id="455" r:id="rId30"/>
    <p:sldId id="456" r:id="rId31"/>
    <p:sldId id="435" r:id="rId11"/>
    <p:sldId id="448" r:id="rId12"/>
    <p:sldId id="449" r:id="rId13"/>
    <p:sldId id="442" r:id="rId14"/>
    <p:sldId id="436" r:id="rId15"/>
    <p:sldId id="438" r:id="rId16"/>
    <p:sldId id="450" r:id="rId17"/>
    <p:sldId id="457" r:id="rId32"/>
    <p:sldId id="458" r:id="rId33"/>
    <p:sldId id="459" r:id="rId34"/>
    <p:sldId id="451" r:id="rId18"/>
    <p:sldId id="452" r:id="rId19"/>
    <p:sldId id="453" r:id="rId20"/>
    <p:sldId id="454" r:id="rId21"/>
    <p:sldId id="461" r:id="rId36"/>
    <p:sldId id="462" r:id="rId37"/>
    <p:sldId id="463" r:id="rId38"/>
    <p:sldId id="464" r:id="rId39"/>
    <p:sldId id="380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=""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F0F9E8"/>
    <a:srgbClr val="C5C5E9"/>
    <a:srgbClr val="ABE3F2"/>
    <a:srgbClr val="D4EEC8"/>
    <a:srgbClr val="87D272"/>
    <a:srgbClr val="FFF7EE"/>
    <a:srgbClr val="95D0E9"/>
    <a:srgbClr val="96B7E3"/>
    <a:srgbClr val="D1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3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-576" y="-96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77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#LikeAGirl</a:t>
            </a:r>
          </a:p>
          <a:p>
            <a:r>
              <a:t>다큐멘터리 감독 로런 그린필드가 만든 영상. 사춘기 무렵 여자아이들의 자신감이 떨어지는 문제와 일상 언어 속 편견을 보여 주었다. 남자아이에게 “남자가 울면 안 돼”도 같은 편견.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125쪽 자료</a:t>
            </a:r>
          </a:p>
          <a:p>
            <a:r>
              <a:t>기저귀 교환대·유아 동반자 배려석 표지판의 보호자가 늘 치마 입은 여성 → 성을 특정하지 않는 표지판으로 바뀌고 있다. 성 인지 감수성: 일상의 성차별적 요소를 민감하게 알아차리는 능력.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일상 언어 점검</a:t>
            </a:r>
          </a:p>
          <a:p>
            <a:r>
              <a:t>활동 화면 7의 OX로 확인. “그런 말은 고정관념 같아”라고 부드럽게 말하는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연구 · 「과학자 그리기 검사」</a:t>
            </a:r>
          </a:p>
          <a:p>
            <a:r>
              <a:t>데이비드 체임버스가 1983년 발표한 연구: 4,807명 가운데 여성 과학자를 그린 아이는 28명뿐. 2018년 밀러 등이 50년간의 연구를 모아 보니 여성 과학자를 그리는 비율이 크게 늘었다(1960~70년대 1% 미만 → 1985~2016년 연구 평균 약 28%). 고정관념은 바뀔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편견이 담긴 말을 찾아 바로잡고, 우리 반 공약을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편견이 담긴 말을 찾아 바로잡고, 우리 반 공약을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편견이 담긴 말을 찾아 바로잡고, 우리 반 공약을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=""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=""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=""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=""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=""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=""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=""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성윤리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39" y="2268741"/>
            <a:ext cx="79422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성에 대한 편견을 어떻게 바로잡을 수 있을까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=""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=""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=""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성에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대한 편견의 문제점을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 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3079055"/>
            <a:ext cx="10293350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=""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=""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090930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성에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대한 편견을 바로잡으려는 의지를 기른다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2" y="1344034"/>
            <a:ext cx="9171071" cy="5513966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1344034"/>
            <a:ext cx="990282" cy="5513966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0161353" y="1344034"/>
            <a:ext cx="1647469" cy="5513966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3243941" y="1344034"/>
            <a:ext cx="1223555" cy="59085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73507"/>
            <a:ext cx="10293349" cy="252295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93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pc="-100" dirty="0">
                <a:latin typeface="+mn-ea"/>
              </a:rPr>
              <a:t>다음 그림을 보고 성별에 따른 역할이나 성향이 정해져 있다는 주장에 관한 자신의 생각을 써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2231792"/>
            <a:ext cx="487174" cy="487174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1792"/>
            <a:ext cx="1087577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08654" y="2873507"/>
            <a:ext cx="97891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성별에 따른 역할이나 성향은 사회적 상황에 따라 달라지는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여러 부족의 사례에서 알 수 있듯 사회마다 남성과 여성에게 기대되는 역할이나 성향이 각기 다르다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성별에 따른 역할이나 성향은 고정된 것이 아니며 사회 변화에 따라 계속해서 바뀌어 나갈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213618" y="1680949"/>
            <a:ext cx="11228288" cy="4469220"/>
            <a:chOff x="213618" y="1680949"/>
            <a:chExt cx="11228288" cy="446922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618" y="1859585"/>
              <a:ext cx="11228288" cy="3964512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3162925" y="1680949"/>
              <a:ext cx="8213000" cy="462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479684" y="5350589"/>
              <a:ext cx="1494759" cy="652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787946" y="5498025"/>
              <a:ext cx="372994" cy="652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40956" y="1400886"/>
            <a:ext cx="11253562" cy="5040836"/>
            <a:chOff x="240956" y="1460846"/>
            <a:chExt cx="11253562" cy="504083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956" y="1680949"/>
              <a:ext cx="11216744" cy="4820733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3550024" y="5035796"/>
              <a:ext cx="7944494" cy="1465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727586" y="1460846"/>
              <a:ext cx="8766932" cy="709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 7"/>
            <p:cNvSpPr/>
            <p:nvPr/>
          </p:nvSpPr>
          <p:spPr>
            <a:xfrm>
              <a:off x="1918741" y="1633928"/>
              <a:ext cx="884419" cy="629586"/>
            </a:xfrm>
            <a:custGeom>
              <a:avLst/>
              <a:gdLst>
                <a:gd name="connsiteX0" fmla="*/ 0 w 884419"/>
                <a:gd name="connsiteY0" fmla="*/ 74950 h 629586"/>
                <a:gd name="connsiteX1" fmla="*/ 494675 w 884419"/>
                <a:gd name="connsiteY1" fmla="*/ 224852 h 629586"/>
                <a:gd name="connsiteX2" fmla="*/ 884419 w 884419"/>
                <a:gd name="connsiteY2" fmla="*/ 629586 h 629586"/>
                <a:gd name="connsiteX3" fmla="*/ 884419 w 884419"/>
                <a:gd name="connsiteY3" fmla="*/ 0 h 629586"/>
                <a:gd name="connsiteX4" fmla="*/ 14990 w 884419"/>
                <a:gd name="connsiteY4" fmla="*/ 0 h 629586"/>
                <a:gd name="connsiteX5" fmla="*/ 0 w 884419"/>
                <a:gd name="connsiteY5" fmla="*/ 74950 h 62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4419" h="629586">
                  <a:moveTo>
                    <a:pt x="0" y="74950"/>
                  </a:moveTo>
                  <a:lnTo>
                    <a:pt x="494675" y="224852"/>
                  </a:lnTo>
                  <a:lnTo>
                    <a:pt x="884419" y="629586"/>
                  </a:lnTo>
                  <a:lnTo>
                    <a:pt x="884419" y="0"/>
                  </a:lnTo>
                  <a:lnTo>
                    <a:pt x="14990" y="0"/>
                  </a:lnTo>
                  <a:lnTo>
                    <a:pt x="0" y="749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2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1017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위 만화 속 성에 대한 편견은 어떤 문제를 일으킬지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078"/>
            <a:ext cx="10293350" cy="313087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62947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만화에서는 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’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남자는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힘이 세고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여자는 깔끔하다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.’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라는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성에 대한 편견 때문에 개개인의 능력에 맞는 역할이 적절하게 분배되지 못하였다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 때문에 강당 청소의 효율성이 성에 대한 편견 없이 역할을 적절히 분배했을 때보다 떨어졌을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 역할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뜻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성별에 </a:t>
            </a:r>
            <a:r>
              <a:rPr lang="ko-KR" altLang="en-US" sz="2400" dirty="0">
                <a:latin typeface="+mn-ea"/>
              </a:rPr>
              <a:t>따라 남성과 여성에게 기대되는 특정한 행동이나 </a:t>
            </a:r>
            <a:r>
              <a:rPr lang="ko-KR" altLang="en-US" sz="2400" dirty="0" smtClean="0">
                <a:latin typeface="+mn-ea"/>
              </a:rPr>
              <a:t>생각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err="1">
                <a:latin typeface="+mn-ea"/>
              </a:rPr>
              <a:t>성역할은</a:t>
            </a:r>
            <a:r>
              <a:rPr lang="ko-KR" altLang="en-US" sz="2400" dirty="0">
                <a:latin typeface="+mn-ea"/>
              </a:rPr>
              <a:t> 고정된 것이 아니며 사회나 시대에 따라 바뀔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역할 고정관념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뜻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성별에 </a:t>
            </a:r>
            <a:r>
              <a:rPr lang="ko-KR" altLang="en-US" sz="2400" dirty="0">
                <a:latin typeface="+mn-ea"/>
              </a:rPr>
              <a:t>따른 역할이 고정되어 있다는 </a:t>
            </a:r>
            <a:r>
              <a:rPr lang="ko-KR" altLang="en-US" sz="2400" dirty="0" smtClean="0">
                <a:latin typeface="+mn-ea"/>
              </a:rPr>
              <a:t>생각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성역할 고정 관념은 ‘운전은 남자가 해야 해</a:t>
            </a:r>
            <a:r>
              <a:rPr lang="en-US" altLang="ko-KR" sz="2400" dirty="0">
                <a:latin typeface="+mn-ea"/>
              </a:rPr>
              <a:t>.’, ‘</a:t>
            </a:r>
            <a:r>
              <a:rPr lang="ko-KR" altLang="en-US" sz="2400" dirty="0">
                <a:latin typeface="+mn-ea"/>
              </a:rPr>
              <a:t>화장은 여자가 하는 거야</a:t>
            </a:r>
            <a:r>
              <a:rPr lang="en-US" altLang="ko-KR" sz="2400" dirty="0">
                <a:latin typeface="+mn-ea"/>
              </a:rPr>
              <a:t>.’ </a:t>
            </a:r>
            <a:r>
              <a:rPr lang="ko-KR" altLang="en-US" sz="2400" dirty="0">
                <a:latin typeface="+mn-ea"/>
              </a:rPr>
              <a:t>등 성에 대한 편견으로 </a:t>
            </a:r>
            <a:r>
              <a:rPr lang="ko-KR" altLang="en-US" sz="2400" dirty="0" smtClean="0">
                <a:latin typeface="+mn-ea"/>
              </a:rPr>
              <a:t>이어질 수 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편견의 문제점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성에 대한 편견의 문제점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성에 </a:t>
            </a:r>
            <a:r>
              <a:rPr lang="ko-KR" altLang="en-US" sz="2400" dirty="0">
                <a:latin typeface="+mn-ea"/>
              </a:rPr>
              <a:t>대한 편견은 </a:t>
            </a:r>
            <a:r>
              <a:rPr lang="ko-KR" altLang="en-US" sz="2400" dirty="0" err="1">
                <a:latin typeface="+mn-ea"/>
              </a:rPr>
              <a:t>성역할을</a:t>
            </a:r>
            <a:r>
              <a:rPr lang="ko-KR" altLang="en-US" sz="2400" dirty="0">
                <a:latin typeface="+mn-ea"/>
              </a:rPr>
              <a:t> 강요하거나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성별을 이유로 어느 한쪽의 성을 부당하게 차별하는 성차별로 이어질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성차별이 </a:t>
            </a:r>
            <a:r>
              <a:rPr lang="ko-KR" altLang="en-US" sz="2400" dirty="0">
                <a:latin typeface="+mn-ea"/>
              </a:rPr>
              <a:t>있는 사회에서는 개인이 능력을 마음껏 발휘하며 자아를 실현하기 어렵고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이는 사회적으로도 큰 손실을 </a:t>
            </a:r>
            <a:r>
              <a:rPr lang="ko-KR" altLang="en-US" sz="2400" dirty="0" smtClean="0">
                <a:latin typeface="+mn-ea"/>
              </a:rPr>
              <a:t>가져옴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편견의 문제점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77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" y="1285015"/>
            <a:ext cx="6190938" cy="5572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50024" y="1596520"/>
            <a:ext cx="7891881" cy="349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최근에는 남자 간호사가 많이 늘었지만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아직도 사람들은 남자 간호사를 신기한 존재로 여기고는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또한 남자 간호사를 ‘여성스러운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남자’라고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오해하기도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이러한 고정 관념은 간호사 중 여자의 비율이 남자보다 높았던 데에서 비롯할 뿐이다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간호사는 성별로 구분되지 않는다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회사원이 남자와 여자로 구분되지 않듯이 간호사 역시 그냥 간호사일 뿐이다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김진수 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간호사가 되기로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했다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읽</a:t>
            </a:r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85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그림 표지판에 담긴 성역할 고정 관념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16622" y="2085237"/>
            <a:ext cx="1110075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공중화장실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횡단보도 앞 신호등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건물의 비상구 등 곳곳에는 수많은 그림 표지 판이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그림 표지판은 어떤 사실을 알리고자 그림으로 일정한 표시를 해 놓은 판이다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여기에 성역할 고정 관념이 담겨 있으면 어떨까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69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그림 표지판에 담긴 성역할 고정 관념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16622" y="2075814"/>
            <a:ext cx="755514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기저귀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교환대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유아 동반자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배려석처럼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어린아이와 보호자가 등장하는 그림 표지판에는 주로 보호자를 치마를 입은 여성으로 묘사한다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여기에는 여성은 육아를 담당하며 치마를 입는다는 성역할 고정 관념이 담겨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성역할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고정 관념이 담긴 그림 표지판은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성역할에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대한 개인의 인식과 더불어 사회적 인식에도 영향을 미친다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이러한 문제의식을 바탕으로 오늘날에는 성을 특정하지 않은 그림 표지판이 점차 생겨나고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693" y="2075814"/>
            <a:ext cx="3422755" cy="3950233"/>
          </a:xfrm>
          <a:prstGeom prst="rect">
            <a:avLst/>
          </a:prstGeom>
        </p:spPr>
      </p:pic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11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09908" y="1690649"/>
            <a:ext cx="1064978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과거 교복 신청 양식에는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여학생의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교복 하의가 치마로 정해져 있어 여학생이 바지를 구매하려면 추가 금액을 내야 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이에 대해 ‘교복을 남학생은 바지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여학생은 치마로 규정해 개인이 선택할 수 없는 것은 심각한 학생 인권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침해’라는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지적이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이후 국민 권익 위원회는 전국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17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개 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도 교육청에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제도 개선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을 권고했고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이에 따라 여학생 교복 신청 양식에 바지 선택 항목이 추가되었다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87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383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밑줄 친 </a:t>
            </a:r>
            <a:r>
              <a:rPr lang="en-US" altLang="ko-KR" sz="2000" b="1" dirty="0">
                <a:latin typeface="+mn-ea"/>
              </a:rPr>
              <a:t>‘</a:t>
            </a:r>
            <a:r>
              <a:rPr lang="ko-KR" altLang="en-US" sz="2000" b="1" dirty="0">
                <a:latin typeface="+mn-ea"/>
              </a:rPr>
              <a:t>제도 개선</a:t>
            </a:r>
            <a:r>
              <a:rPr lang="en-US" altLang="ko-KR" sz="2000" b="1" dirty="0">
                <a:latin typeface="+mn-ea"/>
              </a:rPr>
              <a:t>’</a:t>
            </a:r>
            <a:r>
              <a:rPr lang="ko-KR" altLang="en-US" sz="2000" b="1" dirty="0">
                <a:latin typeface="+mn-ea"/>
              </a:rPr>
              <a:t>이 가져올 긍정적 효과를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078"/>
            <a:ext cx="10293350" cy="320428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362947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시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도 교육청의 제도 개선으로 여학생이 교복 하의를 자신의 취향에 따라 선택하여 구매하는 것이 편리해졌다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교복 치마보다 활동이 편한 교복 바지를 입는 여학생이 점차 많아질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이를 통해 남학생은 교복 바지를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여학생은 교복 치마를 입어야 한다는 성에 대한 편견을 바로잡을 수 있을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0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286" y="1455635"/>
            <a:ext cx="10873231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성역할 고정 관념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극복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성역할 </a:t>
            </a:r>
            <a:r>
              <a:rPr lang="ko-KR" altLang="en-US" sz="2400" dirty="0">
                <a:latin typeface="+mn-ea"/>
              </a:rPr>
              <a:t>고정 관념에서 벗어나 개개인의 특성을 인정할 때 구성원 모두가 자유롭고 평등하게 살아가는 사회를 만들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법과 제도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개선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다양한 </a:t>
            </a:r>
            <a:r>
              <a:rPr lang="ko-KR" altLang="en-US" sz="2400" dirty="0" smtClean="0">
                <a:latin typeface="+mn-ea"/>
              </a:rPr>
              <a:t>법적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 ∙ </a:t>
            </a:r>
            <a:r>
              <a:rPr lang="ko-KR" altLang="en-US" sz="2400" dirty="0" smtClean="0">
                <a:latin typeface="+mn-ea"/>
              </a:rPr>
              <a:t>제도적 </a:t>
            </a:r>
            <a:r>
              <a:rPr lang="ko-KR" altLang="en-US" sz="2400" dirty="0">
                <a:latin typeface="+mn-ea"/>
              </a:rPr>
              <a:t>장치를 마련하고 개선해 나가야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우리나라의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「남녀 고용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평등과 일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 ∙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가정 양립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지원에 관한 </a:t>
            </a:r>
            <a:r>
              <a:rPr lang="ko-KR" altLang="en-US" sz="2200" dirty="0" err="1">
                <a:solidFill>
                  <a:srgbClr val="843C0C"/>
                </a:solidFill>
                <a:latin typeface="+mn-ea"/>
              </a:rPr>
              <a:t>법률」은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 남녀가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고용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 ∙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승진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 ∙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퇴직 등에서 평등하게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대우받도록 보장하고</a:t>
            </a:r>
            <a:r>
              <a:rPr lang="en-US" altLang="ko-KR" sz="2200" dirty="0">
                <a:solidFill>
                  <a:srgbClr val="843C0C"/>
                </a:solidFill>
                <a:latin typeface="+mn-ea"/>
              </a:rPr>
              <a:t>, </a:t>
            </a:r>
            <a:r>
              <a:rPr lang="ko-KR" altLang="en-US" sz="2200" dirty="0">
                <a:solidFill>
                  <a:srgbClr val="843C0C"/>
                </a:solidFill>
                <a:latin typeface="+mn-ea"/>
              </a:rPr>
              <a:t>남녀 모두 육아 휴직 등을 사용할 수 있게 하여 우리 사회의 성차별적 요소를 바로잡는 역할을 하고 </a:t>
            </a: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있음</a:t>
            </a:r>
            <a:r>
              <a:rPr lang="en-US" altLang="ko-KR" sz="2200" dirty="0" smtClean="0">
                <a:solidFill>
                  <a:srgbClr val="843C0C"/>
                </a:solidFill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편견을 바로잡기 위한 노력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39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286" y="1455635"/>
            <a:ext cx="10873231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사회적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·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문화적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분위기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개선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사회 </a:t>
            </a:r>
            <a:r>
              <a:rPr lang="ko-KR" altLang="en-US" sz="2400" dirty="0">
                <a:latin typeface="+mn-ea"/>
              </a:rPr>
              <a:t>구성원 모두 대중 매체에서 접하는 성차별적 요소를 점검하고 비판적으로 받아들이고자 노력해야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일상생활 </a:t>
            </a:r>
            <a:r>
              <a:rPr lang="ko-KR" altLang="en-US" sz="2400" dirty="0">
                <a:latin typeface="+mn-ea"/>
              </a:rPr>
              <a:t>속에서 성차별적 요소를 민감하게 감지해 내는 능력인 ‘성 인지 </a:t>
            </a:r>
            <a:r>
              <a:rPr lang="ko-KR" altLang="en-US" sz="2400" dirty="0" err="1">
                <a:latin typeface="+mn-ea"/>
              </a:rPr>
              <a:t>감수성’에</a:t>
            </a:r>
            <a:r>
              <a:rPr lang="ko-KR" altLang="en-US" sz="2400" dirty="0">
                <a:latin typeface="+mn-ea"/>
              </a:rPr>
              <a:t> 관한 교육을 실시하는 등 성에 대한 편견을 바로잡기 위한 다양한 인식 개선 활동도 </a:t>
            </a:r>
            <a:r>
              <a:rPr lang="ko-KR" altLang="en-US" sz="2400" dirty="0" smtClean="0">
                <a:latin typeface="+mn-ea"/>
              </a:rPr>
              <a:t>필요함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200" dirty="0" smtClean="0">
              <a:solidFill>
                <a:srgbClr val="843C0C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편견을 바로잡기 위한 노력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02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36" y="2446253"/>
            <a:ext cx="9642609" cy="4401992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=""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일상에서 사용하는 여러 말 중 성에 대한 편견이 담긴 말을 세 가지 찾고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이를 바로잡아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331" y="2672667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855" y="2672667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성에 대한 편견이 담긴 말 바로잡기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508503" y="3998828"/>
            <a:ext cx="7521128" cy="2062103"/>
            <a:chOff x="7125022" y="2838598"/>
            <a:chExt cx="3705170" cy="2062103"/>
          </a:xfrm>
        </p:grpSpPr>
        <p:sp>
          <p:nvSpPr>
            <p:cNvPr id="32" name="TextBox 31"/>
            <p:cNvSpPr txBox="1"/>
            <p:nvPr/>
          </p:nvSpPr>
          <p:spPr>
            <a:xfrm>
              <a:off x="7125022" y="2838598"/>
              <a:ext cx="156587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집사람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endParaRPr lang="en-US" altLang="ko-KR" sz="3200" dirty="0" smtClean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  <a:p>
              <a:pPr algn="just"/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여자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셋이 모이면 접시가 깨진다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75240" y="2838598"/>
              <a:ext cx="1654952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동반자</a:t>
              </a:r>
              <a:endPara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endParaRPr lang="en-US" altLang="ko-KR" sz="32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  <a:p>
              <a:pPr algn="just"/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여자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셋이 모이면 무슨 일이든 해낸다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380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=""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성에 대한 편견이 담긴 말 바로잡기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pic>
        <p:nvPicPr>
          <p:cNvPr id="22" name="그림 21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737137"/>
            <a:ext cx="487174" cy="487174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37137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57069"/>
            <a:ext cx="10293350" cy="215497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9524" y="2377937"/>
            <a:ext cx="98702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남자는 집 밖에서 일하고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여자는 집 안에서 일한다는 성차별적인 인식을 바로잡고자 하였다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여자가 모이면 시끄럽고 유난스럽다는 편견을 바로잡으려고 하였다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7401" y="1613182"/>
            <a:ext cx="81017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</a:t>
            </a:r>
            <a:r>
              <a:rPr lang="en-US" altLang="ko-KR" sz="2000" b="1" dirty="0"/>
              <a:t>. 1</a:t>
            </a:r>
            <a:r>
              <a:rPr lang="ko-KR" altLang="en-US" sz="2000" b="1" dirty="0"/>
              <a:t>과 같이 바로잡은 까닭을 써 보자</a:t>
            </a:r>
            <a:r>
              <a:rPr lang="en-US" altLang="ko-KR" sz="2000" b="1" dirty="0" smtClean="0"/>
              <a:t>.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842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=""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79668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3. </a:t>
            </a:r>
            <a:r>
              <a:rPr lang="ko-KR" altLang="en-US" sz="2000" b="1" dirty="0">
                <a:latin typeface="+mn-ea"/>
              </a:rPr>
              <a:t>내가 바로잡은 말을 친구들에게 발표한 뒤 느낀 점을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성에 대한 편견이 담긴 말 바로잡기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pic>
        <p:nvPicPr>
          <p:cNvPr id="22" name="그림 21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737137"/>
            <a:ext cx="487174" cy="487174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37137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57069"/>
            <a:ext cx="10293350" cy="215497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9524" y="2377937"/>
            <a:ext cx="98702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나도 모르는 사이에 성에 대한 편견이 담긴 말을 하고 있었던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성에 대한 편견이 담긴 말을 사용하지 않도록 주의해야겠다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393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=""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성에 대한 편견의 문제점을 되새겨 보고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이를 바로잡기 위해 앞으로 노력할 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성역할 고정 관념에서 벗어나 개개인의 특성을 존중하고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대중 매체 속 성차별적 요소를 점검하고 비판적으로 받아들이려고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노력할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992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정의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정의가 실현되는 사회는 어떤 사회일까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=""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편견의 문제점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성에 대한 편견은 성역할을 강요하거나 성별을 이유로 어느 한쪽의 성을 부당하게 차별하는 성차별로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성차별이 있는 사회에서는 개인이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자아 </a:t>
            </a:r>
            <a:r>
              <a:rPr sz="2400" b="0">
                <a:solidFill>
                  <a:srgbClr val="262626"/>
                </a:solidFill>
              </a:rPr>
              <a:t>를 실현하기 어렵고, 이는 사회적으로도 큰 손실을 가져옴.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“남자가 무슨 발레야?” 하는 말에 꿈을 접은 친구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성에 대한 편견은 성역할을 강요하거나 성별을 이유로 어느 한쪽의 성을 부당하게 차별하는 성차별로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성차별이 있는 사회에서는 개인이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자아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실현하기 어렵고, 이는 사회적으로도 큰 손실을 가져옴.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“남자가 무슨 발레야?” 하는 말에 꿈을 접은 친구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성에 대한 편견은 성역할을 강요하거나 성별을 이유로 어느 한쪽의 성을 부당하게 차별하는 성차별로 이어질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성차별이 있는 사회에서는 개인이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실현하기 어렵고, 이는 사회적으로도 큰 손실을 가져옴.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“남자가 무슨 발레야?” 하는 말에 꿈을 접은 친구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“여자애처럼 달려 봐”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2014년 · 생리대 브랜드 캠페인 영상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어른·남자아이 · “여자애처럼 달려 봐” 하자 머리를 매만지며 힘없이 뛰는 흉내를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어린 여자아이 · 같은 말을 듣자 있는 힘껏 달렸다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질문 · “여자애처럼”은 언제부터 놀리는 말이 되었을까?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반응 · ‘#LikeAGirl’ 캠페인으로 세계에 퍼졌다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말 한마디에 담긴 고정관념은?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2014년 · 생리대 브랜드 캠페인 영상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어른·남자아이 · “여자애처럼 달려 봐” 하자 머리를 매만지며 힘없이 뛰는 흉내를 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어린 여자아이 · 같은 말을 듣자 있는 힘껏 달렸다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질문 · “여자애처럼”은 언제부터 놀리는 말이 되었을까?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반응 · ‘#LikeAGirl’ 캠페인으로 세계에 퍼졌다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말 한마디에 담긴 고정관념은?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성에 대한 편견을 바로잡기 위한 노력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성역할 고정 관념 극복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성역할 고정 관념에서 벗어나 개개인의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특성 </a:t>
            </a:r>
            <a:r>
              <a:rPr sz="2400" b="0">
                <a:solidFill>
                  <a:srgbClr val="262626"/>
                </a:solidFill>
              </a:rPr>
              <a:t>을 인정할 때 구성원 모두가 자유롭고 평등하게 살아가는 사회를 만들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“간호사는 성별로 구분되지 않는다. 그냥 간호사일 뿐이다.”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법과 제도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성에 대한 편견을 바로잡으려면 다양한 법적·제도적 장치를 마련하고 개선해 나가야 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성역할 고정 관념 극복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성역할 고정 관념에서 벗어나 개개인의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특성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인정할 때 구성원 모두가 자유롭고 평등하게 살아가는 사회를 만들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“간호사는 성별로 구분되지 않는다. 그냥 간호사일 뿐이다.”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법과 제도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편견을 바로잡으려면 다양한 법적·제도적 장치를 마련하고 개선해 나가야 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성역할 고정 관념 극복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성역할 고정 관념에서 벗어나 개개인의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특성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인정할 때 구성원 모두가 자유롭고 평등하게 살아가는 사회를 만들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“간호사는 성별로 구분되지 않는다. 그냥 간호사일 뿐이다.”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법과 제도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편견을 바로잡으려면 다양한 법적·제도적 장치를 마련하고 개선해 나가야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>
                <a:solidFill>
                  <a:srgbClr val="FFFF00"/>
                </a:solidFill>
                <a:latin typeface="+mn-ea"/>
              </a:rPr>
              <a:t>성에 대한 편견을 바로잡기 위한 노력 (이어서)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남녀가 고용·승진·퇴직 등에서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평등 </a:t>
            </a:r>
            <a:r>
              <a:rPr sz="2400" b="0">
                <a:solidFill>
                  <a:srgbClr val="262626"/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성차별 </a:t>
            </a:r>
            <a:r>
              <a:rPr sz="2400" b="0">
                <a:solidFill>
                  <a:srgbClr val="262626"/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대중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매체 </a:t>
            </a:r>
            <a:r>
              <a:rPr sz="2400" b="0">
                <a:solidFill>
                  <a:srgbClr val="262626"/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「남녀 고용 평등과 일·가정 양립 지원에 관한 법률」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남녀가 고용·승진·퇴직 등에서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대우받도록 보장하고, 남녀 모두 육아 휴직 등을 사용할 수 있게 하여 우리 사회의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성차별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 요소를 바로잡는 역할을 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“여자니까 이과는 무리야.” — 꿈을 접은 친구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사회적·문화적 분위기 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성에 대한 편견이 담긴 사회적·문화적 분위기를 개선해야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대중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매체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접하는 성차별적 요소를 점검하고 비판적으로 받아들여야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예능 자막 “역시 여자는 요리!” — 고개를 끄덕이기 전에 따져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성에 대한 편견을 바로잡기 위한 다양한 인식 개선 활동이 필요함.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이 말, 괜찮을까?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 · “남자가 그것도 못 들어?”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 · “여자애가 왜 이렇게 털털해?”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 · “간호사는 여자, 소방관은 남자”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과학자를 그려 보세요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28명 · 1966~1977년 미국·캐나다 아이 4,807명 가운데 여성 과학자를 그린 아이 (모두 여자아이)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약 28% · 1985~2016년 연구를 모았을 때 여성 과학자를 그린 아이의 비율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성에 대한 편견은 성차별로 이어질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성에 대한 편견을 바로잡으려면 성역할 고정 관념에서 벗어나야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「남녀 고용 평등과 일·가정 양립 지원에 관한 법률」은 우리 사회의 성차별적 요소를 바로잡는 역할을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성에 대한 편견을 바로잡으려면 성 인지 감수성에 관한 교육을 실시하는 등 성에 대한 편견을 바로잡기 위한 인식 개선 활동이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성에 대한 편견은 성차별로 이어질 수 없다.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성에 대한 편견을 바로잡으려면 성역할 고정 관념에서 벗어나야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「남녀 고용 평등과 일·가정 양립 지원에 관한 법률」은 우리 사회의 성차별적 요소를 바로잡는 역할을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성에 대한 편견을 바로잡으려면 성 인지 감수성에 관한 교육을 실시하는 등 성에 대한 편견을 바로잡기 위한 인식 개선 활동이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성에 대한 편견은 성차별로 이어질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성에 대한 편견을 바로잡으려면 성역할 고정 관념에서 벗어나야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「남녀 고용 평등과 일·가정 양립 지원에 관한 법률」은 우리 사회의 성차별적 요소를 바로잡는 역할을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성에 대한 편견을 바로잡으려면 성 인지 감수성에 관한 교육을 실시하는 등 성에 대한 편견을 바로잡기 위한 인식 개선 활동이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성에 대한 편견은 성차별로 이어질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성에 대한 편견을 바로잡으려면 성역할 고정 관념에서 벗어나야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「남녀 고용 평등과 일·가정 양립 지원에 관한 법률」은 우리 사회의 성차별적 요소를 바로잡는 역할을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성에 대한 편견을 바로잡으려면 성 인지 감수성에 관한 교육을 실시하는 등 성에 대한 편견을 바로잡기 위한 인식 개선 활동이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성에 대한 편견은 성차별로 이어질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성에 대한 편견을 바로잡으려면 성역할 고정 관념에서 벗어나야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「남녀 고용 평등과 일·가정 양립 지원에 관한 법률」은 우리 사회의 성차별적 요소를 바로잡는 역할을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성에 대한 편견을 바로잡으려면 성 인지 감수성에 관한 교육을 실시하는 등 성에 대한 편견을 바로잡기 위한 인식 개선 활동이 필요하다.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➕ 방금 그린 과학자는?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남성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여성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성별이 드러나지 않음   ✋ ____ 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이 말, 괜찮을까?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“남자는 태어나서 세 번만 운다.”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누구든 슬플 때는 마음껏 운다(127쪽).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“간호사는 성별로 구분되지 않는다.”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125쪽.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“남학생은 힘이 세니 짐을, 여학생은 깔끔하니 빗자루질을.”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성역할 강요(124쪽).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“여자애처럼 달린다.”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#LikeAGirl — 놀림이 되는 말.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“남자는 태어나서 세 번만 운다.”  ( ○ / ✕ )</a:t>
            </a:r>
            <a:r>
              <a:rPr sz="2300" b="1">
                <a:solidFill>
                  <a:srgbClr val="C0392B"/>
                </a:solidFill>
              </a:rPr>
              <a:t>   ✕  누구든 슬플 때는 마음껏 운다(127쪽).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“간호사는 성별로 구분되지 않는다.”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125쪽.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“남학생은 힘이 세니 짐을, 여학생은 깔끔하니 빗자루질을.”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성역할 강요(124쪽).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“여자애처럼 달린다.”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#LikeAGirl — 놀림이 되는 말.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“남자는 태어나서 세 번만 운다.”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누구든 슬플 때는 마음껏 운다(127쪽).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“간호사는 성별로 구분되지 않는다.”  ( ○ / ✕ )</a:t>
            </a:r>
            <a:r>
              <a:rPr sz="2300" b="1">
                <a:solidFill>
                  <a:srgbClr val="C0392B"/>
                </a:solidFill>
              </a:rPr>
              <a:t>   ○  125쪽.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“남학생은 힘이 세니 짐을, 여학생은 깔끔하니 빗자루질을.”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성역할 강요(124쪽).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“여자애처럼 달린다.”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#LikeAGirl — 놀림이 되는 말.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“남자는 태어나서 세 번만 운다.”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누구든 슬플 때는 마음껏 운다(127쪽).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“간호사는 성별로 구분되지 않는다.”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125쪽.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“남학생은 힘이 세니 짐을, 여학생은 깔끔하니 빗자루질을.”  ( ○ / ✕ )</a:t>
            </a:r>
            <a:r>
              <a:rPr sz="2300" b="1">
                <a:solidFill>
                  <a:srgbClr val="C0392B"/>
                </a:solidFill>
              </a:rPr>
              <a:t>   ✕  성역할 강요(124쪽).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“여자애처럼 달린다.”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#LikeAGirl — 놀림이 되는 말.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“남자는 태어나서 세 번만 운다.”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누구든 슬플 때는 마음껏 운다(127쪽).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“간호사는 성별로 구분되지 않는다.”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125쪽.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“남학생은 힘이 세니 짐을, 여학생은 깔끔하니 빗자루질을.”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성역할 강요(124쪽).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“여자애처럼 달린다.”  ( ○ / ✕ )</a:t>
            </a:r>
            <a:r>
              <a:rPr sz="2300" b="1">
                <a:solidFill>
                  <a:srgbClr val="C0392B"/>
                </a:solidFill>
              </a:rPr>
              <a:t>   ✕  #LikeAGirl — 놀림이 되는 말.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편견이 담긴 말 바로잡기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03. </a:t>
            </a:r>
            <a:r>
              <a:rPr lang="ko-KR" altLang="en-US" b="1" dirty="0">
                <a:latin typeface="+mn-ea"/>
              </a:rPr>
              <a:t>성에 대한 편견을 어떻게 바로잡을 수 있을까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편견이 담긴 말 → 바로잡은 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“여자가 운전을 왜 해?” → “운전은 배우면 누구나 잘할 수 있어.”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바로잡은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능력은 성별이 아니라 연습과 경험으로 생긴다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편견이 담긴 말 → 바로잡은 말</a:t>
            </a:r>
            <a:r>
              <a:rPr sz="2300" b="1">
                <a:solidFill>
                  <a:srgbClr val="C0392B"/>
                </a:solidFill>
              </a:rPr>
              <a:t>   예) “여자가 운전을 왜 해?” → “운전은 배우면 누구나 잘할 수 있어.”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바로잡은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능력은 성별이 아니라 연습과 경험으로 생긴다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편견이 담긴 말 → 바로잡은 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“여자가 운전을 왜 해?” → “운전은 배우면 누구나 잘할 수 있어.”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바로잡은 까닭</a:t>
            </a:r>
            <a:r>
              <a:rPr sz="2300" b="1">
                <a:solidFill>
                  <a:srgbClr val="C0392B"/>
                </a:solidFill>
              </a:rPr>
              <a:t>   예) 능력은 성별이 아니라 연습과 경험으로 생긴다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9345</TotalTime>
  <Words>1321</Words>
  <Application>Microsoft Office PowerPoint</Application>
  <PresentationFormat>사용자 지정</PresentationFormat>
  <Paragraphs>208</Paragraphs>
  <Slides>21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db400tea</cp:lastModifiedBy>
  <cp:revision>240</cp:revision>
  <cp:lastPrinted>2024-06-05T04:53:22Z</cp:lastPrinted>
  <dcterms:created xsi:type="dcterms:W3CDTF">2023-10-31T05:50:03Z</dcterms:created>
  <dcterms:modified xsi:type="dcterms:W3CDTF">2024-12-03T04:22:37Z</dcterms:modified>
</cp:coreProperties>
</file>