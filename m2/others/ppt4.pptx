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5"/>
  </p:notesMasterIdLst>
  <p:handoutMasterIdLst>
    <p:handoutMasterId r:id="rId26"/>
  </p:handoutMasterIdLst>
  <p:sldIdLst>
    <p:sldId id="302" r:id="rId2"/>
    <p:sldId id="301" r:id="rId3"/>
    <p:sldId id="418" r:id="rId4"/>
    <p:sldId id="419" r:id="rId5"/>
    <p:sldId id="305" r:id="rId6"/>
    <p:sldId id="398" r:id="rId7"/>
    <p:sldId id="420" r:id="rId8"/>
    <p:sldId id="421" r:id="rId9"/>
    <p:sldId id="435" r:id="rId32"/>
    <p:sldId id="436" r:id="rId33"/>
    <p:sldId id="437" r:id="rId34"/>
    <p:sldId id="306" r:id="rId10"/>
    <p:sldId id="270" r:id="rId11"/>
    <p:sldId id="422" r:id="rId12"/>
    <p:sldId id="423" r:id="rId13"/>
    <p:sldId id="438" r:id="rId35"/>
    <p:sldId id="424" r:id="rId14"/>
    <p:sldId id="425" r:id="rId15"/>
    <p:sldId id="426" r:id="rId16"/>
    <p:sldId id="427" r:id="rId17"/>
    <p:sldId id="439" r:id="rId36"/>
    <p:sldId id="428" r:id="rId18"/>
    <p:sldId id="430" r:id="rId19"/>
    <p:sldId id="440" r:id="rId37"/>
    <p:sldId id="441" r:id="rId38"/>
    <p:sldId id="442" r:id="rId39"/>
    <p:sldId id="434" r:id="rId20"/>
    <p:sldId id="431" r:id="rId21"/>
    <p:sldId id="433" r:id="rId22"/>
    <p:sldId id="417" r:id="rId23"/>
    <p:sldId id="443" r:id="rId40"/>
    <p:sldId id="444" r:id="rId41"/>
    <p:sldId id="445" r:id="rId42"/>
    <p:sldId id="446" r:id="rId43"/>
    <p:sldId id="380" r:id="rId24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7EE"/>
    <a:srgbClr val="843C0C"/>
    <a:srgbClr val="95D0E9"/>
    <a:srgbClr val="96B7E3"/>
    <a:srgbClr val="F0F9E8"/>
    <a:srgbClr val="D1CFCF"/>
    <a:srgbClr val="94655A"/>
    <a:srgbClr val="C3EAE5"/>
    <a:srgbClr val="D9E1E9"/>
    <a:srgbClr val="EFF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3" autoAdjust="0"/>
    <p:restoredTop sz="96242" autoAdjust="0"/>
  </p:normalViewPr>
  <p:slideViewPr>
    <p:cSldViewPr snapToGrid="0">
      <p:cViewPr varScale="1">
        <p:scale>
          <a:sx n="93" d="100"/>
          <a:sy n="93" d="100"/>
        </p:scale>
        <p:origin x="150" y="90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commentAuthors" Target="commentAuthor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980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요한 갈퉁의 폭력 삼각형</a:t>
            </a:r>
          </a:p>
          <a:p>
            <a:r>
              <a:t>노르웨이의 평화학자 갈퉁. 눈에 보이는 직접적 폭력 아래에 구조적·문화적 폭력이 있다. “맞을 짓을 했다”, “남자는 맞으면서 크는 거야” 같은 말이 문화적 폭력.</a:t>
            </a:r>
          </a:p>
          <a:p>
            <a:r>
              <a:t>전쟁이 없는 상태(소극적 평화)를 넘어 구조적·문화적 폭력까지 없는 상태가 적극적 평화.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106쪽 기사</a:t>
            </a:r>
          </a:p>
          <a:p>
            <a:r>
              <a:t>가정 폭력은 ‘가족 일’이라며 쉬쉬하는 잘못된 인식 때문에 사각지대에 놓이기 쉽다(《경남일보》, 2021.12.20).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107쪽 · 폭력의 결과</a:t>
            </a:r>
          </a:p>
          <a:p>
            <a:r>
              <a:t>피해 경험이 있는 학생이 있을 수 있다. 사례는 담담하게 읽고, 도움받을 곳(117, 1388, 담임·상담 선생님)을 화면에 남겨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108쪽 자료</a:t>
            </a:r>
          </a:p>
          <a:p>
            <a:r>
              <a:t>방관자 효과: 목격자가 많을수록 아무도 행동하지 않는 현상. 도덕적 저항가: 침묵을 깨고 폭력을 방관하지 않는 사람 — 한 사람의 목소리로도 폭력을 막을 수 있다(캐서린 샌더슨).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대처 방법 (교과서 107~109쪽)</a:t>
            </a:r>
          </a:p>
          <a:p>
            <a:r>
              <a:t>117: 학교폭력 신고 센터(24시간). 신고는 고자질이 아니라 친구를 지키는 일. 보복이 걱정되면 선생님께 비밀 보장을 요청할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비폭력 저항</a:t>
            </a:r>
          </a:p>
          <a:p>
            <a:r>
              <a:t>간디의 사티아그라하(진리의 힘). 수만 명이 체포되었지만 세계의 여론이 움직였다. 비폭력은 수동적인 것이 아니라 용기 있는 행동.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폭력의 유형을 가려내고, 방관자가 아닌 도덕적 저항가가 되어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폭력의 유형을 가려내고, 방관자가 아닌 도덕적 저항가가 되어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폭력의 유형을 가려내고, 방관자가 아닌 도덕적 저항가가 되어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갈등과 폭력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71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폭력에 어떻게 대처해야 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818866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830741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폭력의 </a:t>
            </a:r>
            <a:r>
              <a:rPr lang="ko-KR" altLang="en-US" sz="2800" b="1" dirty="0">
                <a:solidFill>
                  <a:prstClr val="black"/>
                </a:solidFill>
              </a:rPr>
              <a:t>유형과 원인</a:t>
            </a:r>
            <a:r>
              <a:rPr lang="en-US" altLang="ko-KR" sz="2800" b="1" dirty="0">
                <a:solidFill>
                  <a:prstClr val="black"/>
                </a:solidFill>
              </a:rPr>
              <a:t>, </a:t>
            </a:r>
            <a:r>
              <a:rPr lang="ko-KR" altLang="en-US" sz="2800" b="1" dirty="0">
                <a:solidFill>
                  <a:prstClr val="black"/>
                </a:solidFill>
              </a:rPr>
              <a:t>결과를 설명할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3079055"/>
            <a:ext cx="10293350" cy="787400"/>
            <a:chOff x="914400" y="2362200"/>
            <a:chExt cx="10293350" cy="787400"/>
          </a:xfrm>
        </p:grpSpPr>
        <p:sp>
          <p:nvSpPr>
            <p:cNvPr id="25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3090930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폭력에 </a:t>
            </a:r>
            <a:r>
              <a:rPr lang="ko-KR" altLang="en-US" sz="2800" b="1" dirty="0">
                <a:solidFill>
                  <a:prstClr val="black"/>
                </a:solidFill>
              </a:rPr>
              <a:t>대처하는 능력을 기른다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62910" y="1484418"/>
            <a:ext cx="8212364" cy="5373582"/>
          </a:xfrm>
          <a:prstGeom prst="rect">
            <a:avLst/>
          </a:prstGeom>
          <a:solidFill>
            <a:srgbClr val="95D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2909" y="1373689"/>
            <a:ext cx="8212365" cy="84899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2909" y="2327273"/>
            <a:ext cx="6642008" cy="3775936"/>
          </a:xfrm>
          <a:prstGeom prst="rect">
            <a:avLst/>
          </a:prstGeom>
        </p:spPr>
      </p:pic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73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62910" y="1484418"/>
            <a:ext cx="8212364" cy="5373582"/>
          </a:xfrm>
          <a:prstGeom prst="rect">
            <a:avLst/>
          </a:prstGeom>
          <a:solidFill>
            <a:srgbClr val="95D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2909" y="1373689"/>
            <a:ext cx="8212365" cy="84899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2908" y="2222687"/>
            <a:ext cx="6437334" cy="3389331"/>
          </a:xfrm>
          <a:prstGeom prst="rect">
            <a:avLst/>
          </a:prstGeom>
        </p:spPr>
      </p:pic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37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325090" y="2967416"/>
            <a:ext cx="7755659" cy="2459608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40200" y="2848661"/>
            <a:ext cx="725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</a:rPr>
              <a:t>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내 생각에 ○○의 </a:t>
            </a:r>
            <a:r>
              <a:rPr lang="ko-KR" altLang="en-US" sz="2400" dirty="0" smtClean="0">
                <a:latin typeface="+mn-ea"/>
              </a:rPr>
              <a:t>행동은</a:t>
            </a:r>
            <a:endParaRPr lang="en-US" altLang="ko-KR" sz="2400" dirty="0" smtClean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 smtClean="0">
                <a:latin typeface="+mn-ea"/>
              </a:rPr>
              <a:t>왜냐하면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대화를 읽고 ○○의 행동이 장난인지 </a:t>
            </a:r>
            <a:r>
              <a:rPr lang="ko-KR" altLang="en-US" sz="2000" b="1" dirty="0" err="1">
                <a:latin typeface="+mn-ea"/>
              </a:rPr>
              <a:t>폭력인지에</a:t>
            </a:r>
            <a:r>
              <a:rPr lang="ko-KR" altLang="en-US" sz="2000" b="1" dirty="0">
                <a:latin typeface="+mn-ea"/>
              </a:rPr>
              <a:t> 관한 나의 생각을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34792" y="2858068"/>
            <a:ext cx="2479303" cy="3999932"/>
          </a:xfrm>
          <a:prstGeom prst="rect">
            <a:avLst/>
          </a:prstGeom>
        </p:spPr>
      </p:pic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cxnSp>
        <p:nvCxnSpPr>
          <p:cNvPr id="5" name="직선 연결선 4"/>
          <p:cNvCxnSpPr/>
          <p:nvPr/>
        </p:nvCxnSpPr>
        <p:spPr>
          <a:xfrm>
            <a:off x="7564582" y="3503179"/>
            <a:ext cx="32307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4916384" y="4227615"/>
            <a:ext cx="58645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3693226" y="5023262"/>
            <a:ext cx="7097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/>
          <p:cNvGrpSpPr/>
          <p:nvPr/>
        </p:nvGrpSpPr>
        <p:grpSpPr>
          <a:xfrm>
            <a:off x="3550024" y="2953118"/>
            <a:ext cx="8653851" cy="2189903"/>
            <a:chOff x="3550024" y="2953118"/>
            <a:chExt cx="8653851" cy="2189903"/>
          </a:xfrm>
        </p:grpSpPr>
        <p:sp>
          <p:nvSpPr>
            <p:cNvPr id="28" name="TextBox 27"/>
            <p:cNvSpPr txBox="1"/>
            <p:nvPr/>
          </p:nvSpPr>
          <p:spPr>
            <a:xfrm>
              <a:off x="7564582" y="2953118"/>
              <a:ext cx="15982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err="1">
                  <a:solidFill>
                    <a:srgbClr val="0070C0"/>
                  </a:solidFill>
                  <a:latin typeface="+mn-ea"/>
                </a:rPr>
                <a:t>폭력이야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50024" y="3573361"/>
              <a:ext cx="865385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            ○○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는 달리기가 느리다고 친구를 조롱하며 </a:t>
              </a:r>
              <a:endParaRPr lang="en-US" altLang="ko-KR" sz="2400" dirty="0" smtClean="0">
                <a:solidFill>
                  <a:srgbClr val="0070C0"/>
                </a:solidFill>
                <a:latin typeface="+mn-ea"/>
              </a:endParaRPr>
            </a:p>
            <a:p>
              <a:pPr algn="just">
                <a:lnSpc>
                  <a:spcPct val="20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+mn-ea"/>
                </a:rPr>
                <a:t>친구의 </a:t>
              </a:r>
              <a:r>
                <a:rPr lang="ko-KR" altLang="en-US" sz="2400" dirty="0">
                  <a:solidFill>
                    <a:srgbClr val="0070C0"/>
                  </a:solidFill>
                  <a:latin typeface="+mn-ea"/>
                </a:rPr>
                <a:t>마음에 상처를 주었기 때문이야</a:t>
              </a:r>
              <a:r>
                <a:rPr lang="en-US" altLang="ko-KR" sz="24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글을 읽어보자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60126" y="1596520"/>
            <a:ext cx="68817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수학여행에서 있었던 일이에요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심심해서 옆방에 놀러 갔는데 아이들이 한 친구를 둘러싸고 욕을 하며 괴롭히고 있었어요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저는 조용히 문을 닫고 나왔어요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저희 방으로 돌아왔더니 친구들이 옆방 아이들은 무엇을 하며 놀고 있느냐고 물었는데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내가 괴롭힘을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당하는 것도 아닌데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…….’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라고 생각하며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잘 모르겠다고 얼버무렸어요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733985"/>
            <a:ext cx="4398912" cy="286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0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직접적 폭력과 간접적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폭력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폭력을 사용한 주체가 </a:t>
            </a:r>
            <a:r>
              <a:rPr lang="ko-KR" altLang="en-US" sz="2400" dirty="0" err="1" smtClean="0">
                <a:latin typeface="+mn-ea"/>
              </a:rPr>
              <a:t>분명한지</a:t>
            </a:r>
            <a:r>
              <a:rPr lang="ko-KR" altLang="en-US" sz="2400" dirty="0" smtClean="0">
                <a:latin typeface="+mn-ea"/>
              </a:rPr>
              <a:t> 아닌지에 따라 나눌 수 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유형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927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작위에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의한 폭력과 </a:t>
            </a:r>
            <a:r>
              <a:rPr lang="ko-KR" altLang="en-US" sz="2500" b="1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부작위에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의한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폭력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행위를 하는지 하지 않는지에 따라 </a:t>
            </a:r>
            <a:r>
              <a:rPr lang="ko-KR" altLang="en-US" sz="2400" dirty="0" smtClean="0">
                <a:latin typeface="+mn-ea"/>
              </a:rPr>
              <a:t>나눌 </a:t>
            </a:r>
            <a:r>
              <a:rPr lang="ko-KR" altLang="en-US" sz="2400" dirty="0">
                <a:latin typeface="+mn-ea"/>
              </a:rPr>
              <a:t>수도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유형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423428"/>
              </p:ext>
            </p:extLst>
          </p:nvPr>
        </p:nvGraphicFramePr>
        <p:xfrm>
          <a:off x="713774" y="2649078"/>
          <a:ext cx="10878071" cy="27623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8787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59284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44711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작위에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의한 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상대방에게 피해를 주는 행위를 함으로써 발생하는 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7108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err="1" smtClean="0">
                          <a:latin typeface="+mn-ea"/>
                          <a:ea typeface="+mn-ea"/>
                        </a:rPr>
                        <a:t>부작위에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 의한 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어떤 행위를 해야 하는 상황에서 행위를 하지 않아 발생하는 폭력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주변에서 폭력이 벌어지는 상황을 보고도 신고하지 않고 방관하는 것이나 자녀를 보호해야 할 의무가 있는 부모가 자녀를 돌보지 않는 것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55087" y="5344395"/>
            <a:ext cx="430879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작위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의식적인 </a:t>
            </a:r>
            <a:r>
              <a:rPr lang="ko-KR" altLang="en-US" sz="1600" dirty="0">
                <a:latin typeface="+mn-ea"/>
              </a:rPr>
              <a:t>생각에 따르는 적극적인 </a:t>
            </a:r>
            <a:r>
              <a:rPr lang="ko-KR" altLang="en-US" sz="1600" dirty="0" smtClean="0">
                <a:latin typeface="+mn-ea"/>
              </a:rPr>
              <a:t>행동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9686695" y="4315485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968356" y="2745730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55086" y="5637153"/>
            <a:ext cx="522068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방관</a:t>
            </a:r>
            <a:r>
              <a:rPr lang="ko-KR" altLang="en-US" sz="1600" dirty="0" smtClean="0">
                <a:latin typeface="+mn-ea"/>
              </a:rPr>
              <a:t> 어떤 </a:t>
            </a:r>
            <a:r>
              <a:rPr lang="ko-KR" altLang="en-US" sz="1600" dirty="0">
                <a:latin typeface="+mn-ea"/>
              </a:rPr>
              <a:t>일에 직접 관여하지 않고 곁에서 보기만 함</a:t>
            </a:r>
            <a:r>
              <a:rPr lang="en-US" altLang="ko-KR" sz="1600" dirty="0" smtClean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3816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393" y="1596520"/>
            <a:ext cx="1061654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최근 경찰청 통계에 따르면 가정 폭력은 해마다 증가하고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가정 폭력은 가족이라는 이유로 쉬쉬하는 경우가 많고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가정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 폭력은 범죄 행위가 아니다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라는 잘못된 사회적 인식 때문에 사각지대에 놓이기 쉽다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가정 폭력은 다시 일어날 가능성이 높고 초기에 발견하기가 어려워서 주변의 주의 깊은 관심이 있어야만 더 큰 피해를 막을 수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경남일보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2021. 12. 20.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62427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위 기사에 드러난 폭력의 원인은 무엇인지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68359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6835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288290"/>
            <a:ext cx="10293350" cy="271122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309159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가정 폭력을 심각하게 생각하지 않는 사회적 인식이 폭력의 발생 원인이다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개인적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원인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폭력에 관한 </a:t>
            </a:r>
            <a:r>
              <a:rPr lang="ko-KR" altLang="en-US" sz="2400" b="1" dirty="0" smtClean="0">
                <a:latin typeface="+mn-ea"/>
              </a:rPr>
              <a:t>무지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자신의 행위가 </a:t>
            </a:r>
            <a:r>
              <a:rPr lang="ko-KR" altLang="en-US" sz="2400" dirty="0" err="1">
                <a:latin typeface="+mn-ea"/>
              </a:rPr>
              <a:t>폭력임을</a:t>
            </a: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모르거나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폭력이 왜 문제인지 모르는 사람은 폭력을 쉽게 사용 </a:t>
            </a:r>
            <a:r>
              <a:rPr lang="ko-KR" altLang="en-US" sz="2400" dirty="0" smtClean="0">
                <a:latin typeface="+mn-ea"/>
              </a:rPr>
              <a:t>하기도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순간적인 충동이나 </a:t>
            </a:r>
            <a:r>
              <a:rPr lang="ko-KR" altLang="en-US" sz="2400" b="1" dirty="0" smtClean="0">
                <a:latin typeface="+mn-ea"/>
              </a:rPr>
              <a:t>분노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갈등 </a:t>
            </a:r>
            <a:r>
              <a:rPr lang="ko-KR" altLang="en-US" sz="2400" dirty="0">
                <a:latin typeface="+mn-ea"/>
              </a:rPr>
              <a:t>상황에서 격해진 감정을 적절히 조절하지 못하여 </a:t>
            </a:r>
            <a:r>
              <a:rPr lang="ko-KR" altLang="en-US" sz="2400" dirty="0" smtClean="0">
                <a:latin typeface="+mn-ea"/>
              </a:rPr>
              <a:t>폭력으로 표출하게 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공감 능력의 부족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상대방이 겪을 고통 등을 상상하고 이에 공감하지 못하는 사람은 폭력을 함부로 사용하기 </a:t>
            </a:r>
            <a:r>
              <a:rPr lang="ko-KR" altLang="en-US" sz="2400" dirty="0" smtClean="0">
                <a:latin typeface="+mn-ea"/>
              </a:rPr>
              <a:t>쉬움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618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사회적 원인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폭력을 가볍게 </a:t>
            </a:r>
            <a:r>
              <a:rPr lang="ko-KR" altLang="en-US" sz="2400" b="1" dirty="0" smtClean="0">
                <a:latin typeface="+mn-ea"/>
              </a:rPr>
              <a:t>생각하는 </a:t>
            </a:r>
            <a:r>
              <a:rPr lang="ko-KR" altLang="en-US" sz="2400" b="1" dirty="0">
                <a:latin typeface="+mn-ea"/>
              </a:rPr>
              <a:t>사회적 </a:t>
            </a:r>
            <a:r>
              <a:rPr lang="ko-KR" altLang="en-US" sz="2400" b="1" dirty="0" smtClean="0">
                <a:latin typeface="+mn-ea"/>
              </a:rPr>
              <a:t>분위기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폭력을 </a:t>
            </a:r>
            <a:r>
              <a:rPr lang="ko-KR" altLang="en-US" sz="2400" dirty="0">
                <a:latin typeface="+mn-ea"/>
              </a:rPr>
              <a:t>쉽게 용인하는 사회적 분위기는 폭력을 부추기거나 방관하게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대중 매체를 통해 접하는 폭력적인 </a:t>
            </a:r>
            <a:r>
              <a:rPr lang="ko-KR" altLang="en-US" sz="2400" b="1" dirty="0" smtClean="0">
                <a:latin typeface="+mn-ea"/>
              </a:rPr>
              <a:t>장면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폭력 장면에 많이 노출되면 폭력에 </a:t>
            </a:r>
            <a:r>
              <a:rPr lang="ko-KR" altLang="en-US" sz="2400" dirty="0" err="1">
                <a:latin typeface="+mn-ea"/>
              </a:rPr>
              <a:t>둔감해지고</a:t>
            </a:r>
            <a:r>
              <a:rPr lang="ko-KR" altLang="en-US" sz="2400" dirty="0">
                <a:latin typeface="+mn-ea"/>
              </a:rPr>
              <a:t> 이를 모방하기도 </a:t>
            </a:r>
            <a:r>
              <a:rPr lang="ko-KR" altLang="en-US" sz="2400" dirty="0" smtClean="0">
                <a:latin typeface="+mn-ea"/>
              </a:rPr>
              <a:t>하며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특히 </a:t>
            </a:r>
            <a:r>
              <a:rPr lang="ko-KR" altLang="en-US" sz="2400" dirty="0" smtClean="0">
                <a:latin typeface="+mn-ea"/>
              </a:rPr>
              <a:t>청소년기에는 </a:t>
            </a:r>
            <a:r>
              <a:rPr lang="ko-KR" altLang="en-US" sz="2400" dirty="0">
                <a:latin typeface="+mn-ea"/>
              </a:rPr>
              <a:t>대중 매체 속 자극적인 폭력 장면을 충동적으로 따라 하기 </a:t>
            </a:r>
            <a:r>
              <a:rPr lang="ko-KR" altLang="en-US" sz="2400" dirty="0" smtClean="0">
                <a:latin typeface="+mn-ea"/>
              </a:rPr>
              <a:t>쉬움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106423"/>
            <a:ext cx="856259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용인</a:t>
            </a:r>
            <a:r>
              <a:rPr lang="ko-KR" altLang="en-US" sz="1600" dirty="0" smtClean="0">
                <a:latin typeface="+mn-ea"/>
              </a:rPr>
              <a:t> 너그러운 </a:t>
            </a:r>
            <a:r>
              <a:rPr lang="ko-KR" altLang="en-US" sz="1600" dirty="0">
                <a:latin typeface="+mn-ea"/>
              </a:rPr>
              <a:t>마음으로 참고 용서함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8499162" y="2128786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39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4" y="1377351"/>
            <a:ext cx="10077450" cy="517207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5216" y="5626096"/>
            <a:ext cx="3753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lnSpc>
                <a:spcPct val="150000"/>
              </a:lnSpc>
              <a:buFontTx/>
              <a:buChar char="-"/>
            </a:pP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한국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청소년 상담 복지 개발원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endParaRPr lang="en-US" altLang="ko-KR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나는 학교 폭력 방어자입니다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104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518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피해자들의 이야기를 읽고 학교 폭력이 어떤 결과를 가져오는지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68359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68359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288290"/>
            <a:ext cx="10293350" cy="271122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309159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학교 폭력을 겪은 피해자는 신체적 고통뿐만 아니라 분노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복수심 등의 부정적인 감정으로 정신적 고통을 겪는다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이러한 피해는 오랜 시간이 흐른 뒤에도 지속될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536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피해자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폭력은 피해자에게 </a:t>
            </a:r>
            <a:r>
              <a:rPr lang="ko-KR" altLang="en-US" sz="2400" dirty="0">
                <a:latin typeface="+mn-ea"/>
              </a:rPr>
              <a:t>씻지 못할 상처를 안겨 </a:t>
            </a:r>
            <a:r>
              <a:rPr lang="ko-KR" altLang="en-US" sz="2400" dirty="0" smtClean="0">
                <a:latin typeface="+mn-ea"/>
              </a:rPr>
              <a:t>줌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폭력의 피해자는 </a:t>
            </a:r>
            <a:r>
              <a:rPr lang="ko-KR" altLang="en-US" sz="2400" dirty="0">
                <a:latin typeface="+mn-ea"/>
              </a:rPr>
              <a:t>신체적 고통과 더불어 두려움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불안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억울함 등과 같은 정신적 고통을 </a:t>
            </a:r>
            <a:r>
              <a:rPr lang="ko-KR" altLang="en-US" sz="2400" dirty="0" smtClean="0">
                <a:latin typeface="+mn-ea"/>
              </a:rPr>
              <a:t>겪으며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오랜 </a:t>
            </a:r>
            <a:r>
              <a:rPr lang="ko-KR" altLang="en-US" sz="2400" dirty="0">
                <a:latin typeface="+mn-ea"/>
              </a:rPr>
              <a:t>시간이 지나도 그 피해를 회복하기 </a:t>
            </a:r>
            <a:r>
              <a:rPr lang="ko-KR" altLang="en-US" sz="2400" dirty="0" smtClean="0">
                <a:latin typeface="+mn-ea"/>
              </a:rPr>
              <a:t>어려워함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가해자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법적으로 처벌받을 뿐만 아니라 </a:t>
            </a:r>
            <a:r>
              <a:rPr lang="ko-KR" altLang="en-US" sz="2400" dirty="0" smtClean="0">
                <a:latin typeface="+mn-ea"/>
              </a:rPr>
              <a:t>사회적 비난도 </a:t>
            </a:r>
            <a:r>
              <a:rPr lang="ko-KR" altLang="en-US" sz="2400" dirty="0">
                <a:latin typeface="+mn-ea"/>
              </a:rPr>
              <a:t>받음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양심의 </a:t>
            </a:r>
            <a:r>
              <a:rPr lang="ko-KR" altLang="en-US" sz="2400" dirty="0">
                <a:latin typeface="+mn-ea"/>
              </a:rPr>
              <a:t>가책으로 괴로워하거나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 smtClean="0">
                <a:latin typeface="+mn-ea"/>
              </a:rPr>
              <a:t>자기 행위를 </a:t>
            </a:r>
            <a:r>
              <a:rPr lang="ko-KR" altLang="en-US" sz="2400" dirty="0">
                <a:latin typeface="+mn-ea"/>
              </a:rPr>
              <a:t>후회하며 오랫동안 고통을 </a:t>
            </a:r>
            <a:r>
              <a:rPr lang="ko-KR" altLang="en-US" sz="2400" dirty="0" smtClean="0">
                <a:latin typeface="+mn-ea"/>
              </a:rPr>
              <a:t>겪음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결과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6079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438936"/>
            <a:ext cx="10872462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사회적 혼란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폭력은 </a:t>
            </a:r>
            <a:r>
              <a:rPr lang="ko-KR" altLang="en-US" sz="2400" dirty="0">
                <a:latin typeface="+mn-ea"/>
              </a:rPr>
              <a:t>피해자의 분노와 복수심을 유발하여 또 다른 폭력을 불러일으키기도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이러한 </a:t>
            </a:r>
            <a:r>
              <a:rPr lang="ko-KR" altLang="en-US" sz="2400" dirty="0">
                <a:latin typeface="+mn-ea"/>
              </a:rPr>
              <a:t>폭력의 악순환은 사회 질서를 무너뜨려 혼란을 가져올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결과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1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438936"/>
            <a:ext cx="10872462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적극적으로 대응하기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폭력을 행사하는 상대방에게 자신의 입장과 불쾌감을 명확히 표현해야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만약 문제가 해결되지 않는다면 주변에 적극적으로 도움을 요청해야 함</a:t>
            </a:r>
            <a:r>
              <a:rPr lang="en-US" altLang="ko-KR" sz="2400" dirty="0" smtClean="0">
                <a:latin typeface="+mn-ea"/>
              </a:rPr>
              <a:t>. (</a:t>
            </a:r>
            <a:r>
              <a:rPr lang="ko-KR" altLang="en-US" sz="2400" dirty="0" smtClean="0">
                <a:latin typeface="+mn-ea"/>
              </a:rPr>
              <a:t>보복이 두려워 폭력 사실을 알리지 않으면 더 큰 피해를 입을 수 있음</a:t>
            </a:r>
            <a:r>
              <a:rPr lang="en-US" altLang="ko-KR" sz="2400" dirty="0" smtClean="0">
                <a:latin typeface="+mn-ea"/>
              </a:rPr>
              <a:t>.)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 smtClean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방관하지 않기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폭력 상황을 목격했을 때는 방관하지 말고 피해자를 도와주어야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주변 어른이나 경찰서 등 외부 기관에 신고하여 도움을 요청해야 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폭력에 대처하는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34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438936"/>
            <a:ext cx="10872462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폭력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상황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예방하기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분노와 </a:t>
            </a:r>
            <a:r>
              <a:rPr lang="ko-KR" altLang="en-US" sz="2400" dirty="0">
                <a:latin typeface="+mn-ea"/>
              </a:rPr>
              <a:t>같은 격한 감정을 적절히 조절하여 폭력적인 말과 행동으로 이어지지 않도록 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평소에 </a:t>
            </a:r>
            <a:r>
              <a:rPr lang="ko-KR" altLang="en-US" sz="2400" dirty="0">
                <a:latin typeface="+mn-ea"/>
              </a:rPr>
              <a:t>다른 사람의 처지에서 생각해 보며 공감 능력을 길러야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폭력을 </a:t>
            </a:r>
            <a:r>
              <a:rPr lang="ko-KR" altLang="en-US" sz="2400" dirty="0">
                <a:latin typeface="+mn-ea"/>
              </a:rPr>
              <a:t>장난처럼 쉽게 사용하지 않도록 사회 구성원 모두 폭력의 심각성을 진지하게 </a:t>
            </a:r>
            <a:r>
              <a:rPr lang="ko-KR" altLang="en-US" sz="2400" dirty="0" smtClean="0">
                <a:latin typeface="+mn-ea"/>
              </a:rPr>
              <a:t>받아들이고</a:t>
            </a:r>
            <a:r>
              <a:rPr lang="en-US" altLang="ko-KR" sz="2400" dirty="0" smtClean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폭력에 민감하게 반응하는 사회적 분위기를 </a:t>
            </a:r>
            <a:r>
              <a:rPr lang="ko-KR" altLang="en-US" sz="2400" dirty="0" smtClean="0">
                <a:latin typeface="+mn-ea"/>
              </a:rPr>
              <a:t>조성해야 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폭력에 대처하는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45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296655" y="3899647"/>
            <a:ext cx="3495415" cy="2791691"/>
            <a:chOff x="242867" y="2790012"/>
            <a:chExt cx="4897203" cy="383409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2867" y="2820412"/>
              <a:ext cx="4654335" cy="3803691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3321423" y="2790012"/>
              <a:ext cx="1602673" cy="14189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980762" y="5970494"/>
              <a:ext cx="1159308" cy="174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방관자 </a:t>
            </a: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효과와 도덕적 </a:t>
            </a:r>
            <a:r>
              <a:rPr lang="ko-KR" altLang="en-US" sz="2800" b="1" dirty="0" err="1" smtClean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저항가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72353" y="1961289"/>
            <a:ext cx="10978179" cy="1536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‘방관자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효과’란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폭력 상황을 목격한 사람이 많을수록 어떤 행동도 하지 않고 폭력을 방관하는 사람이 늘어나는 현상을 말한다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역사적으로 끔찍한 범죄와 악행이 발생할 수 있었던 까닭은 부도덕한 폭력 상황에서 다수의 사람이 나서서 행동하지 않고 침묵했기 때문이다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738282" y="3484673"/>
            <a:ext cx="79122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도덕적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저항가’는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이러한 침묵을 깨고 폭력을 방관하지 않는 사람이다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가끔은 한 사람의 목소리만으로도 폭력을 막을 수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우리가 방관자로 머무르지 않고 도덕적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저항가로서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행동하려면 개인적인 노력과 함께 폭력에 침묵하지 않는 문화를 만들려는 노력이 필요하다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                     </a:t>
            </a:r>
          </a:p>
          <a:p>
            <a:pPr algn="r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캐서린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샌더슨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방관자 효과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z="14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73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6116" y="1519053"/>
            <a:ext cx="6492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학교 폭력에 대처하는 방법을 담은 서약서를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4" name="그림 1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54511"/>
            <a:ext cx="487174" cy="487174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54511"/>
            <a:ext cx="1087577" cy="495431"/>
            <a:chOff x="10075659" y="2003022"/>
            <a:chExt cx="1156006" cy="495431"/>
          </a:xfrm>
        </p:grpSpPr>
        <p:pic>
          <p:nvPicPr>
            <p:cNvPr id="16" name="그림 1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803399" y="2167180"/>
            <a:ext cx="8510978" cy="4581709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14400" y="2276291"/>
            <a:ext cx="8288977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100" b="1" dirty="0">
                <a:latin typeface="+mn-ea"/>
              </a:rPr>
              <a:t>서약서</a:t>
            </a:r>
          </a:p>
          <a:p>
            <a:pPr algn="just">
              <a:lnSpc>
                <a:spcPct val="150000"/>
              </a:lnSpc>
            </a:pPr>
            <a:r>
              <a:rPr lang="ko-KR" altLang="en-US" sz="2100" dirty="0" smtClean="0">
                <a:latin typeface="+mn-ea"/>
              </a:rPr>
              <a:t>나 </a:t>
            </a:r>
            <a:r>
              <a:rPr lang="en-US" altLang="ko-KR" sz="2100" dirty="0" smtClean="0">
                <a:latin typeface="+mn-ea"/>
              </a:rPr>
              <a:t>(</a:t>
            </a:r>
            <a:r>
              <a:rPr lang="ko-KR" altLang="en-US" sz="2100" dirty="0" smtClean="0">
                <a:latin typeface="+mn-ea"/>
              </a:rPr>
              <a:t>                       </a:t>
            </a:r>
            <a:r>
              <a:rPr lang="en-US" altLang="ko-KR" sz="2100" dirty="0" smtClean="0">
                <a:latin typeface="+mn-ea"/>
              </a:rPr>
              <a:t>)</a:t>
            </a:r>
            <a:r>
              <a:rPr lang="ko-KR" altLang="en-US" sz="2100" dirty="0" smtClean="0">
                <a:latin typeface="+mn-ea"/>
              </a:rPr>
              <a:t>은</a:t>
            </a:r>
            <a:r>
              <a:rPr lang="en-US" altLang="ko-KR" sz="2100" dirty="0">
                <a:latin typeface="+mn-ea"/>
              </a:rPr>
              <a:t>/</a:t>
            </a:r>
            <a:r>
              <a:rPr lang="ko-KR" altLang="en-US" sz="2100" dirty="0">
                <a:latin typeface="+mn-ea"/>
              </a:rPr>
              <a:t>는 학교 폭력에 대처하고자 아래 사항을 성실히 지킬 것을 서약합니다</a:t>
            </a:r>
            <a:r>
              <a:rPr lang="en-US" altLang="ko-KR" sz="21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10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00" dirty="0" smtClean="0">
                <a:latin typeface="+mn-ea"/>
              </a:rPr>
              <a:t>나는 </a:t>
            </a:r>
            <a:r>
              <a:rPr lang="ko-KR" altLang="en-US" sz="2100" dirty="0">
                <a:latin typeface="+mn-ea"/>
              </a:rPr>
              <a:t>친구가 기분 나빠 하는 농담을 하지 않겠습니다</a:t>
            </a:r>
            <a:r>
              <a:rPr lang="en-US" altLang="ko-KR" sz="2100" dirty="0"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00" dirty="0" smtClean="0">
                <a:latin typeface="+mn-ea"/>
              </a:rPr>
              <a:t>나는 </a:t>
            </a:r>
            <a:r>
              <a:rPr lang="ko-KR" altLang="en-US" sz="2100" dirty="0">
                <a:latin typeface="+mn-ea"/>
              </a:rPr>
              <a:t>친구가 폭력으로 고통받을 때 외면하지 않고 돕겠습니다</a:t>
            </a:r>
            <a:r>
              <a:rPr lang="en-US" altLang="ko-KR" sz="2100" dirty="0">
                <a:latin typeface="+mn-ea"/>
              </a:rPr>
              <a:t>.</a:t>
            </a:r>
          </a:p>
        </p:txBody>
      </p:sp>
      <p:sp>
        <p:nvSpPr>
          <p:cNvPr id="2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914400" y="5014942"/>
            <a:ext cx="8095810" cy="166193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937875" y="2713983"/>
            <a:ext cx="8072335" cy="3962895"/>
            <a:chOff x="926137" y="2667874"/>
            <a:chExt cx="8072335" cy="3962895"/>
          </a:xfrm>
        </p:grpSpPr>
        <p:sp>
          <p:nvSpPr>
            <p:cNvPr id="22" name="TextBox 21"/>
            <p:cNvSpPr txBox="1"/>
            <p:nvPr/>
          </p:nvSpPr>
          <p:spPr>
            <a:xfrm>
              <a:off x="926137" y="5014942"/>
              <a:ext cx="8072335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학교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폭력 신고 및 상담 전화번호를 외우겠습니다</a:t>
              </a:r>
              <a:r>
                <a:rPr lang="en-US" altLang="ko-KR" sz="2200" dirty="0" smtClean="0">
                  <a:solidFill>
                    <a:srgbClr val="0070C0"/>
                  </a:solidFill>
                  <a:latin typeface="+mn-ea"/>
                </a:rPr>
                <a:t>.</a:t>
              </a:r>
            </a:p>
            <a:p>
              <a:pPr marL="342900" indent="-3429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순간적으로 화가 날 때 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10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초간 숨을 깊게 쉬며 감정을 조절하겠습니다</a:t>
              </a:r>
              <a:r>
                <a:rPr lang="en-US" altLang="ko-KR" sz="2200" dirty="0" smtClean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38331" y="2667874"/>
              <a:ext cx="234785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200" dirty="0" err="1" smtClean="0">
                  <a:solidFill>
                    <a:srgbClr val="0070C0"/>
                  </a:solidFill>
                  <a:latin typeface="+mn-ea"/>
                </a:rPr>
                <a:t>김도덕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1877" y="2830256"/>
            <a:ext cx="1282388" cy="495431"/>
            <a:chOff x="10075659" y="2003022"/>
            <a:chExt cx="1178665" cy="495431"/>
          </a:xfrm>
        </p:grpSpPr>
        <p:pic>
          <p:nvPicPr>
            <p:cNvPr id="28" name="그림 2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0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1" y="1613182"/>
            <a:ext cx="64921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학교 폭력에 대처하는 방법을 담은 서약서를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4" name="그림 1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50250"/>
            <a:ext cx="487174" cy="487174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50250"/>
            <a:ext cx="1087577" cy="495431"/>
            <a:chOff x="10075659" y="2003022"/>
            <a:chExt cx="1156006" cy="495431"/>
          </a:xfrm>
        </p:grpSpPr>
        <p:pic>
          <p:nvPicPr>
            <p:cNvPr id="16" name="그림 1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787401" y="2276291"/>
            <a:ext cx="8510978" cy="4431013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14400" y="2268035"/>
            <a:ext cx="8288977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100" b="1" dirty="0">
                <a:latin typeface="+mn-ea"/>
              </a:rPr>
              <a:t>서약서</a:t>
            </a:r>
          </a:p>
          <a:p>
            <a:pPr algn="just">
              <a:lnSpc>
                <a:spcPct val="150000"/>
              </a:lnSpc>
            </a:pPr>
            <a:r>
              <a:rPr lang="ko-KR" altLang="en-US" sz="2100" dirty="0" smtClean="0">
                <a:latin typeface="+mn-ea"/>
              </a:rPr>
              <a:t>나 </a:t>
            </a:r>
            <a:r>
              <a:rPr lang="en-US" altLang="ko-KR" sz="2100" dirty="0" smtClean="0">
                <a:latin typeface="+mn-ea"/>
              </a:rPr>
              <a:t>(</a:t>
            </a:r>
            <a:r>
              <a:rPr lang="ko-KR" altLang="en-US" sz="2100" dirty="0" smtClean="0">
                <a:latin typeface="+mn-ea"/>
              </a:rPr>
              <a:t>                       </a:t>
            </a:r>
            <a:r>
              <a:rPr lang="en-US" altLang="ko-KR" sz="2100" dirty="0" smtClean="0">
                <a:latin typeface="+mn-ea"/>
              </a:rPr>
              <a:t>)</a:t>
            </a:r>
            <a:r>
              <a:rPr lang="ko-KR" altLang="en-US" sz="2100" dirty="0" smtClean="0">
                <a:latin typeface="+mn-ea"/>
              </a:rPr>
              <a:t>은</a:t>
            </a:r>
            <a:r>
              <a:rPr lang="en-US" altLang="ko-KR" sz="2100" dirty="0">
                <a:latin typeface="+mn-ea"/>
              </a:rPr>
              <a:t>/</a:t>
            </a:r>
            <a:r>
              <a:rPr lang="ko-KR" altLang="en-US" sz="2100" dirty="0">
                <a:latin typeface="+mn-ea"/>
              </a:rPr>
              <a:t>는 학교 폭력에 대처하고자 아래 사항을 성실히 지킬 것을 서약합니다</a:t>
            </a:r>
            <a:r>
              <a:rPr lang="en-US" altLang="ko-KR" sz="21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10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00" dirty="0" smtClean="0">
                <a:latin typeface="+mn-ea"/>
              </a:rPr>
              <a:t>나는 </a:t>
            </a:r>
            <a:r>
              <a:rPr lang="ko-KR" altLang="en-US" sz="2100" dirty="0">
                <a:latin typeface="+mn-ea"/>
              </a:rPr>
              <a:t>친구가 기분 나빠 하는 농담을 하지 않겠습니다</a:t>
            </a:r>
            <a:r>
              <a:rPr lang="en-US" altLang="ko-KR" sz="2100" dirty="0"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100" dirty="0" smtClean="0">
                <a:latin typeface="+mn-ea"/>
              </a:rPr>
              <a:t>나는 </a:t>
            </a:r>
            <a:r>
              <a:rPr lang="ko-KR" altLang="en-US" sz="2100" dirty="0">
                <a:latin typeface="+mn-ea"/>
              </a:rPr>
              <a:t>친구가 폭력으로 고통받을 때 외면하지 않고 돕겠습니다</a:t>
            </a:r>
            <a:r>
              <a:rPr lang="en-US" altLang="ko-KR" sz="2100" dirty="0">
                <a:latin typeface="+mn-ea"/>
              </a:rPr>
              <a:t>.</a:t>
            </a:r>
          </a:p>
        </p:txBody>
      </p:sp>
      <p:sp>
        <p:nvSpPr>
          <p:cNvPr id="2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914400" y="5014942"/>
            <a:ext cx="8095810" cy="166193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7875" y="4951940"/>
            <a:ext cx="807233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 smtClean="0">
                <a:solidFill>
                  <a:srgbClr val="0070C0"/>
                </a:solidFill>
                <a:latin typeface="+mn-ea"/>
              </a:rPr>
              <a:t>학교 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폭력 신고 및 상담 전화번호를 외우겠습니다</a:t>
            </a:r>
            <a:r>
              <a:rPr lang="en-US" altLang="ko-KR" sz="2200" dirty="0" smtClean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순간적으로 화가 날 때 </a:t>
            </a:r>
            <a:r>
              <a:rPr lang="en-US" altLang="ko-KR" sz="2200" dirty="0">
                <a:solidFill>
                  <a:srgbClr val="0070C0"/>
                </a:solidFill>
                <a:latin typeface="+mn-ea"/>
              </a:rPr>
              <a:t>10</a:t>
            </a:r>
            <a:r>
              <a:rPr lang="ko-KR" altLang="en-US" sz="2200" dirty="0">
                <a:solidFill>
                  <a:srgbClr val="0070C0"/>
                </a:solidFill>
                <a:latin typeface="+mn-ea"/>
              </a:rPr>
              <a:t>초간 숨을 깊게 쉬며 감정을 조절하겠습니다</a:t>
            </a:r>
            <a:r>
              <a:rPr lang="en-US" altLang="ko-KR" sz="22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2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1877" y="2787394"/>
            <a:ext cx="1282388" cy="495431"/>
            <a:chOff x="10075659" y="2003022"/>
            <a:chExt cx="1178665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8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" name="그림 28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22055" y="2016924"/>
            <a:ext cx="10913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다음 내용에 주의하여 서약서를 써 보아요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내가 지킬 수 있는 방법인가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폭력에 대처하는 방법을 고려한 방법인가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192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내용을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폭력에 대처하는 능력을 기르기 위한 나의 다짐을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평소에 격한 감정을 적절히 조절하고 타인의 처지에서 생각해 보며 공감 능력을 기를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또한 폭력 상황에서 피해자를 방관하지 않고 돕기 위해 노력할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82429" y="2854762"/>
            <a:ext cx="1948896" cy="680171"/>
            <a:chOff x="782429" y="2854762"/>
            <a:chExt cx="1948896" cy="680171"/>
          </a:xfrm>
        </p:grpSpPr>
        <p:sp>
          <p:nvSpPr>
            <p:cNvPr id="38" name="사각형: 둥근 모서리 29">
              <a:extLst>
                <a:ext uri="{FF2B5EF4-FFF2-40B4-BE49-F238E27FC236}">
                  <a16:creationId xmlns:a16="http://schemas.microsoft.com/office/drawing/2014/main" id="{C631BC03-B762-9123-7FD1-0A60290B94EB}"/>
                </a:ext>
              </a:extLst>
            </p:cNvPr>
            <p:cNvSpPr/>
            <p:nvPr/>
          </p:nvSpPr>
          <p:spPr>
            <a:xfrm>
              <a:off x="787400" y="2854762"/>
              <a:ext cx="1943925" cy="680171"/>
            </a:xfrm>
            <a:prstGeom prst="roundRect">
              <a:avLst>
                <a:gd name="adj" fmla="val 8608"/>
              </a:avLst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82429" y="2911331"/>
              <a:ext cx="19488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폭력의 유형</a:t>
              </a:r>
              <a:endPara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3235059" y="2854761"/>
            <a:ext cx="1948896" cy="680171"/>
            <a:chOff x="782429" y="2854762"/>
            <a:chExt cx="1948896" cy="680171"/>
          </a:xfrm>
        </p:grpSpPr>
        <p:sp>
          <p:nvSpPr>
            <p:cNvPr id="45" name="사각형: 둥근 모서리 29">
              <a:extLst>
                <a:ext uri="{FF2B5EF4-FFF2-40B4-BE49-F238E27FC236}">
                  <a16:creationId xmlns:a16="http://schemas.microsoft.com/office/drawing/2014/main" id="{C631BC03-B762-9123-7FD1-0A60290B94EB}"/>
                </a:ext>
              </a:extLst>
            </p:cNvPr>
            <p:cNvSpPr/>
            <p:nvPr/>
          </p:nvSpPr>
          <p:spPr>
            <a:xfrm>
              <a:off x="787400" y="2854762"/>
              <a:ext cx="1943925" cy="680171"/>
            </a:xfrm>
            <a:prstGeom prst="roundRect">
              <a:avLst>
                <a:gd name="adj" fmla="val 8608"/>
              </a:avLst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82429" y="2911331"/>
              <a:ext cx="1948896" cy="482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폭력의 원인</a:t>
              </a:r>
              <a:endPara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5687689" y="2841709"/>
            <a:ext cx="1948896" cy="680171"/>
            <a:chOff x="782429" y="2854762"/>
            <a:chExt cx="1948896" cy="680171"/>
          </a:xfrm>
        </p:grpSpPr>
        <p:sp>
          <p:nvSpPr>
            <p:cNvPr id="48" name="사각형: 둥근 모서리 29">
              <a:extLst>
                <a:ext uri="{FF2B5EF4-FFF2-40B4-BE49-F238E27FC236}">
                  <a16:creationId xmlns:a16="http://schemas.microsoft.com/office/drawing/2014/main" id="{C631BC03-B762-9123-7FD1-0A60290B94EB}"/>
                </a:ext>
              </a:extLst>
            </p:cNvPr>
            <p:cNvSpPr/>
            <p:nvPr/>
          </p:nvSpPr>
          <p:spPr>
            <a:xfrm>
              <a:off x="787400" y="2854762"/>
              <a:ext cx="1943925" cy="680171"/>
            </a:xfrm>
            <a:prstGeom prst="roundRect">
              <a:avLst>
                <a:gd name="adj" fmla="val 8608"/>
              </a:avLst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82429" y="2911331"/>
              <a:ext cx="1948896" cy="482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폭력의 결과</a:t>
              </a:r>
              <a:endPara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8140319" y="2841708"/>
            <a:ext cx="2879982" cy="680171"/>
            <a:chOff x="782429" y="2854762"/>
            <a:chExt cx="1948896" cy="680171"/>
          </a:xfrm>
        </p:grpSpPr>
        <p:sp>
          <p:nvSpPr>
            <p:cNvPr id="54" name="사각형: 둥근 모서리 29">
              <a:extLst>
                <a:ext uri="{FF2B5EF4-FFF2-40B4-BE49-F238E27FC236}">
                  <a16:creationId xmlns:a16="http://schemas.microsoft.com/office/drawing/2014/main" id="{C631BC03-B762-9123-7FD1-0A60290B94EB}"/>
                </a:ext>
              </a:extLst>
            </p:cNvPr>
            <p:cNvSpPr/>
            <p:nvPr/>
          </p:nvSpPr>
          <p:spPr>
            <a:xfrm>
              <a:off x="787400" y="2854762"/>
              <a:ext cx="1943925" cy="680171"/>
            </a:xfrm>
            <a:prstGeom prst="roundRect">
              <a:avLst>
                <a:gd name="adj" fmla="val 8608"/>
              </a:avLst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2429" y="2911331"/>
              <a:ext cx="19488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2000" dirty="0" smtClean="0">
                  <a:latin typeface="굴림" panose="020B0600000101010101" pitchFamily="50" charset="-127"/>
                  <a:ea typeface="굴림" panose="020B0600000101010101" pitchFamily="50" charset="-127"/>
                </a:rPr>
                <a:t>폭력에 대처하는 방법</a:t>
              </a:r>
              <a:endPara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214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“3.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성윤리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01.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성의 의미와 가치는 무엇일까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상대방의 생각과 감정을 무시하고, 정당하지 않은 방식으로 힘을 사용하여 상대방에게 해를 입히는 행위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“말 안 들으면 단톡방에서 내보낸다.” — 때리지 않아도 폭력이다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상대방의 생각과 감정을 무시하고, 정당하지 않은 방식으로 힘을 사용하여 상대방에게 해를 입히는 행위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“말 안 들으면 단톡방에서 내보낸다.” — 때리지 않아도 폭력이다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유형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폭력을 사용한 주체가 분명한지 아닌지에 따라 직접적 폭력과 간접적 폭력으로 나눌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행위를 하는지 하지 않는지에 따라 작위에 의한 폭력과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부작위 </a:t>
            </a:r>
            <a:r>
              <a:rPr sz="2400" b="0">
                <a:solidFill>
                  <a:srgbClr val="262626"/>
                </a:solidFill>
              </a:rPr>
              <a:t>에 의한 폭력으로 나눌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폭력을 보고도 모른 척, 아이를 돌보지 않는 부모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폭력을 사용한 주체가 분명한지 아닌지에 따라 직접적 폭력과 간접적 폭력으로 나눌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행위를 하는지 하지 않는지에 따라 작위에 의한 폭력과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부작위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의한 폭력으로 나눌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폭력을 보고도 모른 척, 아이를 돌보지 않는 부모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폭력을 사용한 주체가 분명한지 아닌지에 따라 직접적 폭력과 간접적 폭력으로 나눌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행위를 하는지 하지 않는지에 따라 작위에 의한 폭력과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부작위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의한 폭력으로 나눌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폭력을 보고도 모른 척, 아이를 돌보지 않는 부모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갈퉁이 본 세 가지 폭력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직접적 · 눈에 보이는 때리기·욕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구조적 · 불평등한 제도·차별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문화적 · 폭력을 당연하게 여기는 생각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개인적 원인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폭력에 관한 무지, 순간적인 충동과 분노,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공감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능력 </a:t>
            </a:r>
            <a:r>
              <a:rPr sz="2400" b="0">
                <a:solidFill>
                  <a:srgbClr val="262626"/>
                </a:solidFill>
              </a:rPr>
              <a:t>의 부족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별명 때문에 친구가 밤새 운 줄 몰랐다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사회적 원인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폭력을 쉽게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용인 </a:t>
            </a:r>
            <a:r>
              <a:rPr sz="2400" b="0">
                <a:solidFill>
                  <a:srgbClr val="262626"/>
                </a:solidFill>
              </a:rPr>
              <a:t>하는 사회적 분위기, 대중 매체를 통해 접하는 폭력적인 장면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괴롭힘 장면을 교실에서 따라 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개인적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폭력에 관한 무지, 순간적인 충동과 분노,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부족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별명 때문에 친구가 밤새 운 줄 몰랐다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폭력을 쉽게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사회적 분위기, 대중 매체를 통해 접하는 폭력적인 장면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괴롭힘 장면을 교실에서 따라 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개인적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폭력에 관한 무지, 순간적인 충동과 분노,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능력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부족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별명 때문에 친구가 밤새 운 줄 몰랐다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폭력을 쉽게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사회적 분위기, 대중 매체를 통해 접하는 폭력적인 장면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괴롭힘 장면을 교실에서 따라 하기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개인적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폭력에 관한 무지, 순간적인 충동과 분노,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부족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별명 때문에 친구가 밤새 운 줄 몰랐다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폭력을 쉽게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사회적 분위기, 대중 매체를 통해 접하는 폭력적인 장면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괴롭힘 장면을 교실에서 따라 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개인적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폭력에 관한 무지, 순간적인 충동과 분노,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부족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별명 때문에 친구가 밤새 운 줄 몰랐다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폭력을 쉽게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용인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사회적 분위기, 대중 매체를 통해 접하는 폭력적인 장면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드라마 속 괴롭힘 장면을 교실에서 따라 하기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개인적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폭력에 관한 무지, 순간적인 충동과 분노,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부족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별명 때문에 친구가 밤새 운 줄 몰랐다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사회적 원인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폭력을 쉽게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하는 사회적 분위기, 대중 매체를 통해 접하는 폭력적인 장면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드라마 속 괴롭힘 장면을 교실에서 따라 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폭력의 결과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피해자는 신체적·정신적 고통을 겪고, 오랜 시간이 지나도 피해를 회복하기 어려워함.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“괴롭혔던 아이들 얼굴이 10년이 지나도 생각나요.”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가해자는 법적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처벌 </a:t>
            </a:r>
            <a:r>
              <a:rPr sz="2400" b="0">
                <a:solidFill>
                  <a:srgbClr val="262626"/>
                </a:solidFill>
              </a:rPr>
              <a:t>과 사회적 비난을 받고, 죄책감이나 후회로 오랫동안 고통을 겪을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폭력 기록이 진학과 취업에 남는다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폭력은 갈등을 심화하여 사회적 혼란을 가져오고, 폭력의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악순환 </a:t>
            </a:r>
            <a:r>
              <a:rPr sz="2400" b="0">
                <a:solidFill>
                  <a:srgbClr val="262626"/>
                </a:solidFill>
              </a:rPr>
              <a:t>은 사회 질서를 무너뜨려 혼란을 일으킬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맞은 아이가 다른 약한 아이를 때리는 사슬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피해자는 신체적·정신적 고통을 겪고, 오랜 시간이 지나도 피해를 회복하기 어려워함.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“괴롭혔던 아이들 얼굴이 10년이 지나도 생각나요.”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가해자는 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처벌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사회적 비난을 받고, 죄책감이나 후회로 오랫동안 고통을 겪을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폭력 기록이 진학과 취업에 남는다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폭력은 갈등을 심화하여 사회적 혼란을 가져오고, 폭력의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악순환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사회 질서를 무너뜨려 혼란을 일으킬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맞은 아이가 다른 약한 아이를 때리는 사슬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피해자는 신체적·정신적 고통을 겪고, 오랜 시간이 지나도 피해를 회복하기 어려워함.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“괴롭혔던 아이들 얼굴이 10년이 지나도 생각나요.”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가해자는 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처벌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사회적 비난을 받고, 죄책감이나 후회로 오랫동안 고통을 겪을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폭력 기록이 진학과 취업에 남는다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폭력은 갈등을 심화하여 사회적 혼란을 가져오고, 폭력의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악순환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사회 질서를 무너뜨려 혼란을 일으킬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맞은 아이가 다른 약한 아이를 때리는 사슬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피해자는 신체적·정신적 고통을 겪고, 오랜 시간이 지나도 피해를 회복하기 어려워함.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“괴롭혔던 아이들 얼굴이 10년이 지나도 생각나요.”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가해자는 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처벌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사회적 비난을 받고, 죄책감이나 후회로 오랫동안 고통을 겪을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학교 폭력 기록이 진학과 취업에 남는다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폭력은 갈등을 심화하여 사회적 혼란을 가져오고, 폭력의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악순환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사회 질서를 무너뜨려 혼란을 일으킬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맞은 아이가 다른 약한 아이를 때리는 사슬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피해자는 신체적·정신적 고통을 겪고, 오랜 시간이 지나도 피해를 회복하기 어려워함.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“괴롭혔던 아이들 얼굴이 10년이 지나도 생각나요.”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가해자는 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처벌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사회적 비난을 받고, 죄책감이나 후회로 오랫동안 고통을 겪을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폭력 기록이 진학과 취업에 남는다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폭력은 갈등을 심화하여 사회적 혼란을 가져오고, 폭력의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악순환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사회 질서를 무너뜨려 혼란을 일으킬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맞은 아이가 다른 약한 아이를 때리는 사슬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피해자는 신체적·정신적 고통을 겪고, 오랜 시간이 지나도 피해를 회복하기 어려워함.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“괴롭혔던 아이들 얼굴이 10년이 지나도 생각나요.”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가해자는 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처벌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사회적 비난을 받고, 죄책감이나 후회로 오랫동안 고통을 겪을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폭력 기록이 진학과 취업에 남는다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폭력은 갈등을 심화하여 사회적 혼란을 가져오고, 폭력의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악순환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사회 질서를 무너뜨려 혼란을 일으킬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맞은 아이가 다른 약한 아이를 때리는 사슬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폭력에 대처하는 방법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폭력 상황에 적극적으로 대응하기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폭력 상황을 목격했을 때는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방관 </a:t>
            </a:r>
            <a:r>
              <a:rPr sz="2400" b="0">
                <a:solidFill>
                  <a:srgbClr val="262626"/>
                </a:solidFill>
              </a:rPr>
              <a:t>하지 말고 피해자를 도와주기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폭력 신고 117, 청소년 상담 1388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폭력이 일어나기 전에 이를 예방하기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폭력 상황에 적극적으로 대응하기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폭력 상황을 목격했을 때는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방관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말고 피해자를 도와주기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학교 폭력 신고 117, 청소년 상담 1388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폭력이 일어나기 전에 이를 예방하기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폭력 상황에 적극적으로 대응하기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폭력 상황을 목격했을 때는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하지 말고 피해자를 도와주기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학교 폭력 신고 117, 청소년 상담 1388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폭력이 일어나기 전에 이를 예방하기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폭력을 만났을 때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🙅 · 분명히 거절하기 · “싫어, 하지 마”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📸 · 증거 남기기 · 캡처, 날짜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📞 · 알리기 · 117 학교폭력 신고 (문자 #0117)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🫂 · 곁에 있기 · 피해 친구 혼자 두지 않기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소금 행진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1930년 3월~4월 · 인도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법 · 영국은 인도 사람이 소금을 만들지 못하게 하고 세금을 매겼다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행진 · 간디와 사람들이 24일 동안 약 385km를 걸어 바닷가 단디로 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행동 · 바닷가에서 소금 한 줌을 주워 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방법 · 때려도 맞서 때리지 않는 비폭력 저항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폭력을 쓰지 않고 어떻게 힘을 가질 수 있었을까?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1930년 3월~4월 · 인도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법 · 영국은 인도 사람이 소금을 만들지 못하게 하고 세금을 매겼다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행진 · 간디와 사람들이 24일 동안 약 385km를 걸어 바닷가 단디로 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행동 · 바닷가에서 소금 한 줌을 주워 들었다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방법 · 때려도 맞서 때리지 않는 비폭력 저항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폭력을 쓰지 않고 어떻게 힘을 가질 수 있었을까?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폭력은 행위를 하는지 하지 않는지에 따라 직접적 폭력과 간접적 폭력으로 나눌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대중 매체를 통해 접하는 폭력적인 장면은 폭력의 개인적 원인이다.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폭력의 가해자는 죄책감이나 후회로 오랫동안 고통을 겪을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폭력이 발생하면 폭력 상황에 적극적으로 대응해야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폭력은 행위를 하는지 하지 않는지에 따라 직접적 폭력과 간접적 폭력으로 나눌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매체를 통해 접하는 폭력적인 장면은 폭력의 개인적 원인이다.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폭력의 가해자는 죄책감이나 후회로 오랫동안 고통을 겪을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폭력이 발생하면 폭력 상황에 적극적으로 대응해야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폭력은 행위를 하는지 하지 않는지에 따라 직접적 폭력과 간접적 폭력으로 나눌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매체를 통해 접하는 폭력적인 장면은 폭력의 개인적 원인이다.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폭력의 가해자는 죄책감이나 후회로 오랫동안 고통을 겪을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폭력이 발생하면 폭력 상황에 적극적으로 대응해야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폭력은 행위를 하는지 하지 않는지에 따라 직접적 폭력과 간접적 폭력으로 나눌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매체를 통해 접하는 폭력적인 장면은 폭력의 개인적 원인이다.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폭력의 가해자는 죄책감이나 후회로 오랫동안 고통을 겪을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폭력이 발생하면 폭력 상황에 적극적으로 대응해야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폭력은 행위를 하는지 하지 않는지에 따라 직접적 폭력과 간접적 폭력으로 나눌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대중 매체를 통해 접하는 폭력적인 장면은 폭력의 개인적 원인이다.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폭력의 가해자는 죄책감이나 후회로 오랫동안 고통을 겪을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폭력이 발생하면 폭력 상황에 적극적으로 대응해야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폭력일까?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직접적 폭력 · 구조적 폭력 · 부작위에 의한 폭력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친구를 밀쳐 넘어뜨렸다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(주체와 피해자가 분명)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단톡방에서 “거북이”라고 놀렸다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(정신적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과거 노예 제도의 억압과 착취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(주체가 분명하지 않은 사회 구조)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괴롭힘을 보고도 문을 닫고 모른 척했다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(해야 할 행위를 하지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보호해야 할 자녀를 돌보지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(방임)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성별에 따라 임금이 다른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(구조적 폭력)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직접적 폭력 · 구조적 폭력 · 부작위에 의한 폭력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친구를 밀쳐 넘어뜨렸다</a:t>
            </a:r>
            <a:r>
              <a:rPr sz="2300" b="1">
                <a:solidFill>
                  <a:srgbClr val="C0392B"/>
                </a:solidFill>
              </a:rPr>
              <a:t>   → 직접적 폭력 (주체와 피해자가 분명)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단톡방에서 “거북이”라고 놀렸다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(정신적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과거 노예 제도의 억압과 착취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(주체가 분명하지 않은 사회 구조)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괴롭힘을 보고도 문을 닫고 모른 척했다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(해야 할 행위를 하지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보호해야 할 자녀를 돌보지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(방임)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성별에 따라 임금이 다른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(구조적 폭력)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직접적 폭력 · 구조적 폭력 · 부작위에 의한 폭력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친구를 밀쳐 넘어뜨렸다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(주체와 피해자가 분명)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단톡방에서 “거북이”라고 놀렸다</a:t>
            </a:r>
            <a:r>
              <a:rPr sz="2300" b="1">
                <a:solidFill>
                  <a:srgbClr val="C0392B"/>
                </a:solidFill>
              </a:rPr>
              <a:t>   → 직접적 폭력 (정신적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과거 노예 제도의 억압과 착취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(주체가 분명하지 않은 사회 구조)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괴롭힘을 보고도 문을 닫고 모른 척했다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(해야 할 행위를 하지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보호해야 할 자녀를 돌보지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(방임)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성별에 따라 임금이 다른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(구조적 폭력)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직접적 폭력 · 구조적 폭력 · 부작위에 의한 폭력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친구를 밀쳐 넘어뜨렸다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(주체와 피해자가 분명)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단톡방에서 “거북이”라고 놀렸다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(정신적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과거 노예 제도의 억압과 착취</a:t>
            </a:r>
            <a:r>
              <a:rPr sz="2300" b="1">
                <a:solidFill>
                  <a:srgbClr val="C0392B"/>
                </a:solidFill>
              </a:rPr>
              <a:t>   → 구조적 폭력 (주체가 분명하지 않은 사회 구조)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괴롭힘을 보고도 문을 닫고 모른 척했다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(해야 할 행위를 하지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보호해야 할 자녀를 돌보지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(방임)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성별에 따라 임금이 다른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(구조적 폭력)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직접적 폭력 · 구조적 폭력 · 부작위에 의한 폭력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친구를 밀쳐 넘어뜨렸다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(주체와 피해자가 분명)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단톡방에서 “거북이”라고 놀렸다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(정신적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과거 노예 제도의 억압과 착취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(주체가 분명하지 않은 사회 구조)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괴롭힘을 보고도 문을 닫고 모른 척했다</a:t>
            </a:r>
            <a:r>
              <a:rPr sz="2300" b="1">
                <a:solidFill>
                  <a:srgbClr val="C0392B"/>
                </a:solidFill>
              </a:rPr>
              <a:t>   → 부작위에 의한 폭력 (해야 할 행위를 하지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보호해야 할 자녀를 돌보지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(방임)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성별에 따라 임금이 다른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(구조적 폭력)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직접적 폭력 · 구조적 폭력 · 부작위에 의한 폭력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친구를 밀쳐 넘어뜨렸다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(주체와 피해자가 분명)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단톡방에서 “거북이”라고 놀렸다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(정신적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과거 노예 제도의 억압과 착취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(주체가 분명하지 않은 사회 구조)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괴롭힘을 보고도 문을 닫고 모른 척했다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(해야 할 행위를 하지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보호해야 할 자녀를 돌보지 않는다</a:t>
            </a:r>
            <a:r>
              <a:rPr sz="2300" b="1">
                <a:solidFill>
                  <a:srgbClr val="C0392B"/>
                </a:solidFill>
              </a:rPr>
              <a:t>   → 부작위에 의한 폭력 (방임)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성별에 따라 임금이 다른 제도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(구조적 폭력)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직접적 폭력 · 구조적 폭력 · 부작위에 의한 폭력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친구를 밀쳐 넘어뜨렸다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(주체와 피해자가 분명)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단톡방에서 “거북이”라고 놀렸다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직접적 폭력 (정신적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과거 노예 제도의 억압과 착취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구조적 폭력 (주체가 분명하지 않은 사회 구조)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괴롭힘을 보고도 문을 닫고 모른 척했다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(해야 할 행위를 하지 않음)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보호해야 할 자녀를 돌보지 않는다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부작위에 의한 폭력 (방임)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성별에 따라 임금이 다른 제도</a:t>
            </a:r>
            <a:r>
              <a:rPr sz="2300" b="1">
                <a:solidFill>
                  <a:srgbClr val="C0392B"/>
                </a:solidFill>
              </a:rPr>
              <a:t>   → 구조적 폭력 (구조적 폭력)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나라면? (108쪽 방관하지 않기)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쉬는 시간, 몇몇 친구가 한 친구의 가방을 던지며 논다. 그 친구는 웃고 있지만 눈이 빨갛다.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A. 같이 웃는다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피해 친구의 웃음은 두려움일 수 있어요.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B. “그만해”라고 말하고 가방을 돌려준다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도덕적 저항가! 혼자가 어렵다면 친구 한 명과 함께.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C. 선생님께 알리고 피해 친구에게 말을 건넨다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알리기는 고자질이 아니라 친구를 지키는 일.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쉬는 시간, 몇몇 친구가 한 친구의 가방을 던지며 논다. 그 친구는 웃고 있지만 눈이 빨갛다.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같이 웃는다</a:t>
            </a:r>
            <a:r>
              <a:rPr sz="2300" b="1">
                <a:solidFill>
                  <a:srgbClr val="C0392B"/>
                </a:solidFill>
              </a:rPr>
              <a:t>   피해 친구의 웃음은 두려움일 수 있어요.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“그만해”라고 말하고 가방을 돌려준다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도덕적 저항가! 혼자가 어렵다면 친구 한 명과 함께.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선생님께 알리고 피해 친구에게 말을 건넨다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알리기는 고자질이 아니라 친구를 지키는 일.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쉬는 시간, 몇몇 친구가 한 친구의 가방을 던지며 논다. 그 친구는 웃고 있지만 눈이 빨갛다.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같이 웃는다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피해 친구의 웃음은 두려움일 수 있어요.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“그만해”라고 말하고 가방을 돌려준다</a:t>
            </a:r>
            <a:r>
              <a:rPr sz="2300" b="1">
                <a:solidFill>
                  <a:srgbClr val="C0392B"/>
                </a:solidFill>
              </a:rPr>
              <a:t>   도덕적 저항가! 혼자가 어렵다면 친구 한 명과 함께.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선생님께 알리고 피해 친구에게 말을 건넨다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알리기는 고자질이 아니라 친구를 지키는 일.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쉬는 시간, 몇몇 친구가 한 친구의 가방을 던지며 논다. 그 친구는 웃고 있지만 눈이 빨갛다.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A. 같이 웃는다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피해 친구의 웃음은 두려움일 수 있어요.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B. “그만해”라고 말하고 가방을 돌려준다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도덕적 저항가! 혼자가 어렵다면 친구 한 명과 함께.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C. 선생님께 알리고 피해 친구에게 말을 건넨다</a:t>
            </a:r>
            <a:r>
              <a:rPr sz="2300" b="1">
                <a:solidFill>
                  <a:srgbClr val="C0392B"/>
                </a:solidFill>
              </a:rPr>
              <a:t>   알리기는 고자질이 아니라 친구를 지키는 일.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학교 폭력 대처 서약서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97341"/>
              </p:ext>
            </p:extLst>
          </p:nvPr>
        </p:nvGraphicFramePr>
        <p:xfrm>
          <a:off x="713774" y="2649078"/>
          <a:ext cx="10878071" cy="306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662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34740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직접적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폭력을 사용한 주체와 피해자가 분명함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신체에 직접 해를 가하는 신체적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말이나 행동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몸짓 등을 통해 상대방에게 심리적 피해를 주는 정신적 폭력 등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2321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간접적 </a:t>
                      </a:r>
                      <a:endParaRPr lang="en-US" altLang="ko-KR" sz="2100" dirty="0" smtClean="0"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폭력의 주체가 분명하지 않음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 잘못된 사회 구조나 제도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관습으로 생기는 구조적 폭력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예를 들어 과거의 노예 제도 때문에 생겼던 억압과 착취</a:t>
                      </a:r>
                      <a:r>
                        <a:rPr lang="en-US" altLang="ko-KR" sz="2100" dirty="0" smtClean="0">
                          <a:solidFill>
                            <a:srgbClr val="843C0C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100" dirty="0">
                        <a:solidFill>
                          <a:srgbClr val="843C0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>
                <a:latin typeface="+mn-ea"/>
              </a:rPr>
              <a:t>폭력에 어떻게 대처해야 할까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친구가 기분 나빠 하는 농담을 하지 않겠습니다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폭력을 보면 117이나 선생님께 알리겠습니다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화가 날 때 10초 멈추고 숨을 고르겠습니다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/>
                </a:solidFill>
              </a:rPr>
              <a:t>   예) 친구가 기분 나빠 하는 농담을 하지 않겠습니다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폭력을 보면 117이나 선생님께 알리겠습니다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화가 날 때 10초 멈추고 숨을 고르겠습니다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친구가 기분 나빠 하는 농담을 하지 않겠습니다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/>
                </a:solidFill>
              </a:rPr>
              <a:t>   예) 폭력을 보면 117이나 선생님께 알리겠습니다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화가 날 때 10초 멈추고 숨을 고르겠습니다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친구가 기분 나빠 하는 농담을 하지 않겠습니다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폭력을 보면 117이나 선생님께 알리겠습니다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나는</a:t>
            </a:r>
            <a:r>
              <a:rPr sz="2300" b="1">
                <a:solidFill>
                  <a:srgbClr val="C0392B"/>
                </a:solidFill>
              </a:rPr>
              <a:t>   예) 화가 날 때 10초 멈추고 숨을 고르겠습니다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9172</TotalTime>
  <Words>1484</Words>
  <Application>Microsoft Office PowerPoint</Application>
  <PresentationFormat>와이드스크린</PresentationFormat>
  <Paragraphs>270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202</cp:revision>
  <cp:lastPrinted>2024-06-05T04:53:22Z</cp:lastPrinted>
  <dcterms:created xsi:type="dcterms:W3CDTF">2023-10-31T05:50:03Z</dcterms:created>
  <dcterms:modified xsi:type="dcterms:W3CDTF">2025-04-22T00:33:06Z</dcterms:modified>
</cp:coreProperties>
</file>