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9"/>
  </p:notesMasterIdLst>
  <p:handoutMasterIdLst>
    <p:handoutMasterId r:id="rId20"/>
  </p:handoutMasterIdLst>
  <p:sldIdLst>
    <p:sldId id="302" r:id="rId2"/>
    <p:sldId id="301" r:id="rId3"/>
    <p:sldId id="258" r:id="rId4"/>
    <p:sldId id="305" r:id="rId5"/>
    <p:sldId id="387" r:id="rId6"/>
    <p:sldId id="388" r:id="rId7"/>
    <p:sldId id="389" r:id="rId8"/>
    <p:sldId id="306" r:id="rId9"/>
    <p:sldId id="270" r:id="rId10"/>
    <p:sldId id="401" r:id="rId31"/>
    <p:sldId id="260" r:id="rId11"/>
    <p:sldId id="390" r:id="rId12"/>
    <p:sldId id="391" r:id="rId13"/>
    <p:sldId id="396" r:id="rId26"/>
    <p:sldId id="397" r:id="rId27"/>
    <p:sldId id="398" r:id="rId28"/>
    <p:sldId id="392" r:id="rId14"/>
    <p:sldId id="393" r:id="rId15"/>
    <p:sldId id="395" r:id="rId16"/>
    <p:sldId id="399" r:id="rId29"/>
    <p:sldId id="400" r:id="rId30"/>
    <p:sldId id="291" r:id="rId17"/>
    <p:sldId id="402" r:id="rId32"/>
    <p:sldId id="403" r:id="rId33"/>
    <p:sldId id="404" r:id="rId34"/>
    <p:sldId id="405" r:id="rId35"/>
    <p:sldId id="380" r:id="rId18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=""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EE"/>
    <a:srgbClr val="FF9300"/>
    <a:srgbClr val="FFFF00"/>
    <a:srgbClr val="D9E1E9"/>
    <a:srgbClr val="E8F6FD"/>
    <a:srgbClr val="F0FFF6"/>
    <a:srgbClr val="019BFF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3" autoAdjust="0"/>
    <p:restoredTop sz="96242" autoAdjust="0"/>
  </p:normalViewPr>
  <p:slideViewPr>
    <p:cSldViewPr snapToGrid="0">
      <p:cViewPr varScale="1">
        <p:scale>
          <a:sx n="71" d="100"/>
          <a:sy n="71" d="100"/>
        </p:scale>
        <p:origin x="-120" y="-630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2024-08-26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2024-08-26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879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964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14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83쪽</a:t>
            </a:r>
          </a:p>
          <a:p>
            <a:r>
              <a:t>『한글 아함경』의 갈대 비유: 하나를 치우면 둘은 서지 못하고, 둘을 치워도 하나는 서지 못한다.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84쪽 · 관계가 중요한 이유</a:t>
            </a:r>
          </a:p>
          <a:p>
            <a:r>
              <a:t>앞 장의 ‘나와 교류하는 사람 지도’를 다시 보며 세 가지 이유에 해당하는 사람을 하나씩 찾아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 사상 속 관계</a:t>
            </a:r>
          </a:p>
          <a:p>
            <a:r>
              <a:t>유교의 인(仁)은 사람과 사람 사이의 사랑. 불교의 연기(緣起): 이것이 있으므로 저것이 있다. 남아프리카의 ‘우분투(Ubuntu)’ 정신: “I am because we are.” 넬슨 만델라와 데즈먼드 투투 대주교가 널리 알렸다.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관계와 협력</a:t>
            </a:r>
          </a:p>
          <a:p>
            <a:r>
              <a:t>처음 17일 동안 바깥과 연락이 끊긴 채 비상식량을 나눠 먹으며 버텼다. “우리 33명은 대피소에서 모두 무사하다”는 쪽지가 드릴 끝에 매달려 올라왔다.</a:t>
            </a:r>
          </a:p>
          <a:p>
            <a:r>
              <a:t>혼자였다면 살 수 없었다. 인간은 서로 기대어 사는 존재.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나와 연결된 사람들을 찾고, 관계적 존재인 이유를 사상별로 정리해 보자.</a:t>
            </a:r>
          </a:p>
          <a:p>
            <a:r>
              <a:t>⏱ 1분 동안 나를 도운 사람 쓰기 1분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나와 연결된 사람들을 찾고, 관계적 존재인 이유를 사상별로 정리해 보자.</a:t>
            </a:r>
          </a:p>
          <a:p>
            <a:r>
              <a:t>⏱ 1분 동안 나를 도운 사람 쓰기 1분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나와 연결된 사람들을 찾고, 관계적 존재인 이유를 사상별로 정리해 보자.</a:t>
            </a:r>
          </a:p>
          <a:p>
            <a:r>
              <a:t>⏱ 1분 동안 나를 도운 사람 쓰기 1분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=""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=""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=""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=""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=""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=""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=""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=""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=""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=""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=""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=""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=""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관계적 존재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나 혼자만 존재할 수 있을까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=""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=""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=""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65300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인간이 </a:t>
            </a:r>
            <a:r>
              <a:rPr lang="ko-KR" altLang="en-US" sz="2800" b="1" dirty="0">
                <a:solidFill>
                  <a:prstClr val="black"/>
                </a:solidFill>
              </a:rPr>
              <a:t>관계적 존재인 이유를 설명할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=""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=""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892952"/>
            <a:ext cx="10293350" cy="787400"/>
            <a:chOff x="914400" y="2362200"/>
            <a:chExt cx="10293350" cy="787400"/>
          </a:xfrm>
        </p:grpSpPr>
        <p:sp>
          <p:nvSpPr>
            <p:cNvPr id="38" name="사각형: 둥근 모서리 15">
              <a:extLst>
                <a:ext uri="{FF2B5EF4-FFF2-40B4-BE49-F238E27FC236}">
                  <a16:creationId xmlns=""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=""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892952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타인과의 </a:t>
            </a:r>
            <a:r>
              <a:rPr lang="ko-KR" altLang="en-US" sz="2800" b="1" dirty="0">
                <a:solidFill>
                  <a:prstClr val="black"/>
                </a:solidFill>
              </a:rPr>
              <a:t>관계가 중요한 이유를 제시할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=""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978" y="942681"/>
            <a:ext cx="684803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pc="-300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482" y="1680883"/>
            <a:ext cx="10311925" cy="416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식당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영화관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농구장 등 모든 편의 시설을 갖춘 초호화 우주선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아발론호에는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수천 명의 승객이 잠들어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이들은 새로운 행성에 도착할 때까지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120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년 동안 동면하기로 예정되어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그런데 알 수 없는 이유로 주인공 ‘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짐’이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홀로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90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년이나 일찍 깨어난다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짐은 매일 먹고 싶은 음식을 먹고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영화를 보거나 농구를 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로봇 바텐더와 이야기를 나누며 시간을 보낸다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그러나 짐은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년 만에 모든 흥미를 잃는다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결국 혼자라는 생각에 괴로워하며 목숨을 포기하려 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모르텐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튈둠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감독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영화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패신저스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=""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26146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325646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인간은 타인과의 관계 속에서 행복을 느끼며 살아가는 존재이기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주인공은 생존에 어려움이 없고 취미도 즐길 수 있었지만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타인이 없기 때문에 삶의 의미를 느끼지 못하고 외로움으로 괴로워하였다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영화의 줄거리를 읽고 주인공이 괴로워한 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787" y="1666970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66970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978" y="942681"/>
            <a:ext cx="684803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pc="-30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spc="-3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그림에 나와 직간접적으로 교류하며 서로 도움을 주고받는 사람들을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20" y="2246579"/>
            <a:ext cx="7066272" cy="4528296"/>
          </a:xfrm>
          <a:prstGeom prst="rect">
            <a:avLst/>
          </a:prstGeom>
        </p:spPr>
      </p:pic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40" name="그림 39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1" name="TextBox 40">
              <a:hlinkClick r:id="" action="ppaction://hlinkshowjump?jump=nextslide"/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809010" y="3324688"/>
            <a:ext cx="5804887" cy="2874207"/>
            <a:chOff x="2809010" y="3324688"/>
            <a:chExt cx="5804887" cy="2874207"/>
          </a:xfrm>
        </p:grpSpPr>
        <p:sp>
          <p:nvSpPr>
            <p:cNvPr id="38" name="TextBox 37"/>
            <p:cNvSpPr txBox="1"/>
            <p:nvPr/>
          </p:nvSpPr>
          <p:spPr>
            <a:xfrm>
              <a:off x="2809010" y="3647854"/>
              <a:ext cx="1273684" cy="646331"/>
            </a:xfrm>
            <a:prstGeom prst="rect">
              <a:avLst/>
            </a:prstGeom>
            <a:solidFill>
              <a:srgbClr val="FFF7EE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부모님</a:t>
              </a: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445319" y="5552564"/>
              <a:ext cx="2008274" cy="646331"/>
            </a:xfrm>
            <a:prstGeom prst="rect">
              <a:avLst/>
            </a:prstGeom>
            <a:solidFill>
              <a:srgbClr val="FFF7EE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버스 운전사</a:t>
              </a: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13999" y="3324688"/>
              <a:ext cx="891154" cy="646331"/>
            </a:xfrm>
            <a:prstGeom prst="rect">
              <a:avLst/>
            </a:prstGeom>
            <a:solidFill>
              <a:srgbClr val="FFF7EE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형제</a:t>
              </a: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710198" y="3647854"/>
              <a:ext cx="1903699" cy="646331"/>
            </a:xfrm>
            <a:prstGeom prst="rect">
              <a:avLst/>
            </a:prstGeom>
            <a:solidFill>
              <a:srgbClr val="FFF7EE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게임 개발자</a:t>
              </a: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/>
              <a:t>다음 그림에 나와 직간접적으로 교류하며 서로 도움을 주고받는 사람들을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20" y="2066309"/>
            <a:ext cx="7066272" cy="4708566"/>
          </a:xfrm>
          <a:prstGeom prst="rect">
            <a:avLst/>
          </a:prstGeom>
        </p:spPr>
      </p:pic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40" name="그림 39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1" name="TextBox 40">
              <a:hlinkClick r:id="" action="ppaction://hlinkshowjump?jump=nextslide"/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2809010" y="3647854"/>
            <a:ext cx="1273684" cy="646331"/>
          </a:xfrm>
          <a:prstGeom prst="rect">
            <a:avLst/>
          </a:prstGeom>
          <a:solidFill>
            <a:srgbClr val="FFF7EE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부모님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45319" y="5552564"/>
            <a:ext cx="2008274" cy="646331"/>
          </a:xfrm>
          <a:prstGeom prst="rect">
            <a:avLst/>
          </a:prstGeom>
          <a:solidFill>
            <a:srgbClr val="FFF7EE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버스 운전사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13999" y="3324688"/>
            <a:ext cx="891154" cy="646331"/>
          </a:xfrm>
          <a:prstGeom prst="rect">
            <a:avLst/>
          </a:prstGeom>
          <a:solidFill>
            <a:srgbClr val="FFF7EE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형제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10198" y="3647854"/>
            <a:ext cx="1903699" cy="646331"/>
          </a:xfrm>
          <a:prstGeom prst="rect">
            <a:avLst/>
          </a:prstGeom>
          <a:solidFill>
            <a:srgbClr val="FFF7EE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게임 개발자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3" name="사각형: 둥근 모서리 25">
            <a:extLst>
              <a:ext uri="{FF2B5EF4-FFF2-40B4-BE49-F238E27FC236}">
                <a16:creationId xmlns=""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" name="그림 23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=""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22055" y="2016924"/>
            <a:ext cx="109133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나와 가까운 관계일수록 중심 가까이에 써요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직접 만난 적은 없지만 멀리서 나에게 도움을 준 사람도 떠올려 보아요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784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966494" y="670317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636" y="1596520"/>
            <a:ext cx="11026269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비유하면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마치 세 개의 갈대가 빈 땅에 서려고 할 때 서로 의지해야만 설 수 있는 것과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같다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만일 그 하나를 치우면 둘은 서지 못하고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둘을 치워도 하나는 서지 못하니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서로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의지해야만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설 수 있는 것이다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고익진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엮음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한글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아함경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z="14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102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636" y="1596520"/>
            <a:ext cx="110262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행복한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사람이 고독할 수는 없다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온 세상을 준다 해도 혼자 살아야 한다면 누구도 그러한 삶을 선택하지는 않을 것이다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인간은 본성적으로 타인과 함께 살도록 되어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그래서 행복한 사람은 타인과 어울려 살려고 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아리스토텔레스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〈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니코마코스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윤리학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윗글을 참고하여 인간이 관계적 존재인 이유를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71122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인간은 다른 사람과 함께 어울리며 즐거운 시간을 보낼 때 자신이 행복하다고 느낀다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반면 외로운 상황에 처하거나 친밀한 사람과 헤어졌을 때는 불행하다고 여긴다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이처럼 다른 사람과의 관계 속에서 행복을 느낀다는 점에서 인간은 본성적으로 관계적 존재라고 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관계적 존재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우리는 부모님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친구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이웃 등 수많은 사람과 </a:t>
            </a:r>
            <a:r>
              <a:rPr lang="ko-KR" altLang="en-US" sz="2400" dirty="0" smtClean="0">
                <a:latin typeface="+mn-ea"/>
              </a:rPr>
              <a:t>교류하고 </a:t>
            </a:r>
            <a:r>
              <a:rPr lang="ko-KR" altLang="en-US" sz="2400" dirty="0">
                <a:latin typeface="+mn-ea"/>
              </a:rPr>
              <a:t>서로 도움을 주고받으며 </a:t>
            </a:r>
            <a:r>
              <a:rPr lang="ko-KR" altLang="en-US" sz="2400" dirty="0" smtClean="0">
                <a:latin typeface="+mn-ea"/>
              </a:rPr>
              <a:t>생활함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이처럼 </a:t>
            </a:r>
            <a:r>
              <a:rPr lang="ko-KR" altLang="en-US" sz="2400" dirty="0">
                <a:latin typeface="+mn-ea"/>
              </a:rPr>
              <a:t>인간은 타인과 관계를 맺고 </a:t>
            </a:r>
            <a:r>
              <a:rPr lang="ko-KR" altLang="en-US" sz="2400" dirty="0" smtClean="0">
                <a:latin typeface="+mn-ea"/>
              </a:rPr>
              <a:t>살아가는 </a:t>
            </a:r>
            <a:r>
              <a:rPr lang="ko-KR" altLang="en-US" sz="2400" dirty="0">
                <a:latin typeface="+mn-ea"/>
              </a:rPr>
              <a:t>관계적 </a:t>
            </a:r>
            <a:r>
              <a:rPr lang="ko-KR" altLang="en-US" sz="2400" dirty="0" smtClean="0">
                <a:latin typeface="+mn-ea"/>
              </a:rPr>
              <a:t>존재임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인간이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관계적 존재인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이유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=""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7233284" y="3245476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39513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동양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사상의 관점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동양에서는 </a:t>
            </a:r>
            <a:r>
              <a:rPr lang="ko-KR" altLang="en-US" sz="2400" dirty="0">
                <a:latin typeface="+mn-ea"/>
              </a:rPr>
              <a:t>낮이 있어야 밤이 있고 하늘이 있어야 땅이 있듯이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인간도 마찬가지여서 </a:t>
            </a:r>
            <a:r>
              <a:rPr lang="ko-KR" altLang="en-US" sz="2400" dirty="0">
                <a:latin typeface="+mn-ea"/>
              </a:rPr>
              <a:t>타인이 있어야 나도 존재할 수 있다고 </a:t>
            </a:r>
            <a:r>
              <a:rPr lang="ko-KR" altLang="en-US" sz="2400" dirty="0" smtClean="0">
                <a:latin typeface="+mn-ea"/>
              </a:rPr>
              <a:t>보았음</a:t>
            </a:r>
            <a:r>
              <a:rPr lang="en-US" altLang="ko-KR" sz="2400" dirty="0" smtClean="0">
                <a:latin typeface="+mn-ea"/>
              </a:rPr>
              <a:t>.</a:t>
            </a:r>
            <a:br>
              <a:rPr lang="en-US" altLang="ko-KR" sz="2400" dirty="0" smtClean="0">
                <a:latin typeface="+mn-ea"/>
              </a:rPr>
            </a:br>
            <a:r>
              <a:rPr lang="ko-KR" altLang="en-US" sz="2200" b="1" dirty="0" smtClean="0">
                <a:solidFill>
                  <a:schemeClr val="tx1"/>
                </a:solidFill>
                <a:latin typeface="+mn-ea"/>
              </a:rPr>
              <a:t>→ 공자</a:t>
            </a:r>
            <a:r>
              <a:rPr lang="en-US" altLang="ko-KR" sz="2200" b="1" dirty="0" smtClean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2200" b="1" dirty="0" smtClean="0">
                <a:latin typeface="+mn-ea"/>
              </a:rPr>
              <a:t> </a:t>
            </a:r>
            <a:r>
              <a:rPr lang="ko-KR" altLang="en-US" sz="2200" dirty="0" smtClean="0">
                <a:latin typeface="+mn-ea"/>
              </a:rPr>
              <a:t>인간과 </a:t>
            </a:r>
            <a:r>
              <a:rPr lang="ko-KR" altLang="en-US" sz="2200" dirty="0">
                <a:latin typeface="+mn-ea"/>
              </a:rPr>
              <a:t>인간 사이에서 마땅히 지켜야 할 도리인 ‘인</a:t>
            </a:r>
            <a:r>
              <a:rPr lang="en-US" altLang="ko-KR" sz="2200" dirty="0">
                <a:latin typeface="+mn-ea"/>
              </a:rPr>
              <a:t>(</a:t>
            </a:r>
            <a:r>
              <a:rPr lang="ko-KR" altLang="en-US" sz="2200" dirty="0">
                <a:latin typeface="+mn-ea"/>
              </a:rPr>
              <a:t>仁</a:t>
            </a:r>
            <a:r>
              <a:rPr lang="en-US" altLang="ko-KR" sz="2200" dirty="0">
                <a:latin typeface="+mn-ea"/>
              </a:rPr>
              <a:t>)’</a:t>
            </a:r>
            <a:r>
              <a:rPr lang="ko-KR" altLang="en-US" sz="2200" dirty="0">
                <a:latin typeface="+mn-ea"/>
              </a:rPr>
              <a:t>을 강조함</a:t>
            </a:r>
            <a:r>
              <a:rPr lang="en-US" altLang="ko-KR" sz="2200" dirty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불교에서는 </a:t>
            </a:r>
            <a:r>
              <a:rPr lang="ko-KR" altLang="en-US" sz="2400" dirty="0">
                <a:latin typeface="+mn-ea"/>
              </a:rPr>
              <a:t>모든 존재가 홀로 존재할 수 없기 때문에 </a:t>
            </a:r>
            <a:r>
              <a:rPr lang="ko-KR" altLang="en-US" sz="2400" dirty="0" smtClean="0">
                <a:latin typeface="+mn-ea"/>
              </a:rPr>
              <a:t>인간도 </a:t>
            </a:r>
            <a:r>
              <a:rPr lang="ko-KR" altLang="en-US" sz="2400" dirty="0">
                <a:latin typeface="+mn-ea"/>
              </a:rPr>
              <a:t>혼자서는 살아갈 수 없는 관계적 존재라고 </a:t>
            </a:r>
            <a:r>
              <a:rPr lang="ko-KR" altLang="en-US" sz="2400" dirty="0" smtClean="0">
                <a:latin typeface="+mn-ea"/>
              </a:rPr>
              <a:t>보았음</a:t>
            </a:r>
            <a:r>
              <a:rPr lang="en-US" altLang="ko-KR" sz="2400" dirty="0" smtClean="0">
                <a:latin typeface="+mn-ea"/>
              </a:rPr>
              <a:t>. </a:t>
            </a:r>
            <a:br>
              <a:rPr lang="en-US" altLang="ko-KR" sz="2400" dirty="0" smtClean="0">
                <a:latin typeface="+mn-ea"/>
              </a:rPr>
            </a:br>
            <a:r>
              <a:rPr lang="ko-KR" altLang="en-US" sz="2200" b="1" dirty="0" smtClean="0">
                <a:latin typeface="+mn-ea"/>
              </a:rPr>
              <a:t>→ 석가모니</a:t>
            </a:r>
            <a:r>
              <a:rPr lang="en-US" altLang="ko-KR" sz="2200" b="1" dirty="0" smtClean="0">
                <a:latin typeface="+mn-ea"/>
              </a:rPr>
              <a:t>: </a:t>
            </a:r>
            <a:r>
              <a:rPr lang="ko-KR" altLang="en-US" sz="2200" dirty="0" smtClean="0">
                <a:latin typeface="+mn-ea"/>
              </a:rPr>
              <a:t>서로 </a:t>
            </a:r>
            <a:r>
              <a:rPr lang="ko-KR" altLang="en-US" sz="2200" dirty="0">
                <a:latin typeface="+mn-ea"/>
              </a:rPr>
              <a:t>의존하는 관계 속에서 타인의 고통에 공감하고 사랑을 </a:t>
            </a:r>
            <a:r>
              <a:rPr lang="ko-KR" altLang="en-US" sz="2200" dirty="0" smtClean="0">
                <a:latin typeface="+mn-ea"/>
              </a:rPr>
              <a:t>실천하는 </a:t>
            </a:r>
            <a:r>
              <a:rPr lang="ko-KR" altLang="en-US" sz="2200" dirty="0">
                <a:latin typeface="+mn-ea"/>
              </a:rPr>
              <a:t>‘</a:t>
            </a:r>
            <a:r>
              <a:rPr lang="ko-KR" altLang="en-US" sz="2200" dirty="0" err="1">
                <a:latin typeface="+mn-ea"/>
              </a:rPr>
              <a:t>자비’의</a:t>
            </a:r>
            <a:r>
              <a:rPr lang="ko-KR" altLang="en-US" sz="2200" dirty="0">
                <a:latin typeface="+mn-ea"/>
              </a:rPr>
              <a:t> 자세를 지녀야 한다고 </a:t>
            </a:r>
            <a:r>
              <a:rPr lang="ko-KR" altLang="en-US" sz="2200" dirty="0" smtClean="0">
                <a:latin typeface="+mn-ea"/>
              </a:rPr>
              <a:t>강조함</a:t>
            </a:r>
            <a:r>
              <a:rPr lang="en-US" altLang="ko-KR" sz="2200" dirty="0" smtClean="0">
                <a:latin typeface="+mn-ea"/>
              </a:rPr>
              <a:t>.</a:t>
            </a:r>
            <a:endParaRPr lang="ko-KR" altLang="en-US" sz="22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인간이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관계적 존재인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이유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19" name="타원 18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88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487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서양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사상의 관점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아리스토텔레스</a:t>
            </a:r>
            <a:r>
              <a:rPr lang="en-US" altLang="ko-KR" sz="2400" b="1" dirty="0">
                <a:latin typeface="+mn-ea"/>
              </a:rPr>
              <a:t/>
            </a:r>
            <a:br>
              <a:rPr lang="en-US" altLang="ko-KR" sz="2400" b="1" dirty="0">
                <a:latin typeface="+mn-ea"/>
              </a:rPr>
            </a:br>
            <a:r>
              <a:rPr lang="en-US" altLang="ko-KR" sz="2200" dirty="0" smtClean="0">
                <a:latin typeface="+mn-ea"/>
              </a:rPr>
              <a:t>- </a:t>
            </a:r>
            <a:r>
              <a:rPr lang="ko-KR" altLang="en-US" sz="2200" dirty="0" smtClean="0">
                <a:latin typeface="+mn-ea"/>
              </a:rPr>
              <a:t>인간을 </a:t>
            </a:r>
            <a:r>
              <a:rPr lang="ko-KR" altLang="en-US" sz="2200" dirty="0">
                <a:latin typeface="+mn-ea"/>
              </a:rPr>
              <a:t>많은 사람과 함께 공동체를 이루어 사회적 </a:t>
            </a:r>
            <a:r>
              <a:rPr lang="ko-KR" altLang="en-US" sz="2200" dirty="0" smtClean="0">
                <a:latin typeface="+mn-ea"/>
              </a:rPr>
              <a:t>삶을 </a:t>
            </a:r>
            <a:r>
              <a:rPr lang="ko-KR" altLang="en-US" sz="2200" dirty="0">
                <a:latin typeface="+mn-ea"/>
              </a:rPr>
              <a:t>사는 존재라고 </a:t>
            </a:r>
            <a:r>
              <a:rPr lang="ko-KR" altLang="en-US" sz="2200" dirty="0" smtClean="0">
                <a:latin typeface="+mn-ea"/>
              </a:rPr>
              <a:t>봄</a:t>
            </a:r>
            <a:r>
              <a:rPr lang="en-US" altLang="ko-KR" sz="2200" dirty="0" smtClean="0">
                <a:latin typeface="+mn-ea"/>
              </a:rPr>
              <a:t>. </a:t>
            </a:r>
            <a:br>
              <a:rPr lang="en-US" altLang="ko-KR" sz="2200" dirty="0" smtClean="0">
                <a:latin typeface="+mn-ea"/>
              </a:rPr>
            </a:br>
            <a:r>
              <a:rPr lang="en-US" altLang="ko-KR" sz="2200" dirty="0" smtClean="0">
                <a:latin typeface="+mn-ea"/>
              </a:rPr>
              <a:t>- </a:t>
            </a:r>
            <a:r>
              <a:rPr lang="ko-KR" altLang="en-US" sz="2200" dirty="0" smtClean="0">
                <a:latin typeface="+mn-ea"/>
              </a:rPr>
              <a:t>인간은 </a:t>
            </a:r>
            <a:r>
              <a:rPr lang="ko-KR" altLang="en-US" sz="2200" dirty="0">
                <a:latin typeface="+mn-ea"/>
              </a:rPr>
              <a:t>본성적으로 다른 사람들과 어울려 살 때 </a:t>
            </a:r>
            <a:r>
              <a:rPr lang="ko-KR" altLang="en-US" sz="2200" dirty="0" smtClean="0">
                <a:latin typeface="+mn-ea"/>
              </a:rPr>
              <a:t>행복할 </a:t>
            </a:r>
            <a:r>
              <a:rPr lang="ko-KR" altLang="en-US" sz="2200" dirty="0">
                <a:latin typeface="+mn-ea"/>
              </a:rPr>
              <a:t>수 있으므로 타인과 </a:t>
            </a:r>
            <a:r>
              <a:rPr lang="ko-KR" altLang="en-US" sz="2200" dirty="0" smtClean="0">
                <a:latin typeface="+mn-ea"/>
              </a:rPr>
              <a:t>친밀</a:t>
            </a:r>
            <a:endParaRPr lang="en-US" altLang="ko-KR" sz="2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 smtClean="0">
                <a:latin typeface="+mn-ea"/>
              </a:rPr>
              <a:t>       한 </a:t>
            </a:r>
            <a:r>
              <a:rPr lang="ko-KR" altLang="en-US" sz="2200" dirty="0">
                <a:latin typeface="+mn-ea"/>
              </a:rPr>
              <a:t>관계를 맺고 서로 사랑하며 함께 살아야 </a:t>
            </a:r>
            <a:r>
              <a:rPr lang="ko-KR" altLang="en-US" sz="2200" dirty="0" smtClean="0">
                <a:latin typeface="+mn-ea"/>
              </a:rPr>
              <a:t>함</a:t>
            </a:r>
            <a:r>
              <a:rPr lang="en-US" altLang="ko-KR" sz="2200" dirty="0" smtClean="0">
                <a:latin typeface="+mn-ea"/>
              </a:rPr>
              <a:t>.</a:t>
            </a:r>
            <a:endParaRPr lang="ko-KR" altLang="en-US" sz="22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err="1" smtClean="0">
                <a:latin typeface="+mn-ea"/>
              </a:rPr>
              <a:t>부버</a:t>
            </a:r>
            <a:r>
              <a:rPr lang="en-US" altLang="ko-KR" sz="2400" b="1" dirty="0">
                <a:latin typeface="+mn-ea"/>
              </a:rPr>
              <a:t/>
            </a:r>
            <a:br>
              <a:rPr lang="en-US" altLang="ko-KR" sz="2400" b="1" dirty="0">
                <a:latin typeface="+mn-ea"/>
              </a:rPr>
            </a:br>
            <a:r>
              <a:rPr lang="en-US" altLang="ko-KR" sz="2400" dirty="0" smtClean="0">
                <a:latin typeface="+mn-ea"/>
              </a:rPr>
              <a:t>-</a:t>
            </a:r>
            <a:r>
              <a:rPr lang="en-US" altLang="ko-KR" sz="2400" b="1" dirty="0" smtClean="0">
                <a:latin typeface="+mn-ea"/>
              </a:rPr>
              <a:t> </a:t>
            </a:r>
            <a:r>
              <a:rPr lang="ko-KR" altLang="en-US" sz="2200" dirty="0" smtClean="0">
                <a:latin typeface="+mn-ea"/>
              </a:rPr>
              <a:t>엄마의 </a:t>
            </a:r>
            <a:r>
              <a:rPr lang="ko-KR" altLang="en-US" sz="2200" dirty="0">
                <a:latin typeface="+mn-ea"/>
              </a:rPr>
              <a:t>배 속에서 나의 생명이 시작하듯이</a:t>
            </a:r>
            <a:r>
              <a:rPr lang="en-US" altLang="ko-KR" sz="2200" dirty="0">
                <a:latin typeface="+mn-ea"/>
              </a:rPr>
              <a:t>, </a:t>
            </a:r>
            <a:r>
              <a:rPr lang="ko-KR" altLang="en-US" sz="2200" dirty="0">
                <a:latin typeface="+mn-ea"/>
              </a:rPr>
              <a:t>인간은 태어날 때부터 </a:t>
            </a:r>
            <a:r>
              <a:rPr lang="ko-KR" altLang="en-US" sz="2200" dirty="0" smtClean="0">
                <a:latin typeface="+mn-ea"/>
              </a:rPr>
              <a:t>타인과의 관계</a:t>
            </a:r>
            <a:endParaRPr lang="en-US" altLang="ko-KR" sz="2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 smtClean="0">
                <a:latin typeface="+mn-ea"/>
              </a:rPr>
              <a:t>       속에서 </a:t>
            </a:r>
            <a:r>
              <a:rPr lang="ko-KR" altLang="en-US" sz="2200" dirty="0">
                <a:latin typeface="+mn-ea"/>
              </a:rPr>
              <a:t>자신을 형성해 가는 </a:t>
            </a:r>
            <a:r>
              <a:rPr lang="ko-KR" altLang="en-US" sz="2200" dirty="0" smtClean="0">
                <a:latin typeface="+mn-ea"/>
              </a:rPr>
              <a:t>존재임</a:t>
            </a:r>
            <a:r>
              <a:rPr lang="en-US" altLang="ko-KR" sz="2200" dirty="0" smtClean="0">
                <a:latin typeface="+mn-ea"/>
              </a:rPr>
              <a:t>.</a:t>
            </a:r>
            <a:br>
              <a:rPr lang="en-US" altLang="ko-KR" sz="2200" dirty="0" smtClean="0">
                <a:latin typeface="+mn-ea"/>
              </a:rPr>
            </a:br>
            <a:r>
              <a:rPr lang="en-US" altLang="ko-KR" sz="2200" dirty="0" smtClean="0">
                <a:latin typeface="+mn-ea"/>
              </a:rPr>
              <a:t>    - </a:t>
            </a:r>
            <a:r>
              <a:rPr lang="ko-KR" altLang="en-US" sz="2200" dirty="0" smtClean="0">
                <a:latin typeface="+mn-ea"/>
              </a:rPr>
              <a:t>타인과의 </a:t>
            </a:r>
            <a:r>
              <a:rPr lang="ko-KR" altLang="en-US" sz="2200" dirty="0">
                <a:latin typeface="+mn-ea"/>
              </a:rPr>
              <a:t>진정한 만남을 통해 인간답게 살아야 </a:t>
            </a:r>
            <a:r>
              <a:rPr lang="ko-KR" altLang="en-US" sz="2200" dirty="0" smtClean="0">
                <a:latin typeface="+mn-ea"/>
              </a:rPr>
              <a:t>함</a:t>
            </a:r>
            <a:r>
              <a:rPr lang="en-US" altLang="ko-KR" sz="2200" dirty="0" smtClean="0">
                <a:latin typeface="+mn-ea"/>
              </a:rPr>
              <a:t>.</a:t>
            </a:r>
            <a:endParaRPr lang="ko-KR" altLang="en-US" sz="22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인간이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관계적 존재인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이유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19" name="타원 18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45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타인에게 도움을 받은 경험을 떠올려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그 사람에게 고마움을 표현하는 게시물을 만들어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401" y="2505637"/>
            <a:ext cx="487174" cy="487174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292925" y="2505637"/>
            <a:ext cx="1087577" cy="495431"/>
            <a:chOff x="10075659" y="2003022"/>
            <a:chExt cx="1156006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3639" y="2390010"/>
            <a:ext cx="5260356" cy="4252101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545" y="2877859"/>
            <a:ext cx="2809833" cy="999201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665" y="4798844"/>
            <a:ext cx="2809836" cy="1150694"/>
          </a:xfrm>
          <a:prstGeom prst="rect">
            <a:avLst/>
          </a:prstGeom>
        </p:spPr>
      </p:pic>
      <p:grpSp>
        <p:nvGrpSpPr>
          <p:cNvPr id="14" name="그룹 13"/>
          <p:cNvGrpSpPr/>
          <p:nvPr/>
        </p:nvGrpSpPr>
        <p:grpSpPr>
          <a:xfrm>
            <a:off x="4562885" y="2719589"/>
            <a:ext cx="4117978" cy="3267682"/>
            <a:chOff x="4562885" y="2719589"/>
            <a:chExt cx="4117978" cy="3267682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81611" y="2719589"/>
              <a:ext cx="3478617" cy="1915888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4574760" y="5028087"/>
              <a:ext cx="20342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사서 선생님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562885" y="5412305"/>
              <a:ext cx="4117978" cy="5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좋은 책을 추천해 주셔서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793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=""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88316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en-US" altLang="ko-KR" sz="2000" b="1" dirty="0">
                <a:latin typeface="+mn-ea"/>
              </a:rPr>
              <a:t>1</a:t>
            </a:r>
            <a:r>
              <a:rPr lang="ko-KR" altLang="en-US" sz="2000" b="1" dirty="0">
                <a:latin typeface="+mn-ea"/>
              </a:rPr>
              <a:t>에서 만든 게시물을 발표한 뒤 타인과의 관계가 중요한 이유를 써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pic>
        <p:nvPicPr>
          <p:cNvPr id="20" name="그림 19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787" y="2167126"/>
            <a:ext cx="487174" cy="487174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67126"/>
            <a:ext cx="1087577" cy="495431"/>
            <a:chOff x="10075659" y="2003022"/>
            <a:chExt cx="1156006" cy="495431"/>
          </a:xfrm>
        </p:grpSpPr>
        <p:pic>
          <p:nvPicPr>
            <p:cNvPr id="22" name="그림 21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4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05807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5588" y="2926676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타인과의 관계는 생존하고 성장하기 위해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감정을 교류하고 위로와 격려를 주고받으며 행복하게 살기 위해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지식과 지혜를 나누며 풍요로운 삶을 살기 위해 중요하다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58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762" y="1601490"/>
            <a:ext cx="110284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생존과 성장</a:t>
            </a:r>
            <a:endParaRPr lang="en-US" altLang="ko-KR" sz="2400" b="1" dirty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우리는 </a:t>
            </a:r>
            <a:r>
              <a:rPr lang="ko-KR" altLang="en-US" sz="2400" dirty="0">
                <a:latin typeface="+mn-ea"/>
              </a:rPr>
              <a:t>타인과의 관계 속에서 생존하고 성장할 수 있기 </a:t>
            </a:r>
            <a:r>
              <a:rPr lang="ko-KR" altLang="en-US" sz="2400" dirty="0" smtClean="0">
                <a:latin typeface="+mn-ea"/>
              </a:rPr>
              <a:t>때문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행복한 삶</a:t>
            </a:r>
            <a:endParaRPr lang="en-US" altLang="ko-KR" sz="2400" b="1" dirty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타인과 </a:t>
            </a:r>
            <a:r>
              <a:rPr lang="ko-KR" altLang="en-US" sz="2400" dirty="0">
                <a:latin typeface="+mn-ea"/>
              </a:rPr>
              <a:t>감정을 교류하고 위로와 격려를 주고받으며 행복하게 살 수 있기 </a:t>
            </a:r>
            <a:r>
              <a:rPr lang="ko-KR" altLang="en-US" sz="2400" dirty="0" smtClean="0">
                <a:latin typeface="+mn-ea"/>
              </a:rPr>
              <a:t>때문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풍요로운 삶</a:t>
            </a:r>
            <a:endParaRPr lang="en-US" altLang="ko-KR" sz="2400" b="1" dirty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타인과 </a:t>
            </a:r>
            <a:r>
              <a:rPr lang="ko-KR" altLang="en-US" sz="2400" dirty="0">
                <a:latin typeface="+mn-ea"/>
              </a:rPr>
              <a:t>나눈 지식과 지혜는 우리가 풍요로운 삶을 살 수 있게 하기 때문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타인과의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관계가 중요한 이유</a:t>
            </a:r>
          </a:p>
          <a:p>
            <a:pPr algn="ctr"/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424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=""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=""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=""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인간이 관계적 존재인 이유를 설명할 수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일상에서 타인과의 관계를 소중히 여기는가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=""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=""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이제껏 타인의 소중함을 잊고 살아온 것 같다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앞으로는 일상에서 타인과의 관계를 소중히 여기는 사람이 되어야겠다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타인과 어울려 살려면 어떻게 해야 할까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=""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100" b="1" dirty="0" smtClean="0">
                <a:solidFill>
                  <a:srgbClr val="FFFF00"/>
                </a:solidFill>
                <a:latin typeface="+mn-ea"/>
              </a:rPr>
              <a:t>인간은 타인과 관계를 맺고 살아가는 관계적 존재임.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⇨ 동서양의 사상에서 인간을 관계적 존재로 본 까닭은?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무인도에 혼자 남겨진다면 무엇이 가장 힘들까?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동서양의 사상에서 인간을 관계적 존재로 본 까닭은?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무인도에 혼자 남겨진다면 무엇이 가장 힘들까?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인간이 관계적 존재인 이유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동양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동양에서는 타인이 있어야 나도 존재할 수 있다고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공자 </a:t>
            </a:r>
            <a:r>
              <a:rPr sz="2400" b="0">
                <a:solidFill>
                  <a:srgbClr val="262626"/>
                </a:solidFill>
              </a:rPr>
              <a:t>는 인간과 인간 사이의 관계에서 마땅히 지켜야 할 도리인 ‘인(仁)’을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“네가 하기 싫은 일을 남에게 시키지 말라.”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불교에서는 모든 존재는 홀로 존재할 수 없으므로 인간도 혼자서는 살아갈 수 없다고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석가모니는 서로 의존하는 관계 속에서 타인의 고통에 공감하고 사랑을 실천하는 자세인 ‘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자비 </a:t>
            </a:r>
            <a:r>
              <a:rPr sz="2400" b="0">
                <a:solidFill>
                  <a:srgbClr val="262626"/>
                </a:solidFill>
              </a:rPr>
              <a:t>’의 자세를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 개의 갈대는 서로 기대야 선다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동양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동양에서는 타인이 있어야 나도 존재할 수 있다고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공자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인간과 인간 사이의 관계에서 마땅히 지켜야 할 도리인 ‘인(仁)’을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“네가 하기 싫은 일을 남에게 시키지 말라.”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불교에서는 모든 존재는 홀로 존재할 수 없으므로 인간도 혼자서는 살아갈 수 없다고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석가모니는 서로 의존하는 관계 속에서 타인의 고통에 공감하고 사랑을 실천하는 자세인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’의 자세를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 개의 갈대는 서로 기대야 선다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동양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동양에서는 타인이 있어야 나도 존재할 수 있다고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인간과 인간 사이의 관계에서 마땅히 지켜야 할 도리인 ‘인(仁)’을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“네가 하기 싫은 일을 남에게 시키지 말라.”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불교에서는 모든 존재는 홀로 존재할 수 없으므로 인간도 혼자서는 살아갈 수 없다고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석가모니는 서로 의존하는 관계 속에서 타인의 고통에 공감하고 사랑을 실천하는 자세인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’의 자세를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 개의 갈대는 서로 기대야 선다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동양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동양에서는 타인이 있어야 나도 존재할 수 있다고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인간과 인간 사이의 관계에서 마땅히 지켜야 할 도리인 ‘인(仁)’을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“네가 하기 싫은 일을 남에게 시키지 말라.”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불교에서는 모든 존재는 홀로 존재할 수 없으므로 인간도 혼자서는 살아갈 수 없다고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석가모니는 서로 의존하는 관계 속에서 타인의 고통에 공감하고 사랑을 실천하는 자세인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’의 자세를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세 개의 갈대는 서로 기대야 선다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동양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동양에서는 타인이 있어야 나도 존재할 수 있다고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는 인간과 인간 사이의 관계에서 마땅히 지켜야 할 도리인 ‘인(仁)’을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“네가 하기 싫은 일을 남에게 시키지 말라.”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불교에서는 모든 존재는 홀로 존재할 수 없으므로 인간도 혼자서는 살아갈 수 없다고 보았음.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석가모니는 서로 의존하는 관계 속에서 타인의 고통에 공감하고 사랑을 실천하는 자세인 ‘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’의 자세를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세 개의 갈대는 서로 기대야 선다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인간이 관계적 존재인 이유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서양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아리스토텔레스는 인간이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본성적 </a:t>
            </a:r>
            <a:r>
              <a:rPr sz="2400" b="0">
                <a:solidFill>
                  <a:srgbClr val="262626"/>
                </a:solidFill>
              </a:rPr>
              <a:t>으로 타인과 어울려 살 때 행복할 수 있다고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“친구 없이 살기를 원하는 사람은 없다.”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타인과 친밀한 관계를 맺고 서로 사랑하며 함께 살아야 한다고 강조함.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부버는 인간이 태어날 때부터 타인과의 관계 속에서 자신을 형성해 가는 존재라고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엄마 배 속에서부터 시작된 ‘나와 너’의 관계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타인과의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진정한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만남 </a:t>
            </a:r>
            <a:r>
              <a:rPr sz="2400" b="0">
                <a:solidFill>
                  <a:srgbClr val="262626"/>
                </a:solidFill>
              </a:rPr>
              <a:t>을 통해 인간답게 살아야 한다고 강조함.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서양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아리스토텔레스는 인간이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본성적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타인과 어울려 살 때 행복할 수 있다고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“친구 없이 살기를 원하는 사람은 없다.”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 친밀한 관계를 맺고 서로 사랑하며 함께 살아야 한다고 강조함.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부버는 인간이 태어날 때부터 타인과의 관계 속에서 자신을 형성해 가는 존재라고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엄마 배 속에서부터 시작된 ‘나와 너’의 관계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진정한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만남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통해 인간답게 살아야 한다고 강조함.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서양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아리스토텔레스는 인간이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본성적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타인과 어울려 살 때 행복할 수 있다고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“친구 없이 살기를 원하는 사람은 없다.”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 친밀한 관계를 맺고 서로 사랑하며 함께 살아야 한다고 강조함.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부버는 인간이 태어날 때부터 타인과의 관계 속에서 자신을 형성해 가는 존재라고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엄마 배 속에서부터 시작된 ‘나와 너’의 관계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진정한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만남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통해 인간답게 살아야 한다고 강조함.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서양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아리스토텔레스는 인간이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본성적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타인과 어울려 살 때 행복할 수 있다고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“친구 없이 살기를 원하는 사람은 없다.”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 친밀한 관계를 맺고 서로 사랑하며 함께 살아야 한다고 강조함.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부버는 인간이 태어날 때부터 타인과의 관계 속에서 자신을 형성해 가는 존재라고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엄마 배 속에서부터 시작된 ‘나와 너’의 관계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진정한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만남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통해 인간답게 살아야 한다고 강조함.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서양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아리스토텔레스는 인간이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본성적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타인과 어울려 살 때 행복할 수 있다고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“친구 없이 살기를 원하는 사람은 없다.”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 친밀한 관계를 맺고 서로 사랑하며 함께 살아야 한다고 강조함.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부버는 인간이 태어날 때부터 타인과의 관계 속에서 자신을 형성해 가는 존재라고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엄마 배 속에서부터 시작된 ‘나와 너’의 관계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진정한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만남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통해 인간답게 살아야 한다고 강조함.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서양 사상의 관점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아리스토텔레스는 인간이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본성적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타인과 어울려 살 때 행복할 수 있다고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“친구 없이 살기를 원하는 사람은 없다.”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 친밀한 관계를 맺고 서로 사랑하며 함께 살아야 한다고 강조함.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부버는 인간이 태어날 때부터 타인과의 관계 속에서 자신을 형성해 가는 존재라고 보았음.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엄마 배 속에서부터 시작된 ‘나와 너’의 관계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진정한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만남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통해 인간답게 살아야 한다고 강조함.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타인과의 관계가 중요한 이유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우리는 타인과의 관계 속에서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생존 </a:t>
            </a:r>
            <a:r>
              <a:rPr sz="2400" b="0">
                <a:solidFill>
                  <a:srgbClr val="262626"/>
                </a:solidFill>
              </a:rPr>
              <a:t>하고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성장 </a:t>
            </a:r>
            <a:r>
              <a:rPr sz="2400" b="0">
                <a:solidFill>
                  <a:srgbClr val="262626"/>
                </a:solidFill>
              </a:rPr>
              <a:t>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갓 태어난 아기는 누군가의 돌봄 없이 하루도 살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우리는 타인과의 관계를 통해 다양한 감정을 느끼고 위로와 격려를 주고받으며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행복 </a:t>
            </a:r>
            <a:r>
              <a:rPr sz="2400" b="0">
                <a:solidFill>
                  <a:srgbClr val="262626"/>
                </a:solidFill>
              </a:rPr>
              <a:t>하게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힘든 날 “괜찮아?” 한마디에 버틸 힘이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타인과 나눈 지식과 지혜는 우리가 풍요로운 삶을 살게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친구에게 배운 요리법, 선배가 알려 준 공부법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타인과의 관계 속에서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생존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갓 태어난 아기는 누군가의 돌봄 없이 하루도 살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우리는 타인과의 관계를 통해 다양한 감정을 느끼고 위로와 격려를 주고받으며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힘든 날 “괜찮아?” 한마디에 버틸 힘이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나눈 지식과 지혜는 우리가 풍요로운 삶을 살게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친구에게 배운 요리법, 선배가 알려 준 공부법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타인과의 관계 속에서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갓 태어난 아기는 누군가의 돌봄 없이 하루도 살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우리는 타인과의 관계를 통해 다양한 감정을 느끼고 위로와 격려를 주고받으며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힘든 날 “괜찮아?” 한마디에 버틸 힘이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나눈 지식과 지혜는 우리가 풍요로운 삶을 살게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친구에게 배운 요리법, 선배가 알려 준 공부법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타인과의 관계 속에서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갓 태어난 아기는 누군가의 돌봄 없이 하루도 살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우리는 타인과의 관계를 통해 다양한 감정을 느끼고 위로와 격려를 주고받으며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힘든 날 “괜찮아?” 한마디에 버틸 힘이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나눈 지식과 지혜는 우리가 풍요로운 삶을 살게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친구에게 배운 요리법, 선배가 알려 준 공부법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타인과의 관계 속에서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갓 태어난 아기는 누군가의 돌봄 없이 하루도 살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우리는 타인과의 관계를 통해 다양한 감정을 느끼고 위로와 격려를 주고받으며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행복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힘든 날 “괜찮아?” 한마디에 버틸 힘이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나눈 지식과 지혜는 우리가 풍요로운 삶을 살게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친구에게 배운 요리법, 선배가 알려 준 공부법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타인과의 관계 속에서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갓 태어난 아기는 누군가의 돌봄 없이 하루도 살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우리는 타인과의 관계를 통해 다양한 감정을 느끼고 위로와 격려를 주고받으며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힘든 날 “괜찮아?” 한마디에 버틸 힘이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나눈 지식과 지혜는 우리가 풍요로운 삶을 살게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친구에게 배운 요리법, 선배가 알려 준 공부법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타인과의 관계 속에서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갓 태어난 아기는 누군가의 돌봄 없이 하루도 살 수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우리는 타인과의 관계를 통해 다양한 감정을 느끼고 위로와 격려를 주고받으며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힘든 날 “괜찮아?” 한마디에 버틸 힘이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나눈 지식과 지혜는 우리가 풍요로운 삶을 살게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친구에게 배운 요리법, 선배가 알려 준 공부법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동양의 관계적 인간관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仁 (유교) · 사람 人 + 둘 二 · 사람다움은 관계 속에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연기 (불교) · 모든 것은 서로 기대어 생긴다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우분투 · “우리가 있기에 내가 있다”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땅속 700m의 69일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2010년 8월 5일 ~ 10월 13일 · 칠레 산호세 광산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사고 · 광산이 무너져 광부 33명이 지하 약 700m에 갇혔다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17일 · 구조대가 구멍을 뚫기까지 이틀에 참치 두 숟갈과 우유 한 모금씩 나눠 먹었다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규칙 · 반장을 중심으로 역할을 나누고 매일 함께 모였다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69일 만에 33명 모두 살아서 돌아왔다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33명을 살린 것은 무엇이었을까?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2010년 8월 5일 ~ 10월 13일 · 칠레 산호세 광산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사고 · 광산이 무너져 광부 33명이 지하 약 700m에 갇혔다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17일 · 구조대가 구멍을 뚫기까지 이틀에 참치 두 숟갈과 우유 한 모금씩 나눠 먹었다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규칙 · 반장을 중심으로 역할을 나누고 매일 함께 모였다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69일 만에 33명 모두 살아서 돌아왔다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33명을 살린 것은 무엇이었을까?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타인과의 관계에서 마땅히 지켜야 할 도리인 ‘인(仁)’을 강조한 유교 사상가는 부버이다.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불교에서는 모든 존재가 홀로 존재할 수 없으므로 인간도 혼자서는 살아갈 수 없다고 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아리스토텔레스는 타인과 친밀한 관계를 맺고 서로 사랑하며 함께 살아야 한다고 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타인과 나눈 지식과 지혜는 우리가 풍요로운 삶을 살게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타인과의 관계에서 마땅히 지켜야 할 도리인 ‘인(仁)’을 강조한 유교 사상가는 부버이다.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불교에서는 모든 존재가 홀로 존재할 수 없으므로 인간도 혼자서는 살아갈 수 없다고 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아리스토텔레스는 타인과 친밀한 관계를 맺고 서로 사랑하며 함께 살아야 한다고 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타인과 나눈 지식과 지혜는 우리가 풍요로운 삶을 살게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타인과의 관계에서 마땅히 지켜야 할 도리인 ‘인(仁)’을 강조한 유교 사상가는 부버이다.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불교에서는 모든 존재가 홀로 존재할 수 없으므로 인간도 혼자서는 살아갈 수 없다고 하였다.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아리스토텔레스는 타인과 친밀한 관계를 맺고 서로 사랑하며 함께 살아야 한다고 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타인과 나눈 지식과 지혜는 우리가 풍요로운 삶을 살게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타인과의 관계에서 마땅히 지켜야 할 도리인 ‘인(仁)’을 강조한 유교 사상가는 부버이다.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불교에서는 모든 존재가 홀로 존재할 수 없으므로 인간도 혼자서는 살아갈 수 없다고 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아리스토텔레스는 타인과 친밀한 관계를 맺고 서로 사랑하며 함께 살아야 한다고 하였다.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타인과 나눈 지식과 지혜는 우리가 풍요로운 삶을 살게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타인과의 관계에서 마땅히 지켜야 할 도리인 ‘인(仁)’을 강조한 유교 사상가는 부버이다.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불교에서는 모든 존재가 홀로 존재할 수 없으므로 인간도 혼자서는 살아갈 수 없다고 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아리스토텔레스는 타인과 친밀한 관계를 맺고 서로 사랑하며 함께 살아야 한다고 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타인과 나눈 지식과 지혜는 우리가 풍요로운 삶을 살게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관계 지도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가까이 (가족·친구)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엄마, 동생, 단짝 민서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조금 멀리 (이웃·선생님)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담임 선생님, 경비 아저씨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더 멀리 (얼굴 모르는 사람)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급식 조리사, 버스 기사, 쌀을 기른 농부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가까이 (가족·친구)</a:t>
            </a:r>
            <a:r>
              <a:rPr sz="2300" b="1">
                <a:solidFill>
                  <a:srgbClr val="C0392B"/>
                </a:solidFill>
              </a:rPr>
              <a:t>   예) 엄마, 동생, 단짝 민서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조금 멀리 (이웃·선생님)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담임 선생님, 경비 아저씨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더 멀리 (얼굴 모르는 사람)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급식 조리사, 버스 기사, 쌀을 기른 농부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가까이 (가족·친구)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엄마, 동생, 단짝 민서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조금 멀리 (이웃·선생님)</a:t>
            </a:r>
            <a:r>
              <a:rPr sz="2300" b="1">
                <a:solidFill>
                  <a:srgbClr val="C0392B"/>
                </a:solidFill>
              </a:rPr>
              <a:t>   예) 담임 선생님, 경비 아저씨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더 멀리 (얼굴 모르는 사람)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급식 조리사, 버스 기사, 쌀을 기른 농부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가까이 (가족·친구)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엄마, 동생, 단짝 민서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조금 멀리 (이웃·선생님)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담임 선생님, 경비 아저씨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더 멀리 (얼굴 모르는 사람)</a:t>
            </a:r>
            <a:r>
              <a:rPr sz="2300" b="1">
                <a:solidFill>
                  <a:srgbClr val="C0392B"/>
                </a:solidFill>
              </a:rPr>
              <a:t>   예) 급식 조리사, 버스 기사, 쌀을 기른 농부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누구의 생각일까?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공자 · 석가모니 · 아리스토텔레스 · 부버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인(仁)이란 다른 사람을 사랑하는 것이다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공자 (유교)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세 갈대는 서로 의지해야 설 수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석가모니 (불교 — 자비)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행복한 사람이 고독할 수는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아리스토텔레스 (『니코마코스 윤리학』)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너 없이는 나도 존재할 수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부버 (진정한 만남)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공자 · 석가모니 · 아리스토텔레스 · 부버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인(仁)이란 다른 사람을 사랑하는 것이다</a:t>
            </a:r>
            <a:r>
              <a:rPr sz="2300" b="1">
                <a:solidFill>
                  <a:srgbClr val="C0392B"/>
                </a:solidFill>
              </a:rPr>
              <a:t>   → 공자 (유교)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세 갈대는 서로 의지해야 설 수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석가모니 (불교 — 자비)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행복한 사람이 고독할 수는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아리스토텔레스 (『니코마코스 윤리학』)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너 없이는 나도 존재할 수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부버 (진정한 만남)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공자 · 석가모니 · 아리스토텔레스 · 부버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인(仁)이란 다른 사람을 사랑하는 것이다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공자 (유교)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세 갈대는 서로 의지해야 설 수 있다</a:t>
            </a:r>
            <a:r>
              <a:rPr sz="2300" b="1">
                <a:solidFill>
                  <a:srgbClr val="C0392B"/>
                </a:solidFill>
              </a:rPr>
              <a:t>   → 석가모니 (불교 — 자비)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행복한 사람이 고독할 수는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아리스토텔레스 (『니코마코스 윤리학』)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너 없이는 나도 존재할 수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부버 (진정한 만남)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공자 · 석가모니 · 아리스토텔레스 · 부버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인(仁)이란 다른 사람을 사랑하는 것이다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공자 (유교)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세 갈대는 서로 의지해야 설 수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석가모니 (불교 — 자비)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행복한 사람이 고독할 수는 없다</a:t>
            </a:r>
            <a:r>
              <a:rPr sz="2300" b="1">
                <a:solidFill>
                  <a:srgbClr val="C0392B"/>
                </a:solidFill>
              </a:rPr>
              <a:t>   → 아리스토텔레스 (『니코마코스 윤리학』)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너 없이는 나도 존재할 수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부버 (진정한 만남)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공자 · 석가모니 · 아리스토텔레스 · 부버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인(仁)이란 다른 사람을 사랑하는 것이다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공자 (유교)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세 갈대는 서로 의지해야 설 수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석가모니 (불교 — 자비)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행복한 사람이 고독할 수는 없다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아리스토텔레스 (『니코마코스 윤리학』)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너 없이는 나도 존재할 수 없다</a:t>
            </a:r>
            <a:r>
              <a:rPr sz="2300" b="1">
                <a:solidFill>
                  <a:srgbClr val="C0392B"/>
                </a:solidFill>
              </a:rPr>
              <a:t>   → 부버 (진정한 만남)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=""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=""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#덕분에 게시물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j-ea"/>
              </a:rPr>
              <a:t>나 혼자만 존재할 수 있을까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5" y="4444815"/>
            <a:ext cx="110284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관계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둘 이상의 대상이 </a:t>
            </a:r>
            <a:r>
              <a:rPr lang="ko-KR" altLang="en-US" sz="1600" dirty="0" smtClean="0">
                <a:latin typeface="+mn-ea"/>
              </a:rPr>
              <a:t>서로 관련을 </a:t>
            </a:r>
            <a:r>
              <a:rPr lang="ko-KR" altLang="en-US" sz="1600" dirty="0">
                <a:latin typeface="+mn-ea"/>
              </a:rPr>
              <a:t>맺고 있음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# ___ 덕분에 # ___해 주셔서 # 감사합니다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# 짝꿍 덕분에 # 준비물을 빌려줘서 # 감사합니다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# ___ 덕분에 # ___해 주셔서 # 감사합니다</a:t>
            </a:r>
            <a:r>
              <a:rPr sz="2300" b="1">
                <a:solidFill>
                  <a:srgbClr val="C0392B"/>
                </a:solidFill>
              </a:rPr>
              <a:t>   예) # 짝꿍 덕분에 # 준비물을 빌려줘서 # 감사합니다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8975</TotalTime>
  <Words>939</Words>
  <Application>Microsoft Office PowerPoint</Application>
  <PresentationFormat>사용자 지정</PresentationFormat>
  <Paragraphs>183</Paragraphs>
  <Slides>17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db400tea</cp:lastModifiedBy>
  <cp:revision>157</cp:revision>
  <cp:lastPrinted>2024-06-05T04:53:22Z</cp:lastPrinted>
  <dcterms:created xsi:type="dcterms:W3CDTF">2023-10-31T05:50:03Z</dcterms:created>
  <dcterms:modified xsi:type="dcterms:W3CDTF">2024-08-26T07:06:13Z</dcterms:modified>
</cp:coreProperties>
</file>