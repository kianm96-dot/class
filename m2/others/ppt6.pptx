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17"/>
  </p:notesMasterIdLst>
  <p:handoutMasterIdLst>
    <p:handoutMasterId r:id="rId18"/>
  </p:handoutMasterIdLst>
  <p:sldIdLst>
    <p:sldId id="302" r:id="rId2"/>
    <p:sldId id="301" r:id="rId3"/>
    <p:sldId id="418" r:id="rId4"/>
    <p:sldId id="305" r:id="rId5"/>
    <p:sldId id="306" r:id="rId6"/>
    <p:sldId id="270" r:id="rId7"/>
    <p:sldId id="420" r:id="rId8"/>
    <p:sldId id="446" r:id="rId24"/>
    <p:sldId id="435" r:id="rId9"/>
    <p:sldId id="443" r:id="rId10"/>
    <p:sldId id="442" r:id="rId11"/>
    <p:sldId id="436" r:id="rId12"/>
    <p:sldId id="438" r:id="rId13"/>
    <p:sldId id="444" r:id="rId14"/>
    <p:sldId id="447" r:id="rId25"/>
    <p:sldId id="448" r:id="rId26"/>
    <p:sldId id="449" r:id="rId27"/>
    <p:sldId id="450" r:id="rId28"/>
    <p:sldId id="451" r:id="rId29"/>
    <p:sldId id="445" r:id="rId15"/>
    <p:sldId id="452" r:id="rId30"/>
    <p:sldId id="453" r:id="rId31"/>
    <p:sldId id="454" r:id="rId32"/>
    <p:sldId id="455" r:id="rId33"/>
    <p:sldId id="380" r:id="rId16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C5E9"/>
    <a:srgbClr val="ABE3F2"/>
    <a:srgbClr val="D4EEC8"/>
    <a:srgbClr val="87D272"/>
    <a:srgbClr val="F0F9E8"/>
    <a:srgbClr val="FFF7EE"/>
    <a:srgbClr val="843C0C"/>
    <a:srgbClr val="95D0E9"/>
    <a:srgbClr val="96B7E3"/>
    <a:srgbClr val="D1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13" autoAdjust="0"/>
    <p:restoredTop sz="96242" autoAdjust="0"/>
  </p:normalViewPr>
  <p:slideViewPr>
    <p:cSldViewPr snapToGrid="0">
      <p:cViewPr varScale="1">
        <p:scale>
          <a:sx n="85" d="100"/>
          <a:sy n="85" d="100"/>
        </p:scale>
        <p:origin x="102" y="270"/>
      </p:cViewPr>
      <p:guideLst>
        <p:guide orient="horz" pos="2160"/>
        <p:guide pos="384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commentAuthors" Target="commentAuthor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120쪽 · 성윤리의 필요성</a:t>
            </a:r>
          </a:p>
          <a:p>
            <a:r>
              <a:t>민철·수지 사례(교과서 120쪽)와 연결한다. 부끄러운 주제가 아니라 나와 타인을 존중하는 주제라는 분위기를 먼저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성적 자기 결정권</a:t>
            </a:r>
          </a:p>
          <a:p>
            <a:r>
              <a:t>자신의 의지에 따라 자율적이고 책임감 있게 성적 의사 결정을 할 권리 — 상대의 의사를 존중하고 내 의사도 분명히 표현한다.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「Tea and Consent」</a:t>
            </a:r>
          </a:p>
          <a:p>
            <a:r>
              <a:t>영국 템스밸리 경찰이 캠페인에 쓴 짧은 영상(원작은 블로거 에멀린 메이의 글, 영상은 블루 시트 스튜디오). 동의(consent)는 분명하고, 자발적이며, 언제든 바꿀 수 있어야 한다는 것을 쉽게 보여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디지털 성범죄 예방</a:t>
            </a:r>
          </a:p>
          <a:p>
            <a:r>
              <a:t>불법 촬영물을 소지·구입·저장·시청하는 것도 처벌된다(성폭력처벌법). 피해자에게 잘못은 없다. 혼자 해결하려 하지 말고 바로 도움을 청한다.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건강한 관계와 통제</a:t>
            </a:r>
          </a:p>
          <a:p>
            <a:r>
              <a:t>감시와 통제는 사랑이 아니다. 데이트 폭력의 신호.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청소년기의 바람직한 성윤리를 상황에 적용해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청소년기의 바람직한 성윤리를 상황에 적용해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청소년기의 바람직한 성윤리를 상황에 적용해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1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3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성윤리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75713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청소년기의 </a:t>
            </a:r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바람직한 </a:t>
            </a:r>
            <a:endParaRPr lang="en-US" altLang="ko-KR" sz="5400" b="1" dirty="0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성윤리는 </a:t>
            </a:r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무엇일까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818866"/>
            <a:ext cx="10293350" cy="787400"/>
            <a:chOff x="914400" y="2362200"/>
            <a:chExt cx="10293350" cy="787400"/>
          </a:xfrm>
        </p:grpSpPr>
        <p:sp>
          <p:nvSpPr>
            <p:cNvPr id="38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830741"/>
            <a:ext cx="9228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청소년기 </a:t>
            </a: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성윤리의 필요성을 설명할 수 </a:t>
            </a: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있다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3079055"/>
            <a:ext cx="10293350" cy="787400"/>
            <a:chOff x="914400" y="2362200"/>
            <a:chExt cx="10293350" cy="787400"/>
          </a:xfrm>
        </p:grpSpPr>
        <p:sp>
          <p:nvSpPr>
            <p:cNvPr id="25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3090930"/>
            <a:ext cx="9228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청소년기의 </a:t>
            </a: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바람직한 성윤리를 탐구하여 실천할 수 있다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0" y="1836007"/>
            <a:ext cx="11809310" cy="5042063"/>
            <a:chOff x="0" y="1822560"/>
            <a:chExt cx="11809310" cy="5042063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27336" y="1829184"/>
              <a:ext cx="9154638" cy="5028816"/>
            </a:xfrm>
            <a:prstGeom prst="rect">
              <a:avLst/>
            </a:prstGeom>
          </p:spPr>
        </p:pic>
        <p:sp>
          <p:nvSpPr>
            <p:cNvPr id="23" name="직사각형 22"/>
            <p:cNvSpPr/>
            <p:nvPr/>
          </p:nvSpPr>
          <p:spPr>
            <a:xfrm>
              <a:off x="3550024" y="1822560"/>
              <a:ext cx="4859188" cy="1619887"/>
            </a:xfrm>
            <a:prstGeom prst="rect">
              <a:avLst/>
            </a:prstGeom>
            <a:solidFill>
              <a:srgbClr val="F0F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481974" y="1822560"/>
              <a:ext cx="1327336" cy="5035440"/>
            </a:xfrm>
            <a:prstGeom prst="rect">
              <a:avLst/>
            </a:prstGeom>
            <a:solidFill>
              <a:srgbClr val="F0F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0" y="1829183"/>
              <a:ext cx="1327336" cy="5035440"/>
            </a:xfrm>
            <a:prstGeom prst="rect">
              <a:avLst/>
            </a:prstGeom>
            <a:solidFill>
              <a:srgbClr val="F0F9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4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707776" y="1614568"/>
            <a:ext cx="3431099" cy="1841326"/>
          </a:xfrm>
          <a:prstGeom prst="roundRect">
            <a:avLst/>
          </a:prstGeom>
          <a:solidFill>
            <a:srgbClr val="C5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2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6300945" y="1654899"/>
            <a:ext cx="2977526" cy="1803045"/>
          </a:xfrm>
          <a:prstGeom prst="roundRect">
            <a:avLst/>
          </a:prstGeom>
          <a:solidFill>
            <a:srgbClr val="ABE3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2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6466211" y="1805650"/>
            <a:ext cx="2646994" cy="1476709"/>
            <a:chOff x="4574077" y="3073853"/>
            <a:chExt cx="4068941" cy="2362200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74960" y="3073853"/>
              <a:ext cx="4067175" cy="23622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2" name="직사각형 11"/>
            <p:cNvSpPr/>
            <p:nvPr/>
          </p:nvSpPr>
          <p:spPr>
            <a:xfrm>
              <a:off x="4574077" y="3073853"/>
              <a:ext cx="210727" cy="290310"/>
            </a:xfrm>
            <a:prstGeom prst="rect">
              <a:avLst/>
            </a:prstGeom>
            <a:solidFill>
              <a:srgbClr val="ABE3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8432291" y="3073853"/>
              <a:ext cx="210727" cy="290310"/>
            </a:xfrm>
            <a:prstGeom prst="rect">
              <a:avLst/>
            </a:prstGeom>
            <a:solidFill>
              <a:srgbClr val="ABE3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1911644" y="1694396"/>
            <a:ext cx="2976907" cy="1718003"/>
            <a:chOff x="3671047" y="2010669"/>
            <a:chExt cx="4815728" cy="2808981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05225" y="2038350"/>
              <a:ext cx="4781550" cy="2781300"/>
            </a:xfrm>
            <a:prstGeom prst="rect">
              <a:avLst/>
            </a:prstGeom>
          </p:spPr>
        </p:pic>
        <p:sp>
          <p:nvSpPr>
            <p:cNvPr id="32" name="직사각형 31"/>
            <p:cNvSpPr/>
            <p:nvPr/>
          </p:nvSpPr>
          <p:spPr>
            <a:xfrm>
              <a:off x="3671047" y="2010669"/>
              <a:ext cx="404676" cy="508917"/>
            </a:xfrm>
            <a:prstGeom prst="rect">
              <a:avLst/>
            </a:prstGeom>
            <a:solidFill>
              <a:srgbClr val="C5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8004536" y="4304355"/>
              <a:ext cx="482239" cy="508917"/>
            </a:xfrm>
            <a:prstGeom prst="rect">
              <a:avLst/>
            </a:prstGeom>
            <a:solidFill>
              <a:srgbClr val="C5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705225" y="4296929"/>
              <a:ext cx="482239" cy="508917"/>
            </a:xfrm>
            <a:prstGeom prst="rect">
              <a:avLst/>
            </a:prstGeom>
            <a:solidFill>
              <a:srgbClr val="C5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473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48853"/>
            <a:ext cx="10293349" cy="4293993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8101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그림을 보고 두 사람에게 해 주고 싶은 조언을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4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4" name="그림 3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707139"/>
            <a:ext cx="487174" cy="487174"/>
          </a:xfrm>
          <a:prstGeom prst="rect">
            <a:avLst/>
          </a:prstGeom>
        </p:spPr>
      </p:pic>
      <p:grpSp>
        <p:nvGrpSpPr>
          <p:cNvPr id="38" name="그룹 37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707139"/>
            <a:ext cx="1087577" cy="495431"/>
            <a:chOff x="10075659" y="2003022"/>
            <a:chExt cx="1156006" cy="495431"/>
          </a:xfrm>
        </p:grpSpPr>
        <p:pic>
          <p:nvPicPr>
            <p:cNvPr id="39" name="그림 38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1108654" y="2348854"/>
            <a:ext cx="9672235" cy="3898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수정이는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마음이 불편하다면 경태의 의견에 따르지 않아도 돼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경태가 수정이를 진정으로 아끼고 사랑한다면 수정이의 생각과 감정을 존중해 줄 거야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경태와 수정이 모두 각자 자신의 입장이 어떠한지 차분히 생각해 보고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이를 정리해서 서로에게 솔직하게 이야기해 봐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애정 표현의 선을 함께 정한 뒤 지켜 나간다면 두 사람 사이에는 어느새 사랑과 신뢰가 깊이 형성되어 있을 거야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9716" y="1361886"/>
            <a:ext cx="8519443" cy="549611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62427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err="1">
                <a:latin typeface="+mn-ea"/>
              </a:rPr>
              <a:t>민철이의</a:t>
            </a:r>
            <a:r>
              <a:rPr lang="ko-KR" altLang="en-US" sz="2000" b="1" dirty="0">
                <a:latin typeface="+mn-ea"/>
              </a:rPr>
              <a:t> 행동에는 어떤 문제가 있는지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722147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722147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42078"/>
            <a:ext cx="10293350" cy="3130875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362947"/>
            <a:ext cx="97841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민철이의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행동은 수지에게 성적 불쾌감을 주었고 법적 처벌을 받을 수 있다는 점에서 잘못된 행동이다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또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자신의 성을 소중히 여기지 않았다는 점에서도 문제가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누리 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소통망으로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전송한 사진은 나의 의지와 상관없이 정보망을 통해 쉽게 퍼질 수 있는데도 신중히 행동하지 않았기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7" y="1438936"/>
            <a:ext cx="10872462" cy="4547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청소년기 성윤리의 필요성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청소년기에 성에 </a:t>
            </a:r>
            <a:r>
              <a:rPr lang="ko-KR" altLang="en-US" sz="2400" dirty="0">
                <a:latin typeface="+mn-ea"/>
              </a:rPr>
              <a:t>대한 가치관이 바로 서지 않은 상태에서 행동할 경우 성과 관련한 문제를 일으킬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  <a:r>
              <a:rPr lang="ko-KR" altLang="en-US" sz="2400" dirty="0" smtClean="0">
                <a:latin typeface="+mn-ea"/>
              </a:rPr>
              <a:t> </a:t>
            </a:r>
            <a:r>
              <a:rPr lang="ko-KR" altLang="en-US" sz="2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2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→ </a:t>
            </a:r>
            <a:r>
              <a:rPr lang="ko-KR" altLang="en-US" sz="2400" dirty="0" smtClean="0">
                <a:latin typeface="+mn-ea"/>
              </a:rPr>
              <a:t>청소년기에 </a:t>
            </a:r>
            <a:r>
              <a:rPr lang="ko-KR" altLang="en-US" sz="2400" dirty="0">
                <a:latin typeface="+mn-ea"/>
              </a:rPr>
              <a:t>일어날 수 있는 성 문제를 예방하고 올바른 가치관을 형성하려면 성윤리가 </a:t>
            </a:r>
            <a:r>
              <a:rPr lang="ko-KR" altLang="en-US" sz="2400" dirty="0" smtClean="0">
                <a:latin typeface="+mn-ea"/>
              </a:rPr>
              <a:t>필요함</a:t>
            </a:r>
            <a:r>
              <a:rPr lang="en-US" altLang="ko-KR" sz="2400" dirty="0" smtClean="0">
                <a:latin typeface="+mn-ea"/>
              </a:rPr>
              <a:t>. 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청소년기에 </a:t>
            </a:r>
            <a:r>
              <a:rPr lang="ko-KR" altLang="en-US" sz="2400" dirty="0">
                <a:latin typeface="+mn-ea"/>
              </a:rPr>
              <a:t>형성한 성에 대한 태도는 성인이 된 이후까지 영향을 미칠 </a:t>
            </a:r>
            <a:r>
              <a:rPr lang="ko-KR" altLang="en-US" sz="2400" dirty="0" smtClean="0">
                <a:latin typeface="+mn-ea"/>
              </a:rPr>
              <a:t>수도 있음</a:t>
            </a:r>
            <a:r>
              <a:rPr lang="en-US" altLang="ko-KR" sz="2400" dirty="0" smtClean="0">
                <a:latin typeface="+mn-ea"/>
              </a:rPr>
              <a:t>.</a:t>
            </a:r>
            <a:br>
              <a:rPr lang="en-US" altLang="ko-KR" sz="2400" dirty="0" smtClean="0">
                <a:latin typeface="+mn-ea"/>
              </a:rPr>
            </a:b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</a:t>
            </a:r>
            <a:r>
              <a:rPr lang="ko-KR" altLang="en-US" sz="2400" dirty="0">
                <a:latin typeface="+mn-ea"/>
              </a:rPr>
              <a:t>청소년기에 </a:t>
            </a:r>
            <a:r>
              <a:rPr lang="ko-KR" altLang="en-US" sz="2400" dirty="0" smtClean="0">
                <a:latin typeface="+mn-ea"/>
              </a:rPr>
              <a:t>바람직한 </a:t>
            </a:r>
            <a:r>
              <a:rPr lang="ko-KR" altLang="en-US" sz="2400" dirty="0">
                <a:latin typeface="+mn-ea"/>
              </a:rPr>
              <a:t>성윤리를 </a:t>
            </a:r>
            <a:r>
              <a:rPr lang="ko-KR" altLang="en-US" sz="2400" dirty="0" err="1">
                <a:latin typeface="+mn-ea"/>
              </a:rPr>
              <a:t>내면화하려고</a:t>
            </a:r>
            <a:r>
              <a:rPr lang="ko-KR" altLang="en-US" sz="2400" dirty="0">
                <a:latin typeface="+mn-ea"/>
              </a:rPr>
              <a:t> 노력해야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청소년기 성윤리의 </a:t>
            </a:r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필요성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9273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550024" y="1596520"/>
            <a:ext cx="789188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어느 날 ○○는 물건을 사려고 인터넷 검색을 하다가 음란물 광고 창을 보았다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그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순간 ○○는 성적 호기심이 생겨서 해당 광고 창을 열어 음란물 사이트를 둘러보았다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○○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는 잠깐만 시간을 보내려고 했지만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그러지 못하고 사이트에 오랜 시간 머물게 되었다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다음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날 ○○는 자꾸만 어제 본 음란물이 떠오르고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그것을 다시 보고 싶은 마음이 들어 학교 수업에 집중하기 어려웠다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2833352"/>
            <a:ext cx="3280304" cy="402464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852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400" y="2351450"/>
            <a:ext cx="10251561" cy="3829050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83834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윗글의 주인공에게 해 주고 싶은 조언을 쪽지에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1065588" y="2510128"/>
            <a:ext cx="9784141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위 기사의 게임 회사는 게임의 사용자 수를 늘리기 위해 성을 도구로 사용하며 사고파는 대상으로 취급하였다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이러한 성 상품화는 성의 가치를 훼손하며 인간의 존엄성을 파괴하므로 문제가 된다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20774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618980" y="1596520"/>
            <a:ext cx="1046636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□□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회사가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성을 상품화한 게임을 출시하여 논란이 일었다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해당 게임은 여성 캐릭터가 수영복을 입은 채 적을 공격하는 등 성적인 요소를 지나치게 부각하고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이에 대해 게임의 사용자들은 여성을 인격체가 아니라 상품으로 여긴 것이라며 싸늘한 반응을 보였다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- 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여성경제신문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》, 2022. 12. 30.</a:t>
            </a:r>
            <a:endParaRPr lang="en-US" altLang="ko-KR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18980" y="4483384"/>
            <a:ext cx="1046636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b="1" dirty="0" smtClean="0">
                <a:solidFill>
                  <a:schemeClr val="accent6"/>
                </a:solidFill>
                <a:latin typeface="+mn-ea"/>
              </a:rPr>
              <a:t>성 상품화</a:t>
            </a:r>
            <a:r>
              <a:rPr lang="ko-KR" altLang="en-US" sz="1600" dirty="0" smtClean="0">
                <a:latin typeface="+mn-ea"/>
              </a:rPr>
              <a:t> 성을 </a:t>
            </a:r>
            <a:r>
              <a:rPr lang="ko-KR" altLang="en-US" sz="1600" dirty="0">
                <a:latin typeface="+mn-ea"/>
              </a:rPr>
              <a:t>상품처럼 </a:t>
            </a:r>
            <a:r>
              <a:rPr lang="ko-KR" altLang="en-US" sz="1600" dirty="0" err="1">
                <a:latin typeface="+mn-ea"/>
              </a:rPr>
              <a:t>사고팔거나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다른 상품을 팔기 위한 수단으로 이용하는 </a:t>
            </a:r>
            <a:r>
              <a:rPr lang="ko-KR" altLang="en-US" sz="1600" dirty="0" smtClean="0">
                <a:latin typeface="+mn-ea"/>
              </a:rPr>
              <a:t>것</a:t>
            </a:r>
            <a:endParaRPr lang="en-US" altLang="ko-KR" sz="1600" dirty="0">
              <a:latin typeface="+mn-ea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2290678" y="1637903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75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83834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위 기사에 드러난 성 상품화가 문제가 되는 까닭을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25" name="그림 2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722147"/>
            <a:ext cx="487174" cy="487174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722147"/>
            <a:ext cx="1087577" cy="495431"/>
            <a:chOff x="10075659" y="2003022"/>
            <a:chExt cx="1156006" cy="495431"/>
          </a:xfrm>
        </p:grpSpPr>
        <p:pic>
          <p:nvPicPr>
            <p:cNvPr id="27" name="그림 2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42078"/>
            <a:ext cx="10293350" cy="209545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5588" y="2362947"/>
            <a:ext cx="97841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위 기사의 게임 회사는 게임의 사용자 수를 늘리기 위해 성을 도구로 사용하며 사고파는 대상으로 취급하였다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이러한 성 상품화는 성의 가치를 훼손하며 인간의 존엄성을 파괴하므로 문제가 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3049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30" grpId="0"/>
      <p:bldP spid="3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116" y="1264125"/>
            <a:ext cx="11265144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절제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성에 관한 </a:t>
            </a:r>
            <a:r>
              <a:rPr lang="ko-KR" altLang="en-US" sz="2400" dirty="0" smtClean="0">
                <a:latin typeface="+mn-ea"/>
              </a:rPr>
              <a:t>호기심을 </a:t>
            </a:r>
            <a:r>
              <a:rPr lang="ko-KR" altLang="en-US" sz="2400" dirty="0">
                <a:latin typeface="+mn-ea"/>
              </a:rPr>
              <a:t>절제하지 못하고 음란물 등에 지나치게 몰입하면 잘못된 성 지식을 쌓거나 학업에 어려움을 </a:t>
            </a:r>
            <a:r>
              <a:rPr lang="ko-KR" altLang="en-US" sz="2400" dirty="0" smtClean="0">
                <a:latin typeface="+mn-ea"/>
              </a:rPr>
              <a:t>겪는 등 나쁜 영향을 미칠 </a:t>
            </a:r>
            <a:r>
              <a:rPr lang="ko-KR" altLang="en-US" sz="2400" dirty="0">
                <a:latin typeface="+mn-ea"/>
              </a:rPr>
              <a:t>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→ </a:t>
            </a:r>
            <a:r>
              <a:rPr lang="ko-KR" altLang="en-US" sz="2400" dirty="0" smtClean="0">
                <a:latin typeface="+mn-ea"/>
              </a:rPr>
              <a:t>성의 </a:t>
            </a:r>
            <a:r>
              <a:rPr lang="ko-KR" altLang="en-US" sz="2400" dirty="0">
                <a:latin typeface="+mn-ea"/>
              </a:rPr>
              <a:t>쾌락적 측면에만 과하게 몰입하지 않도록 절제해야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0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책임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청소년기에 </a:t>
            </a:r>
            <a:r>
              <a:rPr lang="ko-KR" altLang="en-US" sz="2400" dirty="0">
                <a:latin typeface="+mn-ea"/>
              </a:rPr>
              <a:t>임신과 출산을 하면 부모로서의 역할과 책임을 다하기 </a:t>
            </a:r>
            <a:r>
              <a:rPr lang="ko-KR" altLang="en-US" sz="2400" dirty="0" smtClean="0">
                <a:latin typeface="+mn-ea"/>
              </a:rPr>
              <a:t>어렵고</a:t>
            </a:r>
            <a:r>
              <a:rPr lang="en-US" altLang="ko-KR" sz="2400" dirty="0" smtClean="0">
                <a:latin typeface="+mn-ea"/>
              </a:rPr>
              <a:t>,</a:t>
            </a:r>
            <a:r>
              <a:rPr lang="ko-KR" altLang="en-US" sz="2400" dirty="0" smtClean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청소년으로서 미래를 준비해야 할 시기에 학업 중단 등의 어려움을 겪을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smtClean="0">
                <a:latin typeface="+mn-ea"/>
              </a:rPr>
              <a:t>.</a:t>
            </a:r>
            <a:endParaRPr lang="en-US" altLang="ko-KR" sz="2400" dirty="0" smtClean="0"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</a:t>
            </a:r>
            <a:r>
              <a:rPr lang="ko-KR" altLang="en-US" sz="2400" dirty="0" smtClean="0">
                <a:latin typeface="+mn-ea"/>
              </a:rPr>
              <a:t>성과 </a:t>
            </a:r>
            <a:r>
              <a:rPr lang="ko-KR" altLang="en-US" sz="2400" dirty="0">
                <a:latin typeface="+mn-ea"/>
              </a:rPr>
              <a:t>관련한 행동에 책임감을 지니고 신중하게 행동해야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청소년기의 바람직한 성윤리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9" name="타원 18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65392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115" y="1264125"/>
            <a:ext cx="11413061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존중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모든 사람은 자신의 의지에 따라서 자율적이고 책임감 있게 성적 의사 결정을 할 권리인 ‘성적 자기 </a:t>
            </a:r>
            <a:r>
              <a:rPr lang="ko-KR" altLang="en-US" sz="2400" dirty="0" err="1">
                <a:latin typeface="+mn-ea"/>
              </a:rPr>
              <a:t>결정권’을</a:t>
            </a:r>
            <a:r>
              <a:rPr lang="ko-KR" altLang="en-US" sz="2400" dirty="0">
                <a:latin typeface="+mn-ea"/>
              </a:rPr>
              <a:t> 지님</a:t>
            </a:r>
            <a:r>
              <a:rPr lang="en-US" altLang="ko-KR" sz="2400" dirty="0">
                <a:latin typeface="+mn-ea"/>
              </a:rPr>
              <a:t>. </a:t>
            </a:r>
            <a:r>
              <a:rPr lang="en-US" altLang="ko-KR" sz="2400" dirty="0" smtClean="0">
                <a:latin typeface="+mn-ea"/>
              </a:rPr>
              <a:t/>
            </a:r>
            <a:br>
              <a:rPr lang="en-US" altLang="ko-KR" sz="2400" dirty="0" smtClean="0">
                <a:latin typeface="+mn-ea"/>
              </a:rPr>
            </a:br>
            <a:r>
              <a:rPr lang="ko-KR" altLang="en-US" sz="2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→ </a:t>
            </a:r>
            <a:r>
              <a:rPr lang="ko-KR" altLang="en-US" sz="2400" dirty="0">
                <a:latin typeface="+mn-ea"/>
              </a:rPr>
              <a:t>상대방을 성적 쾌락을 위한 수단으로 </a:t>
            </a:r>
            <a:r>
              <a:rPr lang="ko-KR" altLang="en-US" sz="2400" dirty="0" smtClean="0">
                <a:latin typeface="+mn-ea"/>
              </a:rPr>
              <a:t>여기지 말고</a:t>
            </a:r>
            <a:r>
              <a:rPr lang="en-US" altLang="ko-KR" sz="2400" dirty="0" smtClean="0">
                <a:latin typeface="+mn-ea"/>
              </a:rPr>
              <a:t> </a:t>
            </a:r>
            <a:r>
              <a:rPr lang="ko-KR" altLang="en-US" sz="2400" dirty="0" smtClean="0">
                <a:latin typeface="+mn-ea"/>
              </a:rPr>
              <a:t>인격적으로 </a:t>
            </a:r>
            <a:r>
              <a:rPr lang="ko-KR" altLang="en-US" sz="2400" dirty="0">
                <a:latin typeface="+mn-ea"/>
              </a:rPr>
              <a:t>존중해야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성 상품화는 성을 어떤 목적을 위한 도구나 수단으로 여겨 성의 가치뿐만 아니라 인간의 존엄성을 파괴함</a:t>
            </a:r>
            <a:r>
              <a:rPr lang="en-US" altLang="ko-KR" sz="2400" dirty="0" smtClean="0">
                <a:latin typeface="+mn-ea"/>
              </a:rPr>
              <a:t>. </a:t>
            </a:r>
            <a:br>
              <a:rPr lang="en-US" altLang="ko-KR" sz="2400" dirty="0" smtClean="0">
                <a:latin typeface="+mn-ea"/>
              </a:rPr>
            </a:b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</a:t>
            </a:r>
            <a:r>
              <a:rPr lang="ko-KR" altLang="en-US" sz="2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400" dirty="0" smtClean="0">
                <a:latin typeface="+mn-ea"/>
              </a:rPr>
              <a:t>성 상품화를 경계하며 성을 그 자체로 존중하고자 노력해야 함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청소년기의 바람직한 성윤리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타원 1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87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다음 개념을 잘 이해했는지 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V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표를 하며 점검하고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청소년기의 바람직한 성윤리를 실천하기 위한 나의 다짐을 써 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40778"/>
            <a:ext cx="487174" cy="48717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40778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35915" y="4546283"/>
            <a:ext cx="81650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청소년기를 건강하게 보내려면 바람직한 성윤리를 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내면화해야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할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앞으로 절제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책임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존중을 바탕으로 성을 대하려고 노력해야겠다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grpSp>
        <p:nvGrpSpPr>
          <p:cNvPr id="29" name="그룹 28"/>
          <p:cNvGrpSpPr/>
          <p:nvPr/>
        </p:nvGrpSpPr>
        <p:grpSpPr>
          <a:xfrm>
            <a:off x="936087" y="3953767"/>
            <a:ext cx="1328154" cy="458932"/>
            <a:chOff x="877165" y="3739778"/>
            <a:chExt cx="1328154" cy="458932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다짐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54762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4341068" y="2854762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35916" y="2781066"/>
            <a:ext cx="2452744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절제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02766" y="2791824"/>
            <a:ext cx="2452744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책임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94736" y="2844004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056434" y="2781066"/>
            <a:ext cx="2452744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존중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9261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151906" y="2086984"/>
            <a:ext cx="97496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“03. </a:t>
            </a:r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성에 대한 편견을 어떻게 바로잡을 수 있을까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를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7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청소년기 성윤리의 필요성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청소년기에 일어날 수 있는 성 문제를 예방하고 올바른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가치관 </a:t>
            </a:r>
            <a:r>
              <a:rPr sz="2400" b="0">
                <a:solidFill>
                  <a:srgbClr val="262626"/>
                </a:solidFill>
              </a:rPr>
              <a:t>을 형성하기 위해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“다들 한다더라.” 는 말에 휩쓸리지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청소년기에 형성한 성에 대한 태도는 성인이 된 이후까지 영향을 미칠 수 있기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지금 배우는 ‘상대 존중’이 어른이 된 뒤의 연애와 결혼으로 이어진다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청소년기에 일어날 수 있는 성 문제를 예방하고 올바른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가치관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형성하기 위해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“다들 한다더라.” 는 말에 휩쓸리지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청소년기에 형성한 성에 대한 태도는 성인이 된 이후까지 영향을 미칠 수 있기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지금 배우는 ‘상대 존중’이 어른이 된 뒤의 연애와 결혼으로 이어진다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청소년기에 일어날 수 있는 성 문제를 예방하고 올바른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형성하기 위해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“다들 한다더라.” 는 말에 휩쓸리지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청소년기에 형성한 성에 대한 태도는 성인이 된 이후까지 영향을 미칠 수 있기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지금 배우는 ‘상대 존중’이 어른이 된 뒤의 연애와 결혼으로 이어진다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청소년기에 일어날 수 있는 성 문제를 예방하고 올바른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형성하기 위해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“다들 한다더라.” 는 말에 휩쓸리지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청소년기에 형성한 성에 대한 태도는 성인이 된 이후까지 영향을 미칠 수 있기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지금 배우는 ‘상대 존중’이 어른이 된 뒤의 연애와 결혼으로 이어진다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청소년기의 바람직한 성윤리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절제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청소년기에 성에 관한 호기심을 절제하지 못하고 음란물 등에 지나치게 몰입하면 잘못된 성 지식을 쌓거나 학업에 어려움을 겪는 등 일상생활에 좋지 않은 영향을 미칠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이상한 광고 창은 열지 않고 바로 닫기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성의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쾌락적 </a:t>
            </a:r>
            <a:r>
              <a:rPr sz="2400" b="0">
                <a:solidFill>
                  <a:srgbClr val="262626"/>
                </a:solidFill>
              </a:rPr>
              <a:t> 측면에만 과하게 몰입하지 않도록 절제해야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책임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사회적·경제적으로 독립하지 못한 청소년기에 임신과 출산을 하면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부모 </a:t>
            </a:r>
            <a:r>
              <a:rPr sz="2400" b="0">
                <a:solidFill>
                  <a:srgbClr val="262626"/>
                </a:solidFill>
              </a:rPr>
              <a:t>로서의 역할과 책임을 다하기 어렵고, 청소년으로서 미래를 준비해야 할 시기에 학업 중단 등의 어려움을 겪을 수 있음.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절제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청소년기에 성에 관한 호기심을 절제하지 못하고 음란물 등에 지나치게 몰입하면 잘못된 성 지식을 쌓거나 학업에 어려움을 겪는 등 일상생활에 좋지 않은 영향을 미칠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이상한 광고 창은 열지 않고 바로 닫기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성의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쾌락적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측면에만 과하게 몰입하지 않도록 절제해야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책임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사회적·경제적으로 독립하지 못한 청소년기에 임신과 출산을 하면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부모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로서의 역할과 책임을 다하기 어렵고, 청소년으로서 미래를 준비해야 할 시기에 학업 중단 등의 어려움을 겪을 수 있음.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절제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청소년기에 성에 관한 호기심을 절제하지 못하고 음란물 등에 지나치게 몰입하면 잘못된 성 지식을 쌓거나 학업에 어려움을 겪는 등 일상생활에 좋지 않은 영향을 미칠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이상한 광고 창은 열지 않고 바로 닫기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성의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쾌락적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측면에만 과하게 몰입하지 않도록 절제해야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책임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사회적·경제적으로 독립하지 못한 청소년기에 임신과 출산을 하면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부모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로서의 역할과 책임을 다하기 어렵고, 청소년으로서 미래를 준비해야 할 시기에 학업 중단 등의 어려움을 겪을 수 있음.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절제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청소년기에 성에 관한 호기심을 절제하지 못하고 음란물 등에 지나치게 몰입하면 잘못된 성 지식을 쌓거나 학업에 어려움을 겪는 등 일상생활에 좋지 않은 영향을 미칠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이상한 광고 창은 열지 않고 바로 닫기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성의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쾌락적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측면에만 과하게 몰입하지 않도록 절제해야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책임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사회적·경제적으로 독립하지 못한 청소년기에 임신과 출산을 하면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부모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로서의 역할과 책임을 다하기 어렵고, 청소년으로서 미래를 준비해야 할 시기에 학업 중단 등의 어려움을 겪을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청소년기의 바람직한 성윤리 (이어서)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성과 관련한 행동에 책임감을 지니고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신중 </a:t>
            </a:r>
            <a:r>
              <a:rPr sz="2400" b="0">
                <a:solidFill>
                  <a:srgbClr val="262626"/>
                </a:solidFill>
              </a:rPr>
              <a:t>하게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“이 사진, 보내도 괜찮을까?” 한 번 더 생각하기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존중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성과 관련하여 상대방의 의사를 존중하고, 나의 의사도 분명하게 표현해야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“싫어.”라고 하면 그만두기, 내 생각도 분명히 말하기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성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상품화 </a:t>
            </a:r>
            <a:r>
              <a:rPr sz="2400" b="0">
                <a:solidFill>
                  <a:srgbClr val="262626"/>
                </a:solidFill>
              </a:rPr>
              <a:t>를 경계하며 성을 그 자체로 존중하고자 노력해야 함.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성과 관련한 행동에 책임감을 지니고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신중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“이 사진, 보내도 괜찮을까?” 한 번 더 생각하기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존중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성과 관련하여 상대방의 의사를 존중하고, 나의 의사도 분명하게 표현해야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“싫어.”라고 하면 그만두기, 내 생각도 분명히 말하기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상품화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경계하며 성을 그 자체로 존중하고자 노력해야 함.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성과 관련한 행동에 책임감을 지니고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신중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“이 사진, 보내도 괜찮을까?” 한 번 더 생각하기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존중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성과 관련하여 상대방의 의사를 존중하고, 나의 의사도 분명하게 표현해야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“싫어.”라고 하면 그만두기, 내 생각도 분명히 말하기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상품화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경계하며 성을 그 자체로 존중하고자 노력해야 함.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성과 관련한 행동에 책임감을 지니고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신중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“이 사진, 보내도 괜찮을까?” 한 번 더 생각하기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존중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성과 관련하여 상대방의 의사를 존중하고, 나의 의사도 분명하게 표현해야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“싫어.”라고 하면 그만두기, 내 생각도 분명히 말하기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상품화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경계하며 성을 그 자체로 존중하고자 노력해야 함.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성과 관련한 행동에 책임감을 지니고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신중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“이 사진, 보내도 괜찮을까?” 한 번 더 생각하기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존중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성과 관련하여 상대방의 의사를 존중하고, 나의 의사도 분명하게 표현해야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“싫어.”라고 하면 그만두기, 내 생각도 분명히 말하기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상품화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경계하며 성을 그 자체로 존중하고자 노력해야 함.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성과 관련한 행동에 책임감을 지니고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신중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하게 행동해야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“이 사진, 보내도 괜찮을까?” 한 번 더 생각하기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존중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성과 관련하여 상대방의 의사를 존중하고, 나의 의사도 분명하게 표현해야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“싫어.”라고 하면 그만두기, 내 생각도 분명히 말하기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상품화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경계하며 성을 그 자체로 존중하고자 노력해야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“차 한 잔 드실래요?”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2015년 · 영국 템스밸리 경찰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비유 · 누군가에게 차를 권했는데 “괜찮아요”라고 하면, 억지로 마시게 하지 않는다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변심 · 처음엔 마신다고 했다가 마음이 바뀌면, 그래도 억지로 먹이지 않는다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의식 · 잠든 사람에게는 차를 먹이지 않는다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메시지 · 동의는 언제든 거두어들일 수 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차 한 잔이 이렇게 분명한데, 사람 사이에는?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2015년 · 영국 템스밸리 경찰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비유 · 누군가에게 차를 권했는데 “괜찮아요”라고 하면, 억지로 마시게 하지 않는다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변심 · 처음엔 마신다고 했다가 마음이 바뀌면, 그래도 억지로 먹이지 않는다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의식 · 잠든 사람에게는 차를 먹이지 않는다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메시지 · 동의는 언제든 거두어들일 수 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차 한 잔이 이렇게 분명한데, 사람 사이에는?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디지털 성범죄, 이것만은 꼭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🚫 · 불법 촬영물은 보거나 공유만 해도 범죄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🙅 · 사진을 보내 달라는 요구는 거절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📞 · 피해 시 디지털 성범죄 피해자 지원 센터 02-735-8994 · 117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존중하는 관계의 신호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✅ · 내 의견을 물어본다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✅ · 거절해도 화내지 않는다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❌ · 휴대 전화를 검사하고 친구를 못 만나게 한다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청소년기에 형성한 성에 대한 태도는 성인이 된 이후에는 영향을 미칠 수 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청소년기에 성에 관한 호기심을 절제하지 못하고 음란물 등에 지나치게 몰입하면 잘못된 성 지식을 쌓을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청소년기의 바람직한 성윤리로는 절제, 무책임, 존중이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성과 관련하여 상대방의 의사를 존중하고, 나의 의사를 모호하게 표현해야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청소년기에 형성한 성에 대한 태도는 성인이 된 이후에는 영향을 미칠 수 없다.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청소년기에 성에 관한 호기심을 절제하지 못하고 음란물 등에 지나치게 몰입하면 잘못된 성 지식을 쌓을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청소년기의 바람직한 성윤리로는 절제, 무책임, 존중이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성과 관련하여 상대방의 의사를 존중하고, 나의 의사를 모호하게 표현해야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청소년기에 형성한 성에 대한 태도는 성인이 된 이후에는 영향을 미칠 수 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청소년기에 성에 관한 호기심을 절제하지 못하고 음란물 등에 지나치게 몰입하면 잘못된 성 지식을 쌓을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청소년기의 바람직한 성윤리로는 절제, 무책임, 존중이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성과 관련하여 상대방의 의사를 존중하고, 나의 의사를 모호하게 표현해야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청소년기에 형성한 성에 대한 태도는 성인이 된 이후에는 영향을 미칠 수 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청소년기에 성에 관한 호기심을 절제하지 못하고 음란물 등에 지나치게 몰입하면 잘못된 성 지식을 쌓을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청소년기의 바람직한 성윤리로는 절제, 무책임, 존중이 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성과 관련하여 상대방의 의사를 존중하고, 나의 의사를 모호하게 표현해야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청소년기에 형성한 성에 대한 태도는 성인이 된 이후에는 영향을 미칠 수 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청소년기에 성에 관한 호기심을 절제하지 못하고 음란물 등에 지나치게 몰입하면 잘못된 성 지식을 쌓을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청소년기의 바람직한 성윤리로는 절제, 무책임, 존중이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성과 관련하여 상대방의 의사를 존중하고, 나의 의사를 모호하게 표현해야 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어떤 성윤리일까?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절제 · 책임 · 존중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음란물 광고를 닫고 하던 일로 돌아간다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절제 (절제)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성과 관련된 행동은 미래까지 생각해 신중하게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 (책임)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상대가 싫다고 하면 바로 멈춘다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 (성적 자기 결정권 존중)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성을 상품처럼 쓰는 광고를 비판적으로 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 (성 상품화 경계)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사진을 보내 달라는 요구를 거절한다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 (나의 의사 분명히)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절제 · 책임 · 존중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음란물 광고를 닫고 하던 일로 돌아간다</a:t>
            </a:r>
            <a:r>
              <a:rPr sz="2300" b="1">
                <a:solidFill>
                  <a:srgbClr val="C0392B"/>
                </a:solidFill>
              </a:rPr>
              <a:t>   → 절제 (절제)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성과 관련된 행동은 미래까지 생각해 신중하게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 (책임)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상대가 싫다고 하면 바로 멈춘다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 (성적 자기 결정권 존중)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성을 상품처럼 쓰는 광고를 비판적으로 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 (성 상품화 경계)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사진을 보내 달라는 요구를 거절한다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 (나의 의사 분명히)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절제 · 책임 · 존중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음란물 광고를 닫고 하던 일로 돌아간다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절제 (절제)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성과 관련된 행동은 미래까지 생각해 신중하게</a:t>
            </a:r>
            <a:r>
              <a:rPr sz="2300" b="1">
                <a:solidFill>
                  <a:srgbClr val="C0392B"/>
                </a:solidFill>
              </a:rPr>
              <a:t>   → 책임 (책임)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상대가 싫다고 하면 바로 멈춘다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 (성적 자기 결정권 존중)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성을 상품처럼 쓰는 광고를 비판적으로 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 (성 상품화 경계)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사진을 보내 달라는 요구를 거절한다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 (나의 의사 분명히)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절제 · 책임 · 존중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음란물 광고를 닫고 하던 일로 돌아간다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절제 (절제)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성과 관련된 행동은 미래까지 생각해 신중하게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 (책임)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상대가 싫다고 하면 바로 멈춘다</a:t>
            </a:r>
            <a:r>
              <a:rPr sz="2300" b="1">
                <a:solidFill>
                  <a:srgbClr val="C0392B"/>
                </a:solidFill>
              </a:rPr>
              <a:t>   → 존중 (성적 자기 결정권 존중)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성을 상품처럼 쓰는 광고를 비판적으로 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 (성 상품화 경계)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사진을 보내 달라는 요구를 거절한다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 (나의 의사 분명히)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절제 · 책임 · 존중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음란물 광고를 닫고 하던 일로 돌아간다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절제 (절제)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성과 관련된 행동은 미래까지 생각해 신중하게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 (책임)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상대가 싫다고 하면 바로 멈춘다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 (성적 자기 결정권 존중)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성을 상품처럼 쓰는 광고를 비판적으로 본다</a:t>
            </a:r>
            <a:r>
              <a:rPr sz="2300" b="1">
                <a:solidFill>
                  <a:srgbClr val="C0392B"/>
                </a:solidFill>
              </a:rPr>
              <a:t>   → 존중 (성 상품화 경계)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사진을 보내 달라는 요구를 거절한다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 (나의 의사 분명히)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절제 · 책임 · 존중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음란물 광고를 닫고 하던 일로 돌아간다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절제 (절제)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성과 관련된 행동은 미래까지 생각해 신중하게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책임 (책임)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상대가 싫다고 하면 바로 멈춘다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 (성적 자기 결정권 존중)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성을 상품처럼 쓰는 광고를 비판적으로 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존중 (성 상품화 경계)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사진을 보내 달라는 요구를 거절한다</a:t>
            </a:r>
            <a:r>
              <a:rPr sz="2300" b="1">
                <a:solidFill>
                  <a:srgbClr val="C0392B"/>
                </a:solidFill>
              </a:rPr>
              <a:t>   → 존중 (나의 의사 분명히)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동의와 경계 OX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처음에 좋다고 했으면 마음이 바뀌어도 따라야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동의는 언제든 거두어들일 수 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아무 말이 없으면 동의한 것이다.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동의는 분명해야 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신체 사진을 보내거나 요구하는 것은 처벌 대상이 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120쪽 민철이 사례.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좋아하는 사이라도 상대의 거절을 존중해야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119쪽 경태와 수정.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처음에 좋다고 했으면 마음이 바뀌어도 따라야 한다.  ( ○ / ✕ )</a:t>
            </a:r>
            <a:r>
              <a:rPr sz="2300" b="1">
                <a:solidFill>
                  <a:srgbClr val="C0392B"/>
                </a:solidFill>
              </a:rPr>
              <a:t>   ✕  동의는 언제든 거두어들일 수 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아무 말이 없으면 동의한 것이다.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동의는 분명해야 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신체 사진을 보내거나 요구하는 것은 처벌 대상이 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120쪽 민철이 사례.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좋아하는 사이라도 상대의 거절을 존중해야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119쪽 경태와 수정.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처음에 좋다고 했으면 마음이 바뀌어도 따라야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동의는 언제든 거두어들일 수 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아무 말이 없으면 동의한 것이다.  ( ○ / ✕ )</a:t>
            </a:r>
            <a:r>
              <a:rPr sz="2300" b="1">
                <a:solidFill>
                  <a:srgbClr val="C0392B"/>
                </a:solidFill>
              </a:rPr>
              <a:t>   ✕  동의는 분명해야 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신체 사진을 보내거나 요구하는 것은 처벌 대상이 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120쪽 민철이 사례.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좋아하는 사이라도 상대의 거절을 존중해야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119쪽 경태와 수정.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처음에 좋다고 했으면 마음이 바뀌어도 따라야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동의는 언제든 거두어들일 수 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아무 말이 없으면 동의한 것이다.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동의는 분명해야 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신체 사진을 보내거나 요구하는 것은 처벌 대상이 될 수 있다.  ( ○ / ✕ )</a:t>
            </a:r>
            <a:r>
              <a:rPr sz="2300" b="1">
                <a:solidFill>
                  <a:srgbClr val="C0392B"/>
                </a:solidFill>
              </a:rPr>
              <a:t>   ○  120쪽 민철이 사례.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좋아하는 사이라도 상대의 거절을 존중해야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119쪽 경태와 수정.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맞으면 ○, 틀리면 ✕ — 손으로 먼저 표시해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처음에 좋다고 했으면 마음이 바뀌어도 따라야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동의는 언제든 거두어들일 수 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아무 말이 없으면 동의한 것이다.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  동의는 분명해야 한다.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신체 사진을 보내거나 요구하는 것은 처벌 대상이 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  120쪽 민철이 사례.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좋아하는 사이라도 상대의 거절을 존중해야 한다.  ( ○ / ✕ )</a:t>
            </a:r>
            <a:r>
              <a:rPr sz="2300" b="1">
                <a:solidFill>
                  <a:srgbClr val="C0392B"/>
                </a:solidFill>
              </a:rPr>
              <a:t>   ○  119쪽 경태와 수정.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경태와 수정에게 조언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02. </a:t>
            </a:r>
            <a:r>
              <a:rPr lang="ko-KR" altLang="en-US" b="1" dirty="0" smtClean="0">
                <a:latin typeface="+mn-ea"/>
              </a:rPr>
              <a:t>청소년기의 </a:t>
            </a:r>
            <a:r>
              <a:rPr lang="ko-KR" altLang="en-US" b="1" dirty="0">
                <a:latin typeface="+mn-ea"/>
              </a:rPr>
              <a:t>바람직한 성윤리는 무엇일까</a:t>
            </a:r>
            <a:r>
              <a:rPr lang="en-US" altLang="ko-KR" b="1" dirty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경태에게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수정이의 거절은 너를 싫어해서가 아니라 자기 마음을 표현한 거야. 존중해 줘.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수정에게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불편하면 솔직하게 말해도 괜찮아. 네 결정도 소중해.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경태에게</a:t>
            </a:r>
            <a:r>
              <a:rPr sz="2300" b="1">
                <a:solidFill>
                  <a:srgbClr val="C0392B"/>
                </a:solidFill>
              </a:rPr>
              <a:t>   예) 수정이의 거절은 너를 싫어해서가 아니라 자기 마음을 표현한 거야. 존중해 줘.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수정에게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불편하면 솔직하게 말해도 괜찮아. 네 결정도 소중해.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경태에게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수정이의 거절은 너를 싫어해서가 아니라 자기 마음을 표현한 거야. 존중해 줘.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수정에게</a:t>
            </a:r>
            <a:r>
              <a:rPr sz="2300" b="1">
                <a:solidFill>
                  <a:srgbClr val="C0392B"/>
                </a:solidFill>
              </a:rPr>
              <a:t>   예) 불편하면 솔직하게 말해도 괜찮아. 네 결정도 소중해.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9266</TotalTime>
  <Words>810</Words>
  <Application>Microsoft Office PowerPoint</Application>
  <PresentationFormat>와이드스크린</PresentationFormat>
  <Paragraphs>151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굴림</vt:lpstr>
      <vt:lpstr>나눔고딕</vt:lpstr>
      <vt:lpstr>나눔스퀘어라운드 ExtraBold</vt:lpstr>
      <vt:lpstr>돋움</vt:lpstr>
      <vt:lpstr>맑은 고딕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DB400SDA</cp:lastModifiedBy>
  <cp:revision>221</cp:revision>
  <cp:lastPrinted>2024-06-05T04:53:22Z</cp:lastPrinted>
  <dcterms:created xsi:type="dcterms:W3CDTF">2023-10-31T05:50:03Z</dcterms:created>
  <dcterms:modified xsi:type="dcterms:W3CDTF">2025-01-14T04:21:55Z</dcterms:modified>
</cp:coreProperties>
</file>