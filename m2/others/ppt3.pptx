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9"/>
  </p:notesMasterIdLst>
  <p:handoutMasterIdLst>
    <p:handoutMasterId r:id="rId30"/>
  </p:handoutMasterIdLst>
  <p:sldIdLst>
    <p:sldId id="302" r:id="rId2"/>
    <p:sldId id="301" r:id="rId3"/>
    <p:sldId id="258" r:id="rId4"/>
    <p:sldId id="305" r:id="rId5"/>
    <p:sldId id="306" r:id="rId6"/>
    <p:sldId id="270" r:id="rId7"/>
    <p:sldId id="418" r:id="rId8"/>
    <p:sldId id="419" r:id="rId9"/>
    <p:sldId id="438" r:id="rId36"/>
    <p:sldId id="439" r:id="rId37"/>
    <p:sldId id="440" r:id="rId38"/>
    <p:sldId id="398" r:id="rId10"/>
    <p:sldId id="420" r:id="rId11"/>
    <p:sldId id="421" r:id="rId12"/>
    <p:sldId id="441" r:id="rId39"/>
    <p:sldId id="422" r:id="rId13"/>
    <p:sldId id="423" r:id="rId14"/>
    <p:sldId id="424" r:id="rId15"/>
    <p:sldId id="425" r:id="rId16"/>
    <p:sldId id="426" r:id="rId17"/>
    <p:sldId id="428" r:id="rId18"/>
    <p:sldId id="442" r:id="rId40"/>
    <p:sldId id="443" r:id="rId41"/>
    <p:sldId id="429" r:id="rId19"/>
    <p:sldId id="411" r:id="rId20"/>
    <p:sldId id="430" r:id="rId21"/>
    <p:sldId id="432" r:id="rId22"/>
    <p:sldId id="433" r:id="rId23"/>
    <p:sldId id="434" r:id="rId24"/>
    <p:sldId id="435" r:id="rId25"/>
    <p:sldId id="436" r:id="rId26"/>
    <p:sldId id="437" r:id="rId27"/>
    <p:sldId id="444" r:id="rId42"/>
    <p:sldId id="445" r:id="rId43"/>
    <p:sldId id="446" r:id="rId44"/>
    <p:sldId id="447" r:id="rId45"/>
    <p:sldId id="380" r:id="rId28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9DBE"/>
    <a:srgbClr val="843C0C"/>
    <a:srgbClr val="94655A"/>
    <a:srgbClr val="96B7E3"/>
    <a:srgbClr val="F0F9E8"/>
    <a:srgbClr val="D1CFCF"/>
    <a:srgbClr val="C3EAE5"/>
    <a:srgbClr val="D9E1E9"/>
    <a:srgbClr val="EFF7EB"/>
    <a:srgbClr val="FFF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9" autoAdjust="0"/>
    <p:restoredTop sz="96242" autoAdjust="0"/>
  </p:normalViewPr>
  <p:slideViewPr>
    <p:cSldViewPr snapToGrid="0">
      <p:cViewPr varScale="1">
        <p:scale>
          <a:sx n="86" d="100"/>
          <a:sy n="86" d="100"/>
        </p:scale>
        <p:origin x="90" y="252"/>
      </p:cViewPr>
      <p:guideLst>
        <p:guide orient="horz" pos="2160"/>
        <p:guide pos="384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226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688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582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383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270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548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295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입장과 이익</a:t>
            </a:r>
          </a:p>
          <a:p>
            <a:r>
              <a:t>하버드 협상 연구소의 로저 피셔와 윌리엄 유리가 든 예. ‘오렌지를 갖겠다’는 입장 뒤에 ‘껍질/알맹이가 필요하다’는 이익(욕구)이 있다. 입장이 아니라 이익에 집중하면 둘 다 100%를 얻을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100쪽 예</a:t>
            </a:r>
          </a:p>
          <a:p>
            <a:r>
              <a:t>바다(수영) vs 놀이공원(놀이 기구) → 물놀이할 수 있는 놀이공원! 모든 절차에서 신뢰와 존중을 바탕으로 충분히 대화한다.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원칙에 따른 협상</a:t>
            </a:r>
          </a:p>
          <a:p>
            <a:r>
              <a:t>피셔와 유리가 제안한 원칙. 활동 화면 3에서 상황 카드로 연습한다.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갈등의 원인을 찾고, 협상·조정·중재를 구분한 뒤 직접 협상해 보자.</a:t>
            </a:r>
          </a:p>
          <a:p>
            <a:r>
              <a:t>⏱ 지율·누리 에어컨 협상 (102쪽) 4분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갈등의 원인을 찾고, 협상·조정·중재를 구분한 뒤 직접 협상해 보자.</a:t>
            </a:r>
          </a:p>
          <a:p>
            <a:r>
              <a:t>⏱ 지율·누리 에어컨 협상 (102쪽) 4분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갈등의 원인을 찾고, 협상·조정·중재를 구분한 뒤 직접 협상해 보자.</a:t>
            </a:r>
          </a:p>
          <a:p>
            <a:r>
              <a:t>⏱ 지율·누리 에어컨 협상 (102쪽) 4분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8.png"/><Relationship Id="rId6" Type="http://schemas.openxmlformats.org/officeDocument/2006/relationships/slide" Target="slide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40.png"/><Relationship Id="rId6" Type="http://schemas.openxmlformats.org/officeDocument/2006/relationships/slide" Target="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4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1.sv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slide" Target="slide2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5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slide" Target="slide24.xml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5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2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갈등과 폭력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7757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갈등을 평화적으로 </a:t>
            </a:r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해결하려면 </a:t>
            </a:r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어떻게 해야 할까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B57B4A80-0309-7BD0-AAF8-FF35B30F644B}"/>
              </a:ext>
            </a:extLst>
          </p:cNvPr>
          <p:cNvGrpSpPr/>
          <p:nvPr/>
        </p:nvGrpSpPr>
        <p:grpSpPr>
          <a:xfrm>
            <a:off x="787400" y="2989590"/>
            <a:ext cx="10293350" cy="1573773"/>
            <a:chOff x="914400" y="2362199"/>
            <a:chExt cx="10293350" cy="1573773"/>
          </a:xfrm>
        </p:grpSpPr>
        <p:sp>
          <p:nvSpPr>
            <p:cNvPr id="22" name="사각형: 둥근 모서리 22">
              <a:extLst>
                <a:ext uri="{FF2B5EF4-FFF2-40B4-BE49-F238E27FC236}">
                  <a16:creationId xmlns:a16="http://schemas.microsoft.com/office/drawing/2014/main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3024083"/>
            <a:ext cx="9711256" cy="1301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</a:rPr>
              <a:t>갈등을 </a:t>
            </a:r>
            <a:r>
              <a:rPr lang="ko-KR" altLang="en-US" sz="2800" b="1" dirty="0">
                <a:solidFill>
                  <a:prstClr val="black"/>
                </a:solidFill>
              </a:rPr>
              <a:t>평화적으로 해결하기 위한 자세와 방안을 제시할 수 있다</a:t>
            </a:r>
            <a:r>
              <a:rPr lang="en-US" altLang="ko-KR" sz="2800" b="1" dirty="0" smtClean="0">
                <a:solidFill>
                  <a:prstClr val="black"/>
                </a:solidFill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818866"/>
            <a:ext cx="10293350" cy="787400"/>
            <a:chOff x="914400" y="2362200"/>
            <a:chExt cx="10293350" cy="787400"/>
          </a:xfrm>
        </p:grpSpPr>
        <p:sp>
          <p:nvSpPr>
            <p:cNvPr id="38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830741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</a:rPr>
              <a:t>갈등의 </a:t>
            </a:r>
            <a:r>
              <a:rPr lang="ko-KR" altLang="en-US" sz="2800" b="1" dirty="0">
                <a:solidFill>
                  <a:prstClr val="black"/>
                </a:solidFill>
              </a:rPr>
              <a:t>원인을 설명할 수 있다</a:t>
            </a:r>
            <a:r>
              <a:rPr lang="en-US" altLang="ko-KR" sz="2800" b="1" dirty="0" smtClean="0">
                <a:solidFill>
                  <a:prstClr val="black"/>
                </a:solidFill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4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42867" y="1579418"/>
            <a:ext cx="11292528" cy="5278582"/>
          </a:xfrm>
          <a:prstGeom prst="rect">
            <a:avLst/>
          </a:prstGeom>
          <a:solidFill>
            <a:srgbClr val="96B7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446" y="2052921"/>
            <a:ext cx="3467100" cy="6477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867" y="1423794"/>
            <a:ext cx="11292528" cy="56197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446" y="2921339"/>
            <a:ext cx="3694628" cy="359740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1264" y="3176362"/>
            <a:ext cx="3690970" cy="334237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2234" y="2465204"/>
            <a:ext cx="3670465" cy="373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게시판에 내가 생각하는 갈등의 의미를 그림으로 그리고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이에 관한 설명을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2044" y="251134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04568" y="251134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4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49060" y="4848135"/>
            <a:ext cx="1223476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‘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줄다리기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’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41442" y="5295813"/>
            <a:ext cx="3259872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갈등을 겪을 때 당사자들은 서로 힘을 겨루기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264372" y="2668934"/>
            <a:ext cx="7433953" cy="3871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941965" y="2530086"/>
            <a:ext cx="8078766" cy="40104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3866" y="2647362"/>
            <a:ext cx="1152525" cy="666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98595" y="4835340"/>
            <a:ext cx="77172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 dirty="0" smtClean="0">
                <a:latin typeface="+mn-ea"/>
              </a:rPr>
              <a:t>갈등이란                                                   이다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r">
              <a:lnSpc>
                <a:spcPct val="200000"/>
              </a:lnSpc>
            </a:pPr>
            <a:r>
              <a:rPr lang="ko-KR" altLang="en-US" sz="2400" dirty="0" smtClean="0">
                <a:latin typeface="+mn-ea"/>
              </a:rPr>
              <a:t>때문이다</a:t>
            </a:r>
            <a:r>
              <a:rPr lang="en-US" altLang="ko-KR" sz="2400" dirty="0" smtClean="0">
                <a:latin typeface="+mn-ea"/>
              </a:rPr>
              <a:t>.</a:t>
            </a:r>
            <a:endParaRPr lang="ko-KR" altLang="en-US" sz="2400" dirty="0">
              <a:latin typeface="+mn-ea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683233" y="5472576"/>
            <a:ext cx="52015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249382" y="6214914"/>
            <a:ext cx="62369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/>
          <p:cNvGrpSpPr/>
          <p:nvPr/>
        </p:nvGrpSpPr>
        <p:grpSpPr>
          <a:xfrm>
            <a:off x="1198595" y="2773221"/>
            <a:ext cx="6686225" cy="3511886"/>
            <a:chOff x="1198595" y="2773221"/>
            <a:chExt cx="6686225" cy="3511886"/>
          </a:xfrm>
        </p:grpSpPr>
        <p:grpSp>
          <p:nvGrpSpPr>
            <p:cNvPr id="42" name="그룹 41"/>
            <p:cNvGrpSpPr/>
            <p:nvPr/>
          </p:nvGrpSpPr>
          <p:grpSpPr>
            <a:xfrm>
              <a:off x="1198595" y="4900675"/>
              <a:ext cx="6686225" cy="1384432"/>
              <a:chOff x="1198595" y="4900675"/>
              <a:chExt cx="6686225" cy="1384432"/>
            </a:xfrm>
          </p:grpSpPr>
          <p:sp>
            <p:nvSpPr>
              <p:cNvPr id="39" name="TextBox 38"/>
              <p:cNvSpPr txBox="1"/>
              <p:nvPr/>
            </p:nvSpPr>
            <p:spPr>
              <a:xfrm>
                <a:off x="2683233" y="4900675"/>
                <a:ext cx="52015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2400" dirty="0" smtClean="0">
                    <a:solidFill>
                      <a:srgbClr val="0070C0"/>
                    </a:solidFill>
                    <a:latin typeface="Arial Rounded MT Bold" panose="020F0704030504030204" pitchFamily="34" charset="0"/>
                  </a:rPr>
                  <a:t>줄다리기</a:t>
                </a:r>
                <a:endPara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1198595" y="5638776"/>
                <a:ext cx="63095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ko-KR" altLang="en-US" sz="2400" dirty="0">
                    <a:solidFill>
                      <a:srgbClr val="0070C0"/>
                    </a:solidFill>
                    <a:latin typeface="Arial Rounded MT Bold" panose="020F0704030504030204" pitchFamily="34" charset="0"/>
                  </a:rPr>
                  <a:t>갈등을 겪을 때 당사자들은 서로 힘을 겨루기</a:t>
                </a:r>
              </a:p>
            </p:txBody>
          </p:sp>
        </p:grpSp>
        <p:pic>
          <p:nvPicPr>
            <p:cNvPr id="41" name="그림 4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67495" y="2773221"/>
              <a:ext cx="3379406" cy="192660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2496" y="1379334"/>
            <a:ext cx="9281658" cy="5478666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87232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위 그림의 두 지역 주민들 사이에 갈등이 발생한 원인은 무엇인지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190874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190874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10805"/>
            <a:ext cx="10293350" cy="271122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831674"/>
            <a:ext cx="9784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복합 체육 시설은 지역이 발전하는 데 이익이 되는 시설이지만 이를 두 지역에 모두 짓기는 현실적으로 어려워 보인다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그래서 두 지역 주민들이 복합 체육 시설을 서로 자기 지역에 지으려고 하여 갈등이 발생한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0913339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갈등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둘 </a:t>
            </a:r>
            <a:r>
              <a:rPr lang="ko-KR" altLang="en-US" sz="2400" dirty="0">
                <a:latin typeface="+mn-ea"/>
              </a:rPr>
              <a:t>이상의 사람이나 집단이 서로 대립하고 충돌하여 화합하지 못하는 </a:t>
            </a:r>
            <a:r>
              <a:rPr lang="ko-KR" altLang="en-US" sz="2400" dirty="0" smtClean="0">
                <a:latin typeface="+mn-ea"/>
              </a:rPr>
              <a:t>상태</a:t>
            </a:r>
            <a:endParaRPr lang="en-US" altLang="ko-KR" sz="2400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갈등의 원인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이해관계의 차이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한정된 자원이나 이익을 두고 사람이나 집단 사이에 이해관계가 다르면 갈등이 발생할 수 있음</a:t>
            </a:r>
            <a:r>
              <a:rPr lang="en-US" altLang="ko-KR" sz="2400" dirty="0">
                <a:latin typeface="+mn-ea"/>
              </a:rPr>
              <a:t>. </a:t>
            </a:r>
            <a:br>
              <a:rPr lang="en-US" altLang="ko-KR" sz="2400" dirty="0">
                <a:latin typeface="+mn-ea"/>
              </a:rPr>
            </a:b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(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예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)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지역 발전에 이익이 되는 시설을 서로 자기 지역에 이끌어 들이려고 하거나</a:t>
            </a:r>
            <a:r>
              <a:rPr lang="en-US" altLang="ko-KR" sz="2400" dirty="0">
                <a:solidFill>
                  <a:srgbClr val="843C0C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843C0C"/>
                </a:solidFill>
                <a:latin typeface="+mn-ea"/>
              </a:rPr>
              <a:t>반대로 혐오 시설을 서로 자기 지역에 짓지 않으려고 할 </a:t>
            </a:r>
            <a:r>
              <a:rPr lang="ko-KR" altLang="en-US" sz="2400" dirty="0" smtClean="0">
                <a:solidFill>
                  <a:srgbClr val="843C0C"/>
                </a:solidFill>
                <a:latin typeface="+mn-ea"/>
              </a:rPr>
              <a:t>때</a:t>
            </a:r>
            <a:endParaRPr lang="en-US" altLang="ko-KR" sz="2400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갈등의 원인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84724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28475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갈등의 원인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 startAt="2"/>
            </a:pPr>
            <a:r>
              <a:rPr lang="ko-KR" altLang="en-US" sz="2400" b="1" dirty="0" smtClean="0">
                <a:latin typeface="+mn-ea"/>
              </a:rPr>
              <a:t>신념과 </a:t>
            </a:r>
            <a:r>
              <a:rPr lang="ko-KR" altLang="en-US" sz="2400" b="1" dirty="0">
                <a:latin typeface="+mn-ea"/>
              </a:rPr>
              <a:t>가치관의 </a:t>
            </a:r>
            <a:r>
              <a:rPr lang="ko-KR" altLang="en-US" sz="2400" b="1" dirty="0" smtClean="0">
                <a:latin typeface="+mn-ea"/>
              </a:rPr>
              <a:t>차이</a:t>
            </a:r>
            <a:r>
              <a:rPr lang="en-US" altLang="ko-KR" sz="2400" b="1" dirty="0" smtClean="0">
                <a:latin typeface="+mn-ea"/>
              </a:rPr>
              <a:t>: </a:t>
            </a:r>
            <a:r>
              <a:rPr lang="ko-KR" altLang="en-US" sz="2400" dirty="0" smtClean="0">
                <a:latin typeface="+mn-ea"/>
              </a:rPr>
              <a:t>각자 </a:t>
            </a:r>
            <a:r>
              <a:rPr lang="ko-KR" altLang="en-US" sz="2400" dirty="0">
                <a:latin typeface="+mn-ea"/>
              </a:rPr>
              <a:t>살아온 환경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세대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종교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문화 등에 따라 서로 다른 신념과 </a:t>
            </a:r>
            <a:r>
              <a:rPr lang="ko-KR" altLang="en-US" sz="2400" dirty="0" smtClean="0">
                <a:latin typeface="+mn-ea"/>
              </a:rPr>
              <a:t>가치관의 차이를 </a:t>
            </a:r>
            <a:r>
              <a:rPr lang="ko-KR" altLang="en-US" sz="2400" dirty="0">
                <a:latin typeface="+mn-ea"/>
              </a:rPr>
              <a:t>존중하지 않고 서로 자기 생각만이 옳다고 주장하면 갈등이 발생할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 startAt="2"/>
            </a:pPr>
            <a:r>
              <a:rPr lang="ko-KR" altLang="en-US" sz="2400" b="1" dirty="0">
                <a:latin typeface="+mn-ea"/>
              </a:rPr>
              <a:t>잘못된 의사소통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상대방을 존중하지 않고 함부로 말하거나 서로 소통이 부족하면 상대방의 처지를 충분히 헤아릴 수 없기 때문에 오해가 생겨 갈등이 일어날 수 있음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갈등의 원인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타원 1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latin typeface="+mj-ea"/>
                <a:ea typeface="+mj-ea"/>
              </a:rPr>
              <a:t>다음 그림을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46" y="2489358"/>
            <a:ext cx="11802187" cy="4368639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9265024" y="5688106"/>
            <a:ext cx="1500607" cy="484094"/>
          </a:xfrm>
          <a:prstGeom prst="rect">
            <a:avLst/>
          </a:prstGeom>
          <a:solidFill>
            <a:srgbClr val="EC9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50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0913339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경청하고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공감하기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상대방이 </a:t>
            </a:r>
            <a:r>
              <a:rPr lang="ko-KR" altLang="en-US" sz="2400" dirty="0">
                <a:latin typeface="+mn-ea"/>
              </a:rPr>
              <a:t>원하는 것이 무엇인지 충분히 듣고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상대방의 처지를 헤아리며 공감하는 자세를 </a:t>
            </a:r>
            <a:r>
              <a:rPr lang="ko-KR" altLang="en-US" sz="2400" dirty="0" smtClean="0">
                <a:latin typeface="+mn-ea"/>
              </a:rPr>
              <a:t>지녀야 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 smtClean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의사소통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방법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점검하기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자신이 </a:t>
            </a:r>
            <a:r>
              <a:rPr lang="ko-KR" altLang="en-US" sz="2400" dirty="0">
                <a:latin typeface="+mn-ea"/>
              </a:rPr>
              <a:t>어떻게 의사소통하고 있는지 점검하여 갈등 상황에서 상대방을 비난하거나 원망하지 않고 자신의 의견을 정중하게 표현할 수 있어야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갈등을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평화적으로 해결하기 위한 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자세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960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0913339" cy="17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양보하고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수용하기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갈등 상황에서는 서로 조금씩 양보하는 가운데 상대방의 입장을 수용하는 자세를 지녀야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갈등을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평화적으로 해결하기 위한 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자세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타원 1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26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latin typeface="+mj-ea"/>
                <a:ea typeface="+mj-ea"/>
              </a:rPr>
              <a:t>다음 만화를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4444" y="1528801"/>
            <a:ext cx="7547324" cy="4441693"/>
          </a:xfrm>
          <a:prstGeom prst="rect">
            <a:avLst/>
          </a:prstGeom>
        </p:spPr>
      </p:pic>
      <p:sp>
        <p:nvSpPr>
          <p:cNvPr id="13" name="타원 12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hlinkClick r:id="rId6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86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latin typeface="+mj-ea"/>
                <a:ea typeface="+mj-ea"/>
              </a:rPr>
              <a:t>다음 만화를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7620" y="1537975"/>
            <a:ext cx="7080701" cy="4432519"/>
          </a:xfrm>
          <a:prstGeom prst="rect">
            <a:avLst/>
          </a:prstGeom>
        </p:spPr>
      </p:pic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18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latin typeface="+mj-ea"/>
                <a:ea typeface="+mj-ea"/>
              </a:rPr>
              <a:t>다음 만화를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2334" y="1597060"/>
            <a:ext cx="7005987" cy="4373434"/>
          </a:xfrm>
          <a:prstGeom prst="rect">
            <a:avLst/>
          </a:prstGeom>
        </p:spPr>
      </p:pic>
      <p:sp>
        <p:nvSpPr>
          <p:cNvPr id="14" name="타원 13">
            <a:hlinkClick r:id="rId6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420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0913339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갈등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해결의 일반적 절차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객관적으로 바라보기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편견이나 고정 관념 없이 서로의 입장을 들어 보고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갈등의 원인을 바르게 파악함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다양한 대안 탐색하기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갈등 해결을 위한 대안을 최대한 많이 떠올려 보고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각각의 대안이 가져올 결과를 예측해 봄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최선의 대안 선택하기</a:t>
            </a:r>
            <a:r>
              <a:rPr lang="en-US" altLang="ko-KR" sz="2400" b="1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현재 처한 갈등 상황에서 가장 바람직한 결과를 가져오는 대안을 선택함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갈등을 평화적으로 해결하기 위한 방안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392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0913339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갈등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해결의 구체적 방법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협상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제삼자가 개입하지 않고 갈등 당사자끼리 직접 대화하여 갈등을 해결하는 방법</a:t>
            </a:r>
            <a:endParaRPr lang="en-US" altLang="ko-KR" sz="24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조정과 중재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갈등을 평화적으로 해결하기 위한 방안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n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n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n-ea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988572"/>
              </p:ext>
            </p:extLst>
          </p:nvPr>
        </p:nvGraphicFramePr>
        <p:xfrm>
          <a:off x="1163293" y="3770343"/>
          <a:ext cx="10372102" cy="210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3083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599019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40082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조정</a:t>
                      </a:r>
                      <a:endParaRPr lang="en-US" altLang="ko-KR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중립적인 제삼자가 개입하여 당사자끼리 갈등을 해결하게 돕는 방법으로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조정자는 해결책을 제안할 수 있지만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이를 받아들일 것인지는 당사자들이 선택함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40082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중재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중립적인 제삼자가 개입해 갈등을 해결하는 방법으로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 중재자는 해결책을 제시해야 하며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갈등 당사자들은 이 해결책을 반드시 따라야 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18" name="타원 17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5" name="그림 24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6" name="TextBox 2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84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0913339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갈등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해결의 구체적 방법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협상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제삼자가 개입하지 않고 갈등 당사자끼리 직접 대화하여 갈등을 해결하는 방법</a:t>
            </a:r>
            <a:endParaRPr lang="en-US" altLang="ko-KR" sz="24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+mn-ea"/>
              </a:rPr>
              <a:t>조정과 중재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갈등을 평화적으로 해결하기 위한 방안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1163293" y="3770343"/>
          <a:ext cx="10372102" cy="210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3083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9599019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40082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조정</a:t>
                      </a:r>
                      <a:endParaRPr lang="en-US" altLang="ko-KR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중립적인 제삼자가 개입하여 당사자끼리 갈등을 해결하게 돕는 방법으로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조정자는 해결책을 제안할 수 있지만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이를 받아들일 것인지는 당사자들이 선택함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40082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중재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중립적인 제삼자가 개입해 갈등을 해결하는 방법으로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 중재자는 해결책을 제시해야 하며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100" dirty="0" smtClean="0">
                          <a:latin typeface="+mn-ea"/>
                          <a:ea typeface="+mn-ea"/>
                        </a:rPr>
                        <a:t>갈등 당사자들은 이 해결책을 반드시 따라야 함</a:t>
                      </a:r>
                      <a:r>
                        <a:rPr lang="en-US" altLang="ko-KR" sz="2100" dirty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2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18" name="타원 17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5" name="그림 24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6" name="TextBox 2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34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35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6" name="그림 35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622056" y="1194899"/>
            <a:ext cx="1944697" cy="492328"/>
            <a:chOff x="377032" y="923820"/>
            <a:chExt cx="1944697" cy="492328"/>
          </a:xfrm>
        </p:grpSpPr>
        <p:pic>
          <p:nvPicPr>
            <p:cNvPr id="38" name="그림 37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2657698" y="1133260"/>
            <a:ext cx="787403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협상</a:t>
            </a:r>
            <a:r>
              <a:rPr lang="en-US" altLang="ko-KR" sz="22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22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조정</a:t>
            </a:r>
            <a:r>
              <a:rPr lang="en-US" altLang="ko-KR" sz="22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22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중재</a:t>
            </a:r>
            <a:endParaRPr lang="en-US" altLang="ko-KR" sz="22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562" y="1808268"/>
            <a:ext cx="10918326" cy="468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58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64839" y="3045582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8" y="654715"/>
            <a:ext cx="4222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갈등을 평화적으로 해결하기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n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n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79" y="1729042"/>
            <a:ext cx="1048701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무더위가 한창이던 어느 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지율이네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반 학생들은 체육 수업이 끝난 뒤 교실로 돌아와서 에어컨을 켰다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몇 분이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지나자 평소 추위를 많이 타는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지율이와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몇몇 친구들은 금세 땀이 식었다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지율이는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“우리 이제 에어컨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끄자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!”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하며 에어컨을 껐다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그러자 더위를 많이 타는 누리가 버럭 화를 내며 “아직 더운데 무슨 소리야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에어컨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다시 켜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!”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말하였다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657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4704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짝과 함께 각자 맡은 인물의 입장에서 대화하며 갈등 상황을 객관적으로 바라보자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64839" y="3045582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8" y="654715"/>
            <a:ext cx="4222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갈등을 평화적으로 해결하기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33" name="그림 3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7918" y="2439623"/>
            <a:ext cx="487174" cy="487174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3930442" y="2439623"/>
            <a:ext cx="1087577" cy="495431"/>
            <a:chOff x="10075659" y="2003022"/>
            <a:chExt cx="1156006" cy="495431"/>
          </a:xfrm>
        </p:grpSpPr>
        <p:pic>
          <p:nvPicPr>
            <p:cNvPr id="35" name="그림 3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n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n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7399" y="2383029"/>
            <a:ext cx="23975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err="1" smtClean="0">
                <a:latin typeface="+mn-ea"/>
              </a:rPr>
              <a:t>지율이의</a:t>
            </a:r>
            <a:r>
              <a:rPr lang="ko-KR" altLang="en-US" sz="2000" dirty="0" smtClean="0">
                <a:latin typeface="+mn-ea"/>
              </a:rPr>
              <a:t> 입장</a:t>
            </a:r>
            <a:endParaRPr lang="ko-KR" altLang="en-US" sz="2000" dirty="0">
              <a:latin typeface="+mn-ea"/>
            </a:endParaRPr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79932" y="5540188"/>
            <a:ext cx="791985" cy="1317812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499" y="5540188"/>
            <a:ext cx="974011" cy="1317812"/>
          </a:xfrm>
          <a:prstGeom prst="rect">
            <a:avLst/>
          </a:prstGeom>
        </p:spPr>
      </p:pic>
      <p:sp>
        <p:nvSpPr>
          <p:cNvPr id="46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6282651" y="2987952"/>
            <a:ext cx="4747692" cy="2713600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58" name="그림 5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9510" y="2429393"/>
            <a:ext cx="487174" cy="487174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02034" y="2429393"/>
            <a:ext cx="1087577" cy="495431"/>
            <a:chOff x="10075659" y="2003022"/>
            <a:chExt cx="1156006" cy="495431"/>
          </a:xfrm>
        </p:grpSpPr>
        <p:pic>
          <p:nvPicPr>
            <p:cNvPr id="60" name="그림 5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6258991" y="2372799"/>
            <a:ext cx="23975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누리의 입장</a:t>
            </a:r>
            <a:endParaRPr lang="ko-KR" altLang="en-US" sz="2000" dirty="0">
              <a:latin typeface="+mn-ea"/>
            </a:endParaRPr>
          </a:p>
        </p:txBody>
      </p:sp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399" y="2993038"/>
            <a:ext cx="4747692" cy="270851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3" name="타원 6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938825" y="3001295"/>
            <a:ext cx="44265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나의 입장은 체육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수업이 끝난 뒤 땀이 금세 식었기 때문에 에어컨을 지금 꺼야 한다는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거야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59995" y="3001688"/>
            <a:ext cx="44265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나의 입장은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체육 수업이 끝났어도 아직 덥기 때문에 에어컨을 계속 켜야 한다는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거야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372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</p:childTnLst>
        </p:cTn>
      </p:par>
    </p:tnLst>
    <p:bldLst>
      <p:bldP spid="65" grpId="0"/>
      <p:bldP spid="65" grpId="1"/>
      <p:bldP spid="66" grpId="0"/>
      <p:bldP spid="66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99063"/>
            <a:ext cx="10293350" cy="271122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38825" y="3014742"/>
            <a:ext cx="99936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에어컨이라는 한정된 자원을 두고 둘 사이에 이해관계가 다르며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서로를 존중하지 않고 함부로 말하여 갈등이 발생하였다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4704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짝과 함께 각자 맡은 인물의 입장에서 대화하며 갈등 상황을 객관적으로 바라보자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8" y="654715"/>
            <a:ext cx="4222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갈등을 평화적으로 해결하기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33" name="그림 3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576" y="2390349"/>
            <a:ext cx="487174" cy="487174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76100" y="2390349"/>
            <a:ext cx="1087577" cy="495431"/>
            <a:chOff x="10075659" y="2003022"/>
            <a:chExt cx="1156006" cy="495431"/>
          </a:xfrm>
        </p:grpSpPr>
        <p:pic>
          <p:nvPicPr>
            <p:cNvPr id="35" name="그림 3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n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n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7399" y="2383029"/>
            <a:ext cx="239750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갈등의 원인</a:t>
            </a:r>
            <a:endParaRPr lang="ko-KR" altLang="en-US" sz="2000" dirty="0">
              <a:latin typeface="+mn-ea"/>
            </a:endParaRPr>
          </a:p>
        </p:txBody>
      </p:sp>
      <p:sp>
        <p:nvSpPr>
          <p:cNvPr id="38" name="타원 37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267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</p:childTnLst>
        </p:cTn>
      </p:par>
    </p:tnLst>
    <p:bldLst>
      <p:bldP spid="65" grpId="0"/>
      <p:bldP spid="65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4704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2. </a:t>
            </a:r>
            <a:r>
              <a:rPr lang="ko-KR" altLang="en-US" sz="2000" b="1" spc="-100" dirty="0">
                <a:latin typeface="+mn-ea"/>
              </a:rPr>
              <a:t>짝과 함께 갈등 해결을 위한 다양한 대안을 탐색한 뒤</a:t>
            </a:r>
            <a:r>
              <a:rPr lang="en-US" altLang="ko-KR" sz="2000" b="1" spc="-100" dirty="0">
                <a:latin typeface="+mn-ea"/>
              </a:rPr>
              <a:t>, </a:t>
            </a:r>
            <a:r>
              <a:rPr lang="ko-KR" altLang="en-US" sz="2000" b="1" spc="-100" dirty="0">
                <a:latin typeface="+mn-ea"/>
              </a:rPr>
              <a:t>각 대안이 가져올 결과를 예상하여 써 보자</a:t>
            </a:r>
            <a:r>
              <a:rPr lang="en-US" altLang="ko-KR" sz="2000" b="1" spc="-100" dirty="0">
                <a:latin typeface="+mn-ea"/>
              </a:rPr>
              <a:t>.</a:t>
            </a:r>
            <a:endParaRPr lang="ko-KR" altLang="en-US" sz="2000" b="1" spc="-100" dirty="0"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64839" y="3045582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8" y="654715"/>
            <a:ext cx="4222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갈등을 평화적으로 해결하기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33" name="그림 3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7918" y="2600987"/>
            <a:ext cx="487174" cy="487174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3930442" y="2600987"/>
            <a:ext cx="1087577" cy="495431"/>
            <a:chOff x="10075659" y="2003022"/>
            <a:chExt cx="1156006" cy="495431"/>
          </a:xfrm>
        </p:grpSpPr>
        <p:pic>
          <p:nvPicPr>
            <p:cNvPr id="35" name="그림 3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n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n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7399" y="2544393"/>
            <a:ext cx="239750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대안</a:t>
            </a:r>
            <a:endParaRPr lang="ko-KR" altLang="en-US" sz="2000" dirty="0">
              <a:latin typeface="+mn-ea"/>
            </a:endParaRPr>
          </a:p>
        </p:txBody>
      </p:sp>
      <p:sp>
        <p:nvSpPr>
          <p:cNvPr id="46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6282651" y="3149315"/>
            <a:ext cx="4747692" cy="3385955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58" name="그림 5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9510" y="2590757"/>
            <a:ext cx="487174" cy="487174"/>
          </a:xfrm>
          <a:prstGeom prst="rect">
            <a:avLst/>
          </a:prstGeom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02034" y="2590757"/>
            <a:ext cx="1087577" cy="495431"/>
            <a:chOff x="10075659" y="2003022"/>
            <a:chExt cx="1156006" cy="495431"/>
          </a:xfrm>
        </p:grpSpPr>
        <p:pic>
          <p:nvPicPr>
            <p:cNvPr id="60" name="그림 5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6258991" y="2534163"/>
            <a:ext cx="2397506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예상되는 결과</a:t>
            </a:r>
            <a:endParaRPr lang="ko-KR" altLang="en-US" sz="2000" dirty="0">
              <a:latin typeface="+mn-ea"/>
            </a:endParaRPr>
          </a:p>
        </p:txBody>
      </p:sp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399" y="3154402"/>
            <a:ext cx="4747692" cy="337960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38825" y="3162659"/>
            <a:ext cx="44265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다수결을 통해 에어컨 가동 여부를 결정한다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dirty="0">
              <a:solidFill>
                <a:srgbClr val="0070C0"/>
              </a:solidFill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에어컨 가동 시간을 미리 정해 놓고 정해진 시간에만 에어컨을 가동한다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59995" y="3163052"/>
            <a:ext cx="44265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민주적으로 에어컨 가동 여부를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결정하여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학생들의 만족도가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높다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학생들이 에어컨 가동 시간에 따라 더위나 추위를 대비할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6598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</p:childTnLst>
        </p:cTn>
      </p:par>
    </p:tnLst>
    <p:bldLst>
      <p:bldP spid="65" grpId="0"/>
      <p:bldP spid="65" grpId="1"/>
      <p:bldP spid="66" grpId="0"/>
      <p:bldP spid="66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106003"/>
            <a:ext cx="10293350" cy="876905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9283" y="1546303"/>
            <a:ext cx="104704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3. </a:t>
            </a:r>
            <a:r>
              <a:rPr lang="ko-KR" altLang="en-US" sz="2000" b="1" dirty="0">
                <a:latin typeface="+mn-ea"/>
              </a:rPr>
              <a:t>짝과 함께 </a:t>
            </a:r>
            <a:r>
              <a:rPr lang="en-US" altLang="ko-KR" sz="2000" b="1" dirty="0">
                <a:latin typeface="+mn-ea"/>
              </a:rPr>
              <a:t>2</a:t>
            </a:r>
            <a:r>
              <a:rPr lang="ko-KR" altLang="en-US" sz="2000" b="1" dirty="0">
                <a:latin typeface="+mn-ea"/>
              </a:rPr>
              <a:t>에서 탐색한 대안 중 서로가 만족하는 최선의 대안을 선택하고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그 까닭을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8" y="654715"/>
            <a:ext cx="4222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갈등을 평화적으로 해결하기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33" name="그림 3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576" y="2497288"/>
            <a:ext cx="487174" cy="487174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76100" y="2497288"/>
            <a:ext cx="1087577" cy="495431"/>
            <a:chOff x="10075659" y="2003022"/>
            <a:chExt cx="1156006" cy="495431"/>
          </a:xfrm>
        </p:grpSpPr>
        <p:pic>
          <p:nvPicPr>
            <p:cNvPr id="35" name="그림 3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n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n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7398" y="2516862"/>
            <a:ext cx="632609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/>
              <a:t>최선의 대안</a:t>
            </a:r>
            <a:endParaRPr lang="ko-KR" altLang="en-US" sz="2000" dirty="0"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37258" y="3132897"/>
            <a:ext cx="9993634" cy="57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에어컨 가동 시간을 미리 정해 놓고 정해진 시간에만 에어컨을 가동한다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6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4919695"/>
            <a:ext cx="10293350" cy="1709068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1" name="그림 3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576" y="4310980"/>
            <a:ext cx="487174" cy="487174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76100" y="4310980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787398" y="4330554"/>
            <a:ext cx="6447119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/>
              <a:t>선택한 까닭</a:t>
            </a:r>
            <a:endParaRPr lang="ko-KR" altLang="en-US" sz="2000" dirty="0"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37258" y="4919695"/>
            <a:ext cx="99936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가동 시간이 정해져 있으면 추위나 더위를 많이 타는 학생은 담요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얼음물 등을 미리 준비할 수 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그리고 매번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정해진 시간에 에어컨을 끄고 켜는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주번을  모두가 돌아가며 맡으면 공평하게 에어컨을 켜고 끌 수 있다</a:t>
            </a:r>
            <a:r>
              <a:rPr lang="en-US" altLang="ko-KR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6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65" grpId="0"/>
      <p:bldP spid="65" grpId="1"/>
      <p:bldP spid="43" grpId="0"/>
      <p:bldP spid="43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물음에 답하며 자신의 모습을 성찰해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74242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445911"/>
            <a:ext cx="9809541" cy="943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갈등의 다양한 원인을 알고 있는가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일상에서 갈등을 평화롭게 해결하기 위한 방안을 실천하는가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4546283"/>
            <a:ext cx="81650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이제껏 나는 갈등을 평화롭게 해결하지 못한 적이 많았다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앞으로 협상이나 조정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중재로 갈등을 평화롭게 해결하려고 노력해야겠다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n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n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960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4096987" y="578256"/>
            <a:ext cx="1757548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620823" y="794452"/>
            <a:ext cx="1374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300" dirty="0" err="1" smtClean="0">
                <a:solidFill>
                  <a:srgbClr val="FFFF00"/>
                </a:solidFill>
                <a:latin typeface="+mj-ea"/>
                <a:ea typeface="+mj-ea"/>
              </a:rPr>
              <a:t>민주시민성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20700" y="1615274"/>
            <a:ext cx="10858575" cy="7245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또래 조정은 학생들 사이에서 일어나는 갈등을 대화로 해결하도록 또래 학생이 조정자가 되어 돕는 방법이다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또래 조정의 절차와 또래 조정자가 지켜야 할 원칙을 알아보자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n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n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847168" y="748844"/>
            <a:ext cx="5998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pc="-150" dirty="0">
                <a:solidFill>
                  <a:schemeClr val="tx2"/>
                </a:solidFill>
                <a:latin typeface="+mj-ea"/>
                <a:ea typeface="+mj-ea"/>
              </a:rPr>
              <a:t>또래 조정을 통해 갈등을 민주적으로 해결해 </a:t>
            </a:r>
            <a:r>
              <a:rPr lang="ko-KR" altLang="en-US" sz="2000" b="1" spc="-150" dirty="0" smtClean="0">
                <a:solidFill>
                  <a:schemeClr val="tx2"/>
                </a:solidFill>
                <a:latin typeface="+mj-ea"/>
                <a:ea typeface="+mj-ea"/>
              </a:rPr>
              <a:t>보자</a:t>
            </a:r>
            <a:r>
              <a:rPr lang="en-US" altLang="ko-KR" sz="2000" b="1" spc="-150" dirty="0" smtClean="0">
                <a:solidFill>
                  <a:schemeClr val="tx2"/>
                </a:solidFill>
                <a:latin typeface="+mj-ea"/>
                <a:ea typeface="+mj-ea"/>
              </a:rPr>
              <a:t>!</a:t>
            </a:r>
            <a:endParaRPr lang="ko-KR" altLang="en-US" sz="2000" b="1" spc="-15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47" y="4410632"/>
            <a:ext cx="11792323" cy="306592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47" y="3343866"/>
            <a:ext cx="1593159" cy="1428996"/>
          </a:xfrm>
          <a:prstGeom prst="rect">
            <a:avLst/>
          </a:prstGeom>
        </p:spPr>
      </p:pic>
      <p:sp>
        <p:nvSpPr>
          <p:cNvPr id="26" name="모서리가 둥근 직사각형 25"/>
          <p:cNvSpPr/>
          <p:nvPr/>
        </p:nvSpPr>
        <p:spPr>
          <a:xfrm>
            <a:off x="1682783" y="2817926"/>
            <a:ext cx="4903335" cy="233060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1788933" y="2908772"/>
            <a:ext cx="4667053" cy="21236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시작하기</a:t>
            </a:r>
            <a:endParaRPr lang="en-US" altLang="ko-KR" sz="2200" b="1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조정자는 갈등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당사자에게 조정의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과정을 소개한 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당사자와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함께 규칙을 만든다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200" spc="-150" dirty="0" smtClean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2200" spc="-150" dirty="0" smtClean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</a:t>
            </a:r>
            <a:r>
              <a:rPr lang="en-US" altLang="ko-KR" sz="2200" spc="-150" dirty="0" smtClean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sz="2200" spc="-150" dirty="0" smtClean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차례대로 돌아가며 말하기</a:t>
            </a:r>
          </a:p>
        </p:txBody>
      </p:sp>
      <p:sp>
        <p:nvSpPr>
          <p:cNvPr id="35" name="모서리가 둥근 직사각형 34"/>
          <p:cNvSpPr/>
          <p:nvPr/>
        </p:nvSpPr>
        <p:spPr>
          <a:xfrm>
            <a:off x="7499106" y="4162218"/>
            <a:ext cx="4044316" cy="233060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7605256" y="4253064"/>
            <a:ext cx="3849428" cy="21236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ea"/>
              <a:buAutoNum type="circleNumDbPlain" startAt="2"/>
            </a:pP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이야기 나누기</a:t>
            </a:r>
            <a:endParaRPr lang="en-US" altLang="ko-KR" sz="2200" b="1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갈등 당사자는 각자의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입장을 말하고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조정자는 이를 잘 듣고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갈등의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핵심 문제를 정리한다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spc="-150" dirty="0">
              <a:solidFill>
                <a:schemeClr val="tx2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hlinkClick r:id="rId7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94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4096987" y="578256"/>
            <a:ext cx="1757548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620823" y="794452"/>
            <a:ext cx="1374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300" dirty="0" err="1" smtClean="0">
                <a:solidFill>
                  <a:srgbClr val="FFFF00"/>
                </a:solidFill>
                <a:latin typeface="+mj-ea"/>
                <a:ea typeface="+mj-ea"/>
              </a:rPr>
              <a:t>민주시민성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n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n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847168" y="748844"/>
            <a:ext cx="5998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pc="-150" dirty="0">
                <a:solidFill>
                  <a:schemeClr val="tx2"/>
                </a:solidFill>
                <a:latin typeface="+mj-ea"/>
                <a:ea typeface="+mj-ea"/>
              </a:rPr>
              <a:t>또래 조정을 통해 갈등을 민주적으로 해결해 </a:t>
            </a:r>
            <a:r>
              <a:rPr lang="ko-KR" altLang="en-US" sz="2000" b="1" spc="-150" dirty="0" smtClean="0">
                <a:solidFill>
                  <a:schemeClr val="tx2"/>
                </a:solidFill>
                <a:latin typeface="+mj-ea"/>
                <a:ea typeface="+mj-ea"/>
              </a:rPr>
              <a:t>보자</a:t>
            </a:r>
            <a:r>
              <a:rPr lang="en-US" altLang="ko-KR" sz="2000" b="1" spc="-150" dirty="0" smtClean="0">
                <a:solidFill>
                  <a:schemeClr val="tx2"/>
                </a:solidFill>
                <a:latin typeface="+mj-ea"/>
                <a:ea typeface="+mj-ea"/>
              </a:rPr>
              <a:t>!</a:t>
            </a:r>
            <a:endParaRPr lang="ko-KR" altLang="en-US" sz="2000" b="1" spc="-15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48" y="3321426"/>
            <a:ext cx="8404412" cy="2585250"/>
          </a:xfrm>
          <a:prstGeom prst="rect">
            <a:avLst/>
          </a:prstGeom>
        </p:spPr>
      </p:pic>
      <p:sp>
        <p:nvSpPr>
          <p:cNvPr id="35" name="모서리가 둥근 직사각형 34"/>
          <p:cNvSpPr/>
          <p:nvPr/>
        </p:nvSpPr>
        <p:spPr>
          <a:xfrm>
            <a:off x="667780" y="1579569"/>
            <a:ext cx="4119372" cy="221450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773929" y="1630074"/>
            <a:ext cx="3920867" cy="21236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ea"/>
              <a:buAutoNum type="circleNumDbPlain" startAt="3"/>
            </a:pP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해결책 찾기</a:t>
            </a:r>
            <a:endParaRPr lang="en-US" altLang="ko-KR" sz="2200" b="1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조정자와 갈등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당사자는 갈등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해결을 위한 여러 대안을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자유롭게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이야기한다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spc="-150" dirty="0">
              <a:solidFill>
                <a:schemeClr val="tx2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63" y="5620871"/>
            <a:ext cx="1157329" cy="1014218"/>
          </a:xfrm>
          <a:prstGeom prst="rect">
            <a:avLst/>
          </a:prstGeom>
        </p:spPr>
      </p:pic>
      <p:sp>
        <p:nvSpPr>
          <p:cNvPr id="27" name="모서리가 둥근 직사각형 26"/>
          <p:cNvSpPr/>
          <p:nvPr/>
        </p:nvSpPr>
        <p:spPr>
          <a:xfrm>
            <a:off x="5475756" y="1720689"/>
            <a:ext cx="6018762" cy="183158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5475756" y="1799728"/>
            <a:ext cx="6018762" cy="16158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ea"/>
              <a:buAutoNum type="circleNumDbPlain" startAt="4"/>
            </a:pP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합의하기</a:t>
            </a:r>
            <a:endParaRPr lang="en-US" altLang="ko-KR" sz="2200" b="1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갈등 당사자는 앞서 찾은 대안의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장단점을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평가하고 서로의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입장 차이를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좁히며 최종 합의한다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spc="-150" dirty="0">
              <a:solidFill>
                <a:schemeClr val="tx2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52754" y="4291056"/>
            <a:ext cx="2953015" cy="2556274"/>
          </a:xfrm>
          <a:prstGeom prst="rect">
            <a:avLst/>
          </a:prstGeom>
        </p:spPr>
      </p:pic>
      <p:sp>
        <p:nvSpPr>
          <p:cNvPr id="23" name="모서리가 둥근 직사각형 22"/>
          <p:cNvSpPr/>
          <p:nvPr/>
        </p:nvSpPr>
        <p:spPr>
          <a:xfrm>
            <a:off x="4207503" y="4280684"/>
            <a:ext cx="5581955" cy="17799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313653" y="4371530"/>
            <a:ext cx="5312971" cy="16158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ea"/>
              <a:buAutoNum type="circleNumDbPlain" startAt="5"/>
            </a:pP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마무리하기</a:t>
            </a:r>
            <a:endParaRPr lang="en-US" altLang="ko-KR" sz="2200" b="1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갈등 당사자는 서로 화해하고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조정자는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최종 합의 내용을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정리하여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합의서를 작성한다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spc="-150" dirty="0">
              <a:solidFill>
                <a:schemeClr val="tx2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0" name="타원 29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33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5466" y="1221405"/>
            <a:ext cx="6164749" cy="4451934"/>
          </a:xfrm>
          <a:prstGeom prst="rect">
            <a:avLst/>
          </a:prstGeom>
        </p:spPr>
      </p:pic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4096987" y="578256"/>
            <a:ext cx="1757548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620823" y="794452"/>
            <a:ext cx="1374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300" dirty="0" err="1" smtClean="0">
                <a:solidFill>
                  <a:srgbClr val="FFFF00"/>
                </a:solidFill>
                <a:latin typeface="+mj-ea"/>
                <a:ea typeface="+mj-ea"/>
              </a:rPr>
              <a:t>민주시민성</a:t>
            </a:r>
            <a:r>
              <a:rPr lang="en-US" altLang="ko-KR" sz="1400" b="1" spc="-30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3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n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n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847168" y="748844"/>
            <a:ext cx="5998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pc="-150" dirty="0">
                <a:solidFill>
                  <a:schemeClr val="tx2"/>
                </a:solidFill>
                <a:latin typeface="+mj-ea"/>
                <a:ea typeface="+mj-ea"/>
              </a:rPr>
              <a:t>또래 조정을 통해 갈등을 민주적으로 해결해 </a:t>
            </a:r>
            <a:r>
              <a:rPr lang="ko-KR" altLang="en-US" sz="2000" b="1" spc="-150" dirty="0" smtClean="0">
                <a:solidFill>
                  <a:schemeClr val="tx2"/>
                </a:solidFill>
                <a:latin typeface="+mj-ea"/>
                <a:ea typeface="+mj-ea"/>
              </a:rPr>
              <a:t>보자</a:t>
            </a:r>
            <a:r>
              <a:rPr lang="en-US" altLang="ko-KR" sz="2000" b="1" spc="-150" dirty="0" smtClean="0">
                <a:solidFill>
                  <a:schemeClr val="tx2"/>
                </a:solidFill>
                <a:latin typeface="+mj-ea"/>
                <a:ea typeface="+mj-ea"/>
              </a:rPr>
              <a:t>!</a:t>
            </a:r>
            <a:endParaRPr lang="ko-KR" altLang="en-US" sz="2000" b="1" spc="-150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4" name="타원 23">
            <a:hlinkClick r:id="rId5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876093" y="4417257"/>
            <a:ext cx="1239305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96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실천 톡톡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3" name="모서리가 둥근 사각형 설명선 32"/>
          <p:cNvSpPr/>
          <p:nvPr/>
        </p:nvSpPr>
        <p:spPr>
          <a:xfrm>
            <a:off x="8894820" y="2396639"/>
            <a:ext cx="2676690" cy="1753497"/>
          </a:xfrm>
          <a:prstGeom prst="wedgeRoundRectCallout">
            <a:avLst>
              <a:gd name="adj1" fmla="val 8564"/>
              <a:gd name="adj2" fmla="val 6188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+mn-ea"/>
              </a:rPr>
              <a:t>친구들 사이에 갈등이 발생했을 때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또래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조정을 활용하여 갈등을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민주적으로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해결해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보자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4" name="그림 33" descr="클립아트, 곰, 만화 영화이(가) 표시된 사진&#10;&#10;자동 생성된 설명">
            <a:extLst>
              <a:ext uri="{FF2B5EF4-FFF2-40B4-BE49-F238E27FC236}">
                <a16:creationId xmlns:a16="http://schemas.microsoft.com/office/drawing/2014/main" id="{7E57931C-BC2D-94A0-17C9-B8C790C398E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4312" y="4776162"/>
            <a:ext cx="1951723" cy="2081838"/>
          </a:xfrm>
          <a:prstGeom prst="rect">
            <a:avLst/>
          </a:prstGeom>
        </p:spPr>
      </p:pic>
      <p:sp>
        <p:nvSpPr>
          <p:cNvPr id="41" name="모서리가 둥근 직사각형 40"/>
          <p:cNvSpPr/>
          <p:nvPr/>
        </p:nvSpPr>
        <p:spPr>
          <a:xfrm>
            <a:off x="366515" y="2403747"/>
            <a:ext cx="8108438" cy="34726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366515" y="2537225"/>
            <a:ext cx="8108438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&lt;</a:t>
            </a: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또래 조정자가 지켜야 할 원칙</a:t>
            </a:r>
            <a:r>
              <a:rPr lang="en-US" altLang="ko-KR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&gt;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자율성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갈등 당사자가 자신의 문제를 스스로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해결하도록 돕는다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중립성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갈등 당사자 가운데 한쪽을 편들지 않고 중립적으로 문제를  해결하도록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돕는다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비밀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유지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조정하는 자리에서 나눈 이야기를 다른 사람들에게 옮기지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않고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비밀을 지킨다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spc="-150" dirty="0">
              <a:solidFill>
                <a:schemeClr val="tx2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4740" y="1620352"/>
            <a:ext cx="885824" cy="77628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13" y="5910262"/>
            <a:ext cx="942975" cy="94773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271" y="5913638"/>
            <a:ext cx="942975" cy="947738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2977" y="5904567"/>
            <a:ext cx="942975" cy="947738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81135" y="5907943"/>
            <a:ext cx="942975" cy="947738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1845" y="5872989"/>
            <a:ext cx="942975" cy="947738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10003" y="5876365"/>
            <a:ext cx="942975" cy="94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67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151906" y="2086984"/>
            <a:ext cx="97496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“02.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폭력에 어떻게 대처해야 할까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갈등의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둘 이상의 사람이나 집단이 서로 대립하고 충돌하여 화합하지 못하는 상태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체육 대회 반티 색을 두고 반이 둘로 갈렸다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둘 이상의 사람이나 집단이 서로 대립하고 충돌하여 화합하지 못하는 상태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체육 대회 반티 색을 두고 반이 둘로 갈렸다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갈등의 원인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한정된 자원이나 이익을 두고 사람이나 집단 사이에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이해관계 </a:t>
            </a:r>
            <a:r>
              <a:rPr sz="2400" b="0">
                <a:solidFill>
                  <a:srgbClr val="262626"/>
                </a:solidFill>
              </a:rPr>
              <a:t>가 다르기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지하철역은 우리 동네에, 쓰레기 소각장은 옆 동네에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신념과 가치관의 차이를 존중하지 않고 서로 자기 생각만이 옳다고 주장하기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“명절엔 꼭 모여야지.” ↔ “각자 쉬는 게 좋아요.”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상대방의 기분을 상하게 하는 말과 행동을 하거나, 서로 소통이 부족한 경우 등 잘못된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의사소통 </a:t>
            </a:r>
            <a:r>
              <a:rPr sz="2400" b="0">
                <a:solidFill>
                  <a:srgbClr val="262626"/>
                </a:solidFill>
              </a:rPr>
              <a:t>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읽고 답 안 한 메시지 하나로 생긴 오해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한정된 자원이나 이익을 두고 사람이나 집단 사이에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이해관계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 다르기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지하철역은 우리 동네에, 쓰레기 소각장은 옆 동네에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신념과 가치관의 차이를 존중하지 않고 서로 자기 생각만이 옳다고 주장하기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“명절엔 꼭 모여야지.” ↔ “각자 쉬는 게 좋아요.”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상대방의 기분을 상하게 하는 말과 행동을 하거나, 서로 소통이 부족한 경우 등 잘못된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의사소통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읽고 답 안 한 메시지 하나로 생긴 오해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한정된 자원이나 이익을 두고 사람이나 집단 사이에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이해관계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 다르기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지하철역은 우리 동네에, 쓰레기 소각장은 옆 동네에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신념과 가치관의 차이를 존중하지 않고 서로 자기 생각만이 옳다고 주장하기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“명절엔 꼭 모여야지.” ↔ “각자 쉬는 게 좋아요.”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상대방의 기분을 상하게 하는 말과 행동을 하거나, 서로 소통이 부족한 경우 등 잘못된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의사소통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읽고 답 안 한 메시지 하나로 생긴 오해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한정된 자원이나 이익을 두고 사람이나 집단 사이에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이해관계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 다르기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지하철역은 우리 동네에, 쓰레기 소각장은 옆 동네에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신념과 가치관의 차이를 존중하지 않고 서로 자기 생각만이 옳다고 주장하기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“명절엔 꼭 모여야지.” ↔ “각자 쉬는 게 좋아요.”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상대방의 기분을 상하게 하는 말과 행동을 하거나, 서로 소통이 부족한 경우 등 잘못된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의사소통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읽고 답 안 한 메시지 하나로 생긴 오해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한정된 자원이나 이익을 두고 사람이나 집단 사이에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이해관계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 다르기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지하철역은 우리 동네에, 쓰레기 소각장은 옆 동네에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신념과 가치관의 차이를 존중하지 않고 서로 자기 생각만이 옳다고 주장하기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“명절엔 꼭 모여야지.” ↔ “각자 쉬는 게 좋아요.”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상대방의 기분을 상하게 하는 말과 행동을 하거나, 서로 소통이 부족한 경우 등 잘못된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의사소통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읽고 답 안 한 메시지 하나로 생긴 오해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한정된 자원이나 이익을 두고 사람이나 집단 사이에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이해관계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 다르기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지하철역은 우리 동네에, 쓰레기 소각장은 옆 동네에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신념과 가치관의 차이를 존중하지 않고 서로 자기 생각만이 옳다고 주장하기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“명절엔 꼭 모여야지.” ↔ “각자 쉬는 게 좋아요.”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상대방의 기분을 상하게 하는 말과 행동을 하거나, 서로 소통이 부족한 경우 등 잘못된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의사소통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때문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읽고 답 안 한 메시지 하나로 생긴 오해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반으로 자른 오렌지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『Yes를 이끌어 내는 협상법』(1981)에 나오는 이야기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다툼 · 두 자매가 오렌지 하나를 두고 다투다 반씩 나눠 가졌다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언니 · 알맹이는 버리고 껍질만 써서 케이크를 구웠다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동생 · 껍질은 버리고 알맹이로 주스를 짰다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만약 · “왜 필요해?”라고 먼저 물었다면?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두 사람이 놓친 것은 무엇일까?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『Yes를 이끌어 내는 협상법』(1981)에 나오는 이야기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다툼 · 두 자매가 오렌지 하나를 두고 다투다 반씩 나눠 가졌다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언니 · 알맹이는 버리고 껍질만 써서 케이크를 구웠다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동생 · 껍질은 버리고 알맹이로 주스를 짰다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만약 · “왜 필요해?”라고 먼저 물었다면?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두 사람이 놓친 것은 무엇일까?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갈등을 평화적으로 해결하기 위한 자세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상대방이 원하는 것이 무엇인지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경청 </a:t>
            </a:r>
            <a:r>
              <a:rPr sz="2400" b="0">
                <a:solidFill>
                  <a:srgbClr val="262626"/>
                </a:solidFill>
              </a:rPr>
              <a:t>하고, 상대방의 처지를 헤아리며 공감해야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“네 말은 그러니까 ○○ 때문에 서운했다는 거지?”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자신의 언어 습관이나 행동을 되돌아보며 평소 자신의 의사소통 방법을 점검해야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서로 조금씩 양보하는 가운데 상대방의 입장을 수용해야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이번 반티는 너희 색, 대신 응원가는 우리가 정하기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상대방이 원하는 것이 무엇인지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경청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상대방의 처지를 헤아리며 공감해야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“네 말은 그러니까 ○○ 때문에 서운했다는 거지?”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자신의 언어 습관이나 행동을 되돌아보며 평소 자신의 의사소통 방법을 점검해야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서로 조금씩 양보하는 가운데 상대방의 입장을 수용해야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이번 반티는 너희 색, 대신 응원가는 우리가 정하기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상대방이 원하는 것이 무엇인지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경청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상대방의 처지를 헤아리며 공감해야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“네 말은 그러니까 ○○ 때문에 서운했다는 거지?”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자신의 언어 습관이나 행동을 되돌아보며 평소 자신의 의사소통 방법을 점검해야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서로 조금씩 양보하는 가운데 상대방의 입장을 수용해야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이번 반티는 너희 색, 대신 응원가는 우리가 정하기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상대방이 원하는 것이 무엇인지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경청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하고, 상대방의 처지를 헤아리며 공감해야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“네 말은 그러니까 ○○ 때문에 서운했다는 거지?”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자신의 언어 습관이나 행동을 되돌아보며 평소 자신의 의사소통 방법을 점검해야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서로 조금씩 양보하는 가운데 상대방의 입장을 수용해야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이번 반티는 너희 색, 대신 응원가는 우리가 정하기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갈등을 평화적으로 해결하기 위한 방안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/>
                </a:solidFill>
              </a:rPr>
              <a:t>(1) 갈등 해결의 일반적 절차</a:t>
            </a:r>
            <a:r>
              <a:rPr sz="2300" b="1">
                <a:solidFill>
                  <a:srgbClr val="843C0C"/>
                </a:solidFill>
              </a:rPr>
              <a:t> : </a:t>
            </a:r>
            <a:r>
              <a:rPr sz="1380" b="1">
                <a:solidFill>
                  <a:srgbClr val="2F6FD0"/>
                </a:solidFill>
              </a:rPr>
              <a:t>④</a:t>
            </a:r>
            <a:r>
              <a:rPr sz="23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객관적 </a:t>
            </a:r>
            <a:r>
              <a:rPr sz="2300" b="0">
                <a:solidFill>
                  <a:srgbClr val="262626"/>
                </a:solidFill>
              </a:rPr>
              <a:t>으로 바라보기 → 다양한 대안 탐색하기 → 최선의 대안 선택하기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흥분을 가라앉히고 “무엇 때문에 다투는 거지?” 적어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/>
                </a:solidFill>
              </a:rPr>
              <a:t>(2) 갈등 해결의 구체적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/>
                </a:solidFill>
              </a:rPr>
              <a:t>① 협상</a:t>
            </a:r>
            <a:r>
              <a:rPr sz="2300" b="1">
                <a:solidFill>
                  <a:srgbClr val="843C0C"/>
                </a:solidFill>
              </a:rPr>
              <a:t> : </a:t>
            </a:r>
            <a:r>
              <a:rPr sz="2300" b="0">
                <a:solidFill>
                  <a:srgbClr val="262626"/>
                </a:solidFill>
              </a:rPr>
              <a:t>제삼자가 개입하지 않고 갈등 당사자끼리 직접 대화하여 갈등을 해결하는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형과 내가 게임기 사용 시간을 둘이서 정하기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/>
                </a:solidFill>
              </a:rPr>
              <a:t>② </a:t>
            </a:r>
            <a:r>
              <a:rPr sz="1380" b="1">
                <a:solidFill>
                  <a:srgbClr val="2F6FD0"/>
                </a:solidFill>
              </a:rPr>
              <a:t>⑤</a:t>
            </a:r>
            <a:r>
              <a:rPr sz="23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조정 </a:t>
            </a:r>
            <a:r>
              <a:rPr sz="2300" b="1">
                <a:solidFill>
                  <a:srgbClr val="843C0C"/>
                </a:solidFill>
              </a:rPr>
              <a:t> : </a:t>
            </a:r>
            <a:r>
              <a:rPr sz="2300" b="0">
                <a:solidFill>
                  <a:srgbClr val="262626"/>
                </a:solidFill>
              </a:rPr>
              <a:t>중립적인 제삼자가 개입하여 당사자끼리 갈등을 해결할 수 있도록 의사소통을 돕는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또래 조정반 친구가 두 사람의 대화를 돕는다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/>
                </a:solidFill>
              </a:rPr>
              <a:t>③ 중재</a:t>
            </a:r>
            <a:r>
              <a:rPr sz="2300" b="1">
                <a:solidFill>
                  <a:srgbClr val="843C0C"/>
                </a:solidFill>
              </a:rPr>
              <a:t> : </a:t>
            </a:r>
            <a:r>
              <a:rPr sz="2300" b="0">
                <a:solidFill>
                  <a:srgbClr val="262626"/>
                </a:solidFill>
              </a:rPr>
              <a:t>중립적인 제삼자가 개입하여 갈등 당사자들의 이야기를 경청하고 양측의 입장을 충분히 헤아려서 해결책을 제시하는 방법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(1) 갈등 해결의 일반적 절차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300" b="1">
                <a:solidFill>
                  <a:srgbClr val="C0392B"/>
                </a:solidFill>
              </a:rPr>
              <a:t> 객관적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으로 바라보기 → 다양한 대안 탐색하기 → 최선의 대안 선택하기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흥분을 가라앉히고 “무엇 때문에 다투는 거지?” 적어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(2) 갈등 해결의 구체적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① 협상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제삼자가 개입하지 않고 갈등 당사자끼리 직접 대화하여 갈등을 해결하는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형과 내가 게임기 사용 시간을 둘이서 정하기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조정 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중립적인 제삼자가 개입하여 당사자끼리 갈등을 해결할 수 있도록 의사소통을 돕는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또래 조정반 친구가 두 사람의 대화를 돕는다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③ 중재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중립적인 제삼자가 개입하여 갈등 당사자들의 이야기를 경청하고 양측의 입장을 충분히 헤아려서 해결책을 제시하는 방법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(1) 갈등 해결의 일반적 절차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객관적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으로 바라보기 → 다양한 대안 탐색하기 → 최선의 대안 선택하기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/>
                </a:solidFill>
              </a:rPr>
              <a:t>💡 흥분을 가라앉히고 “무엇 때문에 다투는 거지?” 적어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(2) 갈등 해결의 구체적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① 협상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제삼자가 개입하지 않고 갈등 당사자끼리 직접 대화하여 갈등을 해결하는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형과 내가 게임기 사용 시간을 둘이서 정하기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조정 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중립적인 제삼자가 개입하여 당사자끼리 갈등을 해결할 수 있도록 의사소통을 돕는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또래 조정반 친구가 두 사람의 대화를 돕는다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③ 중재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중립적인 제삼자가 개입하여 갈등 당사자들의 이야기를 경청하고 양측의 입장을 충분히 헤아려서 해결책을 제시하는 방법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(1) 갈등 해결의 일반적 절차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객관적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으로 바라보기 → 다양한 대안 탐색하기 → 최선의 대안 선택하기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흥분을 가라앉히고 “무엇 때문에 다투는 거지?” 적어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(2) 갈등 해결의 구체적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① 협상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제삼자가 개입하지 않고 갈등 당사자끼리 직접 대화하여 갈등을 해결하는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/>
                </a:solidFill>
              </a:rPr>
              <a:t>💡 형과 내가 게임기 사용 시간을 둘이서 정하기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조정 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중립적인 제삼자가 개입하여 당사자끼리 갈등을 해결할 수 있도록 의사소통을 돕는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또래 조정반 친구가 두 사람의 대화를 돕는다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③ 중재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중립적인 제삼자가 개입하여 갈등 당사자들의 이야기를 경청하고 양측의 입장을 충분히 헤아려서 해결책을 제시하는 방법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(1) 갈등 해결의 일반적 절차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객관적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으로 바라보기 → 다양한 대안 탐색하기 → 최선의 대안 선택하기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흥분을 가라앉히고 “무엇 때문에 다투는 거지?” 적어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(2) 갈등 해결의 구체적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① 협상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제삼자가 개입하지 않고 갈등 당사자끼리 직접 대화하여 갈등을 해결하는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형과 내가 게임기 사용 시간을 둘이서 정하기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300" b="1">
                <a:solidFill>
                  <a:srgbClr val="C0392B"/>
                </a:solidFill>
              </a:rPr>
              <a:t> 조정 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중립적인 제삼자가 개입하여 당사자끼리 갈등을 해결할 수 있도록 의사소통을 돕는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또래 조정반 친구가 두 사람의 대화를 돕는다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③ 중재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중립적인 제삼자가 개입하여 갈등 당사자들의 이야기를 경청하고 양측의 입장을 충분히 헤아려서 해결책을 제시하는 방법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(1) 갈등 해결의 일반적 절차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객관적 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으로 바라보기 → 다양한 대안 탐색하기 → 최선의 대안 선택하기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흥분을 가라앉히고 “무엇 때문에 다투는 거지?” 적어 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(2) 갈등 해결의 구체적 방법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① 협상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제삼자가 개입하지 않고 갈등 당사자끼리 직접 대화하여 갈등을 해결하는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>
                    <a:alpha val="0"/>
                  </a:srgbClr>
                </a:solidFill>
              </a:rPr>
              <a:t>💡 형과 내가 게임기 사용 시간을 둘이서 정하기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380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 조정 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중립적인 제삼자가 개입하여 당사자끼리 갈등을 해결할 수 있도록 의사소통을 돕는 방법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000" b="1">
                <a:solidFill>
                  <a:srgbClr val="B45F06"/>
                </a:solidFill>
              </a:rPr>
              <a:t>💡 또래 조정반 친구가 두 사람의 대화를 돕는다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300" b="1">
                <a:solidFill>
                  <a:srgbClr val="843C0C">
                    <a:alpha val="0"/>
                  </a:srgbClr>
                </a:solidFill>
              </a:rPr>
              <a:t>③ 중재</a:t>
            </a:r>
            <a:r>
              <a:rPr sz="23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300" b="0">
                <a:solidFill>
                  <a:srgbClr val="262626">
                    <a:alpha val="0"/>
                  </a:srgbClr>
                </a:solidFill>
              </a:rPr>
              <a:t>중립적인 제삼자가 개입하여 갈등 당사자들의 이야기를 경청하고 양측의 입장을 충분히 헤아려서 해결책을 제시하는 방법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윈윈 협상 4단계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101쪽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 · 사람과 문제를 나누기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 · 입장 말고 이익 묻기 · “왜 필요해?”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 · 여러 해결책 떠올리기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 · 모두 받아들일 기준으로 고르기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갈등이란 둘 이상의 사람이나 집단이 서로 화합하는 상태를 말한다.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신념과 가치관의 차이를 존중하지 않고 서로 자기 생각만 옳다고 주장하면 갈등이 발생할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갈등 상황에서는 서로 조금씩 양보하는 가운데 상대방의 입장을 거부해야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협상은 제삼자가 개입하여 당사자끼리 갈등을 해결할 수 있도록 의사소통을 돕는 방법이다.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갈등이란 둘 이상의 사람이나 집단이 서로 화합하는 상태를 말한다.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신념과 가치관의 차이를 존중하지 않고 서로 자기 생각만 옳다고 주장하면 갈등이 발생할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갈등 상황에서는 서로 조금씩 양보하는 가운데 상대방의 입장을 거부해야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협상은 제삼자가 개입하여 당사자끼리 갈등을 해결할 수 있도록 의사소통을 돕는 방법이다.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갈등이란 둘 이상의 사람이나 집단이 서로 화합하는 상태를 말한다.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신념과 가치관의 차이를 존중하지 않고 서로 자기 생각만 옳다고 주장하면 갈등이 발생할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갈등 상황에서는 서로 조금씩 양보하는 가운데 상대방의 입장을 거부해야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협상은 제삼자가 개입하여 당사자끼리 갈등을 해결할 수 있도록 의사소통을 돕는 방법이다.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갈등이란 둘 이상의 사람이나 집단이 서로 화합하는 상태를 말한다.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신념과 가치관의 차이를 존중하지 않고 서로 자기 생각만 옳다고 주장하면 갈등이 발생할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갈등 상황에서는 서로 조금씩 양보하는 가운데 상대방의 입장을 거부해야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협상은 제삼자가 개입하여 당사자끼리 갈등을 해결할 수 있도록 의사소통을 돕는 방법이다.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갈등이란 둘 이상의 사람이나 집단이 서로 화합하는 상태를 말한다.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신념과 가치관의 차이를 존중하지 않고 서로 자기 생각만 옳다고 주장하면 갈등이 발생할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갈등 상황에서는 서로 조금씩 양보하는 가운데 상대방의 입장을 거부해야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협상은 제삼자가 개입하여 당사자끼리 갈등을 해결할 수 있도록 의사소통을 돕는 방법이다.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갈등의 원인은?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이해관계 · 신념과 가치관 · 잘못된 의사소통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체육 시설을 서로 자기 지역에 지으려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이해관계 (한정된 이익)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종교가 달라 명절 보내는 방식이 다르다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신념과 가치관 (가치관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“네가 뭘 알아?”라고 말해 다툼이 생겼다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(함부로 하는 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혐오 시설을 서로 자기 동네에 두지 않으려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이해관계 (이해관계)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문자로 대화하다 오해가 생겼다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(소통 부족)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이해관계 · 신념과 가치관 · 잘못된 의사소통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체육 시설을 서로 자기 지역에 지으려 한다</a:t>
            </a:r>
            <a:r>
              <a:rPr sz="2300" b="1">
                <a:solidFill>
                  <a:srgbClr val="C0392B"/>
                </a:solidFill>
              </a:rPr>
              <a:t>   → 이해관계 (한정된 이익)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종교가 달라 명절 보내는 방식이 다르다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신념과 가치관 (가치관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“네가 뭘 알아?”라고 말해 다툼이 생겼다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(함부로 하는 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혐오 시설을 서로 자기 동네에 두지 않으려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이해관계 (이해관계)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문자로 대화하다 오해가 생겼다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(소통 부족)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이해관계 · 신념과 가치관 · 잘못된 의사소통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체육 시설을 서로 자기 지역에 지으려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이해관계 (한정된 이익)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종교가 달라 명절 보내는 방식이 다르다</a:t>
            </a:r>
            <a:r>
              <a:rPr sz="2300" b="1">
                <a:solidFill>
                  <a:srgbClr val="C0392B"/>
                </a:solidFill>
              </a:rPr>
              <a:t>   → 신념과 가치관 (가치관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“네가 뭘 알아?”라고 말해 다툼이 생겼다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(함부로 하는 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혐오 시설을 서로 자기 동네에 두지 않으려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이해관계 (이해관계)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문자로 대화하다 오해가 생겼다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(소통 부족)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이해관계 · 신념과 가치관 · 잘못된 의사소통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체육 시설을 서로 자기 지역에 지으려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이해관계 (한정된 이익)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종교가 달라 명절 보내는 방식이 다르다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신념과 가치관 (가치관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“네가 뭘 알아?”라고 말해 다툼이 생겼다</a:t>
            </a:r>
            <a:r>
              <a:rPr sz="2300" b="1">
                <a:solidFill>
                  <a:srgbClr val="C0392B"/>
                </a:solidFill>
              </a:rPr>
              <a:t>   → 잘못된 의사소통 (함부로 하는 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혐오 시설을 서로 자기 동네에 두지 않으려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이해관계 (이해관계)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문자로 대화하다 오해가 생겼다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(소통 부족)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이해관계 · 신념과 가치관 · 잘못된 의사소통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체육 시설을 서로 자기 지역에 지으려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이해관계 (한정된 이익)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종교가 달라 명절 보내는 방식이 다르다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신념과 가치관 (가치관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“네가 뭘 알아?”라고 말해 다툼이 생겼다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(함부로 하는 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혐오 시설을 서로 자기 동네에 두지 않으려 한다</a:t>
            </a:r>
            <a:r>
              <a:rPr sz="2300" b="1">
                <a:solidFill>
                  <a:srgbClr val="C0392B"/>
                </a:solidFill>
              </a:rPr>
              <a:t>   → 이해관계 (이해관계)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문자로 대화하다 오해가 생겼다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(소통 부족)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이해관계 · 신념과 가치관 · 잘못된 의사소통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체육 시설을 서로 자기 지역에 지으려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이해관계 (한정된 이익)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종교가 달라 명절 보내는 방식이 다르다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신념과 가치관 (가치관 차이)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“네가 뭘 알아?”라고 말해 다툼이 생겼다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잘못된 의사소통 (함부로 하는 말)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혐오 시설을 서로 자기 동네에 두지 않으려 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이해관계 (이해관계)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문자로 대화하다 오해가 생겼다</a:t>
            </a:r>
            <a:r>
              <a:rPr sz="2300" b="1">
                <a:solidFill>
                  <a:srgbClr val="C0392B"/>
                </a:solidFill>
              </a:rPr>
              <a:t>   → 잘못된 의사소통 (소통 부족)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협상 · 조정 · 중재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협상 · 조정 · 중재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두 친구가 서로 이야기해 합의했다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협상 (당사자끼리)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또래 조정자가 대화를 도와 둘이 합의했다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조정 (제삼자가 소통을 도움)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선생님이 해결책을 내고 둘은 반드시 따랐다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중재 (제삼자가 해결책 제시)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조정자가 해결책을 제안했지만 받아들일지는 둘이 정했다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조정 (조정)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협상 · 조정 · 중재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두 친구가 서로 이야기해 합의했다</a:t>
            </a:r>
            <a:r>
              <a:rPr sz="2300" b="1">
                <a:solidFill>
                  <a:srgbClr val="C0392B"/>
                </a:solidFill>
              </a:rPr>
              <a:t>   → 협상 (당사자끼리)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또래 조정자가 대화를 도와 둘이 합의했다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조정 (제삼자가 소통을 도움)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선생님이 해결책을 내고 둘은 반드시 따랐다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중재 (제삼자가 해결책 제시)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조정자가 해결책을 제안했지만 받아들일지는 둘이 정했다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조정 (조정)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협상 · 조정 · 중재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두 친구가 서로 이야기해 합의했다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협상 (당사자끼리)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또래 조정자가 대화를 도와 둘이 합의했다</a:t>
            </a:r>
            <a:r>
              <a:rPr sz="2300" b="1">
                <a:solidFill>
                  <a:srgbClr val="C0392B"/>
                </a:solidFill>
              </a:rPr>
              <a:t>   → 조정 (제삼자가 소통을 도움)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선생님이 해결책을 내고 둘은 반드시 따랐다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중재 (제삼자가 해결책 제시)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조정자가 해결책을 제안했지만 받아들일지는 둘이 정했다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조정 (조정)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협상 · 조정 · 중재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두 친구가 서로 이야기해 합의했다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협상 (당사자끼리)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또래 조정자가 대화를 도와 둘이 합의했다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조정 (제삼자가 소통을 도움)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선생님이 해결책을 내고 둘은 반드시 따랐다</a:t>
            </a:r>
            <a:r>
              <a:rPr sz="2300" b="1">
                <a:solidFill>
                  <a:srgbClr val="C0392B"/>
                </a:solidFill>
              </a:rPr>
              <a:t>   → 중재 (제삼자가 해결책 제시)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조정자가 해결책을 제안했지만 받아들일지는 둘이 정했다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조정 (조정)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협상 · 조정 · 중재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두 친구가 서로 이야기해 합의했다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협상 (당사자끼리)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또래 조정자가 대화를 도와 둘이 합의했다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조정 (제삼자가 소통을 도움)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선생님이 해결책을 내고 둘은 반드시 따랐다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중재 (제삼자가 해결책 제시)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조정자가 해결책을 제안했지만 받아들일지는 둘이 정했다</a:t>
            </a:r>
            <a:r>
              <a:rPr sz="2300" b="1">
                <a:solidFill>
                  <a:srgbClr val="C0392B"/>
                </a:solidFill>
              </a:rPr>
              <a:t>   → 조정 (조정)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협상 기록지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n w="22225">
                  <a:noFill/>
                  <a:prstDash val="solid"/>
                </a:ln>
                <a:latin typeface="+mn-ea"/>
              </a:rPr>
              <a:t>갈등을 평화적으로 해결하려면 어떻게 해야 할까</a:t>
            </a:r>
            <a:r>
              <a:rPr lang="en-US" altLang="ko-KR" b="1" dirty="0">
                <a:ln w="22225">
                  <a:noFill/>
                  <a:prstDash val="solid"/>
                </a:ln>
                <a:latin typeface="+mn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97쪽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갈등과 폭력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지율 / 누리의 입장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추워서 끄고 싶다 / 더워서 켜 두고 싶다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대안과 예상 결과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26도로 맞추기 → 둘 다 조금씩 양보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최선의 대안과 까닭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26도 + 추운 친구는 바람이 덜 오는 자리 — 둘 다 만족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지율 / 누리의 입장</a:t>
            </a:r>
            <a:r>
              <a:rPr sz="2300" b="1">
                <a:solidFill>
                  <a:srgbClr val="C0392B"/>
                </a:solidFill>
              </a:rPr>
              <a:t>   예) 추워서 끄고 싶다 / 더워서 켜 두고 싶다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대안과 예상 결과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26도로 맞추기 → 둘 다 조금씩 양보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최선의 대안과 까닭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26도 + 추운 친구는 바람이 덜 오는 자리 — 둘 다 만족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지율 / 누리의 입장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추워서 끄고 싶다 / 더워서 켜 두고 싶다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대안과 예상 결과</a:t>
            </a:r>
            <a:r>
              <a:rPr sz="2300" b="1">
                <a:solidFill>
                  <a:srgbClr val="C0392B"/>
                </a:solidFill>
              </a:rPr>
              <a:t>   예) 26도로 맞추기 → 둘 다 조금씩 양보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최선의 대안과 까닭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26도 + 추운 친구는 바람이 덜 오는 자리 — 둘 다 만족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지율 / 누리의 입장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추워서 끄고 싶다 / 더워서 켜 두고 싶다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대안과 예상 결과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26도로 맞추기 → 둘 다 조금씩 양보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최선의 대안과 까닭</a:t>
            </a:r>
            <a:r>
              <a:rPr sz="2300" b="1">
                <a:solidFill>
                  <a:srgbClr val="C0392B"/>
                </a:solidFill>
              </a:rPr>
              <a:t>   예) 26도 + 추운 친구는 바람이 덜 오는 자리 — 둘 다 만족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9114</TotalTime>
  <Words>1654</Words>
  <Application>Microsoft Office PowerPoint</Application>
  <PresentationFormat>와이드스크린</PresentationFormat>
  <Paragraphs>317</Paragraphs>
  <Slides>27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7" baseType="lpstr">
      <vt:lpstr>AppleSDGothicNeoB00</vt:lpstr>
      <vt:lpstr>굴림</vt:lpstr>
      <vt:lpstr>나눔스퀘어라운드 ExtraBold</vt:lpstr>
      <vt:lpstr>돋움</vt:lpstr>
      <vt:lpstr>Malgun Gothic</vt:lpstr>
      <vt:lpstr>Malgun Gothic</vt:lpstr>
      <vt:lpstr>Arial</vt:lpstr>
      <vt:lpstr>Arial Rounded MT Bold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190</cp:revision>
  <cp:lastPrinted>2024-06-05T04:53:22Z</cp:lastPrinted>
  <dcterms:created xsi:type="dcterms:W3CDTF">2023-10-31T05:50:03Z</dcterms:created>
  <dcterms:modified xsi:type="dcterms:W3CDTF">2025-01-14T04:20:17Z</dcterms:modified>
</cp:coreProperties>
</file>