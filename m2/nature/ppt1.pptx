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6"/>
  </p:notesMasterIdLst>
  <p:handoutMasterIdLst>
    <p:handoutMasterId r:id="rId17"/>
  </p:handoutMasterIdLst>
  <p:sldIdLst>
    <p:sldId id="390" r:id="rId2"/>
    <p:sldId id="301" r:id="rId3"/>
    <p:sldId id="258" r:id="rId4"/>
    <p:sldId id="305" r:id="rId5"/>
    <p:sldId id="396" r:id="rId28"/>
    <p:sldId id="260" r:id="rId6"/>
    <p:sldId id="391" r:id="rId23"/>
    <p:sldId id="392" r:id="rId24"/>
    <p:sldId id="393" r:id="rId25"/>
    <p:sldId id="394" r:id="rId26"/>
    <p:sldId id="360" r:id="rId7"/>
    <p:sldId id="306" r:id="rId8"/>
    <p:sldId id="270" r:id="rId9"/>
    <p:sldId id="387" r:id="rId10"/>
    <p:sldId id="388" r:id="rId11"/>
    <p:sldId id="395" r:id="rId27"/>
    <p:sldId id="307" r:id="rId12"/>
    <p:sldId id="389" r:id="rId13"/>
    <p:sldId id="355" r:id="rId14"/>
    <p:sldId id="397" r:id="rId29"/>
    <p:sldId id="398" r:id="rId30"/>
    <p:sldId id="399" r:id="rId31"/>
    <p:sldId id="400" r:id="rId32"/>
    <p:sldId id="380" r:id="rId15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본래적 가치</a:t>
            </a:r>
          </a:p>
          <a:p>
            <a:r>
              <a:t>다른 무엇을 위한 수단이 아니라 그 자체로 목적이 되는 가치. 인간 중심주의는 풍요를 가져왔지만 심각한 환경 문제를 낳았고, 그 반성으로 생태 중심주의가 등장했다.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도덕① 장자와 연결</a:t>
            </a:r>
          </a:p>
          <a:p>
            <a:r>
              <a:t>도덕① Ⅰ단원의 장자 ‘철학자 톡’(나비 꿈, 무용지용)을 떠올리게 하면 도가의 자연관이 쉽게 들어온다.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레오폴드 (교과서 207쪽)</a:t>
            </a:r>
          </a:p>
          <a:p>
            <a:r>
              <a:t>미국의 생태학자. 젊은 시절 늑대를 사냥하다가 죽어 가는 늑대 눈의 ‘사나운 초록 불꽃’을 보고 생각이 바뀌었다는 「산처럼 생각하기」 이야기가 유명하다. 늑대가 사라지자 사슴이 늘어 산의 풀과 나무가 망가졌다.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관점 적용</a:t>
            </a:r>
          </a:p>
          <a:p>
            <a:r>
              <a:t>207쪽 서안(인간 중심주의)·지호(생태 중심주의)의 눈으로 답해 보게 한다. 제3의 길(숲을 덜 깎는 설계, 다른 터)을 찾는 학생이 있으면 208쪽 ‘공존’으로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느낀 점 (208쪽)</a:t>
            </a:r>
          </a:p>
          <a:p>
            <a:r>
              <a:t>인간 중심주의 · 생태 중심주의 · 동양의 자연관을 이해했는지 V표로 점검하고 느낀 점 쓰기. 활동 화면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마음 열기</a:t>
            </a:r>
          </a:p>
          <a:p>
            <a:r>
              <a:t>30초 동안 세 칸에 하나씩. ‘쓰는 것’ 칸에 많이 나오면 인간 중심주의, ‘좋은 것’에 많이 나오면 자연 그 자체의 가치와 이어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자연을 바라보는 관점을 구분하고, 나의 관점을 수직선 위에 찍어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자연을 바라보는 관점을 구분하고, 나의 관점을 수직선 위에 찍어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자연을 바라보는 관점을 구분하고, 나의 관점을 수직선 위에 찍어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28</a:t>
            </a:r>
            <a:r>
              <a:rPr lang="ko-KR" altLang="en-US" sz="1100" b="1" dirty="0">
                <a:solidFill>
                  <a:srgbClr val="3DB250"/>
                </a:solidFill>
                <a:latin typeface="+mj-ea"/>
                <a:ea typeface="+mj-ea"/>
              </a:rPr>
              <a:t>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4264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인간과 자연과의 관계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5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37040" y="2268741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우리는 자연을 어떻게 </a:t>
            </a:r>
            <a:b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</a:b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바라보고 있을까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4151" y="116665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9512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자연을 바라보는 동서양의 관점을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93403"/>
            <a:ext cx="10293350" cy="787400"/>
            <a:chOff x="914400" y="2362200"/>
            <a:chExt cx="10293350" cy="787400"/>
          </a:xfrm>
        </p:grpSpPr>
        <p:sp>
          <p:nvSpPr>
            <p:cNvPr id="2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3" y="3001588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인간과 자연의 바람직한 관계를 제시할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079874" y="942681"/>
            <a:ext cx="742511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pc="-150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689242" y="1477018"/>
            <a:ext cx="815371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2150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년대, 지구인과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나비족은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판도라’라는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행성에서 대립한다. 이 행성에는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나비족이라는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원주민이 살고 있다. 판도라는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나비족에게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삶의 터전이자 생명 그 자체이다. 한편 지구인은 이 행성의 자연을 개발하여 광물을 채굴하려고 한다.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나비족은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광물을 채굴하려는 지구인에게 맞서 싸운다.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0408" y="4056009"/>
            <a:ext cx="1435992" cy="22948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3816" y="4032216"/>
            <a:ext cx="1417360" cy="2229181"/>
          </a:xfrm>
          <a:prstGeom prst="rect">
            <a:avLst/>
          </a:prstGeom>
        </p:spPr>
      </p:pic>
      <p:sp>
        <p:nvSpPr>
          <p:cNvPr id="32" name="모서리가 둥근 사각형 설명선 31"/>
          <p:cNvSpPr/>
          <p:nvPr/>
        </p:nvSpPr>
        <p:spPr>
          <a:xfrm>
            <a:off x="196404" y="3394064"/>
            <a:ext cx="3657600" cy="2752079"/>
          </a:xfrm>
          <a:prstGeom prst="wedgeRoundRectCallout">
            <a:avLst>
              <a:gd name="adj1" fmla="val 57793"/>
              <a:gd name="adj2" fmla="val -350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A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우리의 이익을 위해</a:t>
            </a: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모든 수단과 방법을 </a:t>
            </a: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동원해</a:t>
            </a:r>
            <a:endParaRPr lang="ko-KR" altLang="en-US" sz="2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광물을 채굴해야 해</a:t>
            </a: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!</a:t>
            </a:r>
            <a:endParaRPr lang="ko-KR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모서리가 둥근 사각형 설명선 34"/>
          <p:cNvSpPr/>
          <p:nvPr/>
        </p:nvSpPr>
        <p:spPr>
          <a:xfrm flipH="1">
            <a:off x="7889714" y="3394063"/>
            <a:ext cx="3714494" cy="2752080"/>
          </a:xfrm>
          <a:prstGeom prst="wedgeRoundRectCallout">
            <a:avLst>
              <a:gd name="adj1" fmla="val 57793"/>
              <a:gd name="adj2" fmla="val -350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A7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모든 광물은 </a:t>
            </a: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자연으로부터 </a:t>
            </a: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잠시 </a:t>
            </a: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빌린 </a:t>
            </a: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거야</a:t>
            </a: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dist"/>
            <a:r>
              <a:rPr lang="ko-KR" altLang="en-US" sz="2400" spc="-150" dirty="0">
                <a:solidFill>
                  <a:schemeClr val="tx1"/>
                </a:solidFill>
                <a:latin typeface="+mn-ea"/>
              </a:rPr>
              <a:t>언젠가는 </a:t>
            </a:r>
            <a:r>
              <a:rPr lang="ko-KR" altLang="en-US" sz="2400" spc="-150" dirty="0" smtClean="0">
                <a:solidFill>
                  <a:schemeClr val="tx1"/>
                </a:solidFill>
                <a:latin typeface="+mn-ea"/>
              </a:rPr>
              <a:t>돌려주어야 </a:t>
            </a:r>
            <a:r>
              <a:rPr lang="ko-KR" altLang="en-US" sz="2400" spc="-150" dirty="0">
                <a:solidFill>
                  <a:schemeClr val="tx1"/>
                </a:solidFill>
                <a:latin typeface="+mn-ea"/>
              </a:rPr>
              <a:t>해</a:t>
            </a:r>
            <a:r>
              <a:rPr lang="en-US" altLang="ko-KR" sz="2400" spc="-15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4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060796" y="6146143"/>
            <a:ext cx="1425603" cy="413683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지구인</a:t>
            </a:r>
            <a:endParaRPr lang="ko-KR" altLang="en-US" b="1" dirty="0"/>
          </a:p>
        </p:txBody>
      </p:sp>
      <p:sp>
        <p:nvSpPr>
          <p:cNvPr id="21" name="직사각형 20"/>
          <p:cNvSpPr/>
          <p:nvPr/>
        </p:nvSpPr>
        <p:spPr>
          <a:xfrm>
            <a:off x="6215572" y="6144006"/>
            <a:ext cx="1425603" cy="413683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 smtClean="0"/>
              <a:t>나비족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088929" y="942681"/>
            <a:ext cx="742511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pc="-15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spc="-15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지구인은 자연을 인간의 경제적 이익을 위한 수단으로 보고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반면에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나비족은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자연을 인간과 함께 공존해야 할 삶의 터전으로 바라보고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영화 </a:t>
            </a:r>
            <a:r>
              <a:rPr lang="en-US" altLang="ko-KR" sz="2000" b="1" dirty="0"/>
              <a:t>&lt;</a:t>
            </a:r>
            <a:r>
              <a:rPr lang="ko-KR" altLang="en-US" sz="2000" b="1" dirty="0" err="1"/>
              <a:t>아바타</a:t>
            </a:r>
            <a:r>
              <a:rPr lang="en-US" altLang="ko-KR" sz="2000" b="1" dirty="0"/>
              <a:t>&gt;</a:t>
            </a:r>
            <a:r>
              <a:rPr lang="ko-KR" altLang="en-US" sz="2000" b="1" dirty="0"/>
              <a:t>에서 지구인과 </a:t>
            </a:r>
            <a:r>
              <a:rPr lang="ko-KR" altLang="en-US" sz="2000" b="1" dirty="0" err="1"/>
              <a:t>나비족이</a:t>
            </a:r>
            <a:r>
              <a:rPr lang="ko-KR" altLang="en-US" sz="2000" b="1" dirty="0"/>
              <a:t> 각각 자연을 어떻게 바라보고 있는지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서양의 자연관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인간 중심주의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자연의 도구적 가치를 중시함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생태 중심주의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자연의 본래적 가치를 중시함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동양의 자연관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유교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인간은 자연을 본받아 인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仁</a:t>
            </a:r>
            <a:r>
              <a:rPr lang="en-US" altLang="ko-KR" sz="2400" dirty="0">
                <a:latin typeface="+mn-ea"/>
              </a:rPr>
              <a:t>)</a:t>
            </a:r>
            <a:r>
              <a:rPr lang="ko-KR" altLang="en-US" sz="2400" dirty="0">
                <a:latin typeface="+mn-ea"/>
              </a:rPr>
              <a:t>을 실천해야 한다고 봄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불교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만물의 상호 의존성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자비와 불살생의 실천을 강조함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도가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있는 그대로의 자연이 지닌 가치와 아름다움을 중시함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자연을 바라보는 동서양의 관점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24372" y="1768708"/>
            <a:ext cx="11034354" cy="3060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지구의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허파’인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아마존 열대 우림이 심각하게 파괴되고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아마존 열대 우림에서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지난해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초당 나무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18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그루가 사라진 것으로 나타났다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농경지와 목초지를 만들거나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광산을 개발하려고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나무를 함부로 베어 버리고 숲을 마구 불태운 것이 그 원인이다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전문가들은 열대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우림을 계속 파괴하면 생물 다양성을 훼손할 뿐만 아니라 기후 변화 등 여러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문제를 유발하여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인류의 생존도 심각하게 위협할 수 있다고 경고한다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 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한국일보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2022. 7. 19.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4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267699" y="1512203"/>
            <a:ext cx="11234251" cy="5169814"/>
            <a:chOff x="267699" y="1512203"/>
            <a:chExt cx="11234251" cy="5169814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90674" y="3942376"/>
              <a:ext cx="7531838" cy="2739641"/>
            </a:xfrm>
            <a:prstGeom prst="rect">
              <a:avLst/>
            </a:prstGeom>
          </p:spPr>
        </p:pic>
        <p:sp>
          <p:nvSpPr>
            <p:cNvPr id="17" name="모서리가 둥근 사각형 설명선 16"/>
            <p:cNvSpPr/>
            <p:nvPr/>
          </p:nvSpPr>
          <p:spPr>
            <a:xfrm>
              <a:off x="267699" y="1697662"/>
              <a:ext cx="4819153" cy="2752079"/>
            </a:xfrm>
            <a:prstGeom prst="wedgeRoundRectCallout">
              <a:avLst>
                <a:gd name="adj1" fmla="val 44947"/>
                <a:gd name="adj2" fmla="val 75792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A7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  인간은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자연의 주인이고</a:t>
              </a:r>
              <a:r>
                <a:rPr lang="en-US" altLang="ko-KR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,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　자연도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결국 인간을 위해 있는 거야</a:t>
              </a:r>
              <a:r>
                <a:rPr lang="en-US" altLang="ko-KR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아무리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아름다운 나무도 인간을 위해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사용하지 않는다면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의미 없어</a:t>
              </a:r>
              <a:r>
                <a:rPr lang="en-US" altLang="ko-KR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이 나무를 우리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아파트에 심으면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주민들이 정말 좋아할 거야</a:t>
              </a:r>
              <a:r>
                <a:rPr lang="en-US" altLang="ko-KR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.</a:t>
              </a:r>
              <a:endParaRPr lang="ko-KR" altLang="en-US" sz="22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8" name="모서리가 둥근 사각형 설명선 17"/>
            <p:cNvSpPr/>
            <p:nvPr/>
          </p:nvSpPr>
          <p:spPr>
            <a:xfrm flipH="1">
              <a:off x="6953753" y="1708784"/>
              <a:ext cx="4548197" cy="2752080"/>
            </a:xfrm>
            <a:prstGeom prst="wedgeRoundRectCallout">
              <a:avLst>
                <a:gd name="adj1" fmla="val 52822"/>
                <a:gd name="adj2" fmla="val 77523"/>
                <a:gd name="adj3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00A7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   인간도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자연의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구성원으로 살아가고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있을 뿐이야</a:t>
              </a:r>
              <a:r>
                <a:rPr lang="en-US" altLang="ko-KR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인간에게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아무런 이익이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되지 않아도 나무는 그 자체로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아름답고 소중한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존재야</a:t>
              </a:r>
              <a:r>
                <a:rPr lang="en-US" altLang="ko-KR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자연의 모습을 있는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그대로 지켜 </a:t>
              </a:r>
              <a:r>
                <a:rPr lang="ko-KR" altLang="en-US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주고 싶어</a:t>
              </a:r>
              <a:r>
                <a:rPr lang="en-US" altLang="ko-KR" sz="22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.</a:t>
              </a:r>
              <a:endPara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2354109" y="1512203"/>
              <a:ext cx="646331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+mn-ea"/>
                </a:rPr>
                <a:t>서안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8904685" y="1512203"/>
              <a:ext cx="646331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+mn-ea"/>
                </a:rPr>
                <a:t>지호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 err="1" smtClean="0"/>
              <a:t>서안이와</a:t>
            </a:r>
            <a:r>
              <a:rPr lang="ko-KR" altLang="en-US" sz="2000" b="1" dirty="0" smtClean="0"/>
              <a:t> </a:t>
            </a:r>
            <a:r>
              <a:rPr lang="ko-KR" altLang="en-US" sz="2000" b="1" dirty="0"/>
              <a:t>지호가 자연을 바라보는 관점에는 어떤 차이가 있는지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서안이는 인간을 자연의 주인으로 바라보며 자연의 도구적 가치를 강조하고 있는 반면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지호는 인간을 자연의 일부로 바라보며 상호 의존과 조화를 강조하고 자연의 본래적 가치를 중시한다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</a:t>
            </a:r>
            <a:r>
              <a:rPr lang="ko-KR" altLang="en-US" sz="2000" b="1" dirty="0"/>
              <a:t>각 입장에서 상대방의 관점을 평가한 뒤 표에 정리해 보자</a:t>
            </a:r>
            <a:r>
              <a:rPr lang="en-US" altLang="ko-KR" sz="2000" b="1" dirty="0" smtClean="0"/>
              <a:t>.</a:t>
            </a:r>
            <a:endParaRPr lang="en-US" altLang="ko-KR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893260"/>
              </p:ext>
            </p:extLst>
          </p:nvPr>
        </p:nvGraphicFramePr>
        <p:xfrm>
          <a:off x="906086" y="2487244"/>
          <a:ext cx="10414377" cy="33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034">
                  <a:extLst>
                    <a:ext uri="{9D8B030D-6E8A-4147-A177-3AD203B41FA5}">
                      <a16:colId xmlns:a16="http://schemas.microsoft.com/office/drawing/2014/main" val="3697461641"/>
                    </a:ext>
                  </a:extLst>
                </a:gridCol>
                <a:gridCol w="8768343">
                  <a:extLst>
                    <a:ext uri="{9D8B030D-6E8A-4147-A177-3AD203B41FA5}">
                      <a16:colId xmlns:a16="http://schemas.microsoft.com/office/drawing/2014/main" val="1098265778"/>
                    </a:ext>
                  </a:extLst>
                </a:gridCol>
              </a:tblGrid>
              <a:tr h="7511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이름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상대방의 관점에 대한 평가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965701"/>
                  </a:ext>
                </a:extLst>
              </a:tr>
              <a:tr h="1319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서안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E8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rgbClr val="E8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550112"/>
                  </a:ext>
                </a:extLst>
              </a:tr>
              <a:tr h="1319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지호</a:t>
                      </a:r>
                      <a:endParaRPr lang="ko-KR" altLang="en-US" dirty="0"/>
                    </a:p>
                  </a:txBody>
                  <a:tcPr anchor="ctr">
                    <a:solidFill>
                      <a:srgbClr val="E8F7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solidFill>
                      <a:srgbClr val="E8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140111"/>
                  </a:ext>
                </a:extLst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2516791" y="3288376"/>
            <a:ext cx="8750614" cy="2480083"/>
            <a:chOff x="2516791" y="3288376"/>
            <a:chExt cx="8750614" cy="2480083"/>
          </a:xfrm>
        </p:grpSpPr>
        <p:sp>
          <p:nvSpPr>
            <p:cNvPr id="22" name="TextBox 21"/>
            <p:cNvSpPr txBox="1"/>
            <p:nvPr/>
          </p:nvSpPr>
          <p:spPr>
            <a:xfrm>
              <a:off x="2516791" y="3288376"/>
              <a:ext cx="875061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지호의 관점은 자연 생태계를 보전하는 데 도움이 되지만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인간의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필요와 욕구를 중시하지 않으므로 인간이 자연을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개발하여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발전하는 데 어려움을 겪을 수 있다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16791" y="4660463"/>
              <a:ext cx="875061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200" dirty="0" err="1">
                  <a:solidFill>
                    <a:srgbClr val="0070C0"/>
                  </a:solidFill>
                  <a:latin typeface="+mn-ea"/>
                </a:rPr>
                <a:t>서안이의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 관점은 인간이 더 풍요로운 삶을 사는 데 도움이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될 수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있지만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,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자연을 인간의 욕구나 필요를 위한 수단으로 </a:t>
              </a:r>
              <a:r>
                <a:rPr lang="ko-KR" altLang="en-US" sz="2200" dirty="0" smtClean="0">
                  <a:solidFill>
                    <a:srgbClr val="0070C0"/>
                  </a:solidFill>
                  <a:latin typeface="+mn-ea"/>
                </a:rPr>
                <a:t>바라보기 </a:t>
              </a:r>
              <a:r>
                <a:rPr lang="ko-KR" altLang="en-US" sz="2200" dirty="0">
                  <a:solidFill>
                    <a:srgbClr val="0070C0"/>
                  </a:solidFill>
                  <a:latin typeface="+mn-ea"/>
                </a:rPr>
                <a:t>때문에 환경 파괴의 원인이 될 수 있다</a:t>
              </a:r>
              <a:r>
                <a:rPr lang="en-US" altLang="ko-KR" sz="220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200" dirty="0">
                <a:solidFill>
                  <a:srgbClr val="0070C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19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지속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가능한 발전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지향</a:t>
            </a:r>
            <a:r>
              <a:rPr lang="en-US" altLang="ko-KR" sz="2500" b="1" dirty="0" smtClean="0">
                <a:latin typeface="+mn-ea"/>
              </a:rPr>
              <a:t/>
            </a:r>
            <a:br>
              <a:rPr lang="en-US" altLang="ko-KR" sz="2500" b="1" dirty="0" smtClean="0">
                <a:latin typeface="+mn-ea"/>
              </a:rPr>
            </a:br>
            <a:r>
              <a:rPr lang="ko-KR" altLang="en-US" sz="2400" dirty="0" smtClean="0">
                <a:latin typeface="+mn-ea"/>
              </a:rPr>
              <a:t>경제 </a:t>
            </a:r>
            <a:r>
              <a:rPr lang="ko-KR" altLang="en-US" sz="2400" dirty="0">
                <a:latin typeface="+mn-ea"/>
              </a:rPr>
              <a:t>성장과 환경 보전의 조화를 추구하는 발전을 지향해야 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인간과 자연의 조화와 공존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추구</a:t>
            </a:r>
            <a:r>
              <a:rPr lang="en-US" altLang="ko-KR" sz="2500" b="1" dirty="0" smtClean="0">
                <a:latin typeface="+mn-ea"/>
              </a:rPr>
              <a:t/>
            </a:r>
            <a:br>
              <a:rPr lang="en-US" altLang="ko-KR" sz="2500" b="1" dirty="0" smtClean="0">
                <a:latin typeface="+mn-ea"/>
              </a:rPr>
            </a:br>
            <a:r>
              <a:rPr lang="ko-KR" altLang="en-US" sz="2400" dirty="0" smtClean="0">
                <a:latin typeface="+mn-ea"/>
              </a:rPr>
              <a:t>인간의 </a:t>
            </a:r>
            <a:r>
              <a:rPr lang="ko-KR" altLang="en-US" sz="2400" dirty="0">
                <a:latin typeface="+mn-ea"/>
              </a:rPr>
              <a:t>장기적 이익과 생태계 자체의 가치 모두를 고려해야 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인간과 자연의 바람직한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</p:spTree>
    <p:extLst>
      <p:ext uri="{BB962C8B-B14F-4D97-AF65-F5344CB8AC3E}">
        <p14:creationId xmlns:p14="http://schemas.microsoft.com/office/powerpoint/2010/main" val="309243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625642" y="1831510"/>
            <a:ext cx="1051446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밀턴킨스는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생태 도시이다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생태 도시란 도시의 기능을 다하면서도 인간과 자연의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공존을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꾀하는 도시이다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사람들은 개발 이전의 자연을 보전하면서 이 도시를 새로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만들기 위해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30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년이 넘는 긴 세월 동안 노력해 왔다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그들은 주거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녹지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산업 지역으로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용도를 구분하여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개발함으로써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밀턴킨스를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인간과 자연이 조화를 이루는 도시로 만들었다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또한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태양광 에너지를 적극적으로 활용하여 화석 연료의 사용을 줄이는 등의 노력도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기울이고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 결과 도시의 절반이 공원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잔디밭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숲으로 뒤덮여 있으면서도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편의 시설까지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잘 갖추어져 있어 ‘</a:t>
            </a:r>
            <a:r>
              <a:rPr lang="ko-KR" altLang="en-US" sz="2200" u="sng" dirty="0">
                <a:latin typeface="굴림" panose="020B0600000101010101" pitchFamily="50" charset="-127"/>
                <a:ea typeface="굴림" panose="020B0600000101010101" pitchFamily="50" charset="-127"/>
              </a:rPr>
              <a:t>사람과 자연이 모두 살기 좋은 </a:t>
            </a:r>
            <a:r>
              <a:rPr lang="ko-KR" altLang="en-US" sz="2200" u="sng" dirty="0" err="1">
                <a:latin typeface="굴림" panose="020B0600000101010101" pitchFamily="50" charset="-127"/>
                <a:ea typeface="굴림" panose="020B0600000101010101" pitchFamily="50" charset="-127"/>
              </a:rPr>
              <a:t>도시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’라는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별명을 얻었다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/>
              <a:t>밀턴킨스가</a:t>
            </a:r>
            <a:r>
              <a:rPr lang="ko-KR" altLang="en-US" sz="2000" b="1" dirty="0"/>
              <a:t> 밑줄 친 부분과 같은 별명을 얻은 까닭은 무엇인지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밀턴킨스는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인간의 경제 성장과 자연 생태계의 보전을 조화롭게 추구하며 지속 가능한 발전을 실현한 생태 도시이기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</p:spTree>
    <p:extLst>
      <p:ext uri="{BB962C8B-B14F-4D97-AF65-F5344CB8AC3E}">
        <p14:creationId xmlns:p14="http://schemas.microsoft.com/office/powerpoint/2010/main" val="100378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배운 내용을 잘 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이 단원을 배우며 느낀 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인간이 자연을 바라보는 관점에 따라 환경 문제를 유발할 수도 있고 해결할 수도 있음을 느꼈다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66273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느낀 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 rot="21265256"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206598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 rot="213917">
            <a:off x="7604964" y="2854762"/>
            <a:ext cx="2889396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 rot="21265256">
            <a:off x="935916" y="2781066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인간 중심주의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68296" y="2791824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생태 중심주의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 rot="236987">
            <a:off x="7787494" y="2783912"/>
            <a:ext cx="25302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동양의 자연관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</p:spTree>
    <p:extLst>
      <p:ext uri="{BB962C8B-B14F-4D97-AF65-F5344CB8AC3E}">
        <p14:creationId xmlns:p14="http://schemas.microsoft.com/office/powerpoint/2010/main" val="415590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환경 위기에 대한 우리의 책임은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자연을 바라보는 동서양의 관점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서양의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인간 중심주의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자연이 인간의 욕구나 이익 또는 필요를 충족하기 위한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수단 </a:t>
            </a:r>
            <a:r>
              <a:rPr sz="2400" b="0">
                <a:solidFill>
                  <a:srgbClr val="262626"/>
                </a:solidFill>
              </a:rPr>
              <a:t>이라고 봄.⇨ 자연의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도구적 </a:t>
            </a:r>
            <a:r>
              <a:rPr sz="2400" b="0">
                <a:solidFill>
                  <a:srgbClr val="262626"/>
                </a:solidFill>
              </a:rPr>
              <a:t> 가치를 중시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산을 깎아 골프장을 짓자 — 쓸모가 곧 가치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생태 중심주의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: 인간을 자연의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일부 </a:t>
            </a:r>
            <a:r>
              <a:rPr sz="2400" b="0">
                <a:solidFill>
                  <a:srgbClr val="262626"/>
                </a:solidFill>
              </a:rPr>
              <a:t>로 바라보고 생태계 전체의 균형과 안정을 중시함.⇨ 자연의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본래적 </a:t>
            </a:r>
            <a:r>
              <a:rPr sz="2400" b="0">
                <a:solidFill>
                  <a:srgbClr val="262626"/>
                </a:solidFill>
              </a:rPr>
              <a:t> 가치를 강조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쓸모없어 보이는 습지도 그 자체로 지켜야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동양의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유교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인간과 자연이 조화를 이루는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천인합일 </a:t>
            </a:r>
            <a:r>
              <a:rPr sz="2400" b="0">
                <a:solidFill>
                  <a:srgbClr val="262626"/>
                </a:solidFill>
              </a:rPr>
              <a:t>의 경지를 지향함.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서양의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인간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자연이 인간의 욕구나 이익 또는 필요를 충족하기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수단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이라고 봄.⇨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중시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산을 깎아 골프장을 짓자 — 쓸모가 곧 가치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생태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: 인간을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바라보고 생태계 전체의 균형과 안정을 중시함.⇨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강조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쓸모없어 보이는 습지도 그 자체로 지켜야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동양의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유교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인간과 자연이 조화를 이루는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천인합일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경지를 지향함.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서양의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인간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자연이 인간의 욕구나 이익 또는 필요를 충족하기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이라고 봄.⇨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중시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산을 깎아 골프장을 짓자 — 쓸모가 곧 가치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생태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: 인간을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바라보고 생태계 전체의 균형과 안정을 중시함.⇨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강조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쓸모없어 보이는 습지도 그 자체로 지켜야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동양의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유교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인간과 자연이 조화를 이루는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천인합일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경지를 지향함.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서양의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인간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자연이 인간의 욕구나 이익 또는 필요를 충족하기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이라고 봄.⇨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중시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산을 깎아 골프장을 짓자 — 쓸모가 곧 가치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생태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: 인간을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바라보고 생태계 전체의 균형과 안정을 중시함.⇨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강조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쓸모없어 보이는 습지도 그 자체로 지켜야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동양의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유교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인간과 자연이 조화를 이루는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천인합일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경지를 지향함.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서양의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인간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자연이 인간의 욕구나 이익 또는 필요를 충족하기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이라고 봄.⇨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중시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산을 깎아 골프장을 짓자 — 쓸모가 곧 가치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생태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: 인간을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일부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바라보고 생태계 전체의 균형과 안정을 중시함.⇨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강조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쓸모없어 보이는 습지도 그 자체로 지켜야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동양의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유교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인간과 자연이 조화를 이루는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천인합일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경지를 지향함.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서양의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인간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자연이 인간의 욕구나 이익 또는 필요를 충족하기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이라고 봄.⇨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중시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산을 깎아 골프장을 짓자 — 쓸모가 곧 가치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생태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: 인간을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바라보고 생태계 전체의 균형과 안정을 중시함.⇨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강조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쓸모없어 보이는 습지도 그 자체로 지켜야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동양의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유교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인간과 자연이 조화를 이루는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천인합일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경지를 지향함.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서양의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인간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자연이 인간의 욕구나 이익 또는 필요를 충족하기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이라고 봄.⇨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중시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산을 깎아 골프장을 짓자 — 쓸모가 곧 가치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생태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: 인간을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바라보고 생태계 전체의 균형과 안정을 중시함.⇨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강조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쓸모없어 보이는 습지도 그 자체로 지켜야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동양의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유교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인간과 자연이 조화를 이루는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천인합일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경지를 지향함.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서양의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인간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자연이 인간의 욕구나 이익 또는 필요를 충족하기 위한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이라고 봄.⇨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중시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산을 깎아 골프장을 짓자 — 쓸모가 곧 가치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생태 중심주의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: 인간을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일부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 바라보고 생태계 전체의 균형과 안정을 중시함.⇨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강조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쓸모없어 보이는 습지도 그 자체로 지켜야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동양의 자연관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유교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인간과 자연이 조화를 이루는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천인합일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경지를 지향함.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700" b="1" dirty="0">
                <a:solidFill>
                  <a:srgbClr val="FFFF00"/>
                </a:solidFill>
                <a:latin typeface="+mn-ea"/>
              </a:rPr>
              <a:t>자연을 바라보는 동서양의 관점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불교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만물의 상호 의존성을 강조하며, 인간은 모든 생명에게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자비 </a:t>
            </a:r>
            <a:r>
              <a:rPr sz="2400" b="0">
                <a:solidFill>
                  <a:srgbClr val="262626"/>
                </a:solidFill>
              </a:rPr>
              <a:t>를 베풀고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불살생 </a:t>
            </a:r>
            <a:r>
              <a:rPr sz="2400" b="0">
                <a:solidFill>
                  <a:srgbClr val="262626"/>
                </a:solidFill>
              </a:rPr>
              <a:t>을 실천해야 한다고 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절의 방생, 벌레 한 마리도 함부로 죽이지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도가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있는 그대로의 자연이 지닌 가치를 중시하면서 자연의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순리 </a:t>
            </a:r>
            <a:r>
              <a:rPr sz="2400" b="0">
                <a:solidFill>
                  <a:srgbClr val="262626"/>
                </a:solidFill>
              </a:rPr>
              <a:t>에 따라 살아갈 것을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장자: 학의 긴 다리를 자르지 말라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만물의 상호 의존성을 강조하며, 인간은 모든 생명에게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베풀고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불살생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실천해야 한다고 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절의 방생, 벌레 한 마리도 함부로 죽이지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도가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있는 그대로의 자연이 지닌 가치를 중시하면서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순리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살아갈 것을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장자: 학의 긴 다리를 자르지 말라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만물의 상호 의존성을 강조하며, 인간은 모든 생명에게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베풀고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불살생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실천해야 한다고 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절의 방생, 벌레 한 마리도 함부로 죽이지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도가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있는 그대로의 자연이 지닌 가치를 중시하면서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순리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살아갈 것을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장자: 학의 긴 다리를 자르지 말라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만물의 상호 의존성을 강조하며, 인간은 모든 생명에게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베풀고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불살생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실천해야 한다고 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절의 방생, 벌레 한 마리도 함부로 죽이지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도가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있는 그대로의 자연이 지닌 가치를 중시하면서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순리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살아갈 것을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장자: 학의 긴 다리를 자르지 말라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만물의 상호 의존성을 강조하며, 인간은 모든 생명에게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베풀고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불살생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실천해야 한다고 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절의 방생, 벌레 한 마리도 함부로 죽이지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도가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있는 그대로의 자연이 지닌 가치를 중시하면서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순리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살아갈 것을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장자: 학의 긴 다리를 자르지 말라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불교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만물의 상호 의존성을 강조하며, 인간은 모든 생명에게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베풀고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불살생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실천해야 한다고 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절의 방생, 벌레 한 마리도 함부로 죽이지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도가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있는 그대로의 자연이 지닌 가치를 중시하면서 자연의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순리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따라 살아갈 것을 강조함.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장자: 학의 긴 다리를 자르지 말라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사상가의 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“생명 공동체의 온전함과 안정, 아름다움을 지키면 옳고 그렇지 않으면 그르다”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레오폴드, 『모래 군의 열두 달』(1949)의 뜻을 풀어 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‘대지 윤리’ — 흙, 물, 식물, 동물까지 공동체의 구성원으로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딜레마 · 나라면?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학교 뒷산 숲을 깎아 체육관을 지으려 한다. 비 오는 날에도 운동할 수 있지만, 숲의 새와 다람쥐는 살 곳을 잃는다.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 — 체육관을 짓는다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 — 숲을 지킨다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서안이와 지호라면 각각 무엇을 고를까?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학교 뒷산 숲을 깎아 체육관을 지으려 한다. 비 오는 날에도 운동할 수 있지만, 숲의 새와 다람쥐는 살 곳을 잃는다.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 — 체육관을 짓는다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 — 숲을 지킨다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서안이와 지호라면 각각 무엇을 고를까?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인간과 자연의 바람직한 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환경적으로 건전하고 지속 가능한 발전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경제 성장과 환경 보전의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조화 </a:t>
            </a:r>
            <a:r>
              <a:rPr sz="2400" b="0">
                <a:solidFill>
                  <a:srgbClr val="262626"/>
                </a:solidFill>
              </a:rPr>
              <a:t>를 추구함.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공장을 짓되 폐수 정화 시설과 태양광 지붕을 함께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자신의 욕구와 다른 사람의 욕구, 현세대와 미래 세대의 욕구를 </a:t>
            </a:r>
            <a:r>
              <a:rPr sz="1439" b="1">
                <a:solidFill>
                  <a:srgbClr val="2F6FD0"/>
                </a:solidFill>
              </a:rPr>
              <a:t>⑩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조화 </a:t>
            </a:r>
            <a:r>
              <a:rPr sz="2400" b="0">
                <a:solidFill>
                  <a:srgbClr val="262626"/>
                </a:solidFill>
              </a:rPr>
              <a:t>시키고자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우리의 할 일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인간의 장기적 이익뿐 아니라 생태계 자체의 가치를 고려하여 인간과 자연이 </a:t>
            </a:r>
            <a:r>
              <a:rPr sz="1439" b="1">
                <a:solidFill>
                  <a:srgbClr val="2F6FD0"/>
                </a:solidFill>
              </a:rPr>
              <a:t>⑪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조화 </a:t>
            </a:r>
            <a:r>
              <a:rPr sz="2400" b="0">
                <a:solidFill>
                  <a:srgbClr val="262626"/>
                </a:solidFill>
              </a:rPr>
              <a:t>를 이루고 공존할 방법을 찾아야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환경적으로 건전하고 지속 가능한 발전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경제 성장과 환경 보전의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추구함.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공장을 짓되 폐수 정화 시설과 태양광 지붕을 함께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욕구와 다른 사람의 욕구, 현세대와 미래 세대의 욕구를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시키고자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우리의 할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인간의 장기적 이익뿐 아니라 생태계 자체의 가치를 고려하여 인간과 자연이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이루고 공존할 방법을 찾아야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환경적으로 건전하고 지속 가능한 발전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경제 성장과 환경 보전의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추구함.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공장을 짓되 폐수 정화 시설과 태양광 지붕을 함께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욕구와 다른 사람의 욕구, 현세대와 미래 세대의 욕구를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시키고자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우리의 할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인간의 장기적 이익뿐 아니라 생태계 자체의 가치를 고려하여 인간과 자연이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이루고 공존할 방법을 찾아야 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환경적으로 건전하고 지속 가능한 발전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경제 성장과 환경 보전의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추구함.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공장을 짓되 폐수 정화 시설과 태양광 지붕을 함께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욕구와 다른 사람의 욕구, 현세대와 미래 세대의 욕구를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/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시키고자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우리의 할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인간의 장기적 이익뿐 아니라 생태계 자체의 가치를 고려하여 인간과 자연이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이루고 공존할 방법을 찾아야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환경적으로 건전하고 지속 가능한 발전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경제 성장과 환경 보전의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추구함.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공장을 짓되 폐수 정화 시설과 태양광 지붕을 함께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욕구와 다른 사람의 욕구, 현세대와 미래 세대의 욕구를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시키고자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우리의 할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인간의 장기적 이익뿐 아니라 생태계 자체의 가치를 고려하여 인간과 자연이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/>
                </a:solidFill>
              </a:rPr>
              <a:t> 조화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이루고 공존할 방법을 찾아야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‘자연’ 하면 떠오르는 낱말은?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😊 · 좋은 것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😟 · 걱정되는 것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🛠️ · 쓰는 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인간 중심주의는 자연의 도구적 가치를 중시한다.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자연의 본래적 가치를 중시하는 입장은 생태 중심주의이다.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만물의 상호 의존성을 강조하며, 자비와 불살생을 강조한 것은 유교이다.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환경적으로 건전하고 지속 가능한 발전은 현세대와 미래 세대의 욕구를 조화시키고자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인간 중심주의는 자연의 도구적 가치를 중시한다.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자연의 본래적 가치를 중시하는 입장은 생태 중심주의이다.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만물의 상호 의존성을 강조하며, 자비와 불살생을 강조한 것은 유교이다.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환경적으로 건전하고 지속 가능한 발전은 현세대와 미래 세대의 욕구를 조화시키고자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인간 중심주의는 자연의 도구적 가치를 중시한다.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자연의 본래적 가치를 중시하는 입장은 생태 중심주의이다.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만물의 상호 의존성을 강조하며, 자비와 불살생을 강조한 것은 유교이다.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환경적으로 건전하고 지속 가능한 발전은 현세대와 미래 세대의 욕구를 조화시키고자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인간 중심주의는 자연의 도구적 가치를 중시한다.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자연의 본래적 가치를 중시하는 입장은 생태 중심주의이다.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만물의 상호 의존성을 강조하며, 자비와 불살생을 강조한 것은 유교이다.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환경적으로 건전하고 지속 가능한 발전은 현세대와 미래 세대의 욕구를 조화시키고자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인간 중심주의는 자연의 도구적 가치를 중시한다.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자연의 본래적 가치를 중시하는 입장은 생태 중심주의이다.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만물의 상호 의존성을 강조하며, 자비와 불살생을 강조한 것은 유교이다.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환경적으로 건전하고 지속 가능한 발전은 현세대와 미래 세대의 욕구를 조화시키고자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어떤 관점일까?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/>
                </a:solidFill>
              </a:rPr>
              <a:t>어느 칸일까? 인간 중심주의 · 생태 중심주의 · 동양의 자연관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1. 자연은 인간의 필요를 채우기 위한 수단이다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(도구적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2. 동식물은 모두 인간을 위해 존재한다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(아리스토텔레스)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3. 인간은 흙·물·동식물로 이루어진 공동체의 평범한 구성원이다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(레오폴드)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4. 자연은 이익과 상관없이 그 자체로 소중하다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(본래적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5. 하늘과 사람이 하나 되는 경지를 지향한다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(유교 — 천인합일)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6. 살아 있는 생명을 함부로 죽이지 않는다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(불교 — 불살생)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/>
                </a:solidFill>
              </a:rPr>
              <a:t>7. 인위적 욕망을 버리고 자연의 순리대로 산다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(도가)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어느 칸일까? 인간 중심주의 · 생태 중심주의 · 동양의 자연관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1. 자연은 인간의 필요를 채우기 위한 수단이다</a:t>
            </a:r>
            <a:r>
              <a:rPr sz="2000" b="1">
                <a:solidFill>
                  <a:srgbClr val="C0392B"/>
                </a:solidFill>
              </a:rPr>
              <a:t>   → 인간 중심주의 (도구적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2. 동식물은 모두 인간을 위해 존재한다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(아리스토텔레스)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3. 인간은 흙·물·동식물로 이루어진 공동체의 평범한 구성원이다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(레오폴드)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4. 자연은 이익과 상관없이 그 자체로 소중하다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(본래적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5. 하늘과 사람이 하나 되는 경지를 지향한다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(유교 — 천인합일)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6. 살아 있는 생명을 함부로 죽이지 않는다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(불교 — 불살생)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7. 인위적 욕망을 버리고 자연의 순리대로 산다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(도가)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어느 칸일까? 인간 중심주의 · 생태 중심주의 · 동양의 자연관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1. 자연은 인간의 필요를 채우기 위한 수단이다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(도구적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2. 동식물은 모두 인간을 위해 존재한다</a:t>
            </a:r>
            <a:r>
              <a:rPr sz="2000" b="1">
                <a:solidFill>
                  <a:srgbClr val="C0392B"/>
                </a:solidFill>
              </a:rPr>
              <a:t>   → 인간 중심주의 (아리스토텔레스)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3. 인간은 흙·물·동식물로 이루어진 공동체의 평범한 구성원이다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(레오폴드)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4. 자연은 이익과 상관없이 그 자체로 소중하다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(본래적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5. 하늘과 사람이 하나 되는 경지를 지향한다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(유교 — 천인합일)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6. 살아 있는 생명을 함부로 죽이지 않는다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(불교 — 불살생)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7. 인위적 욕망을 버리고 자연의 순리대로 산다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(도가)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어느 칸일까? 인간 중심주의 · 생태 중심주의 · 동양의 자연관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1. 자연은 인간의 필요를 채우기 위한 수단이다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(도구적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2. 동식물은 모두 인간을 위해 존재한다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(아리스토텔레스)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3. 인간은 흙·물·동식물로 이루어진 공동체의 평범한 구성원이다</a:t>
            </a:r>
            <a:r>
              <a:rPr sz="2000" b="1">
                <a:solidFill>
                  <a:srgbClr val="C0392B"/>
                </a:solidFill>
              </a:rPr>
              <a:t>   → 생태 중심주의 (레오폴드)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4. 자연은 이익과 상관없이 그 자체로 소중하다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(본래적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5. 하늘과 사람이 하나 되는 경지를 지향한다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(유교 — 천인합일)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6. 살아 있는 생명을 함부로 죽이지 않는다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(불교 — 불살생)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7. 인위적 욕망을 버리고 자연의 순리대로 산다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(도가)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어느 칸일까? 인간 중심주의 · 생태 중심주의 · 동양의 자연관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1. 자연은 인간의 필요를 채우기 위한 수단이다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(도구적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2. 동식물은 모두 인간을 위해 존재한다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(아리스토텔레스)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3. 인간은 흙·물·동식물로 이루어진 공동체의 평범한 구성원이다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(레오폴드)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4. 자연은 이익과 상관없이 그 자체로 소중하다</a:t>
            </a:r>
            <a:r>
              <a:rPr sz="2000" b="1">
                <a:solidFill>
                  <a:srgbClr val="C0392B"/>
                </a:solidFill>
              </a:rPr>
              <a:t>   → 생태 중심주의 (본래적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5. 하늘과 사람이 하나 되는 경지를 지향한다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(유교 — 천인합일)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6. 살아 있는 생명을 함부로 죽이지 않는다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(불교 — 불살생)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7. 인위적 욕망을 버리고 자연의 순리대로 산다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(도가)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어느 칸일까? 인간 중심주의 · 생태 중심주의 · 동양의 자연관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1. 자연은 인간의 필요를 채우기 위한 수단이다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(도구적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2. 동식물은 모두 인간을 위해 존재한다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(아리스토텔레스)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3. 인간은 흙·물·동식물로 이루어진 공동체의 평범한 구성원이다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(레오폴드)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4. 자연은 이익과 상관없이 그 자체로 소중하다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(본래적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5. 하늘과 사람이 하나 되는 경지를 지향한다</a:t>
            </a:r>
            <a:r>
              <a:rPr sz="2000" b="1">
                <a:solidFill>
                  <a:srgbClr val="C0392B"/>
                </a:solidFill>
              </a:rPr>
              <a:t>   → 동양의 자연관 (유교 — 천인합일)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6. 살아 있는 생명을 함부로 죽이지 않는다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(불교 — 불살생)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7. 인위적 욕망을 버리고 자연의 순리대로 산다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(도가)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어느 칸일까? 인간 중심주의 · 생태 중심주의 · 동양의 자연관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1. 자연은 인간의 필요를 채우기 위한 수단이다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(도구적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2. 동식물은 모두 인간을 위해 존재한다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(아리스토텔레스)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3. 인간은 흙·물·동식물로 이루어진 공동체의 평범한 구성원이다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(레오폴드)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4. 자연은 이익과 상관없이 그 자체로 소중하다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(본래적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5. 하늘과 사람이 하나 되는 경지를 지향한다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(유교 — 천인합일)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6. 살아 있는 생명을 함부로 죽이지 않는다</a:t>
            </a:r>
            <a:r>
              <a:rPr sz="2000" b="1">
                <a:solidFill>
                  <a:srgbClr val="C0392B"/>
                </a:solidFill>
              </a:rPr>
              <a:t>   → 동양의 자연관 (불교 — 불살생)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7. 인위적 욕망을 버리고 자연의 순리대로 산다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(도가)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100" b="1">
                <a:solidFill>
                  <a:srgbClr val="843C0C">
                    <a:alpha val="0"/>
                  </a:srgbClr>
                </a:solidFill>
              </a:rPr>
              <a:t>어느 칸일까? 인간 중심주의 · 생태 중심주의 · 동양의 자연관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1. 자연은 인간의 필요를 채우기 위한 수단이다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(도구적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2. 동식물은 모두 인간을 위해 존재한다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인간 중심주의 (아리스토텔레스)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3. 인간은 흙·물·동식물로 이루어진 공동체의 평범한 구성원이다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(레오폴드)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4. 자연은 이익과 상관없이 그 자체로 소중하다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생태 중심주의 (본래적 가치)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5. 하늘과 사람이 하나 되는 경지를 지향한다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(유교 — 천인합일)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6. 살아 있는 생명을 함부로 죽이지 않는다</a:t>
            </a:r>
            <a:r>
              <a:rPr sz="2000" b="1">
                <a:solidFill>
                  <a:srgbClr val="C0392B">
                    <a:alpha val="0"/>
                  </a:srgbClr>
                </a:solidFill>
              </a:rPr>
              <a:t>   → 동양의 자연관 (불교 — 불살생)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100" b="0">
                <a:solidFill>
                  <a:srgbClr val="262626">
                    <a:alpha val="0"/>
                  </a:srgbClr>
                </a:solidFill>
              </a:rPr>
              <a:t>7. 인위적 욕망을 버리고 자연의 순리대로 산다</a:t>
            </a:r>
            <a:r>
              <a:rPr sz="2000" b="1">
                <a:solidFill>
                  <a:srgbClr val="C0392B"/>
                </a:solidFill>
              </a:rPr>
              <a:t>   → 동양의 자연관 (도가)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자연관은?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나의 생각은 어디쯤? 동의하는 정도에 서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“아무리 아름다운 나무도 인간이 쓰지 않으면 의미 없다”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“모기도 그 자체로 존중받아야 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“사람에게 필요하면 숲을 깎아 체육관을 지어도 된다”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서안 (인간 중심)  ① ── ② ── ③ ── ④ ── ⑤  지호 (생태 중심)   (교실 앞 줄에 서 보기)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서안과 지호의 관점 평가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205쪽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우리는 자연을 어떻게 바라보고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Ⅳ.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자연과의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인간과 자연의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지호의 입장에서 서안의 관점 평가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쓸모로만 보면 쓸모없어 보이는 생명은 함부로 다뤄진다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서안의 입장에서 지호의 관점 평가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사람의 생활에 필요한 개발까지 막을 수는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내가 찾은 공존의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나무를 옮기지 않고 아파트 쪽으로 산책길을 내어 함께 누린다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지호의 입장에서 서안의 관점 평가</a:t>
            </a:r>
            <a:r>
              <a:rPr sz="2300" b="1">
                <a:solidFill>
                  <a:srgbClr val="C0392B"/>
                </a:solidFill>
              </a:rPr>
              <a:t>   예) 쓸모로만 보면 쓸모없어 보이는 생명은 함부로 다뤄진다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서안의 입장에서 지호의 관점 평가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사람의 생활에 필요한 개발까지 막을 수는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내가 찾은 공존의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나무를 옮기지 않고 아파트 쪽으로 산책길을 내어 함께 누린다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지호의 입장에서 서안의 관점 평가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쓸모로만 보면 쓸모없어 보이는 생명은 함부로 다뤄진다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서안의 입장에서 지호의 관점 평가</a:t>
            </a:r>
            <a:r>
              <a:rPr sz="2300" b="1">
                <a:solidFill>
                  <a:srgbClr val="C0392B"/>
                </a:solidFill>
              </a:rPr>
              <a:t>   예) 사람의 생활에 필요한 개발까지 막을 수는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내가 찾은 공존의 방법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나무를 옮기지 않고 아파트 쪽으로 산책길을 내어 함께 누린다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지호의 입장에서 서안의 관점 평가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쓸모로만 보면 쓸모없어 보이는 생명은 함부로 다뤄진다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서안의 입장에서 지호의 관점 평가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사람의 생활에 필요한 개발까지 막을 수는 없다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내가 찾은 공존의 방법</a:t>
            </a:r>
            <a:r>
              <a:rPr sz="2300" b="1">
                <a:solidFill>
                  <a:srgbClr val="C0392B"/>
                </a:solidFill>
              </a:rPr>
              <a:t>   예) 나무를 옮기지 않고 아파트 쪽으로 산책길을 내어 함께 누린다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8437</TotalTime>
  <Words>904</Words>
  <Application>Microsoft Office PowerPoint</Application>
  <PresentationFormat>와이드스크린</PresentationFormat>
  <Paragraphs>159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154</cp:revision>
  <cp:lastPrinted>2024-06-05T04:53:22Z</cp:lastPrinted>
  <dcterms:created xsi:type="dcterms:W3CDTF">2023-10-31T05:50:03Z</dcterms:created>
  <dcterms:modified xsi:type="dcterms:W3CDTF">2025-01-14T05:04:24Z</dcterms:modified>
</cp:coreProperties>
</file>