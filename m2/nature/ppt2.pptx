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9.svg" ContentType="image/svg+xml"/>
  <Override PartName="/ppt/media/image59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1" r:id="rId1"/>
  </p:sldMasterIdLst>
  <p:notesMasterIdLst>
    <p:notesMasterId r:id="rId15"/>
  </p:notesMasterIdLst>
  <p:handoutMasterIdLst>
    <p:handoutMasterId r:id="rId16"/>
  </p:handoutMasterIdLst>
  <p:sldIdLst>
    <p:sldId id="393" r:id="rId2"/>
    <p:sldId id="301" r:id="rId3"/>
    <p:sldId id="258" r:id="rId4"/>
    <p:sldId id="305" r:id="rId5"/>
    <p:sldId id="400" r:id="rId28"/>
    <p:sldId id="260" r:id="rId6"/>
    <p:sldId id="394" r:id="rId22"/>
    <p:sldId id="395" r:id="rId23"/>
    <p:sldId id="396" r:id="rId24"/>
    <p:sldId id="306" r:id="rId7"/>
    <p:sldId id="270" r:id="rId8"/>
    <p:sldId id="390" r:id="rId9"/>
    <p:sldId id="397" r:id="rId25"/>
    <p:sldId id="398" r:id="rId26"/>
    <p:sldId id="399" r:id="rId27"/>
    <p:sldId id="307" r:id="rId10"/>
    <p:sldId id="389" r:id="rId11"/>
    <p:sldId id="391" r:id="rId12"/>
    <p:sldId id="392" r:id="rId13"/>
    <p:sldId id="401" r:id="rId29"/>
    <p:sldId id="402" r:id="rId30"/>
    <p:sldId id="403" r:id="rId31"/>
    <p:sldId id="404" r:id="rId32"/>
    <p:sldId id="380" r:id="rId14"/>
  </p:sldIdLst>
  <p:sldSz cx="12192000" cy="6858000"/>
  <p:notesSz cx="6769100" cy="9906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5"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FFFF00"/>
    <a:srgbClr val="D9E1E9"/>
    <a:srgbClr val="E8F6FD"/>
    <a:srgbClr val="F0FFF6"/>
    <a:srgbClr val="019BFF"/>
    <a:srgbClr val="FFF7EE"/>
    <a:srgbClr val="FFC000"/>
    <a:srgbClr val="FFF2CC"/>
    <a:srgbClr val="BD4D6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8" autoAdjust="0"/>
    <p:restoredTop sz="94607" autoAdjust="0"/>
  </p:normalViewPr>
  <p:slideViewPr>
    <p:cSldViewPr snapToGrid="0">
      <p:cViewPr varScale="1">
        <p:scale>
          <a:sx n="84" d="100"/>
          <a:sy n="84" d="100"/>
        </p:scale>
        <p:origin x="114" y="270"/>
      </p:cViewPr>
      <p:guideLst/>
    </p:cSldViewPr>
  </p:slideViewPr>
  <p:outlineViewPr>
    <p:cViewPr>
      <p:scale>
        <a:sx n="50" d="100"/>
        <a:sy n="50"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5130" y="9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34014" cy="497359"/>
          </a:xfrm>
          <a:prstGeom prst="rect">
            <a:avLst/>
          </a:prstGeom>
        </p:spPr>
        <p:txBody>
          <a:bodyPr vert="horz" lIns="91157" tIns="45578" rIns="91157" bIns="45578" rtlCol="0"/>
          <a:lstStyle>
            <a:lvl1pPr algn="l">
              <a:defRPr sz="1200"/>
            </a:lvl1pPr>
          </a:lstStyle>
          <a:p>
            <a:endParaRPr lang="ko-KR" altLang="en-US"/>
          </a:p>
        </p:txBody>
      </p:sp>
      <p:sp>
        <p:nvSpPr>
          <p:cNvPr id="3" name="날짜 개체 틀 2"/>
          <p:cNvSpPr>
            <a:spLocks noGrp="1"/>
          </p:cNvSpPr>
          <p:nvPr>
            <p:ph type="dt" sz="quarter" idx="1"/>
          </p:nvPr>
        </p:nvSpPr>
        <p:spPr>
          <a:xfrm>
            <a:off x="3833505" y="1"/>
            <a:ext cx="2934014" cy="497359"/>
          </a:xfrm>
          <a:prstGeom prst="rect">
            <a:avLst/>
          </a:prstGeom>
        </p:spPr>
        <p:txBody>
          <a:bodyPr vert="horz" lIns="91157" tIns="45578" rIns="91157" bIns="45578" rtlCol="0"/>
          <a:lstStyle>
            <a:lvl1pPr algn="r">
              <a:defRPr sz="1200"/>
            </a:lvl1pPr>
          </a:lstStyle>
          <a:p>
            <a:fld id="{4031DAFB-1D56-441C-96DA-9355E83DC247}" type="datetimeFigureOut">
              <a:rPr lang="ko-KR" altLang="en-US" smtClean="0"/>
              <a:t>2025-01-14</a:t>
            </a:fld>
            <a:endParaRPr lang="ko-KR" altLang="en-US"/>
          </a:p>
        </p:txBody>
      </p:sp>
      <p:sp>
        <p:nvSpPr>
          <p:cNvPr id="4" name="바닥글 개체 틀 3"/>
          <p:cNvSpPr>
            <a:spLocks noGrp="1"/>
          </p:cNvSpPr>
          <p:nvPr>
            <p:ph type="ftr" sz="quarter" idx="2"/>
          </p:nvPr>
        </p:nvSpPr>
        <p:spPr>
          <a:xfrm>
            <a:off x="0" y="9408641"/>
            <a:ext cx="2934014" cy="497359"/>
          </a:xfrm>
          <a:prstGeom prst="rect">
            <a:avLst/>
          </a:prstGeom>
        </p:spPr>
        <p:txBody>
          <a:bodyPr vert="horz" lIns="91157" tIns="45578" rIns="91157" bIns="45578"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33505" y="9408641"/>
            <a:ext cx="2934014" cy="497359"/>
          </a:xfrm>
          <a:prstGeom prst="rect">
            <a:avLst/>
          </a:prstGeom>
        </p:spPr>
        <p:txBody>
          <a:bodyPr vert="horz" lIns="91157" tIns="45578" rIns="91157" bIns="45578" rtlCol="0" anchor="b"/>
          <a:lstStyle>
            <a:lvl1pPr algn="r">
              <a:defRPr sz="1200"/>
            </a:lvl1pPr>
          </a:lstStyle>
          <a:p>
            <a:fld id="{67252717-B9B0-4DA0-94D8-A5D10BBAAF8D}" type="slidenum">
              <a:rPr lang="ko-KR" altLang="en-US" smtClean="0"/>
              <a:t>‹#›</a:t>
            </a:fld>
            <a:endParaRPr lang="ko-KR" altLang="en-US"/>
          </a:p>
        </p:txBody>
      </p:sp>
    </p:spTree>
    <p:extLst>
      <p:ext uri="{BB962C8B-B14F-4D97-AF65-F5344CB8AC3E}">
        <p14:creationId xmlns:p14="http://schemas.microsoft.com/office/powerpoint/2010/main" val="7494513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33277" cy="497020"/>
          </a:xfrm>
          <a:prstGeom prst="rect">
            <a:avLst/>
          </a:prstGeom>
        </p:spPr>
        <p:txBody>
          <a:bodyPr vert="horz" lIns="91157" tIns="45578" rIns="91157" bIns="45578" rtlCol="0"/>
          <a:lstStyle>
            <a:lvl1pPr algn="l">
              <a:defRPr sz="1200"/>
            </a:lvl1pPr>
          </a:lstStyle>
          <a:p>
            <a:endParaRPr lang="ko-KR" altLang="en-US"/>
          </a:p>
        </p:txBody>
      </p:sp>
      <p:sp>
        <p:nvSpPr>
          <p:cNvPr id="3" name="날짜 개체 틀 2"/>
          <p:cNvSpPr>
            <a:spLocks noGrp="1"/>
          </p:cNvSpPr>
          <p:nvPr>
            <p:ph type="dt" idx="1"/>
          </p:nvPr>
        </p:nvSpPr>
        <p:spPr>
          <a:xfrm>
            <a:off x="3834257" y="0"/>
            <a:ext cx="2933277" cy="497020"/>
          </a:xfrm>
          <a:prstGeom prst="rect">
            <a:avLst/>
          </a:prstGeom>
        </p:spPr>
        <p:txBody>
          <a:bodyPr vert="horz" lIns="91157" tIns="45578" rIns="91157" bIns="45578" rtlCol="0"/>
          <a:lstStyle>
            <a:lvl1pPr algn="r">
              <a:defRPr sz="1200"/>
            </a:lvl1pPr>
          </a:lstStyle>
          <a:p>
            <a:fld id="{81693682-E3F2-4B9F-9BFF-73488D9CBB0F}" type="datetimeFigureOut">
              <a:rPr lang="ko-KR" altLang="en-US" smtClean="0"/>
              <a:t>2025-01-14</a:t>
            </a:fld>
            <a:endParaRPr lang="ko-KR" altLang="en-US"/>
          </a:p>
        </p:txBody>
      </p:sp>
      <p:sp>
        <p:nvSpPr>
          <p:cNvPr id="4" name="슬라이드 이미지 개체 틀 3"/>
          <p:cNvSpPr>
            <a:spLocks noGrp="1" noRot="1" noChangeAspect="1"/>
          </p:cNvSpPr>
          <p:nvPr>
            <p:ph type="sldImg" idx="2"/>
          </p:nvPr>
        </p:nvSpPr>
        <p:spPr>
          <a:xfrm>
            <a:off x="412750" y="1238250"/>
            <a:ext cx="5943600" cy="3343275"/>
          </a:xfrm>
          <a:prstGeom prst="rect">
            <a:avLst/>
          </a:prstGeom>
          <a:noFill/>
          <a:ln w="12700">
            <a:solidFill>
              <a:prstClr val="black"/>
            </a:solidFill>
          </a:ln>
        </p:spPr>
        <p:txBody>
          <a:bodyPr vert="horz" lIns="91157" tIns="45578" rIns="91157" bIns="45578" rtlCol="0" anchor="ctr"/>
          <a:lstStyle/>
          <a:p>
            <a:endParaRPr lang="ko-KR" altLang="en-US"/>
          </a:p>
        </p:txBody>
      </p:sp>
      <p:sp>
        <p:nvSpPr>
          <p:cNvPr id="5" name="슬라이드 노트 개체 틀 4"/>
          <p:cNvSpPr>
            <a:spLocks noGrp="1"/>
          </p:cNvSpPr>
          <p:nvPr>
            <p:ph type="body" sz="quarter" idx="3"/>
          </p:nvPr>
        </p:nvSpPr>
        <p:spPr>
          <a:xfrm>
            <a:off x="676910" y="4767263"/>
            <a:ext cx="5415280" cy="3900488"/>
          </a:xfrm>
          <a:prstGeom prst="rect">
            <a:avLst/>
          </a:prstGeom>
        </p:spPr>
        <p:txBody>
          <a:bodyPr vert="horz" lIns="91157" tIns="45578" rIns="91157" bIns="45578"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08981"/>
            <a:ext cx="2933277" cy="497019"/>
          </a:xfrm>
          <a:prstGeom prst="rect">
            <a:avLst/>
          </a:prstGeom>
        </p:spPr>
        <p:txBody>
          <a:bodyPr vert="horz" lIns="91157" tIns="45578" rIns="91157" bIns="45578"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34257" y="9408981"/>
            <a:ext cx="2933277" cy="497019"/>
          </a:xfrm>
          <a:prstGeom prst="rect">
            <a:avLst/>
          </a:prstGeom>
        </p:spPr>
        <p:txBody>
          <a:bodyPr vert="horz" lIns="91157" tIns="45578" rIns="91157" bIns="45578" rtlCol="0" anchor="b"/>
          <a:lstStyle>
            <a:lvl1pPr algn="r">
              <a:defRPr sz="1200"/>
            </a:lvl1pPr>
          </a:lstStyle>
          <a:p>
            <a:fld id="{19946026-7D4E-45C0-8CA9-CA07BC8C2A9E}" type="slidenum">
              <a:rPr lang="ko-KR" altLang="en-US" smtClean="0"/>
              <a:t>‹#›</a:t>
            </a:fld>
            <a:endParaRPr lang="ko-KR" altLang="en-US"/>
          </a:p>
        </p:txBody>
      </p:sp>
    </p:spTree>
    <p:extLst>
      <p:ext uri="{BB962C8B-B14F-4D97-AF65-F5344CB8AC3E}">
        <p14:creationId xmlns:p14="http://schemas.microsoft.com/office/powerpoint/2010/main" val="17950878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fld id="{19946026-7D4E-45C0-8CA9-CA07BC8C2A9E}" type="slidenum">
              <a:rPr lang="ko-KR" altLang="en-US" smtClean="0"/>
              <a:t>2</a:t>
            </a:fld>
            <a:endParaRPr lang="ko-KR" altLang="en-US"/>
          </a:p>
        </p:txBody>
      </p:sp>
    </p:spTree>
    <p:extLst>
      <p:ext uri="{BB962C8B-B14F-4D97-AF65-F5344CB8AC3E}">
        <p14:creationId xmlns:p14="http://schemas.microsoft.com/office/powerpoint/2010/main" val="394255284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 위기의 모습 (210쪽)</a:t>
            </a:r>
          </a:p>
          <a:p>
            <a:r>
              <a:t>토양·해양·대기 오염, 기후 변화로 인한 해수면 상승·사막화·폭설 같은 자연재해.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미래 세대의 목소리</a:t>
            </a:r>
          </a:p>
          <a:p>
            <a:r>
              <a:t>2018년 8월 스웨덴 의회 앞 ‘기후를 위한 학교 파업’이 전 세계 청소년 ‘미래를 위한 금요일’ 운동이 되었다. 미래 세대에 대한 책임(212쪽)을 미래 세대 자신이 요구한 장면.</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나의 성찰 (212쪽)</a:t>
            </a:r>
          </a:p>
          <a:p>
            <a:r>
              <a:t>일상에서 환경 위기의 심각성을 파악하는가? 환경 위기에 대한 윤리적 책임을 느끼는가?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일곱 세대 원칙</a:t>
            </a:r>
          </a:p>
          <a:p>
            <a:r>
              <a:t>한 세대를 25년으로 잡으면 약 175년 뒤. 지금 우리가 쓰는 플라스틱 병이 바다에서 분해되는 데 수백 년이 걸린다는 점과 견주어 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플라스틱 섬 (교과서 209쪽)</a:t>
            </a:r>
          </a:p>
          <a:p>
            <a:r>
              <a:t>L. Lebreton et al., 《Scientific Reports》 8(2018). 섬이라기보다 쓰레기가 모인 바다 지역. 해류가 빙글빙글 도는 곳에 모인다. 바다에 들어간 플라스틱은 먹이 사슬을 따라 우리 식탁으로 돌아온다(221쪽).</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학생들이 손으로 ○(머리 위 동그라미) / ✕(팔 엇갈리기)를 먼저 표시한 뒤 클릭해 정답을 보여 준다. ✕ 문장은 어디를 고치면 맞는지 묻는다.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 위기의 특성을 구분하고, 아보카도 한 알의 책임을 나눠 보자.</a:t>
            </a:r>
          </a:p>
          <a:p>
            <a:r>
              <a:t>수업실 활동 화면(act.html)과 같은 활동입니다.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 위기의 특성을 구분하고, 아보카도 한 알의 책임을 나눠 보자.</a:t>
            </a:r>
          </a:p>
          <a:p>
            <a:r>
              <a:t>수업실 활동 화면(act.html)과 같은 활동입니다.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 위기의 특성을 구분하고, 아보카도 한 알의 책임을 나눠 보자.</a:t>
            </a:r>
          </a:p>
          <a:p>
            <a:r>
              <a:t>수업실 활동 화면(act.html)과 같은 활동입니다.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빈 화면">
    <p:spTree>
      <p:nvGrpSpPr>
        <p:cNvPr id="1" name=""/>
        <p:cNvGrpSpPr/>
        <p:nvPr/>
      </p:nvGrpSpPr>
      <p:grpSpPr>
        <a:xfrm>
          <a:off x="0" y="0"/>
          <a:ext cx="0" cy="0"/>
          <a:chOff x="0" y="0"/>
          <a:chExt cx="0" cy="0"/>
        </a:xfrm>
      </p:grpSpPr>
      <p:pic>
        <p:nvPicPr>
          <p:cNvPr id="13" name="그림 12" descr="만화 영화, 텍스트, 일러스트레이션, 포유류이(가) 표시된 사진&#10;&#10;자동 생성된 설명">
            <a:extLst>
              <a:ext uri="{FF2B5EF4-FFF2-40B4-BE49-F238E27FC236}">
                <a16:creationId xmlns:a16="http://schemas.microsoft.com/office/drawing/2014/main" id="{4B6BE20C-39D1-CD7C-E6AE-85543EB964C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4EDAF0A1-DD83-C282-7B69-306F2FA4B16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497664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3_빈 화면">
    <p:spTree>
      <p:nvGrpSpPr>
        <p:cNvPr id="1" name=""/>
        <p:cNvGrpSpPr/>
        <p:nvPr/>
      </p:nvGrpSpPr>
      <p:grpSpPr>
        <a:xfrm>
          <a:off x="0" y="0"/>
          <a:ext cx="0" cy="0"/>
          <a:chOff x="0" y="0"/>
          <a:chExt cx="0" cy="0"/>
        </a:xfrm>
      </p:grpSpPr>
      <p:pic>
        <p:nvPicPr>
          <p:cNvPr id="5" name="그림 4" descr="만화 영화, 텍스트, 포유류, 일러스트레이션이(가) 표시된 사진&#10;&#10;자동 생성된 설명">
            <a:extLst>
              <a:ext uri="{FF2B5EF4-FFF2-40B4-BE49-F238E27FC236}">
                <a16:creationId xmlns:a16="http://schemas.microsoft.com/office/drawing/2014/main" id="{1D5D7313-2547-35A2-9A0C-E713FE3E35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6" name="그림 5">
            <a:extLst>
              <a:ext uri="{FF2B5EF4-FFF2-40B4-BE49-F238E27FC236}">
                <a16:creationId xmlns:a16="http://schemas.microsoft.com/office/drawing/2014/main" id="{3E690F88-2FCC-757F-E2DA-8D2FA80F21D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031818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사용자 지정 레이아웃">
    <p:spTree>
      <p:nvGrpSpPr>
        <p:cNvPr id="1" name=""/>
        <p:cNvGrpSpPr/>
        <p:nvPr/>
      </p:nvGrpSpPr>
      <p:grpSpPr>
        <a:xfrm>
          <a:off x="0" y="0"/>
          <a:ext cx="0" cy="0"/>
          <a:chOff x="0" y="0"/>
          <a:chExt cx="0" cy="0"/>
        </a:xfrm>
      </p:grpSpPr>
      <p:pic>
        <p:nvPicPr>
          <p:cNvPr id="15" name="그림 14" descr="스크린샷, 텍스트, 직사각형, 디자인이(가) 표시된 사진&#10;&#10;자동 생성된 설명">
            <a:extLst>
              <a:ext uri="{FF2B5EF4-FFF2-40B4-BE49-F238E27FC236}">
                <a16:creationId xmlns:a16="http://schemas.microsoft.com/office/drawing/2014/main" id="{79DDE397-4B9A-7897-391B-8E92072A32D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5BFE4D07-CAE6-9F34-2516-D03E4E4C43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711579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pic>
        <p:nvPicPr>
          <p:cNvPr id="5" name="그림 4" descr="텍스트, 스크린샷, 직사각형, 디자인이(가) 표시된 사진&#10;&#10;자동 생성된 설명">
            <a:extLst>
              <a:ext uri="{FF2B5EF4-FFF2-40B4-BE49-F238E27FC236}">
                <a16:creationId xmlns:a16="http://schemas.microsoft.com/office/drawing/2014/main" id="{9D20E117-DECD-BF3E-BC98-6F809E44A2D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D670C504-4605-8B32-EDB9-F844853CB7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898969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659D6BB8-E0AE-AE23-C373-77D47EBD833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DF0B5473-2474-9855-1573-0667AF55F6B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838632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8740350C-D289-4CE1-8E48-DC571612E57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1303ABB4-7B2F-BF45-33F2-C5BC9D1DA5D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672703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9_사용자 지정 레이아웃">
    <p:spTree>
      <p:nvGrpSpPr>
        <p:cNvPr id="1" name=""/>
        <p:cNvGrpSpPr/>
        <p:nvPr/>
      </p:nvGrpSpPr>
      <p:grpSpPr>
        <a:xfrm>
          <a:off x="0" y="0"/>
          <a:ext cx="0" cy="0"/>
          <a:chOff x="0" y="0"/>
          <a:chExt cx="0" cy="0"/>
        </a:xfrm>
      </p:grpSpPr>
      <p:pic>
        <p:nvPicPr>
          <p:cNvPr id="3" name="그림 2" descr="스크린샷, 직사각형, 텍스트, 디자인이(가) 표시된 사진&#10;&#10;자동 생성된 설명">
            <a:extLst>
              <a:ext uri="{FF2B5EF4-FFF2-40B4-BE49-F238E27FC236}">
                <a16:creationId xmlns:a16="http://schemas.microsoft.com/office/drawing/2014/main" id="{7C97BFE2-A6A5-FD1B-5DFD-73870C4903B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032B914E-FCBF-B5E8-A986-151AECB9C92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08325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1_사용자 지정 레이아웃">
    <p:spTree>
      <p:nvGrpSpPr>
        <p:cNvPr id="1" name=""/>
        <p:cNvGrpSpPr/>
        <p:nvPr/>
      </p:nvGrpSpPr>
      <p:grpSpPr>
        <a:xfrm>
          <a:off x="0" y="0"/>
          <a:ext cx="0" cy="0"/>
          <a:chOff x="0" y="0"/>
          <a:chExt cx="0" cy="0"/>
        </a:xfrm>
      </p:grpSpPr>
      <p:pic>
        <p:nvPicPr>
          <p:cNvPr id="4" name="그림 3" descr="텍스트, 스크린샷, 직사각형, 편지이(가) 표시된 사진&#10;&#10;자동 생성된 설명">
            <a:extLst>
              <a:ext uri="{FF2B5EF4-FFF2-40B4-BE49-F238E27FC236}">
                <a16:creationId xmlns:a16="http://schemas.microsoft.com/office/drawing/2014/main" id="{53D5CF97-6651-838A-72B8-007C02DADB5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4AAC559D-9351-FFDC-5FD6-6905153F0A0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3605581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사용자 지정 레이아웃">
    <p:spTree>
      <p:nvGrpSpPr>
        <p:cNvPr id="1" name=""/>
        <p:cNvGrpSpPr/>
        <p:nvPr/>
      </p:nvGrpSpPr>
      <p:grpSpPr>
        <a:xfrm>
          <a:off x="0" y="0"/>
          <a:ext cx="0" cy="0"/>
          <a:chOff x="0" y="0"/>
          <a:chExt cx="0" cy="0"/>
        </a:xfrm>
      </p:grpSpPr>
      <p:pic>
        <p:nvPicPr>
          <p:cNvPr id="3" name="그림 2" descr="스크린샷, 직사각형, 텍스트, 디자인이(가) 표시된 사진&#10;&#10;자동 생성된 설명">
            <a:extLst>
              <a:ext uri="{FF2B5EF4-FFF2-40B4-BE49-F238E27FC236}">
                <a16:creationId xmlns:a16="http://schemas.microsoft.com/office/drawing/2014/main" id="{F4685491-DC39-99F5-D745-97CF8C22C89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A22E88B3-C40D-D6C8-98E5-A3189E28050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102210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사용자 지정 레이아웃">
    <p:spTree>
      <p:nvGrpSpPr>
        <p:cNvPr id="1" name=""/>
        <p:cNvGrpSpPr/>
        <p:nvPr/>
      </p:nvGrpSpPr>
      <p:grpSpPr>
        <a:xfrm>
          <a:off x="0" y="0"/>
          <a:ext cx="0" cy="0"/>
          <a:chOff x="0" y="0"/>
          <a:chExt cx="0" cy="0"/>
        </a:xfrm>
      </p:grpSpPr>
      <p:pic>
        <p:nvPicPr>
          <p:cNvPr id="5" name="그림 4" descr="스크린샷, 직사각형, 텍스트, 디자인이(가) 표시된 사진&#10;&#10;자동 생성된 설명">
            <a:extLst>
              <a:ext uri="{FF2B5EF4-FFF2-40B4-BE49-F238E27FC236}">
                <a16:creationId xmlns:a16="http://schemas.microsoft.com/office/drawing/2014/main" id="{85113FE1-C9FE-FBBC-67CD-6318A096D6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A09A6E09-1A97-707B-809A-4014FB600AB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290096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사용자 지정 레이아웃">
    <p:spTree>
      <p:nvGrpSpPr>
        <p:cNvPr id="1" name=""/>
        <p:cNvGrpSpPr/>
        <p:nvPr/>
      </p:nvGrpSpPr>
      <p:grpSpPr>
        <a:xfrm>
          <a:off x="0" y="0"/>
          <a:ext cx="0" cy="0"/>
          <a:chOff x="0" y="0"/>
          <a:chExt cx="0" cy="0"/>
        </a:xfrm>
      </p:grpSpPr>
      <p:pic>
        <p:nvPicPr>
          <p:cNvPr id="3" name="그림 2" descr="스크린샷, 직사각형, 텍스트, 디자인이(가) 표시된 사진&#10;&#10;자동 생성된 설명">
            <a:extLst>
              <a:ext uri="{FF2B5EF4-FFF2-40B4-BE49-F238E27FC236}">
                <a16:creationId xmlns:a16="http://schemas.microsoft.com/office/drawing/2014/main" id="{3545844E-DF85-75D7-BD93-B244F6CCE31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96F3A95A-8DF2-5BD2-C723-37F5B88913D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60179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사용자 지정 레이아웃">
    <p:spTree>
      <p:nvGrpSpPr>
        <p:cNvPr id="1" name=""/>
        <p:cNvGrpSpPr/>
        <p:nvPr/>
      </p:nvGrpSpPr>
      <p:grpSpPr>
        <a:xfrm>
          <a:off x="0" y="0"/>
          <a:ext cx="0" cy="0"/>
          <a:chOff x="0" y="0"/>
          <a:chExt cx="0" cy="0"/>
        </a:xfrm>
      </p:grpSpPr>
      <p:pic>
        <p:nvPicPr>
          <p:cNvPr id="3" name="그림 2" descr="스크린샷, 직사각형, 텍스트, 디자인이(가) 표시된 사진&#10;&#10;자동 생성된 설명">
            <a:extLst>
              <a:ext uri="{FF2B5EF4-FFF2-40B4-BE49-F238E27FC236}">
                <a16:creationId xmlns:a16="http://schemas.microsoft.com/office/drawing/2014/main" id="{383D412D-11D3-7C78-81CE-45FBA6AF138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9DAE5A3B-581F-5ABD-B276-44FF935D9CB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621849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6_사용자 지정 레이아웃">
    <p:spTree>
      <p:nvGrpSpPr>
        <p:cNvPr id="1" name=""/>
        <p:cNvGrpSpPr/>
        <p:nvPr/>
      </p:nvGrpSpPr>
      <p:grpSpPr>
        <a:xfrm>
          <a:off x="0" y="0"/>
          <a:ext cx="0" cy="0"/>
          <a:chOff x="0" y="0"/>
          <a:chExt cx="0" cy="0"/>
        </a:xfrm>
      </p:grpSpPr>
      <p:pic>
        <p:nvPicPr>
          <p:cNvPr id="3" name="그림 2" descr="스크린샷, 그린, 직사각형, 텍스트이(가) 표시된 사진&#10;&#10;자동 생성된 설명">
            <a:extLst>
              <a:ext uri="{FF2B5EF4-FFF2-40B4-BE49-F238E27FC236}">
                <a16:creationId xmlns:a16="http://schemas.microsoft.com/office/drawing/2014/main" id="{4EA3FE09-D6BA-136A-4614-F32BD02E7CF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FCF7EF85-DB54-CAFB-66DE-9A1E8C8D11A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840697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사용자 지정 레이아웃">
    <p:spTree>
      <p:nvGrpSpPr>
        <p:cNvPr id="1" name=""/>
        <p:cNvGrpSpPr/>
        <p:nvPr/>
      </p:nvGrpSpPr>
      <p:grpSpPr>
        <a:xfrm>
          <a:off x="0" y="0"/>
          <a:ext cx="0" cy="0"/>
          <a:chOff x="0" y="0"/>
          <a:chExt cx="0" cy="0"/>
        </a:xfrm>
      </p:grpSpPr>
      <p:pic>
        <p:nvPicPr>
          <p:cNvPr id="3" name="그림 2" descr="스크린샷, 디자인, 일러스트레이션이(가) 표시된 사진&#10;&#10;자동 생성된 설명">
            <a:extLst>
              <a:ext uri="{FF2B5EF4-FFF2-40B4-BE49-F238E27FC236}">
                <a16:creationId xmlns:a16="http://schemas.microsoft.com/office/drawing/2014/main" id="{4C8F362E-E92D-8BCC-BE3A-84258DFF758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5AEBDB76-96FD-D187-6815-00DF30C6FC9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938485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7A207987-66DB-1CC6-1E04-1F3F5897362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2355D5F3-8D5E-8C2C-C199-F5CF6FD2A07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302221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1417BE16-BB63-7967-43D4-86741AF1E9F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DA044351-A890-FDB9-7583-855AA966220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483634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8_사용자 지정 레이아웃">
    <p:spTree>
      <p:nvGrpSpPr>
        <p:cNvPr id="1" name=""/>
        <p:cNvGrpSpPr/>
        <p:nvPr/>
      </p:nvGrpSpPr>
      <p:grpSpPr>
        <a:xfrm>
          <a:off x="0" y="0"/>
          <a:ext cx="0" cy="0"/>
          <a:chOff x="0" y="0"/>
          <a:chExt cx="0" cy="0"/>
        </a:xfrm>
      </p:grpSpPr>
      <p:pic>
        <p:nvPicPr>
          <p:cNvPr id="3" name="그림 2" descr="텍스트, 스크린샷, 직사각형, 디자인이(가) 표시된 사진&#10;&#10;자동 생성된 설명">
            <a:extLst>
              <a:ext uri="{FF2B5EF4-FFF2-40B4-BE49-F238E27FC236}">
                <a16:creationId xmlns:a16="http://schemas.microsoft.com/office/drawing/2014/main" id="{6AF4659C-0939-651C-D60E-92EB6EF3291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860B628C-30B2-64DF-AE3D-6AC220FF494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234710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사용자 지정 레이아웃">
    <p:spTree>
      <p:nvGrpSpPr>
        <p:cNvPr id="1" name=""/>
        <p:cNvGrpSpPr/>
        <p:nvPr/>
      </p:nvGrpSpPr>
      <p:grpSpPr>
        <a:xfrm>
          <a:off x="0" y="0"/>
          <a:ext cx="0" cy="0"/>
          <a:chOff x="0" y="0"/>
          <a:chExt cx="0" cy="0"/>
        </a:xfrm>
      </p:grpSpPr>
      <p:pic>
        <p:nvPicPr>
          <p:cNvPr id="3" name="그림 2" descr="텍스트, 스크린샷, 직사각형, 디자인이(가) 표시된 사진&#10;&#10;자동 생성된 설명">
            <a:extLst>
              <a:ext uri="{FF2B5EF4-FFF2-40B4-BE49-F238E27FC236}">
                <a16:creationId xmlns:a16="http://schemas.microsoft.com/office/drawing/2014/main" id="{4F055596-133C-DA30-8333-779395D2BB2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F940701D-0BE2-313E-ECB1-2FAB4145B86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3841100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0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5EA4F655-79D0-CD56-82D5-E56187D3F27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84A60459-9AFE-1727-9FA4-8443B465226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466497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4C242F4D-242B-8EBD-16CC-7F491FD74E2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051C989B-C2C9-705D-6E3D-ED2498B8DB6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7570199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4_빈 화면">
    <p:spTree>
      <p:nvGrpSpPr>
        <p:cNvPr id="1" name=""/>
        <p:cNvGrpSpPr/>
        <p:nvPr/>
      </p:nvGrpSpPr>
      <p:grpSpPr>
        <a:xfrm>
          <a:off x="0" y="0"/>
          <a:ext cx="0" cy="0"/>
          <a:chOff x="0" y="0"/>
          <a:chExt cx="0" cy="0"/>
        </a:xfrm>
      </p:grpSpPr>
      <p:pic>
        <p:nvPicPr>
          <p:cNvPr id="13" name="그림 12" descr="만화 영화, 텍스트, 일러스트레이션, 포유류이(가) 표시된 사진&#10;&#10;자동 생성된 설명">
            <a:extLst>
              <a:ext uri="{FF2B5EF4-FFF2-40B4-BE49-F238E27FC236}">
                <a16:creationId xmlns:a16="http://schemas.microsoft.com/office/drawing/2014/main" id="{4B6BE20C-39D1-CD7C-E6AE-85543EB964C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그림 6">
            <a:extLst>
              <a:ext uri="{FF2B5EF4-FFF2-40B4-BE49-F238E27FC236}">
                <a16:creationId xmlns:a16="http://schemas.microsoft.com/office/drawing/2014/main" id="{CF26D681-0427-A46A-FB07-4635D86A39F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42548741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5_빈 화면">
    <p:spTree>
      <p:nvGrpSpPr>
        <p:cNvPr id="1" name=""/>
        <p:cNvGrpSpPr/>
        <p:nvPr/>
      </p:nvGrpSpPr>
      <p:grpSpPr>
        <a:xfrm>
          <a:off x="0" y="0"/>
          <a:ext cx="0" cy="0"/>
          <a:chOff x="0" y="0"/>
          <a:chExt cx="0" cy="0"/>
        </a:xfrm>
      </p:grpSpPr>
      <p:pic>
        <p:nvPicPr>
          <p:cNvPr id="5" name="그림 4" descr="만화 영화, 텍스트, 포유류, 일러스트레이션이(가) 표시된 사진&#10;&#10;자동 생성된 설명">
            <a:extLst>
              <a:ext uri="{FF2B5EF4-FFF2-40B4-BE49-F238E27FC236}">
                <a16:creationId xmlns:a16="http://schemas.microsoft.com/office/drawing/2014/main" id="{1D5D7313-2547-35A2-9A0C-E713FE3E35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594BDA34-CB2D-A4C2-695C-5CF0D15043E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351377085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사용자 지정 레이아웃">
    <p:spTree>
      <p:nvGrpSpPr>
        <p:cNvPr id="1" name=""/>
        <p:cNvGrpSpPr/>
        <p:nvPr/>
      </p:nvGrpSpPr>
      <p:grpSpPr>
        <a:xfrm>
          <a:off x="0" y="0"/>
          <a:ext cx="0" cy="0"/>
          <a:chOff x="0" y="0"/>
          <a:chExt cx="0" cy="0"/>
        </a:xfrm>
      </p:grpSpPr>
      <p:pic>
        <p:nvPicPr>
          <p:cNvPr id="15" name="그림 14" descr="스크린샷, 텍스트, 직사각형, 디자인이(가) 표시된 사진&#10;&#10;자동 생성된 설명">
            <a:extLst>
              <a:ext uri="{FF2B5EF4-FFF2-40B4-BE49-F238E27FC236}">
                <a16:creationId xmlns:a16="http://schemas.microsoft.com/office/drawing/2014/main" id="{79DDE397-4B9A-7897-391B-8E92072A32D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그림 2">
            <a:extLst>
              <a:ext uri="{FF2B5EF4-FFF2-40B4-BE49-F238E27FC236}">
                <a16:creationId xmlns:a16="http://schemas.microsoft.com/office/drawing/2014/main" id="{B0147B04-464C-C263-A341-A9E3D894008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9755385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사용자 지정 레이아웃">
    <p:spTree>
      <p:nvGrpSpPr>
        <p:cNvPr id="1" name=""/>
        <p:cNvGrpSpPr/>
        <p:nvPr/>
      </p:nvGrpSpPr>
      <p:grpSpPr>
        <a:xfrm>
          <a:off x="0" y="0"/>
          <a:ext cx="0" cy="0"/>
          <a:chOff x="0" y="0"/>
          <a:chExt cx="0" cy="0"/>
        </a:xfrm>
      </p:grpSpPr>
      <p:pic>
        <p:nvPicPr>
          <p:cNvPr id="5" name="그림 4" descr="텍스트, 스크린샷, 직사각형, 디자인이(가) 표시된 사진&#10;&#10;자동 생성된 설명">
            <a:extLst>
              <a:ext uri="{FF2B5EF4-FFF2-40B4-BE49-F238E27FC236}">
                <a16:creationId xmlns:a16="http://schemas.microsoft.com/office/drawing/2014/main" id="{9D20E117-DECD-BF3E-BC98-6F809E44A2D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416A7924-5F72-A178-CE74-5BA94F1D36A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7006331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659D6BB8-E0AE-AE23-C373-77D47EBD833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C7148CF2-87A1-852E-8851-487689A1D13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39154981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4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8740350C-D289-4CE1-8E48-DC571612E57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A407CE18-8E61-BD22-A4B4-14BC057B1CB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41298412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5_사용자 지정 레이아웃">
    <p:spTree>
      <p:nvGrpSpPr>
        <p:cNvPr id="1" name=""/>
        <p:cNvGrpSpPr/>
        <p:nvPr/>
      </p:nvGrpSpPr>
      <p:grpSpPr>
        <a:xfrm>
          <a:off x="0" y="0"/>
          <a:ext cx="0" cy="0"/>
          <a:chOff x="0" y="0"/>
          <a:chExt cx="0" cy="0"/>
        </a:xfrm>
      </p:grpSpPr>
      <p:pic>
        <p:nvPicPr>
          <p:cNvPr id="3" name="그림 2" descr="스크린샷, 직사각형, 텍스트, 디자인이(가) 표시된 사진&#10;&#10;자동 생성된 설명">
            <a:extLst>
              <a:ext uri="{FF2B5EF4-FFF2-40B4-BE49-F238E27FC236}">
                <a16:creationId xmlns:a16="http://schemas.microsoft.com/office/drawing/2014/main" id="{7C97BFE2-A6A5-FD1B-5DFD-73870C4903B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76690AC3-366D-8DED-8E19-B69A9C5BCB8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3398921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6_사용자 지정 레이아웃">
    <p:spTree>
      <p:nvGrpSpPr>
        <p:cNvPr id="1" name=""/>
        <p:cNvGrpSpPr/>
        <p:nvPr/>
      </p:nvGrpSpPr>
      <p:grpSpPr>
        <a:xfrm>
          <a:off x="0" y="0"/>
          <a:ext cx="0" cy="0"/>
          <a:chOff x="0" y="0"/>
          <a:chExt cx="0" cy="0"/>
        </a:xfrm>
      </p:grpSpPr>
      <p:pic>
        <p:nvPicPr>
          <p:cNvPr id="4" name="그림 3" descr="텍스트, 스크린샷, 직사각형, 편지이(가) 표시된 사진&#10;&#10;자동 생성된 설명">
            <a:extLst>
              <a:ext uri="{FF2B5EF4-FFF2-40B4-BE49-F238E27FC236}">
                <a16:creationId xmlns:a16="http://schemas.microsoft.com/office/drawing/2014/main" id="{53D5CF97-6651-838A-72B8-007C02DADB5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4A0B80FF-DFAD-059A-EFDB-5199DA791C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0868052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7_사용자 지정 레이아웃">
    <p:spTree>
      <p:nvGrpSpPr>
        <p:cNvPr id="1" name=""/>
        <p:cNvGrpSpPr/>
        <p:nvPr/>
      </p:nvGrpSpPr>
      <p:grpSpPr>
        <a:xfrm>
          <a:off x="0" y="0"/>
          <a:ext cx="0" cy="0"/>
          <a:chOff x="0" y="0"/>
          <a:chExt cx="0" cy="0"/>
        </a:xfrm>
      </p:grpSpPr>
      <p:pic>
        <p:nvPicPr>
          <p:cNvPr id="3" name="그림 2" descr="스크린샷, 직사각형, 텍스트, 디자인이(가) 표시된 사진&#10;&#10;자동 생성된 설명">
            <a:extLst>
              <a:ext uri="{FF2B5EF4-FFF2-40B4-BE49-F238E27FC236}">
                <a16:creationId xmlns:a16="http://schemas.microsoft.com/office/drawing/2014/main" id="{F4685491-DC39-99F5-D745-97CF8C22C89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9D24D40A-7A2F-4736-9669-037893A669E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2755255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사용자 지정 레이아웃">
    <p:spTree>
      <p:nvGrpSpPr>
        <p:cNvPr id="1" name=""/>
        <p:cNvGrpSpPr/>
        <p:nvPr/>
      </p:nvGrpSpPr>
      <p:grpSpPr>
        <a:xfrm>
          <a:off x="0" y="0"/>
          <a:ext cx="0" cy="0"/>
          <a:chOff x="0" y="0"/>
          <a:chExt cx="0" cy="0"/>
        </a:xfrm>
      </p:grpSpPr>
      <p:pic>
        <p:nvPicPr>
          <p:cNvPr id="5" name="그림 4" descr="스크린샷, 직사각형, 텍스트, 디자인이(가) 표시된 사진&#10;&#10;자동 생성된 설명">
            <a:extLst>
              <a:ext uri="{FF2B5EF4-FFF2-40B4-BE49-F238E27FC236}">
                <a16:creationId xmlns:a16="http://schemas.microsoft.com/office/drawing/2014/main" id="{85113FE1-C9FE-FBBC-67CD-6318A096D6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0F1719C5-84A3-9062-D9DC-011A2C13FF6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0413118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9_사용자 지정 레이아웃">
    <p:spTree>
      <p:nvGrpSpPr>
        <p:cNvPr id="1" name=""/>
        <p:cNvGrpSpPr/>
        <p:nvPr/>
      </p:nvGrpSpPr>
      <p:grpSpPr>
        <a:xfrm>
          <a:off x="0" y="0"/>
          <a:ext cx="0" cy="0"/>
          <a:chOff x="0" y="0"/>
          <a:chExt cx="0" cy="0"/>
        </a:xfrm>
      </p:grpSpPr>
      <p:pic>
        <p:nvPicPr>
          <p:cNvPr id="3" name="그림 2" descr="스크린샷, 직사각형, 텍스트, 디자인이(가) 표시된 사진&#10;&#10;자동 생성된 설명">
            <a:extLst>
              <a:ext uri="{FF2B5EF4-FFF2-40B4-BE49-F238E27FC236}">
                <a16:creationId xmlns:a16="http://schemas.microsoft.com/office/drawing/2014/main" id="{3545844E-DF85-75D7-BD93-B244F6CCE31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FA43C997-8030-A24C-CB73-83FFDB6B2D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9128130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0_사용자 지정 레이아웃">
    <p:spTree>
      <p:nvGrpSpPr>
        <p:cNvPr id="1" name=""/>
        <p:cNvGrpSpPr/>
        <p:nvPr/>
      </p:nvGrpSpPr>
      <p:grpSpPr>
        <a:xfrm>
          <a:off x="0" y="0"/>
          <a:ext cx="0" cy="0"/>
          <a:chOff x="0" y="0"/>
          <a:chExt cx="0" cy="0"/>
        </a:xfrm>
      </p:grpSpPr>
      <p:pic>
        <p:nvPicPr>
          <p:cNvPr id="3" name="그림 2" descr="스크린샷, 직사각형, 텍스트, 디자인이(가) 표시된 사진&#10;&#10;자동 생성된 설명">
            <a:extLst>
              <a:ext uri="{FF2B5EF4-FFF2-40B4-BE49-F238E27FC236}">
                <a16:creationId xmlns:a16="http://schemas.microsoft.com/office/drawing/2014/main" id="{383D412D-11D3-7C78-81CE-45FBA6AF138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FC62A8BF-7776-ABF3-5D4F-63DA1360206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41110903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1_사용자 지정 레이아웃">
    <p:spTree>
      <p:nvGrpSpPr>
        <p:cNvPr id="1" name=""/>
        <p:cNvGrpSpPr/>
        <p:nvPr/>
      </p:nvGrpSpPr>
      <p:grpSpPr>
        <a:xfrm>
          <a:off x="0" y="0"/>
          <a:ext cx="0" cy="0"/>
          <a:chOff x="0" y="0"/>
          <a:chExt cx="0" cy="0"/>
        </a:xfrm>
      </p:grpSpPr>
      <p:pic>
        <p:nvPicPr>
          <p:cNvPr id="3" name="그림 2" descr="스크린샷, 그린, 직사각형, 텍스트이(가) 표시된 사진&#10;&#10;자동 생성된 설명">
            <a:extLst>
              <a:ext uri="{FF2B5EF4-FFF2-40B4-BE49-F238E27FC236}">
                <a16:creationId xmlns:a16="http://schemas.microsoft.com/office/drawing/2014/main" id="{4EA3FE09-D6BA-136A-4614-F32BD02E7CF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9004CC13-82C5-BFF5-BEA3-0EF25E4770D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35543083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2_사용자 지정 레이아웃">
    <p:spTree>
      <p:nvGrpSpPr>
        <p:cNvPr id="1" name=""/>
        <p:cNvGrpSpPr/>
        <p:nvPr/>
      </p:nvGrpSpPr>
      <p:grpSpPr>
        <a:xfrm>
          <a:off x="0" y="0"/>
          <a:ext cx="0" cy="0"/>
          <a:chOff x="0" y="0"/>
          <a:chExt cx="0" cy="0"/>
        </a:xfrm>
      </p:grpSpPr>
      <p:pic>
        <p:nvPicPr>
          <p:cNvPr id="3" name="그림 2" descr="스크린샷, 디자인, 일러스트레이션이(가) 표시된 사진&#10;&#10;자동 생성된 설명">
            <a:extLst>
              <a:ext uri="{FF2B5EF4-FFF2-40B4-BE49-F238E27FC236}">
                <a16:creationId xmlns:a16="http://schemas.microsoft.com/office/drawing/2014/main" id="{4C8F362E-E92D-8BCC-BE3A-84258DFF758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D74EF235-5FCA-E393-B8F0-A1061E50A23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2740784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3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7A207987-66DB-1CC6-1E04-1F3F5897362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FEF8C82B-8BA1-D7E8-16F5-FB62D53795D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4953925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4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1417BE16-BB63-7967-43D4-86741AF1E9F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7BA12DC2-8E79-5EC9-8E60-4590D3D6B63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6040426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5_사용자 지정 레이아웃">
    <p:spTree>
      <p:nvGrpSpPr>
        <p:cNvPr id="1" name=""/>
        <p:cNvGrpSpPr/>
        <p:nvPr/>
      </p:nvGrpSpPr>
      <p:grpSpPr>
        <a:xfrm>
          <a:off x="0" y="0"/>
          <a:ext cx="0" cy="0"/>
          <a:chOff x="0" y="0"/>
          <a:chExt cx="0" cy="0"/>
        </a:xfrm>
      </p:grpSpPr>
      <p:pic>
        <p:nvPicPr>
          <p:cNvPr id="3" name="그림 2" descr="텍스트, 스크린샷, 직사각형, 디자인이(가) 표시된 사진&#10;&#10;자동 생성된 설명">
            <a:extLst>
              <a:ext uri="{FF2B5EF4-FFF2-40B4-BE49-F238E27FC236}">
                <a16:creationId xmlns:a16="http://schemas.microsoft.com/office/drawing/2014/main" id="{6AF4659C-0939-651C-D60E-92EB6EF3291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9ED340FE-29D6-73B5-718A-E0615034111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9793585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6_사용자 지정 레이아웃">
    <p:spTree>
      <p:nvGrpSpPr>
        <p:cNvPr id="1" name=""/>
        <p:cNvGrpSpPr/>
        <p:nvPr/>
      </p:nvGrpSpPr>
      <p:grpSpPr>
        <a:xfrm>
          <a:off x="0" y="0"/>
          <a:ext cx="0" cy="0"/>
          <a:chOff x="0" y="0"/>
          <a:chExt cx="0" cy="0"/>
        </a:xfrm>
      </p:grpSpPr>
      <p:pic>
        <p:nvPicPr>
          <p:cNvPr id="3" name="그림 2" descr="텍스트, 스크린샷, 직사각형, 디자인이(가) 표시된 사진&#10;&#10;자동 생성된 설명">
            <a:extLst>
              <a:ext uri="{FF2B5EF4-FFF2-40B4-BE49-F238E27FC236}">
                <a16:creationId xmlns:a16="http://schemas.microsoft.com/office/drawing/2014/main" id="{4F055596-133C-DA30-8333-779395D2BB2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A02B221C-1CD0-46E3-C97D-C75B3317C07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25273169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7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5EA4F655-79D0-CD56-82D5-E56187D3F27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83C37260-237C-BAA9-FEC9-761C152F749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18446794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8_사용자 지정 레이아웃">
    <p:spTree>
      <p:nvGrpSpPr>
        <p:cNvPr id="1" name=""/>
        <p:cNvGrpSpPr/>
        <p:nvPr/>
      </p:nvGrpSpPr>
      <p:grpSpPr>
        <a:xfrm>
          <a:off x="0" y="0"/>
          <a:ext cx="0" cy="0"/>
          <a:chOff x="0" y="0"/>
          <a:chExt cx="0" cy="0"/>
        </a:xfrm>
      </p:grpSpPr>
      <p:pic>
        <p:nvPicPr>
          <p:cNvPr id="3" name="그림 2" descr="스크린샷, 텍스트, 직사각형, 디자인이(가) 표시된 사진&#10;&#10;자동 생성된 설명">
            <a:extLst>
              <a:ext uri="{FF2B5EF4-FFF2-40B4-BE49-F238E27FC236}">
                <a16:creationId xmlns:a16="http://schemas.microsoft.com/office/drawing/2014/main" id="{4C242F4D-242B-8EBD-16CC-7F491FD74E2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그림 1">
            <a:extLst>
              <a:ext uri="{FF2B5EF4-FFF2-40B4-BE49-F238E27FC236}">
                <a16:creationId xmlns:a16="http://schemas.microsoft.com/office/drawing/2014/main" id="{7FB96BD6-518D-021D-8011-D8023B8A3C4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5400" y="-12701"/>
            <a:ext cx="12240000" cy="458045"/>
          </a:xfrm>
          <a:prstGeom prst="rect">
            <a:avLst/>
          </a:prstGeom>
        </p:spPr>
      </p:pic>
    </p:spTree>
    <p:extLst>
      <p:ext uri="{BB962C8B-B14F-4D97-AF65-F5344CB8AC3E}">
        <p14:creationId xmlns:p14="http://schemas.microsoft.com/office/powerpoint/2010/main" val="40406491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818DC526-1BA8-4DD2-8992-988C88BE151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640251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2392704"/>
      </p:ext>
    </p:extLst>
  </p:cSld>
  <p:clrMap bg1="lt1" tx1="dk1" bg2="lt2" tx2="dk2" accent1="accent1" accent2="accent2" accent3="accent3" accent4="accent4" accent5="accent5" accent6="accent6" hlink="hlink" folHlink="folHlink"/>
  <p:sldLayoutIdLst>
    <p:sldLayoutId id="2147484002" r:id="rId1"/>
    <p:sldLayoutId id="2147484094" r:id="rId2"/>
    <p:sldLayoutId id="2147484073" r:id="rId3"/>
    <p:sldLayoutId id="2147484074" r:id="rId4"/>
    <p:sldLayoutId id="2147484075" r:id="rId5"/>
    <p:sldLayoutId id="2147484076" r:id="rId6"/>
    <p:sldLayoutId id="2147484089" r:id="rId7"/>
    <p:sldLayoutId id="2147484091" r:id="rId8"/>
    <p:sldLayoutId id="2147484078" r:id="rId9"/>
    <p:sldLayoutId id="2147484079" r:id="rId10"/>
    <p:sldLayoutId id="2147484092" r:id="rId11"/>
    <p:sldLayoutId id="2147484093" r:id="rId12"/>
    <p:sldLayoutId id="2147484086" r:id="rId13"/>
    <p:sldLayoutId id="2147484081" r:id="rId14"/>
    <p:sldLayoutId id="2147484087" r:id="rId15"/>
    <p:sldLayoutId id="2147484082" r:id="rId16"/>
    <p:sldLayoutId id="2147484088" r:id="rId17"/>
    <p:sldLayoutId id="2147484084" r:id="rId18"/>
    <p:sldLayoutId id="2147484090" r:id="rId19"/>
    <p:sldLayoutId id="2147484085" r:id="rId20"/>
    <p:sldLayoutId id="2147484095" r:id="rId21"/>
    <p:sldLayoutId id="2147484096" r:id="rId22"/>
    <p:sldLayoutId id="2147484097" r:id="rId23"/>
    <p:sldLayoutId id="2147484098" r:id="rId24"/>
    <p:sldLayoutId id="2147484099" r:id="rId25"/>
    <p:sldLayoutId id="2147484100" r:id="rId26"/>
    <p:sldLayoutId id="2147484101" r:id="rId27"/>
    <p:sldLayoutId id="2147484102" r:id="rId28"/>
    <p:sldLayoutId id="2147484103" r:id="rId29"/>
    <p:sldLayoutId id="2147484104" r:id="rId30"/>
    <p:sldLayoutId id="2147484105" r:id="rId31"/>
    <p:sldLayoutId id="2147484106" r:id="rId32"/>
    <p:sldLayoutId id="2147484107" r:id="rId33"/>
    <p:sldLayoutId id="2147484108" r:id="rId34"/>
    <p:sldLayoutId id="2147484109" r:id="rId35"/>
    <p:sldLayoutId id="2147484110" r:id="rId36"/>
    <p:sldLayoutId id="2147484111" r:id="rId37"/>
    <p:sldLayoutId id="2147484112" r:id="rId38"/>
    <p:sldLayoutId id="2147484113" r:id="rId39"/>
    <p:sldLayoutId id="2147484114" r:id="rId40"/>
    <p:sldLayoutId id="2147484050" r:id="rId41"/>
  </p:sldLayoutIdLst>
  <p:timing>
    <p:tnLst>
      <p:par>
        <p:cTn id="1" dur="indefinite" restart="never" nodeType="tmRoot"/>
      </p:par>
    </p:tnLst>
  </p:timing>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4.png"/><Relationship Id="rId3" Type="http://schemas.openxmlformats.org/officeDocument/2006/relationships/image" Target="../media/image59.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4.png"/><Relationship Id="rId3" Type="http://schemas.openxmlformats.org/officeDocument/2006/relationships/image" Target="../media/image59.svg"/><Relationship Id="rId4" Type="http://schemas.openxmlformats.org/officeDocument/2006/relationships/image" Target="../media/image29.png"/><Relationship Id="rId5"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4.png"/><Relationship Id="rId3" Type="http://schemas.openxmlformats.org/officeDocument/2006/relationships/image" Target="../media/image59.svg"/><Relationship Id="rId4" Type="http://schemas.openxmlformats.org/officeDocument/2006/relationships/image" Target="../media/image29.png"/><Relationship Id="rId5"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33.png"/><Relationship Id="rId3" Type="http://schemas.openxmlformats.org/officeDocument/2006/relationships/image" Target="../media/image24.png"/><Relationship Id="rId4" Type="http://schemas.openxmlformats.org/officeDocument/2006/relationships/image" Target="../media/image5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4.png"/><Relationship Id="rId3" Type="http://schemas.openxmlformats.org/officeDocument/2006/relationships/image" Target="../media/image59.svg"/><Relationship Id="rId4" Type="http://schemas.openxmlformats.org/officeDocument/2006/relationships/image" Target="../media/image29.png"/><Relationship Id="rId5"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4.png"/><Relationship Id="rId3" Type="http://schemas.openxmlformats.org/officeDocument/2006/relationships/image" Target="../media/image59.svg"/><Relationship Id="rId4" Type="http://schemas.openxmlformats.org/officeDocument/2006/relationships/image" Target="../media/image29.png"/><Relationship Id="rId5"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image" Target="../media/image24.png"/><Relationship Id="rId3" Type="http://schemas.openxmlformats.org/officeDocument/2006/relationships/image" Target="../media/image590.svg"/><Relationship Id="rId4" Type="http://schemas.openxmlformats.org/officeDocument/2006/relationships/image" Target="../media/image29.png"/><Relationship Id="rId5"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1.png"/><Relationship Id="rId3" Type="http://schemas.openxmlformats.org/officeDocument/2006/relationships/image" Target="../media/image24.png"/><Relationship Id="rId4" Type="http://schemas.openxmlformats.org/officeDocument/2006/relationships/image" Target="../media/image59.svg"/><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1" name="TextBox 10">
            <a:extLst>
              <a:ext uri="{FF2B5EF4-FFF2-40B4-BE49-F238E27FC236}">
                <a16:creationId xmlns:a16="http://schemas.microsoft.com/office/drawing/2014/main" id="{F509C190-B7A2-2304-F9ED-C5C85F801E57}"/>
              </a:ext>
            </a:extLst>
          </p:cNvPr>
          <p:cNvSpPr txBox="1"/>
          <p:nvPr/>
        </p:nvSpPr>
        <p:spPr>
          <a:xfrm>
            <a:off x="11535395" y="90736"/>
            <a:ext cx="489236" cy="261610"/>
          </a:xfrm>
          <a:prstGeom prst="rect">
            <a:avLst/>
          </a:prstGeom>
          <a:noFill/>
        </p:spPr>
        <p:txBody>
          <a:bodyPr wrap="none" rtlCol="0">
            <a:spAutoFit/>
          </a:bodyPr>
          <a:lstStyle/>
          <a:p>
            <a:pPr algn="ctr"/>
            <a:r>
              <a:rPr lang="en-US" altLang="ko-KR" sz="1100" b="1" dirty="0">
                <a:solidFill>
                  <a:srgbClr val="3DB250"/>
                </a:solidFill>
                <a:latin typeface="+mj-ea"/>
                <a:ea typeface="+mj-ea"/>
              </a:rPr>
              <a:t>28</a:t>
            </a:r>
            <a:r>
              <a:rPr lang="ko-KR" altLang="en-US" sz="1100" b="1" dirty="0">
                <a:solidFill>
                  <a:srgbClr val="3DB250"/>
                </a:solidFill>
                <a:latin typeface="+mj-ea"/>
                <a:ea typeface="+mj-ea"/>
              </a:rPr>
              <a:t>쪽</a:t>
            </a:r>
          </a:p>
        </p:txBody>
      </p:sp>
      <p:sp>
        <p:nvSpPr>
          <p:cNvPr id="12" name="TextBox 11">
            <a:extLst>
              <a:ext uri="{FF2B5EF4-FFF2-40B4-BE49-F238E27FC236}">
                <a16:creationId xmlns:a16="http://schemas.microsoft.com/office/drawing/2014/main" id="{72269B94-2C83-35BC-C956-FDFEF072477E}"/>
              </a:ext>
            </a:extLst>
          </p:cNvPr>
          <p:cNvSpPr txBox="1"/>
          <p:nvPr/>
        </p:nvSpPr>
        <p:spPr>
          <a:xfrm>
            <a:off x="382725" y="703659"/>
            <a:ext cx="4264579" cy="523220"/>
          </a:xfrm>
          <a:prstGeom prst="rect">
            <a:avLst/>
          </a:prstGeom>
          <a:noFill/>
        </p:spPr>
        <p:txBody>
          <a:bodyPr wrap="square" rtlCol="0">
            <a:spAutoFit/>
          </a:bodyPr>
          <a:lstStyle/>
          <a:p>
            <a:pPr algn="ctr"/>
            <a:r>
              <a:rPr lang="en-US" altLang="ko-KR" sz="2800" b="1" dirty="0" smtClean="0">
                <a:solidFill>
                  <a:schemeClr val="bg1"/>
                </a:solidFill>
                <a:latin typeface="+mj-ea"/>
                <a:ea typeface="+mj-ea"/>
              </a:rPr>
              <a:t>1 </a:t>
            </a:r>
            <a:r>
              <a:rPr lang="ko-KR" altLang="en-US" sz="2800" b="1" dirty="0" smtClean="0">
                <a:solidFill>
                  <a:schemeClr val="bg1"/>
                </a:solidFill>
                <a:latin typeface="+mj-ea"/>
                <a:ea typeface="+mj-ea"/>
              </a:rPr>
              <a:t>인간과 자연과의 관계</a:t>
            </a:r>
            <a:endParaRPr lang="ko-KR" altLang="en-US" sz="2800" b="1" dirty="0">
              <a:solidFill>
                <a:schemeClr val="bg1"/>
              </a:solidFill>
              <a:latin typeface="+mj-ea"/>
              <a:ea typeface="+mj-ea"/>
            </a:endParaRPr>
          </a:p>
        </p:txBody>
      </p:sp>
      <p:sp>
        <p:nvSpPr>
          <p:cNvPr id="10" name="TextBox 9"/>
          <p:cNvSpPr txBox="1"/>
          <p:nvPr/>
        </p:nvSpPr>
        <p:spPr>
          <a:xfrm>
            <a:off x="1944324" y="2059691"/>
            <a:ext cx="1492716" cy="1446550"/>
          </a:xfrm>
          <a:prstGeom prst="rect">
            <a:avLst/>
          </a:prstGeom>
          <a:noFill/>
          <a:ln>
            <a:noFill/>
          </a:ln>
        </p:spPr>
        <p:txBody>
          <a:bodyPr wrap="none" rtlCol="0">
            <a:spAutoFit/>
          </a:bodyPr>
          <a:lstStyle/>
          <a:p>
            <a:r>
              <a:rPr lang="en-US" altLang="ko-KR" sz="8800" b="1" dirty="0" smtClean="0">
                <a:ln w="22225">
                  <a:noFill/>
                  <a:prstDash val="solid"/>
                </a:ln>
                <a:solidFill>
                  <a:srgbClr val="EC4C79"/>
                </a:solidFill>
                <a:latin typeface="+mj-ea"/>
                <a:ea typeface="+mj-ea"/>
              </a:rPr>
              <a:t>02</a:t>
            </a:r>
            <a:endParaRPr lang="ko-KR" altLang="en-US" sz="8800" b="1" dirty="0">
              <a:ln w="22225">
                <a:noFill/>
                <a:prstDash val="solid"/>
              </a:ln>
              <a:solidFill>
                <a:srgbClr val="EC4C79"/>
              </a:solidFill>
              <a:latin typeface="+mj-ea"/>
              <a:ea typeface="+mj-ea"/>
            </a:endParaRPr>
          </a:p>
        </p:txBody>
      </p:sp>
      <p:pic>
        <p:nvPicPr>
          <p:cNvPr id="15" name="그래픽 13">
            <a:extLst>
              <a:ext uri="{FF2B5EF4-FFF2-40B4-BE49-F238E27FC236}">
                <a16:creationId xmlns:a16="http://schemas.microsoft.com/office/drawing/2014/main" id="{35DACDE9-C2C6-6DAB-E125-F5168FF9B962}"/>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0765631" y="78580"/>
            <a:ext cx="1352551" cy="285751"/>
          </a:xfrm>
          <a:prstGeom prst="rect">
            <a:avLst/>
          </a:prstGeom>
        </p:spPr>
      </p:pic>
      <p:sp>
        <p:nvSpPr>
          <p:cNvPr id="16" name="TextBox 15"/>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17" name="TextBox 16">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p:cNvSpPr txBox="1"/>
          <p:nvPr/>
        </p:nvSpPr>
        <p:spPr>
          <a:xfrm>
            <a:off x="3437040" y="2268741"/>
            <a:ext cx="7942235" cy="1754326"/>
          </a:xfrm>
          <a:prstGeom prst="rect">
            <a:avLst/>
          </a:prstGeom>
          <a:noFill/>
        </p:spPr>
        <p:txBody>
          <a:bodyPr wrap="square" rtlCol="0">
            <a:spAutoFit/>
          </a:bodyPr>
          <a:lstStyle/>
          <a:p>
            <a:r>
              <a:rPr lang="ko-KR" altLang="en-US" sz="5400" b="1" dirty="0">
                <a:ln w="22225">
                  <a:noFill/>
                  <a:prstDash val="solid"/>
                </a:ln>
                <a:latin typeface="+mj-ea"/>
                <a:ea typeface="+mj-ea"/>
              </a:rPr>
              <a:t>환경 위기에 대한 </a:t>
            </a:r>
            <a:endParaRPr lang="en-US" altLang="ko-KR" sz="5400" b="1" dirty="0" smtClean="0">
              <a:ln w="22225">
                <a:noFill/>
                <a:prstDash val="solid"/>
              </a:ln>
              <a:latin typeface="+mj-ea"/>
              <a:ea typeface="+mj-ea"/>
            </a:endParaRPr>
          </a:p>
          <a:p>
            <a:r>
              <a:rPr lang="ko-KR" altLang="en-US" sz="5400" b="1" dirty="0" smtClean="0">
                <a:ln w="22225">
                  <a:noFill/>
                  <a:prstDash val="solid"/>
                </a:ln>
                <a:latin typeface="+mj-ea"/>
                <a:ea typeface="+mj-ea"/>
              </a:rPr>
              <a:t>우리의 책임은 </a:t>
            </a:r>
            <a:r>
              <a:rPr lang="ko-KR" altLang="en-US" sz="5400" b="1" dirty="0">
                <a:ln w="22225">
                  <a:noFill/>
                  <a:prstDash val="solid"/>
                </a:ln>
                <a:latin typeface="+mj-ea"/>
                <a:ea typeface="+mj-ea"/>
              </a:rPr>
              <a:t>무엇일까</a:t>
            </a:r>
            <a:r>
              <a:rPr lang="en-US" altLang="ko-KR" sz="5400" b="1" dirty="0">
                <a:ln w="22225">
                  <a:noFill/>
                  <a:prstDash val="solid"/>
                </a:ln>
                <a:latin typeface="+mj-ea"/>
                <a:ea typeface="+mj-ea"/>
              </a:rPr>
              <a:t>?</a:t>
            </a:r>
          </a:p>
        </p:txBody>
      </p:sp>
      <p:sp>
        <p:nvSpPr>
          <p:cNvPr id="19" name="TextBox 18">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13" name="TextBox 12">
            <a:extLst>
              <a:ext uri="{FF2B5EF4-FFF2-40B4-BE49-F238E27FC236}">
                <a16:creationId xmlns:a16="http://schemas.microsoft.com/office/drawing/2014/main" id="{9DF654BD-7BDA-01EA-D081-AF5C5DA47FBF}"/>
              </a:ext>
            </a:extLst>
          </p:cNvPr>
          <p:cNvSpPr txBox="1"/>
          <p:nvPr/>
        </p:nvSpPr>
        <p:spPr>
          <a:xfrm>
            <a:off x="1113248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Tree>
    <p:extLst>
      <p:ext uri="{BB962C8B-B14F-4D97-AF65-F5344CB8AC3E}">
        <p14:creationId xmlns:p14="http://schemas.microsoft.com/office/powerpoint/2010/main" val="38944422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그룹 21">
            <a:extLst>
              <a:ext uri="{FF2B5EF4-FFF2-40B4-BE49-F238E27FC236}">
                <a16:creationId xmlns:a16="http://schemas.microsoft.com/office/drawing/2014/main" id="{B57B4A80-0309-7BD0-AAF8-FF35B30F644B}"/>
              </a:ext>
            </a:extLst>
          </p:cNvPr>
          <p:cNvGrpSpPr/>
          <p:nvPr/>
        </p:nvGrpSpPr>
        <p:grpSpPr>
          <a:xfrm>
            <a:off x="787400" y="2933699"/>
            <a:ext cx="10293350" cy="1573773"/>
            <a:chOff x="914400" y="2362199"/>
            <a:chExt cx="10293350" cy="1573773"/>
          </a:xfrm>
        </p:grpSpPr>
        <p:sp>
          <p:nvSpPr>
            <p:cNvPr id="23" name="사각형: 둥근 모서리 22">
              <a:extLst>
                <a:ext uri="{FF2B5EF4-FFF2-40B4-BE49-F238E27FC236}">
                  <a16:creationId xmlns:a16="http://schemas.microsoft.com/office/drawing/2014/main" id="{D6561203-5AD4-D0C1-BA20-A7201ACE3939}"/>
                </a:ext>
              </a:extLst>
            </p:cNvPr>
            <p:cNvSpPr/>
            <p:nvPr/>
          </p:nvSpPr>
          <p:spPr>
            <a:xfrm>
              <a:off x="914400" y="2362199"/>
              <a:ext cx="10293350" cy="1573773"/>
            </a:xfrm>
            <a:prstGeom prst="roundRect">
              <a:avLst/>
            </a:prstGeom>
            <a:solidFill>
              <a:srgbClr val="F3F2FF"/>
            </a:solidFill>
            <a:ln>
              <a:no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dirty="0">
                <a:latin typeface="나눔스퀘어라운드 ExtraBold" panose="020B0600000101010101" pitchFamily="50" charset="-127"/>
                <a:ea typeface="나눔스퀘어라운드 ExtraBold" panose="020B0600000101010101" pitchFamily="50" charset="-127"/>
              </a:endParaRPr>
            </a:p>
          </p:txBody>
        </p:sp>
        <p:sp>
          <p:nvSpPr>
            <p:cNvPr id="24" name="타원 23">
              <a:extLst>
                <a:ext uri="{FF2B5EF4-FFF2-40B4-BE49-F238E27FC236}">
                  <a16:creationId xmlns:a16="http://schemas.microsoft.com/office/drawing/2014/main" id="{AAF1AF8C-61C0-A6D4-27A4-8B03BBAB0C4A}"/>
                </a:ext>
              </a:extLst>
            </p:cNvPr>
            <p:cNvSpPr/>
            <p:nvPr/>
          </p:nvSpPr>
          <p:spPr>
            <a:xfrm>
              <a:off x="1123950" y="2702452"/>
              <a:ext cx="106897" cy="106897"/>
            </a:xfrm>
            <a:prstGeom prst="ellipse">
              <a:avLst/>
            </a:prstGeom>
            <a:solidFill>
              <a:srgbClr val="8D7FE4"/>
            </a:solidFill>
            <a:ln>
              <a:no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a:latin typeface="나눔스퀘어라운드 ExtraBold" panose="020B0600000101010101" pitchFamily="50" charset="-127"/>
                <a:ea typeface="나눔스퀘어라운드 ExtraBold" panose="020B0600000101010101" pitchFamily="50" charset="-127"/>
              </a:endParaRPr>
            </a:p>
          </p:txBody>
        </p:sp>
      </p:grpSp>
      <p:pic>
        <p:nvPicPr>
          <p:cNvPr id="12" name="그래픽 11">
            <a:extLst>
              <a:ext uri="{FF2B5EF4-FFF2-40B4-BE49-F238E27FC236}">
                <a16:creationId xmlns:a16="http://schemas.microsoft.com/office/drawing/2014/main" id="{B49DEA9B-1154-3815-CBC5-0CC2A6AB517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5" name="TextBox 14">
            <a:extLst>
              <a:ext uri="{FF2B5EF4-FFF2-40B4-BE49-F238E27FC236}">
                <a16:creationId xmlns:a16="http://schemas.microsoft.com/office/drawing/2014/main" id="{466BC039-4F7A-8EFF-34FB-19EC1D406140}"/>
              </a:ext>
            </a:extLst>
          </p:cNvPr>
          <p:cNvSpPr txBox="1"/>
          <p:nvPr/>
        </p:nvSpPr>
        <p:spPr>
          <a:xfrm>
            <a:off x="1033314" y="671335"/>
            <a:ext cx="1524776" cy="461665"/>
          </a:xfrm>
          <a:prstGeom prst="rect">
            <a:avLst/>
          </a:prstGeom>
          <a:noFill/>
        </p:spPr>
        <p:txBody>
          <a:bodyPr wrap="none" rtlCol="0">
            <a:spAutoFit/>
          </a:bodyPr>
          <a:lstStyle/>
          <a:p>
            <a:r>
              <a:rPr lang="ko-KR" altLang="en-US" sz="2400" b="1" dirty="0">
                <a:solidFill>
                  <a:schemeClr val="bg1"/>
                </a:solidFill>
                <a:latin typeface="+mj-ea"/>
                <a:ea typeface="+mj-ea"/>
              </a:rPr>
              <a:t>학습 목표</a:t>
            </a:r>
          </a:p>
        </p:txBody>
      </p:sp>
      <p:grpSp>
        <p:nvGrpSpPr>
          <p:cNvPr id="20" name="그룹 19">
            <a:extLst>
              <a:ext uri="{FF2B5EF4-FFF2-40B4-BE49-F238E27FC236}">
                <a16:creationId xmlns:a16="http://schemas.microsoft.com/office/drawing/2014/main" id="{323387F2-F0F2-2F6D-DB56-EE32593EA49E}"/>
              </a:ext>
            </a:extLst>
          </p:cNvPr>
          <p:cNvGrpSpPr/>
          <p:nvPr/>
        </p:nvGrpSpPr>
        <p:grpSpPr>
          <a:xfrm>
            <a:off x="787400" y="1765300"/>
            <a:ext cx="10293350" cy="787400"/>
            <a:chOff x="914400" y="2362200"/>
            <a:chExt cx="10293350" cy="787400"/>
          </a:xfrm>
        </p:grpSpPr>
        <p:sp>
          <p:nvSpPr>
            <p:cNvPr id="16" name="사각형: 둥근 모서리 15">
              <a:extLst>
                <a:ext uri="{FF2B5EF4-FFF2-40B4-BE49-F238E27FC236}">
                  <a16:creationId xmlns:a16="http://schemas.microsoft.com/office/drawing/2014/main" id="{429C8124-E36A-14C4-0A75-6EEA8AF670C6}"/>
                </a:ext>
              </a:extLst>
            </p:cNvPr>
            <p:cNvSpPr/>
            <p:nvPr/>
          </p:nvSpPr>
          <p:spPr>
            <a:xfrm>
              <a:off x="914400" y="2362200"/>
              <a:ext cx="10293350" cy="787400"/>
            </a:xfrm>
            <a:prstGeom prst="roundRect">
              <a:avLst/>
            </a:prstGeom>
            <a:solidFill>
              <a:srgbClr val="F3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타원 18">
              <a:extLst>
                <a:ext uri="{FF2B5EF4-FFF2-40B4-BE49-F238E27FC236}">
                  <a16:creationId xmlns:a16="http://schemas.microsoft.com/office/drawing/2014/main" id="{5C28D4DD-371F-4568-9198-B5D58BBCD7F3}"/>
                </a:ext>
              </a:extLst>
            </p:cNvPr>
            <p:cNvSpPr/>
            <p:nvPr/>
          </p:nvSpPr>
          <p:spPr>
            <a:xfrm>
              <a:off x="1123950" y="2702452"/>
              <a:ext cx="106897" cy="106897"/>
            </a:xfrm>
            <a:prstGeom prst="ellipse">
              <a:avLst/>
            </a:prstGeom>
            <a:solidFill>
              <a:srgbClr val="8D7F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1" name="TextBox 20">
            <a:extLst>
              <a:ext uri="{FF2B5EF4-FFF2-40B4-BE49-F238E27FC236}">
                <a16:creationId xmlns:a16="http://schemas.microsoft.com/office/drawing/2014/main" id="{27938193-A932-45B4-4A78-75A57E0BE7EA}"/>
              </a:ext>
            </a:extLst>
          </p:cNvPr>
          <p:cNvSpPr txBox="1"/>
          <p:nvPr/>
        </p:nvSpPr>
        <p:spPr>
          <a:xfrm>
            <a:off x="1204394" y="1786422"/>
            <a:ext cx="9228663" cy="655372"/>
          </a:xfrm>
          <a:prstGeom prst="rect">
            <a:avLst/>
          </a:prstGeom>
          <a:noFill/>
        </p:spPr>
        <p:txBody>
          <a:bodyPr wrap="square">
            <a:spAutoFit/>
          </a:bodyPr>
          <a:lstStyle/>
          <a:p>
            <a:pPr algn="just">
              <a:lnSpc>
                <a:spcPct val="150000"/>
              </a:lnSpc>
            </a:pPr>
            <a:r>
              <a:rPr lang="ko-KR" altLang="en-US" sz="2800" b="1" dirty="0">
                <a:solidFill>
                  <a:prstClr val="black"/>
                </a:solidFill>
                <a:latin typeface="+mn-ea"/>
              </a:rPr>
              <a:t>오늘날 환경 위기의 심각성을 설명할 수 있다</a:t>
            </a:r>
            <a:r>
              <a:rPr lang="en-US" altLang="ko-KR" sz="2800" b="1" dirty="0">
                <a:solidFill>
                  <a:prstClr val="black"/>
                </a:solidFill>
                <a:latin typeface="+mn-ea"/>
              </a:rPr>
              <a:t>.</a:t>
            </a:r>
          </a:p>
        </p:txBody>
      </p:sp>
      <p:sp>
        <p:nvSpPr>
          <p:cNvPr id="25" name="TextBox 24">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7" name="TextBox 26">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29" name="TextBox 28">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30" name="TextBox 29"/>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31" name="TextBox 3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pic>
        <p:nvPicPr>
          <p:cNvPr id="33" name="그림 32" descr="만화 영화, 곰, 클립아트, 동물 피규어이(가) 표시된 사진&#10;&#10;자동 생성된 설명">
            <a:extLst>
              <a:ext uri="{FF2B5EF4-FFF2-40B4-BE49-F238E27FC236}">
                <a16:creationId xmlns:a16="http://schemas.microsoft.com/office/drawing/2014/main" id="{E0F4FC48-0C07-EF74-A58A-2F6632EE2F6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flipH="1">
            <a:off x="10071099" y="5101659"/>
            <a:ext cx="1582391" cy="1762827"/>
          </a:xfrm>
          <a:prstGeom prst="rect">
            <a:avLst/>
          </a:prstGeom>
        </p:spPr>
      </p:pic>
      <p:sp>
        <p:nvSpPr>
          <p:cNvPr id="32" name="TextBox 31">
            <a:extLst>
              <a:ext uri="{FF2B5EF4-FFF2-40B4-BE49-F238E27FC236}">
                <a16:creationId xmlns:a16="http://schemas.microsoft.com/office/drawing/2014/main" id="{27938193-A932-45B4-4A78-75A57E0BE7EA}"/>
              </a:ext>
            </a:extLst>
          </p:cNvPr>
          <p:cNvSpPr txBox="1"/>
          <p:nvPr/>
        </p:nvSpPr>
        <p:spPr>
          <a:xfrm>
            <a:off x="1204393" y="3001588"/>
            <a:ext cx="9334297" cy="1384995"/>
          </a:xfrm>
          <a:prstGeom prst="rect">
            <a:avLst/>
          </a:prstGeom>
          <a:noFill/>
        </p:spPr>
        <p:txBody>
          <a:bodyPr wrap="square">
            <a:spAutoFit/>
          </a:bodyPr>
          <a:lstStyle/>
          <a:p>
            <a:pPr algn="just">
              <a:lnSpc>
                <a:spcPct val="150000"/>
              </a:lnSpc>
            </a:pPr>
            <a:r>
              <a:rPr lang="ko-KR" altLang="en-US" sz="2800" b="1" dirty="0">
                <a:solidFill>
                  <a:prstClr val="black"/>
                </a:solidFill>
                <a:latin typeface="+mn-ea"/>
              </a:rPr>
              <a:t>오늘날 환경 위기에 대해 윤리적 책임을 다하려는 자세를 지닌다</a:t>
            </a:r>
            <a:r>
              <a:rPr lang="en-US" altLang="ko-KR" sz="2800" b="1" dirty="0">
                <a:solidFill>
                  <a:prstClr val="black"/>
                </a:solidFill>
                <a:latin typeface="+mn-ea"/>
              </a:rPr>
              <a:t>.</a:t>
            </a:r>
          </a:p>
        </p:txBody>
      </p:sp>
    </p:spTree>
    <p:extLst>
      <p:ext uri="{BB962C8B-B14F-4D97-AF65-F5344CB8AC3E}">
        <p14:creationId xmlns:p14="http://schemas.microsoft.com/office/powerpoint/2010/main" val="38010878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래픽 14">
            <a:extLst>
              <a:ext uri="{FF2B5EF4-FFF2-40B4-BE49-F238E27FC236}">
                <a16:creationId xmlns:a16="http://schemas.microsoft.com/office/drawing/2014/main" id="{98FD0005-EE86-B4E6-6D8C-80A7BEFF3B3B}"/>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6" name="TextBox 5">
            <a:extLst>
              <a:ext uri="{FF2B5EF4-FFF2-40B4-BE49-F238E27FC236}">
                <a16:creationId xmlns:a16="http://schemas.microsoft.com/office/drawing/2014/main" id="{B9B0FF09-FBC7-1FCE-CA23-911B6BD983E3}"/>
              </a:ext>
            </a:extLst>
          </p:cNvPr>
          <p:cNvSpPr txBox="1"/>
          <p:nvPr/>
        </p:nvSpPr>
        <p:spPr>
          <a:xfrm>
            <a:off x="990282" y="671335"/>
            <a:ext cx="1524776" cy="461665"/>
          </a:xfrm>
          <a:prstGeom prst="rect">
            <a:avLst/>
          </a:prstGeom>
          <a:noFill/>
        </p:spPr>
        <p:txBody>
          <a:bodyPr wrap="none" rtlCol="0">
            <a:spAutoFit/>
          </a:bodyPr>
          <a:lstStyle/>
          <a:p>
            <a:r>
              <a:rPr lang="ko-KR" altLang="en-US" sz="2400" b="1" dirty="0">
                <a:solidFill>
                  <a:schemeClr val="bg1"/>
                </a:solidFill>
                <a:latin typeface="+mj-ea"/>
                <a:ea typeface="+mj-ea"/>
              </a:rPr>
              <a:t>생각 열기</a:t>
            </a:r>
          </a:p>
        </p:txBody>
      </p:sp>
      <p:sp>
        <p:nvSpPr>
          <p:cNvPr id="19" name="TextBox 18">
            <a:extLst>
              <a:ext uri="{FF2B5EF4-FFF2-40B4-BE49-F238E27FC236}">
                <a16:creationId xmlns:a16="http://schemas.microsoft.com/office/drawing/2014/main" id="{90560433-7D7D-E53F-75DC-9920154898C5}"/>
              </a:ext>
            </a:extLst>
          </p:cNvPr>
          <p:cNvSpPr txBox="1"/>
          <p:nvPr/>
        </p:nvSpPr>
        <p:spPr>
          <a:xfrm>
            <a:off x="10161353" y="942681"/>
            <a:ext cx="595035" cy="338554"/>
          </a:xfrm>
          <a:prstGeom prst="rect">
            <a:avLst/>
          </a:prstGeom>
        </p:spPr>
        <p:txBody>
          <a:bodyPr wrap="none" rtlCol="0">
            <a:spAutoFit/>
          </a:bodyPr>
          <a:lstStyle/>
          <a:p>
            <a:r>
              <a:rPr lang="ko-KR" altLang="en-US" sz="1600" b="1" dirty="0" smtClean="0">
                <a:solidFill>
                  <a:srgbClr val="FFFF00"/>
                </a:solidFill>
                <a:latin typeface="+mj-ea"/>
                <a:ea typeface="+mj-ea"/>
              </a:rPr>
              <a:t>그림</a:t>
            </a:r>
            <a:endParaRPr lang="ko-KR" altLang="en-US" sz="1600" b="1" dirty="0">
              <a:solidFill>
                <a:srgbClr val="FFFF00"/>
              </a:solidFill>
              <a:latin typeface="+mj-ea"/>
              <a:ea typeface="+mj-ea"/>
            </a:endParaRPr>
          </a:p>
        </p:txBody>
      </p:sp>
      <p:sp>
        <p:nvSpPr>
          <p:cNvPr id="20" name="TextBox 19">
            <a:extLst>
              <a:ext uri="{FF2B5EF4-FFF2-40B4-BE49-F238E27FC236}">
                <a16:creationId xmlns:a16="http://schemas.microsoft.com/office/drawing/2014/main" id="{10124E36-C76D-F382-CB9F-DB094CA4180B}"/>
              </a:ext>
            </a:extLst>
          </p:cNvPr>
          <p:cNvSpPr txBox="1"/>
          <p:nvPr/>
        </p:nvSpPr>
        <p:spPr>
          <a:xfrm>
            <a:off x="10780890" y="936057"/>
            <a:ext cx="595035" cy="338554"/>
          </a:xfrm>
          <a:prstGeom prst="rect">
            <a:avLst/>
          </a:prstGeom>
        </p:spPr>
        <p:txBody>
          <a:bodyPr wrap="none" rtlCol="0">
            <a:spAutoFit/>
          </a:bodyPr>
          <a:lstStyle/>
          <a:p>
            <a:r>
              <a:rPr lang="ko-KR" altLang="en-US" sz="1600" b="1" dirty="0">
                <a:solidFill>
                  <a:srgbClr val="6C768E"/>
                </a:solidFill>
                <a:latin typeface="+mj-ea"/>
                <a:ea typeface="+mj-ea"/>
              </a:rPr>
              <a:t>활동</a:t>
            </a:r>
          </a:p>
        </p:txBody>
      </p:sp>
      <p:sp>
        <p:nvSpPr>
          <p:cNvPr id="18" name="TextBox 17">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22" name="TextBox 21">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24" name="TextBox 23"/>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5" name="TextBox 24">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21" name="TextBox 20">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grpSp>
        <p:nvGrpSpPr>
          <p:cNvPr id="26" name="그룹 25"/>
          <p:cNvGrpSpPr/>
          <p:nvPr/>
        </p:nvGrpSpPr>
        <p:grpSpPr>
          <a:xfrm>
            <a:off x="74815" y="1932880"/>
            <a:ext cx="11968524" cy="3638620"/>
            <a:chOff x="74815" y="1932880"/>
            <a:chExt cx="11968524" cy="3638620"/>
          </a:xfrm>
        </p:grpSpPr>
        <p:pic>
          <p:nvPicPr>
            <p:cNvPr id="28" name="그림 2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320730" y="1949615"/>
              <a:ext cx="3722609" cy="3501721"/>
            </a:xfrm>
            <a:prstGeom prst="rect">
              <a:avLst/>
            </a:prstGeom>
          </p:spPr>
        </p:pic>
        <p:pic>
          <p:nvPicPr>
            <p:cNvPr id="29" name="그림 28"/>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4815" y="2001329"/>
              <a:ext cx="3653906" cy="3570171"/>
            </a:xfrm>
            <a:prstGeom prst="rect">
              <a:avLst/>
            </a:prstGeom>
          </p:spPr>
        </p:pic>
        <p:pic>
          <p:nvPicPr>
            <p:cNvPr id="30" name="그림 29"/>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184858" y="1932880"/>
              <a:ext cx="3615542" cy="3638620"/>
            </a:xfrm>
            <a:prstGeom prst="rect">
              <a:avLst/>
            </a:prstGeom>
          </p:spPr>
        </p:pic>
        <p:sp>
          <p:nvSpPr>
            <p:cNvPr id="37" name="오른쪽 화살표 36"/>
            <p:cNvSpPr/>
            <p:nvPr/>
          </p:nvSpPr>
          <p:spPr>
            <a:xfrm>
              <a:off x="3480439" y="3426370"/>
              <a:ext cx="1040524" cy="651641"/>
            </a:xfrm>
            <a:prstGeom prst="rightArrow">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38" name="오른쪽 화살표 37"/>
            <p:cNvSpPr/>
            <p:nvPr/>
          </p:nvSpPr>
          <p:spPr>
            <a:xfrm>
              <a:off x="7628724" y="3426370"/>
              <a:ext cx="1040524" cy="651641"/>
            </a:xfrm>
            <a:prstGeom prst="rightArrow">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796235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래픽 14">
            <a:extLst>
              <a:ext uri="{FF2B5EF4-FFF2-40B4-BE49-F238E27FC236}">
                <a16:creationId xmlns:a16="http://schemas.microsoft.com/office/drawing/2014/main" id="{98FD0005-EE86-B4E6-6D8C-80A7BEFF3B3B}"/>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0765631" y="78580"/>
            <a:ext cx="1352551" cy="285751"/>
          </a:xfrm>
          <a:prstGeom prst="rect">
            <a:avLst/>
          </a:prstGeom>
        </p:spPr>
      </p:pic>
      <p:sp>
        <p:nvSpPr>
          <p:cNvPr id="6" name="TextBox 5">
            <a:extLst>
              <a:ext uri="{FF2B5EF4-FFF2-40B4-BE49-F238E27FC236}">
                <a16:creationId xmlns:a16="http://schemas.microsoft.com/office/drawing/2014/main" id="{B9B0FF09-FBC7-1FCE-CA23-911B6BD983E3}"/>
              </a:ext>
            </a:extLst>
          </p:cNvPr>
          <p:cNvSpPr txBox="1"/>
          <p:nvPr/>
        </p:nvSpPr>
        <p:spPr>
          <a:xfrm>
            <a:off x="990282" y="671335"/>
            <a:ext cx="1524776" cy="461665"/>
          </a:xfrm>
          <a:prstGeom prst="rect">
            <a:avLst/>
          </a:prstGeom>
          <a:noFill/>
        </p:spPr>
        <p:txBody>
          <a:bodyPr wrap="none" rtlCol="0">
            <a:spAutoFit/>
          </a:bodyPr>
          <a:lstStyle/>
          <a:p>
            <a:r>
              <a:rPr lang="ko-KR" altLang="en-US" sz="2400" b="1" dirty="0">
                <a:solidFill>
                  <a:schemeClr val="bg1"/>
                </a:solidFill>
                <a:latin typeface="+mj-ea"/>
                <a:ea typeface="+mj-ea"/>
              </a:rPr>
              <a:t>생각 열기</a:t>
            </a:r>
          </a:p>
        </p:txBody>
      </p:sp>
      <p:sp>
        <p:nvSpPr>
          <p:cNvPr id="19" name="TextBox 18">
            <a:extLst>
              <a:ext uri="{FF2B5EF4-FFF2-40B4-BE49-F238E27FC236}">
                <a16:creationId xmlns:a16="http://schemas.microsoft.com/office/drawing/2014/main" id="{90560433-7D7D-E53F-75DC-9920154898C5}"/>
              </a:ext>
            </a:extLst>
          </p:cNvPr>
          <p:cNvSpPr txBox="1"/>
          <p:nvPr/>
        </p:nvSpPr>
        <p:spPr>
          <a:xfrm>
            <a:off x="10161353" y="942681"/>
            <a:ext cx="595035" cy="338554"/>
          </a:xfrm>
          <a:prstGeom prst="rect">
            <a:avLst/>
          </a:prstGeom>
        </p:spPr>
        <p:txBody>
          <a:bodyPr wrap="none" rtlCol="0">
            <a:spAutoFit/>
          </a:bodyPr>
          <a:lstStyle/>
          <a:p>
            <a:r>
              <a:rPr lang="ko-KR" altLang="en-US" sz="1600" b="1" dirty="0" smtClean="0">
                <a:solidFill>
                  <a:schemeClr val="bg1">
                    <a:lumMod val="50000"/>
                  </a:schemeClr>
                </a:solidFill>
                <a:latin typeface="+mj-ea"/>
                <a:ea typeface="+mj-ea"/>
              </a:rPr>
              <a:t>그림</a:t>
            </a:r>
            <a:endParaRPr lang="ko-KR" altLang="en-US" sz="1600" b="1" dirty="0">
              <a:solidFill>
                <a:schemeClr val="bg1">
                  <a:lumMod val="50000"/>
                </a:schemeClr>
              </a:solidFill>
              <a:latin typeface="+mj-ea"/>
              <a:ea typeface="+mj-ea"/>
            </a:endParaRPr>
          </a:p>
        </p:txBody>
      </p:sp>
      <p:sp>
        <p:nvSpPr>
          <p:cNvPr id="20" name="TextBox 19">
            <a:extLst>
              <a:ext uri="{FF2B5EF4-FFF2-40B4-BE49-F238E27FC236}">
                <a16:creationId xmlns:a16="http://schemas.microsoft.com/office/drawing/2014/main" id="{10124E36-C76D-F382-CB9F-DB094CA4180B}"/>
              </a:ext>
            </a:extLst>
          </p:cNvPr>
          <p:cNvSpPr txBox="1"/>
          <p:nvPr/>
        </p:nvSpPr>
        <p:spPr>
          <a:xfrm>
            <a:off x="10780890" y="936057"/>
            <a:ext cx="595035" cy="338554"/>
          </a:xfrm>
          <a:prstGeom prst="rect">
            <a:avLst/>
          </a:prstGeom>
        </p:spPr>
        <p:txBody>
          <a:bodyPr wrap="none" rtlCol="0">
            <a:spAutoFit/>
          </a:bodyPr>
          <a:lstStyle/>
          <a:p>
            <a:r>
              <a:rPr lang="ko-KR" altLang="en-US" sz="1600" b="1" dirty="0">
                <a:solidFill>
                  <a:srgbClr val="FFFF00"/>
                </a:solidFill>
                <a:latin typeface="+mj-ea"/>
                <a:ea typeface="+mj-ea"/>
              </a:rPr>
              <a:t>활동</a:t>
            </a:r>
          </a:p>
        </p:txBody>
      </p:sp>
      <p:sp>
        <p:nvSpPr>
          <p:cNvPr id="18" name="TextBox 17">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22" name="TextBox 21">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23" name="사각형: 둥근 모서리 29">
            <a:extLst>
              <a:ext uri="{FF2B5EF4-FFF2-40B4-BE49-F238E27FC236}">
                <a16:creationId xmlns:a16="http://schemas.microsoft.com/office/drawing/2014/main" id="{C631BC03-B762-9123-7FD1-0A60290B94EB}"/>
              </a:ext>
            </a:extLst>
          </p:cNvPr>
          <p:cNvSpPr/>
          <p:nvPr/>
        </p:nvSpPr>
        <p:spPr>
          <a:xfrm>
            <a:off x="787400" y="2967415"/>
            <a:ext cx="10293350" cy="2174739"/>
          </a:xfrm>
          <a:prstGeom prst="roundRect">
            <a:avLst>
              <a:gd name="adj" fmla="val 8608"/>
            </a:avLst>
          </a:prstGeom>
          <a:solidFill>
            <a:srgbClr val="F3F2FF"/>
          </a:solidFill>
          <a:ln>
            <a:no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dirty="0">
              <a:latin typeface="나눔스퀘어라운드 ExtraBold" panose="020B0600000101010101" pitchFamily="50" charset="-127"/>
              <a:ea typeface="나눔스퀘어라운드 ExtraBold" panose="020B0600000101010101" pitchFamily="50" charset="-127"/>
            </a:endParaRPr>
          </a:p>
        </p:txBody>
      </p:sp>
      <p:sp>
        <p:nvSpPr>
          <p:cNvPr id="24" name="TextBox 23"/>
          <p:cNvSpPr txBox="1"/>
          <p:nvPr/>
        </p:nvSpPr>
        <p:spPr>
          <a:xfrm>
            <a:off x="1065588" y="2966915"/>
            <a:ext cx="9784141" cy="1128963"/>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ko-KR" altLang="en-US" sz="2400" dirty="0">
                <a:solidFill>
                  <a:srgbClr val="0070C0"/>
                </a:solidFill>
                <a:latin typeface="+mn-ea"/>
              </a:rPr>
              <a:t>일상에서 편의를 위해 플라스틱을 많이 사용하기 때문이다</a:t>
            </a:r>
            <a:r>
              <a:rPr lang="en-US" altLang="ko-KR" sz="2400" dirty="0">
                <a:solidFill>
                  <a:srgbClr val="0070C0"/>
                </a:solidFill>
                <a:latin typeface="+mn-ea"/>
              </a:rPr>
              <a:t>.</a:t>
            </a:r>
          </a:p>
          <a:p>
            <a:pPr marL="342900" indent="-342900" algn="just">
              <a:lnSpc>
                <a:spcPct val="150000"/>
              </a:lnSpc>
              <a:buFont typeface="Arial" panose="020B0604020202020204" pitchFamily="34" charset="0"/>
              <a:buChar char="•"/>
            </a:pPr>
            <a:r>
              <a:rPr lang="ko-KR" altLang="en-US" sz="2400" dirty="0" smtClean="0">
                <a:solidFill>
                  <a:srgbClr val="0070C0"/>
                </a:solidFill>
                <a:latin typeface="+mn-ea"/>
              </a:rPr>
              <a:t>플라스틱을 </a:t>
            </a:r>
            <a:r>
              <a:rPr lang="ko-KR" altLang="en-US" sz="2400" dirty="0">
                <a:solidFill>
                  <a:srgbClr val="0070C0"/>
                </a:solidFill>
                <a:latin typeface="+mn-ea"/>
              </a:rPr>
              <a:t>제대로 분리배출하지 않고 함부로 버렸기 때문이다</a:t>
            </a:r>
            <a:r>
              <a:rPr lang="en-US" altLang="ko-KR" sz="2400" dirty="0">
                <a:solidFill>
                  <a:srgbClr val="0070C0"/>
                </a:solidFill>
                <a:latin typeface="+mn-ea"/>
              </a:rPr>
              <a:t>.</a:t>
            </a:r>
          </a:p>
        </p:txBody>
      </p:sp>
      <p:sp>
        <p:nvSpPr>
          <p:cNvPr id="25" name="TextBox 24"/>
          <p:cNvSpPr txBox="1"/>
          <p:nvPr/>
        </p:nvSpPr>
        <p:spPr>
          <a:xfrm>
            <a:off x="787400" y="1613182"/>
            <a:ext cx="10239105" cy="494494"/>
          </a:xfrm>
          <a:prstGeom prst="rect">
            <a:avLst/>
          </a:prstGeom>
          <a:noFill/>
        </p:spPr>
        <p:txBody>
          <a:bodyPr wrap="square" rtlCol="0">
            <a:spAutoFit/>
          </a:bodyPr>
          <a:lstStyle/>
          <a:p>
            <a:pPr algn="just">
              <a:lnSpc>
                <a:spcPct val="150000"/>
              </a:lnSpc>
            </a:pPr>
            <a:r>
              <a:rPr lang="ko-KR" altLang="en-US" sz="2000" b="1" dirty="0"/>
              <a:t>다음 그림을 보고 태평양에 ‘플라스틱 </a:t>
            </a:r>
            <a:r>
              <a:rPr lang="ko-KR" altLang="en-US" sz="2000" b="1" dirty="0" err="1"/>
              <a:t>섬’이</a:t>
            </a:r>
            <a:r>
              <a:rPr lang="ko-KR" altLang="en-US" sz="2000" b="1" dirty="0"/>
              <a:t> 생긴 까닭은 무엇인지 써 보자</a:t>
            </a:r>
            <a:r>
              <a:rPr lang="en-US" altLang="ko-KR" sz="2000" b="1" dirty="0"/>
              <a:t>.</a:t>
            </a:r>
          </a:p>
        </p:txBody>
      </p:sp>
      <p:pic>
        <p:nvPicPr>
          <p:cNvPr id="26" name="그림 25" descr="원, 다채로움, 그래픽, 상징이(가) 표시된 사진&#10;&#10;자동 생성된 설명">
            <a:extLst>
              <a:ext uri="{FF2B5EF4-FFF2-40B4-BE49-F238E27FC236}">
                <a16:creationId xmlns:a16="http://schemas.microsoft.com/office/drawing/2014/main" id="{C65C2315-1DF8-2619-956A-0B81C39746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551787" y="2379489"/>
            <a:ext cx="487174" cy="487174"/>
          </a:xfrm>
          <a:prstGeom prst="rect">
            <a:avLst/>
          </a:prstGeom>
        </p:spPr>
      </p:pic>
      <p:grpSp>
        <p:nvGrpSpPr>
          <p:cNvPr id="27" name="그룹 26">
            <a:extLst>
              <a:ext uri="{FF2B5EF4-FFF2-40B4-BE49-F238E27FC236}">
                <a16:creationId xmlns:a16="http://schemas.microsoft.com/office/drawing/2014/main" id="{BD8F7919-81BA-4F6C-659C-1ECE98A49C77}"/>
              </a:ext>
            </a:extLst>
          </p:cNvPr>
          <p:cNvGrpSpPr/>
          <p:nvPr/>
        </p:nvGrpSpPr>
        <p:grpSpPr>
          <a:xfrm>
            <a:off x="9434311" y="2379489"/>
            <a:ext cx="1087577" cy="495431"/>
            <a:chOff x="10075659" y="2003022"/>
            <a:chExt cx="1156006" cy="495431"/>
          </a:xfrm>
        </p:grpSpPr>
        <p:pic>
          <p:nvPicPr>
            <p:cNvPr id="31" name="그림 30" descr="그린, 다채로움, 스크린샷이(가) 표시된 사진&#10;&#10;자동 생성된 설명">
              <a:extLst>
                <a:ext uri="{FF2B5EF4-FFF2-40B4-BE49-F238E27FC236}">
                  <a16:creationId xmlns:a16="http://schemas.microsoft.com/office/drawing/2014/main" id="{ADA002ED-8D7B-65CA-D44C-3A927828DAB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075659" y="2003022"/>
              <a:ext cx="1156006" cy="495431"/>
            </a:xfrm>
            <a:prstGeom prst="rect">
              <a:avLst/>
            </a:prstGeom>
          </p:spPr>
        </p:pic>
        <p:sp>
          <p:nvSpPr>
            <p:cNvPr id="32" name="TextBox 31">
              <a:extLst>
                <a:ext uri="{FF2B5EF4-FFF2-40B4-BE49-F238E27FC236}">
                  <a16:creationId xmlns:a16="http://schemas.microsoft.com/office/drawing/2014/main" id="{492508EF-5B45-FCB1-63DF-BCFA304E8F7C}"/>
                </a:ext>
              </a:extLst>
            </p:cNvPr>
            <p:cNvSpPr txBox="1"/>
            <p:nvPr/>
          </p:nvSpPr>
          <p:spPr>
            <a:xfrm>
              <a:off x="10156818" y="2052992"/>
              <a:ext cx="938077" cy="369332"/>
            </a:xfrm>
            <a:prstGeom prst="rect">
              <a:avLst/>
            </a:prstGeom>
            <a:noFill/>
          </p:spPr>
          <p:txBody>
            <a:bodyPr wrap="none" rtlCol="0">
              <a:spAutoFit/>
            </a:bodyPr>
            <a:lstStyle/>
            <a:p>
              <a:r>
                <a:rPr lang="ko-KR" altLang="en-US" b="1" dirty="0" smtClean="0">
                  <a:solidFill>
                    <a:schemeClr val="bg1"/>
                  </a:solidFill>
                  <a:latin typeface="굴림" panose="020B0600000101010101" pitchFamily="50" charset="-127"/>
                  <a:ea typeface="굴림" panose="020B0600000101010101" pitchFamily="50" charset="-127"/>
                </a:rPr>
                <a:t>예시 답</a:t>
              </a:r>
              <a:endParaRPr lang="ko-KR" altLang="en-US" b="1" dirty="0">
                <a:solidFill>
                  <a:schemeClr val="bg1"/>
                </a:solidFill>
                <a:latin typeface="굴림" panose="020B0600000101010101" pitchFamily="50" charset="-127"/>
                <a:ea typeface="굴림" panose="020B0600000101010101" pitchFamily="50" charset="-127"/>
              </a:endParaRPr>
            </a:p>
          </p:txBody>
        </p:sp>
      </p:grpSp>
      <p:sp>
        <p:nvSpPr>
          <p:cNvPr id="33" name="TextBox 3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34" name="TextBox 33">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28" name="TextBox 2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Tree>
    <p:extLst>
      <p:ext uri="{BB962C8B-B14F-4D97-AF65-F5344CB8AC3E}">
        <p14:creationId xmlns:p14="http://schemas.microsoft.com/office/powerpoint/2010/main" val="13293339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nextCondLst>
                <p:cond evt="onClick" delay="0">
                  <p:tgtEl>
                    <p:spTgt spid="27"/>
                  </p:tgtEl>
                </p:cond>
              </p:nextCondLst>
            </p:seq>
            <p:seq concurrent="1" nextAc="seek">
              <p:cTn id="7" restart="whenNotActive" fill="hold" evtFilter="cancelBubble" nodeType="interactiveSeq">
                <p:stCondLst>
                  <p:cond evt="onClick" delay="0">
                    <p:tgtEl>
                      <p:spTgt spid="26"/>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6"/>
                  </p:tgtEl>
                </p:cond>
              </p:nextCondLst>
            </p:seq>
          </p:childTnLst>
        </p:cTn>
      </p:par>
    </p:tnLst>
    <p:bldLst>
      <p:bldP spid="24" grpId="0"/>
      <p:bldP spid="2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square" rtlCol="0">
            <a:spAutoFit/>
          </a:bodyPr>
          <a:lstStyle/>
          <a:p>
            <a:pPr algn="ctr"/>
            <a:r>
              <a:rPr lang="ko-KR" altLang="en-US" sz="2400" b="1" dirty="0">
                <a:solidFill>
                  <a:schemeClr val="bg1"/>
                </a:solidFill>
                <a:latin typeface="+mj-ea"/>
                <a:ea typeface="+mj-ea"/>
              </a:rPr>
              <a:t>학습하기</a:t>
            </a:r>
          </a:p>
        </p:txBody>
      </p:sp>
      <p:sp>
        <p:nvSpPr>
          <p:cNvPr id="11" name="TextBox 10"/>
          <p:cNvSpPr txBox="1"/>
          <p:nvPr/>
        </p:nvSpPr>
        <p:spPr>
          <a:xfrm>
            <a:off x="622056" y="1510186"/>
            <a:ext cx="11028475" cy="401648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ko-KR" altLang="en-US" sz="2500" b="1" dirty="0">
                <a:solidFill>
                  <a:schemeClr val="accent2">
                    <a:lumMod val="50000"/>
                  </a:schemeClr>
                </a:solidFill>
                <a:latin typeface="+mn-ea"/>
              </a:rPr>
              <a:t>환경 위기의 심각성 </a:t>
            </a:r>
            <a:endParaRPr lang="en-US" altLang="ko-KR" sz="2500" b="1" dirty="0" smtClean="0">
              <a:solidFill>
                <a:schemeClr val="accent2">
                  <a:lumMod val="50000"/>
                </a:schemeClr>
              </a:solidFill>
              <a:latin typeface="+mn-ea"/>
            </a:endParaRPr>
          </a:p>
          <a:p>
            <a:pPr algn="just">
              <a:lnSpc>
                <a:spcPct val="150000"/>
              </a:lnSpc>
            </a:pPr>
            <a:r>
              <a:rPr lang="ko-KR" altLang="en-US" sz="2400" dirty="0" smtClean="0">
                <a:latin typeface="+mn-ea"/>
              </a:rPr>
              <a:t>환경 </a:t>
            </a:r>
            <a:r>
              <a:rPr lang="ko-KR" altLang="en-US" sz="2400" dirty="0">
                <a:latin typeface="+mn-ea"/>
              </a:rPr>
              <a:t>위기는 우리의 일상까지 위협하고 있음</a:t>
            </a:r>
            <a:r>
              <a:rPr lang="en-US" altLang="ko-KR" sz="2400" dirty="0">
                <a:latin typeface="+mn-ea"/>
              </a:rPr>
              <a:t>.</a:t>
            </a:r>
          </a:p>
          <a:p>
            <a:pPr marL="457200" indent="-457200" algn="just">
              <a:lnSpc>
                <a:spcPct val="150000"/>
              </a:lnSpc>
              <a:buFont typeface="+mj-ea"/>
              <a:buAutoNum type="circleNumDbPlain"/>
            </a:pPr>
            <a:endParaRPr lang="en-US" altLang="ko-KR" sz="2400" dirty="0">
              <a:latin typeface="+mn-ea"/>
            </a:endParaRPr>
          </a:p>
          <a:p>
            <a:pPr marL="285750" indent="-285750" algn="just">
              <a:lnSpc>
                <a:spcPct val="150000"/>
              </a:lnSpc>
              <a:buFont typeface="Arial" panose="020B0604020202020204" pitchFamily="34" charset="0"/>
              <a:buChar char="•"/>
            </a:pPr>
            <a:r>
              <a:rPr lang="ko-KR" altLang="en-US" sz="2500" b="1" dirty="0">
                <a:solidFill>
                  <a:schemeClr val="accent2">
                    <a:lumMod val="50000"/>
                  </a:schemeClr>
                </a:solidFill>
                <a:latin typeface="+mn-ea"/>
              </a:rPr>
              <a:t>환경 위기의 특성</a:t>
            </a:r>
          </a:p>
          <a:p>
            <a:pPr marL="342900" indent="-342900" algn="just">
              <a:lnSpc>
                <a:spcPct val="150000"/>
              </a:lnSpc>
              <a:buFont typeface="+mj-ea"/>
              <a:buAutoNum type="circleNumDbPlain"/>
            </a:pPr>
            <a:r>
              <a:rPr lang="ko-KR" altLang="en-US" sz="2400" dirty="0">
                <a:latin typeface="+mn-ea"/>
              </a:rPr>
              <a:t>지구의 자정 능력을 넘어섬</a:t>
            </a:r>
            <a:r>
              <a:rPr lang="en-US" altLang="ko-KR" sz="2400" dirty="0">
                <a:latin typeface="+mn-ea"/>
              </a:rPr>
              <a:t>. </a:t>
            </a:r>
          </a:p>
          <a:p>
            <a:pPr marL="342900" indent="-342900" algn="just">
              <a:lnSpc>
                <a:spcPct val="150000"/>
              </a:lnSpc>
              <a:buFont typeface="+mj-ea"/>
              <a:buAutoNum type="circleNumDbPlain"/>
            </a:pPr>
            <a:r>
              <a:rPr lang="ko-KR" altLang="en-US" sz="2400" dirty="0">
                <a:latin typeface="+mn-ea"/>
              </a:rPr>
              <a:t>인간의 예측보다 빠르게 진행됨</a:t>
            </a:r>
            <a:r>
              <a:rPr lang="en-US" altLang="ko-KR" sz="2400" dirty="0">
                <a:latin typeface="+mn-ea"/>
              </a:rPr>
              <a:t>. </a:t>
            </a:r>
          </a:p>
          <a:p>
            <a:pPr marL="342900" indent="-342900" algn="just">
              <a:lnSpc>
                <a:spcPct val="150000"/>
              </a:lnSpc>
              <a:buFont typeface="+mj-ea"/>
              <a:buAutoNum type="circleNumDbPlain"/>
            </a:pPr>
            <a:r>
              <a:rPr lang="ko-KR" altLang="en-US" sz="2400" dirty="0">
                <a:latin typeface="+mn-ea"/>
              </a:rPr>
              <a:t>영향력의 범위가 넓음</a:t>
            </a:r>
            <a:r>
              <a:rPr lang="en-US" altLang="ko-KR" sz="2400" dirty="0">
                <a:latin typeface="+mn-ea"/>
              </a:rPr>
              <a:t>.</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오늘날의 환경 위기</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210</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Tree>
    <p:extLst>
      <p:ext uri="{BB962C8B-B14F-4D97-AF65-F5344CB8AC3E}">
        <p14:creationId xmlns:p14="http://schemas.microsoft.com/office/powerpoint/2010/main" val="8454817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래픽 2">
            <a:extLst>
              <a:ext uri="{FF2B5EF4-FFF2-40B4-BE49-F238E27FC236}">
                <a16:creationId xmlns:a16="http://schemas.microsoft.com/office/drawing/2014/main" id="{F7FC7077-6FC2-8E57-EAED-0BADF0605DE5}"/>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6" name="TextBox 5">
            <a:extLst>
              <a:ext uri="{FF2B5EF4-FFF2-40B4-BE49-F238E27FC236}">
                <a16:creationId xmlns:a16="http://schemas.microsoft.com/office/drawing/2014/main" id="{041B3F4F-86F9-2158-DD7F-8D9E49FA9043}"/>
              </a:ext>
            </a:extLst>
          </p:cNvPr>
          <p:cNvSpPr txBox="1"/>
          <p:nvPr/>
        </p:nvSpPr>
        <p:spPr>
          <a:xfrm>
            <a:off x="1022556" y="671335"/>
            <a:ext cx="1415772" cy="461665"/>
          </a:xfrm>
          <a:prstGeom prst="rect">
            <a:avLst/>
          </a:prstGeom>
          <a:noFill/>
        </p:spPr>
        <p:txBody>
          <a:bodyPr wrap="none" rtlCol="0">
            <a:spAutoFit/>
          </a:bodyPr>
          <a:lstStyle/>
          <a:p>
            <a:r>
              <a:rPr lang="ko-KR" altLang="en-US" sz="2400" b="1" dirty="0" smtClean="0">
                <a:solidFill>
                  <a:schemeClr val="bg1"/>
                </a:solidFill>
                <a:latin typeface="+mj-ea"/>
                <a:ea typeface="+mj-ea"/>
              </a:rPr>
              <a:t>생각하기</a:t>
            </a:r>
            <a:endParaRPr lang="ko-KR" altLang="en-US" sz="2400" b="1" dirty="0">
              <a:solidFill>
                <a:schemeClr val="bg1"/>
              </a:solidFill>
              <a:latin typeface="+mj-ea"/>
              <a:ea typeface="+mj-ea"/>
            </a:endParaRPr>
          </a:p>
        </p:txBody>
      </p:sp>
      <p:sp>
        <p:nvSpPr>
          <p:cNvPr id="19" name="TextBox 18">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20" name="TextBox 19">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210</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24" name="TextBox 23">
            <a:extLst>
              <a:ext uri="{FF2B5EF4-FFF2-40B4-BE49-F238E27FC236}">
                <a16:creationId xmlns:a16="http://schemas.microsoft.com/office/drawing/2014/main" id="{90560433-7D7D-E53F-75DC-9920154898C5}"/>
              </a:ext>
            </a:extLst>
          </p:cNvPr>
          <p:cNvSpPr txBox="1"/>
          <p:nvPr/>
        </p:nvSpPr>
        <p:spPr>
          <a:xfrm>
            <a:off x="9961582" y="942681"/>
            <a:ext cx="816322" cy="338554"/>
          </a:xfrm>
          <a:prstGeom prst="rect">
            <a:avLst/>
          </a:prstGeom>
        </p:spPr>
        <p:txBody>
          <a:bodyPr wrap="square" rtlCol="0">
            <a:spAutoFit/>
          </a:bodyPr>
          <a:lstStyle/>
          <a:p>
            <a:pPr algn="ctr"/>
            <a:r>
              <a:rPr lang="ko-KR" altLang="en-US" sz="1600" b="1" dirty="0" smtClean="0">
                <a:solidFill>
                  <a:srgbClr val="FFFF00"/>
                </a:solidFill>
                <a:latin typeface="+mj-ea"/>
                <a:ea typeface="+mj-ea"/>
              </a:rPr>
              <a:t>제시문</a:t>
            </a:r>
            <a:endParaRPr lang="ko-KR" altLang="en-US" sz="1600" b="1" dirty="0">
              <a:solidFill>
                <a:srgbClr val="FFFF00"/>
              </a:solidFill>
              <a:latin typeface="+mj-ea"/>
              <a:ea typeface="+mj-ea"/>
            </a:endParaRPr>
          </a:p>
        </p:txBody>
      </p:sp>
      <p:sp>
        <p:nvSpPr>
          <p:cNvPr id="25" name="TextBox 24">
            <a:extLst>
              <a:ext uri="{FF2B5EF4-FFF2-40B4-BE49-F238E27FC236}">
                <a16:creationId xmlns:a16="http://schemas.microsoft.com/office/drawing/2014/main" id="{10124E36-C76D-F382-CB9F-DB094CA4180B}"/>
              </a:ext>
            </a:extLst>
          </p:cNvPr>
          <p:cNvSpPr txBox="1"/>
          <p:nvPr/>
        </p:nvSpPr>
        <p:spPr>
          <a:xfrm>
            <a:off x="10780890" y="936057"/>
            <a:ext cx="595035" cy="338554"/>
          </a:xfrm>
          <a:prstGeom prst="rect">
            <a:avLst/>
          </a:prstGeom>
        </p:spPr>
        <p:txBody>
          <a:bodyPr wrap="none" rtlCol="0">
            <a:spAutoFit/>
          </a:bodyPr>
          <a:lstStyle/>
          <a:p>
            <a:r>
              <a:rPr lang="ko-KR" altLang="en-US" sz="1600" b="1" dirty="0">
                <a:solidFill>
                  <a:srgbClr val="6C768E"/>
                </a:solidFill>
                <a:latin typeface="+mj-ea"/>
                <a:ea typeface="+mj-ea"/>
              </a:rPr>
              <a:t>활동</a:t>
            </a:r>
          </a:p>
        </p:txBody>
      </p:sp>
      <p:sp>
        <p:nvSpPr>
          <p:cNvPr id="14" name="TextBox 13"/>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15" name="TextBox 14">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21" name="TextBox 20">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 name="직사각형 1"/>
          <p:cNvSpPr/>
          <p:nvPr/>
        </p:nvSpPr>
        <p:spPr>
          <a:xfrm>
            <a:off x="3550024" y="1468688"/>
            <a:ext cx="7944494" cy="5170646"/>
          </a:xfrm>
          <a:prstGeom prst="rect">
            <a:avLst/>
          </a:prstGeom>
        </p:spPr>
        <p:txBody>
          <a:bodyPr wrap="square">
            <a:spAutoFit/>
          </a:bodyPr>
          <a:lstStyle/>
          <a:p>
            <a:pPr algn="just">
              <a:lnSpc>
                <a:spcPct val="150000"/>
              </a:lnSpc>
            </a:pPr>
            <a:r>
              <a:rPr lang="ko-KR" altLang="en-US" sz="2200" dirty="0" smtClean="0">
                <a:latin typeface="굴림" panose="020B0600000101010101" pitchFamily="50" charset="-127"/>
                <a:ea typeface="굴림" panose="020B0600000101010101" pitchFamily="50" charset="-127"/>
              </a:rPr>
              <a:t>   오늘은 </a:t>
            </a:r>
            <a:r>
              <a:rPr lang="ko-KR" altLang="en-US" sz="2200" dirty="0">
                <a:latin typeface="굴림" panose="020B0600000101010101" pitchFamily="50" charset="-127"/>
                <a:ea typeface="굴림" panose="020B0600000101010101" pitchFamily="50" charset="-127"/>
              </a:rPr>
              <a:t>학급 대항 축구 대회가 있는 날이다. 오늘을 위해 현수는 주말에도 학급 친구들과 축구 연습을 하였다. 축구 대회가 열린다는 생각에 들뜬 현수는 친구들과 함께 운동장으로 뛰어나갔다. 그런데 운동장에서 축구 대회를 준비하는 중에 교내 방송이 들려왔다.</a:t>
            </a:r>
          </a:p>
          <a:p>
            <a:pPr marL="268288" algn="just">
              <a:lnSpc>
                <a:spcPct val="150000"/>
              </a:lnSpc>
            </a:pPr>
            <a:r>
              <a:rPr lang="ko-KR" altLang="en-US" sz="2200" dirty="0">
                <a:latin typeface="굴림" panose="020B0600000101010101" pitchFamily="50" charset="-127"/>
                <a:ea typeface="굴림" panose="020B0600000101010101" pitchFamily="50" charset="-127"/>
              </a:rPr>
              <a:t>   “오늘 해외에서 유입된 미세 먼지의 양이 많다고 합니다. 미세 먼지 농도가 짙어 건강을 해칠 수 있으므로 여러분의 안전을 위해 학급 대항 축구 대회를 취소합니다.”</a:t>
            </a:r>
          </a:p>
          <a:p>
            <a:pPr algn="just">
              <a:lnSpc>
                <a:spcPct val="150000"/>
              </a:lnSpc>
            </a:pPr>
            <a:r>
              <a:rPr lang="ko-KR" altLang="en-US" sz="2200" dirty="0">
                <a:latin typeface="굴림" panose="020B0600000101010101" pitchFamily="50" charset="-127"/>
                <a:ea typeface="굴림" panose="020B0600000101010101" pitchFamily="50" charset="-127"/>
              </a:rPr>
              <a:t>   현수와 학급 친구들은 실망한 표정으로 터덜터덜 교실로 돌아갔다.</a:t>
            </a:r>
          </a:p>
        </p:txBody>
      </p:sp>
      <p:pic>
        <p:nvPicPr>
          <p:cNvPr id="22" name="그림 2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42867" y="1468688"/>
            <a:ext cx="3269863" cy="4669539"/>
          </a:xfrm>
          <a:prstGeom prst="rect">
            <a:avLst/>
          </a:prstGeom>
        </p:spPr>
      </p:pic>
    </p:spTree>
    <p:extLst>
      <p:ext uri="{BB962C8B-B14F-4D97-AF65-F5344CB8AC3E}">
        <p14:creationId xmlns:p14="http://schemas.microsoft.com/office/powerpoint/2010/main" val="14693693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래픽 2">
            <a:extLst>
              <a:ext uri="{FF2B5EF4-FFF2-40B4-BE49-F238E27FC236}">
                <a16:creationId xmlns:a16="http://schemas.microsoft.com/office/drawing/2014/main" id="{F695BB44-4BBC-7E52-5610-8BC39FA9714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0765631" y="78580"/>
            <a:ext cx="1352551" cy="285751"/>
          </a:xfrm>
          <a:prstGeom prst="rect">
            <a:avLst/>
          </a:prstGeom>
        </p:spPr>
      </p:pic>
      <p:sp>
        <p:nvSpPr>
          <p:cNvPr id="32" name="TextBox 31">
            <a:extLst>
              <a:ext uri="{FF2B5EF4-FFF2-40B4-BE49-F238E27FC236}">
                <a16:creationId xmlns:a16="http://schemas.microsoft.com/office/drawing/2014/main" id="{041B3F4F-86F9-2158-DD7F-8D9E49FA9043}"/>
              </a:ext>
            </a:extLst>
          </p:cNvPr>
          <p:cNvSpPr txBox="1"/>
          <p:nvPr/>
        </p:nvSpPr>
        <p:spPr>
          <a:xfrm>
            <a:off x="1022556" y="671335"/>
            <a:ext cx="1415772" cy="461665"/>
          </a:xfrm>
          <a:prstGeom prst="rect">
            <a:avLst/>
          </a:prstGeom>
          <a:noFill/>
        </p:spPr>
        <p:txBody>
          <a:bodyPr wrap="none" rtlCol="0">
            <a:spAutoFit/>
          </a:bodyPr>
          <a:lstStyle/>
          <a:p>
            <a:r>
              <a:rPr lang="ko-KR" altLang="en-US" sz="2400" b="1" dirty="0" smtClean="0">
                <a:solidFill>
                  <a:schemeClr val="bg1"/>
                </a:solidFill>
                <a:latin typeface="+mj-ea"/>
                <a:ea typeface="+mj-ea"/>
              </a:rPr>
              <a:t>생각하기</a:t>
            </a:r>
            <a:endParaRPr lang="ko-KR" altLang="en-US" sz="2400" b="1" dirty="0">
              <a:solidFill>
                <a:schemeClr val="bg1"/>
              </a:solidFill>
              <a:latin typeface="+mj-ea"/>
              <a:ea typeface="+mj-ea"/>
            </a:endParaRPr>
          </a:p>
        </p:txBody>
      </p:sp>
      <p:sp>
        <p:nvSpPr>
          <p:cNvPr id="33" name="TextBox 32">
            <a:extLst>
              <a:ext uri="{FF2B5EF4-FFF2-40B4-BE49-F238E27FC236}">
                <a16:creationId xmlns:a16="http://schemas.microsoft.com/office/drawing/2014/main" id="{90560433-7D7D-E53F-75DC-9920154898C5}"/>
              </a:ext>
            </a:extLst>
          </p:cNvPr>
          <p:cNvSpPr txBox="1"/>
          <p:nvPr/>
        </p:nvSpPr>
        <p:spPr>
          <a:xfrm>
            <a:off x="9961582" y="942681"/>
            <a:ext cx="816322" cy="338554"/>
          </a:xfrm>
          <a:prstGeom prst="rect">
            <a:avLst/>
          </a:prstGeom>
        </p:spPr>
        <p:txBody>
          <a:bodyPr wrap="square" rtlCol="0">
            <a:spAutoFit/>
          </a:bodyPr>
          <a:lstStyle/>
          <a:p>
            <a:pPr algn="ctr"/>
            <a:r>
              <a:rPr lang="ko-KR" altLang="en-US" sz="1600" b="1" dirty="0" smtClean="0">
                <a:solidFill>
                  <a:schemeClr val="bg1">
                    <a:lumMod val="50000"/>
                  </a:schemeClr>
                </a:solidFill>
                <a:latin typeface="+mj-ea"/>
                <a:ea typeface="+mj-ea"/>
              </a:rPr>
              <a:t>제시문</a:t>
            </a:r>
            <a:endParaRPr lang="ko-KR" altLang="en-US" sz="1600" b="1" dirty="0">
              <a:solidFill>
                <a:schemeClr val="bg1">
                  <a:lumMod val="50000"/>
                </a:schemeClr>
              </a:solidFill>
              <a:latin typeface="+mj-ea"/>
              <a:ea typeface="+mj-ea"/>
            </a:endParaRPr>
          </a:p>
        </p:txBody>
      </p:sp>
      <p:sp>
        <p:nvSpPr>
          <p:cNvPr id="34" name="TextBox 33">
            <a:extLst>
              <a:ext uri="{FF2B5EF4-FFF2-40B4-BE49-F238E27FC236}">
                <a16:creationId xmlns:a16="http://schemas.microsoft.com/office/drawing/2014/main" id="{10124E36-C76D-F382-CB9F-DB094CA4180B}"/>
              </a:ext>
            </a:extLst>
          </p:cNvPr>
          <p:cNvSpPr txBox="1"/>
          <p:nvPr/>
        </p:nvSpPr>
        <p:spPr>
          <a:xfrm>
            <a:off x="10780890" y="936057"/>
            <a:ext cx="595035" cy="338554"/>
          </a:xfrm>
          <a:prstGeom prst="rect">
            <a:avLst/>
          </a:prstGeom>
        </p:spPr>
        <p:txBody>
          <a:bodyPr wrap="none" rtlCol="0">
            <a:spAutoFit/>
          </a:bodyPr>
          <a:lstStyle/>
          <a:p>
            <a:r>
              <a:rPr lang="ko-KR" altLang="en-US" sz="1600" b="1" dirty="0">
                <a:solidFill>
                  <a:srgbClr val="FFFF00"/>
                </a:solidFill>
                <a:latin typeface="+mj-ea"/>
                <a:ea typeface="+mj-ea"/>
              </a:rPr>
              <a:t>활동</a:t>
            </a:r>
          </a:p>
        </p:txBody>
      </p:sp>
      <p:sp>
        <p:nvSpPr>
          <p:cNvPr id="35" name="TextBox 34"/>
          <p:cNvSpPr txBox="1"/>
          <p:nvPr/>
        </p:nvSpPr>
        <p:spPr>
          <a:xfrm>
            <a:off x="787400" y="1613182"/>
            <a:ext cx="10239105" cy="494494"/>
          </a:xfrm>
          <a:prstGeom prst="rect">
            <a:avLst/>
          </a:prstGeom>
          <a:noFill/>
        </p:spPr>
        <p:txBody>
          <a:bodyPr wrap="square" rtlCol="0">
            <a:spAutoFit/>
          </a:bodyPr>
          <a:lstStyle/>
          <a:p>
            <a:pPr algn="just">
              <a:lnSpc>
                <a:spcPct val="150000"/>
              </a:lnSpc>
            </a:pPr>
            <a:r>
              <a:rPr lang="ko-KR" altLang="en-US" sz="2000" b="1" dirty="0"/>
              <a:t>윗글과 비슷한 경험이 있다면 써 보자</a:t>
            </a:r>
            <a:r>
              <a:rPr lang="en-US" altLang="ko-KR" sz="2000" b="1" dirty="0"/>
              <a:t>.</a:t>
            </a:r>
          </a:p>
        </p:txBody>
      </p:sp>
      <p:pic>
        <p:nvPicPr>
          <p:cNvPr id="36" name="그림 35" descr="원, 다채로움, 그래픽, 상징이(가) 표시된 사진&#10;&#10;자동 생성된 설명">
            <a:extLst>
              <a:ext uri="{FF2B5EF4-FFF2-40B4-BE49-F238E27FC236}">
                <a16:creationId xmlns:a16="http://schemas.microsoft.com/office/drawing/2014/main" id="{C65C2315-1DF8-2619-956A-0B81C39746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551787" y="1680238"/>
            <a:ext cx="487174" cy="487174"/>
          </a:xfrm>
          <a:prstGeom prst="rect">
            <a:avLst/>
          </a:prstGeom>
        </p:spPr>
      </p:pic>
      <p:grpSp>
        <p:nvGrpSpPr>
          <p:cNvPr id="37" name="그룹 36">
            <a:extLst>
              <a:ext uri="{FF2B5EF4-FFF2-40B4-BE49-F238E27FC236}">
                <a16:creationId xmlns:a16="http://schemas.microsoft.com/office/drawing/2014/main" id="{BD8F7919-81BA-4F6C-659C-1ECE98A49C77}"/>
              </a:ext>
            </a:extLst>
          </p:cNvPr>
          <p:cNvGrpSpPr/>
          <p:nvPr/>
        </p:nvGrpSpPr>
        <p:grpSpPr>
          <a:xfrm>
            <a:off x="9434311" y="1680238"/>
            <a:ext cx="1087577" cy="495431"/>
            <a:chOff x="10075659" y="2003022"/>
            <a:chExt cx="1156006" cy="495431"/>
          </a:xfrm>
        </p:grpSpPr>
        <p:pic>
          <p:nvPicPr>
            <p:cNvPr id="38" name="그림 37" descr="그린, 다채로움, 스크린샷이(가) 표시된 사진&#10;&#10;자동 생성된 설명">
              <a:extLst>
                <a:ext uri="{FF2B5EF4-FFF2-40B4-BE49-F238E27FC236}">
                  <a16:creationId xmlns:a16="http://schemas.microsoft.com/office/drawing/2014/main" id="{ADA002ED-8D7B-65CA-D44C-3A927828DAB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075659" y="2003022"/>
              <a:ext cx="1156006" cy="495431"/>
            </a:xfrm>
            <a:prstGeom prst="rect">
              <a:avLst/>
            </a:prstGeom>
          </p:spPr>
        </p:pic>
        <p:sp>
          <p:nvSpPr>
            <p:cNvPr id="39" name="TextBox 38">
              <a:extLst>
                <a:ext uri="{FF2B5EF4-FFF2-40B4-BE49-F238E27FC236}">
                  <a16:creationId xmlns:a16="http://schemas.microsoft.com/office/drawing/2014/main" id="{492508EF-5B45-FCB1-63DF-BCFA304E8F7C}"/>
                </a:ext>
              </a:extLst>
            </p:cNvPr>
            <p:cNvSpPr txBox="1"/>
            <p:nvPr/>
          </p:nvSpPr>
          <p:spPr>
            <a:xfrm>
              <a:off x="10156818" y="2052992"/>
              <a:ext cx="938077" cy="369332"/>
            </a:xfrm>
            <a:prstGeom prst="rect">
              <a:avLst/>
            </a:prstGeom>
            <a:noFill/>
          </p:spPr>
          <p:txBody>
            <a:bodyPr wrap="none" rtlCol="0">
              <a:spAutoFit/>
            </a:bodyPr>
            <a:lstStyle/>
            <a:p>
              <a:r>
                <a:rPr lang="ko-KR" altLang="en-US" b="1" dirty="0" smtClean="0">
                  <a:solidFill>
                    <a:schemeClr val="bg1"/>
                  </a:solidFill>
                  <a:latin typeface="굴림" panose="020B0600000101010101" pitchFamily="50" charset="-127"/>
                  <a:ea typeface="굴림" panose="020B0600000101010101" pitchFamily="50" charset="-127"/>
                </a:rPr>
                <a:t>예시 답</a:t>
              </a:r>
              <a:endParaRPr lang="ko-KR" altLang="en-US" b="1" dirty="0">
                <a:solidFill>
                  <a:schemeClr val="bg1"/>
                </a:solidFill>
                <a:latin typeface="굴림" panose="020B0600000101010101" pitchFamily="50" charset="-127"/>
                <a:ea typeface="굴림" panose="020B0600000101010101" pitchFamily="50" charset="-127"/>
              </a:endParaRPr>
            </a:p>
          </p:txBody>
        </p:sp>
      </p:grpSp>
      <p:sp>
        <p:nvSpPr>
          <p:cNvPr id="40" name="사각형: 둥근 모서리 29">
            <a:extLst>
              <a:ext uri="{FF2B5EF4-FFF2-40B4-BE49-F238E27FC236}">
                <a16:creationId xmlns:a16="http://schemas.microsoft.com/office/drawing/2014/main" id="{C631BC03-B762-9123-7FD1-0A60290B94EB}"/>
              </a:ext>
            </a:extLst>
          </p:cNvPr>
          <p:cNvSpPr/>
          <p:nvPr/>
        </p:nvSpPr>
        <p:spPr>
          <a:xfrm>
            <a:off x="787400" y="2418919"/>
            <a:ext cx="10293350" cy="2425797"/>
          </a:xfrm>
          <a:prstGeom prst="roundRect">
            <a:avLst>
              <a:gd name="adj" fmla="val 8608"/>
            </a:avLst>
          </a:prstGeom>
          <a:solidFill>
            <a:srgbClr val="FFF7EE"/>
          </a:solidFill>
          <a:ln>
            <a:no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dirty="0">
              <a:latin typeface="나눔스퀘어라운드 ExtraBold" panose="020B0600000101010101" pitchFamily="50" charset="-127"/>
              <a:ea typeface="나눔스퀘어라운드 ExtraBold" panose="020B0600000101010101" pitchFamily="50" charset="-127"/>
            </a:endParaRPr>
          </a:p>
        </p:txBody>
      </p:sp>
      <p:sp>
        <p:nvSpPr>
          <p:cNvPr id="41" name="TextBox 40"/>
          <p:cNvSpPr txBox="1"/>
          <p:nvPr/>
        </p:nvSpPr>
        <p:spPr>
          <a:xfrm>
            <a:off x="1065588" y="2439788"/>
            <a:ext cx="9851794" cy="230832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ko-KR" altLang="en-US" sz="2400" dirty="0">
                <a:solidFill>
                  <a:srgbClr val="0070C0"/>
                </a:solidFill>
                <a:latin typeface="+mn-ea"/>
              </a:rPr>
              <a:t>매체에서 내가 먹는 생선에 미세 플라스틱이 많다는 내용의 다큐멘터리를 본 후로 생선을 먹을 때 마음이 불편하다</a:t>
            </a:r>
            <a:r>
              <a:rPr lang="en-US" altLang="ko-KR" sz="2400" dirty="0">
                <a:solidFill>
                  <a:srgbClr val="0070C0"/>
                </a:solidFill>
                <a:latin typeface="+mn-ea"/>
              </a:rPr>
              <a:t>.</a:t>
            </a:r>
          </a:p>
          <a:p>
            <a:pPr marL="342900" indent="-342900" algn="just">
              <a:lnSpc>
                <a:spcPct val="150000"/>
              </a:lnSpc>
              <a:buFont typeface="Arial" panose="020B0604020202020204" pitchFamily="34" charset="0"/>
              <a:buChar char="•"/>
            </a:pPr>
            <a:r>
              <a:rPr lang="ko-KR" altLang="en-US" sz="2400" dirty="0">
                <a:solidFill>
                  <a:srgbClr val="0070C0"/>
                </a:solidFill>
                <a:latin typeface="+mn-ea"/>
              </a:rPr>
              <a:t>날씨가 좋은 날에도 미세 먼지 때문에 창문을 활짝 열고 환기하지 못하고</a:t>
            </a:r>
            <a:r>
              <a:rPr lang="en-US" altLang="ko-KR" sz="2400" dirty="0">
                <a:solidFill>
                  <a:srgbClr val="0070C0"/>
                </a:solidFill>
                <a:latin typeface="+mn-ea"/>
              </a:rPr>
              <a:t>, 24</a:t>
            </a:r>
            <a:r>
              <a:rPr lang="ko-KR" altLang="en-US" sz="2400" dirty="0">
                <a:solidFill>
                  <a:srgbClr val="0070C0"/>
                </a:solidFill>
                <a:latin typeface="+mn-ea"/>
              </a:rPr>
              <a:t>시간 공기 청정기를 돌려야 한다</a:t>
            </a:r>
            <a:r>
              <a:rPr lang="en-US" altLang="ko-KR" sz="2400" dirty="0">
                <a:solidFill>
                  <a:srgbClr val="0070C0"/>
                </a:solidFill>
                <a:latin typeface="+mn-ea"/>
              </a:rPr>
              <a:t>. </a:t>
            </a:r>
            <a:r>
              <a:rPr lang="ko-KR" altLang="en-US" sz="2400" dirty="0">
                <a:solidFill>
                  <a:srgbClr val="0070C0"/>
                </a:solidFill>
                <a:latin typeface="+mn-ea"/>
              </a:rPr>
              <a:t>신선한 바람을 쐬고 싶다</a:t>
            </a:r>
            <a:r>
              <a:rPr lang="en-US" altLang="ko-KR" sz="2400" dirty="0">
                <a:solidFill>
                  <a:srgbClr val="0070C0"/>
                </a:solidFill>
                <a:latin typeface="+mn-ea"/>
              </a:rPr>
              <a:t>.</a:t>
            </a:r>
          </a:p>
        </p:txBody>
      </p:sp>
      <p:sp>
        <p:nvSpPr>
          <p:cNvPr id="42" name="TextBox 41">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43" name="TextBox 42">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210</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19" name="TextBox 18"/>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0" name="TextBox 19">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21" name="TextBox 20">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Tree>
    <p:extLst>
      <p:ext uri="{BB962C8B-B14F-4D97-AF65-F5344CB8AC3E}">
        <p14:creationId xmlns:p14="http://schemas.microsoft.com/office/powerpoint/2010/main" val="27312415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nextCondLst>
                <p:cond evt="onClick" delay="0">
                  <p:tgtEl>
                    <p:spTgt spid="37"/>
                  </p:tgtEl>
                </p:cond>
              </p:nextCondLst>
            </p:seq>
            <p:seq concurrent="1" nextAc="seek">
              <p:cTn id="7" restart="whenNotActive" fill="hold" evtFilter="cancelBubble" nodeType="interactiveSeq">
                <p:stCondLst>
                  <p:cond evt="onClick" delay="0">
                    <p:tgtEl>
                      <p:spTgt spid="36"/>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41"/>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41" grpId="0"/>
      <p:bldP spid="41"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square" rtlCol="0">
            <a:spAutoFit/>
          </a:bodyPr>
          <a:lstStyle/>
          <a:p>
            <a:pPr algn="ctr"/>
            <a:r>
              <a:rPr lang="ko-KR" altLang="en-US" sz="2400" b="1" dirty="0">
                <a:solidFill>
                  <a:schemeClr val="bg1"/>
                </a:solidFill>
                <a:latin typeface="+mj-ea"/>
                <a:ea typeface="+mj-ea"/>
              </a:rPr>
              <a:t>학습하기</a:t>
            </a:r>
          </a:p>
        </p:txBody>
      </p:sp>
      <p:sp>
        <p:nvSpPr>
          <p:cNvPr id="11" name="TextBox 10"/>
          <p:cNvSpPr txBox="1"/>
          <p:nvPr/>
        </p:nvSpPr>
        <p:spPr>
          <a:xfrm>
            <a:off x="622056" y="1510186"/>
            <a:ext cx="11028475" cy="401648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ko-KR" altLang="en-US" sz="2500" b="1" dirty="0">
                <a:solidFill>
                  <a:schemeClr val="accent2">
                    <a:lumMod val="50000"/>
                  </a:schemeClr>
                </a:solidFill>
                <a:latin typeface="+mn-ea"/>
              </a:rPr>
              <a:t>생태계에 대한 책임 </a:t>
            </a:r>
            <a:endParaRPr lang="en-US" altLang="ko-KR" sz="2500" b="1" dirty="0" smtClean="0">
              <a:solidFill>
                <a:schemeClr val="accent2">
                  <a:lumMod val="50000"/>
                </a:schemeClr>
              </a:solidFill>
              <a:latin typeface="+mn-ea"/>
            </a:endParaRPr>
          </a:p>
          <a:p>
            <a:pPr algn="just">
              <a:lnSpc>
                <a:spcPct val="150000"/>
              </a:lnSpc>
            </a:pPr>
            <a:r>
              <a:rPr lang="ko-KR" altLang="en-US" sz="2400" dirty="0">
                <a:latin typeface="+mn-ea"/>
              </a:rPr>
              <a:t>인간이 생태계의 구성원이라는 인식을 바탕으로 생태계의 균형을 회복하고 안정을 유지하기 위해 노력해야 함</a:t>
            </a:r>
            <a:r>
              <a:rPr lang="en-US" altLang="ko-KR" sz="2400" dirty="0">
                <a:latin typeface="+mn-ea"/>
              </a:rPr>
              <a:t>.</a:t>
            </a:r>
          </a:p>
          <a:p>
            <a:pPr marL="457200" indent="-457200" algn="just">
              <a:lnSpc>
                <a:spcPct val="150000"/>
              </a:lnSpc>
              <a:buFont typeface="+mj-ea"/>
              <a:buAutoNum type="circleNumDbPlain"/>
            </a:pPr>
            <a:endParaRPr lang="en-US" altLang="ko-KR" sz="2400" dirty="0">
              <a:latin typeface="+mn-ea"/>
            </a:endParaRPr>
          </a:p>
          <a:p>
            <a:pPr marL="285750" indent="-285750" algn="just">
              <a:lnSpc>
                <a:spcPct val="150000"/>
              </a:lnSpc>
              <a:buFont typeface="Arial" panose="020B0604020202020204" pitchFamily="34" charset="0"/>
              <a:buChar char="•"/>
            </a:pPr>
            <a:r>
              <a:rPr lang="ko-KR" altLang="en-US" sz="2500" b="1" dirty="0">
                <a:solidFill>
                  <a:schemeClr val="accent2">
                    <a:lumMod val="50000"/>
                  </a:schemeClr>
                </a:solidFill>
                <a:latin typeface="+mn-ea"/>
              </a:rPr>
              <a:t>미래 세대에 대한 책임 </a:t>
            </a:r>
            <a:endParaRPr lang="en-US" altLang="ko-KR" sz="2500" b="1" dirty="0" smtClean="0">
              <a:solidFill>
                <a:schemeClr val="accent2">
                  <a:lumMod val="50000"/>
                </a:schemeClr>
              </a:solidFill>
              <a:latin typeface="+mn-ea"/>
            </a:endParaRPr>
          </a:p>
          <a:p>
            <a:pPr algn="just">
              <a:lnSpc>
                <a:spcPct val="150000"/>
              </a:lnSpc>
            </a:pPr>
            <a:r>
              <a:rPr lang="ko-KR" altLang="en-US" sz="2400" dirty="0">
                <a:latin typeface="+mn-ea"/>
              </a:rPr>
              <a:t>미래 세대가 깨끗한 자연을 누릴 수 있도록 자연을 회복하고 보전하기 위해 노력해야 함</a:t>
            </a:r>
            <a:r>
              <a:rPr lang="en-US" altLang="ko-KR" sz="2400" dirty="0">
                <a:latin typeface="+mn-ea"/>
              </a:rPr>
              <a:t>.</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환경 위기에 대한 윤리적 책임</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211</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Tree>
    <p:extLst>
      <p:ext uri="{BB962C8B-B14F-4D97-AF65-F5344CB8AC3E}">
        <p14:creationId xmlns:p14="http://schemas.microsoft.com/office/powerpoint/2010/main" val="33182026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30442" y="1331699"/>
            <a:ext cx="8556981" cy="4874230"/>
          </a:xfrm>
          <a:prstGeom prst="rect">
            <a:avLst/>
          </a:prstGeom>
        </p:spPr>
      </p:pic>
      <p:pic>
        <p:nvPicPr>
          <p:cNvPr id="3" name="그래픽 2">
            <a:extLst>
              <a:ext uri="{FF2B5EF4-FFF2-40B4-BE49-F238E27FC236}">
                <a16:creationId xmlns:a16="http://schemas.microsoft.com/office/drawing/2014/main" id="{F7FC7077-6FC2-8E57-EAED-0BADF0605DE5}"/>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6" name="TextBox 5">
            <a:extLst>
              <a:ext uri="{FF2B5EF4-FFF2-40B4-BE49-F238E27FC236}">
                <a16:creationId xmlns:a16="http://schemas.microsoft.com/office/drawing/2014/main" id="{041B3F4F-86F9-2158-DD7F-8D9E49FA9043}"/>
              </a:ext>
            </a:extLst>
          </p:cNvPr>
          <p:cNvSpPr txBox="1"/>
          <p:nvPr/>
        </p:nvSpPr>
        <p:spPr>
          <a:xfrm>
            <a:off x="1022556" y="671335"/>
            <a:ext cx="1415772" cy="461665"/>
          </a:xfrm>
          <a:prstGeom prst="rect">
            <a:avLst/>
          </a:prstGeom>
          <a:noFill/>
        </p:spPr>
        <p:txBody>
          <a:bodyPr wrap="none" rtlCol="0">
            <a:spAutoFit/>
          </a:bodyPr>
          <a:lstStyle/>
          <a:p>
            <a:r>
              <a:rPr lang="ko-KR" altLang="en-US" sz="2400" b="1" dirty="0" smtClean="0">
                <a:solidFill>
                  <a:schemeClr val="bg1"/>
                </a:solidFill>
                <a:latin typeface="+mj-ea"/>
                <a:ea typeface="+mj-ea"/>
              </a:rPr>
              <a:t>탐구하기</a:t>
            </a:r>
            <a:endParaRPr lang="ko-KR" altLang="en-US" sz="2400" b="1" dirty="0">
              <a:solidFill>
                <a:schemeClr val="bg1"/>
              </a:solidFill>
              <a:latin typeface="+mj-ea"/>
              <a:ea typeface="+mj-ea"/>
            </a:endParaRPr>
          </a:p>
        </p:txBody>
      </p:sp>
      <p:sp>
        <p:nvSpPr>
          <p:cNvPr id="19" name="TextBox 18">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20" name="TextBox 19">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211</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24" name="TextBox 23">
            <a:extLst>
              <a:ext uri="{FF2B5EF4-FFF2-40B4-BE49-F238E27FC236}">
                <a16:creationId xmlns:a16="http://schemas.microsoft.com/office/drawing/2014/main" id="{90560433-7D7D-E53F-75DC-9920154898C5}"/>
              </a:ext>
            </a:extLst>
          </p:cNvPr>
          <p:cNvSpPr txBox="1"/>
          <p:nvPr/>
        </p:nvSpPr>
        <p:spPr>
          <a:xfrm>
            <a:off x="9961582" y="942681"/>
            <a:ext cx="816322" cy="338554"/>
          </a:xfrm>
          <a:prstGeom prst="rect">
            <a:avLst/>
          </a:prstGeom>
        </p:spPr>
        <p:txBody>
          <a:bodyPr wrap="square" rtlCol="0">
            <a:spAutoFit/>
          </a:bodyPr>
          <a:lstStyle/>
          <a:p>
            <a:pPr algn="ctr"/>
            <a:r>
              <a:rPr lang="ko-KR" altLang="en-US" sz="1600" b="1" dirty="0" smtClean="0">
                <a:solidFill>
                  <a:srgbClr val="FFFF00"/>
                </a:solidFill>
                <a:latin typeface="+mj-ea"/>
                <a:ea typeface="+mj-ea"/>
              </a:rPr>
              <a:t>만화</a:t>
            </a:r>
            <a:endParaRPr lang="ko-KR" altLang="en-US" sz="1600" b="1" dirty="0">
              <a:solidFill>
                <a:srgbClr val="FFFF00"/>
              </a:solidFill>
              <a:latin typeface="+mj-ea"/>
              <a:ea typeface="+mj-ea"/>
            </a:endParaRPr>
          </a:p>
        </p:txBody>
      </p:sp>
      <p:sp>
        <p:nvSpPr>
          <p:cNvPr id="25" name="TextBox 24">
            <a:extLst>
              <a:ext uri="{FF2B5EF4-FFF2-40B4-BE49-F238E27FC236}">
                <a16:creationId xmlns:a16="http://schemas.microsoft.com/office/drawing/2014/main" id="{10124E36-C76D-F382-CB9F-DB094CA4180B}"/>
              </a:ext>
            </a:extLst>
          </p:cNvPr>
          <p:cNvSpPr txBox="1"/>
          <p:nvPr/>
        </p:nvSpPr>
        <p:spPr>
          <a:xfrm>
            <a:off x="10780890" y="936057"/>
            <a:ext cx="595035" cy="338554"/>
          </a:xfrm>
          <a:prstGeom prst="rect">
            <a:avLst/>
          </a:prstGeom>
        </p:spPr>
        <p:txBody>
          <a:bodyPr wrap="none" rtlCol="0">
            <a:spAutoFit/>
          </a:bodyPr>
          <a:lstStyle/>
          <a:p>
            <a:r>
              <a:rPr lang="ko-KR" altLang="en-US" sz="1600" b="1" dirty="0">
                <a:solidFill>
                  <a:srgbClr val="6C768E"/>
                </a:solidFill>
                <a:latin typeface="+mj-ea"/>
                <a:ea typeface="+mj-ea"/>
              </a:rPr>
              <a:t>활동</a:t>
            </a:r>
          </a:p>
        </p:txBody>
      </p:sp>
      <p:sp>
        <p:nvSpPr>
          <p:cNvPr id="18" name="TextBox 17"/>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8" name="TextBox 27">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4" name="TextBox 13">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Tree>
    <p:extLst>
      <p:ext uri="{BB962C8B-B14F-4D97-AF65-F5344CB8AC3E}">
        <p14:creationId xmlns:p14="http://schemas.microsoft.com/office/powerpoint/2010/main" val="12477426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사각형: 둥근 모서리 29">
            <a:extLst>
              <a:ext uri="{FF2B5EF4-FFF2-40B4-BE49-F238E27FC236}">
                <a16:creationId xmlns:a16="http://schemas.microsoft.com/office/drawing/2014/main" id="{C631BC03-B762-9123-7FD1-0A60290B94EB}"/>
              </a:ext>
            </a:extLst>
          </p:cNvPr>
          <p:cNvSpPr/>
          <p:nvPr/>
        </p:nvSpPr>
        <p:spPr>
          <a:xfrm>
            <a:off x="787400" y="5197166"/>
            <a:ext cx="10293350" cy="1210348"/>
          </a:xfrm>
          <a:prstGeom prst="roundRect">
            <a:avLst>
              <a:gd name="adj" fmla="val 8608"/>
            </a:avLst>
          </a:prstGeom>
          <a:solidFill>
            <a:srgbClr val="FFF7EE"/>
          </a:solidFill>
          <a:ln>
            <a:no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dirty="0">
              <a:latin typeface="나눔스퀘어라운드 ExtraBold" panose="020B0600000101010101" pitchFamily="50" charset="-127"/>
              <a:ea typeface="나눔스퀘어라운드 ExtraBold" panose="020B0600000101010101" pitchFamily="50" charset="-127"/>
            </a:endParaRPr>
          </a:p>
        </p:txBody>
      </p:sp>
      <p:pic>
        <p:nvPicPr>
          <p:cNvPr id="3" name="그래픽 2">
            <a:extLst>
              <a:ext uri="{FF2B5EF4-FFF2-40B4-BE49-F238E27FC236}">
                <a16:creationId xmlns:a16="http://schemas.microsoft.com/office/drawing/2014/main" id="{F695BB44-4BBC-7E52-5610-8BC39FA9714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0765631" y="78580"/>
            <a:ext cx="1352551" cy="285751"/>
          </a:xfrm>
          <a:prstGeom prst="rect">
            <a:avLst/>
          </a:prstGeom>
        </p:spPr>
      </p:pic>
      <p:sp>
        <p:nvSpPr>
          <p:cNvPr id="32" name="TextBox 31">
            <a:extLst>
              <a:ext uri="{FF2B5EF4-FFF2-40B4-BE49-F238E27FC236}">
                <a16:creationId xmlns:a16="http://schemas.microsoft.com/office/drawing/2014/main" id="{041B3F4F-86F9-2158-DD7F-8D9E49FA9043}"/>
              </a:ext>
            </a:extLst>
          </p:cNvPr>
          <p:cNvSpPr txBox="1"/>
          <p:nvPr/>
        </p:nvSpPr>
        <p:spPr>
          <a:xfrm>
            <a:off x="1022556" y="671335"/>
            <a:ext cx="1415772" cy="461665"/>
          </a:xfrm>
          <a:prstGeom prst="rect">
            <a:avLst/>
          </a:prstGeom>
          <a:noFill/>
        </p:spPr>
        <p:txBody>
          <a:bodyPr wrap="none" rtlCol="0">
            <a:spAutoFit/>
          </a:bodyPr>
          <a:lstStyle/>
          <a:p>
            <a:r>
              <a:rPr lang="ko-KR" altLang="en-US" sz="2400" b="1" dirty="0" smtClean="0">
                <a:solidFill>
                  <a:schemeClr val="bg1"/>
                </a:solidFill>
                <a:latin typeface="+mj-ea"/>
                <a:ea typeface="+mj-ea"/>
              </a:rPr>
              <a:t>탐구하기</a:t>
            </a:r>
            <a:endParaRPr lang="ko-KR" altLang="en-US" sz="2400" b="1" dirty="0">
              <a:solidFill>
                <a:schemeClr val="bg1"/>
              </a:solidFill>
              <a:latin typeface="+mj-ea"/>
              <a:ea typeface="+mj-ea"/>
            </a:endParaRPr>
          </a:p>
        </p:txBody>
      </p:sp>
      <p:sp>
        <p:nvSpPr>
          <p:cNvPr id="33" name="TextBox 32">
            <a:extLst>
              <a:ext uri="{FF2B5EF4-FFF2-40B4-BE49-F238E27FC236}">
                <a16:creationId xmlns:a16="http://schemas.microsoft.com/office/drawing/2014/main" id="{90560433-7D7D-E53F-75DC-9920154898C5}"/>
              </a:ext>
            </a:extLst>
          </p:cNvPr>
          <p:cNvSpPr txBox="1"/>
          <p:nvPr/>
        </p:nvSpPr>
        <p:spPr>
          <a:xfrm>
            <a:off x="9961582" y="942681"/>
            <a:ext cx="816322" cy="338554"/>
          </a:xfrm>
          <a:prstGeom prst="rect">
            <a:avLst/>
          </a:prstGeom>
        </p:spPr>
        <p:txBody>
          <a:bodyPr wrap="square" rtlCol="0">
            <a:spAutoFit/>
          </a:bodyPr>
          <a:lstStyle/>
          <a:p>
            <a:pPr algn="ctr"/>
            <a:r>
              <a:rPr lang="ko-KR" altLang="en-US" sz="1600" b="1" dirty="0" smtClean="0">
                <a:solidFill>
                  <a:schemeClr val="bg1">
                    <a:lumMod val="50000"/>
                  </a:schemeClr>
                </a:solidFill>
                <a:latin typeface="+mj-ea"/>
                <a:ea typeface="+mj-ea"/>
              </a:rPr>
              <a:t>만화</a:t>
            </a:r>
            <a:endParaRPr lang="ko-KR" altLang="en-US" sz="1600" b="1" dirty="0">
              <a:solidFill>
                <a:schemeClr val="bg1">
                  <a:lumMod val="50000"/>
                </a:schemeClr>
              </a:solidFill>
              <a:latin typeface="+mj-ea"/>
              <a:ea typeface="+mj-ea"/>
            </a:endParaRPr>
          </a:p>
        </p:txBody>
      </p:sp>
      <p:sp>
        <p:nvSpPr>
          <p:cNvPr id="34" name="TextBox 33">
            <a:extLst>
              <a:ext uri="{FF2B5EF4-FFF2-40B4-BE49-F238E27FC236}">
                <a16:creationId xmlns:a16="http://schemas.microsoft.com/office/drawing/2014/main" id="{10124E36-C76D-F382-CB9F-DB094CA4180B}"/>
              </a:ext>
            </a:extLst>
          </p:cNvPr>
          <p:cNvSpPr txBox="1"/>
          <p:nvPr/>
        </p:nvSpPr>
        <p:spPr>
          <a:xfrm>
            <a:off x="10780890" y="936057"/>
            <a:ext cx="595035" cy="338554"/>
          </a:xfrm>
          <a:prstGeom prst="rect">
            <a:avLst/>
          </a:prstGeom>
        </p:spPr>
        <p:txBody>
          <a:bodyPr wrap="none" rtlCol="0">
            <a:spAutoFit/>
          </a:bodyPr>
          <a:lstStyle/>
          <a:p>
            <a:r>
              <a:rPr lang="ko-KR" altLang="en-US" sz="1600" b="1" dirty="0">
                <a:solidFill>
                  <a:srgbClr val="FFFF00"/>
                </a:solidFill>
                <a:latin typeface="+mj-ea"/>
                <a:ea typeface="+mj-ea"/>
              </a:rPr>
              <a:t>활동</a:t>
            </a:r>
          </a:p>
        </p:txBody>
      </p:sp>
      <p:sp>
        <p:nvSpPr>
          <p:cNvPr id="35" name="TextBox 34"/>
          <p:cNvSpPr txBox="1"/>
          <p:nvPr/>
        </p:nvSpPr>
        <p:spPr>
          <a:xfrm>
            <a:off x="787400" y="1613182"/>
            <a:ext cx="10239105" cy="956159"/>
          </a:xfrm>
          <a:prstGeom prst="rect">
            <a:avLst/>
          </a:prstGeom>
          <a:noFill/>
        </p:spPr>
        <p:txBody>
          <a:bodyPr wrap="square" rtlCol="0">
            <a:spAutoFit/>
          </a:bodyPr>
          <a:lstStyle/>
          <a:p>
            <a:pPr marL="457200" indent="-457200" algn="just">
              <a:lnSpc>
                <a:spcPct val="150000"/>
              </a:lnSpc>
              <a:buAutoNum type="arabicPeriod"/>
            </a:pPr>
            <a:r>
              <a:rPr lang="ko-KR" altLang="en-US" sz="2000" b="1" dirty="0" smtClean="0"/>
              <a:t>위 </a:t>
            </a:r>
            <a:r>
              <a:rPr lang="ko-KR" altLang="en-US" sz="2000" b="1" dirty="0"/>
              <a:t>만화를 보고 마지막 장면에서 생태계와 미래 세대는 어떤 </a:t>
            </a:r>
            <a:r>
              <a:rPr lang="ko-KR" altLang="en-US" sz="2000" b="1" dirty="0" smtClean="0"/>
              <a:t>위기를 맞이할지 </a:t>
            </a:r>
            <a:r>
              <a:rPr lang="ko-KR" altLang="en-US" sz="2000" b="1" dirty="0"/>
              <a:t>상상하여 써 보자</a:t>
            </a:r>
            <a:r>
              <a:rPr lang="en-US" altLang="ko-KR" sz="2000" b="1" dirty="0"/>
              <a:t>.</a:t>
            </a:r>
          </a:p>
        </p:txBody>
      </p:sp>
      <p:pic>
        <p:nvPicPr>
          <p:cNvPr id="36" name="그림 35" descr="원, 다채로움, 그래픽, 상징이(가) 표시된 사진&#10;&#10;자동 생성된 설명">
            <a:extLst>
              <a:ext uri="{FF2B5EF4-FFF2-40B4-BE49-F238E27FC236}">
                <a16:creationId xmlns:a16="http://schemas.microsoft.com/office/drawing/2014/main" id="{C65C2315-1DF8-2619-956A-0B81C39746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360323" y="2189524"/>
            <a:ext cx="487174" cy="487174"/>
          </a:xfrm>
          <a:prstGeom prst="rect">
            <a:avLst/>
          </a:prstGeom>
        </p:spPr>
      </p:pic>
      <p:grpSp>
        <p:nvGrpSpPr>
          <p:cNvPr id="37" name="그룹 36">
            <a:extLst>
              <a:ext uri="{FF2B5EF4-FFF2-40B4-BE49-F238E27FC236}">
                <a16:creationId xmlns:a16="http://schemas.microsoft.com/office/drawing/2014/main" id="{BD8F7919-81BA-4F6C-659C-1ECE98A49C77}"/>
              </a:ext>
            </a:extLst>
          </p:cNvPr>
          <p:cNvGrpSpPr/>
          <p:nvPr/>
        </p:nvGrpSpPr>
        <p:grpSpPr>
          <a:xfrm>
            <a:off x="9242847" y="2189524"/>
            <a:ext cx="1087577" cy="495431"/>
            <a:chOff x="10075659" y="2003022"/>
            <a:chExt cx="1156006" cy="495431"/>
          </a:xfrm>
        </p:grpSpPr>
        <p:pic>
          <p:nvPicPr>
            <p:cNvPr id="38" name="그림 37" descr="그린, 다채로움, 스크린샷이(가) 표시된 사진&#10;&#10;자동 생성된 설명">
              <a:extLst>
                <a:ext uri="{FF2B5EF4-FFF2-40B4-BE49-F238E27FC236}">
                  <a16:creationId xmlns:a16="http://schemas.microsoft.com/office/drawing/2014/main" id="{ADA002ED-8D7B-65CA-D44C-3A927828DAB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075659" y="2003022"/>
              <a:ext cx="1156006" cy="495431"/>
            </a:xfrm>
            <a:prstGeom prst="rect">
              <a:avLst/>
            </a:prstGeom>
          </p:spPr>
        </p:pic>
        <p:sp>
          <p:nvSpPr>
            <p:cNvPr id="39" name="TextBox 38">
              <a:extLst>
                <a:ext uri="{FF2B5EF4-FFF2-40B4-BE49-F238E27FC236}">
                  <a16:creationId xmlns:a16="http://schemas.microsoft.com/office/drawing/2014/main" id="{492508EF-5B45-FCB1-63DF-BCFA304E8F7C}"/>
                </a:ext>
              </a:extLst>
            </p:cNvPr>
            <p:cNvSpPr txBox="1"/>
            <p:nvPr/>
          </p:nvSpPr>
          <p:spPr>
            <a:xfrm>
              <a:off x="10156818" y="2052992"/>
              <a:ext cx="938077" cy="369332"/>
            </a:xfrm>
            <a:prstGeom prst="rect">
              <a:avLst/>
            </a:prstGeom>
            <a:noFill/>
          </p:spPr>
          <p:txBody>
            <a:bodyPr wrap="none" rtlCol="0">
              <a:spAutoFit/>
            </a:bodyPr>
            <a:lstStyle/>
            <a:p>
              <a:r>
                <a:rPr lang="ko-KR" altLang="en-US" b="1" dirty="0" smtClean="0">
                  <a:solidFill>
                    <a:schemeClr val="bg1"/>
                  </a:solidFill>
                  <a:latin typeface="굴림" panose="020B0600000101010101" pitchFamily="50" charset="-127"/>
                  <a:ea typeface="굴림" panose="020B0600000101010101" pitchFamily="50" charset="-127"/>
                </a:rPr>
                <a:t>예시 답</a:t>
              </a:r>
              <a:endParaRPr lang="ko-KR" altLang="en-US" b="1" dirty="0">
                <a:solidFill>
                  <a:schemeClr val="bg1"/>
                </a:solidFill>
                <a:latin typeface="굴림" panose="020B0600000101010101" pitchFamily="50" charset="-127"/>
                <a:ea typeface="굴림" panose="020B0600000101010101" pitchFamily="50" charset="-127"/>
              </a:endParaRPr>
            </a:p>
          </p:txBody>
        </p:sp>
      </p:grpSp>
      <p:sp>
        <p:nvSpPr>
          <p:cNvPr id="40" name="사각형: 둥근 모서리 29">
            <a:extLst>
              <a:ext uri="{FF2B5EF4-FFF2-40B4-BE49-F238E27FC236}">
                <a16:creationId xmlns:a16="http://schemas.microsoft.com/office/drawing/2014/main" id="{C631BC03-B762-9123-7FD1-0A60290B94EB}"/>
              </a:ext>
            </a:extLst>
          </p:cNvPr>
          <p:cNvSpPr/>
          <p:nvPr/>
        </p:nvSpPr>
        <p:spPr>
          <a:xfrm>
            <a:off x="787400" y="3423881"/>
            <a:ext cx="10293350" cy="1210348"/>
          </a:xfrm>
          <a:prstGeom prst="roundRect">
            <a:avLst>
              <a:gd name="adj" fmla="val 8608"/>
            </a:avLst>
          </a:prstGeom>
          <a:solidFill>
            <a:srgbClr val="FFF7EE"/>
          </a:solidFill>
          <a:ln>
            <a:no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dirty="0">
              <a:latin typeface="나눔스퀘어라운드 ExtraBold" panose="020B0600000101010101" pitchFamily="50" charset="-127"/>
              <a:ea typeface="나눔스퀘어라운드 ExtraBold" panose="020B0600000101010101" pitchFamily="50" charset="-127"/>
            </a:endParaRPr>
          </a:p>
        </p:txBody>
      </p:sp>
      <p:sp>
        <p:nvSpPr>
          <p:cNvPr id="42" name="TextBox 41">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43" name="TextBox 42">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211</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19" name="TextBox 18"/>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0" name="TextBox 19">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21" name="TextBox 20">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grpSp>
        <p:nvGrpSpPr>
          <p:cNvPr id="2" name="그룹 1"/>
          <p:cNvGrpSpPr/>
          <p:nvPr/>
        </p:nvGrpSpPr>
        <p:grpSpPr>
          <a:xfrm>
            <a:off x="929018" y="3433899"/>
            <a:ext cx="8512557" cy="2973615"/>
            <a:chOff x="2334940" y="2790738"/>
            <a:chExt cx="8512557" cy="2973615"/>
          </a:xfrm>
        </p:grpSpPr>
        <p:sp>
          <p:nvSpPr>
            <p:cNvPr id="18" name="TextBox 17"/>
            <p:cNvSpPr txBox="1"/>
            <p:nvPr/>
          </p:nvSpPr>
          <p:spPr>
            <a:xfrm>
              <a:off x="2334941" y="2790738"/>
              <a:ext cx="8459497" cy="1200329"/>
            </a:xfrm>
            <a:prstGeom prst="rect">
              <a:avLst/>
            </a:prstGeom>
            <a:noFill/>
          </p:spPr>
          <p:txBody>
            <a:bodyPr wrap="square" rtlCol="0">
              <a:spAutoFit/>
            </a:bodyPr>
            <a:lstStyle/>
            <a:p>
              <a:pPr algn="just">
                <a:lnSpc>
                  <a:spcPct val="150000"/>
                </a:lnSpc>
              </a:pPr>
              <a:r>
                <a:rPr lang="ko-KR" altLang="en-US" sz="2400" dirty="0">
                  <a:solidFill>
                    <a:srgbClr val="0070C0"/>
                  </a:solidFill>
                  <a:latin typeface="Arial Rounded MT Bold" panose="020F0704030504030204" pitchFamily="34" charset="0"/>
                </a:rPr>
                <a:t>기후 변화로 생태계의 균형이 무너지고</a:t>
              </a:r>
              <a:r>
                <a:rPr lang="en-US" altLang="ko-KR" sz="2400" dirty="0">
                  <a:solidFill>
                    <a:srgbClr val="0070C0"/>
                  </a:solidFill>
                  <a:latin typeface="Arial Rounded MT Bold" panose="020F0704030504030204" pitchFamily="34" charset="0"/>
                </a:rPr>
                <a:t>, </a:t>
              </a:r>
              <a:r>
                <a:rPr lang="ko-KR" altLang="en-US" sz="2400" dirty="0">
                  <a:solidFill>
                    <a:srgbClr val="0070C0"/>
                  </a:solidFill>
                  <a:latin typeface="Arial Rounded MT Bold" panose="020F0704030504030204" pitchFamily="34" charset="0"/>
                </a:rPr>
                <a:t>환경 위기는 더욱 심각해질 것이다</a:t>
              </a:r>
              <a:r>
                <a:rPr lang="en-US" altLang="ko-KR" sz="2400" dirty="0">
                  <a:solidFill>
                    <a:srgbClr val="0070C0"/>
                  </a:solidFill>
                  <a:latin typeface="Arial Rounded MT Bold" panose="020F0704030504030204" pitchFamily="34" charset="0"/>
                </a:rPr>
                <a:t>.</a:t>
              </a:r>
              <a:endParaRPr lang="ko-KR" altLang="en-US" sz="2400" dirty="0">
                <a:solidFill>
                  <a:srgbClr val="0070C0"/>
                </a:solidFill>
                <a:latin typeface="Arial Rounded MT Bold" panose="020F0704030504030204" pitchFamily="34" charset="0"/>
              </a:endParaRPr>
            </a:p>
          </p:txBody>
        </p:sp>
        <p:sp>
          <p:nvSpPr>
            <p:cNvPr id="22" name="TextBox 21"/>
            <p:cNvSpPr txBox="1"/>
            <p:nvPr/>
          </p:nvSpPr>
          <p:spPr>
            <a:xfrm>
              <a:off x="2334940" y="4564024"/>
              <a:ext cx="8512557" cy="1200329"/>
            </a:xfrm>
            <a:prstGeom prst="rect">
              <a:avLst/>
            </a:prstGeom>
            <a:noFill/>
          </p:spPr>
          <p:txBody>
            <a:bodyPr wrap="square" rtlCol="0">
              <a:spAutoFit/>
            </a:bodyPr>
            <a:lstStyle/>
            <a:p>
              <a:pPr algn="just">
                <a:lnSpc>
                  <a:spcPct val="150000"/>
                </a:lnSpc>
              </a:pPr>
              <a:r>
                <a:rPr lang="ko-KR" altLang="en-US" sz="2400" dirty="0">
                  <a:solidFill>
                    <a:srgbClr val="0070C0"/>
                  </a:solidFill>
                  <a:latin typeface="Arial Rounded MT Bold" panose="020F0704030504030204" pitchFamily="34" charset="0"/>
                </a:rPr>
                <a:t>심각한 생태계 파괴로 깨끗하고 맑은 환경에서 안전하게 살아갈 수 없을 것이다</a:t>
              </a:r>
              <a:r>
                <a:rPr lang="en-US" altLang="ko-KR" sz="2400" dirty="0">
                  <a:solidFill>
                    <a:srgbClr val="0070C0"/>
                  </a:solidFill>
                  <a:latin typeface="Arial Rounded MT Bold" panose="020F0704030504030204" pitchFamily="34" charset="0"/>
                </a:rPr>
                <a:t>.</a:t>
              </a:r>
              <a:endParaRPr lang="ko-KR" altLang="en-US" sz="2400" dirty="0">
                <a:solidFill>
                  <a:srgbClr val="0070C0"/>
                </a:solidFill>
                <a:latin typeface="Arial Rounded MT Bold" panose="020F0704030504030204" pitchFamily="34" charset="0"/>
              </a:endParaRPr>
            </a:p>
          </p:txBody>
        </p:sp>
      </p:grpSp>
      <p:sp>
        <p:nvSpPr>
          <p:cNvPr id="23" name="TextBox 22"/>
          <p:cNvSpPr txBox="1"/>
          <p:nvPr/>
        </p:nvSpPr>
        <p:spPr>
          <a:xfrm>
            <a:off x="929018" y="2937348"/>
            <a:ext cx="2183687" cy="400110"/>
          </a:xfrm>
          <a:prstGeom prst="rect">
            <a:avLst/>
          </a:prstGeom>
          <a:noFill/>
        </p:spPr>
        <p:txBody>
          <a:bodyPr wrap="square" rtlCol="0">
            <a:spAutoFit/>
          </a:bodyPr>
          <a:lstStyle/>
          <a:p>
            <a:pPr algn="just"/>
            <a:r>
              <a:rPr lang="en-US" altLang="ko-KR" sz="2000" dirty="0" smtClean="0"/>
              <a:t>• </a:t>
            </a:r>
            <a:r>
              <a:rPr lang="ko-KR" altLang="en-US" sz="2000" dirty="0" smtClean="0"/>
              <a:t>생태계</a:t>
            </a:r>
            <a:r>
              <a:rPr lang="en-US" altLang="ko-KR" sz="2000" dirty="0" smtClean="0"/>
              <a:t>:</a:t>
            </a:r>
            <a:endParaRPr lang="ko-KR" altLang="en-US" sz="2000" dirty="0"/>
          </a:p>
        </p:txBody>
      </p:sp>
      <p:sp>
        <p:nvSpPr>
          <p:cNvPr id="24" name="TextBox 23"/>
          <p:cNvSpPr txBox="1"/>
          <p:nvPr/>
        </p:nvSpPr>
        <p:spPr>
          <a:xfrm>
            <a:off x="929018" y="4720652"/>
            <a:ext cx="2183687" cy="400110"/>
          </a:xfrm>
          <a:prstGeom prst="rect">
            <a:avLst/>
          </a:prstGeom>
          <a:noFill/>
        </p:spPr>
        <p:txBody>
          <a:bodyPr wrap="square" rtlCol="0">
            <a:spAutoFit/>
          </a:bodyPr>
          <a:lstStyle/>
          <a:p>
            <a:pPr algn="just"/>
            <a:r>
              <a:rPr lang="en-US" altLang="ko-KR" sz="2000" dirty="0" smtClean="0"/>
              <a:t>• </a:t>
            </a:r>
            <a:r>
              <a:rPr lang="ko-KR" altLang="en-US" sz="2000" dirty="0" smtClean="0"/>
              <a:t>미래 세대</a:t>
            </a:r>
            <a:r>
              <a:rPr lang="en-US" altLang="ko-KR" sz="2000" dirty="0" smtClean="0"/>
              <a:t>:</a:t>
            </a:r>
            <a:endParaRPr lang="ko-KR" altLang="en-US" sz="2000" dirty="0"/>
          </a:p>
        </p:txBody>
      </p:sp>
    </p:spTree>
    <p:extLst>
      <p:ext uri="{BB962C8B-B14F-4D97-AF65-F5344CB8AC3E}">
        <p14:creationId xmlns:p14="http://schemas.microsoft.com/office/powerpoint/2010/main" val="10037874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nextCondLst>
                <p:cond evt="onClick" delay="0">
                  <p:tgtEl>
                    <p:spTgt spid="37"/>
                  </p:tgtEl>
                </p:cond>
              </p:nextCondLst>
            </p:seq>
            <p:seq concurrent="1" nextAc="seek">
              <p:cTn id="7" restart="whenNotActive" fill="hold" evtFilter="cancelBubble" nodeType="interactiveSeq">
                <p:stCondLst>
                  <p:cond evt="onClick" delay="0">
                    <p:tgtEl>
                      <p:spTgt spid="36"/>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래픽 2">
            <a:extLst>
              <a:ext uri="{FF2B5EF4-FFF2-40B4-BE49-F238E27FC236}">
                <a16:creationId xmlns:a16="http://schemas.microsoft.com/office/drawing/2014/main" id="{F695BB44-4BBC-7E52-5610-8BC39FA9714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0765631" y="78580"/>
            <a:ext cx="1352551" cy="285751"/>
          </a:xfrm>
          <a:prstGeom prst="rect">
            <a:avLst/>
          </a:prstGeom>
        </p:spPr>
      </p:pic>
      <p:sp>
        <p:nvSpPr>
          <p:cNvPr id="32" name="TextBox 31">
            <a:extLst>
              <a:ext uri="{FF2B5EF4-FFF2-40B4-BE49-F238E27FC236}">
                <a16:creationId xmlns:a16="http://schemas.microsoft.com/office/drawing/2014/main" id="{041B3F4F-86F9-2158-DD7F-8D9E49FA9043}"/>
              </a:ext>
            </a:extLst>
          </p:cNvPr>
          <p:cNvSpPr txBox="1"/>
          <p:nvPr/>
        </p:nvSpPr>
        <p:spPr>
          <a:xfrm>
            <a:off x="1022556" y="671335"/>
            <a:ext cx="1415772" cy="461665"/>
          </a:xfrm>
          <a:prstGeom prst="rect">
            <a:avLst/>
          </a:prstGeom>
          <a:noFill/>
        </p:spPr>
        <p:txBody>
          <a:bodyPr wrap="none" rtlCol="0">
            <a:spAutoFit/>
          </a:bodyPr>
          <a:lstStyle/>
          <a:p>
            <a:r>
              <a:rPr lang="ko-KR" altLang="en-US" sz="2400" b="1" dirty="0" smtClean="0">
                <a:solidFill>
                  <a:schemeClr val="bg1"/>
                </a:solidFill>
                <a:latin typeface="+mj-ea"/>
                <a:ea typeface="+mj-ea"/>
              </a:rPr>
              <a:t>탐구하기</a:t>
            </a:r>
            <a:endParaRPr lang="ko-KR" altLang="en-US" sz="2400" b="1" dirty="0">
              <a:solidFill>
                <a:schemeClr val="bg1"/>
              </a:solidFill>
              <a:latin typeface="+mj-ea"/>
              <a:ea typeface="+mj-ea"/>
            </a:endParaRPr>
          </a:p>
        </p:txBody>
      </p:sp>
      <p:sp>
        <p:nvSpPr>
          <p:cNvPr id="33" name="TextBox 32">
            <a:extLst>
              <a:ext uri="{FF2B5EF4-FFF2-40B4-BE49-F238E27FC236}">
                <a16:creationId xmlns:a16="http://schemas.microsoft.com/office/drawing/2014/main" id="{90560433-7D7D-E53F-75DC-9920154898C5}"/>
              </a:ext>
            </a:extLst>
          </p:cNvPr>
          <p:cNvSpPr txBox="1"/>
          <p:nvPr/>
        </p:nvSpPr>
        <p:spPr>
          <a:xfrm>
            <a:off x="9961582" y="942681"/>
            <a:ext cx="816322" cy="338554"/>
          </a:xfrm>
          <a:prstGeom prst="rect">
            <a:avLst/>
          </a:prstGeom>
        </p:spPr>
        <p:txBody>
          <a:bodyPr wrap="square" rtlCol="0">
            <a:spAutoFit/>
          </a:bodyPr>
          <a:lstStyle/>
          <a:p>
            <a:pPr algn="ctr"/>
            <a:r>
              <a:rPr lang="ko-KR" altLang="en-US" sz="1600" b="1" dirty="0" smtClean="0">
                <a:solidFill>
                  <a:schemeClr val="bg1">
                    <a:lumMod val="50000"/>
                  </a:schemeClr>
                </a:solidFill>
                <a:latin typeface="+mj-ea"/>
                <a:ea typeface="+mj-ea"/>
              </a:rPr>
              <a:t>만화</a:t>
            </a:r>
            <a:endParaRPr lang="ko-KR" altLang="en-US" sz="1600" b="1" dirty="0">
              <a:solidFill>
                <a:schemeClr val="bg1">
                  <a:lumMod val="50000"/>
                </a:schemeClr>
              </a:solidFill>
              <a:latin typeface="+mj-ea"/>
              <a:ea typeface="+mj-ea"/>
            </a:endParaRPr>
          </a:p>
        </p:txBody>
      </p:sp>
      <p:sp>
        <p:nvSpPr>
          <p:cNvPr id="34" name="TextBox 33">
            <a:extLst>
              <a:ext uri="{FF2B5EF4-FFF2-40B4-BE49-F238E27FC236}">
                <a16:creationId xmlns:a16="http://schemas.microsoft.com/office/drawing/2014/main" id="{10124E36-C76D-F382-CB9F-DB094CA4180B}"/>
              </a:ext>
            </a:extLst>
          </p:cNvPr>
          <p:cNvSpPr txBox="1"/>
          <p:nvPr/>
        </p:nvSpPr>
        <p:spPr>
          <a:xfrm>
            <a:off x="10780890" y="936057"/>
            <a:ext cx="595035" cy="338554"/>
          </a:xfrm>
          <a:prstGeom prst="rect">
            <a:avLst/>
          </a:prstGeom>
        </p:spPr>
        <p:txBody>
          <a:bodyPr wrap="none" rtlCol="0">
            <a:spAutoFit/>
          </a:bodyPr>
          <a:lstStyle/>
          <a:p>
            <a:r>
              <a:rPr lang="ko-KR" altLang="en-US" sz="1600" b="1" dirty="0">
                <a:solidFill>
                  <a:srgbClr val="FFFF00"/>
                </a:solidFill>
                <a:latin typeface="+mj-ea"/>
                <a:ea typeface="+mj-ea"/>
              </a:rPr>
              <a:t>활동</a:t>
            </a:r>
          </a:p>
        </p:txBody>
      </p:sp>
      <p:sp>
        <p:nvSpPr>
          <p:cNvPr id="35" name="TextBox 34"/>
          <p:cNvSpPr txBox="1"/>
          <p:nvPr/>
        </p:nvSpPr>
        <p:spPr>
          <a:xfrm>
            <a:off x="787400" y="1613182"/>
            <a:ext cx="10239105" cy="494494"/>
          </a:xfrm>
          <a:prstGeom prst="rect">
            <a:avLst/>
          </a:prstGeom>
          <a:noFill/>
        </p:spPr>
        <p:txBody>
          <a:bodyPr wrap="square" rtlCol="0">
            <a:spAutoFit/>
          </a:bodyPr>
          <a:lstStyle/>
          <a:p>
            <a:pPr algn="just">
              <a:lnSpc>
                <a:spcPct val="150000"/>
              </a:lnSpc>
            </a:pPr>
            <a:r>
              <a:rPr lang="en-US" altLang="ko-KR" sz="2000" b="1" dirty="0"/>
              <a:t>2. 1</a:t>
            </a:r>
            <a:r>
              <a:rPr lang="ko-KR" altLang="en-US" sz="2000" b="1" dirty="0"/>
              <a:t>에서 탐구한 환경 위기에 대한 책임은 누구에게 있다고 </a:t>
            </a:r>
            <a:r>
              <a:rPr lang="ko-KR" altLang="en-US" sz="2000" b="1" dirty="0" smtClean="0"/>
              <a:t>생각하는지 써 </a:t>
            </a:r>
            <a:r>
              <a:rPr lang="ko-KR" altLang="en-US" sz="2000" b="1" dirty="0"/>
              <a:t>보자</a:t>
            </a:r>
            <a:r>
              <a:rPr lang="en-US" altLang="ko-KR" sz="2000" b="1" dirty="0" smtClean="0"/>
              <a:t>.</a:t>
            </a:r>
            <a:endParaRPr lang="en-US" altLang="ko-KR" sz="2000" b="1" dirty="0"/>
          </a:p>
        </p:txBody>
      </p:sp>
      <p:pic>
        <p:nvPicPr>
          <p:cNvPr id="36" name="그림 35" descr="원, 다채로움, 그래픽, 상징이(가) 표시된 사진&#10;&#10;자동 생성된 설명">
            <a:extLst>
              <a:ext uri="{FF2B5EF4-FFF2-40B4-BE49-F238E27FC236}">
                <a16:creationId xmlns:a16="http://schemas.microsoft.com/office/drawing/2014/main" id="{C65C2315-1DF8-2619-956A-0B81C39746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428493" y="2155227"/>
            <a:ext cx="487174" cy="487174"/>
          </a:xfrm>
          <a:prstGeom prst="rect">
            <a:avLst/>
          </a:prstGeom>
        </p:spPr>
      </p:pic>
      <p:grpSp>
        <p:nvGrpSpPr>
          <p:cNvPr id="37" name="그룹 36">
            <a:extLst>
              <a:ext uri="{FF2B5EF4-FFF2-40B4-BE49-F238E27FC236}">
                <a16:creationId xmlns:a16="http://schemas.microsoft.com/office/drawing/2014/main" id="{BD8F7919-81BA-4F6C-659C-1ECE98A49C77}"/>
              </a:ext>
            </a:extLst>
          </p:cNvPr>
          <p:cNvGrpSpPr/>
          <p:nvPr/>
        </p:nvGrpSpPr>
        <p:grpSpPr>
          <a:xfrm>
            <a:off x="9311017" y="2155227"/>
            <a:ext cx="1087577" cy="495431"/>
            <a:chOff x="10075659" y="2003022"/>
            <a:chExt cx="1156006" cy="495431"/>
          </a:xfrm>
        </p:grpSpPr>
        <p:pic>
          <p:nvPicPr>
            <p:cNvPr id="38" name="그림 37" descr="그린, 다채로움, 스크린샷이(가) 표시된 사진&#10;&#10;자동 생성된 설명">
              <a:extLst>
                <a:ext uri="{FF2B5EF4-FFF2-40B4-BE49-F238E27FC236}">
                  <a16:creationId xmlns:a16="http://schemas.microsoft.com/office/drawing/2014/main" id="{ADA002ED-8D7B-65CA-D44C-3A927828DAB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075659" y="2003022"/>
              <a:ext cx="1156006" cy="495431"/>
            </a:xfrm>
            <a:prstGeom prst="rect">
              <a:avLst/>
            </a:prstGeom>
          </p:spPr>
        </p:pic>
        <p:sp>
          <p:nvSpPr>
            <p:cNvPr id="39" name="TextBox 38">
              <a:extLst>
                <a:ext uri="{FF2B5EF4-FFF2-40B4-BE49-F238E27FC236}">
                  <a16:creationId xmlns:a16="http://schemas.microsoft.com/office/drawing/2014/main" id="{492508EF-5B45-FCB1-63DF-BCFA304E8F7C}"/>
                </a:ext>
              </a:extLst>
            </p:cNvPr>
            <p:cNvSpPr txBox="1"/>
            <p:nvPr/>
          </p:nvSpPr>
          <p:spPr>
            <a:xfrm>
              <a:off x="10156818" y="2052992"/>
              <a:ext cx="938077" cy="369332"/>
            </a:xfrm>
            <a:prstGeom prst="rect">
              <a:avLst/>
            </a:prstGeom>
            <a:noFill/>
          </p:spPr>
          <p:txBody>
            <a:bodyPr wrap="none" rtlCol="0">
              <a:spAutoFit/>
            </a:bodyPr>
            <a:lstStyle/>
            <a:p>
              <a:r>
                <a:rPr lang="ko-KR" altLang="en-US" b="1" dirty="0" smtClean="0">
                  <a:solidFill>
                    <a:schemeClr val="bg1"/>
                  </a:solidFill>
                  <a:latin typeface="굴림" panose="020B0600000101010101" pitchFamily="50" charset="-127"/>
                  <a:ea typeface="굴림" panose="020B0600000101010101" pitchFamily="50" charset="-127"/>
                </a:rPr>
                <a:t>예시 답</a:t>
              </a:r>
              <a:endParaRPr lang="ko-KR" altLang="en-US" b="1" dirty="0">
                <a:solidFill>
                  <a:schemeClr val="bg1"/>
                </a:solidFill>
                <a:latin typeface="굴림" panose="020B0600000101010101" pitchFamily="50" charset="-127"/>
                <a:ea typeface="굴림" panose="020B0600000101010101" pitchFamily="50" charset="-127"/>
              </a:endParaRPr>
            </a:p>
          </p:txBody>
        </p:sp>
      </p:grpSp>
      <p:sp>
        <p:nvSpPr>
          <p:cNvPr id="40" name="사각형: 둥근 모서리 29">
            <a:extLst>
              <a:ext uri="{FF2B5EF4-FFF2-40B4-BE49-F238E27FC236}">
                <a16:creationId xmlns:a16="http://schemas.microsoft.com/office/drawing/2014/main" id="{C631BC03-B762-9123-7FD1-0A60290B94EB}"/>
              </a:ext>
            </a:extLst>
          </p:cNvPr>
          <p:cNvSpPr/>
          <p:nvPr/>
        </p:nvSpPr>
        <p:spPr>
          <a:xfrm>
            <a:off x="787400" y="2723718"/>
            <a:ext cx="10293350" cy="2538094"/>
          </a:xfrm>
          <a:prstGeom prst="roundRect">
            <a:avLst>
              <a:gd name="adj" fmla="val 8608"/>
            </a:avLst>
          </a:prstGeom>
          <a:solidFill>
            <a:srgbClr val="FFF7EE"/>
          </a:solidFill>
          <a:ln>
            <a:no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dirty="0">
              <a:latin typeface="나눔스퀘어라운드 ExtraBold" panose="020B0600000101010101" pitchFamily="50" charset="-127"/>
              <a:ea typeface="나눔스퀘어라운드 ExtraBold" panose="020B0600000101010101" pitchFamily="50" charset="-127"/>
            </a:endParaRPr>
          </a:p>
        </p:txBody>
      </p:sp>
      <p:sp>
        <p:nvSpPr>
          <p:cNvPr id="42" name="TextBox 41">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43" name="TextBox 42">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211</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19" name="TextBox 18"/>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0" name="TextBox 19">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21" name="TextBox 20">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5" name="TextBox 24"/>
          <p:cNvSpPr txBox="1"/>
          <p:nvPr/>
        </p:nvSpPr>
        <p:spPr>
          <a:xfrm>
            <a:off x="840581" y="2907912"/>
            <a:ext cx="10240169" cy="1200329"/>
          </a:xfrm>
          <a:prstGeom prst="rect">
            <a:avLst/>
          </a:prstGeom>
          <a:noFill/>
        </p:spPr>
        <p:txBody>
          <a:bodyPr wrap="square" rtlCol="0">
            <a:spAutoFit/>
          </a:bodyPr>
          <a:lstStyle/>
          <a:p>
            <a:pPr algn="just">
              <a:lnSpc>
                <a:spcPct val="150000"/>
              </a:lnSpc>
            </a:pPr>
            <a:r>
              <a:rPr lang="ko-KR" altLang="en-US" sz="2400" dirty="0">
                <a:solidFill>
                  <a:srgbClr val="0070C0"/>
                </a:solidFill>
                <a:latin typeface="Arial Rounded MT Bold" panose="020F0704030504030204" pitchFamily="34" charset="0"/>
              </a:rPr>
              <a:t>우리의 편익을 위한 생산</a:t>
            </a:r>
            <a:r>
              <a:rPr lang="en-US" altLang="ko-KR" sz="2400" dirty="0">
                <a:solidFill>
                  <a:srgbClr val="0070C0"/>
                </a:solidFill>
                <a:latin typeface="Arial Rounded MT Bold" panose="020F0704030504030204" pitchFamily="34" charset="0"/>
              </a:rPr>
              <a:t>·</a:t>
            </a:r>
            <a:r>
              <a:rPr lang="ko-KR" altLang="en-US" sz="2400" dirty="0">
                <a:solidFill>
                  <a:srgbClr val="0070C0"/>
                </a:solidFill>
                <a:latin typeface="Arial Rounded MT Bold" panose="020F0704030504030204" pitchFamily="34" charset="0"/>
              </a:rPr>
              <a:t>유통</a:t>
            </a:r>
            <a:r>
              <a:rPr lang="en-US" altLang="ko-KR" sz="2400" dirty="0">
                <a:solidFill>
                  <a:srgbClr val="0070C0"/>
                </a:solidFill>
                <a:latin typeface="Arial Rounded MT Bold" panose="020F0704030504030204" pitchFamily="34" charset="0"/>
              </a:rPr>
              <a:t>·</a:t>
            </a:r>
            <a:r>
              <a:rPr lang="ko-KR" altLang="en-US" sz="2400" dirty="0">
                <a:solidFill>
                  <a:srgbClr val="0070C0"/>
                </a:solidFill>
                <a:latin typeface="Arial Rounded MT Bold" panose="020F0704030504030204" pitchFamily="34" charset="0"/>
              </a:rPr>
              <a:t>소비와 생활 습관을 유지해 온 우리 </a:t>
            </a:r>
            <a:r>
              <a:rPr lang="ko-KR" altLang="en-US" sz="2400" dirty="0" smtClean="0">
                <a:solidFill>
                  <a:srgbClr val="0070C0"/>
                </a:solidFill>
                <a:latin typeface="Arial Rounded MT Bold" panose="020F0704030504030204" pitchFamily="34" charset="0"/>
              </a:rPr>
              <a:t>모두에게</a:t>
            </a:r>
            <a:endParaRPr lang="en-US" altLang="ko-KR" sz="2400" dirty="0" smtClean="0">
              <a:solidFill>
                <a:srgbClr val="0070C0"/>
              </a:solidFill>
              <a:latin typeface="Arial Rounded MT Bold" panose="020F0704030504030204" pitchFamily="34" charset="0"/>
            </a:endParaRPr>
          </a:p>
          <a:p>
            <a:pPr algn="just">
              <a:lnSpc>
                <a:spcPct val="150000"/>
              </a:lnSpc>
            </a:pPr>
            <a:r>
              <a:rPr lang="ko-KR" altLang="en-US" sz="2400" dirty="0" smtClean="0">
                <a:solidFill>
                  <a:srgbClr val="0070C0"/>
                </a:solidFill>
                <a:latin typeface="Arial Rounded MT Bold" panose="020F0704030504030204" pitchFamily="34" charset="0"/>
              </a:rPr>
              <a:t>있다</a:t>
            </a:r>
            <a:r>
              <a:rPr lang="en-US" altLang="ko-KR" sz="2400" dirty="0">
                <a:solidFill>
                  <a:srgbClr val="0070C0"/>
                </a:solidFill>
                <a:latin typeface="Arial Rounded MT Bold" panose="020F0704030504030204" pitchFamily="34" charset="0"/>
              </a:rPr>
              <a:t>.</a:t>
            </a:r>
            <a:endParaRPr lang="ko-KR" altLang="en-US" sz="2400" dirty="0">
              <a:solidFill>
                <a:srgbClr val="0070C0"/>
              </a:solidFill>
              <a:latin typeface="Arial Rounded MT Bold" panose="020F0704030504030204" pitchFamily="34" charset="0"/>
            </a:endParaRPr>
          </a:p>
        </p:txBody>
      </p:sp>
    </p:spTree>
    <p:extLst>
      <p:ext uri="{BB962C8B-B14F-4D97-AF65-F5344CB8AC3E}">
        <p14:creationId xmlns:p14="http://schemas.microsoft.com/office/powerpoint/2010/main" val="53008489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nextCondLst>
                <p:cond evt="onClick" delay="0">
                  <p:tgtEl>
                    <p:spTgt spid="37"/>
                  </p:tgtEl>
                </p:cond>
              </p:nextCondLst>
            </p:seq>
            <p:seq concurrent="1" nextAc="seek">
              <p:cTn id="7" restart="whenNotActive" fill="hold" evtFilter="cancelBubble" nodeType="interactiveSeq">
                <p:stCondLst>
                  <p:cond evt="onClick" delay="0">
                    <p:tgtEl>
                      <p:spTgt spid="36"/>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25" grpId="0"/>
      <p:bldP spid="25"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사각형: 둥근 모서리 29">
            <a:extLst>
              <a:ext uri="{FF2B5EF4-FFF2-40B4-BE49-F238E27FC236}">
                <a16:creationId xmlns:a16="http://schemas.microsoft.com/office/drawing/2014/main" id="{C631BC03-B762-9123-7FD1-0A60290B94EB}"/>
              </a:ext>
            </a:extLst>
          </p:cNvPr>
          <p:cNvSpPr/>
          <p:nvPr/>
        </p:nvSpPr>
        <p:spPr>
          <a:xfrm>
            <a:off x="782429" y="3926200"/>
            <a:ext cx="8522936" cy="2550288"/>
          </a:xfrm>
          <a:prstGeom prst="roundRect">
            <a:avLst>
              <a:gd name="adj" fmla="val 8608"/>
            </a:avLst>
          </a:prstGeom>
          <a:solidFill>
            <a:schemeClr val="accent6">
              <a:lumMod val="20000"/>
              <a:lumOff val="8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dirty="0">
              <a:latin typeface="나눔스퀘어라운드 ExtraBold" panose="020B0600000101010101" pitchFamily="50" charset="-127"/>
              <a:ea typeface="나눔스퀘어라운드 ExtraBold" panose="020B0600000101010101" pitchFamily="50" charset="-127"/>
            </a:endParaRPr>
          </a:p>
        </p:txBody>
      </p:sp>
      <p:sp>
        <p:nvSpPr>
          <p:cNvPr id="14" name="순서도: 수행의 시작/종료 13">
            <a:extLst>
              <a:ext uri="{FF2B5EF4-FFF2-40B4-BE49-F238E27FC236}">
                <a16:creationId xmlns:a16="http://schemas.microsoft.com/office/drawing/2014/main" id="{0C9572D1-DE61-A840-0F97-7BDF6B8F4F4A}"/>
              </a:ext>
            </a:extLst>
          </p:cNvPr>
          <p:cNvSpPr/>
          <p:nvPr/>
        </p:nvSpPr>
        <p:spPr>
          <a:xfrm>
            <a:off x="1764504" y="582930"/>
            <a:ext cx="1775115" cy="585788"/>
          </a:xfrm>
          <a:prstGeom prst="flowChartTerminator">
            <a:avLst/>
          </a:prstGeom>
          <a:solidFill>
            <a:srgbClr val="04CB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5" name="그래픽 14">
            <a:extLst>
              <a:ext uri="{FF2B5EF4-FFF2-40B4-BE49-F238E27FC236}">
                <a16:creationId xmlns:a16="http://schemas.microsoft.com/office/drawing/2014/main" id="{B44B34C4-36B3-18D5-1B79-4D677D4EDBBD}"/>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E06FC953-457F-63EC-153E-F835BABE4C1D}"/>
              </a:ext>
            </a:extLst>
          </p:cNvPr>
          <p:cNvSpPr txBox="1"/>
          <p:nvPr/>
        </p:nvSpPr>
        <p:spPr>
          <a:xfrm>
            <a:off x="1040188" y="671335"/>
            <a:ext cx="2448106" cy="461665"/>
          </a:xfrm>
          <a:prstGeom prst="rect">
            <a:avLst/>
          </a:prstGeom>
          <a:noFill/>
        </p:spPr>
        <p:txBody>
          <a:bodyPr wrap="none" rtlCol="0">
            <a:spAutoFit/>
          </a:bodyPr>
          <a:lstStyle/>
          <a:p>
            <a:r>
              <a:rPr lang="ko-KR" altLang="en-US" sz="2400" b="1" dirty="0">
                <a:solidFill>
                  <a:schemeClr val="bg1"/>
                </a:solidFill>
                <a:latin typeface="+mj-ea"/>
                <a:ea typeface="+mj-ea"/>
              </a:rPr>
              <a:t>스스로 성찰하기</a:t>
            </a:r>
          </a:p>
        </p:txBody>
      </p:sp>
      <p:sp>
        <p:nvSpPr>
          <p:cNvPr id="28" name="TextBox 27">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31" name="TextBox 30">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212</a:t>
            </a:r>
            <a:r>
              <a:rPr lang="ko-KR" altLang="en-US" sz="1100" b="1" dirty="0" smtClean="0">
                <a:solidFill>
                  <a:srgbClr val="3DB250"/>
                </a:solidFill>
                <a:latin typeface="+mj-ea"/>
                <a:ea typeface="+mj-ea"/>
              </a:rPr>
              <a:t>쪽</a:t>
            </a:r>
            <a:endParaRPr lang="ko-KR" altLang="en-US" sz="1100" b="1" dirty="0">
              <a:solidFill>
                <a:srgbClr val="3DB250"/>
              </a:solidFill>
              <a:latin typeface="+mj-ea"/>
              <a:ea typeface="+mj-ea"/>
            </a:endParaRPr>
          </a:p>
        </p:txBody>
      </p:sp>
      <p:sp>
        <p:nvSpPr>
          <p:cNvPr id="35" name="TextBox 34"/>
          <p:cNvSpPr txBox="1"/>
          <p:nvPr/>
        </p:nvSpPr>
        <p:spPr>
          <a:xfrm>
            <a:off x="787400" y="1613182"/>
            <a:ext cx="10239105" cy="430887"/>
          </a:xfrm>
          <a:prstGeom prst="rect">
            <a:avLst/>
          </a:prstGeom>
          <a:noFill/>
        </p:spPr>
        <p:txBody>
          <a:bodyPr wrap="square" rtlCol="0">
            <a:spAutoFit/>
          </a:bodyPr>
          <a:lstStyle/>
          <a:p>
            <a:pPr algn="just"/>
            <a:r>
              <a:rPr lang="ko-KR" altLang="en-US" sz="2200" b="1" dirty="0" smtClean="0">
                <a:solidFill>
                  <a:srgbClr val="00B050"/>
                </a:solidFill>
                <a:latin typeface="+mn-ea"/>
              </a:rPr>
              <a:t>다음 물음에 답하며 자신의 모습을 성찰해 보자</a:t>
            </a:r>
            <a:r>
              <a:rPr lang="en-US" altLang="ko-KR" sz="2200" b="1" dirty="0" smtClean="0">
                <a:solidFill>
                  <a:srgbClr val="00B050"/>
                </a:solidFill>
                <a:latin typeface="+mn-ea"/>
              </a:rPr>
              <a:t>.</a:t>
            </a:r>
            <a:endParaRPr lang="ko-KR" altLang="en-US" sz="2200" b="1" dirty="0">
              <a:solidFill>
                <a:srgbClr val="00B050"/>
              </a:solidFill>
              <a:latin typeface="+mn-ea"/>
            </a:endParaRPr>
          </a:p>
        </p:txBody>
      </p:sp>
      <p:sp>
        <p:nvSpPr>
          <p:cNvPr id="40" name="사각형: 둥근 모서리 29">
            <a:extLst>
              <a:ext uri="{FF2B5EF4-FFF2-40B4-BE49-F238E27FC236}">
                <a16:creationId xmlns:a16="http://schemas.microsoft.com/office/drawing/2014/main" id="{C631BC03-B762-9123-7FD1-0A60290B94EB}"/>
              </a:ext>
            </a:extLst>
          </p:cNvPr>
          <p:cNvSpPr/>
          <p:nvPr/>
        </p:nvSpPr>
        <p:spPr>
          <a:xfrm>
            <a:off x="787400" y="2374242"/>
            <a:ext cx="10293350" cy="1160691"/>
          </a:xfrm>
          <a:prstGeom prst="roundRect">
            <a:avLst>
              <a:gd name="adj" fmla="val 8608"/>
            </a:avLst>
          </a:prstGeom>
          <a:noFill/>
          <a:ln w="571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spcCol="288000" rtlCol="0" anchor="ctr"/>
          <a:lstStyle/>
          <a:p>
            <a:pPr algn="ctr"/>
            <a:endParaRPr lang="ko-KR" altLang="en-US" dirty="0">
              <a:latin typeface="나눔스퀘어라운드 ExtraBold" panose="020B0600000101010101" pitchFamily="50" charset="-127"/>
              <a:ea typeface="나눔스퀘어라운드 ExtraBold" panose="020B0600000101010101" pitchFamily="50" charset="-127"/>
            </a:endParaRPr>
          </a:p>
        </p:txBody>
      </p:sp>
      <p:sp>
        <p:nvSpPr>
          <p:cNvPr id="41" name="TextBox 40"/>
          <p:cNvSpPr txBox="1"/>
          <p:nvPr/>
        </p:nvSpPr>
        <p:spPr>
          <a:xfrm>
            <a:off x="1040188" y="2445911"/>
            <a:ext cx="9809541" cy="943785"/>
          </a:xfrm>
          <a:prstGeom prst="rect">
            <a:avLst/>
          </a:prstGeom>
          <a:noFill/>
        </p:spPr>
        <p:txBody>
          <a:bodyPr wrap="square" rtlCol="0">
            <a:spAutoFit/>
          </a:bodyPr>
          <a:lstStyle/>
          <a:p>
            <a:pPr marL="457200" indent="-457200" algn="just">
              <a:lnSpc>
                <a:spcPct val="150000"/>
              </a:lnSpc>
              <a:buFont typeface="Wingdings" panose="05000000000000000000" pitchFamily="2" charset="2"/>
              <a:buChar char="§"/>
            </a:pPr>
            <a:r>
              <a:rPr lang="ko-KR" altLang="en-US" sz="2000" dirty="0">
                <a:latin typeface="굴림" panose="020B0600000101010101" pitchFamily="50" charset="-127"/>
                <a:ea typeface="굴림" panose="020B0600000101010101" pitchFamily="50" charset="-127"/>
              </a:rPr>
              <a:t>일상에서 오늘날 환경 위기의 심각성을 파악하는가</a:t>
            </a:r>
            <a:r>
              <a:rPr lang="en-US" altLang="ko-KR" sz="2000" dirty="0">
                <a:latin typeface="굴림" panose="020B0600000101010101" pitchFamily="50" charset="-127"/>
                <a:ea typeface="굴림" panose="020B0600000101010101" pitchFamily="50" charset="-127"/>
              </a:rPr>
              <a:t>?</a:t>
            </a:r>
          </a:p>
          <a:p>
            <a:pPr marL="457200" indent="-457200" algn="just">
              <a:lnSpc>
                <a:spcPct val="150000"/>
              </a:lnSpc>
              <a:buFont typeface="Wingdings" panose="05000000000000000000" pitchFamily="2" charset="2"/>
              <a:buChar char="§"/>
            </a:pPr>
            <a:r>
              <a:rPr lang="ko-KR" altLang="en-US" sz="2000" dirty="0">
                <a:latin typeface="굴림" panose="020B0600000101010101" pitchFamily="50" charset="-127"/>
                <a:ea typeface="굴림" panose="020B0600000101010101" pitchFamily="50" charset="-127"/>
              </a:rPr>
              <a:t>오늘날 환경 위기에 대한 윤리적 책임을 느끼는가</a:t>
            </a:r>
            <a:r>
              <a:rPr lang="en-US" altLang="ko-KR" sz="2000" dirty="0">
                <a:latin typeface="굴림" panose="020B0600000101010101" pitchFamily="50" charset="-127"/>
                <a:ea typeface="굴림" panose="020B0600000101010101" pitchFamily="50" charset="-127"/>
              </a:rPr>
              <a:t>?</a:t>
            </a:r>
            <a:endParaRPr lang="ko-KR" altLang="en-US" sz="2000" dirty="0">
              <a:latin typeface="굴림" panose="020B0600000101010101" pitchFamily="50" charset="-127"/>
              <a:ea typeface="굴림" panose="020B0600000101010101" pitchFamily="50" charset="-127"/>
            </a:endParaRPr>
          </a:p>
        </p:txBody>
      </p:sp>
      <p:pic>
        <p:nvPicPr>
          <p:cNvPr id="45" name="그림 44" descr="원, 다채로움, 그래픽, 상징이(가) 표시된 사진&#10;&#10;자동 생성된 설명">
            <a:extLst>
              <a:ext uri="{FF2B5EF4-FFF2-40B4-BE49-F238E27FC236}">
                <a16:creationId xmlns:a16="http://schemas.microsoft.com/office/drawing/2014/main" id="{C65C2315-1DF8-2619-956A-0B81C39746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652933" y="3930020"/>
            <a:ext cx="487174" cy="487174"/>
          </a:xfrm>
          <a:prstGeom prst="rect">
            <a:avLst/>
          </a:prstGeom>
        </p:spPr>
      </p:pic>
      <p:grpSp>
        <p:nvGrpSpPr>
          <p:cNvPr id="46" name="그룹 45">
            <a:extLst>
              <a:ext uri="{FF2B5EF4-FFF2-40B4-BE49-F238E27FC236}">
                <a16:creationId xmlns:a16="http://schemas.microsoft.com/office/drawing/2014/main" id="{BD8F7919-81BA-4F6C-659C-1ECE98A49C77}"/>
              </a:ext>
            </a:extLst>
          </p:cNvPr>
          <p:cNvGrpSpPr/>
          <p:nvPr/>
        </p:nvGrpSpPr>
        <p:grpSpPr>
          <a:xfrm>
            <a:off x="9535457" y="3930019"/>
            <a:ext cx="1087577" cy="495431"/>
            <a:chOff x="10075659" y="2003022"/>
            <a:chExt cx="1156006" cy="495431"/>
          </a:xfrm>
        </p:grpSpPr>
        <p:pic>
          <p:nvPicPr>
            <p:cNvPr id="47" name="그림 46" descr="그린, 다채로움, 스크린샷이(가) 표시된 사진&#10;&#10;자동 생성된 설명">
              <a:extLst>
                <a:ext uri="{FF2B5EF4-FFF2-40B4-BE49-F238E27FC236}">
                  <a16:creationId xmlns:a16="http://schemas.microsoft.com/office/drawing/2014/main" id="{ADA002ED-8D7B-65CA-D44C-3A927828DAB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075659" y="2003022"/>
              <a:ext cx="1156006" cy="495431"/>
            </a:xfrm>
            <a:prstGeom prst="rect">
              <a:avLst/>
            </a:prstGeom>
          </p:spPr>
        </p:pic>
        <p:sp>
          <p:nvSpPr>
            <p:cNvPr id="48" name="TextBox 47">
              <a:extLst>
                <a:ext uri="{FF2B5EF4-FFF2-40B4-BE49-F238E27FC236}">
                  <a16:creationId xmlns:a16="http://schemas.microsoft.com/office/drawing/2014/main" id="{492508EF-5B45-FCB1-63DF-BCFA304E8F7C}"/>
                </a:ext>
              </a:extLst>
            </p:cNvPr>
            <p:cNvSpPr txBox="1"/>
            <p:nvPr/>
          </p:nvSpPr>
          <p:spPr>
            <a:xfrm>
              <a:off x="10156818" y="2052992"/>
              <a:ext cx="938077" cy="369332"/>
            </a:xfrm>
            <a:prstGeom prst="rect">
              <a:avLst/>
            </a:prstGeom>
            <a:noFill/>
          </p:spPr>
          <p:txBody>
            <a:bodyPr wrap="none" rtlCol="0">
              <a:spAutoFit/>
            </a:bodyPr>
            <a:lstStyle/>
            <a:p>
              <a:r>
                <a:rPr lang="ko-KR" altLang="en-US" b="1" dirty="0" smtClean="0">
                  <a:solidFill>
                    <a:schemeClr val="bg1"/>
                  </a:solidFill>
                  <a:latin typeface="굴림" panose="020B0600000101010101" pitchFamily="50" charset="-127"/>
                  <a:ea typeface="굴림" panose="020B0600000101010101" pitchFamily="50" charset="-127"/>
                </a:rPr>
                <a:t>예시 답</a:t>
              </a:r>
              <a:endParaRPr lang="ko-KR" altLang="en-US" b="1" dirty="0">
                <a:solidFill>
                  <a:schemeClr val="bg1"/>
                </a:solidFill>
                <a:latin typeface="굴림" panose="020B0600000101010101" pitchFamily="50" charset="-127"/>
                <a:ea typeface="굴림" panose="020B0600000101010101" pitchFamily="50" charset="-127"/>
              </a:endParaRPr>
            </a:p>
          </p:txBody>
        </p:sp>
      </p:grpSp>
      <p:sp>
        <p:nvSpPr>
          <p:cNvPr id="50" name="TextBox 49"/>
          <p:cNvSpPr txBox="1"/>
          <p:nvPr/>
        </p:nvSpPr>
        <p:spPr>
          <a:xfrm>
            <a:off x="935915" y="4546283"/>
            <a:ext cx="8165055" cy="1129092"/>
          </a:xfrm>
          <a:prstGeom prst="rect">
            <a:avLst/>
          </a:prstGeom>
          <a:noFill/>
        </p:spPr>
        <p:txBody>
          <a:bodyPr wrap="square" rtlCol="0">
            <a:spAutoFit/>
          </a:bodyPr>
          <a:lstStyle/>
          <a:p>
            <a:pPr algn="just">
              <a:lnSpc>
                <a:spcPct val="150000"/>
              </a:lnSpc>
            </a:pPr>
            <a:r>
              <a:rPr lang="ko-KR" altLang="en-US" sz="2400" dirty="0">
                <a:solidFill>
                  <a:srgbClr val="0070C0"/>
                </a:solidFill>
                <a:latin typeface="Arial Rounded MT Bold" panose="020F0704030504030204" pitchFamily="34" charset="0"/>
              </a:rPr>
              <a:t>오늘날 우리가 직면한 심각한 환경 위기에 대한 책임이 나에게도 있음을 느꼈다</a:t>
            </a:r>
            <a:r>
              <a:rPr lang="en-US" altLang="ko-KR" sz="2400" dirty="0">
                <a:solidFill>
                  <a:srgbClr val="0070C0"/>
                </a:solidFill>
                <a:latin typeface="Arial Rounded MT Bold" panose="020F0704030504030204" pitchFamily="34" charset="0"/>
              </a:rPr>
              <a:t>.</a:t>
            </a:r>
          </a:p>
        </p:txBody>
      </p:sp>
      <p:grpSp>
        <p:nvGrpSpPr>
          <p:cNvPr id="3" name="그룹 2"/>
          <p:cNvGrpSpPr/>
          <p:nvPr/>
        </p:nvGrpSpPr>
        <p:grpSpPr>
          <a:xfrm>
            <a:off x="936087" y="3953767"/>
            <a:ext cx="1328154" cy="507831"/>
            <a:chOff x="877165" y="3739778"/>
            <a:chExt cx="1328154" cy="507831"/>
          </a:xfrm>
        </p:grpSpPr>
        <p:sp>
          <p:nvSpPr>
            <p:cNvPr id="2" name="모서리가 둥근 직사각형 1"/>
            <p:cNvSpPr/>
            <p:nvPr/>
          </p:nvSpPr>
          <p:spPr>
            <a:xfrm>
              <a:off x="877165" y="4040219"/>
              <a:ext cx="1328154" cy="158491"/>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p:cNvSpPr txBox="1"/>
            <p:nvPr/>
          </p:nvSpPr>
          <p:spPr>
            <a:xfrm>
              <a:off x="948928" y="3739778"/>
              <a:ext cx="1224117" cy="507831"/>
            </a:xfrm>
            <a:prstGeom prst="rect">
              <a:avLst/>
            </a:prstGeom>
            <a:noFill/>
          </p:spPr>
          <p:txBody>
            <a:bodyPr wrap="square" rtlCol="0">
              <a:spAutoFit/>
            </a:bodyPr>
            <a:lstStyle/>
            <a:p>
              <a:pPr algn="just">
                <a:lnSpc>
                  <a:spcPct val="150000"/>
                </a:lnSpc>
              </a:pPr>
              <a:r>
                <a:rPr lang="ko-KR" altLang="en-US" b="1" dirty="0" smtClean="0">
                  <a:solidFill>
                    <a:schemeClr val="accent6">
                      <a:lumMod val="50000"/>
                    </a:schemeClr>
                  </a:solidFill>
                  <a:latin typeface="돋움" panose="020B0600000101010101" pitchFamily="50" charset="-127"/>
                  <a:ea typeface="돋움" panose="020B0600000101010101" pitchFamily="50" charset="-127"/>
                </a:rPr>
                <a:t>나의 성찰</a:t>
              </a:r>
              <a:endParaRPr lang="ko-KR" altLang="en-US" b="1" dirty="0">
                <a:solidFill>
                  <a:schemeClr val="accent6">
                    <a:lumMod val="50000"/>
                  </a:schemeClr>
                </a:solidFill>
                <a:latin typeface="돋움" panose="020B0600000101010101" pitchFamily="50" charset="-127"/>
                <a:ea typeface="돋움" panose="020B0600000101010101" pitchFamily="50" charset="-127"/>
              </a:endParaRPr>
            </a:p>
          </p:txBody>
        </p:sp>
      </p:grpSp>
      <p:sp>
        <p:nvSpPr>
          <p:cNvPr id="22" name="TextBox 21"/>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3" name="TextBox 22">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24" name="TextBox 23">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Tree>
    <p:extLst>
      <p:ext uri="{BB962C8B-B14F-4D97-AF65-F5344CB8AC3E}">
        <p14:creationId xmlns:p14="http://schemas.microsoft.com/office/powerpoint/2010/main" val="35190490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nextCondLst>
                <p:cond evt="onClick" delay="0">
                  <p:tgtEl>
                    <p:spTgt spid="46"/>
                  </p:tgtEl>
                </p:cond>
              </p:nextCondLst>
            </p:seq>
            <p:seq concurrent="1" nextAc="seek">
              <p:cTn id="7" restart="whenNotActive" fill="hold" evtFilter="cancelBubble" nodeType="interactiveSeq">
                <p:stCondLst>
                  <p:cond evt="onClick" delay="0">
                    <p:tgtEl>
                      <p:spTgt spid="45"/>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45"/>
                  </p:tgtEl>
                </p:cond>
              </p:nextCondLst>
            </p:seq>
          </p:childTnLst>
        </p:cTn>
      </p:par>
    </p:tnLst>
    <p:bldLst>
      <p:bldP spid="50" grpId="0"/>
      <p:bldP spid="50"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모서리가 둥근 직사각형 2"/>
          <p:cNvSpPr/>
          <p:nvPr/>
        </p:nvSpPr>
        <p:spPr>
          <a:xfrm>
            <a:off x="1271238" y="2086984"/>
            <a:ext cx="9523142" cy="4173967"/>
          </a:xfrm>
          <a:prstGeom prst="roundRect">
            <a:avLst/>
          </a:prstGeom>
          <a:solidFill>
            <a:schemeClr val="bg1"/>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800" dirty="0" smtClean="0">
                <a:solidFill>
                  <a:schemeClr val="tx1"/>
                </a:solidFill>
              </a:rPr>
              <a:t>다음 시간에는</a:t>
            </a:r>
            <a:endParaRPr lang="en-US" altLang="ko-KR" sz="2800" dirty="0" smtClean="0">
              <a:solidFill>
                <a:schemeClr val="tx1"/>
              </a:solidFill>
            </a:endParaRPr>
          </a:p>
          <a:p>
            <a:pPr algn="ctr"/>
            <a:endParaRPr lang="en-US" altLang="ko-KR" sz="2800" dirty="0">
              <a:solidFill>
                <a:schemeClr val="tx1"/>
              </a:solidFill>
            </a:endParaRPr>
          </a:p>
          <a:p>
            <a:pPr algn="ctr"/>
            <a:r>
              <a:rPr lang="en-US" altLang="ko-KR" sz="2800" b="1" dirty="0" smtClean="0">
                <a:solidFill>
                  <a:schemeClr val="tx1"/>
                </a:solidFill>
              </a:rPr>
              <a:t>“03. </a:t>
            </a:r>
            <a:r>
              <a:rPr lang="ko-KR" altLang="en-US" sz="2800" b="1" dirty="0" smtClean="0">
                <a:solidFill>
                  <a:schemeClr val="tx1"/>
                </a:solidFill>
              </a:rPr>
              <a:t>자연과 공존하려면 어떤 노력을 해야 할까</a:t>
            </a:r>
            <a:r>
              <a:rPr lang="en-US" altLang="ko-KR" sz="2800" b="1" dirty="0" smtClean="0">
                <a:solidFill>
                  <a:schemeClr val="tx1"/>
                </a:solidFill>
              </a:rPr>
              <a:t>?”</a:t>
            </a:r>
            <a:r>
              <a:rPr lang="ko-KR" altLang="en-US" sz="2800" dirty="0" smtClean="0">
                <a:solidFill>
                  <a:schemeClr val="tx1"/>
                </a:solidFill>
              </a:rPr>
              <a:t>를</a:t>
            </a:r>
            <a:endParaRPr lang="en-US" altLang="ko-KR" sz="2800" dirty="0" smtClean="0">
              <a:solidFill>
                <a:schemeClr val="tx1"/>
              </a:solidFill>
            </a:endParaRPr>
          </a:p>
          <a:p>
            <a:pPr algn="ctr"/>
            <a:endParaRPr lang="en-US" altLang="ko-KR" sz="2800" dirty="0">
              <a:solidFill>
                <a:schemeClr val="tx1"/>
              </a:solidFill>
            </a:endParaRPr>
          </a:p>
          <a:p>
            <a:pPr algn="ctr"/>
            <a:r>
              <a:rPr lang="ko-KR" altLang="en-US" sz="2800" dirty="0" smtClean="0">
                <a:solidFill>
                  <a:schemeClr val="tx1"/>
                </a:solidFill>
              </a:rPr>
              <a:t>배워 보아요</a:t>
            </a:r>
            <a:r>
              <a:rPr lang="en-US" altLang="ko-KR" sz="2800" dirty="0" smtClean="0">
                <a:solidFill>
                  <a:schemeClr val="tx1"/>
                </a:solidFill>
              </a:rPr>
              <a:t>.</a:t>
            </a:r>
            <a:endParaRPr lang="ko-KR" altLang="en-US" sz="2800" dirty="0">
              <a:solidFill>
                <a:schemeClr val="tx1"/>
              </a:solidFill>
            </a:endParaRPr>
          </a:p>
        </p:txBody>
      </p:sp>
      <p:pic>
        <p:nvPicPr>
          <p:cNvPr id="2" name="그림 1" descr="동물 피규어, 곰, 클립아트, 만화 영화이(가) 표시된 사진&#10;&#10;자동 생성된 설명">
            <a:extLst>
              <a:ext uri="{FF2B5EF4-FFF2-40B4-BE49-F238E27FC236}">
                <a16:creationId xmlns:a16="http://schemas.microsoft.com/office/drawing/2014/main" id="{D69624B4-0050-04C5-8DBB-1467BBABF8D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541833" y="571002"/>
            <a:ext cx="1743521" cy="1617786"/>
          </a:xfrm>
          <a:prstGeom prst="rect">
            <a:avLst/>
          </a:prstGeom>
        </p:spPr>
      </p:pic>
    </p:spTree>
    <p:extLst>
      <p:ext uri="{BB962C8B-B14F-4D97-AF65-F5344CB8AC3E}">
        <p14:creationId xmlns:p14="http://schemas.microsoft.com/office/powerpoint/2010/main" val="28792735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빈칸 채우기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오늘날의 환경 위기</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210쪽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1">
                <a:solidFill>
                  <a:srgbClr val="843C0C"/>
                </a:solidFill>
              </a:rPr>
              <a:t>(1) 환경 위기의 심각성</a:t>
            </a:r>
          </a:p>
          <a:p>
            <a:pPr>
              <a:lnSpc>
                <a:spcPct val="130000"/>
              </a:lnSpc>
              <a:spcBef>
                <a:spcPts val="700"/>
              </a:spcBef>
            </a:pPr>
            <a:r>
              <a:rPr sz="2400" b="0">
                <a:solidFill>
                  <a:srgbClr val="262626"/>
                </a:solidFill>
              </a:rPr>
              <a:t>우리의 일상까지 위협함.</a:t>
            </a:r>
          </a:p>
          <a:p>
            <a:pPr>
              <a:lnSpc>
                <a:spcPct val="130000"/>
              </a:lnSpc>
              <a:spcBef>
                <a:spcPts val="700"/>
              </a:spcBef>
            </a:pPr>
            <a:r>
              <a:rPr sz="2400" b="0">
                <a:solidFill>
                  <a:srgbClr val="262626"/>
                </a:solidFill>
              </a:rPr>
              <a:t>물질적 풍요를 누리기 위해 자연을 개발하는 과정에서 환경 </a:t>
            </a:r>
            <a:r>
              <a:rPr sz="1439" b="1">
                <a:solidFill>
                  <a:srgbClr val="2F6FD0"/>
                </a:solidFill>
              </a:rPr>
              <a:t>①</a:t>
            </a:r>
            <a:r>
              <a:rPr sz="2400" b="1" u="sng">
                <a:solidFill>
                  <a:srgbClr val="FFFFFF"/>
                </a:solidFill>
                <a:uFill>
                  <a:solidFill>
                    <a:srgbClr val="C0392B"/>
                  </a:solidFill>
                </a:uFill>
              </a:rPr>
              <a:t> 위기 </a:t>
            </a:r>
            <a:r>
              <a:rPr sz="2400" b="0">
                <a:solidFill>
                  <a:srgbClr val="262626"/>
                </a:solidFill>
              </a:rPr>
              <a:t>를 초래함.</a:t>
            </a:r>
          </a:p>
          <a:p>
            <a:pPr>
              <a:lnSpc>
                <a:spcPct val="130000"/>
              </a:lnSpc>
              <a:spcBef>
                <a:spcPts val="100"/>
              </a:spcBef>
            </a:pPr>
            <a:r>
              <a:rPr sz="2100" b="1">
                <a:solidFill>
                  <a:srgbClr val="B45F06">
                    <a:alpha val="0"/>
                  </a:srgbClr>
                </a:solidFill>
              </a:rPr>
              <a:t>💡 더 넓은 밭을 만들려고 아마존 숲을 태운다</a:t>
            </a:r>
          </a:p>
          <a:p>
            <a:pPr>
              <a:lnSpc>
                <a:spcPct val="130000"/>
              </a:lnSpc>
              <a:spcBef>
                <a:spcPts val="700"/>
              </a:spcBef>
            </a:pPr>
            <a:r>
              <a:rPr sz="2400" b="1">
                <a:solidFill>
                  <a:srgbClr val="843C0C"/>
                </a:solidFill>
              </a:rPr>
              <a:t>(2) 환경 위기의 특성</a:t>
            </a:r>
          </a:p>
          <a:p>
            <a:pPr>
              <a:lnSpc>
                <a:spcPct val="130000"/>
              </a:lnSpc>
              <a:spcBef>
                <a:spcPts val="700"/>
              </a:spcBef>
            </a:pPr>
            <a:r>
              <a:rPr sz="2400" b="1">
                <a:solidFill>
                  <a:srgbClr val="843C0C"/>
                </a:solidFill>
              </a:rPr>
              <a:t>환경 위기는 지구의 </a:t>
            </a:r>
            <a:r>
              <a:rPr sz="1439" b="1">
                <a:solidFill>
                  <a:srgbClr val="2F6FD0"/>
                </a:solidFill>
              </a:rPr>
              <a:t>②</a:t>
            </a:r>
            <a:r>
              <a:rPr sz="2400" b="1" u="sng">
                <a:solidFill>
                  <a:srgbClr val="FFFFFF"/>
                </a:solidFill>
                <a:uFill>
                  <a:solidFill>
                    <a:srgbClr val="C0392B"/>
                  </a:solidFill>
                </a:uFill>
              </a:rPr>
              <a:t> 자정 </a:t>
            </a:r>
            <a:r>
              <a:rPr sz="2400" b="1">
                <a:solidFill>
                  <a:srgbClr val="843C0C"/>
                </a:solidFill>
              </a:rPr>
              <a:t> 능력을 넘어섬</a:t>
            </a:r>
            <a:r>
              <a:rPr sz="2400" b="1">
                <a:solidFill>
                  <a:srgbClr val="843C0C"/>
                </a:solidFill>
              </a:rPr>
              <a:t> : </a:t>
            </a:r>
            <a:r>
              <a:rPr sz="2400" b="0">
                <a:solidFill>
                  <a:srgbClr val="262626"/>
                </a:solidFill>
              </a:rPr>
              <a:t>자연 생태계가 오염 물질을 스스로 정화하여 원래 상태로 복구하는 능력인 능력 ⇨ 한꺼번에 많은 오염 물질을 배출하면 스스로 정화하기 어려움.</a:t>
            </a:r>
          </a:p>
          <a:p>
            <a:pPr>
              <a:lnSpc>
                <a:spcPct val="130000"/>
              </a:lnSpc>
              <a:spcBef>
                <a:spcPts val="100"/>
              </a:spcBef>
            </a:pPr>
            <a:r>
              <a:rPr sz="2100" b="1">
                <a:solidFill>
                  <a:srgbClr val="B45F06">
                    <a:alpha val="0"/>
                  </a:srgbClr>
                </a:solidFill>
              </a:rPr>
              <a:t>💡 강에 오염 물질을 한꺼번에 흘려보내면 물고기가 떼죽음한다</a:t>
            </a:r>
          </a:p>
        </p:txBody>
      </p:sp>
      <p:sp>
        <p:nvSpPr>
          <p:cNvPr id="23" name="TextBox 22"/>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1">
                <a:solidFill>
                  <a:srgbClr val="843C0C">
                    <a:alpha val="0"/>
                  </a:srgbClr>
                </a:solidFill>
              </a:rPr>
              <a:t>(1) 환경 위기의 심각성</a:t>
            </a:r>
          </a:p>
          <a:p>
            <a:pPr>
              <a:lnSpc>
                <a:spcPct val="130000"/>
              </a:lnSpc>
              <a:spcBef>
                <a:spcPts val="700"/>
              </a:spcBef>
            </a:pPr>
            <a:r>
              <a:rPr sz="2400" b="0">
                <a:solidFill>
                  <a:srgbClr val="262626">
                    <a:alpha val="0"/>
                  </a:srgbClr>
                </a:solidFill>
              </a:rPr>
              <a:t>우리의 일상까지 위협함.</a:t>
            </a:r>
          </a:p>
          <a:p>
            <a:pPr>
              <a:lnSpc>
                <a:spcPct val="130000"/>
              </a:lnSpc>
              <a:spcBef>
                <a:spcPts val="700"/>
              </a:spcBef>
            </a:pPr>
            <a:r>
              <a:rPr sz="2400" b="0">
                <a:solidFill>
                  <a:srgbClr val="262626">
                    <a:alpha val="0"/>
                  </a:srgbClr>
                </a:solidFill>
              </a:rPr>
              <a:t>물질적 풍요를 누리기 위해 자연을 개발하는 과정에서 환경 </a:t>
            </a:r>
            <a:r>
              <a:rPr sz="1439" b="1">
                <a:solidFill>
                  <a:srgbClr val="2F6FD0">
                    <a:alpha val="0"/>
                  </a:srgbClr>
                </a:solidFill>
              </a:rPr>
              <a:t>①</a:t>
            </a:r>
            <a:r>
              <a:rPr sz="2400" b="1">
                <a:solidFill>
                  <a:srgbClr val="C0392B"/>
                </a:solidFill>
              </a:rPr>
              <a:t> 위기 </a:t>
            </a:r>
            <a:r>
              <a:rPr sz="2400" b="0">
                <a:solidFill>
                  <a:srgbClr val="262626">
                    <a:alpha val="0"/>
                  </a:srgbClr>
                </a:solidFill>
              </a:rPr>
              <a:t>를 초래함.</a:t>
            </a:r>
          </a:p>
          <a:p>
            <a:pPr>
              <a:lnSpc>
                <a:spcPct val="130000"/>
              </a:lnSpc>
              <a:spcBef>
                <a:spcPts val="100"/>
              </a:spcBef>
            </a:pPr>
            <a:r>
              <a:rPr sz="2100" b="1">
                <a:solidFill>
                  <a:srgbClr val="B45F06">
                    <a:alpha val="0"/>
                  </a:srgbClr>
                </a:solidFill>
              </a:rPr>
              <a:t>💡 더 넓은 밭을 만들려고 아마존 숲을 태운다</a:t>
            </a:r>
          </a:p>
          <a:p>
            <a:pPr>
              <a:lnSpc>
                <a:spcPct val="130000"/>
              </a:lnSpc>
              <a:spcBef>
                <a:spcPts val="700"/>
              </a:spcBef>
            </a:pPr>
            <a:r>
              <a:rPr sz="2400" b="1">
                <a:solidFill>
                  <a:srgbClr val="843C0C">
                    <a:alpha val="0"/>
                  </a:srgbClr>
                </a:solidFill>
              </a:rPr>
              <a:t>(2) 환경 위기의 특성</a:t>
            </a:r>
          </a:p>
          <a:p>
            <a:pPr>
              <a:lnSpc>
                <a:spcPct val="130000"/>
              </a:lnSpc>
              <a:spcBef>
                <a:spcPts val="700"/>
              </a:spcBef>
            </a:pPr>
            <a:r>
              <a:rPr sz="2400" b="1">
                <a:solidFill>
                  <a:srgbClr val="843C0C">
                    <a:alpha val="0"/>
                  </a:srgbClr>
                </a:solidFill>
              </a:rPr>
              <a:t>환경 위기는 지구의 </a:t>
            </a:r>
            <a:r>
              <a:rPr sz="1439" b="1">
                <a:solidFill>
                  <a:srgbClr val="2F6FD0">
                    <a:alpha val="0"/>
                  </a:srgbClr>
                </a:solidFill>
              </a:rPr>
              <a:t>②</a:t>
            </a:r>
            <a:r>
              <a:rPr sz="2400" b="1">
                <a:solidFill>
                  <a:srgbClr val="C0392B">
                    <a:alpha val="0"/>
                  </a:srgbClr>
                </a:solidFill>
              </a:rPr>
              <a:t> 자정 </a:t>
            </a:r>
            <a:r>
              <a:rPr sz="2400" b="1">
                <a:solidFill>
                  <a:srgbClr val="843C0C">
                    <a:alpha val="0"/>
                  </a:srgbClr>
                </a:solidFill>
              </a:rPr>
              <a:t> 능력을 넘어섬</a:t>
            </a:r>
            <a:r>
              <a:rPr sz="2400" b="1">
                <a:solidFill>
                  <a:srgbClr val="843C0C">
                    <a:alpha val="0"/>
                  </a:srgbClr>
                </a:solidFill>
              </a:rPr>
              <a:t> : </a:t>
            </a:r>
            <a:r>
              <a:rPr sz="2400" b="0">
                <a:solidFill>
                  <a:srgbClr val="262626">
                    <a:alpha val="0"/>
                  </a:srgbClr>
                </a:solidFill>
              </a:rPr>
              <a:t>자연 생태계가 오염 물질을 스스로 정화하여 원래 상태로 복구하는 능력인 능력 ⇨ 한꺼번에 많은 오염 물질을 배출하면 스스로 정화하기 어려움.</a:t>
            </a:r>
          </a:p>
          <a:p>
            <a:pPr>
              <a:lnSpc>
                <a:spcPct val="130000"/>
              </a:lnSpc>
              <a:spcBef>
                <a:spcPts val="100"/>
              </a:spcBef>
            </a:pPr>
            <a:r>
              <a:rPr sz="2100" b="1">
                <a:solidFill>
                  <a:srgbClr val="B45F06">
                    <a:alpha val="0"/>
                  </a:srgbClr>
                </a:solidFill>
              </a:rPr>
              <a:t>💡 강에 오염 물질을 한꺼번에 흘려보내면 물고기가 떼죽음한다</a:t>
            </a:r>
          </a:p>
        </p:txBody>
      </p:sp>
      <p:sp>
        <p:nvSpPr>
          <p:cNvPr id="24" name="TextBox 23"/>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1">
                <a:solidFill>
                  <a:srgbClr val="843C0C">
                    <a:alpha val="0"/>
                  </a:srgbClr>
                </a:solidFill>
              </a:rPr>
              <a:t>(1) 환경 위기의 심각성</a:t>
            </a:r>
          </a:p>
          <a:p>
            <a:pPr>
              <a:lnSpc>
                <a:spcPct val="130000"/>
              </a:lnSpc>
              <a:spcBef>
                <a:spcPts val="700"/>
              </a:spcBef>
            </a:pPr>
            <a:r>
              <a:rPr sz="2400" b="0">
                <a:solidFill>
                  <a:srgbClr val="262626">
                    <a:alpha val="0"/>
                  </a:srgbClr>
                </a:solidFill>
              </a:rPr>
              <a:t>우리의 일상까지 위협함.</a:t>
            </a:r>
          </a:p>
          <a:p>
            <a:pPr>
              <a:lnSpc>
                <a:spcPct val="130000"/>
              </a:lnSpc>
              <a:spcBef>
                <a:spcPts val="700"/>
              </a:spcBef>
            </a:pPr>
            <a:r>
              <a:rPr sz="2400" b="0">
                <a:solidFill>
                  <a:srgbClr val="262626">
                    <a:alpha val="0"/>
                  </a:srgbClr>
                </a:solidFill>
              </a:rPr>
              <a:t>물질적 풍요를 누리기 위해 자연을 개발하는 과정에서 환경 </a:t>
            </a:r>
            <a:r>
              <a:rPr sz="1439" b="1">
                <a:solidFill>
                  <a:srgbClr val="2F6FD0">
                    <a:alpha val="0"/>
                  </a:srgbClr>
                </a:solidFill>
              </a:rPr>
              <a:t>①</a:t>
            </a:r>
            <a:r>
              <a:rPr sz="2400" b="1">
                <a:solidFill>
                  <a:srgbClr val="C0392B">
                    <a:alpha val="0"/>
                  </a:srgbClr>
                </a:solidFill>
              </a:rPr>
              <a:t> 위기 </a:t>
            </a:r>
            <a:r>
              <a:rPr sz="2400" b="0">
                <a:solidFill>
                  <a:srgbClr val="262626">
                    <a:alpha val="0"/>
                  </a:srgbClr>
                </a:solidFill>
              </a:rPr>
              <a:t>를 초래함.</a:t>
            </a:r>
          </a:p>
          <a:p>
            <a:pPr>
              <a:lnSpc>
                <a:spcPct val="130000"/>
              </a:lnSpc>
              <a:spcBef>
                <a:spcPts val="100"/>
              </a:spcBef>
            </a:pPr>
            <a:r>
              <a:rPr sz="2100" b="1">
                <a:solidFill>
                  <a:srgbClr val="B45F06"/>
                </a:solidFill>
              </a:rPr>
              <a:t>💡 더 넓은 밭을 만들려고 아마존 숲을 태운다</a:t>
            </a:r>
          </a:p>
          <a:p>
            <a:pPr>
              <a:lnSpc>
                <a:spcPct val="130000"/>
              </a:lnSpc>
              <a:spcBef>
                <a:spcPts val="700"/>
              </a:spcBef>
            </a:pPr>
            <a:r>
              <a:rPr sz="2400" b="1">
                <a:solidFill>
                  <a:srgbClr val="843C0C">
                    <a:alpha val="0"/>
                  </a:srgbClr>
                </a:solidFill>
              </a:rPr>
              <a:t>(2) 환경 위기의 특성</a:t>
            </a:r>
          </a:p>
          <a:p>
            <a:pPr>
              <a:lnSpc>
                <a:spcPct val="130000"/>
              </a:lnSpc>
              <a:spcBef>
                <a:spcPts val="700"/>
              </a:spcBef>
            </a:pPr>
            <a:r>
              <a:rPr sz="2400" b="1">
                <a:solidFill>
                  <a:srgbClr val="843C0C">
                    <a:alpha val="0"/>
                  </a:srgbClr>
                </a:solidFill>
              </a:rPr>
              <a:t>환경 위기는 지구의 </a:t>
            </a:r>
            <a:r>
              <a:rPr sz="1439" b="1">
                <a:solidFill>
                  <a:srgbClr val="2F6FD0">
                    <a:alpha val="0"/>
                  </a:srgbClr>
                </a:solidFill>
              </a:rPr>
              <a:t>②</a:t>
            </a:r>
            <a:r>
              <a:rPr sz="2400" b="1">
                <a:solidFill>
                  <a:srgbClr val="C0392B">
                    <a:alpha val="0"/>
                  </a:srgbClr>
                </a:solidFill>
              </a:rPr>
              <a:t> 자정 </a:t>
            </a:r>
            <a:r>
              <a:rPr sz="2400" b="1">
                <a:solidFill>
                  <a:srgbClr val="843C0C">
                    <a:alpha val="0"/>
                  </a:srgbClr>
                </a:solidFill>
              </a:rPr>
              <a:t> 능력을 넘어섬</a:t>
            </a:r>
            <a:r>
              <a:rPr sz="2400" b="1">
                <a:solidFill>
                  <a:srgbClr val="843C0C">
                    <a:alpha val="0"/>
                  </a:srgbClr>
                </a:solidFill>
              </a:rPr>
              <a:t> : </a:t>
            </a:r>
            <a:r>
              <a:rPr sz="2400" b="0">
                <a:solidFill>
                  <a:srgbClr val="262626">
                    <a:alpha val="0"/>
                  </a:srgbClr>
                </a:solidFill>
              </a:rPr>
              <a:t>자연 생태계가 오염 물질을 스스로 정화하여 원래 상태로 복구하는 능력인 능력 ⇨ 한꺼번에 많은 오염 물질을 배출하면 스스로 정화하기 어려움.</a:t>
            </a:r>
          </a:p>
          <a:p>
            <a:pPr>
              <a:lnSpc>
                <a:spcPct val="130000"/>
              </a:lnSpc>
              <a:spcBef>
                <a:spcPts val="100"/>
              </a:spcBef>
            </a:pPr>
            <a:r>
              <a:rPr sz="2100" b="1">
                <a:solidFill>
                  <a:srgbClr val="B45F06">
                    <a:alpha val="0"/>
                  </a:srgbClr>
                </a:solidFill>
              </a:rPr>
              <a:t>💡 강에 오염 물질을 한꺼번에 흘려보내면 물고기가 떼죽음한다</a:t>
            </a:r>
          </a:p>
        </p:txBody>
      </p:sp>
      <p:sp>
        <p:nvSpPr>
          <p:cNvPr id="25" name="TextBox 24"/>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1">
                <a:solidFill>
                  <a:srgbClr val="843C0C">
                    <a:alpha val="0"/>
                  </a:srgbClr>
                </a:solidFill>
              </a:rPr>
              <a:t>(1) 환경 위기의 심각성</a:t>
            </a:r>
          </a:p>
          <a:p>
            <a:pPr>
              <a:lnSpc>
                <a:spcPct val="130000"/>
              </a:lnSpc>
              <a:spcBef>
                <a:spcPts val="700"/>
              </a:spcBef>
            </a:pPr>
            <a:r>
              <a:rPr sz="2400" b="0">
                <a:solidFill>
                  <a:srgbClr val="262626">
                    <a:alpha val="0"/>
                  </a:srgbClr>
                </a:solidFill>
              </a:rPr>
              <a:t>우리의 일상까지 위협함.</a:t>
            </a:r>
          </a:p>
          <a:p>
            <a:pPr>
              <a:lnSpc>
                <a:spcPct val="130000"/>
              </a:lnSpc>
              <a:spcBef>
                <a:spcPts val="700"/>
              </a:spcBef>
            </a:pPr>
            <a:r>
              <a:rPr sz="2400" b="0">
                <a:solidFill>
                  <a:srgbClr val="262626">
                    <a:alpha val="0"/>
                  </a:srgbClr>
                </a:solidFill>
              </a:rPr>
              <a:t>물질적 풍요를 누리기 위해 자연을 개발하는 과정에서 환경 </a:t>
            </a:r>
            <a:r>
              <a:rPr sz="1439" b="1">
                <a:solidFill>
                  <a:srgbClr val="2F6FD0">
                    <a:alpha val="0"/>
                  </a:srgbClr>
                </a:solidFill>
              </a:rPr>
              <a:t>①</a:t>
            </a:r>
            <a:r>
              <a:rPr sz="2400" b="1">
                <a:solidFill>
                  <a:srgbClr val="C0392B">
                    <a:alpha val="0"/>
                  </a:srgbClr>
                </a:solidFill>
              </a:rPr>
              <a:t> 위기 </a:t>
            </a:r>
            <a:r>
              <a:rPr sz="2400" b="0">
                <a:solidFill>
                  <a:srgbClr val="262626">
                    <a:alpha val="0"/>
                  </a:srgbClr>
                </a:solidFill>
              </a:rPr>
              <a:t>를 초래함.</a:t>
            </a:r>
          </a:p>
          <a:p>
            <a:pPr>
              <a:lnSpc>
                <a:spcPct val="130000"/>
              </a:lnSpc>
              <a:spcBef>
                <a:spcPts val="100"/>
              </a:spcBef>
            </a:pPr>
            <a:r>
              <a:rPr sz="2100" b="1">
                <a:solidFill>
                  <a:srgbClr val="B45F06">
                    <a:alpha val="0"/>
                  </a:srgbClr>
                </a:solidFill>
              </a:rPr>
              <a:t>💡 더 넓은 밭을 만들려고 아마존 숲을 태운다</a:t>
            </a:r>
          </a:p>
          <a:p>
            <a:pPr>
              <a:lnSpc>
                <a:spcPct val="130000"/>
              </a:lnSpc>
              <a:spcBef>
                <a:spcPts val="700"/>
              </a:spcBef>
            </a:pPr>
            <a:r>
              <a:rPr sz="2400" b="1">
                <a:solidFill>
                  <a:srgbClr val="843C0C">
                    <a:alpha val="0"/>
                  </a:srgbClr>
                </a:solidFill>
              </a:rPr>
              <a:t>(2) 환경 위기의 특성</a:t>
            </a:r>
          </a:p>
          <a:p>
            <a:pPr>
              <a:lnSpc>
                <a:spcPct val="130000"/>
              </a:lnSpc>
              <a:spcBef>
                <a:spcPts val="700"/>
              </a:spcBef>
            </a:pPr>
            <a:r>
              <a:rPr sz="2400" b="1">
                <a:solidFill>
                  <a:srgbClr val="843C0C">
                    <a:alpha val="0"/>
                  </a:srgbClr>
                </a:solidFill>
              </a:rPr>
              <a:t>환경 위기는 지구의 </a:t>
            </a:r>
            <a:r>
              <a:rPr sz="1439" b="1">
                <a:solidFill>
                  <a:srgbClr val="2F6FD0">
                    <a:alpha val="0"/>
                  </a:srgbClr>
                </a:solidFill>
              </a:rPr>
              <a:t>②</a:t>
            </a:r>
            <a:r>
              <a:rPr sz="2400" b="1">
                <a:solidFill>
                  <a:srgbClr val="C0392B"/>
                </a:solidFill>
              </a:rPr>
              <a:t> 자정 </a:t>
            </a:r>
            <a:r>
              <a:rPr sz="2400" b="1">
                <a:solidFill>
                  <a:srgbClr val="843C0C">
                    <a:alpha val="0"/>
                  </a:srgbClr>
                </a:solidFill>
              </a:rPr>
              <a:t> 능력을 넘어섬</a:t>
            </a:r>
            <a:r>
              <a:rPr sz="2400" b="1">
                <a:solidFill>
                  <a:srgbClr val="843C0C">
                    <a:alpha val="0"/>
                  </a:srgbClr>
                </a:solidFill>
              </a:rPr>
              <a:t> : </a:t>
            </a:r>
            <a:r>
              <a:rPr sz="2400" b="0">
                <a:solidFill>
                  <a:srgbClr val="262626">
                    <a:alpha val="0"/>
                  </a:srgbClr>
                </a:solidFill>
              </a:rPr>
              <a:t>자연 생태계가 오염 물질을 스스로 정화하여 원래 상태로 복구하는 능력인 능력 ⇨ 한꺼번에 많은 오염 물질을 배출하면 스스로 정화하기 어려움.</a:t>
            </a:r>
          </a:p>
          <a:p>
            <a:pPr>
              <a:lnSpc>
                <a:spcPct val="130000"/>
              </a:lnSpc>
              <a:spcBef>
                <a:spcPts val="100"/>
              </a:spcBef>
            </a:pPr>
            <a:r>
              <a:rPr sz="2100" b="1">
                <a:solidFill>
                  <a:srgbClr val="B45F06">
                    <a:alpha val="0"/>
                  </a:srgbClr>
                </a:solidFill>
              </a:rPr>
              <a:t>💡 강에 오염 물질을 한꺼번에 흘려보내면 물고기가 떼죽음한다</a:t>
            </a:r>
          </a:p>
        </p:txBody>
      </p:sp>
      <p:sp>
        <p:nvSpPr>
          <p:cNvPr id="26" name="TextBox 25"/>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1">
                <a:solidFill>
                  <a:srgbClr val="843C0C">
                    <a:alpha val="0"/>
                  </a:srgbClr>
                </a:solidFill>
              </a:rPr>
              <a:t>(1) 환경 위기의 심각성</a:t>
            </a:r>
          </a:p>
          <a:p>
            <a:pPr>
              <a:lnSpc>
                <a:spcPct val="130000"/>
              </a:lnSpc>
              <a:spcBef>
                <a:spcPts val="700"/>
              </a:spcBef>
            </a:pPr>
            <a:r>
              <a:rPr sz="2400" b="0">
                <a:solidFill>
                  <a:srgbClr val="262626">
                    <a:alpha val="0"/>
                  </a:srgbClr>
                </a:solidFill>
              </a:rPr>
              <a:t>우리의 일상까지 위협함.</a:t>
            </a:r>
          </a:p>
          <a:p>
            <a:pPr>
              <a:lnSpc>
                <a:spcPct val="130000"/>
              </a:lnSpc>
              <a:spcBef>
                <a:spcPts val="700"/>
              </a:spcBef>
            </a:pPr>
            <a:r>
              <a:rPr sz="2400" b="0">
                <a:solidFill>
                  <a:srgbClr val="262626">
                    <a:alpha val="0"/>
                  </a:srgbClr>
                </a:solidFill>
              </a:rPr>
              <a:t>물질적 풍요를 누리기 위해 자연을 개발하는 과정에서 환경 </a:t>
            </a:r>
            <a:r>
              <a:rPr sz="1439" b="1">
                <a:solidFill>
                  <a:srgbClr val="2F6FD0">
                    <a:alpha val="0"/>
                  </a:srgbClr>
                </a:solidFill>
              </a:rPr>
              <a:t>①</a:t>
            </a:r>
            <a:r>
              <a:rPr sz="2400" b="1">
                <a:solidFill>
                  <a:srgbClr val="C0392B">
                    <a:alpha val="0"/>
                  </a:srgbClr>
                </a:solidFill>
              </a:rPr>
              <a:t> 위기 </a:t>
            </a:r>
            <a:r>
              <a:rPr sz="2400" b="0">
                <a:solidFill>
                  <a:srgbClr val="262626">
                    <a:alpha val="0"/>
                  </a:srgbClr>
                </a:solidFill>
              </a:rPr>
              <a:t>를 초래함.</a:t>
            </a:r>
          </a:p>
          <a:p>
            <a:pPr>
              <a:lnSpc>
                <a:spcPct val="130000"/>
              </a:lnSpc>
              <a:spcBef>
                <a:spcPts val="100"/>
              </a:spcBef>
            </a:pPr>
            <a:r>
              <a:rPr sz="2100" b="1">
                <a:solidFill>
                  <a:srgbClr val="B45F06">
                    <a:alpha val="0"/>
                  </a:srgbClr>
                </a:solidFill>
              </a:rPr>
              <a:t>💡 더 넓은 밭을 만들려고 아마존 숲을 태운다</a:t>
            </a:r>
          </a:p>
          <a:p>
            <a:pPr>
              <a:lnSpc>
                <a:spcPct val="130000"/>
              </a:lnSpc>
              <a:spcBef>
                <a:spcPts val="700"/>
              </a:spcBef>
            </a:pPr>
            <a:r>
              <a:rPr sz="2400" b="1">
                <a:solidFill>
                  <a:srgbClr val="843C0C">
                    <a:alpha val="0"/>
                  </a:srgbClr>
                </a:solidFill>
              </a:rPr>
              <a:t>(2) 환경 위기의 특성</a:t>
            </a:r>
          </a:p>
          <a:p>
            <a:pPr>
              <a:lnSpc>
                <a:spcPct val="130000"/>
              </a:lnSpc>
              <a:spcBef>
                <a:spcPts val="700"/>
              </a:spcBef>
            </a:pPr>
            <a:r>
              <a:rPr sz="2400" b="1">
                <a:solidFill>
                  <a:srgbClr val="843C0C">
                    <a:alpha val="0"/>
                  </a:srgbClr>
                </a:solidFill>
              </a:rPr>
              <a:t>환경 위기는 지구의 </a:t>
            </a:r>
            <a:r>
              <a:rPr sz="1439" b="1">
                <a:solidFill>
                  <a:srgbClr val="2F6FD0">
                    <a:alpha val="0"/>
                  </a:srgbClr>
                </a:solidFill>
              </a:rPr>
              <a:t>②</a:t>
            </a:r>
            <a:r>
              <a:rPr sz="2400" b="1">
                <a:solidFill>
                  <a:srgbClr val="C0392B">
                    <a:alpha val="0"/>
                  </a:srgbClr>
                </a:solidFill>
              </a:rPr>
              <a:t> 자정 </a:t>
            </a:r>
            <a:r>
              <a:rPr sz="2400" b="1">
                <a:solidFill>
                  <a:srgbClr val="843C0C">
                    <a:alpha val="0"/>
                  </a:srgbClr>
                </a:solidFill>
              </a:rPr>
              <a:t> 능력을 넘어섬</a:t>
            </a:r>
            <a:r>
              <a:rPr sz="2400" b="1">
                <a:solidFill>
                  <a:srgbClr val="843C0C">
                    <a:alpha val="0"/>
                  </a:srgbClr>
                </a:solidFill>
              </a:rPr>
              <a:t> : </a:t>
            </a:r>
            <a:r>
              <a:rPr sz="2400" b="0">
                <a:solidFill>
                  <a:srgbClr val="262626">
                    <a:alpha val="0"/>
                  </a:srgbClr>
                </a:solidFill>
              </a:rPr>
              <a:t>자연 생태계가 오염 물질을 스스로 정화하여 원래 상태로 복구하는 능력인 능력 ⇨ 한꺼번에 많은 오염 물질을 배출하면 스스로 정화하기 어려움.</a:t>
            </a:r>
          </a:p>
          <a:p>
            <a:pPr>
              <a:lnSpc>
                <a:spcPct val="130000"/>
              </a:lnSpc>
              <a:spcBef>
                <a:spcPts val="100"/>
              </a:spcBef>
            </a:pPr>
            <a:r>
              <a:rPr sz="2100" b="1">
                <a:solidFill>
                  <a:srgbClr val="B45F06"/>
                </a:solidFill>
              </a:rPr>
              <a:t>💡 강에 오염 물질을 한꺼번에 흘려보내면 물고기가 떼죽음한다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빈칸 채우기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오늘날의 환경 위기 (이어서)</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210쪽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solidFill>
              </a:rPr>
              <a:t>환경 위기는 인간의 예측보다 </a:t>
            </a:r>
            <a:r>
              <a:rPr sz="1439" b="1">
                <a:solidFill>
                  <a:srgbClr val="2F6FD0"/>
                </a:solidFill>
              </a:rPr>
              <a:t>③</a:t>
            </a:r>
            <a:r>
              <a:rPr sz="2400" b="1" u="sng">
                <a:solidFill>
                  <a:srgbClr val="FFFFFF"/>
                </a:solidFill>
                <a:uFill>
                  <a:solidFill>
                    <a:srgbClr val="C0392B"/>
                  </a:solidFill>
                </a:uFill>
              </a:rPr>
              <a:t> 빠른 </a:t>
            </a:r>
            <a:r>
              <a:rPr sz="2400" b="0">
                <a:solidFill>
                  <a:srgbClr val="262626"/>
                </a:solidFill>
              </a:rPr>
              <a:t> </a:t>
            </a:r>
            <a:r>
              <a:rPr sz="1439" b="1">
                <a:solidFill>
                  <a:srgbClr val="2F6FD0"/>
                </a:solidFill>
              </a:rPr>
              <a:t>④</a:t>
            </a:r>
            <a:r>
              <a:rPr sz="2400" b="1" u="sng">
                <a:solidFill>
                  <a:srgbClr val="FFFFFF"/>
                </a:solidFill>
                <a:uFill>
                  <a:solidFill>
                    <a:srgbClr val="C0392B"/>
                  </a:solidFill>
                </a:uFill>
              </a:rPr>
              <a:t> 속도 </a:t>
            </a:r>
            <a:r>
              <a:rPr sz="2400" b="0">
                <a:solidFill>
                  <a:srgbClr val="262626"/>
                </a:solidFill>
              </a:rPr>
              <a:t>로 진행함.</a:t>
            </a:r>
          </a:p>
          <a:p>
            <a:pPr>
              <a:lnSpc>
                <a:spcPct val="130000"/>
              </a:lnSpc>
              <a:spcBef>
                <a:spcPts val="100"/>
              </a:spcBef>
            </a:pPr>
            <a:r>
              <a:rPr sz="2100" b="1">
                <a:solidFill>
                  <a:srgbClr val="B45F06">
                    <a:alpha val="0"/>
                  </a:srgbClr>
                </a:solidFill>
              </a:rPr>
              <a:t>💡 북극 해빙이 예측보다 수십 년 빨리 줄고 있다</a:t>
            </a:r>
          </a:p>
          <a:p>
            <a:pPr>
              <a:lnSpc>
                <a:spcPct val="130000"/>
              </a:lnSpc>
              <a:spcBef>
                <a:spcPts val="700"/>
              </a:spcBef>
            </a:pPr>
            <a:r>
              <a:rPr sz="2400" b="0">
                <a:solidFill>
                  <a:srgbClr val="262626"/>
                </a:solidFill>
              </a:rPr>
              <a:t>환경 위기는 영향력의 범위가 </a:t>
            </a:r>
            <a:r>
              <a:rPr sz="1439" b="1">
                <a:solidFill>
                  <a:srgbClr val="2F6FD0"/>
                </a:solidFill>
              </a:rPr>
              <a:t>⑤</a:t>
            </a:r>
            <a:r>
              <a:rPr sz="2400" b="1" u="sng">
                <a:solidFill>
                  <a:srgbClr val="FFFFFF"/>
                </a:solidFill>
                <a:uFill>
                  <a:solidFill>
                    <a:srgbClr val="C0392B"/>
                  </a:solidFill>
                </a:uFill>
              </a:rPr>
              <a:t> 넓음 </a:t>
            </a:r>
            <a:r>
              <a:rPr sz="2400" b="0">
                <a:solidFill>
                  <a:srgbClr val="262626"/>
                </a:solidFill>
              </a:rPr>
              <a:t>. ⇨ 한 국가의 환경 위기가 다른 국가, 지구 전체에 영향을 미침.</a:t>
            </a:r>
          </a:p>
        </p:txBody>
      </p:sp>
      <p:sp>
        <p:nvSpPr>
          <p:cNvPr id="23" name="TextBox 22"/>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환경 위기는 인간의 예측보다 </a:t>
            </a:r>
            <a:r>
              <a:rPr sz="1439" b="1">
                <a:solidFill>
                  <a:srgbClr val="2F6FD0">
                    <a:alpha val="0"/>
                  </a:srgbClr>
                </a:solidFill>
              </a:rPr>
              <a:t>③</a:t>
            </a:r>
            <a:r>
              <a:rPr sz="2400" b="1">
                <a:solidFill>
                  <a:srgbClr val="C0392B"/>
                </a:solidFill>
              </a:rPr>
              <a:t> 빠른 </a:t>
            </a:r>
            <a:r>
              <a:rPr sz="2400" b="0">
                <a:solidFill>
                  <a:srgbClr val="262626">
                    <a:alpha val="0"/>
                  </a:srgbClr>
                </a:solidFill>
              </a:rPr>
              <a:t> </a:t>
            </a:r>
            <a:r>
              <a:rPr sz="1439" b="1">
                <a:solidFill>
                  <a:srgbClr val="2F6FD0">
                    <a:alpha val="0"/>
                  </a:srgbClr>
                </a:solidFill>
              </a:rPr>
              <a:t>④</a:t>
            </a:r>
            <a:r>
              <a:rPr sz="2400" b="1">
                <a:solidFill>
                  <a:srgbClr val="C0392B">
                    <a:alpha val="0"/>
                  </a:srgbClr>
                </a:solidFill>
              </a:rPr>
              <a:t> 속도 </a:t>
            </a:r>
            <a:r>
              <a:rPr sz="2400" b="0">
                <a:solidFill>
                  <a:srgbClr val="262626">
                    <a:alpha val="0"/>
                  </a:srgbClr>
                </a:solidFill>
              </a:rPr>
              <a:t>로 진행함.</a:t>
            </a:r>
          </a:p>
          <a:p>
            <a:pPr>
              <a:lnSpc>
                <a:spcPct val="130000"/>
              </a:lnSpc>
              <a:spcBef>
                <a:spcPts val="100"/>
              </a:spcBef>
            </a:pPr>
            <a:r>
              <a:rPr sz="2100" b="1">
                <a:solidFill>
                  <a:srgbClr val="B45F06">
                    <a:alpha val="0"/>
                  </a:srgbClr>
                </a:solidFill>
              </a:rPr>
              <a:t>💡 북극 해빙이 예측보다 수십 년 빨리 줄고 있다</a:t>
            </a:r>
          </a:p>
          <a:p>
            <a:pPr>
              <a:lnSpc>
                <a:spcPct val="130000"/>
              </a:lnSpc>
              <a:spcBef>
                <a:spcPts val="700"/>
              </a:spcBef>
            </a:pPr>
            <a:r>
              <a:rPr sz="2400" b="0">
                <a:solidFill>
                  <a:srgbClr val="262626">
                    <a:alpha val="0"/>
                  </a:srgbClr>
                </a:solidFill>
              </a:rPr>
              <a:t>환경 위기는 영향력의 범위가 </a:t>
            </a:r>
            <a:r>
              <a:rPr sz="1439" b="1">
                <a:solidFill>
                  <a:srgbClr val="2F6FD0">
                    <a:alpha val="0"/>
                  </a:srgbClr>
                </a:solidFill>
              </a:rPr>
              <a:t>⑤</a:t>
            </a:r>
            <a:r>
              <a:rPr sz="2400" b="1">
                <a:solidFill>
                  <a:srgbClr val="C0392B">
                    <a:alpha val="0"/>
                  </a:srgbClr>
                </a:solidFill>
              </a:rPr>
              <a:t> 넓음 </a:t>
            </a:r>
            <a:r>
              <a:rPr sz="2400" b="0">
                <a:solidFill>
                  <a:srgbClr val="262626">
                    <a:alpha val="0"/>
                  </a:srgbClr>
                </a:solidFill>
              </a:rPr>
              <a:t>. ⇨ 한 국가의 환경 위기가 다른 국가, 지구 전체에 영향을 미침.</a:t>
            </a:r>
          </a:p>
        </p:txBody>
      </p:sp>
      <p:sp>
        <p:nvSpPr>
          <p:cNvPr id="24" name="TextBox 23"/>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환경 위기는 인간의 예측보다 </a:t>
            </a:r>
            <a:r>
              <a:rPr sz="1439" b="1">
                <a:solidFill>
                  <a:srgbClr val="2F6FD0">
                    <a:alpha val="0"/>
                  </a:srgbClr>
                </a:solidFill>
              </a:rPr>
              <a:t>③</a:t>
            </a:r>
            <a:r>
              <a:rPr sz="2400" b="1">
                <a:solidFill>
                  <a:srgbClr val="C0392B">
                    <a:alpha val="0"/>
                  </a:srgbClr>
                </a:solidFill>
              </a:rPr>
              <a:t> 빠른 </a:t>
            </a:r>
            <a:r>
              <a:rPr sz="2400" b="0">
                <a:solidFill>
                  <a:srgbClr val="262626">
                    <a:alpha val="0"/>
                  </a:srgbClr>
                </a:solidFill>
              </a:rPr>
              <a:t> </a:t>
            </a:r>
            <a:r>
              <a:rPr sz="1439" b="1">
                <a:solidFill>
                  <a:srgbClr val="2F6FD0">
                    <a:alpha val="0"/>
                  </a:srgbClr>
                </a:solidFill>
              </a:rPr>
              <a:t>④</a:t>
            </a:r>
            <a:r>
              <a:rPr sz="2400" b="1">
                <a:solidFill>
                  <a:srgbClr val="C0392B"/>
                </a:solidFill>
              </a:rPr>
              <a:t> 속도 </a:t>
            </a:r>
            <a:r>
              <a:rPr sz="2400" b="0">
                <a:solidFill>
                  <a:srgbClr val="262626">
                    <a:alpha val="0"/>
                  </a:srgbClr>
                </a:solidFill>
              </a:rPr>
              <a:t>로 진행함.</a:t>
            </a:r>
          </a:p>
          <a:p>
            <a:pPr>
              <a:lnSpc>
                <a:spcPct val="130000"/>
              </a:lnSpc>
              <a:spcBef>
                <a:spcPts val="100"/>
              </a:spcBef>
            </a:pPr>
            <a:r>
              <a:rPr sz="2100" b="1">
                <a:solidFill>
                  <a:srgbClr val="B45F06">
                    <a:alpha val="0"/>
                  </a:srgbClr>
                </a:solidFill>
              </a:rPr>
              <a:t>💡 북극 해빙이 예측보다 수십 년 빨리 줄고 있다</a:t>
            </a:r>
          </a:p>
          <a:p>
            <a:pPr>
              <a:lnSpc>
                <a:spcPct val="130000"/>
              </a:lnSpc>
              <a:spcBef>
                <a:spcPts val="700"/>
              </a:spcBef>
            </a:pPr>
            <a:r>
              <a:rPr sz="2400" b="0">
                <a:solidFill>
                  <a:srgbClr val="262626">
                    <a:alpha val="0"/>
                  </a:srgbClr>
                </a:solidFill>
              </a:rPr>
              <a:t>환경 위기는 영향력의 범위가 </a:t>
            </a:r>
            <a:r>
              <a:rPr sz="1439" b="1">
                <a:solidFill>
                  <a:srgbClr val="2F6FD0">
                    <a:alpha val="0"/>
                  </a:srgbClr>
                </a:solidFill>
              </a:rPr>
              <a:t>⑤</a:t>
            </a:r>
            <a:r>
              <a:rPr sz="2400" b="1">
                <a:solidFill>
                  <a:srgbClr val="C0392B">
                    <a:alpha val="0"/>
                  </a:srgbClr>
                </a:solidFill>
              </a:rPr>
              <a:t> 넓음 </a:t>
            </a:r>
            <a:r>
              <a:rPr sz="2400" b="0">
                <a:solidFill>
                  <a:srgbClr val="262626">
                    <a:alpha val="0"/>
                  </a:srgbClr>
                </a:solidFill>
              </a:rPr>
              <a:t>. ⇨ 한 국가의 환경 위기가 다른 국가, 지구 전체에 영향을 미침.</a:t>
            </a:r>
          </a:p>
        </p:txBody>
      </p:sp>
      <p:sp>
        <p:nvSpPr>
          <p:cNvPr id="25" name="TextBox 24"/>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환경 위기는 인간의 예측보다 </a:t>
            </a:r>
            <a:r>
              <a:rPr sz="1439" b="1">
                <a:solidFill>
                  <a:srgbClr val="2F6FD0">
                    <a:alpha val="0"/>
                  </a:srgbClr>
                </a:solidFill>
              </a:rPr>
              <a:t>③</a:t>
            </a:r>
            <a:r>
              <a:rPr sz="2400" b="1">
                <a:solidFill>
                  <a:srgbClr val="C0392B">
                    <a:alpha val="0"/>
                  </a:srgbClr>
                </a:solidFill>
              </a:rPr>
              <a:t> 빠른 </a:t>
            </a:r>
            <a:r>
              <a:rPr sz="2400" b="0">
                <a:solidFill>
                  <a:srgbClr val="262626">
                    <a:alpha val="0"/>
                  </a:srgbClr>
                </a:solidFill>
              </a:rPr>
              <a:t> </a:t>
            </a:r>
            <a:r>
              <a:rPr sz="1439" b="1">
                <a:solidFill>
                  <a:srgbClr val="2F6FD0">
                    <a:alpha val="0"/>
                  </a:srgbClr>
                </a:solidFill>
              </a:rPr>
              <a:t>④</a:t>
            </a:r>
            <a:r>
              <a:rPr sz="2400" b="1">
                <a:solidFill>
                  <a:srgbClr val="C0392B">
                    <a:alpha val="0"/>
                  </a:srgbClr>
                </a:solidFill>
              </a:rPr>
              <a:t> 속도 </a:t>
            </a:r>
            <a:r>
              <a:rPr sz="2400" b="0">
                <a:solidFill>
                  <a:srgbClr val="262626">
                    <a:alpha val="0"/>
                  </a:srgbClr>
                </a:solidFill>
              </a:rPr>
              <a:t>로 진행함.</a:t>
            </a:r>
          </a:p>
          <a:p>
            <a:pPr>
              <a:lnSpc>
                <a:spcPct val="130000"/>
              </a:lnSpc>
              <a:spcBef>
                <a:spcPts val="100"/>
              </a:spcBef>
            </a:pPr>
            <a:r>
              <a:rPr sz="2100" b="1">
                <a:solidFill>
                  <a:srgbClr val="B45F06"/>
                </a:solidFill>
              </a:rPr>
              <a:t>💡 북극 해빙이 예측보다 수십 년 빨리 줄고 있다</a:t>
            </a:r>
          </a:p>
          <a:p>
            <a:pPr>
              <a:lnSpc>
                <a:spcPct val="130000"/>
              </a:lnSpc>
              <a:spcBef>
                <a:spcPts val="700"/>
              </a:spcBef>
            </a:pPr>
            <a:r>
              <a:rPr sz="2400" b="0">
                <a:solidFill>
                  <a:srgbClr val="262626">
                    <a:alpha val="0"/>
                  </a:srgbClr>
                </a:solidFill>
              </a:rPr>
              <a:t>환경 위기는 영향력의 범위가 </a:t>
            </a:r>
            <a:r>
              <a:rPr sz="1439" b="1">
                <a:solidFill>
                  <a:srgbClr val="2F6FD0">
                    <a:alpha val="0"/>
                  </a:srgbClr>
                </a:solidFill>
              </a:rPr>
              <a:t>⑤</a:t>
            </a:r>
            <a:r>
              <a:rPr sz="2400" b="1">
                <a:solidFill>
                  <a:srgbClr val="C0392B">
                    <a:alpha val="0"/>
                  </a:srgbClr>
                </a:solidFill>
              </a:rPr>
              <a:t> 넓음 </a:t>
            </a:r>
            <a:r>
              <a:rPr sz="2400" b="0">
                <a:solidFill>
                  <a:srgbClr val="262626">
                    <a:alpha val="0"/>
                  </a:srgbClr>
                </a:solidFill>
              </a:rPr>
              <a:t>. ⇨ 한 국가의 환경 위기가 다른 국가, 지구 전체에 영향을 미침.</a:t>
            </a:r>
          </a:p>
        </p:txBody>
      </p:sp>
      <p:sp>
        <p:nvSpPr>
          <p:cNvPr id="26" name="TextBox 25"/>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환경 위기는 인간의 예측보다 </a:t>
            </a:r>
            <a:r>
              <a:rPr sz="1439" b="1">
                <a:solidFill>
                  <a:srgbClr val="2F6FD0">
                    <a:alpha val="0"/>
                  </a:srgbClr>
                </a:solidFill>
              </a:rPr>
              <a:t>③</a:t>
            </a:r>
            <a:r>
              <a:rPr sz="2400" b="1">
                <a:solidFill>
                  <a:srgbClr val="C0392B">
                    <a:alpha val="0"/>
                  </a:srgbClr>
                </a:solidFill>
              </a:rPr>
              <a:t> 빠른 </a:t>
            </a:r>
            <a:r>
              <a:rPr sz="2400" b="0">
                <a:solidFill>
                  <a:srgbClr val="262626">
                    <a:alpha val="0"/>
                  </a:srgbClr>
                </a:solidFill>
              </a:rPr>
              <a:t> </a:t>
            </a:r>
            <a:r>
              <a:rPr sz="1439" b="1">
                <a:solidFill>
                  <a:srgbClr val="2F6FD0">
                    <a:alpha val="0"/>
                  </a:srgbClr>
                </a:solidFill>
              </a:rPr>
              <a:t>④</a:t>
            </a:r>
            <a:r>
              <a:rPr sz="2400" b="1">
                <a:solidFill>
                  <a:srgbClr val="C0392B">
                    <a:alpha val="0"/>
                  </a:srgbClr>
                </a:solidFill>
              </a:rPr>
              <a:t> 속도 </a:t>
            </a:r>
            <a:r>
              <a:rPr sz="2400" b="0">
                <a:solidFill>
                  <a:srgbClr val="262626">
                    <a:alpha val="0"/>
                  </a:srgbClr>
                </a:solidFill>
              </a:rPr>
              <a:t>로 진행함.</a:t>
            </a:r>
          </a:p>
          <a:p>
            <a:pPr>
              <a:lnSpc>
                <a:spcPct val="130000"/>
              </a:lnSpc>
              <a:spcBef>
                <a:spcPts val="100"/>
              </a:spcBef>
            </a:pPr>
            <a:r>
              <a:rPr sz="2100" b="1">
                <a:solidFill>
                  <a:srgbClr val="B45F06">
                    <a:alpha val="0"/>
                  </a:srgbClr>
                </a:solidFill>
              </a:rPr>
              <a:t>💡 북극 해빙이 예측보다 수십 년 빨리 줄고 있다</a:t>
            </a:r>
          </a:p>
          <a:p>
            <a:pPr>
              <a:lnSpc>
                <a:spcPct val="130000"/>
              </a:lnSpc>
              <a:spcBef>
                <a:spcPts val="700"/>
              </a:spcBef>
            </a:pPr>
            <a:r>
              <a:rPr sz="2400" b="0">
                <a:solidFill>
                  <a:srgbClr val="262626">
                    <a:alpha val="0"/>
                  </a:srgbClr>
                </a:solidFill>
              </a:rPr>
              <a:t>환경 위기는 영향력의 범위가 </a:t>
            </a:r>
            <a:r>
              <a:rPr sz="1439" b="1">
                <a:solidFill>
                  <a:srgbClr val="2F6FD0">
                    <a:alpha val="0"/>
                  </a:srgbClr>
                </a:solidFill>
              </a:rPr>
              <a:t>⑤</a:t>
            </a:r>
            <a:r>
              <a:rPr sz="2400" b="1">
                <a:solidFill>
                  <a:srgbClr val="C0392B"/>
                </a:solidFill>
              </a:rPr>
              <a:t> 넓음 </a:t>
            </a:r>
            <a:r>
              <a:rPr sz="2400" b="0">
                <a:solidFill>
                  <a:srgbClr val="262626">
                    <a:alpha val="0"/>
                  </a:srgbClr>
                </a:solidFill>
              </a:rPr>
              <a:t>. ⇨ 한 국가의 환경 위기가 다른 국가, 지구 전체에 영향을 미침.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더해 보기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사상가의 말</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210쪽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solidFill>
              </a:rPr>
              <a:t>“여러분은 자녀를 무엇보다 사랑한다면서 그들의 눈앞에서 미래를 훔치고 있다”</a:t>
            </a:r>
          </a:p>
          <a:p>
            <a:pPr>
              <a:lnSpc>
                <a:spcPct val="130000"/>
              </a:lnSpc>
              <a:spcBef>
                <a:spcPts val="800"/>
              </a:spcBef>
            </a:pPr>
            <a:r>
              <a:rPr sz="2400" b="0">
                <a:solidFill>
                  <a:srgbClr val="262626"/>
                </a:solidFill>
              </a:rPr>
              <a:t>— 툰베리, 유엔 기후 변화 회의 연설(2018, 폴란드 카토비체)</a:t>
            </a:r>
          </a:p>
          <a:p>
            <a:pPr>
              <a:lnSpc>
                <a:spcPct val="130000"/>
              </a:lnSpc>
              <a:spcBef>
                <a:spcPts val="800"/>
              </a:spcBef>
            </a:pPr>
            <a:r>
              <a:rPr sz="2400" b="0">
                <a:solidFill>
                  <a:srgbClr val="262626"/>
                </a:solidFill>
              </a:rPr>
              <a:t>열다섯 살에 혼자 학교 대신 국회 앞에서 시위를 시작했다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빈칸 채우기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환경 위기에 대한 윤리적 책임</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212쪽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solidFill>
              </a:rPr>
              <a:t>(1) 생태계에 대한 책임</a:t>
            </a:r>
          </a:p>
          <a:p>
            <a:pPr>
              <a:lnSpc>
                <a:spcPct val="130000"/>
              </a:lnSpc>
              <a:spcBef>
                <a:spcPts val="700"/>
              </a:spcBef>
            </a:pPr>
            <a:r>
              <a:rPr sz="2400" b="0">
                <a:solidFill>
                  <a:srgbClr val="262626"/>
                </a:solidFill>
              </a:rPr>
              <a:t>생태계의 </a:t>
            </a:r>
            <a:r>
              <a:rPr sz="1439" b="1">
                <a:solidFill>
                  <a:srgbClr val="2F6FD0"/>
                </a:solidFill>
              </a:rPr>
              <a:t>⑥</a:t>
            </a:r>
            <a:r>
              <a:rPr sz="2400" b="1" u="sng">
                <a:solidFill>
                  <a:srgbClr val="FFFFFF"/>
                </a:solidFill>
                <a:uFill>
                  <a:solidFill>
                    <a:srgbClr val="C0392B"/>
                  </a:solidFill>
                </a:uFill>
              </a:rPr>
              <a:t> 균형 </a:t>
            </a:r>
            <a:r>
              <a:rPr sz="2400" b="0">
                <a:solidFill>
                  <a:srgbClr val="262626"/>
                </a:solidFill>
              </a:rPr>
              <a:t>과 </a:t>
            </a:r>
            <a:r>
              <a:rPr sz="1439" b="1">
                <a:solidFill>
                  <a:srgbClr val="2F6FD0"/>
                </a:solidFill>
              </a:rPr>
              <a:t>⑦</a:t>
            </a:r>
            <a:r>
              <a:rPr sz="2400" b="1" u="sng">
                <a:solidFill>
                  <a:srgbClr val="FFFFFF"/>
                </a:solidFill>
                <a:uFill>
                  <a:solidFill>
                    <a:srgbClr val="C0392B"/>
                  </a:solidFill>
                </a:uFill>
              </a:rPr>
              <a:t> 안정 </a:t>
            </a:r>
            <a:r>
              <a:rPr sz="2400" b="0">
                <a:solidFill>
                  <a:srgbClr val="262626"/>
                </a:solidFill>
              </a:rPr>
              <a:t>을 추구해야 함.</a:t>
            </a:r>
          </a:p>
          <a:p>
            <a:pPr>
              <a:lnSpc>
                <a:spcPct val="130000"/>
              </a:lnSpc>
              <a:spcBef>
                <a:spcPts val="100"/>
              </a:spcBef>
            </a:pPr>
            <a:r>
              <a:rPr sz="2100" b="1">
                <a:solidFill>
                  <a:srgbClr val="B45F06">
                    <a:alpha val="0"/>
                  </a:srgbClr>
                </a:solidFill>
              </a:rPr>
              <a:t>💡 꿀벌이 사라지면 과일나무 꽃가루받이도 멈춘다</a:t>
            </a:r>
          </a:p>
          <a:p>
            <a:pPr>
              <a:lnSpc>
                <a:spcPct val="130000"/>
              </a:lnSpc>
              <a:spcBef>
                <a:spcPts val="700"/>
              </a:spcBef>
            </a:pPr>
            <a:r>
              <a:rPr sz="2400" b="0">
                <a:solidFill>
                  <a:srgbClr val="262626"/>
                </a:solidFill>
              </a:rPr>
              <a:t>환경 위기를 극복할 힘이 우리에게 있음을 깨달아야 함.</a:t>
            </a:r>
          </a:p>
          <a:p>
            <a:pPr>
              <a:lnSpc>
                <a:spcPct val="130000"/>
              </a:lnSpc>
              <a:spcBef>
                <a:spcPts val="700"/>
              </a:spcBef>
            </a:pPr>
            <a:r>
              <a:rPr sz="2400" b="0">
                <a:solidFill>
                  <a:srgbClr val="262626"/>
                </a:solidFill>
              </a:rPr>
              <a:t>인간은 생태계의 구성원임을 알고 자연의 </a:t>
            </a:r>
            <a:r>
              <a:rPr sz="1439" b="1">
                <a:solidFill>
                  <a:srgbClr val="2F6FD0"/>
                </a:solidFill>
              </a:rPr>
              <a:t>⑧</a:t>
            </a:r>
            <a:r>
              <a:rPr sz="2400" b="1" u="sng">
                <a:solidFill>
                  <a:srgbClr val="FFFFFF"/>
                </a:solidFill>
                <a:uFill>
                  <a:solidFill>
                    <a:srgbClr val="C0392B"/>
                  </a:solidFill>
                </a:uFill>
              </a:rPr>
              <a:t> 본래적 </a:t>
            </a:r>
            <a:r>
              <a:rPr sz="2400" b="0">
                <a:solidFill>
                  <a:srgbClr val="262626"/>
                </a:solidFill>
              </a:rPr>
              <a:t> 가치를 존중해야 함.</a:t>
            </a:r>
          </a:p>
          <a:p>
            <a:pPr>
              <a:lnSpc>
                <a:spcPct val="130000"/>
              </a:lnSpc>
              <a:spcBef>
                <a:spcPts val="700"/>
              </a:spcBef>
            </a:pPr>
            <a:r>
              <a:rPr sz="2400" b="0">
                <a:solidFill>
                  <a:srgbClr val="262626"/>
                </a:solidFill>
              </a:rPr>
              <a:t>(2) 미래 세대에 대한 책임</a:t>
            </a:r>
          </a:p>
        </p:txBody>
      </p:sp>
      <p:sp>
        <p:nvSpPr>
          <p:cNvPr id="23" name="TextBox 22"/>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(1) 생태계에 대한 책임</a:t>
            </a:r>
          </a:p>
          <a:p>
            <a:pPr>
              <a:lnSpc>
                <a:spcPct val="130000"/>
              </a:lnSpc>
              <a:spcBef>
                <a:spcPts val="700"/>
              </a:spcBef>
            </a:pPr>
            <a:r>
              <a:rPr sz="2400" b="0">
                <a:solidFill>
                  <a:srgbClr val="262626">
                    <a:alpha val="0"/>
                  </a:srgbClr>
                </a:solidFill>
              </a:rPr>
              <a:t>생태계의 </a:t>
            </a:r>
            <a:r>
              <a:rPr sz="1439" b="1">
                <a:solidFill>
                  <a:srgbClr val="2F6FD0">
                    <a:alpha val="0"/>
                  </a:srgbClr>
                </a:solidFill>
              </a:rPr>
              <a:t>⑥</a:t>
            </a:r>
            <a:r>
              <a:rPr sz="2400" b="1">
                <a:solidFill>
                  <a:srgbClr val="C0392B"/>
                </a:solidFill>
              </a:rPr>
              <a:t> 균형 </a:t>
            </a:r>
            <a:r>
              <a:rPr sz="2400" b="0">
                <a:solidFill>
                  <a:srgbClr val="262626">
                    <a:alpha val="0"/>
                  </a:srgbClr>
                </a:solidFill>
              </a:rPr>
              <a:t>과 </a:t>
            </a:r>
            <a:r>
              <a:rPr sz="1439" b="1">
                <a:solidFill>
                  <a:srgbClr val="2F6FD0">
                    <a:alpha val="0"/>
                  </a:srgbClr>
                </a:solidFill>
              </a:rPr>
              <a:t>⑦</a:t>
            </a:r>
            <a:r>
              <a:rPr sz="2400" b="1">
                <a:solidFill>
                  <a:srgbClr val="C0392B">
                    <a:alpha val="0"/>
                  </a:srgbClr>
                </a:solidFill>
              </a:rPr>
              <a:t> 안정 </a:t>
            </a:r>
            <a:r>
              <a:rPr sz="2400" b="0">
                <a:solidFill>
                  <a:srgbClr val="262626">
                    <a:alpha val="0"/>
                  </a:srgbClr>
                </a:solidFill>
              </a:rPr>
              <a:t>을 추구해야 함.</a:t>
            </a:r>
          </a:p>
          <a:p>
            <a:pPr>
              <a:lnSpc>
                <a:spcPct val="130000"/>
              </a:lnSpc>
              <a:spcBef>
                <a:spcPts val="100"/>
              </a:spcBef>
            </a:pPr>
            <a:r>
              <a:rPr sz="2100" b="1">
                <a:solidFill>
                  <a:srgbClr val="B45F06">
                    <a:alpha val="0"/>
                  </a:srgbClr>
                </a:solidFill>
              </a:rPr>
              <a:t>💡 꿀벌이 사라지면 과일나무 꽃가루받이도 멈춘다</a:t>
            </a:r>
          </a:p>
          <a:p>
            <a:pPr>
              <a:lnSpc>
                <a:spcPct val="130000"/>
              </a:lnSpc>
              <a:spcBef>
                <a:spcPts val="700"/>
              </a:spcBef>
            </a:pPr>
            <a:r>
              <a:rPr sz="2400" b="0">
                <a:solidFill>
                  <a:srgbClr val="262626">
                    <a:alpha val="0"/>
                  </a:srgbClr>
                </a:solidFill>
              </a:rPr>
              <a:t>환경 위기를 극복할 힘이 우리에게 있음을 깨달아야 함.</a:t>
            </a:r>
          </a:p>
          <a:p>
            <a:pPr>
              <a:lnSpc>
                <a:spcPct val="130000"/>
              </a:lnSpc>
              <a:spcBef>
                <a:spcPts val="700"/>
              </a:spcBef>
            </a:pPr>
            <a:r>
              <a:rPr sz="2400" b="0">
                <a:solidFill>
                  <a:srgbClr val="262626">
                    <a:alpha val="0"/>
                  </a:srgbClr>
                </a:solidFill>
              </a:rPr>
              <a:t>인간은 생태계의 구성원임을 알고 자연의 </a:t>
            </a:r>
            <a:r>
              <a:rPr sz="1439" b="1">
                <a:solidFill>
                  <a:srgbClr val="2F6FD0">
                    <a:alpha val="0"/>
                  </a:srgbClr>
                </a:solidFill>
              </a:rPr>
              <a:t>⑧</a:t>
            </a:r>
            <a:r>
              <a:rPr sz="2400" b="1">
                <a:solidFill>
                  <a:srgbClr val="C0392B">
                    <a:alpha val="0"/>
                  </a:srgbClr>
                </a:solidFill>
              </a:rPr>
              <a:t> 본래적 </a:t>
            </a:r>
            <a:r>
              <a:rPr sz="2400" b="0">
                <a:solidFill>
                  <a:srgbClr val="262626">
                    <a:alpha val="0"/>
                  </a:srgbClr>
                </a:solidFill>
              </a:rPr>
              <a:t> 가치를 존중해야 함.</a:t>
            </a:r>
          </a:p>
          <a:p>
            <a:pPr>
              <a:lnSpc>
                <a:spcPct val="130000"/>
              </a:lnSpc>
              <a:spcBef>
                <a:spcPts val="700"/>
              </a:spcBef>
            </a:pPr>
            <a:r>
              <a:rPr sz="2400" b="0">
                <a:solidFill>
                  <a:srgbClr val="262626">
                    <a:alpha val="0"/>
                  </a:srgbClr>
                </a:solidFill>
              </a:rPr>
              <a:t>(2) 미래 세대에 대한 책임</a:t>
            </a:r>
          </a:p>
        </p:txBody>
      </p:sp>
      <p:sp>
        <p:nvSpPr>
          <p:cNvPr id="24" name="TextBox 23"/>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(1) 생태계에 대한 책임</a:t>
            </a:r>
          </a:p>
          <a:p>
            <a:pPr>
              <a:lnSpc>
                <a:spcPct val="130000"/>
              </a:lnSpc>
              <a:spcBef>
                <a:spcPts val="700"/>
              </a:spcBef>
            </a:pPr>
            <a:r>
              <a:rPr sz="2400" b="0">
                <a:solidFill>
                  <a:srgbClr val="262626">
                    <a:alpha val="0"/>
                  </a:srgbClr>
                </a:solidFill>
              </a:rPr>
              <a:t>생태계의 </a:t>
            </a:r>
            <a:r>
              <a:rPr sz="1439" b="1">
                <a:solidFill>
                  <a:srgbClr val="2F6FD0">
                    <a:alpha val="0"/>
                  </a:srgbClr>
                </a:solidFill>
              </a:rPr>
              <a:t>⑥</a:t>
            </a:r>
            <a:r>
              <a:rPr sz="2400" b="1">
                <a:solidFill>
                  <a:srgbClr val="C0392B">
                    <a:alpha val="0"/>
                  </a:srgbClr>
                </a:solidFill>
              </a:rPr>
              <a:t> 균형 </a:t>
            </a:r>
            <a:r>
              <a:rPr sz="2400" b="0">
                <a:solidFill>
                  <a:srgbClr val="262626">
                    <a:alpha val="0"/>
                  </a:srgbClr>
                </a:solidFill>
              </a:rPr>
              <a:t>과 </a:t>
            </a:r>
            <a:r>
              <a:rPr sz="1439" b="1">
                <a:solidFill>
                  <a:srgbClr val="2F6FD0">
                    <a:alpha val="0"/>
                  </a:srgbClr>
                </a:solidFill>
              </a:rPr>
              <a:t>⑦</a:t>
            </a:r>
            <a:r>
              <a:rPr sz="2400" b="1">
                <a:solidFill>
                  <a:srgbClr val="C0392B"/>
                </a:solidFill>
              </a:rPr>
              <a:t> 안정 </a:t>
            </a:r>
            <a:r>
              <a:rPr sz="2400" b="0">
                <a:solidFill>
                  <a:srgbClr val="262626">
                    <a:alpha val="0"/>
                  </a:srgbClr>
                </a:solidFill>
              </a:rPr>
              <a:t>을 추구해야 함.</a:t>
            </a:r>
          </a:p>
          <a:p>
            <a:pPr>
              <a:lnSpc>
                <a:spcPct val="130000"/>
              </a:lnSpc>
              <a:spcBef>
                <a:spcPts val="100"/>
              </a:spcBef>
            </a:pPr>
            <a:r>
              <a:rPr sz="2100" b="1">
                <a:solidFill>
                  <a:srgbClr val="B45F06">
                    <a:alpha val="0"/>
                  </a:srgbClr>
                </a:solidFill>
              </a:rPr>
              <a:t>💡 꿀벌이 사라지면 과일나무 꽃가루받이도 멈춘다</a:t>
            </a:r>
          </a:p>
          <a:p>
            <a:pPr>
              <a:lnSpc>
                <a:spcPct val="130000"/>
              </a:lnSpc>
              <a:spcBef>
                <a:spcPts val="700"/>
              </a:spcBef>
            </a:pPr>
            <a:r>
              <a:rPr sz="2400" b="0">
                <a:solidFill>
                  <a:srgbClr val="262626">
                    <a:alpha val="0"/>
                  </a:srgbClr>
                </a:solidFill>
              </a:rPr>
              <a:t>환경 위기를 극복할 힘이 우리에게 있음을 깨달아야 함.</a:t>
            </a:r>
          </a:p>
          <a:p>
            <a:pPr>
              <a:lnSpc>
                <a:spcPct val="130000"/>
              </a:lnSpc>
              <a:spcBef>
                <a:spcPts val="700"/>
              </a:spcBef>
            </a:pPr>
            <a:r>
              <a:rPr sz="2400" b="0">
                <a:solidFill>
                  <a:srgbClr val="262626">
                    <a:alpha val="0"/>
                  </a:srgbClr>
                </a:solidFill>
              </a:rPr>
              <a:t>인간은 생태계의 구성원임을 알고 자연의 </a:t>
            </a:r>
            <a:r>
              <a:rPr sz="1439" b="1">
                <a:solidFill>
                  <a:srgbClr val="2F6FD0">
                    <a:alpha val="0"/>
                  </a:srgbClr>
                </a:solidFill>
              </a:rPr>
              <a:t>⑧</a:t>
            </a:r>
            <a:r>
              <a:rPr sz="2400" b="1">
                <a:solidFill>
                  <a:srgbClr val="C0392B">
                    <a:alpha val="0"/>
                  </a:srgbClr>
                </a:solidFill>
              </a:rPr>
              <a:t> 본래적 </a:t>
            </a:r>
            <a:r>
              <a:rPr sz="2400" b="0">
                <a:solidFill>
                  <a:srgbClr val="262626">
                    <a:alpha val="0"/>
                  </a:srgbClr>
                </a:solidFill>
              </a:rPr>
              <a:t> 가치를 존중해야 함.</a:t>
            </a:r>
          </a:p>
          <a:p>
            <a:pPr>
              <a:lnSpc>
                <a:spcPct val="130000"/>
              </a:lnSpc>
              <a:spcBef>
                <a:spcPts val="700"/>
              </a:spcBef>
            </a:pPr>
            <a:r>
              <a:rPr sz="2400" b="0">
                <a:solidFill>
                  <a:srgbClr val="262626">
                    <a:alpha val="0"/>
                  </a:srgbClr>
                </a:solidFill>
              </a:rPr>
              <a:t>(2) 미래 세대에 대한 책임</a:t>
            </a:r>
          </a:p>
        </p:txBody>
      </p:sp>
      <p:sp>
        <p:nvSpPr>
          <p:cNvPr id="25" name="TextBox 24"/>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(1) 생태계에 대한 책임</a:t>
            </a:r>
          </a:p>
          <a:p>
            <a:pPr>
              <a:lnSpc>
                <a:spcPct val="130000"/>
              </a:lnSpc>
              <a:spcBef>
                <a:spcPts val="700"/>
              </a:spcBef>
            </a:pPr>
            <a:r>
              <a:rPr sz="2400" b="0">
                <a:solidFill>
                  <a:srgbClr val="262626">
                    <a:alpha val="0"/>
                  </a:srgbClr>
                </a:solidFill>
              </a:rPr>
              <a:t>생태계의 </a:t>
            </a:r>
            <a:r>
              <a:rPr sz="1439" b="1">
                <a:solidFill>
                  <a:srgbClr val="2F6FD0">
                    <a:alpha val="0"/>
                  </a:srgbClr>
                </a:solidFill>
              </a:rPr>
              <a:t>⑥</a:t>
            </a:r>
            <a:r>
              <a:rPr sz="2400" b="1">
                <a:solidFill>
                  <a:srgbClr val="C0392B">
                    <a:alpha val="0"/>
                  </a:srgbClr>
                </a:solidFill>
              </a:rPr>
              <a:t> 균형 </a:t>
            </a:r>
            <a:r>
              <a:rPr sz="2400" b="0">
                <a:solidFill>
                  <a:srgbClr val="262626">
                    <a:alpha val="0"/>
                  </a:srgbClr>
                </a:solidFill>
              </a:rPr>
              <a:t>과 </a:t>
            </a:r>
            <a:r>
              <a:rPr sz="1439" b="1">
                <a:solidFill>
                  <a:srgbClr val="2F6FD0">
                    <a:alpha val="0"/>
                  </a:srgbClr>
                </a:solidFill>
              </a:rPr>
              <a:t>⑦</a:t>
            </a:r>
            <a:r>
              <a:rPr sz="2400" b="1">
                <a:solidFill>
                  <a:srgbClr val="C0392B">
                    <a:alpha val="0"/>
                  </a:srgbClr>
                </a:solidFill>
              </a:rPr>
              <a:t> 안정 </a:t>
            </a:r>
            <a:r>
              <a:rPr sz="2400" b="0">
                <a:solidFill>
                  <a:srgbClr val="262626">
                    <a:alpha val="0"/>
                  </a:srgbClr>
                </a:solidFill>
              </a:rPr>
              <a:t>을 추구해야 함.</a:t>
            </a:r>
          </a:p>
          <a:p>
            <a:pPr>
              <a:lnSpc>
                <a:spcPct val="130000"/>
              </a:lnSpc>
              <a:spcBef>
                <a:spcPts val="100"/>
              </a:spcBef>
            </a:pPr>
            <a:r>
              <a:rPr sz="2100" b="1">
                <a:solidFill>
                  <a:srgbClr val="B45F06"/>
                </a:solidFill>
              </a:rPr>
              <a:t>💡 꿀벌이 사라지면 과일나무 꽃가루받이도 멈춘다</a:t>
            </a:r>
          </a:p>
          <a:p>
            <a:pPr>
              <a:lnSpc>
                <a:spcPct val="130000"/>
              </a:lnSpc>
              <a:spcBef>
                <a:spcPts val="700"/>
              </a:spcBef>
            </a:pPr>
            <a:r>
              <a:rPr sz="2400" b="0">
                <a:solidFill>
                  <a:srgbClr val="262626">
                    <a:alpha val="0"/>
                  </a:srgbClr>
                </a:solidFill>
              </a:rPr>
              <a:t>환경 위기를 극복할 힘이 우리에게 있음을 깨달아야 함.</a:t>
            </a:r>
          </a:p>
          <a:p>
            <a:pPr>
              <a:lnSpc>
                <a:spcPct val="130000"/>
              </a:lnSpc>
              <a:spcBef>
                <a:spcPts val="700"/>
              </a:spcBef>
            </a:pPr>
            <a:r>
              <a:rPr sz="2400" b="0">
                <a:solidFill>
                  <a:srgbClr val="262626">
                    <a:alpha val="0"/>
                  </a:srgbClr>
                </a:solidFill>
              </a:rPr>
              <a:t>인간은 생태계의 구성원임을 알고 자연의 </a:t>
            </a:r>
            <a:r>
              <a:rPr sz="1439" b="1">
                <a:solidFill>
                  <a:srgbClr val="2F6FD0">
                    <a:alpha val="0"/>
                  </a:srgbClr>
                </a:solidFill>
              </a:rPr>
              <a:t>⑧</a:t>
            </a:r>
            <a:r>
              <a:rPr sz="2400" b="1">
                <a:solidFill>
                  <a:srgbClr val="C0392B">
                    <a:alpha val="0"/>
                  </a:srgbClr>
                </a:solidFill>
              </a:rPr>
              <a:t> 본래적 </a:t>
            </a:r>
            <a:r>
              <a:rPr sz="2400" b="0">
                <a:solidFill>
                  <a:srgbClr val="262626">
                    <a:alpha val="0"/>
                  </a:srgbClr>
                </a:solidFill>
              </a:rPr>
              <a:t> 가치를 존중해야 함.</a:t>
            </a:r>
          </a:p>
          <a:p>
            <a:pPr>
              <a:lnSpc>
                <a:spcPct val="130000"/>
              </a:lnSpc>
              <a:spcBef>
                <a:spcPts val="700"/>
              </a:spcBef>
            </a:pPr>
            <a:r>
              <a:rPr sz="2400" b="0">
                <a:solidFill>
                  <a:srgbClr val="262626">
                    <a:alpha val="0"/>
                  </a:srgbClr>
                </a:solidFill>
              </a:rPr>
              <a:t>(2) 미래 세대에 대한 책임</a:t>
            </a:r>
          </a:p>
        </p:txBody>
      </p:sp>
      <p:sp>
        <p:nvSpPr>
          <p:cNvPr id="26" name="TextBox 25"/>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(1) 생태계에 대한 책임</a:t>
            </a:r>
          </a:p>
          <a:p>
            <a:pPr>
              <a:lnSpc>
                <a:spcPct val="130000"/>
              </a:lnSpc>
              <a:spcBef>
                <a:spcPts val="700"/>
              </a:spcBef>
            </a:pPr>
            <a:r>
              <a:rPr sz="2400" b="0">
                <a:solidFill>
                  <a:srgbClr val="262626">
                    <a:alpha val="0"/>
                  </a:srgbClr>
                </a:solidFill>
              </a:rPr>
              <a:t>생태계의 </a:t>
            </a:r>
            <a:r>
              <a:rPr sz="1439" b="1">
                <a:solidFill>
                  <a:srgbClr val="2F6FD0">
                    <a:alpha val="0"/>
                  </a:srgbClr>
                </a:solidFill>
              </a:rPr>
              <a:t>⑥</a:t>
            </a:r>
            <a:r>
              <a:rPr sz="2400" b="1">
                <a:solidFill>
                  <a:srgbClr val="C0392B">
                    <a:alpha val="0"/>
                  </a:srgbClr>
                </a:solidFill>
              </a:rPr>
              <a:t> 균형 </a:t>
            </a:r>
            <a:r>
              <a:rPr sz="2400" b="0">
                <a:solidFill>
                  <a:srgbClr val="262626">
                    <a:alpha val="0"/>
                  </a:srgbClr>
                </a:solidFill>
              </a:rPr>
              <a:t>과 </a:t>
            </a:r>
            <a:r>
              <a:rPr sz="1439" b="1">
                <a:solidFill>
                  <a:srgbClr val="2F6FD0">
                    <a:alpha val="0"/>
                  </a:srgbClr>
                </a:solidFill>
              </a:rPr>
              <a:t>⑦</a:t>
            </a:r>
            <a:r>
              <a:rPr sz="2400" b="1">
                <a:solidFill>
                  <a:srgbClr val="C0392B">
                    <a:alpha val="0"/>
                  </a:srgbClr>
                </a:solidFill>
              </a:rPr>
              <a:t> 안정 </a:t>
            </a:r>
            <a:r>
              <a:rPr sz="2400" b="0">
                <a:solidFill>
                  <a:srgbClr val="262626">
                    <a:alpha val="0"/>
                  </a:srgbClr>
                </a:solidFill>
              </a:rPr>
              <a:t>을 추구해야 함.</a:t>
            </a:r>
          </a:p>
          <a:p>
            <a:pPr>
              <a:lnSpc>
                <a:spcPct val="130000"/>
              </a:lnSpc>
              <a:spcBef>
                <a:spcPts val="100"/>
              </a:spcBef>
            </a:pPr>
            <a:r>
              <a:rPr sz="2100" b="1">
                <a:solidFill>
                  <a:srgbClr val="B45F06">
                    <a:alpha val="0"/>
                  </a:srgbClr>
                </a:solidFill>
              </a:rPr>
              <a:t>💡 꿀벌이 사라지면 과일나무 꽃가루받이도 멈춘다</a:t>
            </a:r>
          </a:p>
          <a:p>
            <a:pPr>
              <a:lnSpc>
                <a:spcPct val="130000"/>
              </a:lnSpc>
              <a:spcBef>
                <a:spcPts val="700"/>
              </a:spcBef>
            </a:pPr>
            <a:r>
              <a:rPr sz="2400" b="0">
                <a:solidFill>
                  <a:srgbClr val="262626">
                    <a:alpha val="0"/>
                  </a:srgbClr>
                </a:solidFill>
              </a:rPr>
              <a:t>환경 위기를 극복할 힘이 우리에게 있음을 깨달아야 함.</a:t>
            </a:r>
          </a:p>
          <a:p>
            <a:pPr>
              <a:lnSpc>
                <a:spcPct val="130000"/>
              </a:lnSpc>
              <a:spcBef>
                <a:spcPts val="700"/>
              </a:spcBef>
            </a:pPr>
            <a:r>
              <a:rPr sz="2400" b="0">
                <a:solidFill>
                  <a:srgbClr val="262626">
                    <a:alpha val="0"/>
                  </a:srgbClr>
                </a:solidFill>
              </a:rPr>
              <a:t>인간은 생태계의 구성원임을 알고 자연의 </a:t>
            </a:r>
            <a:r>
              <a:rPr sz="1439" b="1">
                <a:solidFill>
                  <a:srgbClr val="2F6FD0">
                    <a:alpha val="0"/>
                  </a:srgbClr>
                </a:solidFill>
              </a:rPr>
              <a:t>⑧</a:t>
            </a:r>
            <a:r>
              <a:rPr sz="2400" b="1">
                <a:solidFill>
                  <a:srgbClr val="C0392B"/>
                </a:solidFill>
              </a:rPr>
              <a:t> 본래적 </a:t>
            </a:r>
            <a:r>
              <a:rPr sz="2400" b="0">
                <a:solidFill>
                  <a:srgbClr val="262626">
                    <a:alpha val="0"/>
                  </a:srgbClr>
                </a:solidFill>
              </a:rPr>
              <a:t> 가치를 존중해야 함.</a:t>
            </a:r>
          </a:p>
          <a:p>
            <a:pPr>
              <a:lnSpc>
                <a:spcPct val="130000"/>
              </a:lnSpc>
              <a:spcBef>
                <a:spcPts val="700"/>
              </a:spcBef>
            </a:pPr>
            <a:r>
              <a:rPr sz="2400" b="0">
                <a:solidFill>
                  <a:srgbClr val="262626">
                    <a:alpha val="0"/>
                  </a:srgbClr>
                </a:solidFill>
              </a:rPr>
              <a:t>(2) 미래 세대에 대한 책임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빈칸 채우기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환경 위기에 대한 윤리적 책임 (이어서)</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212쪽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solidFill>
              </a:rPr>
              <a:t>미래 세대가 깨끗하고 아름다운 자연을 누리며 살아갈 수 있도록 배려해야 함.</a:t>
            </a:r>
          </a:p>
          <a:p>
            <a:pPr>
              <a:lnSpc>
                <a:spcPct val="130000"/>
              </a:lnSpc>
              <a:spcBef>
                <a:spcPts val="700"/>
              </a:spcBef>
            </a:pPr>
            <a:r>
              <a:rPr sz="1439" b="1">
                <a:solidFill>
                  <a:srgbClr val="2F6FD0"/>
                </a:solidFill>
              </a:rPr>
              <a:t>⑨</a:t>
            </a:r>
            <a:r>
              <a:rPr sz="2400" b="1" u="sng">
                <a:solidFill>
                  <a:srgbClr val="FFFFFF"/>
                </a:solidFill>
                <a:uFill>
                  <a:solidFill>
                    <a:srgbClr val="C0392B"/>
                  </a:solidFill>
                </a:uFill>
              </a:rPr>
              <a:t> 현세대 </a:t>
            </a:r>
            <a:r>
              <a:rPr sz="2400" b="0">
                <a:solidFill>
                  <a:srgbClr val="262626"/>
                </a:solidFill>
              </a:rPr>
              <a:t>는 미래 세대에 대한 책임을 바탕으로 자연을 회복하고 보전하기 위해 노력해야 함.</a:t>
            </a:r>
          </a:p>
          <a:p>
            <a:pPr>
              <a:lnSpc>
                <a:spcPct val="130000"/>
              </a:lnSpc>
              <a:spcBef>
                <a:spcPts val="100"/>
              </a:spcBef>
            </a:pPr>
            <a:r>
              <a:rPr sz="2100" b="1">
                <a:solidFill>
                  <a:srgbClr val="B45F06">
                    <a:alpha val="0"/>
                  </a:srgbClr>
                </a:solidFill>
              </a:rPr>
              <a:t>💡 “지구는 조상에게 물려받은 것이 아니라 후손에게 빌린 것”</a:t>
            </a:r>
          </a:p>
        </p:txBody>
      </p:sp>
      <p:sp>
        <p:nvSpPr>
          <p:cNvPr id="23" name="TextBox 22"/>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미래 세대가 깨끗하고 아름다운 자연을 누리며 살아갈 수 있도록 배려해야 함.</a:t>
            </a:r>
          </a:p>
          <a:p>
            <a:pPr>
              <a:lnSpc>
                <a:spcPct val="130000"/>
              </a:lnSpc>
              <a:spcBef>
                <a:spcPts val="700"/>
              </a:spcBef>
            </a:pPr>
            <a:r>
              <a:rPr sz="1439" b="1">
                <a:solidFill>
                  <a:srgbClr val="2F6FD0">
                    <a:alpha val="0"/>
                  </a:srgbClr>
                </a:solidFill>
              </a:rPr>
              <a:t>⑨</a:t>
            </a:r>
            <a:r>
              <a:rPr sz="2400" b="1">
                <a:solidFill>
                  <a:srgbClr val="C0392B"/>
                </a:solidFill>
              </a:rPr>
              <a:t> 현세대 </a:t>
            </a:r>
            <a:r>
              <a:rPr sz="2400" b="0">
                <a:solidFill>
                  <a:srgbClr val="262626">
                    <a:alpha val="0"/>
                  </a:srgbClr>
                </a:solidFill>
              </a:rPr>
              <a:t>는 미래 세대에 대한 책임을 바탕으로 자연을 회복하고 보전하기 위해 노력해야 함.</a:t>
            </a:r>
          </a:p>
          <a:p>
            <a:pPr>
              <a:lnSpc>
                <a:spcPct val="130000"/>
              </a:lnSpc>
              <a:spcBef>
                <a:spcPts val="100"/>
              </a:spcBef>
            </a:pPr>
            <a:r>
              <a:rPr sz="2100" b="1">
                <a:solidFill>
                  <a:srgbClr val="B45F06">
                    <a:alpha val="0"/>
                  </a:srgbClr>
                </a:solidFill>
              </a:rPr>
              <a:t>💡 “지구는 조상에게 물려받은 것이 아니라 후손에게 빌린 것”</a:t>
            </a:r>
          </a:p>
        </p:txBody>
      </p:sp>
      <p:sp>
        <p:nvSpPr>
          <p:cNvPr id="24" name="TextBox 23"/>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700"/>
              </a:spcBef>
            </a:pPr>
            <a:r>
              <a:rPr sz="2400" b="0">
                <a:solidFill>
                  <a:srgbClr val="262626">
                    <a:alpha val="0"/>
                  </a:srgbClr>
                </a:solidFill>
              </a:rPr>
              <a:t>미래 세대가 깨끗하고 아름다운 자연을 누리며 살아갈 수 있도록 배려해야 함.</a:t>
            </a:r>
          </a:p>
          <a:p>
            <a:pPr>
              <a:lnSpc>
                <a:spcPct val="130000"/>
              </a:lnSpc>
              <a:spcBef>
                <a:spcPts val="700"/>
              </a:spcBef>
            </a:pPr>
            <a:r>
              <a:rPr sz="1439" b="1">
                <a:solidFill>
                  <a:srgbClr val="2F6FD0">
                    <a:alpha val="0"/>
                  </a:srgbClr>
                </a:solidFill>
              </a:rPr>
              <a:t>⑨</a:t>
            </a:r>
            <a:r>
              <a:rPr sz="2400" b="1">
                <a:solidFill>
                  <a:srgbClr val="C0392B">
                    <a:alpha val="0"/>
                  </a:srgbClr>
                </a:solidFill>
              </a:rPr>
              <a:t> 현세대 </a:t>
            </a:r>
            <a:r>
              <a:rPr sz="2400" b="0">
                <a:solidFill>
                  <a:srgbClr val="262626">
                    <a:alpha val="0"/>
                  </a:srgbClr>
                </a:solidFill>
              </a:rPr>
              <a:t>는 미래 세대에 대한 책임을 바탕으로 자연을 회복하고 보전하기 위해 노력해야 함.</a:t>
            </a:r>
          </a:p>
          <a:p>
            <a:pPr>
              <a:lnSpc>
                <a:spcPct val="130000"/>
              </a:lnSpc>
              <a:spcBef>
                <a:spcPts val="100"/>
              </a:spcBef>
            </a:pPr>
            <a:r>
              <a:rPr sz="2100" b="1">
                <a:solidFill>
                  <a:srgbClr val="B45F06"/>
                </a:solidFill>
              </a:rPr>
              <a:t>💡 “지구는 조상에게 물려받은 것이 아니라 후손에게 빌린 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더해 보기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사상가의 말</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212쪽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solidFill>
              </a:rPr>
              <a:t>“모든 결정에서 일곱 세대 뒤의 아이들을 생각하라”</a:t>
            </a:r>
          </a:p>
          <a:p>
            <a:pPr>
              <a:lnSpc>
                <a:spcPct val="130000"/>
              </a:lnSpc>
              <a:spcBef>
                <a:spcPts val="800"/>
              </a:spcBef>
            </a:pPr>
            <a:r>
              <a:rPr sz="2400" b="0">
                <a:solidFill>
                  <a:srgbClr val="262626"/>
                </a:solidFill>
              </a:rPr>
              <a:t>— 북아메리카 하우데노사우니(이로쿼이) 연맹에 전해지는 원칙을 풀어 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더해 보기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태평양 거대 쓰레기 지대</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solidFill>
              </a:rPr>
              <a:t>1997년 발견 · 하와이와 캘리포니아 사이 북태평양</a:t>
            </a:r>
          </a:p>
          <a:p>
            <a:pPr>
              <a:lnSpc>
                <a:spcPct val="130000"/>
              </a:lnSpc>
              <a:spcBef>
                <a:spcPts val="800"/>
              </a:spcBef>
            </a:pPr>
            <a:r>
              <a:rPr sz="2400" b="0">
                <a:solidFill>
                  <a:srgbClr val="262626"/>
                </a:solidFill>
              </a:rPr>
              <a:t>발견 · 요트를 타던 찰스 무어가 일주일 내내 쓰레기 사이를 지났다</a:t>
            </a:r>
          </a:p>
          <a:p>
            <a:pPr>
              <a:lnSpc>
                <a:spcPct val="130000"/>
              </a:lnSpc>
              <a:spcBef>
                <a:spcPts val="800"/>
              </a:spcBef>
            </a:pPr>
            <a:r>
              <a:rPr sz="2400" b="0">
                <a:solidFill>
                  <a:srgbClr val="262626"/>
                </a:solidFill>
              </a:rPr>
              <a:t>크기 · 약 160만 km² — 한반도 면적의 약 7배로 추정된다</a:t>
            </a:r>
          </a:p>
          <a:p>
            <a:pPr>
              <a:lnSpc>
                <a:spcPct val="130000"/>
              </a:lnSpc>
              <a:spcBef>
                <a:spcPts val="800"/>
              </a:spcBef>
            </a:pPr>
            <a:r>
              <a:rPr sz="2400" b="0">
                <a:solidFill>
                  <a:srgbClr val="262626"/>
                </a:solidFill>
              </a:rPr>
              <a:t>무게 · 플라스틱 약 8만 톤 이상(2018년 연구)</a:t>
            </a:r>
          </a:p>
          <a:p>
            <a:pPr>
              <a:lnSpc>
                <a:spcPct val="130000"/>
              </a:lnSpc>
              <a:spcBef>
                <a:spcPts val="800"/>
              </a:spcBef>
            </a:pPr>
            <a:r>
              <a:rPr sz="2400" b="0">
                <a:solidFill>
                  <a:srgbClr val="262626"/>
                </a:solidFill>
              </a:rPr>
              <a:t>정체 · 대부분 잘게 부서진 미세 플라스틱과 버려진 어망</a:t>
            </a:r>
          </a:p>
          <a:p>
            <a:pPr>
              <a:lnSpc>
                <a:spcPct val="130000"/>
              </a:lnSpc>
              <a:spcBef>
                <a:spcPts val="1200"/>
              </a:spcBef>
            </a:pPr>
            <a:r>
              <a:rPr sz="2400" b="1">
                <a:solidFill>
                  <a:srgbClr val="2F6FD0">
                    <a:alpha val="0"/>
                  </a:srgbClr>
                </a:solidFill>
              </a:rPr>
              <a:t>❓ 이 쓰레기는 누구의 것일까?</a:t>
            </a:r>
          </a:p>
        </p:txBody>
      </p:sp>
      <p:sp>
        <p:nvSpPr>
          <p:cNvPr id="23" name="TextBox 22"/>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1997년 발견 · 하와이와 캘리포니아 사이 북태평양</a:t>
            </a:r>
          </a:p>
          <a:p>
            <a:pPr>
              <a:lnSpc>
                <a:spcPct val="130000"/>
              </a:lnSpc>
              <a:spcBef>
                <a:spcPts val="800"/>
              </a:spcBef>
            </a:pPr>
            <a:r>
              <a:rPr sz="2400" b="0">
                <a:solidFill>
                  <a:srgbClr val="262626">
                    <a:alpha val="0"/>
                  </a:srgbClr>
                </a:solidFill>
              </a:rPr>
              <a:t>발견 · 요트를 타던 찰스 무어가 일주일 내내 쓰레기 사이를 지났다</a:t>
            </a:r>
          </a:p>
          <a:p>
            <a:pPr>
              <a:lnSpc>
                <a:spcPct val="130000"/>
              </a:lnSpc>
              <a:spcBef>
                <a:spcPts val="800"/>
              </a:spcBef>
            </a:pPr>
            <a:r>
              <a:rPr sz="2400" b="0">
                <a:solidFill>
                  <a:srgbClr val="262626">
                    <a:alpha val="0"/>
                  </a:srgbClr>
                </a:solidFill>
              </a:rPr>
              <a:t>크기 · 약 160만 km² — 한반도 면적의 약 7배로 추정된다</a:t>
            </a:r>
          </a:p>
          <a:p>
            <a:pPr>
              <a:lnSpc>
                <a:spcPct val="130000"/>
              </a:lnSpc>
              <a:spcBef>
                <a:spcPts val="800"/>
              </a:spcBef>
            </a:pPr>
            <a:r>
              <a:rPr sz="2400" b="0">
                <a:solidFill>
                  <a:srgbClr val="262626">
                    <a:alpha val="0"/>
                  </a:srgbClr>
                </a:solidFill>
              </a:rPr>
              <a:t>무게 · 플라스틱 약 8만 톤 이상(2018년 연구)</a:t>
            </a:r>
          </a:p>
          <a:p>
            <a:pPr>
              <a:lnSpc>
                <a:spcPct val="130000"/>
              </a:lnSpc>
              <a:spcBef>
                <a:spcPts val="800"/>
              </a:spcBef>
            </a:pPr>
            <a:r>
              <a:rPr sz="2400" b="0">
                <a:solidFill>
                  <a:srgbClr val="262626">
                    <a:alpha val="0"/>
                  </a:srgbClr>
                </a:solidFill>
              </a:rPr>
              <a:t>정체 · 대부분 잘게 부서진 미세 플라스틱과 버려진 어망</a:t>
            </a:r>
          </a:p>
          <a:p>
            <a:pPr>
              <a:lnSpc>
                <a:spcPct val="130000"/>
              </a:lnSpc>
              <a:spcBef>
                <a:spcPts val="1200"/>
              </a:spcBef>
            </a:pPr>
            <a:r>
              <a:rPr sz="2400" b="1">
                <a:solidFill>
                  <a:srgbClr val="2F6FD0"/>
                </a:solidFill>
              </a:rPr>
              <a:t>❓ 이 쓰레기는 누구의 것일까?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1분 체크</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학습지 1분 체크 · 맞으면 ○, 틀리면 ✕</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800"/>
              </a:spcBef>
            </a:pPr>
            <a:r>
              <a:rPr sz="2400" b="0">
                <a:solidFill>
                  <a:srgbClr val="262626"/>
                </a:solidFill>
              </a:rPr>
              <a:t>1. 환경 위기는 오늘날 우리의 일상까지 위협하고 있다.  ( ○ / ✕ )</a:t>
            </a:r>
            <a:r>
              <a:rPr sz="2300" b="1">
                <a:solidFill>
                  <a:srgbClr val="C0392B">
                    <a:alpha val="0"/>
                  </a:srgbClr>
                </a:solidFill>
              </a:rPr>
              <a:t>   ○</a:t>
            </a:r>
          </a:p>
          <a:p>
            <a:pPr>
              <a:lnSpc>
                <a:spcPct val="130000"/>
              </a:lnSpc>
              <a:spcBef>
                <a:spcPts val="800"/>
              </a:spcBef>
            </a:pPr>
            <a:r>
              <a:rPr sz="2400" b="0">
                <a:solidFill>
                  <a:srgbClr val="262626"/>
                </a:solidFill>
              </a:rPr>
              <a:t>2. 환경 위기는 지구의 자정 능력 범위 안에 있다.  ( ○ / ✕ )</a:t>
            </a:r>
            <a:r>
              <a:rPr sz="2300" b="1">
                <a:solidFill>
                  <a:srgbClr val="C0392B">
                    <a:alpha val="0"/>
                  </a:srgbClr>
                </a:solidFill>
              </a:rPr>
              <a:t>   ✕</a:t>
            </a:r>
          </a:p>
          <a:p>
            <a:pPr>
              <a:lnSpc>
                <a:spcPct val="130000"/>
              </a:lnSpc>
              <a:spcBef>
                <a:spcPts val="800"/>
              </a:spcBef>
            </a:pPr>
            <a:r>
              <a:rPr sz="2400" b="0">
                <a:solidFill>
                  <a:srgbClr val="262626"/>
                </a:solidFill>
              </a:rPr>
              <a:t>3. 환경 위기는 인간의 예측보다 빠르게 진행하고, 그 영향력의 범위가 넓다.  ( ○ / ✕ )</a:t>
            </a:r>
            <a:r>
              <a:rPr sz="2300" b="1">
                <a:solidFill>
                  <a:srgbClr val="C0392B">
                    <a:alpha val="0"/>
                  </a:srgbClr>
                </a:solidFill>
              </a:rPr>
              <a:t>   ○</a:t>
            </a:r>
          </a:p>
          <a:p>
            <a:pPr>
              <a:lnSpc>
                <a:spcPct val="130000"/>
              </a:lnSpc>
              <a:spcBef>
                <a:spcPts val="800"/>
              </a:spcBef>
            </a:pPr>
            <a:r>
              <a:rPr sz="2400" b="0">
                <a:solidFill>
                  <a:srgbClr val="262626"/>
                </a:solidFill>
              </a:rPr>
              <a:t>4. 환경 위기에 대한 윤리적 책임은 생태계에 대한 책임과 미래 세대에 대한 책임으로 나누어 살펴볼 수 있다.  ( ○ / ✕ )</a:t>
            </a:r>
            <a:r>
              <a:rPr sz="2300" b="1">
                <a:solidFill>
                  <a:srgbClr val="C0392B">
                    <a:alpha val="0"/>
                  </a:srgbClr>
                </a:solidFill>
              </a:rPr>
              <a:t>   ○</a:t>
            </a:r>
          </a:p>
        </p:txBody>
      </p:sp>
      <p:sp>
        <p:nvSpPr>
          <p:cNvPr id="23" name="TextBox 22"/>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800"/>
              </a:spcBef>
            </a:pPr>
            <a:r>
              <a:rPr sz="2400" b="0">
                <a:solidFill>
                  <a:srgbClr val="262626">
                    <a:alpha val="0"/>
                  </a:srgbClr>
                </a:solidFill>
              </a:rPr>
              <a:t>1. 환경 위기는 오늘날 우리의 일상까지 위협하고 있다.  ( ○ / ✕ )</a:t>
            </a:r>
            <a:r>
              <a:rPr sz="2300" b="1">
                <a:solidFill>
                  <a:srgbClr val="C0392B"/>
                </a:solidFill>
              </a:rPr>
              <a:t>   ○</a:t>
            </a:r>
          </a:p>
          <a:p>
            <a:pPr>
              <a:lnSpc>
                <a:spcPct val="130000"/>
              </a:lnSpc>
              <a:spcBef>
                <a:spcPts val="800"/>
              </a:spcBef>
            </a:pPr>
            <a:r>
              <a:rPr sz="2400" b="0">
                <a:solidFill>
                  <a:srgbClr val="262626">
                    <a:alpha val="0"/>
                  </a:srgbClr>
                </a:solidFill>
              </a:rPr>
              <a:t>2. 환경 위기는 지구의 자정 능력 범위 안에 있다.  ( ○ / ✕ )</a:t>
            </a:r>
            <a:r>
              <a:rPr sz="2300" b="1">
                <a:solidFill>
                  <a:srgbClr val="C0392B">
                    <a:alpha val="0"/>
                  </a:srgbClr>
                </a:solidFill>
              </a:rPr>
              <a:t>   ✕</a:t>
            </a:r>
          </a:p>
          <a:p>
            <a:pPr>
              <a:lnSpc>
                <a:spcPct val="130000"/>
              </a:lnSpc>
              <a:spcBef>
                <a:spcPts val="800"/>
              </a:spcBef>
            </a:pPr>
            <a:r>
              <a:rPr sz="2400" b="0">
                <a:solidFill>
                  <a:srgbClr val="262626">
                    <a:alpha val="0"/>
                  </a:srgbClr>
                </a:solidFill>
              </a:rPr>
              <a:t>3. 환경 위기는 인간의 예측보다 빠르게 진행하고, 그 영향력의 범위가 넓다.  ( ○ / ✕ )</a:t>
            </a:r>
            <a:r>
              <a:rPr sz="2300" b="1">
                <a:solidFill>
                  <a:srgbClr val="C0392B">
                    <a:alpha val="0"/>
                  </a:srgbClr>
                </a:solidFill>
              </a:rPr>
              <a:t>   ○</a:t>
            </a:r>
          </a:p>
          <a:p>
            <a:pPr>
              <a:lnSpc>
                <a:spcPct val="130000"/>
              </a:lnSpc>
              <a:spcBef>
                <a:spcPts val="800"/>
              </a:spcBef>
            </a:pPr>
            <a:r>
              <a:rPr sz="2400" b="0">
                <a:solidFill>
                  <a:srgbClr val="262626">
                    <a:alpha val="0"/>
                  </a:srgbClr>
                </a:solidFill>
              </a:rPr>
              <a:t>4. 환경 위기에 대한 윤리적 책임은 생태계에 대한 책임과 미래 세대에 대한 책임으로 나누어 살펴볼 수 있다.  ( ○ / ✕ )</a:t>
            </a:r>
            <a:r>
              <a:rPr sz="2300" b="1">
                <a:solidFill>
                  <a:srgbClr val="C0392B">
                    <a:alpha val="0"/>
                  </a:srgbClr>
                </a:solidFill>
              </a:rPr>
              <a:t>   ○</a:t>
            </a:r>
          </a:p>
        </p:txBody>
      </p:sp>
      <p:sp>
        <p:nvSpPr>
          <p:cNvPr id="24" name="TextBox 23"/>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800"/>
              </a:spcBef>
            </a:pPr>
            <a:r>
              <a:rPr sz="2400" b="0">
                <a:solidFill>
                  <a:srgbClr val="262626">
                    <a:alpha val="0"/>
                  </a:srgbClr>
                </a:solidFill>
              </a:rPr>
              <a:t>1. 환경 위기는 오늘날 우리의 일상까지 위협하고 있다.  ( ○ / ✕ )</a:t>
            </a:r>
            <a:r>
              <a:rPr sz="2300" b="1">
                <a:solidFill>
                  <a:srgbClr val="C0392B">
                    <a:alpha val="0"/>
                  </a:srgbClr>
                </a:solidFill>
              </a:rPr>
              <a:t>   ○</a:t>
            </a:r>
          </a:p>
          <a:p>
            <a:pPr>
              <a:lnSpc>
                <a:spcPct val="130000"/>
              </a:lnSpc>
              <a:spcBef>
                <a:spcPts val="800"/>
              </a:spcBef>
            </a:pPr>
            <a:r>
              <a:rPr sz="2400" b="0">
                <a:solidFill>
                  <a:srgbClr val="262626">
                    <a:alpha val="0"/>
                  </a:srgbClr>
                </a:solidFill>
              </a:rPr>
              <a:t>2. 환경 위기는 지구의 자정 능력 범위 안에 있다.  ( ○ / ✕ )</a:t>
            </a:r>
            <a:r>
              <a:rPr sz="2300" b="1">
                <a:solidFill>
                  <a:srgbClr val="C0392B"/>
                </a:solidFill>
              </a:rPr>
              <a:t>   ✕</a:t>
            </a:r>
          </a:p>
          <a:p>
            <a:pPr>
              <a:lnSpc>
                <a:spcPct val="130000"/>
              </a:lnSpc>
              <a:spcBef>
                <a:spcPts val="800"/>
              </a:spcBef>
            </a:pPr>
            <a:r>
              <a:rPr sz="2400" b="0">
                <a:solidFill>
                  <a:srgbClr val="262626">
                    <a:alpha val="0"/>
                  </a:srgbClr>
                </a:solidFill>
              </a:rPr>
              <a:t>3. 환경 위기는 인간의 예측보다 빠르게 진행하고, 그 영향력의 범위가 넓다.  ( ○ / ✕ )</a:t>
            </a:r>
            <a:r>
              <a:rPr sz="2300" b="1">
                <a:solidFill>
                  <a:srgbClr val="C0392B">
                    <a:alpha val="0"/>
                  </a:srgbClr>
                </a:solidFill>
              </a:rPr>
              <a:t>   ○</a:t>
            </a:r>
          </a:p>
          <a:p>
            <a:pPr>
              <a:lnSpc>
                <a:spcPct val="130000"/>
              </a:lnSpc>
              <a:spcBef>
                <a:spcPts val="800"/>
              </a:spcBef>
            </a:pPr>
            <a:r>
              <a:rPr sz="2400" b="0">
                <a:solidFill>
                  <a:srgbClr val="262626">
                    <a:alpha val="0"/>
                  </a:srgbClr>
                </a:solidFill>
              </a:rPr>
              <a:t>4. 환경 위기에 대한 윤리적 책임은 생태계에 대한 책임과 미래 세대에 대한 책임으로 나누어 살펴볼 수 있다.  ( ○ / ✕ )</a:t>
            </a:r>
            <a:r>
              <a:rPr sz="2300" b="1">
                <a:solidFill>
                  <a:srgbClr val="C0392B">
                    <a:alpha val="0"/>
                  </a:srgbClr>
                </a:solidFill>
              </a:rPr>
              <a:t>   ○</a:t>
            </a:r>
          </a:p>
        </p:txBody>
      </p:sp>
      <p:sp>
        <p:nvSpPr>
          <p:cNvPr id="25" name="TextBox 24"/>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800"/>
              </a:spcBef>
            </a:pPr>
            <a:r>
              <a:rPr sz="2400" b="0">
                <a:solidFill>
                  <a:srgbClr val="262626">
                    <a:alpha val="0"/>
                  </a:srgbClr>
                </a:solidFill>
              </a:rPr>
              <a:t>1. 환경 위기는 오늘날 우리의 일상까지 위협하고 있다.  ( ○ / ✕ )</a:t>
            </a:r>
            <a:r>
              <a:rPr sz="2300" b="1">
                <a:solidFill>
                  <a:srgbClr val="C0392B">
                    <a:alpha val="0"/>
                  </a:srgbClr>
                </a:solidFill>
              </a:rPr>
              <a:t>   ○</a:t>
            </a:r>
          </a:p>
          <a:p>
            <a:pPr>
              <a:lnSpc>
                <a:spcPct val="130000"/>
              </a:lnSpc>
              <a:spcBef>
                <a:spcPts val="800"/>
              </a:spcBef>
            </a:pPr>
            <a:r>
              <a:rPr sz="2400" b="0">
                <a:solidFill>
                  <a:srgbClr val="262626">
                    <a:alpha val="0"/>
                  </a:srgbClr>
                </a:solidFill>
              </a:rPr>
              <a:t>2. 환경 위기는 지구의 자정 능력 범위 안에 있다.  ( ○ / ✕ )</a:t>
            </a:r>
            <a:r>
              <a:rPr sz="2300" b="1">
                <a:solidFill>
                  <a:srgbClr val="C0392B">
                    <a:alpha val="0"/>
                  </a:srgbClr>
                </a:solidFill>
              </a:rPr>
              <a:t>   ✕</a:t>
            </a:r>
          </a:p>
          <a:p>
            <a:pPr>
              <a:lnSpc>
                <a:spcPct val="130000"/>
              </a:lnSpc>
              <a:spcBef>
                <a:spcPts val="800"/>
              </a:spcBef>
            </a:pPr>
            <a:r>
              <a:rPr sz="2400" b="0">
                <a:solidFill>
                  <a:srgbClr val="262626">
                    <a:alpha val="0"/>
                  </a:srgbClr>
                </a:solidFill>
              </a:rPr>
              <a:t>3. 환경 위기는 인간의 예측보다 빠르게 진행하고, 그 영향력의 범위가 넓다.  ( ○ / ✕ )</a:t>
            </a:r>
            <a:r>
              <a:rPr sz="2300" b="1">
                <a:solidFill>
                  <a:srgbClr val="C0392B"/>
                </a:solidFill>
              </a:rPr>
              <a:t>   ○</a:t>
            </a:r>
          </a:p>
          <a:p>
            <a:pPr>
              <a:lnSpc>
                <a:spcPct val="130000"/>
              </a:lnSpc>
              <a:spcBef>
                <a:spcPts val="800"/>
              </a:spcBef>
            </a:pPr>
            <a:r>
              <a:rPr sz="2400" b="0">
                <a:solidFill>
                  <a:srgbClr val="262626">
                    <a:alpha val="0"/>
                  </a:srgbClr>
                </a:solidFill>
              </a:rPr>
              <a:t>4. 환경 위기에 대한 윤리적 책임은 생태계에 대한 책임과 미래 세대에 대한 책임으로 나누어 살펴볼 수 있다.  ( ○ / ✕ )</a:t>
            </a:r>
            <a:r>
              <a:rPr sz="2300" b="1">
                <a:solidFill>
                  <a:srgbClr val="C0392B">
                    <a:alpha val="0"/>
                  </a:srgbClr>
                </a:solidFill>
              </a:rPr>
              <a:t>   ○</a:t>
            </a:r>
          </a:p>
        </p:txBody>
      </p:sp>
      <p:sp>
        <p:nvSpPr>
          <p:cNvPr id="26" name="TextBox 25"/>
          <p:cNvSpPr txBox="1"/>
          <p:nvPr/>
        </p:nvSpPr>
        <p:spPr>
          <a:xfrm>
            <a:off x="685800" y="1417320"/>
            <a:ext cx="10835640" cy="4983480"/>
          </a:xfrm>
          <a:prstGeom prst="rect">
            <a:avLst/>
          </a:prstGeom>
          <a:noFill/>
        </p:spPr>
        <p:txBody>
          <a:bodyPr wrap="square" lIns="0" rIns="0" tIns="0" bIns="0">
            <a:spAutoFit/>
          </a:bodyPr>
          <a:lstStyle/>
          <a:p>
            <a:pPr>
              <a:lnSpc>
                <a:spcPct val="130000"/>
              </a:lnSpc>
              <a:spcBef>
                <a:spcPts val="800"/>
              </a:spcBef>
            </a:pPr>
            <a:r>
              <a:rPr sz="2400" b="0">
                <a:solidFill>
                  <a:srgbClr val="262626">
                    <a:alpha val="0"/>
                  </a:srgbClr>
                </a:solidFill>
              </a:rPr>
              <a:t>1. 환경 위기는 오늘날 우리의 일상까지 위협하고 있다.  ( ○ / ✕ )</a:t>
            </a:r>
            <a:r>
              <a:rPr sz="2300" b="1">
                <a:solidFill>
                  <a:srgbClr val="C0392B">
                    <a:alpha val="0"/>
                  </a:srgbClr>
                </a:solidFill>
              </a:rPr>
              <a:t>   ○</a:t>
            </a:r>
          </a:p>
          <a:p>
            <a:pPr>
              <a:lnSpc>
                <a:spcPct val="130000"/>
              </a:lnSpc>
              <a:spcBef>
                <a:spcPts val="800"/>
              </a:spcBef>
            </a:pPr>
            <a:r>
              <a:rPr sz="2400" b="0">
                <a:solidFill>
                  <a:srgbClr val="262626">
                    <a:alpha val="0"/>
                  </a:srgbClr>
                </a:solidFill>
              </a:rPr>
              <a:t>2. 환경 위기는 지구의 자정 능력 범위 안에 있다.  ( ○ / ✕ )</a:t>
            </a:r>
            <a:r>
              <a:rPr sz="2300" b="1">
                <a:solidFill>
                  <a:srgbClr val="C0392B">
                    <a:alpha val="0"/>
                  </a:srgbClr>
                </a:solidFill>
              </a:rPr>
              <a:t>   ✕</a:t>
            </a:r>
          </a:p>
          <a:p>
            <a:pPr>
              <a:lnSpc>
                <a:spcPct val="130000"/>
              </a:lnSpc>
              <a:spcBef>
                <a:spcPts val="800"/>
              </a:spcBef>
            </a:pPr>
            <a:r>
              <a:rPr sz="2400" b="0">
                <a:solidFill>
                  <a:srgbClr val="262626">
                    <a:alpha val="0"/>
                  </a:srgbClr>
                </a:solidFill>
              </a:rPr>
              <a:t>3. 환경 위기는 인간의 예측보다 빠르게 진행하고, 그 영향력의 범위가 넓다.  ( ○ / ✕ )</a:t>
            </a:r>
            <a:r>
              <a:rPr sz="2300" b="1">
                <a:solidFill>
                  <a:srgbClr val="C0392B">
                    <a:alpha val="0"/>
                  </a:srgbClr>
                </a:solidFill>
              </a:rPr>
              <a:t>   ○</a:t>
            </a:r>
          </a:p>
          <a:p>
            <a:pPr>
              <a:lnSpc>
                <a:spcPct val="130000"/>
              </a:lnSpc>
              <a:spcBef>
                <a:spcPts val="800"/>
              </a:spcBef>
            </a:pPr>
            <a:r>
              <a:rPr sz="2400" b="0">
                <a:solidFill>
                  <a:srgbClr val="262626">
                    <a:alpha val="0"/>
                  </a:srgbClr>
                </a:solidFill>
              </a:rPr>
              <a:t>4. 환경 위기에 대한 윤리적 책임은 생태계에 대한 책임과 미래 세대에 대한 책임으로 나누어 살펴볼 수 있다.  ( ○ / ✕ )</a:t>
            </a:r>
            <a:r>
              <a:rPr sz="2300" b="1">
                <a:solidFill>
                  <a:srgbClr val="C0392B"/>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함께 해 보기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환경 위기의 어떤 특성일까?</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solidFill>
              </a:rPr>
              <a:t>어느 칸일까? 자정 능력 초과 · 빠른 속도 · 넓은 영향 범위</a:t>
            </a:r>
          </a:p>
          <a:p>
            <a:pPr>
              <a:lnSpc>
                <a:spcPct val="130000"/>
              </a:lnSpc>
              <a:spcBef>
                <a:spcPts val="800"/>
              </a:spcBef>
            </a:pPr>
            <a:r>
              <a:rPr sz="2400" b="0">
                <a:solidFill>
                  <a:srgbClr val="262626"/>
                </a:solidFill>
              </a:rPr>
              <a:t>1. 강이 스스로 깨끗해지기도 전에 폐수가 또 흘러든다</a:t>
            </a:r>
            <a:r>
              <a:rPr sz="2300" b="1">
                <a:solidFill>
                  <a:srgbClr val="C0392B">
                    <a:alpha val="0"/>
                  </a:srgbClr>
                </a:solidFill>
              </a:rPr>
              <a:t>   → 자정 능력 초과 (자정 능력)</a:t>
            </a:r>
          </a:p>
          <a:p>
            <a:pPr>
              <a:lnSpc>
                <a:spcPct val="130000"/>
              </a:lnSpc>
              <a:spcBef>
                <a:spcPts val="800"/>
              </a:spcBef>
            </a:pPr>
            <a:r>
              <a:rPr sz="2400" b="0">
                <a:solidFill>
                  <a:srgbClr val="262626"/>
                </a:solidFill>
              </a:rPr>
              <a:t>2. 빙하가 과학자들의 예측보다 빨리 녹는다</a:t>
            </a:r>
            <a:r>
              <a:rPr sz="2300" b="1">
                <a:solidFill>
                  <a:srgbClr val="C0392B">
                    <a:alpha val="0"/>
                  </a:srgbClr>
                </a:solidFill>
              </a:rPr>
              <a:t>   → 빠른 속도 (속도)</a:t>
            </a:r>
          </a:p>
          <a:p>
            <a:pPr>
              <a:lnSpc>
                <a:spcPct val="130000"/>
              </a:lnSpc>
              <a:spcBef>
                <a:spcPts val="800"/>
              </a:spcBef>
            </a:pPr>
            <a:r>
              <a:rPr sz="2400" b="0">
                <a:solidFill>
                  <a:srgbClr val="262626"/>
                </a:solidFill>
              </a:rPr>
              <a:t>3. 다른 나라의 미세 먼지 때문에 축구 대회가 취소되었다</a:t>
            </a:r>
            <a:r>
              <a:rPr sz="2300" b="1">
                <a:solidFill>
                  <a:srgbClr val="C0392B">
                    <a:alpha val="0"/>
                  </a:srgbClr>
                </a:solidFill>
              </a:rPr>
              <a:t>   → 넓은 영향 범위 (국경을 넘는다)</a:t>
            </a:r>
          </a:p>
          <a:p>
            <a:pPr>
              <a:lnSpc>
                <a:spcPct val="130000"/>
              </a:lnSpc>
              <a:spcBef>
                <a:spcPts val="800"/>
              </a:spcBef>
            </a:pPr>
            <a:r>
              <a:rPr sz="2400" b="0">
                <a:solidFill>
                  <a:srgbClr val="262626"/>
                </a:solidFill>
              </a:rPr>
              <a:t>4. 지금의 오염이 100년 뒤 아이들의 삶을 위협한다</a:t>
            </a:r>
            <a:r>
              <a:rPr sz="2300" b="1">
                <a:solidFill>
                  <a:srgbClr val="C0392B">
                    <a:alpha val="0"/>
                  </a:srgbClr>
                </a:solidFill>
              </a:rPr>
              <a:t>   → 넓은 영향 범위 (미래 세대까지)</a:t>
            </a:r>
          </a:p>
          <a:p>
            <a:pPr>
              <a:lnSpc>
                <a:spcPct val="130000"/>
              </a:lnSpc>
              <a:spcBef>
                <a:spcPts val="800"/>
              </a:spcBef>
            </a:pPr>
            <a:r>
              <a:rPr sz="2400" b="0">
                <a:solidFill>
                  <a:srgbClr val="262626"/>
                </a:solidFill>
              </a:rPr>
              <a:t>5. 바다가 받아들일 수 있는 양보다 많은 플라스틱이 버려진다</a:t>
            </a:r>
            <a:r>
              <a:rPr sz="2300" b="1">
                <a:solidFill>
                  <a:srgbClr val="C0392B">
                    <a:alpha val="0"/>
                  </a:srgbClr>
                </a:solidFill>
              </a:rPr>
              <a:t>   → 자정 능력 초과 (자정 능력)</a:t>
            </a:r>
          </a:p>
        </p:txBody>
      </p:sp>
      <p:sp>
        <p:nvSpPr>
          <p:cNvPr id="23" name="TextBox 22"/>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어느 칸일까? 자정 능력 초과 · 빠른 속도 · 넓은 영향 범위</a:t>
            </a:r>
          </a:p>
          <a:p>
            <a:pPr>
              <a:lnSpc>
                <a:spcPct val="130000"/>
              </a:lnSpc>
              <a:spcBef>
                <a:spcPts val="800"/>
              </a:spcBef>
            </a:pPr>
            <a:r>
              <a:rPr sz="2400" b="0">
                <a:solidFill>
                  <a:srgbClr val="262626">
                    <a:alpha val="0"/>
                  </a:srgbClr>
                </a:solidFill>
              </a:rPr>
              <a:t>1. 강이 스스로 깨끗해지기도 전에 폐수가 또 흘러든다</a:t>
            </a:r>
            <a:r>
              <a:rPr sz="2300" b="1">
                <a:solidFill>
                  <a:srgbClr val="C0392B"/>
                </a:solidFill>
              </a:rPr>
              <a:t>   → 자정 능력 초과 (자정 능력)</a:t>
            </a:r>
          </a:p>
          <a:p>
            <a:pPr>
              <a:lnSpc>
                <a:spcPct val="130000"/>
              </a:lnSpc>
              <a:spcBef>
                <a:spcPts val="800"/>
              </a:spcBef>
            </a:pPr>
            <a:r>
              <a:rPr sz="2400" b="0">
                <a:solidFill>
                  <a:srgbClr val="262626">
                    <a:alpha val="0"/>
                  </a:srgbClr>
                </a:solidFill>
              </a:rPr>
              <a:t>2. 빙하가 과학자들의 예측보다 빨리 녹는다</a:t>
            </a:r>
            <a:r>
              <a:rPr sz="2300" b="1">
                <a:solidFill>
                  <a:srgbClr val="C0392B">
                    <a:alpha val="0"/>
                  </a:srgbClr>
                </a:solidFill>
              </a:rPr>
              <a:t>   → 빠른 속도 (속도)</a:t>
            </a:r>
          </a:p>
          <a:p>
            <a:pPr>
              <a:lnSpc>
                <a:spcPct val="130000"/>
              </a:lnSpc>
              <a:spcBef>
                <a:spcPts val="800"/>
              </a:spcBef>
            </a:pPr>
            <a:r>
              <a:rPr sz="2400" b="0">
                <a:solidFill>
                  <a:srgbClr val="262626">
                    <a:alpha val="0"/>
                  </a:srgbClr>
                </a:solidFill>
              </a:rPr>
              <a:t>3. 다른 나라의 미세 먼지 때문에 축구 대회가 취소되었다</a:t>
            </a:r>
            <a:r>
              <a:rPr sz="2300" b="1">
                <a:solidFill>
                  <a:srgbClr val="C0392B">
                    <a:alpha val="0"/>
                  </a:srgbClr>
                </a:solidFill>
              </a:rPr>
              <a:t>   → 넓은 영향 범위 (국경을 넘는다)</a:t>
            </a:r>
          </a:p>
          <a:p>
            <a:pPr>
              <a:lnSpc>
                <a:spcPct val="130000"/>
              </a:lnSpc>
              <a:spcBef>
                <a:spcPts val="800"/>
              </a:spcBef>
            </a:pPr>
            <a:r>
              <a:rPr sz="2400" b="0">
                <a:solidFill>
                  <a:srgbClr val="262626">
                    <a:alpha val="0"/>
                  </a:srgbClr>
                </a:solidFill>
              </a:rPr>
              <a:t>4. 지금의 오염이 100년 뒤 아이들의 삶을 위협한다</a:t>
            </a:r>
            <a:r>
              <a:rPr sz="2300" b="1">
                <a:solidFill>
                  <a:srgbClr val="C0392B">
                    <a:alpha val="0"/>
                  </a:srgbClr>
                </a:solidFill>
              </a:rPr>
              <a:t>   → 넓은 영향 범위 (미래 세대까지)</a:t>
            </a:r>
          </a:p>
          <a:p>
            <a:pPr>
              <a:lnSpc>
                <a:spcPct val="130000"/>
              </a:lnSpc>
              <a:spcBef>
                <a:spcPts val="800"/>
              </a:spcBef>
            </a:pPr>
            <a:r>
              <a:rPr sz="2400" b="0">
                <a:solidFill>
                  <a:srgbClr val="262626">
                    <a:alpha val="0"/>
                  </a:srgbClr>
                </a:solidFill>
              </a:rPr>
              <a:t>5. 바다가 받아들일 수 있는 양보다 많은 플라스틱이 버려진다</a:t>
            </a:r>
            <a:r>
              <a:rPr sz="2300" b="1">
                <a:solidFill>
                  <a:srgbClr val="C0392B">
                    <a:alpha val="0"/>
                  </a:srgbClr>
                </a:solidFill>
              </a:rPr>
              <a:t>   → 자정 능력 초과 (자정 능력)</a:t>
            </a:r>
          </a:p>
        </p:txBody>
      </p:sp>
      <p:sp>
        <p:nvSpPr>
          <p:cNvPr id="24" name="TextBox 23"/>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어느 칸일까? 자정 능력 초과 · 빠른 속도 · 넓은 영향 범위</a:t>
            </a:r>
          </a:p>
          <a:p>
            <a:pPr>
              <a:lnSpc>
                <a:spcPct val="130000"/>
              </a:lnSpc>
              <a:spcBef>
                <a:spcPts val="800"/>
              </a:spcBef>
            </a:pPr>
            <a:r>
              <a:rPr sz="2400" b="0">
                <a:solidFill>
                  <a:srgbClr val="262626">
                    <a:alpha val="0"/>
                  </a:srgbClr>
                </a:solidFill>
              </a:rPr>
              <a:t>1. 강이 스스로 깨끗해지기도 전에 폐수가 또 흘러든다</a:t>
            </a:r>
            <a:r>
              <a:rPr sz="2300" b="1">
                <a:solidFill>
                  <a:srgbClr val="C0392B">
                    <a:alpha val="0"/>
                  </a:srgbClr>
                </a:solidFill>
              </a:rPr>
              <a:t>   → 자정 능력 초과 (자정 능력)</a:t>
            </a:r>
          </a:p>
          <a:p>
            <a:pPr>
              <a:lnSpc>
                <a:spcPct val="130000"/>
              </a:lnSpc>
              <a:spcBef>
                <a:spcPts val="800"/>
              </a:spcBef>
            </a:pPr>
            <a:r>
              <a:rPr sz="2400" b="0">
                <a:solidFill>
                  <a:srgbClr val="262626">
                    <a:alpha val="0"/>
                  </a:srgbClr>
                </a:solidFill>
              </a:rPr>
              <a:t>2. 빙하가 과학자들의 예측보다 빨리 녹는다</a:t>
            </a:r>
            <a:r>
              <a:rPr sz="2300" b="1">
                <a:solidFill>
                  <a:srgbClr val="C0392B"/>
                </a:solidFill>
              </a:rPr>
              <a:t>   → 빠른 속도 (속도)</a:t>
            </a:r>
          </a:p>
          <a:p>
            <a:pPr>
              <a:lnSpc>
                <a:spcPct val="130000"/>
              </a:lnSpc>
              <a:spcBef>
                <a:spcPts val="800"/>
              </a:spcBef>
            </a:pPr>
            <a:r>
              <a:rPr sz="2400" b="0">
                <a:solidFill>
                  <a:srgbClr val="262626">
                    <a:alpha val="0"/>
                  </a:srgbClr>
                </a:solidFill>
              </a:rPr>
              <a:t>3. 다른 나라의 미세 먼지 때문에 축구 대회가 취소되었다</a:t>
            </a:r>
            <a:r>
              <a:rPr sz="2300" b="1">
                <a:solidFill>
                  <a:srgbClr val="C0392B">
                    <a:alpha val="0"/>
                  </a:srgbClr>
                </a:solidFill>
              </a:rPr>
              <a:t>   → 넓은 영향 범위 (국경을 넘는다)</a:t>
            </a:r>
          </a:p>
          <a:p>
            <a:pPr>
              <a:lnSpc>
                <a:spcPct val="130000"/>
              </a:lnSpc>
              <a:spcBef>
                <a:spcPts val="800"/>
              </a:spcBef>
            </a:pPr>
            <a:r>
              <a:rPr sz="2400" b="0">
                <a:solidFill>
                  <a:srgbClr val="262626">
                    <a:alpha val="0"/>
                  </a:srgbClr>
                </a:solidFill>
              </a:rPr>
              <a:t>4. 지금의 오염이 100년 뒤 아이들의 삶을 위협한다</a:t>
            </a:r>
            <a:r>
              <a:rPr sz="2300" b="1">
                <a:solidFill>
                  <a:srgbClr val="C0392B">
                    <a:alpha val="0"/>
                  </a:srgbClr>
                </a:solidFill>
              </a:rPr>
              <a:t>   → 넓은 영향 범위 (미래 세대까지)</a:t>
            </a:r>
          </a:p>
          <a:p>
            <a:pPr>
              <a:lnSpc>
                <a:spcPct val="130000"/>
              </a:lnSpc>
              <a:spcBef>
                <a:spcPts val="800"/>
              </a:spcBef>
            </a:pPr>
            <a:r>
              <a:rPr sz="2400" b="0">
                <a:solidFill>
                  <a:srgbClr val="262626">
                    <a:alpha val="0"/>
                  </a:srgbClr>
                </a:solidFill>
              </a:rPr>
              <a:t>5. 바다가 받아들일 수 있는 양보다 많은 플라스틱이 버려진다</a:t>
            </a:r>
            <a:r>
              <a:rPr sz="2300" b="1">
                <a:solidFill>
                  <a:srgbClr val="C0392B">
                    <a:alpha val="0"/>
                  </a:srgbClr>
                </a:solidFill>
              </a:rPr>
              <a:t>   → 자정 능력 초과 (자정 능력)</a:t>
            </a:r>
          </a:p>
        </p:txBody>
      </p:sp>
      <p:sp>
        <p:nvSpPr>
          <p:cNvPr id="25" name="TextBox 24"/>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어느 칸일까? 자정 능력 초과 · 빠른 속도 · 넓은 영향 범위</a:t>
            </a:r>
          </a:p>
          <a:p>
            <a:pPr>
              <a:lnSpc>
                <a:spcPct val="130000"/>
              </a:lnSpc>
              <a:spcBef>
                <a:spcPts val="800"/>
              </a:spcBef>
            </a:pPr>
            <a:r>
              <a:rPr sz="2400" b="0">
                <a:solidFill>
                  <a:srgbClr val="262626">
                    <a:alpha val="0"/>
                  </a:srgbClr>
                </a:solidFill>
              </a:rPr>
              <a:t>1. 강이 스스로 깨끗해지기도 전에 폐수가 또 흘러든다</a:t>
            </a:r>
            <a:r>
              <a:rPr sz="2300" b="1">
                <a:solidFill>
                  <a:srgbClr val="C0392B">
                    <a:alpha val="0"/>
                  </a:srgbClr>
                </a:solidFill>
              </a:rPr>
              <a:t>   → 자정 능력 초과 (자정 능력)</a:t>
            </a:r>
          </a:p>
          <a:p>
            <a:pPr>
              <a:lnSpc>
                <a:spcPct val="130000"/>
              </a:lnSpc>
              <a:spcBef>
                <a:spcPts val="800"/>
              </a:spcBef>
            </a:pPr>
            <a:r>
              <a:rPr sz="2400" b="0">
                <a:solidFill>
                  <a:srgbClr val="262626">
                    <a:alpha val="0"/>
                  </a:srgbClr>
                </a:solidFill>
              </a:rPr>
              <a:t>2. 빙하가 과학자들의 예측보다 빨리 녹는다</a:t>
            </a:r>
            <a:r>
              <a:rPr sz="2300" b="1">
                <a:solidFill>
                  <a:srgbClr val="C0392B">
                    <a:alpha val="0"/>
                  </a:srgbClr>
                </a:solidFill>
              </a:rPr>
              <a:t>   → 빠른 속도 (속도)</a:t>
            </a:r>
          </a:p>
          <a:p>
            <a:pPr>
              <a:lnSpc>
                <a:spcPct val="130000"/>
              </a:lnSpc>
              <a:spcBef>
                <a:spcPts val="800"/>
              </a:spcBef>
            </a:pPr>
            <a:r>
              <a:rPr sz="2400" b="0">
                <a:solidFill>
                  <a:srgbClr val="262626">
                    <a:alpha val="0"/>
                  </a:srgbClr>
                </a:solidFill>
              </a:rPr>
              <a:t>3. 다른 나라의 미세 먼지 때문에 축구 대회가 취소되었다</a:t>
            </a:r>
            <a:r>
              <a:rPr sz="2300" b="1">
                <a:solidFill>
                  <a:srgbClr val="C0392B"/>
                </a:solidFill>
              </a:rPr>
              <a:t>   → 넓은 영향 범위 (국경을 넘는다)</a:t>
            </a:r>
          </a:p>
          <a:p>
            <a:pPr>
              <a:lnSpc>
                <a:spcPct val="130000"/>
              </a:lnSpc>
              <a:spcBef>
                <a:spcPts val="800"/>
              </a:spcBef>
            </a:pPr>
            <a:r>
              <a:rPr sz="2400" b="0">
                <a:solidFill>
                  <a:srgbClr val="262626">
                    <a:alpha val="0"/>
                  </a:srgbClr>
                </a:solidFill>
              </a:rPr>
              <a:t>4. 지금의 오염이 100년 뒤 아이들의 삶을 위협한다</a:t>
            </a:r>
            <a:r>
              <a:rPr sz="2300" b="1">
                <a:solidFill>
                  <a:srgbClr val="C0392B">
                    <a:alpha val="0"/>
                  </a:srgbClr>
                </a:solidFill>
              </a:rPr>
              <a:t>   → 넓은 영향 범위 (미래 세대까지)</a:t>
            </a:r>
          </a:p>
          <a:p>
            <a:pPr>
              <a:lnSpc>
                <a:spcPct val="130000"/>
              </a:lnSpc>
              <a:spcBef>
                <a:spcPts val="800"/>
              </a:spcBef>
            </a:pPr>
            <a:r>
              <a:rPr sz="2400" b="0">
                <a:solidFill>
                  <a:srgbClr val="262626">
                    <a:alpha val="0"/>
                  </a:srgbClr>
                </a:solidFill>
              </a:rPr>
              <a:t>5. 바다가 받아들일 수 있는 양보다 많은 플라스틱이 버려진다</a:t>
            </a:r>
            <a:r>
              <a:rPr sz="2300" b="1">
                <a:solidFill>
                  <a:srgbClr val="C0392B">
                    <a:alpha val="0"/>
                  </a:srgbClr>
                </a:solidFill>
              </a:rPr>
              <a:t>   → 자정 능력 초과 (자정 능력)</a:t>
            </a:r>
          </a:p>
        </p:txBody>
      </p:sp>
      <p:sp>
        <p:nvSpPr>
          <p:cNvPr id="26" name="TextBox 25"/>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어느 칸일까? 자정 능력 초과 · 빠른 속도 · 넓은 영향 범위</a:t>
            </a:r>
          </a:p>
          <a:p>
            <a:pPr>
              <a:lnSpc>
                <a:spcPct val="130000"/>
              </a:lnSpc>
              <a:spcBef>
                <a:spcPts val="800"/>
              </a:spcBef>
            </a:pPr>
            <a:r>
              <a:rPr sz="2400" b="0">
                <a:solidFill>
                  <a:srgbClr val="262626">
                    <a:alpha val="0"/>
                  </a:srgbClr>
                </a:solidFill>
              </a:rPr>
              <a:t>1. 강이 스스로 깨끗해지기도 전에 폐수가 또 흘러든다</a:t>
            </a:r>
            <a:r>
              <a:rPr sz="2300" b="1">
                <a:solidFill>
                  <a:srgbClr val="C0392B">
                    <a:alpha val="0"/>
                  </a:srgbClr>
                </a:solidFill>
              </a:rPr>
              <a:t>   → 자정 능력 초과 (자정 능력)</a:t>
            </a:r>
          </a:p>
          <a:p>
            <a:pPr>
              <a:lnSpc>
                <a:spcPct val="130000"/>
              </a:lnSpc>
              <a:spcBef>
                <a:spcPts val="800"/>
              </a:spcBef>
            </a:pPr>
            <a:r>
              <a:rPr sz="2400" b="0">
                <a:solidFill>
                  <a:srgbClr val="262626">
                    <a:alpha val="0"/>
                  </a:srgbClr>
                </a:solidFill>
              </a:rPr>
              <a:t>2. 빙하가 과학자들의 예측보다 빨리 녹는다</a:t>
            </a:r>
            <a:r>
              <a:rPr sz="2300" b="1">
                <a:solidFill>
                  <a:srgbClr val="C0392B">
                    <a:alpha val="0"/>
                  </a:srgbClr>
                </a:solidFill>
              </a:rPr>
              <a:t>   → 빠른 속도 (속도)</a:t>
            </a:r>
          </a:p>
          <a:p>
            <a:pPr>
              <a:lnSpc>
                <a:spcPct val="130000"/>
              </a:lnSpc>
              <a:spcBef>
                <a:spcPts val="800"/>
              </a:spcBef>
            </a:pPr>
            <a:r>
              <a:rPr sz="2400" b="0">
                <a:solidFill>
                  <a:srgbClr val="262626">
                    <a:alpha val="0"/>
                  </a:srgbClr>
                </a:solidFill>
              </a:rPr>
              <a:t>3. 다른 나라의 미세 먼지 때문에 축구 대회가 취소되었다</a:t>
            </a:r>
            <a:r>
              <a:rPr sz="2300" b="1">
                <a:solidFill>
                  <a:srgbClr val="C0392B">
                    <a:alpha val="0"/>
                  </a:srgbClr>
                </a:solidFill>
              </a:rPr>
              <a:t>   → 넓은 영향 범위 (국경을 넘는다)</a:t>
            </a:r>
          </a:p>
          <a:p>
            <a:pPr>
              <a:lnSpc>
                <a:spcPct val="130000"/>
              </a:lnSpc>
              <a:spcBef>
                <a:spcPts val="800"/>
              </a:spcBef>
            </a:pPr>
            <a:r>
              <a:rPr sz="2400" b="0">
                <a:solidFill>
                  <a:srgbClr val="262626">
                    <a:alpha val="0"/>
                  </a:srgbClr>
                </a:solidFill>
              </a:rPr>
              <a:t>4. 지금의 오염이 100년 뒤 아이들의 삶을 위협한다</a:t>
            </a:r>
            <a:r>
              <a:rPr sz="2300" b="1">
                <a:solidFill>
                  <a:srgbClr val="C0392B"/>
                </a:solidFill>
              </a:rPr>
              <a:t>   → 넓은 영향 범위 (미래 세대까지)</a:t>
            </a:r>
          </a:p>
          <a:p>
            <a:pPr>
              <a:lnSpc>
                <a:spcPct val="130000"/>
              </a:lnSpc>
              <a:spcBef>
                <a:spcPts val="800"/>
              </a:spcBef>
            </a:pPr>
            <a:r>
              <a:rPr sz="2400" b="0">
                <a:solidFill>
                  <a:srgbClr val="262626">
                    <a:alpha val="0"/>
                  </a:srgbClr>
                </a:solidFill>
              </a:rPr>
              <a:t>5. 바다가 받아들일 수 있는 양보다 많은 플라스틱이 버려진다</a:t>
            </a:r>
            <a:r>
              <a:rPr sz="2300" b="1">
                <a:solidFill>
                  <a:srgbClr val="C0392B">
                    <a:alpha val="0"/>
                  </a:srgbClr>
                </a:solidFill>
              </a:rPr>
              <a:t>   → 자정 능력 초과 (자정 능력)</a:t>
            </a:r>
          </a:p>
        </p:txBody>
      </p:sp>
      <p:sp>
        <p:nvSpPr>
          <p:cNvPr id="27" name="TextBox 26"/>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어느 칸일까? 자정 능력 초과 · 빠른 속도 · 넓은 영향 범위</a:t>
            </a:r>
          </a:p>
          <a:p>
            <a:pPr>
              <a:lnSpc>
                <a:spcPct val="130000"/>
              </a:lnSpc>
              <a:spcBef>
                <a:spcPts val="800"/>
              </a:spcBef>
            </a:pPr>
            <a:r>
              <a:rPr sz="2400" b="0">
                <a:solidFill>
                  <a:srgbClr val="262626">
                    <a:alpha val="0"/>
                  </a:srgbClr>
                </a:solidFill>
              </a:rPr>
              <a:t>1. 강이 스스로 깨끗해지기도 전에 폐수가 또 흘러든다</a:t>
            </a:r>
            <a:r>
              <a:rPr sz="2300" b="1">
                <a:solidFill>
                  <a:srgbClr val="C0392B">
                    <a:alpha val="0"/>
                  </a:srgbClr>
                </a:solidFill>
              </a:rPr>
              <a:t>   → 자정 능력 초과 (자정 능력)</a:t>
            </a:r>
          </a:p>
          <a:p>
            <a:pPr>
              <a:lnSpc>
                <a:spcPct val="130000"/>
              </a:lnSpc>
              <a:spcBef>
                <a:spcPts val="800"/>
              </a:spcBef>
            </a:pPr>
            <a:r>
              <a:rPr sz="2400" b="0">
                <a:solidFill>
                  <a:srgbClr val="262626">
                    <a:alpha val="0"/>
                  </a:srgbClr>
                </a:solidFill>
              </a:rPr>
              <a:t>2. 빙하가 과학자들의 예측보다 빨리 녹는다</a:t>
            </a:r>
            <a:r>
              <a:rPr sz="2300" b="1">
                <a:solidFill>
                  <a:srgbClr val="C0392B">
                    <a:alpha val="0"/>
                  </a:srgbClr>
                </a:solidFill>
              </a:rPr>
              <a:t>   → 빠른 속도 (속도)</a:t>
            </a:r>
          </a:p>
          <a:p>
            <a:pPr>
              <a:lnSpc>
                <a:spcPct val="130000"/>
              </a:lnSpc>
              <a:spcBef>
                <a:spcPts val="800"/>
              </a:spcBef>
            </a:pPr>
            <a:r>
              <a:rPr sz="2400" b="0">
                <a:solidFill>
                  <a:srgbClr val="262626">
                    <a:alpha val="0"/>
                  </a:srgbClr>
                </a:solidFill>
              </a:rPr>
              <a:t>3. 다른 나라의 미세 먼지 때문에 축구 대회가 취소되었다</a:t>
            </a:r>
            <a:r>
              <a:rPr sz="2300" b="1">
                <a:solidFill>
                  <a:srgbClr val="C0392B">
                    <a:alpha val="0"/>
                  </a:srgbClr>
                </a:solidFill>
              </a:rPr>
              <a:t>   → 넓은 영향 범위 (국경을 넘는다)</a:t>
            </a:r>
          </a:p>
          <a:p>
            <a:pPr>
              <a:lnSpc>
                <a:spcPct val="130000"/>
              </a:lnSpc>
              <a:spcBef>
                <a:spcPts val="800"/>
              </a:spcBef>
            </a:pPr>
            <a:r>
              <a:rPr sz="2400" b="0">
                <a:solidFill>
                  <a:srgbClr val="262626">
                    <a:alpha val="0"/>
                  </a:srgbClr>
                </a:solidFill>
              </a:rPr>
              <a:t>4. 지금의 오염이 100년 뒤 아이들의 삶을 위협한다</a:t>
            </a:r>
            <a:r>
              <a:rPr sz="2300" b="1">
                <a:solidFill>
                  <a:srgbClr val="C0392B">
                    <a:alpha val="0"/>
                  </a:srgbClr>
                </a:solidFill>
              </a:rPr>
              <a:t>   → 넓은 영향 범위 (미래 세대까지)</a:t>
            </a:r>
          </a:p>
          <a:p>
            <a:pPr>
              <a:lnSpc>
                <a:spcPct val="130000"/>
              </a:lnSpc>
              <a:spcBef>
                <a:spcPts val="800"/>
              </a:spcBef>
            </a:pPr>
            <a:r>
              <a:rPr sz="2400" b="0">
                <a:solidFill>
                  <a:srgbClr val="262626">
                    <a:alpha val="0"/>
                  </a:srgbClr>
                </a:solidFill>
              </a:rPr>
              <a:t>5. 바다가 받아들일 수 있는 양보다 많은 플라스틱이 버려진다</a:t>
            </a:r>
            <a:r>
              <a:rPr sz="2300" b="1">
                <a:solidFill>
                  <a:srgbClr val="C0392B"/>
                </a:solidFill>
              </a:rPr>
              <a:t>   → 자정 능력 초과 (자정 능력)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3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함께 해 보기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아보카도 만화 — 책임이 큰 순서는?</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solidFill>
              </a:rPr>
              <a:t>중요한 순서대로 번호를 매겨 보자</a:t>
            </a:r>
          </a:p>
          <a:p>
            <a:pPr>
              <a:lnSpc>
                <a:spcPct val="130000"/>
              </a:lnSpc>
              <a:spcBef>
                <a:spcPts val="800"/>
              </a:spcBef>
            </a:pPr>
            <a:r>
              <a:rPr sz="2400" b="0">
                <a:solidFill>
                  <a:srgbClr val="262626"/>
                </a:solidFill>
              </a:rPr>
              <a:t>(   ) 아보카도를 즐겨 사 먹는 소비자</a:t>
            </a:r>
          </a:p>
          <a:p>
            <a:pPr>
              <a:lnSpc>
                <a:spcPct val="130000"/>
              </a:lnSpc>
              <a:spcBef>
                <a:spcPts val="800"/>
              </a:spcBef>
            </a:pPr>
            <a:r>
              <a:rPr sz="2400" b="0">
                <a:solidFill>
                  <a:srgbClr val="262626"/>
                </a:solidFill>
              </a:rPr>
              <a:t>(   ) 건강에 좋다고 홍보한 기업</a:t>
            </a:r>
          </a:p>
          <a:p>
            <a:pPr>
              <a:lnSpc>
                <a:spcPct val="130000"/>
              </a:lnSpc>
              <a:spcBef>
                <a:spcPts val="800"/>
              </a:spcBef>
            </a:pPr>
            <a:r>
              <a:rPr sz="2400" b="0">
                <a:solidFill>
                  <a:srgbClr val="262626"/>
                </a:solidFill>
              </a:rPr>
              <a:t>(   ) 넓은 땅과 물을 쓰는 농장 주인</a:t>
            </a:r>
          </a:p>
          <a:p>
            <a:pPr>
              <a:lnSpc>
                <a:spcPct val="130000"/>
              </a:lnSpc>
              <a:spcBef>
                <a:spcPts val="800"/>
              </a:spcBef>
            </a:pPr>
            <a:r>
              <a:rPr sz="2400" b="0">
                <a:solidFill>
                  <a:srgbClr val="262626"/>
                </a:solidFill>
              </a:rPr>
              <a:t>(   ) 온실가스를 내뿜으며 운송하는 유통업자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 name="그림 11" descr="스크린샷, 직사각형, 프레임이(가) 표시된 사진&#10;&#10;자동 생성된 설명">
            <a:extLst>
              <a:ext uri="{FF2B5EF4-FFF2-40B4-BE49-F238E27FC236}">
                <a16:creationId xmlns:a16="http://schemas.microsoft.com/office/drawing/2014/main" id="{1F2BD740-CBE0-6428-785E-A679A26CFA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extBox 6"/>
          <p:cNvSpPr txBox="1"/>
          <p:nvPr/>
        </p:nvSpPr>
        <p:spPr>
          <a:xfrm>
            <a:off x="1163293" y="671316"/>
            <a:ext cx="1461573" cy="461665"/>
          </a:xfrm>
          <a:prstGeom prst="rect">
            <a:avLst/>
          </a:prstGeom>
          <a:noFill/>
        </p:spPr>
        <p:txBody>
          <a:bodyPr wrap="none" rtlCol="0">
            <a:spAutoFit/>
          </a:bodyPr>
          <a:lstStyle/>
          <a:p>
            <a:pPr algn="l"/>
            <a:r>
              <a:rPr lang="ko-KR" altLang="en-US" sz="2400" b="1" dirty="0">
                <a:solidFill>
                  <a:schemeClr val="bg1"/>
                </a:solidFill>
                <a:latin typeface="+mj-ea"/>
                <a:ea typeface="+mj-ea"/>
              </a:rPr>
              <a:t>함께 해 보기</a:t>
            </a:r>
          </a:p>
        </p:txBody>
      </p:sp>
      <p:pic>
        <p:nvPicPr>
          <p:cNvPr id="2" name="그래픽 1">
            <a:extLst>
              <a:ext uri="{FF2B5EF4-FFF2-40B4-BE49-F238E27FC236}">
                <a16:creationId xmlns:a16="http://schemas.microsoft.com/office/drawing/2014/main" id="{59085718-2868-4EE2-956A-5921C971418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0765631" y="78580"/>
            <a:ext cx="1352551" cy="285751"/>
          </a:xfrm>
          <a:prstGeom prst="rect">
            <a:avLst/>
          </a:prstGeom>
        </p:spPr>
      </p:pic>
      <p:sp>
        <p:nvSpPr>
          <p:cNvPr id="16" name="TextBox 15">
            <a:extLst>
              <a:ext uri="{FF2B5EF4-FFF2-40B4-BE49-F238E27FC236}">
                <a16:creationId xmlns:a16="http://schemas.microsoft.com/office/drawing/2014/main" id="{31E673D8-A19D-7053-452F-4D188691D173}"/>
              </a:ext>
            </a:extLst>
          </p:cNvPr>
          <p:cNvSpPr txBox="1"/>
          <p:nvPr/>
        </p:nvSpPr>
        <p:spPr>
          <a:xfrm>
            <a:off x="2753958" y="651297"/>
            <a:ext cx="7153835" cy="523220"/>
          </a:xfrm>
          <a:prstGeom prst="rect">
            <a:avLst/>
          </a:prstGeom>
          <a:noFill/>
        </p:spPr>
        <p:txBody>
          <a:bodyPr wrap="square" rtlCol="0">
            <a:spAutoFit/>
          </a:bodyPr>
          <a:lstStyle/>
          <a:p>
            <a:pPr algn="ctr"/>
            <a:r>
              <a:rPr lang="ko-KR" altLang="en-US" sz="2800" b="1" dirty="0">
                <a:solidFill>
                  <a:srgbClr val="FFFF00"/>
                </a:solidFill>
                <a:latin typeface="+mn-ea"/>
              </a:rPr>
              <a:t>100년 뒤</a:t>
            </a:r>
          </a:p>
        </p:txBody>
      </p:sp>
      <p:sp>
        <p:nvSpPr>
          <p:cNvPr id="14" name="TextBox 13">
            <a:extLst>
              <a:ext uri="{FF2B5EF4-FFF2-40B4-BE49-F238E27FC236}">
                <a16:creationId xmlns:a16="http://schemas.microsoft.com/office/drawing/2014/main" id="{9DF654BD-7BDA-01EA-D081-AF5C5DA47FBF}"/>
              </a:ext>
            </a:extLst>
          </p:cNvPr>
          <p:cNvSpPr txBox="1"/>
          <p:nvPr/>
        </p:nvSpPr>
        <p:spPr>
          <a:xfrm>
            <a:off x="11140107" y="121514"/>
            <a:ext cx="239168" cy="200055"/>
          </a:xfrm>
          <a:prstGeom prst="rect">
            <a:avLst/>
          </a:prstGeom>
          <a:noFill/>
        </p:spPr>
        <p:txBody>
          <a:bodyPr wrap="none" rtlCol="0">
            <a:spAutoFit/>
          </a:bodyPr>
          <a:lstStyle/>
          <a:p>
            <a:r>
              <a:rPr lang="en-US" altLang="ko-KR" sz="700" b="1" dirty="0">
                <a:solidFill>
                  <a:schemeClr val="bg1"/>
                </a:solidFill>
                <a:latin typeface="+mj-ea"/>
                <a:ea typeface="+mj-ea"/>
              </a:rPr>
              <a:t>2</a:t>
            </a:r>
            <a:endParaRPr lang="ko-KR" altLang="en-US" sz="700" b="1" dirty="0">
              <a:solidFill>
                <a:schemeClr val="bg1"/>
              </a:solidFill>
              <a:latin typeface="+mj-ea"/>
              <a:ea typeface="+mj-ea"/>
            </a:endParaRPr>
          </a:p>
        </p:txBody>
      </p:sp>
      <p:sp>
        <p:nvSpPr>
          <p:cNvPr id="17" name="TextBox 16">
            <a:extLst>
              <a:ext uri="{FF2B5EF4-FFF2-40B4-BE49-F238E27FC236}">
                <a16:creationId xmlns:a16="http://schemas.microsoft.com/office/drawing/2014/main" id="{F509C190-B7A2-2304-F9ED-C5C85F801E57}"/>
              </a:ext>
            </a:extLst>
          </p:cNvPr>
          <p:cNvSpPr txBox="1"/>
          <p:nvPr/>
        </p:nvSpPr>
        <p:spPr>
          <a:xfrm>
            <a:off x="11494518" y="90736"/>
            <a:ext cx="570990" cy="261610"/>
          </a:xfrm>
          <a:prstGeom prst="rect">
            <a:avLst/>
          </a:prstGeom>
          <a:noFill/>
        </p:spPr>
        <p:txBody>
          <a:bodyPr wrap="none" rtlCol="0">
            <a:spAutoFit/>
          </a:bodyPr>
          <a:lstStyle/>
          <a:p>
            <a:pPr algn="ctr"/>
            <a:r>
              <a:rPr lang="en-US" altLang="ko-KR" sz="1100" b="1" dirty="0" smtClean="0">
                <a:solidFill>
                  <a:srgbClr val="3DB250"/>
                </a:solidFill>
                <a:latin typeface="+mj-ea"/>
                <a:ea typeface="+mj-ea"/>
              </a:rPr>
              <a:t>209쪽</a:t>
            </a:r>
            <a:endParaRPr lang="ko-KR" altLang="en-US" sz="1100" b="1" dirty="0">
              <a:solidFill>
                <a:srgbClr val="3DB250"/>
              </a:solidFill>
              <a:latin typeface="+mj-ea"/>
              <a:ea typeface="+mj-ea"/>
            </a:endParaRPr>
          </a:p>
        </p:txBody>
      </p:sp>
      <p:sp>
        <p:nvSpPr>
          <p:cNvPr id="13" name="TextBox 12"/>
          <p:cNvSpPr txBox="1"/>
          <p:nvPr/>
        </p:nvSpPr>
        <p:spPr>
          <a:xfrm>
            <a:off x="242867" y="89426"/>
            <a:ext cx="1731577" cy="246221"/>
          </a:xfrm>
          <a:prstGeom prst="rect">
            <a:avLst/>
          </a:prstGeom>
          <a:noFill/>
        </p:spPr>
        <p:txBody>
          <a:bodyPr wrap="square" rtlCol="0">
            <a:spAutoFit/>
          </a:bodyPr>
          <a:lstStyle/>
          <a:p>
            <a:pPr algn="ctr"/>
            <a:r>
              <a:rPr lang="en-US" altLang="ko-KR" sz="1000" b="1" dirty="0">
                <a:solidFill>
                  <a:srgbClr val="6C768E"/>
                </a:solidFill>
                <a:latin typeface="+mj-ea"/>
                <a:ea typeface="+mj-ea"/>
              </a:rPr>
              <a:t>Ⅳ. </a:t>
            </a:r>
            <a:r>
              <a:rPr lang="ko-KR" altLang="en-US" sz="1000" b="1" dirty="0">
                <a:solidFill>
                  <a:srgbClr val="6C768E"/>
                </a:solidFill>
                <a:latin typeface="+mj-ea"/>
                <a:ea typeface="+mj-ea"/>
              </a:rPr>
              <a:t>자연과의 관계</a:t>
            </a:r>
          </a:p>
        </p:txBody>
      </p:sp>
      <p:sp>
        <p:nvSpPr>
          <p:cNvPr id="21" name="TextBox 20">
            <a:extLst>
              <a:ext uri="{FF2B5EF4-FFF2-40B4-BE49-F238E27FC236}">
                <a16:creationId xmlns:a16="http://schemas.microsoft.com/office/drawing/2014/main" id="{F2CBC0A6-D9DC-0DF9-B79B-2AB53AB63FFB}"/>
              </a:ext>
            </a:extLst>
          </p:cNvPr>
          <p:cNvSpPr txBox="1"/>
          <p:nvPr/>
        </p:nvSpPr>
        <p:spPr>
          <a:xfrm>
            <a:off x="2067996" y="89426"/>
            <a:ext cx="1482028" cy="246221"/>
          </a:xfrm>
          <a:prstGeom prst="rect">
            <a:avLst/>
          </a:prstGeom>
          <a:noFill/>
        </p:spPr>
        <p:txBody>
          <a:bodyPr wrap="square" rtlCol="0">
            <a:spAutoFit/>
          </a:bodyPr>
          <a:lstStyle/>
          <a:p>
            <a:pPr algn="ctr"/>
            <a:r>
              <a:rPr lang="en-US" altLang="ko-KR" sz="1000" b="1" dirty="0">
                <a:solidFill>
                  <a:srgbClr val="6C768E"/>
                </a:solidFill>
                <a:latin typeface="+mj-ea"/>
                <a:ea typeface="+mj-ea"/>
              </a:rPr>
              <a:t>1. </a:t>
            </a:r>
            <a:r>
              <a:rPr lang="ko-KR" altLang="en-US" sz="1000" b="1" dirty="0">
                <a:solidFill>
                  <a:srgbClr val="6C768E"/>
                </a:solidFill>
                <a:latin typeface="+mj-ea"/>
                <a:ea typeface="+mj-ea"/>
              </a:rPr>
              <a:t>인간과 자연의 관계</a:t>
            </a:r>
          </a:p>
        </p:txBody>
      </p:sp>
      <p:sp>
        <p:nvSpPr>
          <p:cNvPr id="18" name="TextBox 17">
            <a:extLst>
              <a:ext uri="{FF2B5EF4-FFF2-40B4-BE49-F238E27FC236}">
                <a16:creationId xmlns:a16="http://schemas.microsoft.com/office/drawing/2014/main" id="{912CB891-F7FC-44D4-7331-394197E39634}"/>
              </a:ext>
            </a:extLst>
          </p:cNvPr>
          <p:cNvSpPr txBox="1"/>
          <p:nvPr/>
        </p:nvSpPr>
        <p:spPr>
          <a:xfrm>
            <a:off x="3924500" y="25400"/>
            <a:ext cx="6747580" cy="369332"/>
          </a:xfrm>
          <a:prstGeom prst="rect">
            <a:avLst/>
          </a:prstGeom>
          <a:noFill/>
          <a:effectLst/>
        </p:spPr>
        <p:txBody>
          <a:bodyPr wrap="square" rtlCol="0">
            <a:spAutoFit/>
          </a:bodyPr>
          <a:lstStyle/>
          <a:p>
            <a:r>
              <a:rPr lang="en-US" altLang="ko-KR" b="1" dirty="0" smtClean="0">
                <a:latin typeface="+mj-ea"/>
                <a:ea typeface="+mj-ea"/>
              </a:rPr>
              <a:t>02. </a:t>
            </a:r>
            <a:r>
              <a:rPr lang="ko-KR" altLang="en-US" b="1" dirty="0" smtClean="0">
                <a:latin typeface="+mj-ea"/>
                <a:ea typeface="+mj-ea"/>
              </a:rPr>
              <a:t>환경 위기에 대한 우리의 책임은 무엇일까</a:t>
            </a:r>
            <a:r>
              <a:rPr lang="en-US" altLang="ko-KR" b="1" dirty="0">
                <a:latin typeface="+mj-ea"/>
                <a:ea typeface="+mj-ea"/>
              </a:rPr>
              <a:t>?</a:t>
            </a:r>
          </a:p>
        </p:txBody>
      </p:sp>
      <p:sp>
        <p:nvSpPr>
          <p:cNvPr id="22" name="TextBox 21"/>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solidFill>
              </a:rPr>
              <a:t>빈칸을 채워 문장을 완성해 보자</a:t>
            </a:r>
          </a:p>
          <a:p>
            <a:pPr>
              <a:lnSpc>
                <a:spcPct val="130000"/>
              </a:lnSpc>
              <a:spcBef>
                <a:spcPts val="800"/>
              </a:spcBef>
            </a:pPr>
            <a:r>
              <a:rPr sz="2400" b="0">
                <a:solidFill>
                  <a:srgbClr val="262626"/>
                </a:solidFill>
              </a:rPr>
              <a:t>✍️ 생태계</a:t>
            </a:r>
            <a:r>
              <a:rPr sz="2300" b="1">
                <a:solidFill>
                  <a:srgbClr val="C0392B">
                    <a:alpha val="0"/>
                  </a:srgbClr>
                </a:solidFill>
              </a:rPr>
              <a:t>   예) 물이 마르고 기온이 올라 숲과 동식물이 사라진다</a:t>
            </a:r>
          </a:p>
          <a:p>
            <a:pPr>
              <a:lnSpc>
                <a:spcPct val="130000"/>
              </a:lnSpc>
              <a:spcBef>
                <a:spcPts val="800"/>
              </a:spcBef>
            </a:pPr>
            <a:r>
              <a:rPr sz="2400" b="0">
                <a:solidFill>
                  <a:srgbClr val="262626"/>
                </a:solidFill>
              </a:rPr>
              <a:t>✍️ 미래 세대</a:t>
            </a:r>
            <a:r>
              <a:rPr sz="2300" b="1">
                <a:solidFill>
                  <a:srgbClr val="C0392B">
                    <a:alpha val="0"/>
                  </a:srgbClr>
                </a:solidFill>
              </a:rPr>
              <a:t>   예) 폭염과 식량 부족으로 안전하게 살기 어렵다</a:t>
            </a:r>
          </a:p>
          <a:p>
            <a:pPr>
              <a:lnSpc>
                <a:spcPct val="130000"/>
              </a:lnSpc>
              <a:spcBef>
                <a:spcPts val="800"/>
              </a:spcBef>
            </a:pPr>
            <a:r>
              <a:rPr sz="2400" b="0">
                <a:solidFill>
                  <a:srgbClr val="262626"/>
                </a:solidFill>
              </a:rPr>
              <a:t>✍️ 책임은 누구에게?</a:t>
            </a:r>
            <a:r>
              <a:rPr sz="2300" b="1">
                <a:solidFill>
                  <a:srgbClr val="C0392B">
                    <a:alpha val="0"/>
                  </a:srgbClr>
                </a:solidFill>
              </a:rPr>
              <a:t>   예) 소비자·기업·생산자·유통업자 모두 — 우리 모두에게 있다</a:t>
            </a:r>
          </a:p>
        </p:txBody>
      </p:sp>
      <p:sp>
        <p:nvSpPr>
          <p:cNvPr id="23" name="TextBox 22"/>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빈칸을 채워 문장을 완성해 보자</a:t>
            </a:r>
          </a:p>
          <a:p>
            <a:pPr>
              <a:lnSpc>
                <a:spcPct val="130000"/>
              </a:lnSpc>
              <a:spcBef>
                <a:spcPts val="800"/>
              </a:spcBef>
            </a:pPr>
            <a:r>
              <a:rPr sz="2400" b="0">
                <a:solidFill>
                  <a:srgbClr val="262626">
                    <a:alpha val="0"/>
                  </a:srgbClr>
                </a:solidFill>
              </a:rPr>
              <a:t>✍️ 생태계</a:t>
            </a:r>
            <a:r>
              <a:rPr sz="2300" b="1">
                <a:solidFill>
                  <a:srgbClr val="C0392B"/>
                </a:solidFill>
              </a:rPr>
              <a:t>   예) 물이 마르고 기온이 올라 숲과 동식물이 사라진다</a:t>
            </a:r>
          </a:p>
          <a:p>
            <a:pPr>
              <a:lnSpc>
                <a:spcPct val="130000"/>
              </a:lnSpc>
              <a:spcBef>
                <a:spcPts val="800"/>
              </a:spcBef>
            </a:pPr>
            <a:r>
              <a:rPr sz="2400" b="0">
                <a:solidFill>
                  <a:srgbClr val="262626">
                    <a:alpha val="0"/>
                  </a:srgbClr>
                </a:solidFill>
              </a:rPr>
              <a:t>✍️ 미래 세대</a:t>
            </a:r>
            <a:r>
              <a:rPr sz="2300" b="1">
                <a:solidFill>
                  <a:srgbClr val="C0392B">
                    <a:alpha val="0"/>
                  </a:srgbClr>
                </a:solidFill>
              </a:rPr>
              <a:t>   예) 폭염과 식량 부족으로 안전하게 살기 어렵다</a:t>
            </a:r>
          </a:p>
          <a:p>
            <a:pPr>
              <a:lnSpc>
                <a:spcPct val="130000"/>
              </a:lnSpc>
              <a:spcBef>
                <a:spcPts val="800"/>
              </a:spcBef>
            </a:pPr>
            <a:r>
              <a:rPr sz="2400" b="0">
                <a:solidFill>
                  <a:srgbClr val="262626">
                    <a:alpha val="0"/>
                  </a:srgbClr>
                </a:solidFill>
              </a:rPr>
              <a:t>✍️ 책임은 누구에게?</a:t>
            </a:r>
            <a:r>
              <a:rPr sz="2300" b="1">
                <a:solidFill>
                  <a:srgbClr val="C0392B">
                    <a:alpha val="0"/>
                  </a:srgbClr>
                </a:solidFill>
              </a:rPr>
              <a:t>   예) 소비자·기업·생산자·유통업자 모두 — 우리 모두에게 있다</a:t>
            </a:r>
          </a:p>
        </p:txBody>
      </p:sp>
      <p:sp>
        <p:nvSpPr>
          <p:cNvPr id="24" name="TextBox 23"/>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빈칸을 채워 문장을 완성해 보자</a:t>
            </a:r>
          </a:p>
          <a:p>
            <a:pPr>
              <a:lnSpc>
                <a:spcPct val="130000"/>
              </a:lnSpc>
              <a:spcBef>
                <a:spcPts val="800"/>
              </a:spcBef>
            </a:pPr>
            <a:r>
              <a:rPr sz="2400" b="0">
                <a:solidFill>
                  <a:srgbClr val="262626">
                    <a:alpha val="0"/>
                  </a:srgbClr>
                </a:solidFill>
              </a:rPr>
              <a:t>✍️ 생태계</a:t>
            </a:r>
            <a:r>
              <a:rPr sz="2300" b="1">
                <a:solidFill>
                  <a:srgbClr val="C0392B">
                    <a:alpha val="0"/>
                  </a:srgbClr>
                </a:solidFill>
              </a:rPr>
              <a:t>   예) 물이 마르고 기온이 올라 숲과 동식물이 사라진다</a:t>
            </a:r>
          </a:p>
          <a:p>
            <a:pPr>
              <a:lnSpc>
                <a:spcPct val="130000"/>
              </a:lnSpc>
              <a:spcBef>
                <a:spcPts val="800"/>
              </a:spcBef>
            </a:pPr>
            <a:r>
              <a:rPr sz="2400" b="0">
                <a:solidFill>
                  <a:srgbClr val="262626">
                    <a:alpha val="0"/>
                  </a:srgbClr>
                </a:solidFill>
              </a:rPr>
              <a:t>✍️ 미래 세대</a:t>
            </a:r>
            <a:r>
              <a:rPr sz="2300" b="1">
                <a:solidFill>
                  <a:srgbClr val="C0392B"/>
                </a:solidFill>
              </a:rPr>
              <a:t>   예) 폭염과 식량 부족으로 안전하게 살기 어렵다</a:t>
            </a:r>
          </a:p>
          <a:p>
            <a:pPr>
              <a:lnSpc>
                <a:spcPct val="130000"/>
              </a:lnSpc>
              <a:spcBef>
                <a:spcPts val="800"/>
              </a:spcBef>
            </a:pPr>
            <a:r>
              <a:rPr sz="2400" b="0">
                <a:solidFill>
                  <a:srgbClr val="262626">
                    <a:alpha val="0"/>
                  </a:srgbClr>
                </a:solidFill>
              </a:rPr>
              <a:t>✍️ 책임은 누구에게?</a:t>
            </a:r>
            <a:r>
              <a:rPr sz="2300" b="1">
                <a:solidFill>
                  <a:srgbClr val="C0392B">
                    <a:alpha val="0"/>
                  </a:srgbClr>
                </a:solidFill>
              </a:rPr>
              <a:t>   예) 소비자·기업·생산자·유통업자 모두 — 우리 모두에게 있다</a:t>
            </a:r>
          </a:p>
        </p:txBody>
      </p:sp>
      <p:sp>
        <p:nvSpPr>
          <p:cNvPr id="25" name="TextBox 24"/>
          <p:cNvSpPr txBox="1"/>
          <p:nvPr/>
        </p:nvSpPr>
        <p:spPr>
          <a:xfrm>
            <a:off x="685800" y="1417320"/>
            <a:ext cx="10835640" cy="4983480"/>
          </a:xfrm>
          <a:prstGeom prst="rect">
            <a:avLst/>
          </a:prstGeom>
          <a:noFill/>
        </p:spPr>
        <p:txBody>
          <a:bodyPr wrap="square" lIns="0" rIns="0" tIns="0" bIns="0">
            <a:spAutoFit/>
          </a:bodyPr>
          <a:lstStyle/>
          <a:p>
            <a:pPr>
              <a:lnSpc>
                <a:spcPct val="130000"/>
              </a:lnSpc>
            </a:pPr>
            <a:r>
              <a:rPr sz="2400" b="1">
                <a:solidFill>
                  <a:srgbClr val="843C0C">
                    <a:alpha val="0"/>
                  </a:srgbClr>
                </a:solidFill>
              </a:rPr>
              <a:t>빈칸을 채워 문장을 완성해 보자</a:t>
            </a:r>
          </a:p>
          <a:p>
            <a:pPr>
              <a:lnSpc>
                <a:spcPct val="130000"/>
              </a:lnSpc>
              <a:spcBef>
                <a:spcPts val="800"/>
              </a:spcBef>
            </a:pPr>
            <a:r>
              <a:rPr sz="2400" b="0">
                <a:solidFill>
                  <a:srgbClr val="262626">
                    <a:alpha val="0"/>
                  </a:srgbClr>
                </a:solidFill>
              </a:rPr>
              <a:t>✍️ 생태계</a:t>
            </a:r>
            <a:r>
              <a:rPr sz="2300" b="1">
                <a:solidFill>
                  <a:srgbClr val="C0392B">
                    <a:alpha val="0"/>
                  </a:srgbClr>
                </a:solidFill>
              </a:rPr>
              <a:t>   예) 물이 마르고 기온이 올라 숲과 동식물이 사라진다</a:t>
            </a:r>
          </a:p>
          <a:p>
            <a:pPr>
              <a:lnSpc>
                <a:spcPct val="130000"/>
              </a:lnSpc>
              <a:spcBef>
                <a:spcPts val="800"/>
              </a:spcBef>
            </a:pPr>
            <a:r>
              <a:rPr sz="2400" b="0">
                <a:solidFill>
                  <a:srgbClr val="262626">
                    <a:alpha val="0"/>
                  </a:srgbClr>
                </a:solidFill>
              </a:rPr>
              <a:t>✍️ 미래 세대</a:t>
            </a:r>
            <a:r>
              <a:rPr sz="2300" b="1">
                <a:solidFill>
                  <a:srgbClr val="C0392B">
                    <a:alpha val="0"/>
                  </a:srgbClr>
                </a:solidFill>
              </a:rPr>
              <a:t>   예) 폭염과 식량 부족으로 안전하게 살기 어렵다</a:t>
            </a:r>
          </a:p>
          <a:p>
            <a:pPr>
              <a:lnSpc>
                <a:spcPct val="130000"/>
              </a:lnSpc>
              <a:spcBef>
                <a:spcPts val="800"/>
              </a:spcBef>
            </a:pPr>
            <a:r>
              <a:rPr sz="2400" b="0">
                <a:solidFill>
                  <a:srgbClr val="262626">
                    <a:alpha val="0"/>
                  </a:srgbClr>
                </a:solidFill>
              </a:rPr>
              <a:t>✍️ 책임은 누구에게?</a:t>
            </a:r>
            <a:r>
              <a:rPr sz="2300" b="1">
                <a:solidFill>
                  <a:srgbClr val="C0392B"/>
                </a:solidFill>
              </a:rPr>
              <a:t>   예) 소비자·기업·생산자·유통업자 모두 — 우리 모두에게 있다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3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Lst>
  </p:timing>
</p:sld>
</file>

<file path=ppt/theme/theme1.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a:solidFill>
            <a:srgbClr val="00A746"/>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8094</TotalTime>
  <Words>673</Words>
  <Application>Microsoft Office PowerPoint</Application>
  <PresentationFormat>와이드스크린</PresentationFormat>
  <Paragraphs>139</Paragraphs>
  <Slides>13</Slides>
  <Notes>1</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13</vt:i4>
      </vt:variant>
    </vt:vector>
  </HeadingPairs>
  <TitlesOfParts>
    <vt:vector size="21" baseType="lpstr">
      <vt:lpstr>굴림</vt:lpstr>
      <vt:lpstr>나눔스퀘어라운드 ExtraBold</vt:lpstr>
      <vt:lpstr>돋움</vt:lpstr>
      <vt:lpstr>맑은 고딕</vt:lpstr>
      <vt:lpstr>Arial</vt:lpstr>
      <vt:lpstr>Arial Rounded MT Bold</vt:lpstr>
      <vt:lpstr>Wingdings</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user</dc:creator>
  <cp:lastModifiedBy>DB400SDA</cp:lastModifiedBy>
  <cp:revision>158</cp:revision>
  <cp:lastPrinted>2024-06-05T04:53:22Z</cp:lastPrinted>
  <dcterms:created xsi:type="dcterms:W3CDTF">2023-10-31T05:50:03Z</dcterms:created>
  <dcterms:modified xsi:type="dcterms:W3CDTF">2025-01-14T05:04:47Z</dcterms:modified>
</cp:coreProperties>
</file>