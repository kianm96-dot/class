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0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18"/>
  </p:notesMasterIdLst>
  <p:handoutMasterIdLst>
    <p:handoutMasterId r:id="rId19"/>
  </p:handoutMasterIdLst>
  <p:sldIdLst>
    <p:sldId id="393" r:id="rId2"/>
    <p:sldId id="301" r:id="rId3"/>
    <p:sldId id="403" r:id="rId4"/>
    <p:sldId id="305" r:id="rId5"/>
    <p:sldId id="409" r:id="rId29"/>
    <p:sldId id="260" r:id="rId6"/>
    <p:sldId id="405" r:id="rId25"/>
    <p:sldId id="406" r:id="rId26"/>
    <p:sldId id="394" r:id="rId7"/>
    <p:sldId id="395" r:id="rId8"/>
    <p:sldId id="396" r:id="rId9"/>
    <p:sldId id="407" r:id="rId27"/>
    <p:sldId id="408" r:id="rId28"/>
    <p:sldId id="404" r:id="rId10"/>
    <p:sldId id="397" r:id="rId11"/>
    <p:sldId id="398" r:id="rId12"/>
    <p:sldId id="402" r:id="rId13"/>
    <p:sldId id="399" r:id="rId14"/>
    <p:sldId id="400" r:id="rId15"/>
    <p:sldId id="401" r:id="rId16"/>
    <p:sldId id="410" r:id="rId30"/>
    <p:sldId id="411" r:id="rId31"/>
    <p:sldId id="412" r:id="rId32"/>
    <p:sldId id="413" r:id="rId33"/>
    <p:sldId id="380" r:id="rId17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FFFF00"/>
    <a:srgbClr val="D9E1E9"/>
    <a:srgbClr val="E8F6FD"/>
    <a:srgbClr val="F0FFF6"/>
    <a:srgbClr val="019BFF"/>
    <a:srgbClr val="FFF7EE"/>
    <a:srgbClr val="FFC000"/>
    <a:srgbClr val="FFF2CC"/>
    <a:srgbClr val="BD4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4607" autoAdjust="0"/>
  </p:normalViewPr>
  <p:slideViewPr>
    <p:cSldViewPr snapToGrid="0">
      <p:cViewPr varScale="1">
        <p:scale>
          <a:sx n="109" d="100"/>
          <a:sy n="109" d="100"/>
        </p:scale>
        <p:origin x="612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513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➕ 218쪽 탄소 중립 학교 맛보기</a:t>
            </a:r>
          </a:p>
          <a:p>
            <a:r>
              <a:t>2분 동안 교실을 둘러보고 탄소가 나오는 곳을 찾는다. 찾은 것을 218~219쪽 계획표로 옮긴다.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지구적 노력의 성공 사례 (교과서 214쪽)</a:t>
            </a:r>
          </a:p>
          <a:p>
            <a:r>
              <a:t>유엔 환경 계획·세계 기상 기구 과학 평가(2023). 원인이 분명하고 대체 물질이 있었으며 모든 나라가 함께했다. 온실가스 협약(기후 변화 협약 → 교토 의정서 → 파리 협정)이 더 어려운 까닭과 비교해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노력의 차원을 구분하고, 일주일 환경 지킴이 캠페인을 계획해 보자.</a:t>
            </a:r>
          </a:p>
          <a:p>
            <a:r>
              <a:t>⏱ 교실 탄소 찾기 2분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노력의 차원을 구분하고, 일주일 환경 지킴이 캠페인을 계획해 보자.</a:t>
            </a:r>
          </a:p>
          <a:p>
            <a:r>
              <a:t>⏱ 교실 탄소 찾기 2분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노력의 차원을 구분하고, 일주일 환경 지킴이 캠페인을 계획해 보자.</a:t>
            </a:r>
          </a:p>
          <a:p>
            <a:r>
              <a:t>⏱ 교실 탄소 찾기 2분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xmlns="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xmlns="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xmlns="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xmlns="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xmlns="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xmlns="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590.svg"/><Relationship Id="rId6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0.sv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3DB250"/>
                </a:solidFill>
                <a:latin typeface="+mj-ea"/>
                <a:ea typeface="+mj-ea"/>
              </a:rPr>
              <a:t>28</a:t>
            </a:r>
            <a:r>
              <a:rPr lang="ko-KR" altLang="en-US" sz="1100" b="1" dirty="0">
                <a:solidFill>
                  <a:srgbClr val="3DB250"/>
                </a:solidFill>
                <a:latin typeface="+mj-ea"/>
                <a:ea typeface="+mj-ea"/>
              </a:rPr>
              <a:t>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4264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1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인간과 자연과의 관계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03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5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7040" y="2268741"/>
            <a:ext cx="79422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자연과 공존하려면 </a:t>
            </a:r>
            <a:endParaRPr lang="en-US" altLang="ko-KR" sz="5400" b="1" dirty="0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어떻게 해야 할까</a:t>
            </a:r>
            <a:r>
              <a:rPr lang="en-US" altLang="ko-KR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  <a:endParaRPr lang="en-US" altLang="ko-KR" sz="5400" b="1" dirty="0">
              <a:ln w="22225">
                <a:noFill/>
                <a:prstDash val="solid"/>
              </a:ln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3248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94442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B57B4A80-0309-7BD0-AAF8-FF35B30F644B}"/>
              </a:ext>
            </a:extLst>
          </p:cNvPr>
          <p:cNvGrpSpPr/>
          <p:nvPr/>
        </p:nvGrpSpPr>
        <p:grpSpPr>
          <a:xfrm>
            <a:off x="824899" y="1796021"/>
            <a:ext cx="10293350" cy="1573773"/>
            <a:chOff x="914400" y="2362199"/>
            <a:chExt cx="10293350" cy="157377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xmlns="" id="{D6561203-5AD4-D0C1-BA20-A7201ACE3939}"/>
                </a:ext>
              </a:extLst>
            </p:cNvPr>
            <p:cNvSpPr/>
            <p:nvPr/>
          </p:nvSpPr>
          <p:spPr>
            <a:xfrm>
              <a:off x="914400" y="2362199"/>
              <a:ext cx="10293350" cy="1573773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xmlns="" id="{AAF1AF8C-61C0-A6D4-27A4-8B03BBAB0C4A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pic>
        <p:nvPicPr>
          <p:cNvPr id="12" name="그래픽 11">
            <a:extLst>
              <a:ext uri="{FF2B5EF4-FFF2-40B4-BE49-F238E27FC236}">
                <a16:creationId xmlns:a16="http://schemas.microsoft.com/office/drawing/2014/main" xmlns="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323387F2-F0F2-2F6D-DB56-EE32593EA49E}"/>
              </a:ext>
            </a:extLst>
          </p:cNvPr>
          <p:cNvGrpSpPr/>
          <p:nvPr/>
        </p:nvGrpSpPr>
        <p:grpSpPr>
          <a:xfrm>
            <a:off x="824899" y="3639115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xmlns="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xmlns="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1301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자연과 공존하기 위한 개인적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국가적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지구적 노력을 설명할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xmlns="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7938193-A932-45B4-4A78-75A57E0BE7EA}"/>
              </a:ext>
            </a:extLst>
          </p:cNvPr>
          <p:cNvSpPr txBox="1"/>
          <p:nvPr/>
        </p:nvSpPr>
        <p:spPr>
          <a:xfrm>
            <a:off x="1141346" y="3605419"/>
            <a:ext cx="8436912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인간과 자연의 공존을 지향하는 태도를 지닌다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xmlns="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43"/>
          <a:stretch/>
        </p:blipFill>
        <p:spPr>
          <a:xfrm>
            <a:off x="7999720" y="1659525"/>
            <a:ext cx="3758902" cy="5198475"/>
          </a:xfrm>
          <a:prstGeom prst="rect">
            <a:avLst/>
          </a:prstGeom>
          <a:effectLst>
            <a:softEdge rad="304800"/>
          </a:effectLst>
        </p:spPr>
      </p:pic>
      <p:sp>
        <p:nvSpPr>
          <p:cNvPr id="31" name="모서리가 둥근 사각형 설명선 30"/>
          <p:cNvSpPr/>
          <p:nvPr/>
        </p:nvSpPr>
        <p:spPr>
          <a:xfrm>
            <a:off x="615636" y="2055137"/>
            <a:ext cx="8021370" cy="3431263"/>
          </a:xfrm>
          <a:prstGeom prst="wedgeRoundRectCallout">
            <a:avLst>
              <a:gd name="adj1" fmla="val 59700"/>
              <a:gd name="adj2" fmla="val -21663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A7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871998" y="2221797"/>
            <a:ext cx="756235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울산에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있는 태화강은 과거에 ‘죽음의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강’</a:t>
            </a:r>
            <a:r>
              <a:rPr lang="ko-KR" altLang="en-US" sz="22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이라고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불릴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정도로 심각하게 오염된 강이었는데요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강을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살리기 위한 지방 자치 단체와 시민 단체의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노력으로 지금은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800여 종의 동식물이 사는 생태 하천으로 거듭났습니다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이제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태화강은 인간과 자연이 공존하는 생태 관광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지역으로 많은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사람이 찾고 있습니다.</a:t>
            </a:r>
          </a:p>
        </p:txBody>
      </p:sp>
      <p:sp>
        <p:nvSpPr>
          <p:cNvPr id="14" name="타원 13"/>
          <p:cNvSpPr/>
          <p:nvPr/>
        </p:nvSpPr>
        <p:spPr>
          <a:xfrm>
            <a:off x="6193460" y="6070165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6" name="타원 15">
            <a:hlinkClick r:id="" action="ppaction://hlinkshowjump?jump=previousslide"/>
          </p:cNvPr>
          <p:cNvSpPr/>
          <p:nvPr/>
        </p:nvSpPr>
        <p:spPr>
          <a:xfrm>
            <a:off x="5788618" y="6078422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68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xmlns="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7400" y="2967415"/>
            <a:ext cx="10293350" cy="2962074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588" y="2966915"/>
            <a:ext cx="9784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오염된 자연에서는 인간을 포함한 어떤 생명체도 건강하고 행복하게 살아갈 수 없어서 자연과 인간이 공존하기 위해서이다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</a:t>
            </a:r>
            <a:endParaRPr lang="en-US" altLang="ko-KR" sz="2400" dirty="0">
              <a:solidFill>
                <a:srgbClr val="0070C0"/>
              </a:solidFill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환경 오염은 인류의 생존 역시 위협하게 되므로 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현세대와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미래 세대의 존속을 위해서이다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</a:t>
            </a:r>
            <a:endParaRPr lang="en-US" altLang="ko-KR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다음 뉴스를 보고 지방 자치 단체와 시민 단체가 노력하여 태화강을 복원한 </a:t>
            </a:r>
            <a:r>
              <a:rPr lang="ko-KR" altLang="en-US" sz="2000" b="1" dirty="0" smtClean="0"/>
              <a:t>까닭은 무엇일지 </a:t>
            </a:r>
            <a:r>
              <a:rPr lang="ko-KR" altLang="en-US" sz="2000" b="1" dirty="0"/>
              <a:t>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지구적 노력 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국제기구와 환경 단체는 환경 문제의 심각성을 알리고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이를 해결하기 위해 노력함</a:t>
            </a:r>
            <a:r>
              <a:rPr lang="en-US" altLang="ko-KR" sz="2400" dirty="0">
                <a:latin typeface="+mn-ea"/>
              </a:rPr>
              <a:t>. </a:t>
            </a:r>
            <a:r>
              <a:rPr lang="ko-KR" altLang="en-US" sz="2400" dirty="0">
                <a:latin typeface="+mn-ea"/>
              </a:rPr>
              <a:t>예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dirty="0">
                <a:latin typeface="+mn-ea"/>
              </a:rPr>
              <a:t>기후 변화 협약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4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국가적 노력 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지구적 차원의 노력을 실현하기 위해 법과 제도를 마련함</a:t>
            </a:r>
            <a:r>
              <a:rPr lang="en-US" altLang="ko-KR" sz="2400" dirty="0">
                <a:latin typeface="+mn-ea"/>
              </a:rPr>
              <a:t>. </a:t>
            </a:r>
            <a:r>
              <a:rPr lang="ko-KR" altLang="en-US" sz="2400" dirty="0">
                <a:latin typeface="+mn-ea"/>
              </a:rPr>
              <a:t>예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dirty="0">
                <a:latin typeface="+mn-ea"/>
              </a:rPr>
              <a:t>재생 에너지 사용을 의무화하는 법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자연과 공존하기 위한 지구적</a:t>
            </a:r>
            <a:r>
              <a:rPr lang="en-US" altLang="ko-KR" sz="2800" b="1" dirty="0">
                <a:solidFill>
                  <a:srgbClr val="FFFF00"/>
                </a:solidFill>
                <a:latin typeface="+mn-ea"/>
              </a:rPr>
              <a:t>•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국가적 노력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</a:t>
            </a:r>
            <a:r>
              <a:rPr lang="ko-KR" altLang="en-US" sz="2000" b="1" dirty="0" smtClean="0">
                <a:latin typeface="+mj-ea"/>
                <a:ea typeface="+mj-ea"/>
              </a:rPr>
              <a:t>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18098" y="1645253"/>
            <a:ext cx="11469712" cy="4429203"/>
            <a:chOff x="318098" y="1645253"/>
            <a:chExt cx="11469712" cy="4429203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8098" y="1645253"/>
              <a:ext cx="11469712" cy="4429203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492369" y="2954214"/>
              <a:ext cx="3432131" cy="19431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36888" y="2954214"/>
              <a:ext cx="3432131" cy="19431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258907" y="2954214"/>
              <a:ext cx="3432131" cy="19431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2887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여러 나라의 환경 표지 제도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769089" y="2239512"/>
            <a:ext cx="5952553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세계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여러 나라에서는 제품의 생산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소비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폐기 등의 과정이 친환경적인 제품에 환경 표지를 붙이고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환경 표지 제도는 소비자에게 제품의 환경 정보를 제공하여 친환경적 소비를 하도록 돕고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기업이 소비자의 친환경적 구매 요구에 맞는 제품과 기술을 개발하도록 유도할 수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한국 환경 산업 기술원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누리집</a:t>
            </a:r>
            <a:endParaRPr lang="ko-KR" altLang="en-US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7773638" y="2060218"/>
            <a:ext cx="3605637" cy="4005740"/>
            <a:chOff x="8148638" y="2141530"/>
            <a:chExt cx="3605637" cy="4005740"/>
          </a:xfrm>
        </p:grpSpPr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8665" y="2141530"/>
              <a:ext cx="3565610" cy="4005740"/>
            </a:xfrm>
            <a:prstGeom prst="rect">
              <a:avLst/>
            </a:prstGeom>
          </p:spPr>
        </p:pic>
        <p:sp>
          <p:nvSpPr>
            <p:cNvPr id="29" name="직사각형 28"/>
            <p:cNvSpPr/>
            <p:nvPr/>
          </p:nvSpPr>
          <p:spPr>
            <a:xfrm>
              <a:off x="8148638" y="5500688"/>
              <a:ext cx="152400" cy="1238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8548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자연과 공존하기 위한 개인적 노력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3475" y="1819506"/>
            <a:ext cx="95962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에너지 절약</a:t>
            </a:r>
            <a: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/>
            </a:r>
            <a:b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ko-KR" altLang="en-US" sz="2400" dirty="0" smtClean="0">
                <a:latin typeface="+mn-ea"/>
              </a:rPr>
              <a:t>난방 </a:t>
            </a:r>
            <a:r>
              <a:rPr lang="ko-KR" altLang="en-US" sz="2400" dirty="0">
                <a:latin typeface="+mn-ea"/>
              </a:rPr>
              <a:t>온도 </a:t>
            </a:r>
            <a:r>
              <a:rPr lang="en-US" altLang="ko-KR" sz="2400" dirty="0">
                <a:latin typeface="+mn-ea"/>
              </a:rPr>
              <a:t>1</a:t>
            </a:r>
            <a:r>
              <a:rPr lang="ko-KR" altLang="en-US" sz="2400" dirty="0">
                <a:latin typeface="+mn-ea"/>
              </a:rPr>
              <a:t>도 낮추기</a:t>
            </a:r>
            <a:r>
              <a:rPr lang="en-US" altLang="ko-KR" sz="2400" dirty="0" smtClean="0">
                <a:latin typeface="+mn-ea"/>
              </a:rPr>
              <a:t>, </a:t>
            </a:r>
            <a:r>
              <a:rPr lang="ko-KR" altLang="en-US" sz="2400" dirty="0" smtClean="0">
                <a:latin typeface="+mn-ea"/>
              </a:rPr>
              <a:t>샤워 </a:t>
            </a:r>
            <a:r>
              <a:rPr lang="ko-KR" altLang="en-US" sz="2400" dirty="0">
                <a:latin typeface="+mn-ea"/>
              </a:rPr>
              <a:t>시간 </a:t>
            </a:r>
            <a:r>
              <a:rPr lang="en-US" altLang="ko-KR" sz="2400" dirty="0">
                <a:latin typeface="+mn-ea"/>
              </a:rPr>
              <a:t>1</a:t>
            </a:r>
            <a:r>
              <a:rPr lang="ko-KR" altLang="en-US" sz="2400" dirty="0">
                <a:latin typeface="+mn-ea"/>
              </a:rPr>
              <a:t>분 줄이기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사용하지 </a:t>
            </a:r>
            <a:r>
              <a:rPr lang="ko-KR" altLang="en-US" sz="2400" dirty="0" smtClean="0">
                <a:latin typeface="+mn-ea"/>
              </a:rPr>
              <a:t>않는 가전제품 </a:t>
            </a:r>
            <a:r>
              <a:rPr lang="ko-KR" altLang="en-US" sz="2400" dirty="0">
                <a:latin typeface="+mn-ea"/>
              </a:rPr>
              <a:t>콘센트 </a:t>
            </a:r>
            <a:r>
              <a:rPr lang="ko-KR" altLang="en-US" sz="2400" dirty="0" smtClean="0">
                <a:latin typeface="+mn-ea"/>
              </a:rPr>
              <a:t>뽑기</a:t>
            </a:r>
            <a:endParaRPr lang="en-US" altLang="ko-KR" sz="2400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자원 재활용</a:t>
            </a:r>
            <a: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/>
            </a:r>
            <a:b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ko-KR" altLang="en-US" sz="2400" dirty="0" smtClean="0">
                <a:latin typeface="+mn-ea"/>
              </a:rPr>
              <a:t>캔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종이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플라스틱 </a:t>
            </a:r>
            <a:r>
              <a:rPr lang="ko-KR" altLang="en-US" sz="2400" dirty="0" smtClean="0">
                <a:latin typeface="+mn-ea"/>
              </a:rPr>
              <a:t>등을 분리배출하기</a:t>
            </a:r>
            <a:endParaRPr lang="en-US" altLang="ko-KR" sz="2400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물건 </a:t>
            </a:r>
            <a:r>
              <a:rPr lang="ko-KR" altLang="en-US" sz="24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아껴 </a:t>
            </a: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쓰기</a:t>
            </a:r>
            <a: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b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ko-KR" altLang="en-US" sz="2400" dirty="0" smtClean="0">
                <a:latin typeface="+mn-ea"/>
              </a:rPr>
              <a:t>탄소 </a:t>
            </a:r>
            <a:r>
              <a:rPr lang="ko-KR" altLang="en-US" sz="2400" dirty="0">
                <a:latin typeface="+mn-ea"/>
              </a:rPr>
              <a:t>배출량 </a:t>
            </a:r>
            <a:r>
              <a:rPr lang="ko-KR" altLang="en-US" sz="2400" dirty="0" smtClean="0">
                <a:latin typeface="+mn-ea"/>
              </a:rPr>
              <a:t>증가로 이어지는 </a:t>
            </a:r>
            <a:r>
              <a:rPr lang="ko-KR" altLang="en-US" sz="2400" dirty="0">
                <a:latin typeface="+mn-ea"/>
              </a:rPr>
              <a:t>새로운 소비 줄이기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83242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hlinkClick r:id="" action="ppaction://hlinkshowjump?jump=nextslide"/>
            <a:extLst>
              <a:ext uri="{FF2B5EF4-FFF2-40B4-BE49-F238E27FC236}">
                <a16:creationId xmlns:a16="http://schemas.microsoft.com/office/drawing/2014/main" xmlns="" id="{492508EF-5B45-FCB1-63DF-BCFA304E8F7C}"/>
              </a:ext>
            </a:extLst>
          </p:cNvPr>
          <p:cNvSpPr txBox="1"/>
          <p:nvPr/>
        </p:nvSpPr>
        <p:spPr>
          <a:xfrm>
            <a:off x="8417978" y="2282994"/>
            <a:ext cx="1087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spc="-150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활동 방법</a:t>
            </a:r>
            <a:endParaRPr lang="ko-KR" altLang="en-US" b="1" spc="-150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1" name="그림 3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0198" y="1346333"/>
            <a:ext cx="487174" cy="487174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842722" y="1346333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544569"/>
              </p:ext>
            </p:extLst>
          </p:nvPr>
        </p:nvGraphicFramePr>
        <p:xfrm>
          <a:off x="524371" y="1881714"/>
          <a:ext cx="10970146" cy="4652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462">
                  <a:extLst>
                    <a:ext uri="{9D8B030D-6E8A-4147-A177-3AD203B41FA5}">
                      <a16:colId xmlns:a16="http://schemas.microsoft.com/office/drawing/2014/main" xmlns="" val="4265474368"/>
                    </a:ext>
                  </a:extLst>
                </a:gridCol>
                <a:gridCol w="4628009">
                  <a:extLst>
                    <a:ext uri="{9D8B030D-6E8A-4147-A177-3AD203B41FA5}">
                      <a16:colId xmlns:a16="http://schemas.microsoft.com/office/drawing/2014/main" xmlns="" val="1492198696"/>
                    </a:ext>
                  </a:extLst>
                </a:gridCol>
                <a:gridCol w="5077675">
                  <a:extLst>
                    <a:ext uri="{9D8B030D-6E8A-4147-A177-3AD203B41FA5}">
                      <a16:colId xmlns:a16="http://schemas.microsoft.com/office/drawing/2014/main" xmlns="" val="722193469"/>
                    </a:ext>
                  </a:extLst>
                </a:gridCol>
              </a:tblGrid>
              <a:tr h="5801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생활 공간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나의 노력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나의 노력이 미칠 변화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875072726"/>
                  </a:ext>
                </a:extLst>
              </a:tr>
              <a:tr h="135741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 smtClean="0"/>
                        <a:t>집</a:t>
                      </a:r>
                      <a:endParaRPr lang="ko-KR" altLang="en-US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78380096"/>
                  </a:ext>
                </a:extLst>
              </a:tr>
              <a:tr h="135741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 smtClean="0"/>
                        <a:t>학교</a:t>
                      </a:r>
                      <a:endParaRPr lang="ko-KR" altLang="en-US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76724366"/>
                  </a:ext>
                </a:extLst>
              </a:tr>
              <a:tr h="135741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 smtClean="0"/>
                        <a:t>동네</a:t>
                      </a:r>
                      <a:endParaRPr lang="ko-KR" altLang="en-US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34088597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02024" y="1340642"/>
            <a:ext cx="92120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+mn-ea"/>
              </a:rPr>
              <a:t>자연과 공존하기 위해 생활 공간에서 할 수 있는 노력을 정리해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832037" y="2548787"/>
            <a:ext cx="9547238" cy="3809974"/>
            <a:chOff x="1832037" y="2548787"/>
            <a:chExt cx="9547238" cy="3809974"/>
          </a:xfrm>
        </p:grpSpPr>
        <p:sp>
          <p:nvSpPr>
            <p:cNvPr id="38" name="TextBox 37"/>
            <p:cNvSpPr txBox="1"/>
            <p:nvPr/>
          </p:nvSpPr>
          <p:spPr>
            <a:xfrm>
              <a:off x="1832038" y="2548787"/>
              <a:ext cx="440250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난방 온도를 </a:t>
              </a:r>
              <a:r>
                <a:rPr lang="ko-KR" altLang="en-US" sz="2400" dirty="0" smtClean="0">
                  <a:solidFill>
                    <a:srgbClr val="0070C0"/>
                  </a:solidFill>
                  <a:latin typeface="+mn-ea"/>
                </a:rPr>
                <a:t>낮추기 </a:t>
              </a: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위해 </a:t>
              </a:r>
              <a:r>
                <a:rPr lang="ko-KR" altLang="en-US" sz="2400" dirty="0" smtClean="0">
                  <a:solidFill>
                    <a:srgbClr val="0070C0"/>
                  </a:solidFill>
                  <a:latin typeface="+mn-ea"/>
                </a:rPr>
                <a:t>내복을 </a:t>
              </a: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입는다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.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832037" y="3890078"/>
              <a:ext cx="4402507" cy="1128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캔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, </a:t>
              </a: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종이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, </a:t>
              </a:r>
              <a:r>
                <a:rPr lang="ko-KR" altLang="en-US" sz="2400" dirty="0" smtClean="0">
                  <a:solidFill>
                    <a:srgbClr val="0070C0"/>
                  </a:solidFill>
                  <a:latin typeface="+mn-ea"/>
                </a:rPr>
                <a:t>플라스틱 </a:t>
              </a: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등을 분리</a:t>
              </a:r>
            </a:p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하여 배출한다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.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832037" y="5212113"/>
              <a:ext cx="4402507" cy="574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바자회에 </a:t>
              </a:r>
              <a:r>
                <a:rPr lang="ko-KR" altLang="en-US" sz="2400" dirty="0" smtClean="0">
                  <a:solidFill>
                    <a:srgbClr val="0070C0"/>
                  </a:solidFill>
                  <a:latin typeface="+mn-ea"/>
                </a:rPr>
                <a:t>참여한다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.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527792" y="2550356"/>
              <a:ext cx="4851483" cy="1128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난방 에너지를 아껴 </a:t>
              </a:r>
              <a:r>
                <a:rPr lang="ko-KR" altLang="en-US" sz="2400" dirty="0" smtClean="0">
                  <a:solidFill>
                    <a:srgbClr val="0070C0"/>
                  </a:solidFill>
                  <a:latin typeface="+mn-ea"/>
                </a:rPr>
                <a:t>탄소 </a:t>
              </a: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배출을 감소시킨다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.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527791" y="3890077"/>
              <a:ext cx="4851483" cy="1128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자원을 재활용하여 </a:t>
              </a:r>
              <a:r>
                <a:rPr lang="ko-KR" altLang="en-US" sz="2400" dirty="0" smtClean="0">
                  <a:solidFill>
                    <a:srgbClr val="0070C0"/>
                  </a:solidFill>
                  <a:latin typeface="+mn-ea"/>
                </a:rPr>
                <a:t>쓰레기를 </a:t>
              </a: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줄인다</a:t>
              </a:r>
              <a:r>
                <a:rPr lang="en-US" altLang="ko-KR" sz="2400" dirty="0" smtClean="0">
                  <a:solidFill>
                    <a:srgbClr val="0070C0"/>
                  </a:solidFill>
                  <a:latin typeface="+mn-ea"/>
                </a:rPr>
                <a:t>.</a:t>
              </a:r>
              <a:endParaRPr lang="en-US" altLang="ko-KR" sz="24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527790" y="5229798"/>
              <a:ext cx="4851483" cy="1128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필요한 물건을 </a:t>
              </a:r>
              <a:r>
                <a:rPr lang="ko-KR" altLang="en-US" sz="2400" dirty="0" smtClean="0">
                  <a:solidFill>
                    <a:srgbClr val="0070C0"/>
                  </a:solidFill>
                  <a:latin typeface="+mn-ea"/>
                </a:rPr>
                <a:t>중고로 구매하여 </a:t>
              </a: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친환경 </a:t>
              </a:r>
              <a:r>
                <a:rPr lang="ko-KR" altLang="en-US" sz="2400" dirty="0" smtClean="0">
                  <a:solidFill>
                    <a:srgbClr val="0070C0"/>
                  </a:solidFill>
                  <a:latin typeface="+mn-ea"/>
                </a:rPr>
                <a:t>소비를 </a:t>
              </a: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실천한다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033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9300"/>
                </a:solidFill>
                <a:latin typeface="+mj-ea"/>
                <a:ea typeface="+mj-ea"/>
              </a:rPr>
              <a:t>환경 지킴이가 되어 캠페인에 참여하기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370" y="2266655"/>
            <a:ext cx="11234251" cy="458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92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1. </a:t>
            </a:r>
            <a:r>
              <a:rPr lang="ko-KR" altLang="en-US" sz="2000" b="1" dirty="0" smtClean="0">
                <a:latin typeface="+mn-ea"/>
              </a:rPr>
              <a:t>일주일 </a:t>
            </a:r>
            <a:r>
              <a:rPr lang="ko-KR" altLang="en-US" sz="2000" b="1" dirty="0">
                <a:latin typeface="+mn-ea"/>
              </a:rPr>
              <a:t>동안 캠페인에 참여해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실천한 결과를 써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환경 지킴이가 되어 캠페인에 참여하기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396286"/>
              </p:ext>
            </p:extLst>
          </p:nvPr>
        </p:nvGraphicFramePr>
        <p:xfrm>
          <a:off x="443345" y="2167180"/>
          <a:ext cx="11194473" cy="4362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319">
                  <a:extLst>
                    <a:ext uri="{9D8B030D-6E8A-4147-A177-3AD203B41FA5}">
                      <a16:colId xmlns:a16="http://schemas.microsoft.com/office/drawing/2014/main" xmlns="" val="4265474368"/>
                    </a:ext>
                  </a:extLst>
                </a:gridCol>
                <a:gridCol w="4812077">
                  <a:extLst>
                    <a:ext uri="{9D8B030D-6E8A-4147-A177-3AD203B41FA5}">
                      <a16:colId xmlns:a16="http://schemas.microsoft.com/office/drawing/2014/main" xmlns="" val="1492198696"/>
                    </a:ext>
                  </a:extLst>
                </a:gridCol>
                <a:gridCol w="5092077">
                  <a:extLst>
                    <a:ext uri="{9D8B030D-6E8A-4147-A177-3AD203B41FA5}">
                      <a16:colId xmlns:a16="http://schemas.microsoft.com/office/drawing/2014/main" xmlns="" val="722193469"/>
                    </a:ext>
                  </a:extLst>
                </a:gridCol>
              </a:tblGrid>
              <a:tr h="5440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구분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실천한 방법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실천하며 느낀 점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875072726"/>
                  </a:ext>
                </a:extLst>
              </a:tr>
              <a:tr h="1272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 smtClean="0"/>
                        <a:t>월요일</a:t>
                      </a:r>
                      <a:endParaRPr lang="ko-KR" altLang="en-US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78380096"/>
                  </a:ext>
                </a:extLst>
              </a:tr>
              <a:tr h="1272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 smtClean="0"/>
                        <a:t>화요일</a:t>
                      </a:r>
                      <a:endParaRPr lang="ko-KR" altLang="en-US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76724366"/>
                  </a:ext>
                </a:extLst>
              </a:tr>
              <a:tr h="1272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 smtClean="0"/>
                        <a:t>수요일</a:t>
                      </a:r>
                      <a:endParaRPr lang="en-US" altLang="ko-KR" b="1" dirty="0" smtClean="0"/>
                    </a:p>
                    <a:p>
                      <a:pPr latinLnBrk="1"/>
                      <a:r>
                        <a:rPr lang="en-US" altLang="ko-KR" b="1" dirty="0" smtClean="0"/>
                        <a:t>  </a:t>
                      </a:r>
                      <a:r>
                        <a:rPr lang="ko-KR" altLang="ko-KR" b="1" dirty="0" smtClean="0"/>
                        <a:t>…</a:t>
                      </a:r>
                      <a:r>
                        <a:rPr lang="en-US" altLang="ko-KR" b="1" dirty="0" smtClean="0"/>
                        <a:t>…</a:t>
                      </a:r>
                      <a:endParaRPr lang="ko-KR" altLang="en-US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34088597"/>
                  </a:ext>
                </a:extLst>
              </a:tr>
            </a:tbl>
          </a:graphicData>
        </a:graphic>
      </p:graphicFrame>
      <p:pic>
        <p:nvPicPr>
          <p:cNvPr id="15" name="그림 1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9058" y="1585597"/>
            <a:ext cx="487174" cy="487174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961582" y="1585597"/>
            <a:ext cx="1087577" cy="495431"/>
            <a:chOff x="10075659" y="2003022"/>
            <a:chExt cx="1156006" cy="495431"/>
          </a:xfrm>
        </p:grpSpPr>
        <p:pic>
          <p:nvPicPr>
            <p:cNvPr id="17" name="그림 1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1832038" y="2659619"/>
            <a:ext cx="9547237" cy="1201898"/>
            <a:chOff x="1832038" y="2659619"/>
            <a:chExt cx="9547237" cy="1201898"/>
          </a:xfrm>
        </p:grpSpPr>
        <p:sp>
          <p:nvSpPr>
            <p:cNvPr id="23" name="TextBox 22"/>
            <p:cNvSpPr txBox="1"/>
            <p:nvPr/>
          </p:nvSpPr>
          <p:spPr>
            <a:xfrm>
              <a:off x="1832038" y="2659619"/>
              <a:ext cx="440250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 smtClean="0">
                  <a:solidFill>
                    <a:srgbClr val="0070C0"/>
                  </a:solidFill>
                  <a:latin typeface="+mn-ea"/>
                </a:rPr>
                <a:t>음식을 포장하려고 매장에 직접 반찬 용기를 들고 갔다</a:t>
              </a:r>
              <a:r>
                <a:rPr lang="en-US" altLang="ko-KR" sz="2400" dirty="0" smtClean="0">
                  <a:solidFill>
                    <a:srgbClr val="0070C0"/>
                  </a:solidFill>
                  <a:latin typeface="+mn-ea"/>
                </a:rPr>
                <a:t>.</a:t>
              </a:r>
              <a:endParaRPr lang="en-US" altLang="ko-KR" sz="24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527792" y="2661188"/>
              <a:ext cx="485148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 smtClean="0">
                  <a:solidFill>
                    <a:srgbClr val="0070C0"/>
                  </a:solidFill>
                  <a:latin typeface="+mn-ea"/>
                </a:rPr>
                <a:t>조금 불편했지만 쓰레기가 나오지 않아서 뿌듯했다</a:t>
              </a:r>
              <a:r>
                <a:rPr lang="en-US" altLang="ko-KR" sz="2400" dirty="0" smtClean="0">
                  <a:solidFill>
                    <a:srgbClr val="0070C0"/>
                  </a:solidFill>
                  <a:latin typeface="+mn-ea"/>
                </a:rPr>
                <a:t>.</a:t>
              </a:r>
              <a:endParaRPr lang="en-US" altLang="ko-KR" sz="2400" dirty="0">
                <a:solidFill>
                  <a:srgbClr val="0070C0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7005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</a:t>
            </a:r>
            <a:r>
              <a:rPr lang="ko-KR" altLang="en-US" sz="2000" b="1" dirty="0" smtClean="0">
                <a:latin typeface="+mn-ea"/>
              </a:rPr>
              <a:t>주변 사람들에게 위와 같은 캠페인을 소개하고 동참을 권유해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환경 지킴이가 되어 캠페인에 참여하기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370" y="2266655"/>
            <a:ext cx="11234251" cy="458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6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xmlns="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xmlns="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다음 측면에서 자연과 공존하기 위한 노력을 떠올려 보고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내가 할 수 있는 노력을 써 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</a:t>
            </a: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40778"/>
            <a:ext cx="487174" cy="48717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535457" y="3940778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35915" y="4546283"/>
            <a:ext cx="8165055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자연과 공존하기 위한 지구적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·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국가적 노력에 동참하면서 이산화 탄소 배출을 줄이기 위해 자동차 대신 자전거를 타고 다닐 것이다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grpSp>
        <p:nvGrpSpPr>
          <p:cNvPr id="29" name="그룹 28"/>
          <p:cNvGrpSpPr/>
          <p:nvPr/>
        </p:nvGrpSpPr>
        <p:grpSpPr>
          <a:xfrm>
            <a:off x="936086" y="3953767"/>
            <a:ext cx="1926383" cy="592516"/>
            <a:chOff x="877165" y="3739778"/>
            <a:chExt cx="1328154" cy="458932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8928" y="3739778"/>
              <a:ext cx="1224117" cy="3933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노력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7400" y="2854762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4206598" y="2854762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2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 rot="228197">
            <a:off x="7604964" y="2854762"/>
            <a:ext cx="2889396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97280" y="2911702"/>
            <a:ext cx="1932247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지구적 노력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356335" y="2911702"/>
            <a:ext cx="24527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국가적 노력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 rot="241398">
            <a:off x="7784516" y="2941014"/>
            <a:ext cx="25302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개인적 노력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6421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xmlns="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xmlns="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xmlns="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xmlns="" id="{F13C6DC5-F032-5B8D-8005-E8B073C4F2A0}"/>
              </a:ext>
            </a:extLst>
          </p:cNvPr>
          <p:cNvSpPr/>
          <p:nvPr/>
        </p:nvSpPr>
        <p:spPr>
          <a:xfrm>
            <a:off x="4096987" y="578256"/>
            <a:ext cx="1757548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35566718-F408-AFA2-67E1-91FF700FEBA4}"/>
              </a:ext>
            </a:extLst>
          </p:cNvPr>
          <p:cNvSpPr txBox="1"/>
          <p:nvPr/>
        </p:nvSpPr>
        <p:spPr>
          <a:xfrm>
            <a:off x="4620823" y="794452"/>
            <a:ext cx="1374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생태 시민성</a:t>
            </a:r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&gt;</a:t>
            </a:r>
            <a:endParaRPr lang="ko-KR" altLang="en-US" sz="1400" b="1" spc="-3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27539" y="2098918"/>
            <a:ext cx="10418884" cy="1267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ko-KR" altLang="en-US" sz="2200" b="1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ko-KR" altLang="en-US" sz="2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어제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산 티셔츠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오늘 버린 청바지 때문에 지구가 고통받고 있다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패션은 개성을 </a:t>
            </a:r>
            <a:r>
              <a:rPr lang="ko-KR" altLang="en-US" sz="2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표현하는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값싸고 편리한 방법이라는 생각에 우리는 음료수 한 잔 값으로 티셔츠 한 장을 </a:t>
            </a:r>
            <a:r>
              <a:rPr lang="ko-KR" altLang="en-US" sz="2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구매하기도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한다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오늘 우리가 옷을 사기 위해 치른 값은 과연 음료수 한 잔 값에 </a:t>
            </a:r>
            <a:r>
              <a:rPr lang="ko-KR" altLang="en-US" sz="2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불과할까</a:t>
            </a:r>
            <a:r>
              <a:rPr lang="en-US" altLang="ko-KR" sz="2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2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70488" y="671335"/>
            <a:ext cx="582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b="1" spc="-150" dirty="0" smtClean="0">
                <a:latin typeface="+mn-ea"/>
              </a:rPr>
              <a:t>무심코 소비한 옷 한 벌의 대가</a:t>
            </a:r>
            <a:endParaRPr lang="ko-KR" altLang="en-US" sz="2400" b="1" spc="-150" dirty="0"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7539" y="3933286"/>
            <a:ext cx="10339753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청바지 한 벌을 만들 때 배출하는 탄소의 양은 약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33 kg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1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년에 만들어지는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청바지는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약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40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억 벌이다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전 세계 항공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선박이 배출하는 온실가스를 합친 양보다 패션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산업으로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배출하는 온실가스가 더 많다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54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xmlns="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xmlns="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xmlns="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xmlns="" id="{F13C6DC5-F032-5B8D-8005-E8B073C4F2A0}"/>
              </a:ext>
            </a:extLst>
          </p:cNvPr>
          <p:cNvSpPr/>
          <p:nvPr/>
        </p:nvSpPr>
        <p:spPr>
          <a:xfrm>
            <a:off x="4096987" y="578256"/>
            <a:ext cx="1757548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35566718-F408-AFA2-67E1-91FF700FEBA4}"/>
              </a:ext>
            </a:extLst>
          </p:cNvPr>
          <p:cNvSpPr txBox="1"/>
          <p:nvPr/>
        </p:nvSpPr>
        <p:spPr>
          <a:xfrm>
            <a:off x="4620823" y="794452"/>
            <a:ext cx="1374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생태 시민성</a:t>
            </a:r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&gt;</a:t>
            </a:r>
            <a:endParaRPr lang="ko-KR" altLang="en-US" sz="1400" b="1" spc="-3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70488" y="671335"/>
            <a:ext cx="582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b="1" spc="-150" dirty="0" smtClean="0">
                <a:latin typeface="+mn-ea"/>
              </a:rPr>
              <a:t>무심코 소비한 옷 한 벌의 대가</a:t>
            </a:r>
            <a:endParaRPr lang="ko-KR" altLang="en-US" sz="2400" b="1" spc="-150" dirty="0"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2078" y="2090057"/>
            <a:ext cx="8099554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78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억 명이 사는 지구에서 한 해 만들어지는 옷은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약 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1,000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억 벌에 이른다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그리고 그중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33 %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인 약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330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억 벌이 같은 해에 버려진다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6884" y="3897025"/>
            <a:ext cx="82678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플라스틱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등의 원료로 제작된 옷은 버려진 후 썩지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않고 미세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플라스틱이 되어 우리 곁에 돌아온다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오늘도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우리는 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벌의 옷을 위해 환경 오염이라는 대가를 지불한다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algn="r">
              <a:lnSpc>
                <a:spcPct val="150000"/>
              </a:lnSpc>
            </a:pP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한국 방송 공사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&lt;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환경 스페셜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옷을 위한 지구는 없다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&gt;</a:t>
            </a:r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876093" y="4417257"/>
            <a:ext cx="1239305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96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실천 톡톡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5" name="모서리가 둥근 사각형 설명선 34"/>
          <p:cNvSpPr/>
          <p:nvPr/>
        </p:nvSpPr>
        <p:spPr>
          <a:xfrm>
            <a:off x="9187544" y="2090057"/>
            <a:ext cx="2383966" cy="2060079"/>
          </a:xfrm>
          <a:prstGeom prst="wedgeRoundRectCallout">
            <a:avLst>
              <a:gd name="adj1" fmla="val 8564"/>
              <a:gd name="adj2" fmla="val 6188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+mn-ea"/>
              </a:rPr>
              <a:t>내가 무심코 버린 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+mn-ea"/>
              </a:rPr>
              <a:t>물건이 환경에 미치는 영향을 생각해 보고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자연과 공존하기 위한 소비를 실천해 보자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pic>
        <p:nvPicPr>
          <p:cNvPr id="36" name="그림 35" descr="클립아트, 곰, 만화 영화이(가) 표시된 사진&#10;&#10;자동 생성된 설명">
            <a:extLst>
              <a:ext uri="{FF2B5EF4-FFF2-40B4-BE49-F238E27FC236}">
                <a16:creationId xmlns:a16="http://schemas.microsoft.com/office/drawing/2014/main" xmlns="" id="{7E57931C-BC2D-94A0-17C9-B8C790C398E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4312" y="4793917"/>
            <a:ext cx="1951723" cy="2081838"/>
          </a:xfrm>
          <a:prstGeom prst="rect">
            <a:avLst/>
          </a:prstGeom>
        </p:spPr>
      </p:pic>
      <p:sp>
        <p:nvSpPr>
          <p:cNvPr id="23" name="타원 22"/>
          <p:cNvSpPr/>
          <p:nvPr/>
        </p:nvSpPr>
        <p:spPr>
          <a:xfrm>
            <a:off x="6143719" y="6252935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hlinkClick r:id="" action="ppaction://hlinkshowjump?jump=previousslide"/>
          </p:cNvPr>
          <p:cNvSpPr/>
          <p:nvPr/>
        </p:nvSpPr>
        <p:spPr>
          <a:xfrm>
            <a:off x="5759137" y="625293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12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 smtClean="0">
                <a:solidFill>
                  <a:schemeClr val="tx1"/>
                </a:solidFill>
              </a:rPr>
              <a:t>수고하셨습니다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.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pic>
        <p:nvPicPr>
          <p:cNvPr id="4" name="그림 3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xmlns="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7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그림 11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00" b="1" dirty="0">
                <a:solidFill>
                  <a:srgbClr val="FFFF00"/>
                </a:solidFill>
                <a:latin typeface="+mn-ea"/>
              </a:rPr>
              <a:t>자연과 공존하기 위한 지구적⋅국가적 노력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지구적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환경 위기는 한 국가의 노력만으로는 극복하기 어려우므로 지구적 노력이 필요함.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국제연합 </a:t>
            </a:r>
            <a:r>
              <a:rPr sz="2400" b="0">
                <a:solidFill>
                  <a:srgbClr val="262626"/>
                </a:solidFill>
              </a:rPr>
              <a:t> 등 여러 국제기구와 환경 단체는 환경 문제를 해결하고자 다양한 노력을 기울임.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2015 파리 협정: 지구 기온 상승을 1.5~2℃ 아래로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기후 변화 협약(1992), 교토 의정서(1997),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파리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협정 </a:t>
            </a:r>
            <a:r>
              <a:rPr sz="2400" b="0">
                <a:solidFill>
                  <a:srgbClr val="262626"/>
                </a:solidFill>
              </a:rPr>
              <a:t>(2015)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지구적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환경 위기는 한 국가의 노력만으로는 극복하기 어려우므로 지구적 노력이 필요함.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국제연합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등 여러 국제기구와 환경 단체는 환경 문제를 해결하고자 다양한 노력을 기울임.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2015 파리 협정: 지구 기온 상승을 1.5~2℃ 아래로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기후 변화 협약(1992), 교토 의정서(1997),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파리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협정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(2015)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지구적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환경 위기는 한 국가의 노력만으로는 극복하기 어려우므로 지구적 노력이 필요함.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국제연합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등 여러 국제기구와 환경 단체는 환경 문제를 해결하고자 다양한 노력을 기울임.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2015 파리 협정: 지구 기온 상승을 1.5~2℃ 아래로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기후 변화 협약(1992), 교토 의정서(1997),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파리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협정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(2015)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지구적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환경 위기는 한 국가의 노력만으로는 극복하기 어려우므로 지구적 노력이 필요함.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국제연합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등 여러 국제기구와 환경 단체는 환경 문제를 해결하고자 다양한 노력을 기울임.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2015 파리 협정: 지구 기온 상승을 1.5~2℃ 아래로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기후 변화 협약(1992), 교토 의정서(1997),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파리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협정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(2015)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지구적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환경 위기는 한 국가의 노력만으로는 극복하기 어려우므로 지구적 노력이 필요함.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국제연합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등 여러 국제기구와 환경 단체는 환경 문제를 해결하고자 다양한 노력을 기울임.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2015 파리 협정: 지구 기온 상승을 1.5~2℃ 아래로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기후 변화 협약(1992), 교토 의정서(1997),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파리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협정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(2015)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그림 11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100" b="1" dirty="0">
                <a:solidFill>
                  <a:srgbClr val="FFFF00"/>
                </a:solidFill>
                <a:latin typeface="+mn-ea"/>
              </a:rPr>
              <a:t>자연과 공존하기 위한 지구적⋅국가적 노력 (이어서)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국가적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재생 에너지 사용을 의무화하는 법 시행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발전 회사는 전기의 일정 비율을 태양광·풍력으로 만들어야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일회용품 사용 규제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카페 안에서는 일회용 컵 대신 머그잔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환경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표지 </a:t>
            </a:r>
            <a:r>
              <a:rPr sz="2400" b="1">
                <a:solidFill>
                  <a:srgbClr val="843C0C"/>
                </a:solidFill>
              </a:rPr>
              <a:t> 제도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제품의 생산, 소비, 폐기 등의 과정이 친환경적인 제품에  환경 표지를 붙임.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국가적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재생 에너지 사용을 의무화하는 법 시행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발전 회사는 전기의 일정 비율을 태양광·풍력으로 만들어야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일회용품 사용 규제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카페 안에서는 일회용 컵 대신 머그잔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환경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표지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제도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제품의 생산, 소비, 폐기 등의 과정이 친환경적인 제품에  환경 표지를 붙임.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국가적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재생 에너지 사용을 의무화하는 법 시행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발전 회사는 전기의 일정 비율을 태양광·풍력으로 만들어야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일회용품 사용 규제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카페 안에서는 일회용 컵 대신 머그잔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환경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표지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제도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제품의 생산, 소비, 폐기 등의 과정이 친환경적인 제품에  환경 표지를 붙임.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국가적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재생 에너지 사용을 의무화하는 법 시행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발전 회사는 전기의 일정 비율을 태양광·풍력으로 만들어야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일회용품 사용 규제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카페 안에서는 일회용 컵 대신 머그잔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환경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표지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제도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제품의 생산, 소비, 폐기 등의 과정이 친환경적인 제품에  환경 표지를 붙임.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그림 11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자연과 공존하기 위한 개인적 노력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나의 작은 노력이 주변 사람, 기업, 정부, 국제 사회의 변화로 이어질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일상에서의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자원 절약  난방 온도 1도 낮추기, 샤워 시간 1분 줄이기, 사용하지 않는 가전제품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콘센트 </a:t>
            </a:r>
            <a:r>
              <a:rPr sz="2400" b="0">
                <a:solidFill>
                  <a:srgbClr val="262626"/>
                </a:solidFill>
              </a:rPr>
              <a:t> 뽑기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우리 반 하교 전 ‘불 끄기 당번’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자원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재활용 </a:t>
            </a:r>
            <a:r>
              <a:rPr sz="2400" b="0">
                <a:solidFill>
                  <a:srgbClr val="262626"/>
                </a:solidFill>
              </a:rPr>
              <a:t>  캔, 종이, 플라스틱 등을 분리 배출하기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페트병은 라벨 떼고 헹궈서 찌그러뜨리기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소비 줄이기  쓰던 물건 아껴 쓰기, 새로운 소비로 더 많은 물건을 생산하도록 하지 않기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나의 작은 노력이 주변 사람, 기업, 정부, 국제 사회의 변화로 이어질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일상에서의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자원 절약  난방 온도 1도 낮추기, 샤워 시간 1분 줄이기, 사용하지 않는 가전제품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콘센트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뽑기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우리 반 하교 전 ‘불 끄기 당번’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재활용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 캔, 종이, 플라스틱 등을 분리 배출하기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페트병은 라벨 떼고 헹궈서 찌그러뜨리기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소비 줄이기  쓰던 물건 아껴 쓰기, 새로운 소비로 더 많은 물건을 생산하도록 하지 않기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나의 작은 노력이 주변 사람, 기업, 정부, 국제 사회의 변화로 이어질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일상에서의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자원 절약  난방 온도 1도 낮추기, 샤워 시간 1분 줄이기, 사용하지 않는 가전제품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콘센트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뽑기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우리 반 하교 전 ‘불 끄기 당번’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재활용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 캔, 종이, 플라스틱 등을 분리 배출하기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페트병은 라벨 떼고 헹궈서 찌그러뜨리기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소비 줄이기  쓰던 물건 아껴 쓰기, 새로운 소비로 더 많은 물건을 생산하도록 하지 않기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나의 작은 노력이 주변 사람, 기업, 정부, 국제 사회의 변화로 이어질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일상에서의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자원 절약  난방 온도 1도 낮추기, 샤워 시간 1분 줄이기, 사용하지 않는 가전제품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콘센트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뽑기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우리 반 하교 전 ‘불 끄기 당번’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재활용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 캔, 종이, 플라스틱 등을 분리 배출하기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페트병은 라벨 떼고 헹궈서 찌그러뜨리기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소비 줄이기  쓰던 물건 아껴 쓰기, 새로운 소비로 더 많은 물건을 생산하도록 하지 않기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나의 작은 노력이 주변 사람, 기업, 정부, 국제 사회의 변화로 이어질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일상에서의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자원 절약  난방 온도 1도 낮추기, 샤워 시간 1분 줄이기, 사용하지 않는 가전제품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콘센트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뽑기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우리 반 하교 전 ‘불 끄기 당번’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재활용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 캔, 종이, 플라스틱 등을 분리 배출하기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페트병은 라벨 떼고 헹궈서 찌그러뜨리기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소비 줄이기  쓰던 물건 아껴 쓰기, 새로운 소비로 더 많은 물건을 생산하도록 하지 않기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그림 11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우리 교실의 탄소를 찾아라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💡 · 빈 교실의 불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🔌 · 꽂혀 있는 충전기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🥤 · 일회용 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그림 11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구멍 난 하늘을 메운 약속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1987년 · 캐나다 몬트리올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문제 · 냉장고·스프레이에 쓰던 프레온 가스가 오존층에 구멍을 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약속 · 세계 여러 나라가 몬트리올 의정서로 이 물질을 쓰지 않기로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참여 · 유엔의 모든 회원국이 가입한 첫 환경 협약이 되었다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결과 · 오존층은 회복 중이며 2066년 무렵이면 남극 상공도 1980년 수준으로 돌아갈 것으로 본다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이 약속은 왜 성공했을까?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1987년 · 캐나다 몬트리올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문제 · 냉장고·스프레이에 쓰던 프레온 가스가 오존층에 구멍을 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약속 · 세계 여러 나라가 몬트리올 의정서로 이 물질을 쓰지 않기로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참여 · 유엔의 모든 회원국이 가입한 첫 환경 협약이 되었다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결과 · 오존층은 회복 중이며 2066년 무렵이면 남극 상공도 1980년 수준으로 돌아갈 것으로 본다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이 약속은 왜 성공했을까?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그림 11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환경 위기는 한 국가의 노력만으로 극복할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우리나라는 환경 문제 해결에 동참하기 위해 탄소 중립을 실천하겠다고 선언하였다.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재생 에너지 사용 의무화, 일회용품 사용 규제 등은 자연과 공존하기 위한 지구적 노력이다.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난방 온도 1도 낮추기, 샤워 시간 1분 줄이기는 자원 재활용에 해당한다.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환경 위기는 한 국가의 노력만으로 극복할 수 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우리나라는 환경 문제 해결에 동참하기 위해 탄소 중립을 실천하겠다고 선언하였다.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재생 에너지 사용 의무화, 일회용품 사용 규제 등은 자연과 공존하기 위한 지구적 노력이다.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난방 온도 1도 낮추기, 샤워 시간 1분 줄이기는 자원 재활용에 해당한다.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환경 위기는 한 국가의 노력만으로 극복할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우리나라는 환경 문제 해결에 동참하기 위해 탄소 중립을 실천하겠다고 선언하였다.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재생 에너지 사용 의무화, 일회용품 사용 규제 등은 자연과 공존하기 위한 지구적 노력이다.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난방 온도 1도 낮추기, 샤워 시간 1분 줄이기는 자원 재활용에 해당한다.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환경 위기는 한 국가의 노력만으로 극복할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우리나라는 환경 문제 해결에 동참하기 위해 탄소 중립을 실천하겠다고 선언하였다.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재생 에너지 사용 의무화, 일회용품 사용 규제 등은 자연과 공존하기 위한 지구적 노력이다.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난방 온도 1도 낮추기, 샤워 시간 1분 줄이기는 자원 재활용에 해당한다.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환경 위기는 한 국가의 노력만으로 극복할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우리나라는 환경 문제 해결에 동참하기 위해 탄소 중립을 실천하겠다고 선언하였다.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재생 에너지 사용 의무화, 일회용품 사용 규제 등은 자연과 공존하기 위한 지구적 노력이다.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난방 온도 1도 낮추기, 샤워 시간 1분 줄이기는 자원 재활용에 해당한다.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그림 11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어떤 차원의 노력일까?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지구적 · 국가적 · 개인적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여러 나라가 파리 협정을 맺었다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지구적 (국제 협약)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국제 환경 단체가 위기를 알린다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지구적 (국제기구·환경 단체)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2050년 탄소 중립을 선언했다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(우리나라)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친환경 자동차를 사면 세금을 줄여 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안 쓰는 플러그를 뽑는다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(자원 절약)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캔과 페트병을 분리배출한다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(재활용)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지구적 · 국가적 · 개인적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여러 나라가 파리 협정을 맺었다</a:t>
            </a:r>
            <a:r>
              <a:rPr sz="2300" b="1">
                <a:solidFill>
                  <a:srgbClr val="C0392B"/>
                </a:solidFill>
              </a:rPr>
              <a:t>   → 지구적 (국제 협약)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국제 환경 단체가 위기를 알린다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지구적 (국제기구·환경 단체)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2050년 탄소 중립을 선언했다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(우리나라)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친환경 자동차를 사면 세금을 줄여 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안 쓰는 플러그를 뽑는다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(자원 절약)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캔과 페트병을 분리배출한다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(재활용)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지구적 · 국가적 · 개인적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여러 나라가 파리 협정을 맺었다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지구적 (국제 협약)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국제 환경 단체가 위기를 알린다</a:t>
            </a:r>
            <a:r>
              <a:rPr sz="2300" b="1">
                <a:solidFill>
                  <a:srgbClr val="C0392B"/>
                </a:solidFill>
              </a:rPr>
              <a:t>   → 지구적 (국제기구·환경 단체)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2050년 탄소 중립을 선언했다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(우리나라)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친환경 자동차를 사면 세금을 줄여 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안 쓰는 플러그를 뽑는다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(자원 절약)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캔과 페트병을 분리배출한다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(재활용)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지구적 · 국가적 · 개인적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여러 나라가 파리 협정을 맺었다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지구적 (국제 협약)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국제 환경 단체가 위기를 알린다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지구적 (국제기구·환경 단체)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2050년 탄소 중립을 선언했다</a:t>
            </a:r>
            <a:r>
              <a:rPr sz="2300" b="1">
                <a:solidFill>
                  <a:srgbClr val="C0392B"/>
                </a:solidFill>
              </a:rPr>
              <a:t>   → 국가적 (우리나라)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친환경 자동차를 사면 세금을 줄여 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안 쓰는 플러그를 뽑는다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(자원 절약)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캔과 페트병을 분리배출한다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(재활용)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지구적 · 국가적 · 개인적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여러 나라가 파리 협정을 맺었다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지구적 (국제 협약)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국제 환경 단체가 위기를 알린다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지구적 (국제기구·환경 단체)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2050년 탄소 중립을 선언했다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(우리나라)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친환경 자동차를 사면 세금을 줄여 준다</a:t>
            </a:r>
            <a:r>
              <a:rPr sz="2300" b="1">
                <a:solidFill>
                  <a:srgbClr val="C0392B"/>
                </a:solidFill>
              </a:rPr>
              <a:t>   → 국가적 (제도)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안 쓰는 플러그를 뽑는다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(자원 절약)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캔과 페트병을 분리배출한다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(재활용)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지구적 · 국가적 · 개인적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여러 나라가 파리 협정을 맺었다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지구적 (국제 협약)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국제 환경 단체가 위기를 알린다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지구적 (국제기구·환경 단체)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2050년 탄소 중립을 선언했다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(우리나라)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친환경 자동차를 사면 세금을 줄여 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안 쓰는 플러그를 뽑는다</a:t>
            </a:r>
            <a:r>
              <a:rPr sz="2300" b="1">
                <a:solidFill>
                  <a:srgbClr val="C0392B"/>
                </a:solidFill>
              </a:rPr>
              <a:t>   → 개인적 (자원 절약)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캔과 페트병을 분리배출한다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(재활용)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지구적 · 국가적 · 개인적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여러 나라가 파리 협정을 맺었다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지구적 (국제 협약)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국제 환경 단체가 위기를 알린다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지구적 (국제기구·환경 단체)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2050년 탄소 중립을 선언했다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(우리나라)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친환경 자동차를 사면 세금을 줄여 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안 쓰는 플러그를 뽑는다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(자원 절약)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캔과 페트병을 분리배출한다</a:t>
            </a:r>
            <a:r>
              <a:rPr sz="2300" b="1">
                <a:solidFill>
                  <a:srgbClr val="C0392B"/>
                </a:solidFill>
              </a:rPr>
              <a:t>   → 개인적 (재활용)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그림 11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환경 지킴이 일주일 계획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월~화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급식 남기지 않기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수~목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텀블러 들고 다니기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금~일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가족과 줍깅 30분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동참을 권할 사람과 방법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동생에게 함께 줍깅을 하자고 제안한다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월~화</a:t>
            </a:r>
            <a:r>
              <a:rPr sz="2300" b="1">
                <a:solidFill>
                  <a:srgbClr val="C0392B"/>
                </a:solidFill>
              </a:rPr>
              <a:t>   예) 급식 남기지 않기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수~목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텀블러 들고 다니기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금~일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가족과 줍깅 30분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동참을 권할 사람과 방법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동생에게 함께 줍깅을 하자고 제안한다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월~화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급식 남기지 않기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수~목</a:t>
            </a:r>
            <a:r>
              <a:rPr sz="2300" b="1">
                <a:solidFill>
                  <a:srgbClr val="C0392B"/>
                </a:solidFill>
              </a:rPr>
              <a:t>   예) 텀블러 들고 다니기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금~일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가족과 줍깅 30분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동참을 권할 사람과 방법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동생에게 함께 줍깅을 하자고 제안한다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월~화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급식 남기지 않기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수~목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텀블러 들고 다니기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금~일</a:t>
            </a:r>
            <a:r>
              <a:rPr sz="2300" b="1">
                <a:solidFill>
                  <a:srgbClr val="C0392B"/>
                </a:solidFill>
              </a:rPr>
              <a:t>   예) 가족과 줍깅 30분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동참을 권할 사람과 방법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동생에게 함께 줍깅을 하자고 제안한다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월~화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급식 남기지 않기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수~목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텀블러 들고 다니기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금~일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가족과 줍깅 30분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동참을 권할 사람과 방법</a:t>
            </a:r>
            <a:r>
              <a:rPr sz="2300" b="1">
                <a:solidFill>
                  <a:srgbClr val="C0392B"/>
                </a:solidFill>
              </a:rPr>
              <a:t>   예) 동생에게 함께 줍깅을 하자고 제안한다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그림 11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우리 반 탄소 중립 실천 하나 고르기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자연과 </a:t>
            </a:r>
            <a:r>
              <a:rPr lang="ko-KR" altLang="en-US" b="1" dirty="0" smtClean="0">
                <a:latin typeface="+mj-ea"/>
                <a:ea typeface="+mj-ea"/>
              </a:rPr>
              <a:t>공존하려면 어떻게 </a:t>
            </a:r>
            <a:r>
              <a:rPr lang="ko-KR" altLang="en-US" b="1" dirty="0">
                <a:latin typeface="+mj-ea"/>
                <a:ea typeface="+mj-ea"/>
              </a:rPr>
              <a:t>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손을 들어 투표해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빈 교실 불·에어컨 끄기 당번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급식 잔반 줄이기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이면지 쓰기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텀블러 쓰기   ✋ ____ 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8335</TotalTime>
  <Words>959</Words>
  <Application>Microsoft Office PowerPoint</Application>
  <PresentationFormat>와이드스크린</PresentationFormat>
  <Paragraphs>178</Paragraphs>
  <Slides>16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굴림</vt:lpstr>
      <vt:lpstr>나눔스퀘어라운드 ExtraBold</vt:lpstr>
      <vt:lpstr>돋움</vt:lpstr>
      <vt:lpstr>맑은 고딕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PC</cp:lastModifiedBy>
  <cp:revision>173</cp:revision>
  <cp:lastPrinted>2024-06-05T04:53:22Z</cp:lastPrinted>
  <dcterms:created xsi:type="dcterms:W3CDTF">2023-10-31T05:50:03Z</dcterms:created>
  <dcterms:modified xsi:type="dcterms:W3CDTF">2025-04-22T01:03:32Z</dcterms:modified>
</cp:coreProperties>
</file>