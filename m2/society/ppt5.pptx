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18"/>
  </p:notesMasterIdLst>
  <p:handoutMasterIdLst>
    <p:handoutMasterId r:id="rId19"/>
  </p:handoutMasterIdLst>
  <p:sldIdLst>
    <p:sldId id="302" r:id="rId2"/>
    <p:sldId id="301" r:id="rId3"/>
    <p:sldId id="258" r:id="rId4"/>
    <p:sldId id="304" r:id="rId5"/>
    <p:sldId id="305" r:id="rId6"/>
    <p:sldId id="306" r:id="rId7"/>
    <p:sldId id="387" r:id="rId8"/>
    <p:sldId id="270" r:id="rId9"/>
    <p:sldId id="396" r:id="rId29"/>
    <p:sldId id="313" r:id="rId10"/>
    <p:sldId id="392" r:id="rId25"/>
    <p:sldId id="393" r:id="rId26"/>
    <p:sldId id="388" r:id="rId11"/>
    <p:sldId id="389" r:id="rId12"/>
    <p:sldId id="390" r:id="rId13"/>
    <p:sldId id="391" r:id="rId14"/>
    <p:sldId id="366" r:id="rId15"/>
    <p:sldId id="394" r:id="rId27"/>
    <p:sldId id="395" r:id="rId28"/>
    <p:sldId id="355" r:id="rId16"/>
    <p:sldId id="397" r:id="rId30"/>
    <p:sldId id="398" r:id="rId31"/>
    <p:sldId id="399" r:id="rId32"/>
    <p:sldId id="400" r:id="rId33"/>
    <p:sldId id="348" r:id="rId17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EDE0"/>
    <a:srgbClr val="2D5781"/>
    <a:srgbClr val="FF9300"/>
    <a:srgbClr val="FFFF00"/>
    <a:srgbClr val="D9E1E9"/>
    <a:srgbClr val="E8F6FD"/>
    <a:srgbClr val="F0FFF6"/>
    <a:srgbClr val="019BFF"/>
    <a:srgbClr val="FFF7E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00" autoAdjust="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475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➕ 내 소비와 지구촌</a:t>
            </a:r>
          </a:p>
          <a:p>
            <a:r>
              <a:t>170쪽 카카오 농장 이야기 뒤에 던진다. 다음 차시 공정 무역·윤리적 소비로 이어진다. 비싼 쪽을 고르지 않았다고 비난하지 않도록.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관심을 기울여야 하는 까닭 (172쪽)</a:t>
            </a:r>
          </a:p>
          <a:p>
            <a:r>
              <a:t>이 문제들은 국경을 넘어 전 세계에 영향을 미친다. 활동 화면 5에서 문제 분류와 까닭 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➕ 활동</a:t>
            </a:r>
          </a:p>
          <a:p>
            <a:r>
              <a:t>1분 동안 짝과 원산지를 찾아 칠판 세계 지도에 붙임 딱지. 169쪽 그림일기를 우리 반 버전으로.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나와 지구촌의 연결을 찾고, 지구적 도덕 문제를 분류해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나와 지구촌의 연결을 찾고, 지구적 도덕 문제를 분류해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나와 지구촌의 연결을 찾고, 지구적 도덕 문제를 분류해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xmlns="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xmlns="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xmlns="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xmlns="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xmlns="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xmlns="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xmlns="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xmlns="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xmlns="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xmlns="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세계시민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 err="1" smtClean="0">
                <a:ln w="22225">
                  <a:noFill/>
                  <a:prstDash val="solid"/>
                </a:ln>
                <a:latin typeface="+mj-ea"/>
                <a:ea typeface="+mj-ea"/>
              </a:rPr>
              <a:t>세계시민이</a:t>
            </a:r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 </a:t>
            </a:r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직면한 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도덕 문제에는 무엇이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있을까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323387F2-F0F2-2F6D-DB56-EE32593EA49E}"/>
              </a:ext>
            </a:extLst>
          </p:cNvPr>
          <p:cNvGrpSpPr/>
          <p:nvPr/>
        </p:nvGrpSpPr>
        <p:grpSpPr>
          <a:xfrm>
            <a:off x="787400" y="2944422"/>
            <a:ext cx="10293350" cy="787400"/>
            <a:chOff x="914400" y="2362200"/>
            <a:chExt cx="10293350" cy="787400"/>
          </a:xfrm>
        </p:grpSpPr>
        <p:sp>
          <p:nvSpPr>
            <p:cNvPr id="36" name="사각형: 둥근 모서리 15">
              <a:extLst>
                <a:ext uri="{FF2B5EF4-FFF2-40B4-BE49-F238E27FC236}">
                  <a16:creationId xmlns:a16="http://schemas.microsoft.com/office/drawing/2014/main" xmlns="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xmlns="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xmlns="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xmlns="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세계시민의 의미를 말할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 smtClean="0">
                <a:solidFill>
                  <a:prstClr val="black"/>
                </a:solidFill>
                <a:latin typeface="+mn-ea"/>
              </a:rPr>
              <a:t>지구적 차원의 다양한 도덕 문제를 설명할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xmlns="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pic>
        <p:nvPicPr>
          <p:cNvPr id="18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FF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7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1601" y="1464585"/>
            <a:ext cx="7457015" cy="4737807"/>
          </a:xfrm>
          <a:prstGeom prst="rect">
            <a:avLst/>
          </a:prstGeom>
        </p:spPr>
      </p:pic>
      <p:sp>
        <p:nvSpPr>
          <p:cNvPr id="32" name="타원 31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8740756" y="5267771"/>
            <a:ext cx="576665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400" b="1" dirty="0" smtClean="0">
                <a:solidFill>
                  <a:schemeClr val="tx1"/>
                </a:solidFill>
                <a:latin typeface="+mn-ea"/>
                <a:ea typeface="+mn-ea"/>
              </a:rPr>
              <a:t>미국산</a:t>
            </a:r>
            <a:endParaRPr lang="ko-KR" altLang="en-US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 rot="578755">
            <a:off x="3667922" y="4185215"/>
            <a:ext cx="576665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400" b="1" dirty="0" err="1" smtClean="0">
                <a:solidFill>
                  <a:schemeClr val="tx1"/>
                </a:solidFill>
                <a:latin typeface="+mn-ea"/>
                <a:ea typeface="+mn-ea"/>
              </a:rPr>
              <a:t>인도산</a:t>
            </a:r>
            <a:endParaRPr lang="ko-KR" altLang="en-US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 rot="576111">
            <a:off x="6694997" y="5612687"/>
            <a:ext cx="576665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400" b="1" dirty="0" err="1" smtClean="0">
                <a:solidFill>
                  <a:schemeClr val="tx1"/>
                </a:solidFill>
                <a:latin typeface="+mn-ea"/>
                <a:ea typeface="+mn-ea"/>
              </a:rPr>
              <a:t>페루산</a:t>
            </a:r>
            <a:endParaRPr lang="ko-KR" altLang="en-US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 rot="21157713">
            <a:off x="4625835" y="3211456"/>
            <a:ext cx="777362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400" b="1" dirty="0" err="1" smtClean="0">
                <a:solidFill>
                  <a:schemeClr val="tx1"/>
                </a:solidFill>
                <a:latin typeface="+mn-ea"/>
                <a:ea typeface="+mn-ea"/>
              </a:rPr>
              <a:t>카타르산</a:t>
            </a:r>
            <a:endParaRPr lang="ko-KR" altLang="en-US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 rot="20392427">
            <a:off x="2517224" y="5198149"/>
            <a:ext cx="1143123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400" b="1" dirty="0" smtClean="0">
                <a:solidFill>
                  <a:schemeClr val="tx1"/>
                </a:solidFill>
                <a:latin typeface="+mn-ea"/>
                <a:ea typeface="+mn-ea"/>
              </a:rPr>
              <a:t>방글라데시산</a:t>
            </a:r>
            <a:endParaRPr lang="ko-KR" altLang="en-US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00089" y="1968599"/>
            <a:ext cx="312277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600" dirty="0">
                <a:latin typeface="+mn-ea"/>
                <a:ea typeface="+mn-ea"/>
              </a:rPr>
              <a:t>◯◯월 ◯◯일 ◯요일 </a:t>
            </a:r>
            <a:r>
              <a:rPr lang="ko-KR" altLang="en-US" sz="1600" dirty="0" smtClean="0">
                <a:latin typeface="+mn-ea"/>
                <a:ea typeface="+mn-ea"/>
              </a:rPr>
              <a:t> 날씨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맑음</a:t>
            </a:r>
            <a:endParaRPr lang="ko-KR" altLang="en-US" sz="14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FFF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4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59177" y="2984740"/>
            <a:ext cx="9279959" cy="258792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52669" y="3108924"/>
            <a:ext cx="8668039" cy="2077492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dirty="0" smtClean="0"/>
              <a:t>  오늘은 </a:t>
            </a:r>
            <a:r>
              <a:rPr lang="ko-KR" altLang="en-US" dirty="0"/>
              <a:t>친구와 공원으로 나들이를 다녀왔다</a:t>
            </a:r>
            <a:r>
              <a:rPr lang="en-US" altLang="ko-KR" dirty="0"/>
              <a:t>. </a:t>
            </a:r>
            <a:r>
              <a:rPr lang="ko-KR" altLang="en-US" dirty="0"/>
              <a:t>나는 인도에서 만든 티셔츠를 입고 </a:t>
            </a:r>
            <a:r>
              <a:rPr lang="ko-KR" altLang="en-US" dirty="0" smtClean="0"/>
              <a:t>방글라데시에서 생산한 </a:t>
            </a:r>
            <a:r>
              <a:rPr lang="ko-KR" altLang="en-US" dirty="0"/>
              <a:t>운동화를 신은 뒤 집을 나섰다</a:t>
            </a:r>
            <a:r>
              <a:rPr lang="en-US" altLang="ko-KR" dirty="0"/>
              <a:t>. </a:t>
            </a:r>
            <a:r>
              <a:rPr lang="ko-KR" altLang="en-US" dirty="0"/>
              <a:t>그리고 공원으로 가려고 카타르에서 수입한 천연가스로 </a:t>
            </a:r>
            <a:r>
              <a:rPr lang="ko-KR" altLang="en-US" dirty="0" smtClean="0"/>
              <a:t>운행하는 </a:t>
            </a:r>
            <a:r>
              <a:rPr lang="ko-KR" altLang="en-US" dirty="0"/>
              <a:t>버스를 탔다</a:t>
            </a:r>
            <a:r>
              <a:rPr lang="en-US" altLang="ko-KR" dirty="0"/>
              <a:t>. </a:t>
            </a:r>
            <a:r>
              <a:rPr lang="ko-KR" altLang="en-US" dirty="0"/>
              <a:t>친구가 점심으로 </a:t>
            </a:r>
            <a:r>
              <a:rPr lang="ko-KR" altLang="en-US" dirty="0" err="1"/>
              <a:t>페루산</a:t>
            </a:r>
            <a:r>
              <a:rPr lang="ko-KR" altLang="en-US" dirty="0"/>
              <a:t> 아보카도를 넣은 샌드위치와 미국산 오렌지로 만든 </a:t>
            </a:r>
            <a:r>
              <a:rPr lang="ko-KR" altLang="en-US" dirty="0" smtClean="0"/>
              <a:t>주스를 </a:t>
            </a:r>
            <a:r>
              <a:rPr lang="ko-KR" altLang="en-US" dirty="0"/>
              <a:t>준비해 왔다</a:t>
            </a:r>
            <a:r>
              <a:rPr lang="en-US" altLang="ko-KR" dirty="0"/>
              <a:t>. </a:t>
            </a:r>
            <a:r>
              <a:rPr lang="ko-KR" altLang="en-US" dirty="0"/>
              <a:t>우리는 맛있는 음식을 먹으며 즐거운 시간을 보냈다</a:t>
            </a:r>
            <a:r>
              <a:rPr lang="en-US" altLang="ko-KR" dirty="0"/>
              <a:t>.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1528763" y="2984740"/>
            <a:ext cx="9063037" cy="0"/>
          </a:xfrm>
          <a:prstGeom prst="line">
            <a:avLst/>
          </a:prstGeom>
          <a:ln w="19050">
            <a:solidFill>
              <a:srgbClr val="2D57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1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480740"/>
            <a:ext cx="10293350" cy="2174739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480240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오늘날 세계화의 영향으로 여러 나라는 각종 문물을 교류하고 밀접한 관계를 맺으며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일상에서 많은 것을 공유하면서 살아가고 있다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smtClean="0"/>
              <a:t>다음 그림일기를 보고 알 수 있는 사실을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54793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1754793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3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7" name="타원 26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169149" y="1468688"/>
            <a:ext cx="11430571" cy="4526828"/>
            <a:chOff x="169149" y="1468688"/>
            <a:chExt cx="11430571" cy="4526828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9149" y="1468688"/>
              <a:ext cx="11430571" cy="4526828"/>
            </a:xfrm>
            <a:prstGeom prst="rect">
              <a:avLst/>
            </a:prstGeom>
          </p:spPr>
        </p:pic>
        <p:sp>
          <p:nvSpPr>
            <p:cNvPr id="2" name="타원 1"/>
            <p:cNvSpPr/>
            <p:nvPr/>
          </p:nvSpPr>
          <p:spPr>
            <a:xfrm>
              <a:off x="419100" y="1647825"/>
              <a:ext cx="2400300" cy="188595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19100" y="1757527"/>
              <a:ext cx="2347116" cy="16665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0" dirty="0">
                  <a:latin typeface="+mn-ea"/>
                </a:rPr>
                <a:t>내가 좋아하는 </a:t>
              </a:r>
              <a:r>
                <a:rPr lang="ko-KR" altLang="en-US" sz="1400" dirty="0" smtClean="0">
                  <a:latin typeface="+mn-ea"/>
                </a:rPr>
                <a:t>달콤한</a:t>
              </a:r>
              <a:endParaRPr lang="en-US" altLang="ko-KR" sz="1400" dirty="0" smtClean="0"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latin typeface="+mn-ea"/>
                </a:rPr>
                <a:t>초콜릿은 </a:t>
              </a:r>
              <a:r>
                <a:rPr lang="ko-KR" altLang="en-US" sz="1400" dirty="0">
                  <a:latin typeface="+mn-ea"/>
                </a:rPr>
                <a:t>카카오 열매로</a:t>
              </a:r>
            </a:p>
            <a:p>
              <a:pPr algn="ctr">
                <a:lnSpc>
                  <a:spcPct val="150000"/>
                </a:lnSpc>
              </a:pPr>
              <a:r>
                <a:rPr lang="ko-KR" altLang="en-US" sz="1400" dirty="0">
                  <a:latin typeface="+mn-ea"/>
                </a:rPr>
                <a:t>만들어</a:t>
              </a:r>
              <a:r>
                <a:rPr lang="en-US" altLang="ko-KR" sz="1400" dirty="0">
                  <a:latin typeface="+mn-ea"/>
                </a:rPr>
                <a:t>. </a:t>
              </a:r>
              <a:r>
                <a:rPr lang="ko-KR" altLang="en-US" sz="1400" dirty="0">
                  <a:latin typeface="+mn-ea"/>
                </a:rPr>
                <a:t>카카오 </a:t>
              </a:r>
              <a:r>
                <a:rPr lang="ko-KR" altLang="en-US" sz="1400" dirty="0" smtClean="0">
                  <a:latin typeface="+mn-ea"/>
                </a:rPr>
                <a:t>열매로</a:t>
              </a:r>
              <a:endParaRPr lang="en-US" altLang="ko-KR" sz="1400" dirty="0" smtClean="0"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latin typeface="+mn-ea"/>
                </a:rPr>
                <a:t>초콜릿 </a:t>
              </a:r>
              <a:r>
                <a:rPr lang="ko-KR" altLang="en-US" sz="1400" dirty="0">
                  <a:latin typeface="+mn-ea"/>
                </a:rPr>
                <a:t>하나를 만들기까지 </a:t>
              </a:r>
              <a:endParaRPr lang="en-US" altLang="ko-KR" sz="1400" dirty="0" smtClean="0"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dirty="0" smtClean="0">
                  <a:latin typeface="+mn-ea"/>
                </a:rPr>
                <a:t>어떤 </a:t>
              </a:r>
              <a:r>
                <a:rPr lang="ko-KR" altLang="en-US" sz="1400" dirty="0">
                  <a:latin typeface="+mn-ea"/>
                </a:rPr>
                <a:t>일들이 생겨날까</a:t>
              </a:r>
              <a:r>
                <a:rPr lang="en-US" altLang="ko-KR" sz="1400" dirty="0" smtClean="0">
                  <a:latin typeface="+mn-ea"/>
                </a:rPr>
                <a:t>?</a:t>
              </a:r>
              <a:endParaRPr lang="en-US" altLang="ko-KR" sz="1400" dirty="0">
                <a:latin typeface="+mn-ea"/>
              </a:endParaRP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3695700" y="4781550"/>
              <a:ext cx="3602590" cy="657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7839316" y="4719637"/>
              <a:ext cx="3602590" cy="6572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611045" y="4776787"/>
              <a:ext cx="3790950" cy="653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300" dirty="0">
                  <a:latin typeface="+mn-ea"/>
                </a:rPr>
                <a:t>카카오 농장에서 일하는 아이들은 대부분 학교에 다니지 못하고</a:t>
              </a:r>
              <a:r>
                <a:rPr lang="en-US" altLang="ko-KR" sz="1300" dirty="0">
                  <a:latin typeface="+mn-ea"/>
                </a:rPr>
                <a:t>, </a:t>
              </a:r>
              <a:r>
                <a:rPr lang="ko-KR" altLang="en-US" sz="1300" dirty="0">
                  <a:latin typeface="+mn-ea"/>
                </a:rPr>
                <a:t>임금도 제대로 받지 못한다</a:t>
              </a:r>
              <a:r>
                <a:rPr lang="en-US" altLang="ko-KR" sz="1300" dirty="0">
                  <a:latin typeface="+mn-ea"/>
                </a:rPr>
                <a:t>.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703568" y="4784942"/>
              <a:ext cx="3790950" cy="653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300" dirty="0">
                  <a:latin typeface="+mn-ea"/>
                </a:rPr>
                <a:t>카카오 농장을 무분별하게 확장하면서 산림이 </a:t>
              </a:r>
              <a:endParaRPr lang="en-US" altLang="ko-KR" sz="1300" dirty="0" smtClean="0">
                <a:latin typeface="+mn-ea"/>
              </a:endParaRPr>
            </a:p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300" dirty="0" smtClean="0">
                  <a:latin typeface="+mn-ea"/>
                </a:rPr>
                <a:t>파괴되고</a:t>
              </a:r>
              <a:r>
                <a:rPr lang="en-US" altLang="ko-KR" sz="1300" dirty="0">
                  <a:latin typeface="+mn-ea"/>
                </a:rPr>
                <a:t>, </a:t>
              </a:r>
              <a:r>
                <a:rPr lang="ko-KR" altLang="en-US" sz="1300" dirty="0">
                  <a:latin typeface="+mn-ea"/>
                </a:rPr>
                <a:t>그곳에 살던 동물의 수도 크게 줄었다</a:t>
              </a:r>
              <a:r>
                <a:rPr lang="en-US" altLang="ko-KR" sz="1300" dirty="0">
                  <a:latin typeface="+mn-ea"/>
                </a:rPr>
                <a:t>.</a:t>
              </a:r>
              <a:endParaRPr lang="en-US" altLang="ko-KR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타원 19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851981" y="1943427"/>
            <a:ext cx="10733774" cy="4368931"/>
            <a:chOff x="851981" y="1943427"/>
            <a:chExt cx="10733774" cy="4368931"/>
          </a:xfrm>
        </p:grpSpPr>
        <p:grpSp>
          <p:nvGrpSpPr>
            <p:cNvPr id="3" name="그룹 2"/>
            <p:cNvGrpSpPr/>
            <p:nvPr/>
          </p:nvGrpSpPr>
          <p:grpSpPr>
            <a:xfrm>
              <a:off x="851981" y="1943427"/>
              <a:ext cx="10733774" cy="4368931"/>
              <a:chOff x="851981" y="1943427"/>
              <a:chExt cx="10733774" cy="4368931"/>
            </a:xfrm>
          </p:grpSpPr>
          <p:pic>
            <p:nvPicPr>
              <p:cNvPr id="19" name="그림 18"/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51981" y="2020136"/>
                <a:ext cx="10733774" cy="4292222"/>
              </a:xfrm>
              <a:prstGeom prst="rect">
                <a:avLst/>
              </a:prstGeom>
            </p:spPr>
          </p:pic>
          <p:sp>
            <p:nvSpPr>
              <p:cNvPr id="2" name="타원 1"/>
              <p:cNvSpPr/>
              <p:nvPr/>
            </p:nvSpPr>
            <p:spPr>
              <a:xfrm>
                <a:off x="7878955" y="1943427"/>
                <a:ext cx="2474720" cy="353686"/>
              </a:xfrm>
              <a:prstGeom prst="ellipse">
                <a:avLst/>
              </a:prstGeom>
              <a:solidFill>
                <a:srgbClr val="F7EDE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" name="타원 3"/>
            <p:cNvSpPr/>
            <p:nvPr/>
          </p:nvSpPr>
          <p:spPr>
            <a:xfrm>
              <a:off x="4467225" y="2297113"/>
              <a:ext cx="2590800" cy="1389062"/>
            </a:xfrm>
            <a:prstGeom prst="ellipse">
              <a:avLst/>
            </a:prstGeom>
            <a:solidFill>
              <a:srgbClr val="F7ED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/>
            <p:cNvSpPr/>
            <p:nvPr/>
          </p:nvSpPr>
          <p:spPr>
            <a:xfrm>
              <a:off x="8549307" y="2168371"/>
              <a:ext cx="2590800" cy="1389062"/>
            </a:xfrm>
            <a:prstGeom prst="ellipse">
              <a:avLst/>
            </a:prstGeom>
            <a:solidFill>
              <a:srgbClr val="F7ED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6486525" y="2457450"/>
              <a:ext cx="4067175" cy="1228725"/>
            </a:xfrm>
            <a:prstGeom prst="rect">
              <a:avLst/>
            </a:prstGeom>
            <a:solidFill>
              <a:srgbClr val="F7ED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49029" y="2457450"/>
              <a:ext cx="630927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  <a:defRPr/>
              </a:pPr>
              <a:r>
                <a:rPr lang="ko-KR" altLang="en-US" sz="1600" dirty="0">
                  <a:latin typeface="+mn-ea"/>
                </a:rPr>
                <a:t>초콜릿 판매 수익은 대부분 판매 및 제조 회사에 돌아가고</a:t>
              </a:r>
              <a:r>
                <a:rPr lang="en-US" altLang="ko-KR" sz="1600" dirty="0">
                  <a:latin typeface="+mn-ea"/>
                </a:rPr>
                <a:t>, </a:t>
              </a:r>
              <a:r>
                <a:rPr lang="ko-KR" altLang="en-US" sz="1600" dirty="0">
                  <a:latin typeface="+mn-ea"/>
                </a:rPr>
                <a:t>카카오 농장에서 일하는 농민에게 돌아가는 몫은 매우 적다</a:t>
              </a:r>
              <a:r>
                <a:rPr lang="en-US" altLang="ko-KR" sz="1600" dirty="0">
                  <a:latin typeface="+mn-ea"/>
                </a:rPr>
                <a:t>. </a:t>
              </a:r>
              <a:r>
                <a:rPr lang="ko-KR" altLang="en-US" sz="1600" dirty="0">
                  <a:latin typeface="+mn-ea"/>
                </a:rPr>
                <a:t>카카오 농장의 농민들은 아무리 열심히 일해도 가난을 벗어나기 어렵다</a:t>
              </a:r>
              <a:r>
                <a:rPr lang="en-US" altLang="ko-KR" sz="1600" dirty="0">
                  <a:latin typeface="+mn-ea"/>
                </a:rPr>
                <a:t>.</a:t>
              </a:r>
              <a:endParaRPr lang="en-US" altLang="ko-KR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4524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8451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smtClean="0"/>
              <a:t>초콜릿 하나가 나에게 오기까지 발생하는 다양한 문제를 모두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57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아동 노동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환경 파괴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불공정한 무역 구조 등의 문제가 발생한다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20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세계시민의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056" y="1510186"/>
            <a:ext cx="10991383" cy="4362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</a:rPr>
              <a:t>세계시민의 의미 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/>
              <a:t>우리는 한 국가의 국민인 동시에 지구 공동체의 일원으로서 살아가고 있음</a:t>
            </a:r>
            <a:r>
              <a:rPr lang="en-US" altLang="ko-KR" sz="2400" dirty="0" smtClean="0"/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err="1" smtClean="0"/>
              <a:t>세계시민은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인류의 </a:t>
            </a:r>
            <a:r>
              <a:rPr lang="ko-KR" altLang="en-US" sz="2400" dirty="0"/>
              <a:t>고통에 공감하며 지구적 차원의 도덕 문제에 관심을 기울이고 적극적으로 행동하는 </a:t>
            </a:r>
            <a:r>
              <a:rPr lang="ko-KR" altLang="en-US" sz="2400" dirty="0" smtClean="0"/>
              <a:t>사람을 말함</a:t>
            </a:r>
            <a:r>
              <a:rPr lang="en-US" altLang="ko-KR" sz="2400" dirty="0" smtClean="0"/>
              <a:t>.</a:t>
            </a:r>
            <a:endParaRPr lang="en-US" altLang="ko-KR" sz="2400" dirty="0"/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/>
              <a:t>우리는 </a:t>
            </a:r>
            <a:r>
              <a:rPr lang="ko-KR" altLang="en-US" sz="2400" dirty="0"/>
              <a:t>지구촌의 상호 의존성을 깨닫고 세계시민으로서 역할과 책임을 다할 때 더 나은 지구촌에서 살아갈 수 있음</a:t>
            </a:r>
            <a:r>
              <a:rPr lang="en-US" altLang="ko-KR" sz="2400" dirty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/>
          </a:p>
          <a:p>
            <a:pPr algn="just"/>
            <a:endParaRPr lang="en-US" altLang="ko-KR" sz="2400" dirty="0">
              <a:latin typeface="Arial Rounded MT Bold" panose="020F07040305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622056" y="5061256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상호 의존성 </a:t>
            </a:r>
            <a:r>
              <a:rPr lang="ko-KR" altLang="en-US" sz="1600" dirty="0" smtClean="0"/>
              <a:t>서로에게 의지하며 존재하는 성질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3475014" y="3823066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10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864569" y="1665532"/>
            <a:ext cx="1018586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◯◯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국의 작은 마을에 사는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물리스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씨는 두 살 아들을 업고 한 시간을 걸어 보건소로 갔다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의사는 영양실조라고 진단하였다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3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년 넘게 가뭄이 이어지면서 주민들은 극심한 식량 부족에 시달리고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이에 부모들은 끼니까지 거르며 아이들을 먹이고자 애쓰고 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938215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7611963" y="4372616"/>
            <a:ext cx="36477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내전 </a:t>
            </a:r>
            <a:r>
              <a:rPr lang="ko-KR" altLang="en-US" sz="1600" dirty="0" smtClean="0"/>
              <a:t>한 나라 안에서 일어나는 전쟁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3196" y="1694873"/>
            <a:ext cx="10266911" cy="259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국제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연합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(UN)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에 따르면 △△국에서 내전이 확대된 이후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11,000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여 명의 어린이가 사망하거나 장애를 입었다고 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지난 수년간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3,900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여 명의 소년들이 전투에 동원됐으며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90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여 명의 소녀들이 검문소에서 일하는 등 전쟁터에서 군사적 역할을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강요받았다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- 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뉴스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1》, 2022. 12. 12.</a:t>
            </a:r>
            <a:endParaRPr lang="en-US" altLang="ko-KR" sz="14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5698176" y="1753958"/>
            <a:ext cx="150020" cy="12730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76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018" y="1707039"/>
            <a:ext cx="1058608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태평양에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위치한 섬나라 키리바시에 사는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에스테마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씨는 한밤중에 차갑고 끈적한 물에 젖는 느낌에 잠에서 깼다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마을 깊숙이 들이친 바닷물로 마을이 물바다가 된 것이다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해수면이 급격히 상승하면서 이 마을은 사람이 살기 어려워졌다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고도가 낮은 키리바시는 가장 먼저 지구 온난화의 피해를 볼 가능성이 크다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11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79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908" y="1645354"/>
            <a:ext cx="102807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연구에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따르면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2100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년에는 키리바시의 도시인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타라와섬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절반이 바다에 잠겨 섬에 사는 인구 중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60 %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이상이 생존할 수 없다고 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키리바시의 이산화 탄소 배출량은 전 세계 배출량의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0.0002 %(2020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년 기준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에 불과한 점을 고려하면 가혹하고 억울한 미래이다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                                           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한국일보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》, 2023. 1. 25.</a:t>
            </a:r>
            <a:endParaRPr lang="en-US" altLang="ko-KR" sz="11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0" name="타원 19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98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빈곤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빈곤으로 고통받는 사람들 중 대부분은 기본적인 권리를 보장받지 못함</a:t>
            </a:r>
            <a:r>
              <a:rPr lang="en-US" altLang="ko-KR" sz="2400" dirty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전쟁과 폭력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/>
              <a:t>전쟁과 폭력은 사람들의 안전과 생명을 위협하고 인간다운 삶을 파괴함</a:t>
            </a:r>
            <a:r>
              <a:rPr lang="en-US" altLang="ko-KR" sz="2400" dirty="0"/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</a:rPr>
              <a:t>환경 파괴</a:t>
            </a:r>
            <a:endParaRPr lang="ko-KR" altLang="en-US" sz="2500" dirty="0"/>
          </a:p>
          <a:p>
            <a:pPr algn="just"/>
            <a:r>
              <a:rPr lang="ko-KR" altLang="en-US" sz="2400" dirty="0"/>
              <a:t>환경 문제는 </a:t>
            </a:r>
            <a:r>
              <a:rPr lang="ko-KR" altLang="en-US" sz="2400" dirty="0" err="1"/>
              <a:t>현세대는</a:t>
            </a:r>
            <a:r>
              <a:rPr lang="ko-KR" altLang="en-US" sz="2400" dirty="0"/>
              <a:t> 물론 미래 세대의 생존까지 위협함</a:t>
            </a:r>
            <a:r>
              <a:rPr lang="en-US" altLang="ko-KR" sz="2400" dirty="0"/>
              <a:t>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지구적 차원의 다양한 도덕 문제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</p:spTree>
    <p:extLst>
      <p:ext uri="{BB962C8B-B14F-4D97-AF65-F5344CB8AC3E}">
        <p14:creationId xmlns:p14="http://schemas.microsoft.com/office/powerpoint/2010/main" val="230775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xmlns="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지구적 차원의 도덕 문제를 잘 이해했는지 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V</a:t>
            </a:r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표를 하며 점검하고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세계시민으로서 이러한 문제에 관심을 기울여야 하는 까닭을 써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xmlns="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xmlns="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935915" y="4546283"/>
            <a:ext cx="8165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우리의 삶은 지구촌 문제와 긴밀하게 연결되어 있으므로 지구 반대편에서 일어나는 일들이 더 이상 다른 나라만의 일이 아니라 우리의 일이 되었기 때문이다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936087" y="3953767"/>
            <a:ext cx="3161460" cy="507831"/>
            <a:chOff x="877165" y="3739778"/>
            <a:chExt cx="1328154" cy="507831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관심을 기울여야 하는 까닭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787400" y="2854762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82429" y="2789692"/>
            <a:ext cx="27571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빈곤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11549" y="2789551"/>
            <a:ext cx="27522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전쟁과 폭력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35702" y="2789551"/>
            <a:ext cx="27522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환경 파괴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40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46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4511550" y="2852488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7" name="사각형: 둥근 모서리 29">
            <a:extLst>
              <a:ext uri="{FF2B5EF4-FFF2-40B4-BE49-F238E27FC236}">
                <a16:creationId xmlns:a16="http://schemas.microsoft.com/office/drawing/2014/main" xmlns="" id="{C631BC03-B762-9123-7FD1-0A60290B94EB}"/>
              </a:ext>
            </a:extLst>
          </p:cNvPr>
          <p:cNvSpPr/>
          <p:nvPr/>
        </p:nvSpPr>
        <p:spPr>
          <a:xfrm>
            <a:off x="8235702" y="2860399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590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“02.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지구적 차원의 도덕 문제를</a:t>
            </a:r>
            <a:endParaRPr lang="en-US" altLang="ko-KR" sz="2800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2800" b="1" dirty="0" smtClean="0">
                <a:solidFill>
                  <a:schemeClr val="tx1"/>
                </a:solidFill>
              </a:rPr>
              <a:t>어떻게 해결할 수 있을까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xmlns="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세계시민의 의미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622056" y="5061256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상호 의존성 </a:t>
            </a:r>
            <a:r>
              <a:rPr lang="ko-KR" altLang="en-US" sz="1600" dirty="0" smtClean="0"/>
              <a:t>서로에게 의지하며 존재하는 성질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우리는 한 국가의 국민인 동시에 지구 공동체의 일원으로서 살아가고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세계시민의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인류의 고통에 공감하며 지구적 차원의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도덕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문제 </a:t>
            </a:r>
            <a:r>
              <a:rPr sz="2400" b="0">
                <a:solidFill>
                  <a:srgbClr val="262626"/>
                </a:solidFill>
              </a:rPr>
              <a:t>에 관심을 기울이고 적극적으로 행동하는 사람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카카오 농장 아동 노동을 알고 공정 무역 초콜릿을 고르다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지구촌의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상호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의존성 </a:t>
            </a:r>
            <a:r>
              <a:rPr sz="2400" b="0">
                <a:solidFill>
                  <a:srgbClr val="262626"/>
                </a:solidFill>
              </a:rPr>
              <a:t>을 깨닫고 세계시민으로서 역할과 책임을 다할 때 더 나은 지구촌에서 살 수 있음.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우리는 한 국가의 국민인 동시에 지구 공동체의 일원으로서 살아가고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세계시민의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인류의 고통에 공감하며 지구적 차원의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도덕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관심을 기울이고 적극적으로 행동하는 사람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카카오 농장 아동 노동을 알고 공정 무역 초콜릿을 고르다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지구촌의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상호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의존성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깨닫고 세계시민으로서 역할과 책임을 다할 때 더 나은 지구촌에서 살 수 있음.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우리는 한 국가의 국민인 동시에 지구 공동체의 일원으로서 살아가고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세계시민의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인류의 고통에 공감하며 지구적 차원의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관심을 기울이고 적극적으로 행동하는 사람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카카오 농장 아동 노동을 알고 공정 무역 초콜릿을 고르다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지구촌의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상호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의존성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깨닫고 세계시민으로서 역할과 책임을 다할 때 더 나은 지구촌에서 살 수 있음.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우리는 한 국가의 국민인 동시에 지구 공동체의 일원으로서 살아가고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세계시민의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인류의 고통에 공감하며 지구적 차원의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관심을 기울이고 적극적으로 행동하는 사람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카카오 농장 아동 노동을 알고 공정 무역 초콜릿을 고르다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지구촌의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상호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의존성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깨닫고 세계시민으로서 역할과 책임을 다할 때 더 나은 지구촌에서 살 수 있음.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우리는 한 국가의 국민인 동시에 지구 공동체의 일원으로서 살아가고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세계시민의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인류의 고통에 공감하며 지구적 차원의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관심을 기울이고 적극적으로 행동하는 사람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카카오 농장 아동 노동을 알고 공정 무역 초콜릿을 고르다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지구촌의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상호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의존성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깨닫고 세계시민으로서 역할과 책임을 다할 때 더 나은 지구촌에서 살 수 있음.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우리는 한 국가의 국민인 동시에 지구 공동체의 일원으로서 살아가고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세계시민의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인류의 고통에 공감하며 지구적 차원의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관심을 기울이고 적극적으로 행동하는 사람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카카오 농장 아동 노동을 알고 공정 무역 초콜릿을 고르다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지구촌의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상호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의존성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깨닫고 세계시민으로서 역할과 책임을 다할 때 더 나은 지구촌에서 살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170쪽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622056" y="5061256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상호 의존성 </a:t>
            </a:r>
            <a:r>
              <a:rPr lang="ko-KR" altLang="en-US" sz="1600" dirty="0" smtClean="0"/>
              <a:t>서로에게 의지하며 존재하는 성질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편의점 초콜릿 두 개. 하나는 1,000원, 공정 무역 표시가 붙은 것은 2,000원.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A — 싼 것을 산다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B — 공정 무역을 산다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내 선택은 지구 반대편에 어떤 영향을 줄까?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편의점 초콜릿 두 개. 하나는 1,000원, 공정 무역 표시가 붙은 것은 2,000원.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A — 싼 것을 산다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B — 공정 무역을 산다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내 선택은 지구 반대편에 어떤 영향을 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지구적 차원의 다양한 도덕 문제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622056" y="5061256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상호 의존성 </a:t>
            </a:r>
            <a:r>
              <a:rPr lang="ko-KR" altLang="en-US" sz="1600" dirty="0" smtClean="0"/>
              <a:t>서로에게 의지하며 존재하는 성질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빈곤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3년 넘은 가뭄으로 굶주리는 동아프리카 아이들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자연재해, 내전이나 분쟁 등 개인의 노력만으로 극복하기 어려운 요인 때문에 발생하는 경우가 많음.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빈곤으로 고통받는 사람들 중 대부분은 기본적인 권리를 보장받지 못함.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전쟁과 폭력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영토나 자원의 확보, 종교나 이념의 대립 등과 관련한 크고 작은 전쟁과 폭력이 발생하고 있으며, 이에 따라 삶의 근거지를 잃은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난민 </a:t>
            </a:r>
            <a:r>
              <a:rPr sz="2400" b="0">
                <a:solidFill>
                  <a:srgbClr val="262626"/>
                </a:solidFill>
              </a:rPr>
              <a:t>의 수도 증가하고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집을 떠나 국경을 넘는 우크라이나·시리아 난민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빈곤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3년 넘은 가뭄으로 굶주리는 동아프리카 아이들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자연재해, 내전이나 분쟁 등 개인의 노력만으로 극복하기 어려운 요인 때문에 발생하는 경우가 많음.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빈곤으로 고통받는 사람들 중 대부분은 기본적인 권리를 보장받지 못함.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전쟁과 폭력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영토나 자원의 확보, 종교나 이념의 대립 등과 관련한 크고 작은 전쟁과 폭력이 발생하고 있으며, 이에 따라 삶의 근거지를 잃은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난민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수도 증가하고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집을 떠나 국경을 넘는 우크라이나·시리아 난민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빈곤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3년 넘은 가뭄으로 굶주리는 동아프리카 아이들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자연재해, 내전이나 분쟁 등 개인의 노력만으로 극복하기 어려운 요인 때문에 발생하는 경우가 많음.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빈곤으로 고통받는 사람들 중 대부분은 기본적인 권리를 보장받지 못함.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전쟁과 폭력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영토나 자원의 확보, 종교나 이념의 대립 등과 관련한 크고 작은 전쟁과 폭력이 발생하고 있으며, 이에 따라 삶의 근거지를 잃은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난민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수도 증가하고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집을 떠나 국경을 넘는 우크라이나·시리아 난민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빈곤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3년 넘은 가뭄으로 굶주리는 동아프리카 아이들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자연재해, 내전이나 분쟁 등 개인의 노력만으로 극복하기 어려운 요인 때문에 발생하는 경우가 많음.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빈곤으로 고통받는 사람들 중 대부분은 기본적인 권리를 보장받지 못함.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전쟁과 폭력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영토나 자원의 확보, 종교나 이념의 대립 등과 관련한 크고 작은 전쟁과 폭력이 발생하고 있으며, 이에 따라 삶의 근거지를 잃은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난민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수도 증가하고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집을 떠나 국경을 넘는 우크라이나·시리아 난민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빈곤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3년 넘은 가뭄으로 굶주리는 동아프리카 아이들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자연재해, 내전이나 분쟁 등 개인의 노력만으로 극복하기 어려운 요인 때문에 발생하는 경우가 많음.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빈곤으로 고통받는 사람들 중 대부분은 기본적인 권리를 보장받지 못함.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전쟁과 폭력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영토나 자원의 확보, 종교나 이념의 대립 등과 관련한 크고 작은 전쟁과 폭력이 발생하고 있으며, 이에 따라 삶의 근거지를 잃은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난민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수도 증가하고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집을 떠나 국경을 넘는 우크라이나·시리아 난민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00" b="1" dirty="0" smtClean="0">
                <a:solidFill>
                  <a:srgbClr val="FFFF00"/>
                </a:solidFill>
                <a:latin typeface="+mn-ea"/>
              </a:rPr>
              <a:t>지구적 차원의 다양한 도덕 문제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622056" y="5061256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상호 의존성 </a:t>
            </a:r>
            <a:r>
              <a:rPr lang="ko-KR" altLang="en-US" sz="1600" dirty="0" smtClean="0"/>
              <a:t>서로에게 의지하며 존재하는 성질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전쟁과 폭력은 사람들의 안전과 생명을 위협하고 인간다운 삶을 파괴함.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환경 파괴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① 무분별한 개발과 과도한 소비로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지구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온난화 </a:t>
            </a:r>
            <a:r>
              <a:rPr sz="2400" b="0">
                <a:solidFill>
                  <a:srgbClr val="262626"/>
                </a:solidFill>
              </a:rPr>
              <a:t>가 빠르게 진행되면서 해수면 상승, 사막화 등 환경 문제가 발생하고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환경 문제는 현세대는 물론 </a:t>
            </a:r>
            <a:r>
              <a:rPr sz="1439" b="1">
                <a:solidFill>
                  <a:srgbClr val="2F6FD0"/>
                </a:solidFill>
              </a:rPr>
              <a:t>⑨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미래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⑩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세대 </a:t>
            </a:r>
            <a:r>
              <a:rPr sz="2400" b="0">
                <a:solidFill>
                  <a:srgbClr val="262626"/>
                </a:solidFill>
              </a:rPr>
              <a:t>의 생존까지 위협함.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해수면 상승으로 가라앉는 태평양 섬나라 투발루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전쟁과 폭력은 사람들의 안전과 생명을 위협하고 인간다운 삶을 파괴함.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환경 파괴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무분별한 개발과 과도한 소비로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지구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온난화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빠르게 진행되면서 해수면 상승, 사막화 등 환경 문제가 발생하고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환경 문제는 현세대는 물론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미래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세대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생존까지 위협함.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해수면 상승으로 가라앉는 태평양 섬나라 투발루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전쟁과 폭력은 사람들의 안전과 생명을 위협하고 인간다운 삶을 파괴함.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환경 파괴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무분별한 개발과 과도한 소비로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지구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온난화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빠르게 진행되면서 해수면 상승, 사막화 등 환경 문제가 발생하고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환경 문제는 현세대는 물론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미래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세대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생존까지 위협함.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해수면 상승으로 가라앉는 태평양 섬나라 투발루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전쟁과 폭력은 사람들의 안전과 생명을 위협하고 인간다운 삶을 파괴함.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환경 파괴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무분별한 개발과 과도한 소비로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지구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온난화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빠르게 진행되면서 해수면 상승, 사막화 등 환경 문제가 발생하고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환경 문제는 현세대는 물론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/>
                </a:solidFill>
              </a:rPr>
              <a:t> 미래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세대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생존까지 위협함.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해수면 상승으로 가라앉는 태평양 섬나라 투발루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전쟁과 폭력은 사람들의 안전과 생명을 위협하고 인간다운 삶을 파괴함.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환경 파괴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무분별한 개발과 과도한 소비로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지구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온난화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빠르게 진행되면서 해수면 상승, 사막화 등 환경 문제가 발생하고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환경 문제는 현세대는 물론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미래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/>
                </a:solidFill>
              </a:rPr>
              <a:t> 세대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생존까지 위협함.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해수면 상승으로 가라앉는 태평양 섬나라 투발루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전쟁과 폭력은 사람들의 안전과 생명을 위협하고 인간다운 삶을 파괴함.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환경 파괴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① 무분별한 개발과 과도한 소비로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지구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온난화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가 빠르게 진행되면서 해수면 상승, 사막화 등 환경 문제가 발생하고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환경 문제는 현세대는 물론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미래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세대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생존까지 위협함.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해수면 상승으로 가라앉는 태평양 섬나라 투발루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내 몸에 붙은 나라 찾기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622056" y="5061256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상호 의존성 </a:t>
            </a:r>
            <a:r>
              <a:rPr lang="ko-KR" altLang="en-US" sz="1600" dirty="0" smtClean="0"/>
              <a:t>서로에게 의지하며 존재하는 성질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👕 · 옷 상표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👟 · 신발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✏️ · 필통 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622056" y="5061256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상호 의존성 </a:t>
            </a:r>
            <a:r>
              <a:rPr lang="ko-KR" altLang="en-US" sz="1600" dirty="0" smtClean="0"/>
              <a:t>서로에게 의지하며 존재하는 성질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오늘날 우리는 한 국가의 국민인 동시에 지구 공동체의 일원으로서 살아가고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오늘날 세계 경제는 크게 성장하여 빈곤으로 생존을 위협받고 있는 사람은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지구촌은 에너지 고갈, 문화 다양성 훼손 등의 도덕 문제에 직면해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지구적 차원의 도덕 문제는 특정 지역이나 국가를 초월해서 전 세계에 영향을 미친다.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오늘날 우리는 한 국가의 국민인 동시에 지구 공동체의 일원으로서 살아가고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오늘날 세계 경제는 크게 성장하여 빈곤으로 생존을 위협받고 있는 사람은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지구촌은 에너지 고갈, 문화 다양성 훼손 등의 도덕 문제에 직면해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지구적 차원의 도덕 문제는 특정 지역이나 국가를 초월해서 전 세계에 영향을 미친다.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오늘날 우리는 한 국가의 국민인 동시에 지구 공동체의 일원으로서 살아가고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오늘날 세계 경제는 크게 성장하여 빈곤으로 생존을 위협받고 있는 사람은 없다.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지구촌은 에너지 고갈, 문화 다양성 훼손 등의 도덕 문제에 직면해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지구적 차원의 도덕 문제는 특정 지역이나 국가를 초월해서 전 세계에 영향을 미친다.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오늘날 우리는 한 국가의 국민인 동시에 지구 공동체의 일원으로서 살아가고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오늘날 세계 경제는 크게 성장하여 빈곤으로 생존을 위협받고 있는 사람은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지구촌은 에너지 고갈, 문화 다양성 훼손 등의 도덕 문제에 직면해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지구적 차원의 도덕 문제는 특정 지역이나 국가를 초월해서 전 세계에 영향을 미친다.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오늘날 우리는 한 국가의 국민인 동시에 지구 공동체의 일원으로서 살아가고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오늘날 세계 경제는 크게 성장하여 빈곤으로 생존을 위협받고 있는 사람은 없다.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지구촌은 에너지 고갈, 문화 다양성 훼손 등의 도덕 문제에 직면해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지구적 차원의 도덕 문제는 특정 지역이나 국가를 초월해서 전 세계에 영향을 미친다.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내 몸에 붙은 나라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622056" y="5061256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상호 의존성 </a:t>
            </a:r>
            <a:r>
              <a:rPr lang="ko-KR" altLang="en-US" sz="1600" dirty="0" smtClean="0"/>
              <a:t>서로에게 의지하며 존재하는 성질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옷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베트남산 티셔츠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신발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인도네시아산 운동화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그 밖의 물건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중국산 필통, 칠레산 포도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옷</a:t>
            </a:r>
            <a:r>
              <a:rPr sz="2300" b="1">
                <a:solidFill>
                  <a:srgbClr val="C0392B"/>
                </a:solidFill>
              </a:rPr>
              <a:t>   예) 베트남산 티셔츠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신발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인도네시아산 운동화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 밖의 물건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중국산 필통, 칠레산 포도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옷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베트남산 티셔츠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신발</a:t>
            </a:r>
            <a:r>
              <a:rPr sz="2300" b="1">
                <a:solidFill>
                  <a:srgbClr val="C0392B"/>
                </a:solidFill>
              </a:rPr>
              <a:t>   예) 인도네시아산 운동화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 밖의 물건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중국산 필통, 칠레산 포도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옷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베트남산 티셔츠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신발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인도네시아산 운동화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 밖의 물건</a:t>
            </a:r>
            <a:r>
              <a:rPr sz="2300" b="1">
                <a:solidFill>
                  <a:srgbClr val="C0392B"/>
                </a:solidFill>
              </a:rPr>
              <a:t>   예) 중국산 필통, 칠레산 포도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어떤 도덕 문제일까?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622056" y="5061256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상호 의존성 </a:t>
            </a:r>
            <a:r>
              <a:rPr lang="ko-KR" altLang="en-US" sz="1600" dirty="0" smtClean="0"/>
              <a:t>서로에게 의지하며 존재하는 성질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빈곤 · 전쟁과 폭력 · 환경 파괴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3년 가뭄으로 아이가 영양실조에 걸렸다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빈곤 (빈곤)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내전으로 어린이가 전투에 동원되었다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전쟁과 폭력 (전쟁)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해수면이 높아져 섬나라가 잠기고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환경 파괴 (지구 온난화)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삶의 터전을 잃은 난민이 늘어난다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전쟁과 폭력 (전쟁과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카카오 농장을 넓히느라 숲이 사라졌다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환경 파괴 (산림 파괴)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카카오 농민은 아무리 일해도 가난하다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빈곤 (불공정한 구조)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빈곤 · 전쟁과 폭력 · 환경 파괴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3년 가뭄으로 아이가 영양실조에 걸렸다</a:t>
            </a:r>
            <a:r>
              <a:rPr sz="2300" b="1">
                <a:solidFill>
                  <a:srgbClr val="C0392B"/>
                </a:solidFill>
              </a:rPr>
              <a:t>   → 빈곤 (빈곤)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내전으로 어린이가 전투에 동원되었다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전쟁과 폭력 (전쟁)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해수면이 높아져 섬나라가 잠기고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환경 파괴 (지구 온난화)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삶의 터전을 잃은 난민이 늘어난다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전쟁과 폭력 (전쟁과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카카오 농장을 넓히느라 숲이 사라졌다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환경 파괴 (산림 파괴)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카카오 농민은 아무리 일해도 가난하다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빈곤 (불공정한 구조)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빈곤 · 전쟁과 폭력 · 환경 파괴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3년 가뭄으로 아이가 영양실조에 걸렸다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빈곤 (빈곤)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내전으로 어린이가 전투에 동원되었다</a:t>
            </a:r>
            <a:r>
              <a:rPr sz="2300" b="1">
                <a:solidFill>
                  <a:srgbClr val="C0392B"/>
                </a:solidFill>
              </a:rPr>
              <a:t>   → 전쟁과 폭력 (전쟁)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해수면이 높아져 섬나라가 잠기고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환경 파괴 (지구 온난화)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삶의 터전을 잃은 난민이 늘어난다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전쟁과 폭력 (전쟁과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카카오 농장을 넓히느라 숲이 사라졌다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환경 파괴 (산림 파괴)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카카오 농민은 아무리 일해도 가난하다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빈곤 (불공정한 구조)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빈곤 · 전쟁과 폭력 · 환경 파괴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3년 가뭄으로 아이가 영양실조에 걸렸다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빈곤 (빈곤)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내전으로 어린이가 전투에 동원되었다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전쟁과 폭력 (전쟁)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해수면이 높아져 섬나라가 잠기고 있다</a:t>
            </a:r>
            <a:r>
              <a:rPr sz="2300" b="1">
                <a:solidFill>
                  <a:srgbClr val="C0392B"/>
                </a:solidFill>
              </a:rPr>
              <a:t>   → 환경 파괴 (지구 온난화)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삶의 터전을 잃은 난민이 늘어난다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전쟁과 폭력 (전쟁과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카카오 농장을 넓히느라 숲이 사라졌다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환경 파괴 (산림 파괴)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카카오 농민은 아무리 일해도 가난하다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빈곤 (불공정한 구조)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빈곤 · 전쟁과 폭력 · 환경 파괴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3년 가뭄으로 아이가 영양실조에 걸렸다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빈곤 (빈곤)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내전으로 어린이가 전투에 동원되었다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전쟁과 폭력 (전쟁)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해수면이 높아져 섬나라가 잠기고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환경 파괴 (지구 온난화)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삶의 터전을 잃은 난민이 늘어난다</a:t>
            </a:r>
            <a:r>
              <a:rPr sz="2300" b="1">
                <a:solidFill>
                  <a:srgbClr val="C0392B"/>
                </a:solidFill>
              </a:rPr>
              <a:t>   → 전쟁과 폭력 (전쟁과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카카오 농장을 넓히느라 숲이 사라졌다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환경 파괴 (산림 파괴)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카카오 농민은 아무리 일해도 가난하다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빈곤 (불공정한 구조)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빈곤 · 전쟁과 폭력 · 환경 파괴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3년 가뭄으로 아이가 영양실조에 걸렸다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빈곤 (빈곤)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내전으로 어린이가 전투에 동원되었다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전쟁과 폭력 (전쟁)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해수면이 높아져 섬나라가 잠기고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환경 파괴 (지구 온난화)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삶의 터전을 잃은 난민이 늘어난다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전쟁과 폭력 (전쟁과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카카오 농장을 넓히느라 숲이 사라졌다</a:t>
            </a:r>
            <a:r>
              <a:rPr sz="2300" b="1">
                <a:solidFill>
                  <a:srgbClr val="C0392B"/>
                </a:solidFill>
              </a:rPr>
              <a:t>   → 환경 파괴 (산림 파괴)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카카오 농민은 아무리 일해도 가난하다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빈곤 (불공정한 구조)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빈곤 · 전쟁과 폭력 · 환경 파괴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3년 가뭄으로 아이가 영양실조에 걸렸다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빈곤 (빈곤)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내전으로 어린이가 전투에 동원되었다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전쟁과 폭력 (전쟁)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해수면이 높아져 섬나라가 잠기고 있다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환경 파괴 (지구 온난화)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삶의 터전을 잃은 난민이 늘어난다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전쟁과 폭력 (전쟁과 폭력)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카카오 농장을 넓히느라 숲이 사라졌다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환경 파괴 (산림 파괴)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카카오 농민은 아무리 일해도 가난하다</a:t>
            </a:r>
            <a:r>
              <a:rPr sz="2300" b="1">
                <a:solidFill>
                  <a:srgbClr val="C0392B"/>
                </a:solidFill>
              </a:rPr>
              <a:t>   → 빈곤 (불공정한 구조)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xmlns="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관심을 기울여야 하는 까닭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01. </a:t>
            </a:r>
            <a:r>
              <a:rPr lang="ko-KR" altLang="en-US" b="1" dirty="0" err="1" smtClean="0">
                <a:latin typeface="+mj-ea"/>
                <a:ea typeface="+mj-ea"/>
              </a:rPr>
              <a:t>세계시민이</a:t>
            </a:r>
            <a:r>
              <a:rPr lang="ko-KR" altLang="en-US" b="1" dirty="0" smtClean="0">
                <a:latin typeface="+mj-ea"/>
                <a:ea typeface="+mj-ea"/>
              </a:rPr>
              <a:t> 직면한 도덕 문제에는 무엇이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13" name="그래픽 13">
            <a:extLst>
              <a:ext uri="{FF2B5EF4-FFF2-40B4-BE49-F238E27FC236}">
                <a16:creationId xmlns:a16="http://schemas.microsoft.com/office/drawing/2014/main" xmlns="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세계시민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Ⅲ.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사회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·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공동체와의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6DDEFC0A-ECEA-44C9-A48A-4E7115B80B96}"/>
              </a:ext>
            </a:extLst>
          </p:cNvPr>
          <p:cNvSpPr txBox="1"/>
          <p:nvPr/>
        </p:nvSpPr>
        <p:spPr>
          <a:xfrm>
            <a:off x="622056" y="5061256"/>
            <a:ext cx="95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 smtClean="0">
                <a:solidFill>
                  <a:schemeClr val="accent6"/>
                </a:solidFill>
              </a:rPr>
              <a:t>상호 의존성 </a:t>
            </a:r>
            <a:r>
              <a:rPr lang="ko-KR" altLang="en-US" sz="1600" dirty="0" smtClean="0"/>
              <a:t>서로에게 의지하며 존재하는 성질</a:t>
            </a:r>
            <a:endParaRPr lang="en-US" altLang="ko-KR" sz="2000" dirty="0">
              <a:latin typeface="Arial Rounded MT Bold" panose="020F07040305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세계시민으로서 이 문제들에 관심을 가져야 하는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국경을 넘어 모두에게 영향을 주고, 내 소비와 생활도 그 원인과 이어져 있기 때문이다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세계시민으로서 이 문제들에 관심을 가져야 하는 까닭</a:t>
            </a:r>
            <a:r>
              <a:rPr sz="2300" b="1">
                <a:solidFill>
                  <a:srgbClr val="C0392B"/>
                </a:solidFill>
              </a:rPr>
              <a:t>   예) 국경을 넘어 모두에게 영향을 주고, 내 소비와 생활도 그 원인과 이어져 있기 때문이다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8103</TotalTime>
  <Words>955</Words>
  <Application>Microsoft Office PowerPoint</Application>
  <PresentationFormat>와이드스크린</PresentationFormat>
  <Paragraphs>169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PC</cp:lastModifiedBy>
  <cp:revision>153</cp:revision>
  <cp:lastPrinted>2024-06-05T04:53:22Z</cp:lastPrinted>
  <dcterms:created xsi:type="dcterms:W3CDTF">2023-10-31T05:50:03Z</dcterms:created>
  <dcterms:modified xsi:type="dcterms:W3CDTF">2025-04-22T00:41:27Z</dcterms:modified>
</cp:coreProperties>
</file>