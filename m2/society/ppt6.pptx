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01" r:id="rId1"/>
  </p:sldMasterIdLst>
  <p:notesMasterIdLst>
    <p:notesMasterId r:id="rId27"/>
  </p:notesMasterIdLst>
  <p:handoutMasterIdLst>
    <p:handoutMasterId r:id="rId28"/>
  </p:handoutMasterIdLst>
  <p:sldIdLst>
    <p:sldId id="302" r:id="rId2"/>
    <p:sldId id="301" r:id="rId3"/>
    <p:sldId id="258" r:id="rId4"/>
    <p:sldId id="305" r:id="rId5"/>
    <p:sldId id="306" r:id="rId6"/>
    <p:sldId id="270" r:id="rId7"/>
    <p:sldId id="387" r:id="rId8"/>
    <p:sldId id="388" r:id="rId9"/>
    <p:sldId id="390" r:id="rId10"/>
    <p:sldId id="391" r:id="rId11"/>
    <p:sldId id="401" r:id="rId34"/>
    <p:sldId id="402" r:id="rId35"/>
    <p:sldId id="307" r:id="rId12"/>
    <p:sldId id="392" r:id="rId13"/>
    <p:sldId id="308" r:id="rId14"/>
    <p:sldId id="393" r:id="rId15"/>
    <p:sldId id="260" r:id="rId16"/>
    <p:sldId id="403" r:id="rId36"/>
    <p:sldId id="404" r:id="rId37"/>
    <p:sldId id="405" r:id="rId38"/>
    <p:sldId id="364" r:id="rId17"/>
    <p:sldId id="394" r:id="rId18"/>
    <p:sldId id="395" r:id="rId19"/>
    <p:sldId id="396" r:id="rId20"/>
    <p:sldId id="397" r:id="rId21"/>
    <p:sldId id="398" r:id="rId22"/>
    <p:sldId id="399" r:id="rId23"/>
    <p:sldId id="400" r:id="rId24"/>
    <p:sldId id="354" r:id="rId25"/>
    <p:sldId id="406" r:id="rId39"/>
    <p:sldId id="407" r:id="rId40"/>
    <p:sldId id="408" r:id="rId41"/>
    <p:sldId id="409" r:id="rId42"/>
    <p:sldId id="380" r:id="rId26"/>
  </p:sldIdLst>
  <p:sldSz cx="12192000" cy="6858000"/>
  <p:notesSz cx="6769100" cy="9906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er" initials="u" lastIdx="5" clrIdx="0">
    <p:extLst>
      <p:ext uri="{19B8F6BF-5375-455C-9EA6-DF929625EA0E}">
        <p15:presenceInfo xmlns:p15="http://schemas.microsoft.com/office/powerpoint/2012/main" userId="us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8E7F3"/>
    <a:srgbClr val="FDE3DF"/>
    <a:srgbClr val="DCEAF7"/>
    <a:srgbClr val="FDFAC3"/>
    <a:srgbClr val="FF9300"/>
    <a:srgbClr val="FFFF00"/>
    <a:srgbClr val="D9E1E9"/>
    <a:srgbClr val="E8F6FD"/>
    <a:srgbClr val="F0FFF6"/>
    <a:srgbClr val="019B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203" autoAdjust="0"/>
    <p:restoredTop sz="88966" autoAdjust="0"/>
  </p:normalViewPr>
  <p:slideViewPr>
    <p:cSldViewPr snapToGrid="0">
      <p:cViewPr varScale="1">
        <p:scale>
          <a:sx n="115" d="100"/>
          <a:sy n="115" d="100"/>
        </p:scale>
        <p:origin x="822" y="108"/>
      </p:cViewPr>
      <p:guideLst/>
    </p:cSldViewPr>
  </p:slideViewPr>
  <p:outlineViewPr>
    <p:cViewPr>
      <p:scale>
        <a:sx n="50" d="100"/>
        <a:sy n="50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1" d="100"/>
          <a:sy n="81" d="100"/>
        </p:scale>
        <p:origin x="4002" y="102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handoutMaster" Target="handoutMasters/handoutMaster1.xml"/><Relationship Id="rId29" Type="http://schemas.openxmlformats.org/officeDocument/2006/relationships/commentAuthors" Target="commentAuthors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Relationship Id="rId34" Type="http://schemas.openxmlformats.org/officeDocument/2006/relationships/slide" Target="slides/slide26.xml"/><Relationship Id="rId35" Type="http://schemas.openxmlformats.org/officeDocument/2006/relationships/slide" Target="slides/slide27.xml"/><Relationship Id="rId36" Type="http://schemas.openxmlformats.org/officeDocument/2006/relationships/slide" Target="slides/slide28.xml"/><Relationship Id="rId37" Type="http://schemas.openxmlformats.org/officeDocument/2006/relationships/slide" Target="slides/slide29.xml"/><Relationship Id="rId38" Type="http://schemas.openxmlformats.org/officeDocument/2006/relationships/slide" Target="slides/slide30.xml"/><Relationship Id="rId39" Type="http://schemas.openxmlformats.org/officeDocument/2006/relationships/slide" Target="slides/slide31.xml"/><Relationship Id="rId40" Type="http://schemas.openxmlformats.org/officeDocument/2006/relationships/slide" Target="slides/slide32.xml"/><Relationship Id="rId41" Type="http://schemas.openxmlformats.org/officeDocument/2006/relationships/slide" Target="slides/slide33.xml"/><Relationship Id="rId42" Type="http://schemas.openxmlformats.org/officeDocument/2006/relationships/slide" Target="slides/slide34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34014" cy="497359"/>
          </a:xfrm>
          <a:prstGeom prst="rect">
            <a:avLst/>
          </a:prstGeom>
        </p:spPr>
        <p:txBody>
          <a:bodyPr vert="horz" lIns="91157" tIns="45578" rIns="91157" bIns="45578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33505" y="1"/>
            <a:ext cx="2934014" cy="497359"/>
          </a:xfrm>
          <a:prstGeom prst="rect">
            <a:avLst/>
          </a:prstGeom>
        </p:spPr>
        <p:txBody>
          <a:bodyPr vert="horz" lIns="91157" tIns="45578" rIns="91157" bIns="45578" rtlCol="0"/>
          <a:lstStyle>
            <a:lvl1pPr algn="r">
              <a:defRPr sz="1200"/>
            </a:lvl1pPr>
          </a:lstStyle>
          <a:p>
            <a:fld id="{4031DAFB-1D56-441C-96DA-9355E83DC247}" type="datetimeFigureOut">
              <a:rPr lang="ko-KR" altLang="en-US" smtClean="0"/>
              <a:t>2025-04-22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08641"/>
            <a:ext cx="2934014" cy="497359"/>
          </a:xfrm>
          <a:prstGeom prst="rect">
            <a:avLst/>
          </a:prstGeom>
        </p:spPr>
        <p:txBody>
          <a:bodyPr vert="horz" lIns="91157" tIns="45578" rIns="91157" bIns="45578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33505" y="9408641"/>
            <a:ext cx="2934014" cy="497359"/>
          </a:xfrm>
          <a:prstGeom prst="rect">
            <a:avLst/>
          </a:prstGeom>
        </p:spPr>
        <p:txBody>
          <a:bodyPr vert="horz" lIns="91157" tIns="45578" rIns="91157" bIns="45578" rtlCol="0" anchor="b"/>
          <a:lstStyle>
            <a:lvl1pPr algn="r">
              <a:defRPr sz="1200"/>
            </a:lvl1pPr>
          </a:lstStyle>
          <a:p>
            <a:fld id="{67252717-B9B0-4DA0-94D8-A5D10BBAAF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945133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33277" cy="497020"/>
          </a:xfrm>
          <a:prstGeom prst="rect">
            <a:avLst/>
          </a:prstGeom>
        </p:spPr>
        <p:txBody>
          <a:bodyPr vert="horz" lIns="91157" tIns="45578" rIns="91157" bIns="45578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34257" y="0"/>
            <a:ext cx="2933277" cy="497020"/>
          </a:xfrm>
          <a:prstGeom prst="rect">
            <a:avLst/>
          </a:prstGeom>
        </p:spPr>
        <p:txBody>
          <a:bodyPr vert="horz" lIns="91157" tIns="45578" rIns="91157" bIns="45578" rtlCol="0"/>
          <a:lstStyle>
            <a:lvl1pPr algn="r">
              <a:defRPr sz="1200"/>
            </a:lvl1pPr>
          </a:lstStyle>
          <a:p>
            <a:fld id="{81693682-E3F2-4B9F-9BFF-73488D9CBB0F}" type="datetimeFigureOut">
              <a:rPr lang="ko-KR" altLang="en-US" smtClean="0"/>
              <a:t>2025-04-22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12750" y="1238250"/>
            <a:ext cx="5943600" cy="33432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157" tIns="45578" rIns="91157" bIns="45578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6910" y="4767263"/>
            <a:ext cx="5415280" cy="3900488"/>
          </a:xfrm>
          <a:prstGeom prst="rect">
            <a:avLst/>
          </a:prstGeom>
        </p:spPr>
        <p:txBody>
          <a:bodyPr vert="horz" lIns="91157" tIns="45578" rIns="91157" bIns="45578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08981"/>
            <a:ext cx="2933277" cy="497019"/>
          </a:xfrm>
          <a:prstGeom prst="rect">
            <a:avLst/>
          </a:prstGeom>
        </p:spPr>
        <p:txBody>
          <a:bodyPr vert="horz" lIns="91157" tIns="45578" rIns="91157" bIns="45578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34257" y="9408981"/>
            <a:ext cx="2933277" cy="497019"/>
          </a:xfrm>
          <a:prstGeom prst="rect">
            <a:avLst/>
          </a:prstGeom>
        </p:spPr>
        <p:txBody>
          <a:bodyPr vert="horz" lIns="91157" tIns="45578" rIns="91157" bIns="45578" rtlCol="0" anchor="b"/>
          <a:lstStyle>
            <a:lvl1pPr algn="r">
              <a:defRPr sz="1200"/>
            </a:lvl1pPr>
          </a:lstStyle>
          <a:p>
            <a:fld id="{19946026-7D4E-45C0-8CA9-CA07BC8C2A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50878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946026-7D4E-45C0-8CA9-CA07BC8C2A9E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25528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946026-7D4E-45C0-8CA9-CA07BC8C2A9E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42717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946026-7D4E-45C0-8CA9-CA07BC8C2A9E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18677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윤리적 소비 (177쪽 자료)</a:t>
            </a:r>
          </a:p>
          <a:p>
            <a:r>
              <a:t>환경·사회·인권 같은 도덕적 가치를 기준으로 사는 것: 친환경, 동물 복지, 기부 연계, 공정 무역 상품.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교과서 183쪽 문제를 토론으로</a:t>
            </a:r>
          </a:p>
          <a:p>
            <a:r>
              <a:t>둘 중 하나를 고르는 문제가 아님을 끌어낸다. 상호 의존성: 기후 변화, 감염병, 난민은 국경을 가리지 않는다.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➕ 178~179쪽 말판 놀이 맛보기</a:t>
            </a:r>
          </a:p>
          <a:p>
            <a:r>
              <a:t>날짜를 먼저 보여 주고 무슨 날인지 맞히게 한다. 국제 연합은 지구촌 문제를 알리려고 여러 기념일을 정했다.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학생들이 손으로 ○(머리 위 동그라미) / ✕(팔 엇갈리기)를 먼저 표시한 뒤 클릭해 정답을 보여 준다. ✕ 문장은 어디를 고치면 맞는지 묻는다.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세계시민의 자세와 노력을 구분하고, 말판 미션을 뽑아 수행해 보자.</a:t>
            </a:r>
          </a:p>
          <a:p>
            <a:r>
              <a:t>수업실 활동 화면(act.html)과 같은 활동입니다.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세계시민의 자세와 노력을 구분하고, 말판 미션을 뽑아 수행해 보자.</a:t>
            </a:r>
          </a:p>
          <a:p>
            <a:r>
              <a:t>수업실 활동 화면(act.html)과 같은 활동입니다.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세계시민의 자세와 노력을 구분하고, 말판 미션을 뽑아 수행해 보자.</a:t>
            </a:r>
          </a:p>
          <a:p>
            <a:r>
              <a:t>수업실 활동 화면(act.html)과 같은 활동입니다.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2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2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2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2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2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2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2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2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2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2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Relationship Id="rId3" Type="http://schemas.openxmlformats.org/officeDocument/2006/relationships/image" Target="../media/image2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Relationship Id="rId3" Type="http://schemas.openxmlformats.org/officeDocument/2006/relationships/image" Target="../media/image2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2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Relationship Id="rId3" Type="http://schemas.openxmlformats.org/officeDocument/2006/relationships/image" Target="../media/image2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2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2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2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2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2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2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22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22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22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22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22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22.pn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22.pn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22.pn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22.pn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22.pn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Relationship Id="rId3" Type="http://schemas.openxmlformats.org/officeDocument/2006/relationships/image" Target="../media/image22.pn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Relationship Id="rId3" Type="http://schemas.openxmlformats.org/officeDocument/2006/relationships/image" Target="../media/image22.pn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22.pn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Relationship Id="rId3" Type="http://schemas.openxmlformats.org/officeDocument/2006/relationships/image" Target="../media/image22.png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 descr="만화 영화, 텍스트, 일러스트레이션, 포유류이(가) 표시된 사진&#10;&#10;자동 생성된 설명">
            <a:extLst>
              <a:ext uri="{FF2B5EF4-FFF2-40B4-BE49-F238E27FC236}">
                <a16:creationId xmlns:a16="http://schemas.microsoft.com/office/drawing/2014/main" xmlns="" id="{4B6BE20C-39D1-CD7C-E6AE-85543EB964C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xmlns="" id="{4EDAF0A1-DD83-C282-7B69-306F2FA4B16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76645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만화 영화, 텍스트, 포유류, 일러스트레이션이(가) 표시된 사진&#10;&#10;자동 생성된 설명">
            <a:extLst>
              <a:ext uri="{FF2B5EF4-FFF2-40B4-BE49-F238E27FC236}">
                <a16:creationId xmlns:a16="http://schemas.microsoft.com/office/drawing/2014/main" xmlns="" id="{1D5D7313-2547-35A2-9A0C-E713FE3E35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xmlns="" id="{3E690F88-2FCC-757F-E2DA-8D2FA80F21D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18189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xmlns="" id="{79DDE397-4B9A-7897-391B-8E92072A32D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xmlns="" id="{5BFE4D07-CAE6-9F34-2516-D03E4E4C435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15799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xmlns="" id="{9D20E117-DECD-BF3E-BC98-6F809E44A2D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xmlns="" id="{D670C504-4605-8B32-EDB9-F844853CB75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89691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xmlns="" id="{659D6BB8-E0AE-AE23-C373-77D47EBD833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xmlns="" id="{DF0B5473-2474-9855-1573-0667AF55F6B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86325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xmlns="" id="{8740350C-D289-4CE1-8E48-DC571612E57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xmlns="" id="{1303ABB4-7B2F-BF45-33F2-C5BC9D1DA5D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27038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xmlns="" id="{7C97BFE2-A6A5-FD1B-5DFD-73870C4903B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xmlns="" id="{032B914E-FCBF-B5E8-A986-151AECB9C92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32534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스크린샷, 직사각형, 편지이(가) 표시된 사진&#10;&#10;자동 생성된 설명">
            <a:extLst>
              <a:ext uri="{FF2B5EF4-FFF2-40B4-BE49-F238E27FC236}">
                <a16:creationId xmlns:a16="http://schemas.microsoft.com/office/drawing/2014/main" xmlns="" id="{53D5CF97-6651-838A-72B8-007C02DADB5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xmlns="" id="{4AAC559D-9351-FFDC-5FD6-6905153F0A0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55815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xmlns="" id="{F4685491-DC39-99F5-D745-97CF8C22C89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xmlns="" id="{A22E88B3-C40D-D6C8-98E5-A3189E28050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22108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xmlns="" id="{85113FE1-C9FE-FBBC-67CD-6318A096D6D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xmlns="" id="{A09A6E09-1A97-707B-809A-4014FB600AB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00968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xmlns="" id="{3545844E-DF85-75D7-BD93-B244F6CCE31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xmlns="" id="{96F3A95A-8DF2-5BD2-C723-37F5B88913D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1792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xmlns="" id="{383D412D-11D3-7C78-81CE-45FBA6AF138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xmlns="" id="{9DAE5A3B-581F-5ABD-B276-44FF935D9CB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18499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그린, 직사각형, 텍스트이(가) 표시된 사진&#10;&#10;자동 생성된 설명">
            <a:extLst>
              <a:ext uri="{FF2B5EF4-FFF2-40B4-BE49-F238E27FC236}">
                <a16:creationId xmlns:a16="http://schemas.microsoft.com/office/drawing/2014/main" xmlns="" id="{4EA3FE09-D6BA-136A-4614-F32BD02E7CF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xmlns="" id="{FCF7EF85-DB54-CAFB-66DE-9A1E8C8D11A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06975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디자인, 일러스트레이션이(가) 표시된 사진&#10;&#10;자동 생성된 설명">
            <a:extLst>
              <a:ext uri="{FF2B5EF4-FFF2-40B4-BE49-F238E27FC236}">
                <a16:creationId xmlns:a16="http://schemas.microsoft.com/office/drawing/2014/main" xmlns="" id="{4C8F362E-E92D-8BCC-BE3A-84258DFF758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xmlns="" id="{5AEBDB76-96FD-D187-6815-00DF30C6FC9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84859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xmlns="" id="{7A207987-66DB-1CC6-1E04-1F3F5897362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xmlns="" id="{2355D5F3-8D5E-8C2C-C199-F5CF6FD2A07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22118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xmlns="" id="{1417BE16-BB63-7967-43D4-86741AF1E9F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xmlns="" id="{DA044351-A890-FDB9-7583-855AA966220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363483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xmlns="" id="{6AF4659C-0939-651C-D60E-92EB6EF3291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xmlns="" id="{860B628C-30B2-64DF-AE3D-6AC220FF494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471070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xmlns="" id="{4F055596-133C-DA30-8333-779395D2BB2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xmlns="" id="{F940701D-0BE2-313E-ECB1-2FAB4145B86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11007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xmlns="" id="{5EA4F655-79D0-CD56-82D5-E56187D3F27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xmlns="" id="{84A60459-9AFE-1727-9FA4-8443B465226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649728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xmlns="" id="{4C242F4D-242B-8EBD-16CC-7F491FD74E2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xmlns="" id="{051C989B-C2C9-705D-6E3D-ED2498B8DB6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701990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4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 descr="만화 영화, 텍스트, 일러스트레이션, 포유류이(가) 표시된 사진&#10;&#10;자동 생성된 설명">
            <a:extLst>
              <a:ext uri="{FF2B5EF4-FFF2-40B4-BE49-F238E27FC236}">
                <a16:creationId xmlns:a16="http://schemas.microsoft.com/office/drawing/2014/main" xmlns="" id="{4B6BE20C-39D1-CD7C-E6AE-85543EB964C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xmlns="" id="{CF26D681-0427-A46A-FB07-4635D86A39F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487411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5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만화 영화, 텍스트, 포유류, 일러스트레이션이(가) 표시된 사진&#10;&#10;자동 생성된 설명">
            <a:extLst>
              <a:ext uri="{FF2B5EF4-FFF2-40B4-BE49-F238E27FC236}">
                <a16:creationId xmlns:a16="http://schemas.microsoft.com/office/drawing/2014/main" xmlns="" id="{1D5D7313-2547-35A2-9A0C-E713FE3E35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xmlns="" id="{594BDA34-CB2D-A4C2-695C-5CF0D15043E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377085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xmlns="" id="{79DDE397-4B9A-7897-391B-8E92072A32D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xmlns="" id="{B0147B04-464C-C263-A341-A9E3D894008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553851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xmlns="" id="{9D20E117-DECD-BF3E-BC98-6F809E44A2D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xmlns="" id="{416A7924-5F72-A178-CE74-5BA94F1D36A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063318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xmlns="" id="{659D6BB8-E0AE-AE23-C373-77D47EBD833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xmlns="" id="{C7148CF2-87A1-852E-8851-487689A1D13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549815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xmlns="" id="{8740350C-D289-4CE1-8E48-DC571612E57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xmlns="" id="{A407CE18-8E61-BD22-A4B4-14BC057B1CB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984126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xmlns="" id="{7C97BFE2-A6A5-FD1B-5DFD-73870C4903B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xmlns="" id="{76690AC3-366D-8DED-8E19-B69A9C5BCB8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892133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6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스크린샷, 직사각형, 편지이(가) 표시된 사진&#10;&#10;자동 생성된 설명">
            <a:extLst>
              <a:ext uri="{FF2B5EF4-FFF2-40B4-BE49-F238E27FC236}">
                <a16:creationId xmlns:a16="http://schemas.microsoft.com/office/drawing/2014/main" xmlns="" id="{53D5CF97-6651-838A-72B8-007C02DADB5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xmlns="" id="{4A0B80FF-DFAD-059A-EFDB-5199DA791CF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80527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7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xmlns="" id="{F4685491-DC39-99F5-D745-97CF8C22C89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xmlns="" id="{9D24D40A-7A2F-4736-9669-037893A669E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552556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8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xmlns="" id="{85113FE1-C9FE-FBBC-67CD-6318A096D6D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xmlns="" id="{0F1719C5-84A3-9062-D9DC-011A2C13FF6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131183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9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xmlns="" id="{3545844E-DF85-75D7-BD93-B244F6CCE31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xmlns="" id="{FA43C997-8030-A24C-CB73-83FFDB6B2DF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281306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0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xmlns="" id="{383D412D-11D3-7C78-81CE-45FBA6AF138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xmlns="" id="{FC62A8BF-7776-ABF3-5D4F-63DA1360206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109033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그린, 직사각형, 텍스트이(가) 표시된 사진&#10;&#10;자동 생성된 설명">
            <a:extLst>
              <a:ext uri="{FF2B5EF4-FFF2-40B4-BE49-F238E27FC236}">
                <a16:creationId xmlns:a16="http://schemas.microsoft.com/office/drawing/2014/main" xmlns="" id="{4EA3FE09-D6BA-136A-4614-F32BD02E7CF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xmlns="" id="{9004CC13-82C5-BFF5-BEA3-0EF25E4770D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430833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디자인, 일러스트레이션이(가) 표시된 사진&#10;&#10;자동 생성된 설명">
            <a:extLst>
              <a:ext uri="{FF2B5EF4-FFF2-40B4-BE49-F238E27FC236}">
                <a16:creationId xmlns:a16="http://schemas.microsoft.com/office/drawing/2014/main" xmlns="" id="{4C8F362E-E92D-8BCC-BE3A-84258DFF758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xmlns="" id="{D74EF235-5FCA-E393-B8F0-A1061E50A23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407847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xmlns="" id="{7A207987-66DB-1CC6-1E04-1F3F5897362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xmlns="" id="{FEF8C82B-8BA1-D7E8-16F5-FB62D53795D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539259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xmlns="" id="{1417BE16-BB63-7967-43D4-86741AF1E9F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xmlns="" id="{7BA12DC2-8E79-5EC9-8E60-4590D3D6B63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404267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5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xmlns="" id="{6AF4659C-0939-651C-D60E-92EB6EF3291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xmlns="" id="{9ED340FE-29D6-73B5-718A-E0615034111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935853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6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xmlns="" id="{4F055596-133C-DA30-8333-779395D2BB2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xmlns="" id="{A02B221C-1CD0-46E3-C97D-C75B3317C07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7316925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7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xmlns="" id="{5EA4F655-79D0-CD56-82D5-E56187D3F27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xmlns="" id="{83C37260-237C-BAA9-FEC9-761C152F749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467949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8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xmlns="" id="{4C242F4D-242B-8EBD-16CC-7F491FD74E2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xmlns="" id="{7FB96BD6-518D-021D-8011-D8023B8A3C4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0649121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xmlns="" id="{818DC526-1BA8-4DD2-8992-988C88BE151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402510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723927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02" r:id="rId1"/>
    <p:sldLayoutId id="2147484094" r:id="rId2"/>
    <p:sldLayoutId id="2147484073" r:id="rId3"/>
    <p:sldLayoutId id="2147484074" r:id="rId4"/>
    <p:sldLayoutId id="2147484075" r:id="rId5"/>
    <p:sldLayoutId id="2147484076" r:id="rId6"/>
    <p:sldLayoutId id="2147484089" r:id="rId7"/>
    <p:sldLayoutId id="2147484091" r:id="rId8"/>
    <p:sldLayoutId id="2147484078" r:id="rId9"/>
    <p:sldLayoutId id="2147484079" r:id="rId10"/>
    <p:sldLayoutId id="2147484092" r:id="rId11"/>
    <p:sldLayoutId id="2147484093" r:id="rId12"/>
    <p:sldLayoutId id="2147484086" r:id="rId13"/>
    <p:sldLayoutId id="2147484081" r:id="rId14"/>
    <p:sldLayoutId id="2147484087" r:id="rId15"/>
    <p:sldLayoutId id="2147484082" r:id="rId16"/>
    <p:sldLayoutId id="2147484088" r:id="rId17"/>
    <p:sldLayoutId id="2147484084" r:id="rId18"/>
    <p:sldLayoutId id="2147484090" r:id="rId19"/>
    <p:sldLayoutId id="2147484085" r:id="rId20"/>
    <p:sldLayoutId id="2147484095" r:id="rId21"/>
    <p:sldLayoutId id="2147484096" r:id="rId22"/>
    <p:sldLayoutId id="2147484097" r:id="rId23"/>
    <p:sldLayoutId id="2147484098" r:id="rId24"/>
    <p:sldLayoutId id="2147484099" r:id="rId25"/>
    <p:sldLayoutId id="2147484100" r:id="rId26"/>
    <p:sldLayoutId id="2147484101" r:id="rId27"/>
    <p:sldLayoutId id="2147484102" r:id="rId28"/>
    <p:sldLayoutId id="2147484103" r:id="rId29"/>
    <p:sldLayoutId id="2147484104" r:id="rId30"/>
    <p:sldLayoutId id="2147484105" r:id="rId31"/>
    <p:sldLayoutId id="2147484106" r:id="rId32"/>
    <p:sldLayoutId id="2147484107" r:id="rId33"/>
    <p:sldLayoutId id="2147484108" r:id="rId34"/>
    <p:sldLayoutId id="2147484109" r:id="rId35"/>
    <p:sldLayoutId id="2147484110" r:id="rId36"/>
    <p:sldLayoutId id="2147484111" r:id="rId37"/>
    <p:sldLayoutId id="2147484112" r:id="rId38"/>
    <p:sldLayoutId id="2147484113" r:id="rId39"/>
    <p:sldLayoutId id="2147484114" r:id="rId40"/>
    <p:sldLayoutId id="2147484050" r:id="rId4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image" Target="../media/image2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image" Target="../media/image24.png"/><Relationship Id="rId4" Type="http://schemas.openxmlformats.org/officeDocument/2006/relationships/image" Target="../media/image2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image" Target="../media/image30.png"/><Relationship Id="rId6" Type="http://schemas.openxmlformats.org/officeDocument/2006/relationships/image" Target="../media/image2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image" Target="../media/image24.png"/><Relationship Id="rId4" Type="http://schemas.openxmlformats.org/officeDocument/2006/relationships/image" Target="../media/image31.png"/><Relationship Id="rId5" Type="http://schemas.openxmlformats.org/officeDocument/2006/relationships/image" Target="../media/image3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image" Target="../media/image29.png"/><Relationship Id="rId3" Type="http://schemas.openxmlformats.org/officeDocument/2006/relationships/image" Target="../media/image30.png"/><Relationship Id="rId4" Type="http://schemas.openxmlformats.org/officeDocument/2006/relationships/image" Target="../media/image2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24.png"/><Relationship Id="rId4" Type="http://schemas.openxmlformats.org/officeDocument/2006/relationships/image" Target="../media/image3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24.png"/><Relationship Id="rId4" Type="http://schemas.openxmlformats.org/officeDocument/2006/relationships/image" Target="../media/image3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4.png"/><Relationship Id="rId3" Type="http://schemas.openxmlformats.org/officeDocument/2006/relationships/image" Target="../media/image2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4.png"/><Relationship Id="rId3" Type="http://schemas.openxmlformats.org/officeDocument/2006/relationships/image" Target="../media/image2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image" Target="../media/image35.png"/><Relationship Id="rId3" Type="http://schemas.openxmlformats.org/officeDocument/2006/relationships/image" Target="../media/image24.png"/><Relationship Id="rId6" Type="http://schemas.openxmlformats.org/officeDocument/2006/relationships/image" Target="../media/image3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image" Target="../media/image36.png"/><Relationship Id="rId3" Type="http://schemas.openxmlformats.org/officeDocument/2006/relationships/image" Target="../media/image35.png"/><Relationship Id="rId4" Type="http://schemas.openxmlformats.org/officeDocument/2006/relationships/image" Target="../media/image24.png"/><Relationship Id="rId6" Type="http://schemas.openxmlformats.org/officeDocument/2006/relationships/image" Target="../media/image37.png"/><Relationship Id="rId7" Type="http://schemas.openxmlformats.org/officeDocument/2006/relationships/image" Target="../media/image3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image" Target="../media/image39.png"/><Relationship Id="rId3" Type="http://schemas.openxmlformats.org/officeDocument/2006/relationships/image" Target="../media/image40.png"/><Relationship Id="rId4" Type="http://schemas.openxmlformats.org/officeDocument/2006/relationships/image" Target="../media/image29.png"/><Relationship Id="rId5" Type="http://schemas.openxmlformats.org/officeDocument/2006/relationships/image" Target="../media/image30.png"/><Relationship Id="rId6" Type="http://schemas.openxmlformats.org/officeDocument/2006/relationships/image" Target="../media/image2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24.png"/><Relationship Id="rId4" Type="http://schemas.openxmlformats.org/officeDocument/2006/relationships/image" Target="../media/image4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4.png"/><Relationship Id="rId3" Type="http://schemas.openxmlformats.org/officeDocument/2006/relationships/image" Target="../media/image2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4.png"/><Relationship Id="rId3" Type="http://schemas.openxmlformats.org/officeDocument/2006/relationships/image" Target="../media/image24.png"/><Relationship Id="rId5" Type="http://schemas.openxmlformats.org/officeDocument/2006/relationships/image" Target="../media/image4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24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Relationship Id="rId7" Type="http://schemas.openxmlformats.org/officeDocument/2006/relationships/image" Target="../media/image43.png"/><Relationship Id="rId8" Type="http://schemas.openxmlformats.org/officeDocument/2006/relationships/slide" Target="slide18.xml"/><Relationship Id="rId9" Type="http://schemas.openxmlformats.org/officeDocument/2006/relationships/image" Target="../media/image44.jpeg"/><Relationship Id="rId10" Type="http://schemas.openxmlformats.org/officeDocument/2006/relationships/image" Target="../media/image45.jpeg"/><Relationship Id="rId11" Type="http://schemas.openxmlformats.org/officeDocument/2006/relationships/image" Target="../media/image4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24.png"/><Relationship Id="rId5" Type="http://schemas.openxmlformats.org/officeDocument/2006/relationships/image" Target="../media/image30.png"/><Relationship Id="rId6" Type="http://schemas.openxmlformats.org/officeDocument/2006/relationships/image" Target="../media/image3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47.jpeg"/><Relationship Id="rId3" Type="http://schemas.openxmlformats.org/officeDocument/2006/relationships/image" Target="../media/image48.jpeg"/><Relationship Id="rId4" Type="http://schemas.openxmlformats.org/officeDocument/2006/relationships/image" Target="../media/image24.png"/><Relationship Id="rId6" Type="http://schemas.openxmlformats.org/officeDocument/2006/relationships/image" Target="../media/image29.png"/><Relationship Id="rId7" Type="http://schemas.openxmlformats.org/officeDocument/2006/relationships/image" Target="../media/image30.png"/><Relationship Id="rId8" Type="http://schemas.openxmlformats.org/officeDocument/2006/relationships/image" Target="../media/image43.png"/><Relationship Id="rId9" Type="http://schemas.openxmlformats.org/officeDocument/2006/relationships/slide" Target="slide18.xml"/><Relationship Id="rId10" Type="http://schemas.openxmlformats.org/officeDocument/2006/relationships/image" Target="../media/image49.png"/><Relationship Id="rId11" Type="http://schemas.microsoft.com/office/2007/relationships/hdphoto" Target="../media/hdphoto1.wdp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24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Relationship Id="rId7" Type="http://schemas.openxmlformats.org/officeDocument/2006/relationships/image" Target="../media/image43.png"/><Relationship Id="rId8" Type="http://schemas.openxmlformats.org/officeDocument/2006/relationships/slide" Target="slide18.xml"/><Relationship Id="rId9" Type="http://schemas.openxmlformats.org/officeDocument/2006/relationships/image" Target="../media/image50.jpeg"/><Relationship Id="rId10" Type="http://schemas.openxmlformats.org/officeDocument/2006/relationships/image" Target="../media/image51.png"/><Relationship Id="rId11" Type="http://schemas.openxmlformats.org/officeDocument/2006/relationships/image" Target="../media/image52.jpeg"/><Relationship Id="rId12" Type="http://schemas.openxmlformats.org/officeDocument/2006/relationships/image" Target="../media/image53.emf"/><Relationship Id="rId13" Type="http://schemas.openxmlformats.org/officeDocument/2006/relationships/image" Target="../media/image54.png"/><Relationship Id="rId14" Type="http://schemas.microsoft.com/office/2007/relationships/hdphoto" Target="../media/hdphoto2.wdp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55.jpeg"/><Relationship Id="rId3" Type="http://schemas.openxmlformats.org/officeDocument/2006/relationships/image" Target="../media/image24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Relationship Id="rId7" Type="http://schemas.openxmlformats.org/officeDocument/2006/relationships/image" Target="../media/image43.png"/><Relationship Id="rId8" Type="http://schemas.openxmlformats.org/officeDocument/2006/relationships/slide" Target="slide18.xml"/><Relationship Id="rId9" Type="http://schemas.openxmlformats.org/officeDocument/2006/relationships/image" Target="../media/image56.png"/><Relationship Id="rId10" Type="http://schemas.microsoft.com/office/2007/relationships/hdphoto" Target="../media/hdphoto3.wdp"/><Relationship Id="rId11" Type="http://schemas.openxmlformats.org/officeDocument/2006/relationships/image" Target="../media/image57.png"/><Relationship Id="rId12" Type="http://schemas.openxmlformats.org/officeDocument/2006/relationships/image" Target="../media/image58.emf"/><Relationship Id="rId13" Type="http://schemas.openxmlformats.org/officeDocument/2006/relationships/image" Target="../media/image59.png"/><Relationship Id="rId14" Type="http://schemas.microsoft.com/office/2007/relationships/hdphoto" Target="../media/hdphoto4.wdp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0.png"/><Relationship Id="rId4" Type="http://schemas.openxmlformats.org/officeDocument/2006/relationships/image" Target="../media/image24.png"/><Relationship Id="rId6" Type="http://schemas.openxmlformats.org/officeDocument/2006/relationships/image" Target="../media/image29.png"/><Relationship Id="rId7" Type="http://schemas.openxmlformats.org/officeDocument/2006/relationships/image" Target="../media/image30.png"/><Relationship Id="rId8" Type="http://schemas.openxmlformats.org/officeDocument/2006/relationships/image" Target="../media/image43.png"/><Relationship Id="rId9" Type="http://schemas.openxmlformats.org/officeDocument/2006/relationships/slide" Target="slide18.xml"/><Relationship Id="rId10" Type="http://schemas.openxmlformats.org/officeDocument/2006/relationships/image" Target="../media/image61.png"/><Relationship Id="rId11" Type="http://schemas.microsoft.com/office/2007/relationships/hdphoto" Target="../media/hdphoto5.wdp"/><Relationship Id="rId12" Type="http://schemas.openxmlformats.org/officeDocument/2006/relationships/image" Target="../media/image62.png"/><Relationship Id="rId13" Type="http://schemas.openxmlformats.org/officeDocument/2006/relationships/image" Target="../media/image63.png"/><Relationship Id="rId14" Type="http://schemas.microsoft.com/office/2007/relationships/hdphoto" Target="../media/hdphoto6.wdp"/><Relationship Id="rId15" Type="http://schemas.openxmlformats.org/officeDocument/2006/relationships/image" Target="../media/image64.png"/><Relationship Id="rId16" Type="http://schemas.microsoft.com/office/2007/relationships/hdphoto" Target="../media/hdphoto7.wdp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5.jpeg"/><Relationship Id="rId4" Type="http://schemas.openxmlformats.org/officeDocument/2006/relationships/image" Target="../media/image66.jpeg"/><Relationship Id="rId5" Type="http://schemas.openxmlformats.org/officeDocument/2006/relationships/image" Target="../media/image24.png"/><Relationship Id="rId7" Type="http://schemas.openxmlformats.org/officeDocument/2006/relationships/image" Target="../media/image29.png"/><Relationship Id="rId8" Type="http://schemas.openxmlformats.org/officeDocument/2006/relationships/image" Target="../media/image30.png"/><Relationship Id="rId9" Type="http://schemas.openxmlformats.org/officeDocument/2006/relationships/image" Target="../media/image43.png"/><Relationship Id="rId10" Type="http://schemas.openxmlformats.org/officeDocument/2006/relationships/slide" Target="slide18.xml"/><Relationship Id="rId11" Type="http://schemas.openxmlformats.org/officeDocument/2006/relationships/image" Target="../media/image67.png"/><Relationship Id="rId12" Type="http://schemas.openxmlformats.org/officeDocument/2006/relationships/image" Target="../media/image68.png"/><Relationship Id="rId13" Type="http://schemas.microsoft.com/office/2007/relationships/hdphoto" Target="../media/hdphoto8.wdp"/><Relationship Id="rId14" Type="http://schemas.openxmlformats.org/officeDocument/2006/relationships/image" Target="../media/image69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image" Target="../media/image29.png"/><Relationship Id="rId3" Type="http://schemas.openxmlformats.org/officeDocument/2006/relationships/image" Target="../media/image30.png"/><Relationship Id="rId4" Type="http://schemas.openxmlformats.org/officeDocument/2006/relationships/image" Target="../media/image2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image" Target="../media/image70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4.png"/><Relationship Id="rId3" Type="http://schemas.openxmlformats.org/officeDocument/2006/relationships/image" Target="../media/image24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4.png"/><Relationship Id="rId3" Type="http://schemas.openxmlformats.org/officeDocument/2006/relationships/image" Target="../media/image24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4.png"/><Relationship Id="rId3" Type="http://schemas.openxmlformats.org/officeDocument/2006/relationships/image" Target="../media/image24.png"/><Relationship Id="rId4" Type="http://schemas.openxmlformats.org/officeDocument/2006/relationships/notesSlide" Target="../notesSlides/notesSlide4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4.png"/><Relationship Id="rId3" Type="http://schemas.openxmlformats.org/officeDocument/2006/relationships/image" Target="../media/image24.png"/><Relationship Id="rId4" Type="http://schemas.openxmlformats.org/officeDocument/2006/relationships/notesSlide" Target="../notesSlides/notesSlide5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4.png"/><Relationship Id="rId3" Type="http://schemas.openxmlformats.org/officeDocument/2006/relationships/image" Target="../media/image24.png"/><Relationship Id="rId4" Type="http://schemas.openxmlformats.org/officeDocument/2006/relationships/notesSlide" Target="../notesSlides/notesSlide6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4.png"/><Relationship Id="rId3" Type="http://schemas.openxmlformats.org/officeDocument/2006/relationships/image" Target="../media/image24.png"/><Relationship Id="rId4" Type="http://schemas.openxmlformats.org/officeDocument/2006/relationships/notesSlide" Target="../notesSlides/notesSlide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4.png"/><Relationship Id="rId3" Type="http://schemas.openxmlformats.org/officeDocument/2006/relationships/image" Target="../media/image24.png"/><Relationship Id="rId4" Type="http://schemas.openxmlformats.org/officeDocument/2006/relationships/notesSlide" Target="../notesSlides/notesSlide8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4.png"/><Relationship Id="rId3" Type="http://schemas.openxmlformats.org/officeDocument/2006/relationships/image" Target="../media/image24.png"/><Relationship Id="rId4" Type="http://schemas.openxmlformats.org/officeDocument/2006/relationships/notesSlide" Target="../notesSlides/notesSlide9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4.png"/><Relationship Id="rId3" Type="http://schemas.openxmlformats.org/officeDocument/2006/relationships/image" Target="../media/image24.png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래픽 13">
            <a:extLst>
              <a:ext uri="{FF2B5EF4-FFF2-40B4-BE49-F238E27FC236}">
                <a16:creationId xmlns:a16="http://schemas.microsoft.com/office/drawing/2014/main" xmlns="" id="{35DACDE9-C2C6-6DAB-E125-F5168FF9B96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xmlns="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세계시민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xmlns="" id="{72269B94-2C83-35BC-C956-FDFEF072477E}"/>
              </a:ext>
            </a:extLst>
          </p:cNvPr>
          <p:cNvSpPr txBox="1"/>
          <p:nvPr/>
        </p:nvSpPr>
        <p:spPr>
          <a:xfrm>
            <a:off x="382725" y="703659"/>
            <a:ext cx="28015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800" b="1" dirty="0" smtClean="0">
                <a:solidFill>
                  <a:schemeClr val="bg1"/>
                </a:solidFill>
                <a:latin typeface="+mj-ea"/>
                <a:ea typeface="+mj-ea"/>
              </a:rPr>
              <a:t>3 </a:t>
            </a:r>
            <a:r>
              <a:rPr lang="ko-KR" altLang="en-US" sz="2800" b="1" dirty="0" smtClean="0">
                <a:solidFill>
                  <a:schemeClr val="bg1"/>
                </a:solidFill>
                <a:latin typeface="+mj-ea"/>
                <a:ea typeface="+mj-ea"/>
              </a:rPr>
              <a:t>세계시민</a:t>
            </a:r>
            <a:endParaRPr lang="ko-KR" altLang="en-US" sz="28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xmlns="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173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·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44324" y="2059691"/>
            <a:ext cx="1492716" cy="144655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8800" b="1" dirty="0" smtClean="0">
                <a:ln w="22225">
                  <a:noFill/>
                  <a:prstDash val="solid"/>
                </a:ln>
                <a:solidFill>
                  <a:srgbClr val="EC4C79"/>
                </a:solidFill>
                <a:latin typeface="+mj-ea"/>
                <a:ea typeface="+mj-ea"/>
              </a:rPr>
              <a:t>02</a:t>
            </a:r>
            <a:endParaRPr lang="ko-KR" altLang="en-US" sz="8800" b="1" dirty="0">
              <a:ln w="22225">
                <a:noFill/>
                <a:prstDash val="solid"/>
              </a:ln>
              <a:solidFill>
                <a:srgbClr val="EC4C79"/>
              </a:solidFill>
              <a:latin typeface="+mj-ea"/>
              <a:ea typeface="+mj-ea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437040" y="2268741"/>
            <a:ext cx="6933663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400" b="1" dirty="0" smtClean="0">
                <a:ln w="22225">
                  <a:noFill/>
                  <a:prstDash val="solid"/>
                </a:ln>
                <a:latin typeface="+mj-ea"/>
                <a:ea typeface="+mj-ea"/>
              </a:rPr>
              <a:t>지구적 차원의 도덕 문제를 어떻게 해결할 수 있을까</a:t>
            </a:r>
            <a:r>
              <a:rPr lang="en-US" altLang="ko-KR" sz="5400" b="1" dirty="0" smtClean="0">
                <a:ln w="22225">
                  <a:noFill/>
                  <a:prstDash val="solid"/>
                </a:ln>
                <a:latin typeface="+mj-ea"/>
                <a:ea typeface="+mj-ea"/>
              </a:rPr>
              <a:t>?</a:t>
            </a:r>
            <a:endParaRPr lang="en-US" altLang="ko-KR" sz="5400" b="1" dirty="0">
              <a:ln w="22225">
                <a:noFill/>
                <a:prstDash val="solid"/>
              </a:ln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2609754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xmlns="" id="{466BC039-4F7A-8EFF-34FB-19EC1D406140}"/>
              </a:ext>
            </a:extLst>
          </p:cNvPr>
          <p:cNvSpPr txBox="1"/>
          <p:nvPr/>
        </p:nvSpPr>
        <p:spPr>
          <a:xfrm>
            <a:off x="1033314" y="671335"/>
            <a:ext cx="1524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학습 목표</a:t>
            </a: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xmlns="" id="{323387F2-F0F2-2F6D-DB56-EE32593EA49E}"/>
              </a:ext>
            </a:extLst>
          </p:cNvPr>
          <p:cNvGrpSpPr/>
          <p:nvPr/>
        </p:nvGrpSpPr>
        <p:grpSpPr>
          <a:xfrm>
            <a:off x="787400" y="1765300"/>
            <a:ext cx="10293350" cy="787400"/>
            <a:chOff x="914400" y="2362200"/>
            <a:chExt cx="10293350" cy="787400"/>
          </a:xfrm>
        </p:grpSpPr>
        <p:sp>
          <p:nvSpPr>
            <p:cNvPr id="16" name="사각형: 둥근 모서리 15">
              <a:extLst>
                <a:ext uri="{FF2B5EF4-FFF2-40B4-BE49-F238E27FC236}">
                  <a16:creationId xmlns:a16="http://schemas.microsoft.com/office/drawing/2014/main" xmlns="" id="{429C8124-E36A-14C4-0A75-6EEA8AF670C6}"/>
                </a:ext>
              </a:extLst>
            </p:cNvPr>
            <p:cNvSpPr/>
            <p:nvPr/>
          </p:nvSpPr>
          <p:spPr>
            <a:xfrm>
              <a:off x="914400" y="2362200"/>
              <a:ext cx="10293350" cy="787400"/>
            </a:xfrm>
            <a:prstGeom prst="roundRect">
              <a:avLst/>
            </a:prstGeom>
            <a:solidFill>
              <a:srgbClr val="F3F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타원 18">
              <a:extLst>
                <a:ext uri="{FF2B5EF4-FFF2-40B4-BE49-F238E27FC236}">
                  <a16:creationId xmlns:a16="http://schemas.microsoft.com/office/drawing/2014/main" xmlns="" id="{5C28D4DD-371F-4568-9198-B5D58BBCD7F3}"/>
                </a:ext>
              </a:extLst>
            </p:cNvPr>
            <p:cNvSpPr/>
            <p:nvPr/>
          </p:nvSpPr>
          <p:spPr>
            <a:xfrm>
              <a:off x="1123950" y="2702452"/>
              <a:ext cx="106897" cy="106897"/>
            </a:xfrm>
            <a:prstGeom prst="ellipse">
              <a:avLst/>
            </a:prstGeom>
            <a:solidFill>
              <a:srgbClr val="8D7FE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xmlns="" id="{27938193-A932-45B4-4A78-75A57E0BE7EA}"/>
              </a:ext>
            </a:extLst>
          </p:cNvPr>
          <p:cNvSpPr txBox="1"/>
          <p:nvPr/>
        </p:nvSpPr>
        <p:spPr>
          <a:xfrm>
            <a:off x="1204394" y="1786422"/>
            <a:ext cx="9228663" cy="6553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800" b="1" dirty="0" err="1" smtClean="0">
                <a:solidFill>
                  <a:prstClr val="black"/>
                </a:solidFill>
                <a:latin typeface="+mn-ea"/>
              </a:rPr>
              <a:t>세계시민이</a:t>
            </a:r>
            <a:r>
              <a:rPr lang="ko-KR" altLang="en-US" sz="2800" b="1" dirty="0" smtClean="0">
                <a:solidFill>
                  <a:prstClr val="black"/>
                </a:solidFill>
                <a:latin typeface="+mn-ea"/>
              </a:rPr>
              <a:t> 갖추어야 할 도덕적 자세를 지닌다</a:t>
            </a:r>
            <a:r>
              <a:rPr lang="en-US" altLang="ko-KR" sz="2800" b="1" dirty="0" smtClean="0">
                <a:solidFill>
                  <a:prstClr val="black"/>
                </a:solidFill>
                <a:latin typeface="+mn-ea"/>
              </a:rPr>
              <a:t>.</a:t>
            </a:r>
            <a:endParaRPr lang="en-US" altLang="ko-KR" sz="2800" b="1" dirty="0">
              <a:solidFill>
                <a:prstClr val="black"/>
              </a:solidFill>
              <a:latin typeface="+mn-ea"/>
            </a:endParaRPr>
          </a:p>
        </p:txBody>
      </p:sp>
      <p:grpSp>
        <p:nvGrpSpPr>
          <p:cNvPr id="22" name="그룹 21">
            <a:extLst>
              <a:ext uri="{FF2B5EF4-FFF2-40B4-BE49-F238E27FC236}">
                <a16:creationId xmlns:a16="http://schemas.microsoft.com/office/drawing/2014/main" xmlns="" id="{B57B4A80-0309-7BD0-AAF8-FF35B30F644B}"/>
              </a:ext>
            </a:extLst>
          </p:cNvPr>
          <p:cNvGrpSpPr/>
          <p:nvPr/>
        </p:nvGrpSpPr>
        <p:grpSpPr>
          <a:xfrm>
            <a:off x="787400" y="2933699"/>
            <a:ext cx="10293350" cy="1573773"/>
            <a:chOff x="914400" y="2362199"/>
            <a:chExt cx="10293350" cy="1573773"/>
          </a:xfrm>
        </p:grpSpPr>
        <p:sp>
          <p:nvSpPr>
            <p:cNvPr id="23" name="사각형: 둥근 모서리 22">
              <a:extLst>
                <a:ext uri="{FF2B5EF4-FFF2-40B4-BE49-F238E27FC236}">
                  <a16:creationId xmlns:a16="http://schemas.microsoft.com/office/drawing/2014/main" xmlns="" id="{D6561203-5AD4-D0C1-BA20-A7201ACE3939}"/>
                </a:ext>
              </a:extLst>
            </p:cNvPr>
            <p:cNvSpPr/>
            <p:nvPr/>
          </p:nvSpPr>
          <p:spPr>
            <a:xfrm>
              <a:off x="914400" y="2362199"/>
              <a:ext cx="10293350" cy="1573773"/>
            </a:xfrm>
            <a:prstGeom prst="roundRect">
              <a:avLst/>
            </a:prstGeom>
            <a:solidFill>
              <a:srgbClr val="F3F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spcCol="288000" rtlCol="0" anchor="ctr"/>
            <a:lstStyle/>
            <a:p>
              <a:pPr algn="ctr"/>
              <a:endParaRPr lang="ko-KR" altLang="en-US" dirty="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endParaRPr>
            </a:p>
          </p:txBody>
        </p:sp>
        <p:sp>
          <p:nvSpPr>
            <p:cNvPr id="24" name="타원 23">
              <a:extLst>
                <a:ext uri="{FF2B5EF4-FFF2-40B4-BE49-F238E27FC236}">
                  <a16:creationId xmlns:a16="http://schemas.microsoft.com/office/drawing/2014/main" xmlns="" id="{AAF1AF8C-61C0-A6D4-27A4-8B03BBAB0C4A}"/>
                </a:ext>
              </a:extLst>
            </p:cNvPr>
            <p:cNvSpPr/>
            <p:nvPr/>
          </p:nvSpPr>
          <p:spPr>
            <a:xfrm>
              <a:off x="1123950" y="2702452"/>
              <a:ext cx="106897" cy="106897"/>
            </a:xfrm>
            <a:prstGeom prst="ellipse">
              <a:avLst/>
            </a:prstGeom>
            <a:solidFill>
              <a:srgbClr val="8D7FE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spcCol="288000" rtlCol="0" anchor="ctr"/>
            <a:lstStyle/>
            <a:p>
              <a:pPr algn="ctr"/>
              <a:endParaRPr lang="ko-KR" altLang="en-US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endParaRP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6DDEFC0A-ECEA-44C9-A48A-4E7115B80B96}"/>
              </a:ext>
            </a:extLst>
          </p:cNvPr>
          <p:cNvSpPr txBox="1"/>
          <p:nvPr/>
        </p:nvSpPr>
        <p:spPr>
          <a:xfrm>
            <a:off x="1204394" y="2975356"/>
            <a:ext cx="9629759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800" b="1" dirty="0" smtClean="0">
                <a:solidFill>
                  <a:prstClr val="black"/>
                </a:solidFill>
                <a:latin typeface="+mn-ea"/>
              </a:rPr>
              <a:t>지구적 차원의 도덕 문제를 해결하기 위한 노력을 설명할 수 있다</a:t>
            </a:r>
            <a:r>
              <a:rPr lang="en-US" altLang="ko-KR" sz="2800" b="1" dirty="0" smtClean="0">
                <a:solidFill>
                  <a:prstClr val="black"/>
                </a:solidFill>
                <a:latin typeface="+mn-ea"/>
              </a:rPr>
              <a:t>.</a:t>
            </a:r>
            <a:endParaRPr lang="en-US" altLang="ko-KR" sz="2800" b="1" dirty="0">
              <a:solidFill>
                <a:prstClr val="black"/>
              </a:solidFill>
              <a:latin typeface="+mn-ea"/>
            </a:endParaRPr>
          </a:p>
        </p:txBody>
      </p:sp>
      <p:pic>
        <p:nvPicPr>
          <p:cNvPr id="33" name="그림 32" descr="만화 영화, 곰, 클립아트, 동물 피규어이(가) 표시된 사진&#10;&#10;자동 생성된 설명">
            <a:extLst>
              <a:ext uri="{FF2B5EF4-FFF2-40B4-BE49-F238E27FC236}">
                <a16:creationId xmlns:a16="http://schemas.microsoft.com/office/drawing/2014/main" xmlns="" id="{E0F4FC48-0C07-EF74-A58A-2F6632EE2F62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10071099" y="5101659"/>
            <a:ext cx="1582391" cy="1762827"/>
          </a:xfrm>
          <a:prstGeom prst="rect">
            <a:avLst/>
          </a:prstGeom>
        </p:spPr>
      </p:pic>
      <p:pic>
        <p:nvPicPr>
          <p:cNvPr id="18" name="그래픽 13">
            <a:extLst>
              <a:ext uri="{FF2B5EF4-FFF2-40B4-BE49-F238E27FC236}">
                <a16:creationId xmlns:a16="http://schemas.microsoft.com/office/drawing/2014/main" xmlns="" id="{35DACDE9-C2C6-6DAB-E125-F5168FF9B962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xmlns="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xmlns="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세계시민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xmlns="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173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·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xmlns="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 smtClean="0">
                <a:latin typeface="+mj-ea"/>
                <a:ea typeface="+mj-ea"/>
              </a:rPr>
              <a:t>지구적 차원의 도덕 문제를 어떻게 해결할 수 있을까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8010878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B9B0FF09-FBC7-1FCE-CA23-911B6BD983E3}"/>
              </a:ext>
            </a:extLst>
          </p:cNvPr>
          <p:cNvSpPr txBox="1"/>
          <p:nvPr/>
        </p:nvSpPr>
        <p:spPr>
          <a:xfrm>
            <a:off x="990282" y="671335"/>
            <a:ext cx="1524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생각 열기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xmlns="" id="{90560433-7D7D-E53F-75DC-9920154898C5}"/>
              </a:ext>
            </a:extLst>
          </p:cNvPr>
          <p:cNvSpPr txBox="1"/>
          <p:nvPr/>
        </p:nvSpPr>
        <p:spPr>
          <a:xfrm>
            <a:off x="10161353" y="942681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 smtClean="0">
                <a:solidFill>
                  <a:srgbClr val="FFFF00"/>
                </a:solidFill>
                <a:latin typeface="+mj-ea"/>
                <a:ea typeface="+mj-ea"/>
              </a:rPr>
              <a:t>그림</a:t>
            </a:r>
            <a:endParaRPr lang="ko-KR" altLang="en-US" sz="1600" b="1" dirty="0">
              <a:solidFill>
                <a:srgbClr val="FFFF00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xmlns="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6C768E"/>
                </a:solidFill>
                <a:latin typeface="+mj-ea"/>
                <a:ea typeface="+mj-ea"/>
              </a:rPr>
              <a:t>활동</a:t>
            </a:r>
          </a:p>
        </p:txBody>
      </p:sp>
      <p:pic>
        <p:nvPicPr>
          <p:cNvPr id="16" name="그래픽 13">
            <a:extLst>
              <a:ext uri="{FF2B5EF4-FFF2-40B4-BE49-F238E27FC236}">
                <a16:creationId xmlns:a16="http://schemas.microsoft.com/office/drawing/2014/main" xmlns="" id="{35DACDE9-C2C6-6DAB-E125-F5168FF9B96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xmlns="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xmlns="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세계시민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xmlns="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173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·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xmlns="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 smtClean="0">
                <a:latin typeface="+mj-ea"/>
                <a:ea typeface="+mj-ea"/>
              </a:rPr>
              <a:t>지구적 차원의 도덕 문제를 어떻게 해결할 수 있을까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0" y="1440004"/>
            <a:ext cx="11811000" cy="5417996"/>
          </a:xfrm>
          <a:prstGeom prst="rect">
            <a:avLst/>
          </a:prstGeom>
          <a:solidFill>
            <a:srgbClr val="FFF9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TextBox 30"/>
          <p:cNvSpPr txBox="1"/>
          <p:nvPr/>
        </p:nvSpPr>
        <p:spPr>
          <a:xfrm>
            <a:off x="1628776" y="5163900"/>
            <a:ext cx="1304386" cy="969496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400" dirty="0">
                <a:latin typeface="+mn-ea"/>
                <a:ea typeface="+mn-ea"/>
              </a:rPr>
              <a:t>전쟁으로 삶의 </a:t>
            </a:r>
            <a:endParaRPr lang="en-US" altLang="ko-KR" sz="1400" dirty="0" smtClean="0">
              <a:latin typeface="+mn-ea"/>
              <a:ea typeface="+mn-ea"/>
            </a:endParaRPr>
          </a:p>
          <a:p>
            <a:pPr algn="ctr">
              <a:lnSpc>
                <a:spcPct val="150000"/>
              </a:lnSpc>
            </a:pPr>
            <a:r>
              <a:rPr lang="ko-KR" altLang="en-US" sz="1400" dirty="0" smtClean="0">
                <a:latin typeface="+mn-ea"/>
                <a:ea typeface="+mn-ea"/>
              </a:rPr>
              <a:t>터전을 잃은</a:t>
            </a:r>
            <a:endParaRPr lang="en-US" altLang="ko-KR" sz="1400" dirty="0" smtClean="0">
              <a:latin typeface="+mn-ea"/>
              <a:ea typeface="+mn-ea"/>
            </a:endParaRPr>
          </a:p>
          <a:p>
            <a:pPr algn="ctr">
              <a:lnSpc>
                <a:spcPct val="150000"/>
              </a:lnSpc>
            </a:pPr>
            <a:r>
              <a:rPr lang="ko-KR" altLang="en-US" sz="1400" dirty="0" smtClean="0">
                <a:latin typeface="+mn-ea"/>
                <a:ea typeface="+mn-ea"/>
              </a:rPr>
              <a:t>사람들</a:t>
            </a:r>
            <a:endParaRPr lang="ko-KR" altLang="en-US" sz="1400" dirty="0">
              <a:latin typeface="+mn-ea"/>
              <a:ea typeface="+mn-ea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5298002" y="5666040"/>
            <a:ext cx="1335712" cy="969496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400" dirty="0">
                <a:latin typeface="+mn-ea"/>
                <a:ea typeface="+mn-ea"/>
              </a:rPr>
              <a:t>목숨을 </a:t>
            </a:r>
            <a:r>
              <a:rPr lang="ko-KR" altLang="en-US" sz="1400" dirty="0" smtClean="0">
                <a:latin typeface="+mn-ea"/>
                <a:ea typeface="+mn-ea"/>
              </a:rPr>
              <a:t>걸고</a:t>
            </a:r>
            <a:endParaRPr lang="en-US" altLang="ko-KR" sz="1400" dirty="0" smtClean="0">
              <a:latin typeface="+mn-ea"/>
              <a:ea typeface="+mn-ea"/>
            </a:endParaRPr>
          </a:p>
          <a:p>
            <a:pPr algn="ctr">
              <a:lnSpc>
                <a:spcPct val="150000"/>
              </a:lnSpc>
            </a:pPr>
            <a:r>
              <a:rPr lang="ko-KR" altLang="en-US" sz="1400" dirty="0" smtClean="0">
                <a:latin typeface="+mn-ea"/>
                <a:ea typeface="+mn-ea"/>
              </a:rPr>
              <a:t>바다를 건너는</a:t>
            </a:r>
            <a:endParaRPr lang="en-US" altLang="ko-KR" sz="1400" dirty="0" smtClean="0">
              <a:latin typeface="+mn-ea"/>
              <a:ea typeface="+mn-ea"/>
            </a:endParaRPr>
          </a:p>
          <a:p>
            <a:pPr algn="ctr">
              <a:lnSpc>
                <a:spcPct val="150000"/>
              </a:lnSpc>
            </a:pPr>
            <a:r>
              <a:rPr lang="ko-KR" altLang="en-US" sz="1400" dirty="0" smtClean="0">
                <a:latin typeface="+mn-ea"/>
                <a:ea typeface="+mn-ea"/>
              </a:rPr>
              <a:t>난민들</a:t>
            </a:r>
            <a:endParaRPr lang="ko-KR" altLang="en-US" sz="1400" dirty="0">
              <a:latin typeface="+mn-ea"/>
              <a:ea typeface="+mn-ea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8736007" y="5426368"/>
            <a:ext cx="1741493" cy="969496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400" dirty="0">
                <a:latin typeface="+mn-ea"/>
                <a:ea typeface="+mn-ea"/>
              </a:rPr>
              <a:t>대기 오염이 </a:t>
            </a:r>
            <a:r>
              <a:rPr lang="ko-KR" altLang="en-US" sz="1400" dirty="0" smtClean="0">
                <a:latin typeface="+mn-ea"/>
                <a:ea typeface="+mn-ea"/>
              </a:rPr>
              <a:t>만든</a:t>
            </a:r>
            <a:endParaRPr lang="en-US" altLang="ko-KR" sz="1400" dirty="0" smtClean="0">
              <a:latin typeface="+mn-ea"/>
              <a:ea typeface="+mn-ea"/>
            </a:endParaRPr>
          </a:p>
          <a:p>
            <a:pPr algn="ctr">
              <a:lnSpc>
                <a:spcPct val="150000"/>
              </a:lnSpc>
            </a:pPr>
            <a:r>
              <a:rPr lang="ko-KR" altLang="en-US" sz="1400" dirty="0" smtClean="0">
                <a:latin typeface="+mn-ea"/>
                <a:ea typeface="+mn-ea"/>
              </a:rPr>
              <a:t>잿빛 세상에서</a:t>
            </a:r>
            <a:endParaRPr lang="en-US" altLang="ko-KR" sz="1400" dirty="0" smtClean="0">
              <a:latin typeface="+mn-ea"/>
              <a:ea typeface="+mn-ea"/>
            </a:endParaRPr>
          </a:p>
          <a:p>
            <a:pPr algn="ctr">
              <a:lnSpc>
                <a:spcPct val="150000"/>
              </a:lnSpc>
            </a:pPr>
            <a:r>
              <a:rPr lang="ko-KR" altLang="en-US" sz="1400" dirty="0" smtClean="0">
                <a:latin typeface="+mn-ea"/>
                <a:ea typeface="+mn-ea"/>
              </a:rPr>
              <a:t>살아가야 하는 사람들</a:t>
            </a:r>
            <a:endParaRPr lang="ko-KR" altLang="en-US" sz="1400" dirty="0">
              <a:latin typeface="+mn-ea"/>
              <a:ea typeface="+mn-ea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73027" y="1680949"/>
            <a:ext cx="10664945" cy="5358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96235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/>
          <p:cNvGrpSpPr/>
          <p:nvPr/>
        </p:nvGrpSpPr>
        <p:grpSpPr>
          <a:xfrm>
            <a:off x="787400" y="2389517"/>
            <a:ext cx="10806502" cy="4416726"/>
            <a:chOff x="787400" y="2389517"/>
            <a:chExt cx="10343070" cy="4416726"/>
          </a:xfrm>
        </p:grpSpPr>
        <p:pic>
          <p:nvPicPr>
            <p:cNvPr id="39" name="그림 38"/>
            <p:cNvPicPr>
              <a:picLocks noChangeAspect="1"/>
            </p:cNvPicPr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787400" y="2389517"/>
              <a:ext cx="10343070" cy="4416726"/>
            </a:xfrm>
            <a:prstGeom prst="rect">
              <a:avLst/>
            </a:prstGeom>
          </p:spPr>
        </p:pic>
        <p:pic>
          <p:nvPicPr>
            <p:cNvPr id="40" name="그림 3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132406" y="4891463"/>
              <a:ext cx="3299534" cy="1284194"/>
            </a:xfrm>
            <a:prstGeom prst="rect">
              <a:avLst/>
            </a:prstGeom>
          </p:spPr>
        </p:pic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B9B0FF09-FBC7-1FCE-CA23-911B6BD983E3}"/>
              </a:ext>
            </a:extLst>
          </p:cNvPr>
          <p:cNvSpPr txBox="1"/>
          <p:nvPr/>
        </p:nvSpPr>
        <p:spPr>
          <a:xfrm>
            <a:off x="990282" y="671335"/>
            <a:ext cx="1524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생각 열기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xmlns="" id="{90560433-7D7D-E53F-75DC-9920154898C5}"/>
              </a:ext>
            </a:extLst>
          </p:cNvPr>
          <p:cNvSpPr txBox="1"/>
          <p:nvPr/>
        </p:nvSpPr>
        <p:spPr>
          <a:xfrm>
            <a:off x="10161353" y="942681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 smtClean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그림</a:t>
            </a:r>
            <a:endParaRPr lang="ko-KR" altLang="en-US" sz="1600" b="1" dirty="0">
              <a:solidFill>
                <a:schemeClr val="bg1">
                  <a:lumMod val="5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xmlns="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FFFF00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0210" y="2758849"/>
            <a:ext cx="567740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400" dirty="0">
                <a:solidFill>
                  <a:srgbClr val="0070C0"/>
                </a:solidFill>
              </a:rPr>
              <a:t>전쟁으로 삶의 터전과 평화로운 일상을 잃어버리고 슬퍼하는 사람들을 보니 마음이 아파요</a:t>
            </a:r>
            <a:r>
              <a:rPr lang="en-US" altLang="ko-KR" sz="2400" dirty="0">
                <a:solidFill>
                  <a:srgbClr val="0070C0"/>
                </a:solidFill>
              </a:rPr>
              <a:t>. </a:t>
            </a:r>
            <a:r>
              <a:rPr lang="ko-KR" altLang="en-US" sz="2400" dirty="0">
                <a:solidFill>
                  <a:srgbClr val="0070C0"/>
                </a:solidFill>
              </a:rPr>
              <a:t>하루빨리 전쟁이 끝나고 이곳에 다시 평화가 찾아와 사람들이 일상의 행복을 누릴 수 있기를 바라요</a:t>
            </a:r>
            <a:r>
              <a:rPr lang="en-US" altLang="ko-KR" sz="2400" dirty="0">
                <a:solidFill>
                  <a:srgbClr val="0070C0"/>
                </a:solidFill>
              </a:rPr>
              <a:t>.</a:t>
            </a:r>
            <a:endParaRPr lang="ko-KR" altLang="en-US" sz="2400" dirty="0">
              <a:solidFill>
                <a:srgbClr val="0070C0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87400" y="1613182"/>
            <a:ext cx="10239105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000" b="1" dirty="0" smtClean="0"/>
              <a:t>다음 사진전을 보고 고통받는 사람들에게 공감하며 응원하는 글을 방명록에 써 보자</a:t>
            </a:r>
            <a:r>
              <a:rPr lang="en-US" altLang="ko-KR" sz="2000" b="1" dirty="0" smtClean="0"/>
              <a:t>.</a:t>
            </a:r>
            <a:endParaRPr lang="ko-KR" altLang="en-US" sz="2000" b="1" dirty="0"/>
          </a:p>
        </p:txBody>
      </p:sp>
      <p:pic>
        <p:nvPicPr>
          <p:cNvPr id="26" name="그림 25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xmlns="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38767" y="2109340"/>
            <a:ext cx="487174" cy="487174"/>
          </a:xfrm>
          <a:prstGeom prst="rect">
            <a:avLst/>
          </a:prstGeom>
        </p:spPr>
      </p:pic>
      <p:grpSp>
        <p:nvGrpSpPr>
          <p:cNvPr id="27" name="그룹 26">
            <a:extLst>
              <a:ext uri="{FF2B5EF4-FFF2-40B4-BE49-F238E27FC236}">
                <a16:creationId xmlns:a16="http://schemas.microsoft.com/office/drawing/2014/main" xmlns="" id="{BD8F7919-81BA-4F6C-659C-1ECE98A49C77}"/>
              </a:ext>
            </a:extLst>
          </p:cNvPr>
          <p:cNvGrpSpPr/>
          <p:nvPr/>
        </p:nvGrpSpPr>
        <p:grpSpPr>
          <a:xfrm>
            <a:off x="9421291" y="2109340"/>
            <a:ext cx="1087577" cy="495431"/>
            <a:chOff x="10075659" y="2003022"/>
            <a:chExt cx="1156006" cy="495431"/>
          </a:xfrm>
        </p:grpSpPr>
        <p:pic>
          <p:nvPicPr>
            <p:cNvPr id="31" name="그림 30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xmlns="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xmlns="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pic>
        <p:nvPicPr>
          <p:cNvPr id="21" name="그래픽 13">
            <a:extLst>
              <a:ext uri="{FF2B5EF4-FFF2-40B4-BE49-F238E27FC236}">
                <a16:creationId xmlns:a16="http://schemas.microsoft.com/office/drawing/2014/main" xmlns="" id="{35DACDE9-C2C6-6DAB-E125-F5168FF9B962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xmlns="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xmlns="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세계시민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xmlns="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173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·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xmlns="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 smtClean="0">
                <a:latin typeface="+mj-ea"/>
                <a:ea typeface="+mj-ea"/>
              </a:rPr>
              <a:t>지구적 차원의 도덕 문제를 어떻게 해결할 수 있을까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1273491" y="2894962"/>
            <a:ext cx="2950161" cy="21698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dirty="0" smtClean="0">
                <a:latin typeface="+mn-ea"/>
                <a:ea typeface="+mn-ea"/>
              </a:rPr>
              <a:t>  목숨을 </a:t>
            </a:r>
            <a:r>
              <a:rPr lang="ko-KR" altLang="en-US" dirty="0">
                <a:latin typeface="+mn-ea"/>
                <a:ea typeface="+mn-ea"/>
              </a:rPr>
              <a:t>걸고 바다를 건널 </a:t>
            </a:r>
            <a:r>
              <a:rPr lang="ko-KR" altLang="en-US" dirty="0" smtClean="0">
                <a:latin typeface="+mn-ea"/>
                <a:ea typeface="+mn-ea"/>
              </a:rPr>
              <a:t>때 얼마나 </a:t>
            </a:r>
            <a:r>
              <a:rPr lang="ko-KR" altLang="en-US" dirty="0" err="1">
                <a:latin typeface="+mn-ea"/>
                <a:ea typeface="+mn-ea"/>
              </a:rPr>
              <a:t>두려웠을까요</a:t>
            </a:r>
            <a:r>
              <a:rPr lang="en-US" altLang="ko-KR" dirty="0" smtClean="0">
                <a:latin typeface="+mn-ea"/>
                <a:ea typeface="+mn-ea"/>
              </a:rPr>
              <a:t>? </a:t>
            </a:r>
            <a:r>
              <a:rPr lang="ko-KR" altLang="en-US" dirty="0" smtClean="0">
                <a:latin typeface="+mn-ea"/>
                <a:ea typeface="+mn-ea"/>
              </a:rPr>
              <a:t>난민들이 </a:t>
            </a:r>
            <a:r>
              <a:rPr lang="ko-KR" altLang="en-US" dirty="0">
                <a:latin typeface="+mn-ea"/>
                <a:ea typeface="+mn-ea"/>
              </a:rPr>
              <a:t>새로운 터전을 찾아서 </a:t>
            </a:r>
            <a:r>
              <a:rPr lang="ko-KR" altLang="en-US" dirty="0" smtClean="0">
                <a:latin typeface="+mn-ea"/>
                <a:ea typeface="+mn-ea"/>
              </a:rPr>
              <a:t>행복하게 </a:t>
            </a:r>
            <a:r>
              <a:rPr lang="ko-KR" altLang="en-US" dirty="0">
                <a:latin typeface="+mn-ea"/>
                <a:ea typeface="+mn-ea"/>
              </a:rPr>
              <a:t>살았으면 좋겠어요</a:t>
            </a:r>
            <a:r>
              <a:rPr lang="en-US" altLang="ko-KR" dirty="0">
                <a:latin typeface="+mn-ea"/>
                <a:ea typeface="+mn-ea"/>
              </a:rPr>
              <a:t>.</a:t>
            </a:r>
            <a:endParaRPr lang="ko-KR" altLang="en-US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3293339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7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</p:childTnLst>
        </p:cTn>
      </p:par>
    </p:tnLst>
    <p:bldLst>
      <p:bldP spid="24" grpId="0"/>
      <p:bldP spid="24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 smtClean="0">
                <a:solidFill>
                  <a:schemeClr val="bg1"/>
                </a:solidFill>
                <a:latin typeface="+mj-ea"/>
                <a:ea typeface="+mj-ea"/>
              </a:rPr>
              <a:t>탐구하기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xmlns="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6C768E"/>
                </a:solidFill>
                <a:latin typeface="+mj-ea"/>
                <a:ea typeface="+mj-ea"/>
              </a:rPr>
              <a:t>활동</a:t>
            </a:r>
          </a:p>
        </p:txBody>
      </p:sp>
      <p:pic>
        <p:nvPicPr>
          <p:cNvPr id="13" name="그래픽 13">
            <a:extLst>
              <a:ext uri="{FF2B5EF4-FFF2-40B4-BE49-F238E27FC236}">
                <a16:creationId xmlns:a16="http://schemas.microsoft.com/office/drawing/2014/main" xmlns="" id="{35DACDE9-C2C6-6DAB-E125-F5168FF9B96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xmlns="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세계시민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174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·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xmlns="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 smtClean="0">
                <a:latin typeface="+mj-ea"/>
                <a:ea typeface="+mj-ea"/>
              </a:rPr>
              <a:t>지구적 차원의 도덕 문제를 어떻게 해결할 수 있을까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xmlns="" id="{90560433-7D7D-E53F-75DC-9920154898C5}"/>
              </a:ext>
            </a:extLst>
          </p:cNvPr>
          <p:cNvSpPr txBox="1"/>
          <p:nvPr/>
        </p:nvSpPr>
        <p:spPr>
          <a:xfrm>
            <a:off x="9961582" y="942681"/>
            <a:ext cx="816322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 smtClean="0">
                <a:solidFill>
                  <a:srgbClr val="FFFF00"/>
                </a:solidFill>
                <a:latin typeface="+mj-ea"/>
                <a:ea typeface="+mj-ea"/>
              </a:rPr>
              <a:t>그림</a:t>
            </a:r>
            <a:endParaRPr lang="ko-KR" altLang="en-US" sz="1600" b="1" dirty="0">
              <a:solidFill>
                <a:srgbClr val="FFFF00"/>
              </a:solidFill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822765" y="4483847"/>
            <a:ext cx="2460264" cy="138499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ko-KR" altLang="en-US" sz="1400" dirty="0" smtClean="0">
                <a:solidFill>
                  <a:schemeClr val="tx1"/>
                </a:solidFill>
                <a:latin typeface="+mn-ea"/>
                <a:ea typeface="+mn-ea"/>
              </a:rPr>
              <a:t>  </a:t>
            </a:r>
            <a:r>
              <a:rPr lang="ko-KR" altLang="en-US" sz="1400" dirty="0" err="1" smtClean="0">
                <a:solidFill>
                  <a:schemeClr val="tx1"/>
                </a:solidFill>
                <a:latin typeface="+mn-ea"/>
                <a:ea typeface="+mn-ea"/>
              </a:rPr>
              <a:t>튀르키예와</a:t>
            </a:r>
            <a:r>
              <a:rPr lang="ko-KR" altLang="en-US" sz="1400" dirty="0" smtClean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ko-KR" altLang="en-US" sz="1400" dirty="0">
                <a:solidFill>
                  <a:schemeClr val="tx1"/>
                </a:solidFill>
                <a:latin typeface="+mn-ea"/>
                <a:ea typeface="+mn-ea"/>
              </a:rPr>
              <a:t>시리아에 지진이 </a:t>
            </a:r>
            <a:r>
              <a:rPr lang="ko-KR" altLang="en-US" sz="1400" dirty="0" smtClean="0">
                <a:solidFill>
                  <a:schemeClr val="tx1"/>
                </a:solidFill>
                <a:latin typeface="+mn-ea"/>
                <a:ea typeface="+mn-ea"/>
              </a:rPr>
              <a:t>나서 </a:t>
            </a:r>
            <a:r>
              <a:rPr lang="ko-KR" altLang="en-US" sz="1400" dirty="0">
                <a:solidFill>
                  <a:schemeClr val="tx1"/>
                </a:solidFill>
                <a:latin typeface="+mn-ea"/>
                <a:ea typeface="+mn-ea"/>
              </a:rPr>
              <a:t>많은 사람이 </a:t>
            </a:r>
            <a:r>
              <a:rPr lang="ko-KR" altLang="en-US" sz="1400" dirty="0" err="1">
                <a:solidFill>
                  <a:schemeClr val="tx1"/>
                </a:solidFill>
                <a:latin typeface="+mn-ea"/>
                <a:ea typeface="+mn-ea"/>
              </a:rPr>
              <a:t>다쳤대요</a:t>
            </a:r>
            <a:r>
              <a:rPr lang="en-US" altLang="ko-KR" sz="1400" dirty="0">
                <a:solidFill>
                  <a:schemeClr val="tx1"/>
                </a:solidFill>
                <a:latin typeface="+mn-ea"/>
                <a:ea typeface="+mn-ea"/>
              </a:rPr>
              <a:t>. </a:t>
            </a:r>
            <a:r>
              <a:rPr lang="ko-KR" altLang="en-US" sz="1400" dirty="0" smtClean="0">
                <a:solidFill>
                  <a:schemeClr val="tx1"/>
                </a:solidFill>
                <a:latin typeface="+mn-ea"/>
                <a:ea typeface="+mn-ea"/>
              </a:rPr>
              <a:t>지금도 고통받는 </a:t>
            </a:r>
            <a:r>
              <a:rPr lang="ko-KR" altLang="en-US" sz="1400" dirty="0">
                <a:solidFill>
                  <a:schemeClr val="tx1"/>
                </a:solidFill>
                <a:latin typeface="+mn-ea"/>
                <a:ea typeface="+mn-ea"/>
              </a:rPr>
              <a:t>사람이 </a:t>
            </a:r>
            <a:r>
              <a:rPr lang="ko-KR" altLang="en-US" sz="1400" dirty="0" err="1">
                <a:solidFill>
                  <a:schemeClr val="tx1"/>
                </a:solidFill>
                <a:latin typeface="+mn-ea"/>
                <a:ea typeface="+mn-ea"/>
              </a:rPr>
              <a:t>많다던데</a:t>
            </a:r>
            <a:r>
              <a:rPr lang="ko-KR" altLang="en-US" sz="1400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ko-KR" altLang="en-US" sz="1400" dirty="0" smtClean="0">
                <a:solidFill>
                  <a:schemeClr val="tx1"/>
                </a:solidFill>
                <a:latin typeface="+mn-ea"/>
                <a:ea typeface="+mn-ea"/>
              </a:rPr>
              <a:t>걱정되네요</a:t>
            </a:r>
            <a:r>
              <a:rPr lang="en-US" altLang="ko-KR" sz="1400" dirty="0">
                <a:solidFill>
                  <a:schemeClr val="tx1"/>
                </a:solidFill>
                <a:latin typeface="+mn-ea"/>
                <a:ea typeface="+mn-ea"/>
              </a:rPr>
              <a:t>. </a:t>
            </a:r>
            <a:r>
              <a:rPr lang="ko-KR" altLang="en-US" sz="1400" dirty="0">
                <a:solidFill>
                  <a:schemeClr val="tx1"/>
                </a:solidFill>
                <a:latin typeface="+mn-ea"/>
                <a:ea typeface="+mn-ea"/>
              </a:rPr>
              <a:t>하루빨리 피해가 </a:t>
            </a:r>
            <a:r>
              <a:rPr lang="ko-KR" altLang="en-US" sz="1400" dirty="0" smtClean="0">
                <a:solidFill>
                  <a:schemeClr val="tx1"/>
                </a:solidFill>
                <a:latin typeface="+mn-ea"/>
                <a:ea typeface="+mn-ea"/>
              </a:rPr>
              <a:t>복구되길 바랍니다</a:t>
            </a:r>
            <a:r>
              <a:rPr lang="en-US" altLang="ko-KR" sz="1400" dirty="0" smtClean="0">
                <a:solidFill>
                  <a:schemeClr val="tx1"/>
                </a:solidFill>
                <a:latin typeface="+mn-ea"/>
                <a:ea typeface="+mn-ea"/>
              </a:rPr>
              <a:t>.</a:t>
            </a:r>
            <a:endParaRPr lang="en-US" altLang="ko-KR" sz="140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797825" y="5950743"/>
            <a:ext cx="2392671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US" altLang="ko-KR" sz="1200" dirty="0">
                <a:solidFill>
                  <a:srgbClr val="00B0F0"/>
                </a:solidFill>
                <a:latin typeface="+mn-ea"/>
                <a:ea typeface="+mn-ea"/>
              </a:rPr>
              <a:t>#</a:t>
            </a:r>
            <a:r>
              <a:rPr lang="ko-KR" altLang="en-US" sz="1200" dirty="0" err="1">
                <a:solidFill>
                  <a:srgbClr val="00B0F0"/>
                </a:solidFill>
                <a:latin typeface="+mn-ea"/>
                <a:ea typeface="+mn-ea"/>
              </a:rPr>
              <a:t>튀르키예</a:t>
            </a:r>
            <a:r>
              <a:rPr lang="ko-KR" altLang="en-US" sz="1200" dirty="0">
                <a:solidFill>
                  <a:srgbClr val="00B0F0"/>
                </a:solidFill>
                <a:latin typeface="+mn-ea"/>
                <a:ea typeface="+mn-ea"/>
              </a:rPr>
              <a:t> </a:t>
            </a:r>
            <a:r>
              <a:rPr lang="en-US" altLang="ko-KR" sz="1200" dirty="0">
                <a:solidFill>
                  <a:srgbClr val="00B0F0"/>
                </a:solidFill>
                <a:latin typeface="+mn-ea"/>
                <a:ea typeface="+mn-ea"/>
              </a:rPr>
              <a:t>#</a:t>
            </a:r>
            <a:r>
              <a:rPr lang="ko-KR" altLang="en-US" sz="1200" dirty="0">
                <a:solidFill>
                  <a:srgbClr val="00B0F0"/>
                </a:solidFill>
                <a:latin typeface="+mn-ea"/>
                <a:ea typeface="+mn-ea"/>
              </a:rPr>
              <a:t>시리아 </a:t>
            </a:r>
            <a:r>
              <a:rPr lang="en-US" altLang="ko-KR" sz="1200" dirty="0">
                <a:solidFill>
                  <a:srgbClr val="00B0F0"/>
                </a:solidFill>
                <a:latin typeface="+mn-ea"/>
                <a:ea typeface="+mn-ea"/>
              </a:rPr>
              <a:t>#</a:t>
            </a:r>
            <a:r>
              <a:rPr lang="ko-KR" altLang="en-US" sz="1200" dirty="0" smtClean="0">
                <a:solidFill>
                  <a:srgbClr val="00B0F0"/>
                </a:solidFill>
                <a:latin typeface="+mn-ea"/>
                <a:ea typeface="+mn-ea"/>
              </a:rPr>
              <a:t>기도해요</a:t>
            </a:r>
            <a:r>
              <a:rPr lang="en-US" altLang="ko-KR" sz="1200" dirty="0" smtClean="0">
                <a:solidFill>
                  <a:srgbClr val="00B0F0"/>
                </a:solidFill>
                <a:latin typeface="+mn-ea"/>
                <a:ea typeface="+mn-ea"/>
              </a:rPr>
              <a:t>.</a:t>
            </a:r>
            <a:endParaRPr lang="ko-KR" altLang="en-US" sz="1200" dirty="0">
              <a:solidFill>
                <a:srgbClr val="00B0F0"/>
              </a:solidFill>
              <a:latin typeface="+mn-ea"/>
              <a:ea typeface="+mn-ea"/>
            </a:endParaRPr>
          </a:p>
          <a:p>
            <a:pPr algn="just"/>
            <a:r>
              <a:rPr lang="en-US" altLang="ko-KR" sz="1200" dirty="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rPr>
              <a:t>2023</a:t>
            </a:r>
            <a:r>
              <a:rPr lang="ko-KR" altLang="en-US" sz="1200" dirty="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rPr>
              <a:t>년 </a:t>
            </a:r>
            <a:r>
              <a:rPr lang="en-US" altLang="ko-KR" sz="1200" dirty="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rPr>
              <a:t>2</a:t>
            </a:r>
            <a:r>
              <a:rPr lang="ko-KR" altLang="en-US" sz="1200" dirty="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rPr>
              <a:t>월</a:t>
            </a:r>
            <a:endParaRPr lang="en-US" altLang="ko-KR" sz="1200" dirty="0">
              <a:solidFill>
                <a:schemeClr val="bg1">
                  <a:lumMod val="6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22" name="TextBox 21"/>
          <p:cNvSpPr txBox="1"/>
          <p:nvPr/>
        </p:nvSpPr>
        <p:spPr>
          <a:xfrm rot="21449529">
            <a:off x="4652067" y="4699384"/>
            <a:ext cx="2621891" cy="116955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ko-KR" altLang="en-US" sz="1400" dirty="0" smtClean="0">
                <a:solidFill>
                  <a:schemeClr val="tx1"/>
                </a:solidFill>
                <a:latin typeface="+mn-ea"/>
                <a:ea typeface="+mn-ea"/>
              </a:rPr>
              <a:t>  </a:t>
            </a:r>
            <a:r>
              <a:rPr lang="ko-KR" altLang="en-US" sz="1400" dirty="0" err="1" smtClean="0">
                <a:solidFill>
                  <a:schemeClr val="tx1"/>
                </a:solidFill>
                <a:latin typeface="+mn-ea"/>
                <a:ea typeface="+mn-ea"/>
              </a:rPr>
              <a:t>튀르키예와</a:t>
            </a:r>
            <a:r>
              <a:rPr lang="ko-KR" altLang="en-US" sz="1400" dirty="0" smtClean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ko-KR" altLang="en-US" sz="1400" dirty="0">
                <a:solidFill>
                  <a:schemeClr val="tx1"/>
                </a:solidFill>
                <a:latin typeface="+mn-ea"/>
                <a:ea typeface="+mn-ea"/>
              </a:rPr>
              <a:t>시리아의 지진 </a:t>
            </a:r>
            <a:r>
              <a:rPr lang="ko-KR" altLang="en-US" sz="1400" dirty="0" smtClean="0">
                <a:solidFill>
                  <a:schemeClr val="tx1"/>
                </a:solidFill>
                <a:latin typeface="+mn-ea"/>
                <a:ea typeface="+mn-ea"/>
              </a:rPr>
              <a:t>소식을 </a:t>
            </a:r>
            <a:r>
              <a:rPr lang="ko-KR" altLang="en-US" sz="1400" dirty="0">
                <a:solidFill>
                  <a:schemeClr val="tx1"/>
                </a:solidFill>
                <a:latin typeface="+mn-ea"/>
                <a:ea typeface="+mn-ea"/>
              </a:rPr>
              <a:t>접하고 마음이 아파서 적은 </a:t>
            </a:r>
            <a:r>
              <a:rPr lang="ko-KR" altLang="en-US" sz="1400" dirty="0" smtClean="0">
                <a:solidFill>
                  <a:schemeClr val="tx1"/>
                </a:solidFill>
                <a:latin typeface="+mn-ea"/>
                <a:ea typeface="+mn-ea"/>
              </a:rPr>
              <a:t>금액이지만 </a:t>
            </a:r>
            <a:r>
              <a:rPr lang="ko-KR" altLang="en-US" sz="1400" dirty="0">
                <a:solidFill>
                  <a:schemeClr val="tx1"/>
                </a:solidFill>
                <a:latin typeface="+mn-ea"/>
                <a:ea typeface="+mn-ea"/>
              </a:rPr>
              <a:t>온라인으로 </a:t>
            </a:r>
            <a:r>
              <a:rPr lang="ko-KR" altLang="en-US" sz="1400" dirty="0" smtClean="0">
                <a:solidFill>
                  <a:schemeClr val="tx1"/>
                </a:solidFill>
                <a:latin typeface="+mn-ea"/>
                <a:ea typeface="+mn-ea"/>
              </a:rPr>
              <a:t>기부를 하였습니다</a:t>
            </a:r>
            <a:r>
              <a:rPr lang="en-US" altLang="ko-KR" sz="1400" dirty="0">
                <a:solidFill>
                  <a:schemeClr val="tx1"/>
                </a:solidFill>
                <a:latin typeface="+mn-ea"/>
                <a:ea typeface="+mn-ea"/>
              </a:rPr>
              <a:t>. </a:t>
            </a:r>
            <a:r>
              <a:rPr lang="ko-KR" altLang="en-US" sz="1400" dirty="0">
                <a:solidFill>
                  <a:schemeClr val="tx1"/>
                </a:solidFill>
                <a:latin typeface="+mn-ea"/>
                <a:ea typeface="+mn-ea"/>
              </a:rPr>
              <a:t>우리 함께해요</a:t>
            </a:r>
            <a:r>
              <a:rPr lang="en-US" altLang="ko-KR" sz="1400" dirty="0">
                <a:solidFill>
                  <a:schemeClr val="tx1"/>
                </a:solidFill>
                <a:latin typeface="+mn-ea"/>
                <a:ea typeface="+mn-ea"/>
              </a:rPr>
              <a:t>!</a:t>
            </a:r>
          </a:p>
        </p:txBody>
      </p:sp>
      <p:sp>
        <p:nvSpPr>
          <p:cNvPr id="23" name="TextBox 22"/>
          <p:cNvSpPr txBox="1"/>
          <p:nvPr/>
        </p:nvSpPr>
        <p:spPr>
          <a:xfrm rot="21408143">
            <a:off x="4711551" y="6142860"/>
            <a:ext cx="2575867" cy="4616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n-US" altLang="ko-KR" sz="1200" spc="-150" dirty="0">
                <a:solidFill>
                  <a:srgbClr val="00B0F0"/>
                </a:solidFill>
                <a:latin typeface="+mn-ea"/>
                <a:ea typeface="+mn-ea"/>
              </a:rPr>
              <a:t>#</a:t>
            </a:r>
            <a:r>
              <a:rPr lang="ko-KR" altLang="en-US" sz="1200" spc="-150" dirty="0" err="1">
                <a:solidFill>
                  <a:srgbClr val="00B0F0"/>
                </a:solidFill>
                <a:latin typeface="+mn-ea"/>
                <a:ea typeface="+mn-ea"/>
              </a:rPr>
              <a:t>튀르키예</a:t>
            </a:r>
            <a:r>
              <a:rPr lang="ko-KR" altLang="en-US" sz="1200" spc="-150" dirty="0">
                <a:solidFill>
                  <a:srgbClr val="00B0F0"/>
                </a:solidFill>
                <a:latin typeface="+mn-ea"/>
                <a:ea typeface="+mn-ea"/>
              </a:rPr>
              <a:t> </a:t>
            </a:r>
            <a:r>
              <a:rPr lang="en-US" altLang="ko-KR" sz="1200" spc="-150" dirty="0">
                <a:solidFill>
                  <a:srgbClr val="00B0F0"/>
                </a:solidFill>
                <a:latin typeface="+mn-ea"/>
                <a:ea typeface="+mn-ea"/>
              </a:rPr>
              <a:t>#</a:t>
            </a:r>
            <a:r>
              <a:rPr lang="ko-KR" altLang="en-US" sz="1200" spc="-150" dirty="0">
                <a:solidFill>
                  <a:srgbClr val="00B0F0"/>
                </a:solidFill>
                <a:latin typeface="+mn-ea"/>
                <a:ea typeface="+mn-ea"/>
              </a:rPr>
              <a:t>시리아 </a:t>
            </a:r>
            <a:r>
              <a:rPr lang="en-US" altLang="ko-KR" sz="1200" spc="-150" dirty="0">
                <a:solidFill>
                  <a:srgbClr val="00B0F0"/>
                </a:solidFill>
                <a:latin typeface="+mn-ea"/>
                <a:ea typeface="+mn-ea"/>
              </a:rPr>
              <a:t>#</a:t>
            </a:r>
            <a:r>
              <a:rPr lang="ko-KR" altLang="en-US" sz="1200" spc="-150" dirty="0">
                <a:solidFill>
                  <a:srgbClr val="00B0F0"/>
                </a:solidFill>
                <a:latin typeface="+mn-ea"/>
                <a:ea typeface="+mn-ea"/>
              </a:rPr>
              <a:t>지진 </a:t>
            </a:r>
            <a:r>
              <a:rPr lang="en-US" altLang="ko-KR" sz="1200" spc="-150" dirty="0">
                <a:solidFill>
                  <a:srgbClr val="00B0F0"/>
                </a:solidFill>
                <a:latin typeface="+mn-ea"/>
                <a:ea typeface="+mn-ea"/>
              </a:rPr>
              <a:t>#</a:t>
            </a:r>
            <a:r>
              <a:rPr lang="ko-KR" altLang="en-US" sz="1200" spc="-150" dirty="0">
                <a:solidFill>
                  <a:srgbClr val="00B0F0"/>
                </a:solidFill>
                <a:latin typeface="+mn-ea"/>
                <a:ea typeface="+mn-ea"/>
              </a:rPr>
              <a:t>기부 </a:t>
            </a:r>
            <a:r>
              <a:rPr lang="en-US" altLang="ko-KR" sz="1200" spc="-150" dirty="0">
                <a:solidFill>
                  <a:srgbClr val="00B0F0"/>
                </a:solidFill>
                <a:latin typeface="+mn-ea"/>
                <a:ea typeface="+mn-ea"/>
              </a:rPr>
              <a:t>#</a:t>
            </a:r>
            <a:r>
              <a:rPr lang="ko-KR" altLang="en-US" sz="1200" spc="-150" dirty="0" smtClean="0">
                <a:solidFill>
                  <a:srgbClr val="00B0F0"/>
                </a:solidFill>
                <a:latin typeface="+mn-ea"/>
                <a:ea typeface="+mn-ea"/>
              </a:rPr>
              <a:t>동참</a:t>
            </a:r>
            <a:endParaRPr lang="ko-KR" altLang="en-US" sz="1200" spc="-150" dirty="0">
              <a:solidFill>
                <a:srgbClr val="00B0F0"/>
              </a:solidFill>
              <a:latin typeface="+mn-ea"/>
              <a:ea typeface="+mn-ea"/>
            </a:endParaRPr>
          </a:p>
          <a:p>
            <a:pPr algn="just"/>
            <a:r>
              <a:rPr lang="en-US" altLang="ko-KR" sz="1200" dirty="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rPr>
              <a:t>2023</a:t>
            </a:r>
            <a:r>
              <a:rPr lang="ko-KR" altLang="en-US" sz="1200" dirty="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rPr>
              <a:t>년 </a:t>
            </a:r>
            <a:r>
              <a:rPr lang="en-US" altLang="ko-KR" sz="1200" dirty="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rPr>
              <a:t>2</a:t>
            </a:r>
            <a:r>
              <a:rPr lang="ko-KR" altLang="en-US" sz="1200" dirty="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rPr>
              <a:t>월</a:t>
            </a:r>
            <a:endParaRPr lang="en-US" altLang="ko-KR" sz="1200" dirty="0">
              <a:solidFill>
                <a:schemeClr val="bg1">
                  <a:lumMod val="6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7536414" y="4575630"/>
            <a:ext cx="2538611" cy="138499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ko-KR" altLang="en-US" sz="1400" dirty="0" smtClean="0">
                <a:solidFill>
                  <a:schemeClr val="tx1"/>
                </a:solidFill>
                <a:latin typeface="+mn-ea"/>
                <a:ea typeface="+mn-ea"/>
              </a:rPr>
              <a:t>  지진으로 </a:t>
            </a:r>
            <a:r>
              <a:rPr lang="ko-KR" altLang="en-US" sz="1400" dirty="0">
                <a:solidFill>
                  <a:schemeClr val="tx1"/>
                </a:solidFill>
                <a:latin typeface="+mn-ea"/>
                <a:ea typeface="+mn-ea"/>
              </a:rPr>
              <a:t>집과 일터가 무너진 </a:t>
            </a:r>
            <a:r>
              <a:rPr lang="ko-KR" altLang="en-US" sz="1400" dirty="0" smtClean="0">
                <a:solidFill>
                  <a:schemeClr val="tx1"/>
                </a:solidFill>
                <a:latin typeface="+mn-ea"/>
                <a:ea typeface="+mn-ea"/>
              </a:rPr>
              <a:t>모습을 </a:t>
            </a:r>
            <a:r>
              <a:rPr lang="ko-KR" altLang="en-US" sz="1400" dirty="0">
                <a:solidFill>
                  <a:schemeClr val="tx1"/>
                </a:solidFill>
                <a:latin typeface="+mn-ea"/>
                <a:ea typeface="+mn-ea"/>
              </a:rPr>
              <a:t>보았어요</a:t>
            </a:r>
            <a:r>
              <a:rPr lang="en-US" altLang="ko-KR" sz="1400" dirty="0">
                <a:solidFill>
                  <a:schemeClr val="tx1"/>
                </a:solidFill>
                <a:latin typeface="+mn-ea"/>
                <a:ea typeface="+mn-ea"/>
              </a:rPr>
              <a:t>. </a:t>
            </a:r>
            <a:r>
              <a:rPr lang="ko-KR" altLang="en-US" sz="1400" dirty="0">
                <a:solidFill>
                  <a:schemeClr val="tx1"/>
                </a:solidFill>
                <a:latin typeface="+mn-ea"/>
                <a:ea typeface="+mn-ea"/>
              </a:rPr>
              <a:t>한국에 있는 </a:t>
            </a:r>
            <a:r>
              <a:rPr lang="ko-KR" altLang="en-US" sz="1400" dirty="0" smtClean="0">
                <a:solidFill>
                  <a:schemeClr val="tx1"/>
                </a:solidFill>
                <a:latin typeface="+mn-ea"/>
                <a:ea typeface="+mn-ea"/>
              </a:rPr>
              <a:t>저는 차마 </a:t>
            </a:r>
            <a:r>
              <a:rPr lang="ko-KR" altLang="en-US" sz="1400" dirty="0">
                <a:solidFill>
                  <a:schemeClr val="tx1"/>
                </a:solidFill>
                <a:latin typeface="+mn-ea"/>
                <a:ea typeface="+mn-ea"/>
              </a:rPr>
              <a:t>상상할 수 없는 </a:t>
            </a:r>
            <a:r>
              <a:rPr lang="ko-KR" altLang="en-US" sz="1400" dirty="0" smtClean="0">
                <a:solidFill>
                  <a:schemeClr val="tx1"/>
                </a:solidFill>
                <a:latin typeface="+mn-ea"/>
                <a:ea typeface="+mn-ea"/>
              </a:rPr>
              <a:t>고통이겠지요</a:t>
            </a:r>
            <a:r>
              <a:rPr lang="en-US" altLang="ko-KR" sz="1400" dirty="0">
                <a:solidFill>
                  <a:schemeClr val="tx1"/>
                </a:solidFill>
                <a:latin typeface="+mn-ea"/>
                <a:ea typeface="+mn-ea"/>
              </a:rPr>
              <a:t>? </a:t>
            </a:r>
            <a:r>
              <a:rPr lang="ko-KR" altLang="en-US" sz="1400" dirty="0">
                <a:solidFill>
                  <a:schemeClr val="tx1"/>
                </a:solidFill>
                <a:latin typeface="+mn-ea"/>
                <a:ea typeface="+mn-ea"/>
              </a:rPr>
              <a:t>도움을 주고 싶어 필요한 </a:t>
            </a:r>
            <a:r>
              <a:rPr lang="ko-KR" altLang="en-US" sz="1400" dirty="0" smtClean="0">
                <a:solidFill>
                  <a:schemeClr val="tx1"/>
                </a:solidFill>
                <a:latin typeface="+mn-ea"/>
                <a:ea typeface="+mn-ea"/>
              </a:rPr>
              <a:t>물품을 </a:t>
            </a:r>
            <a:r>
              <a:rPr lang="ko-KR" altLang="en-US" sz="1400" dirty="0">
                <a:solidFill>
                  <a:schemeClr val="tx1"/>
                </a:solidFill>
                <a:latin typeface="+mn-ea"/>
                <a:ea typeface="+mn-ea"/>
              </a:rPr>
              <a:t>전달하였습니다</a:t>
            </a:r>
            <a:r>
              <a:rPr lang="en-US" altLang="ko-KR" sz="1400" dirty="0">
                <a:solidFill>
                  <a:schemeClr val="tx1"/>
                </a:solidFill>
                <a:latin typeface="+mn-ea"/>
                <a:ea typeface="+mn-ea"/>
              </a:rPr>
              <a:t>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36414" y="6071379"/>
            <a:ext cx="2469471" cy="4616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n-US" altLang="ko-KR" sz="1200" dirty="0">
                <a:solidFill>
                  <a:srgbClr val="00B0F0"/>
                </a:solidFill>
                <a:latin typeface="+mn-ea"/>
                <a:ea typeface="+mn-ea"/>
              </a:rPr>
              <a:t>#</a:t>
            </a:r>
            <a:r>
              <a:rPr lang="ko-KR" altLang="en-US" sz="1200" dirty="0" err="1">
                <a:solidFill>
                  <a:srgbClr val="00B0F0"/>
                </a:solidFill>
                <a:latin typeface="+mn-ea"/>
                <a:ea typeface="+mn-ea"/>
              </a:rPr>
              <a:t>튀르키예</a:t>
            </a:r>
            <a:r>
              <a:rPr lang="ko-KR" altLang="en-US" sz="1200" dirty="0">
                <a:solidFill>
                  <a:srgbClr val="00B0F0"/>
                </a:solidFill>
                <a:latin typeface="+mn-ea"/>
                <a:ea typeface="+mn-ea"/>
              </a:rPr>
              <a:t> </a:t>
            </a:r>
            <a:r>
              <a:rPr lang="en-US" altLang="ko-KR" sz="1200" dirty="0">
                <a:solidFill>
                  <a:srgbClr val="00B0F0"/>
                </a:solidFill>
                <a:latin typeface="+mn-ea"/>
                <a:ea typeface="+mn-ea"/>
              </a:rPr>
              <a:t>#</a:t>
            </a:r>
            <a:r>
              <a:rPr lang="ko-KR" altLang="en-US" sz="1200" dirty="0">
                <a:solidFill>
                  <a:srgbClr val="00B0F0"/>
                </a:solidFill>
                <a:latin typeface="+mn-ea"/>
                <a:ea typeface="+mn-ea"/>
              </a:rPr>
              <a:t>시리아 </a:t>
            </a:r>
            <a:r>
              <a:rPr lang="en-US" altLang="ko-KR" sz="1200" dirty="0">
                <a:solidFill>
                  <a:srgbClr val="00B0F0"/>
                </a:solidFill>
                <a:latin typeface="+mn-ea"/>
                <a:ea typeface="+mn-ea"/>
              </a:rPr>
              <a:t>#</a:t>
            </a:r>
            <a:r>
              <a:rPr lang="ko-KR" altLang="en-US" sz="1200" dirty="0">
                <a:solidFill>
                  <a:srgbClr val="00B0F0"/>
                </a:solidFill>
                <a:latin typeface="+mn-ea"/>
                <a:ea typeface="+mn-ea"/>
              </a:rPr>
              <a:t>구호 </a:t>
            </a:r>
            <a:r>
              <a:rPr lang="ko-KR" altLang="en-US" sz="1200" dirty="0" smtClean="0">
                <a:solidFill>
                  <a:srgbClr val="00B0F0"/>
                </a:solidFill>
                <a:latin typeface="+mn-ea"/>
                <a:ea typeface="+mn-ea"/>
              </a:rPr>
              <a:t>물품</a:t>
            </a:r>
          </a:p>
          <a:p>
            <a:pPr algn="just"/>
            <a:r>
              <a:rPr lang="en-US" altLang="ko-KR" sz="1200" dirty="0" smtClean="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rPr>
              <a:t>2023</a:t>
            </a:r>
            <a:r>
              <a:rPr lang="ko-KR" altLang="en-US" sz="1200" dirty="0" smtClean="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rPr>
              <a:t>년 </a:t>
            </a:r>
            <a:r>
              <a:rPr lang="en-US" altLang="ko-KR" sz="1200" dirty="0" smtClean="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rPr>
              <a:t>2</a:t>
            </a:r>
            <a:r>
              <a:rPr lang="ko-KR" altLang="en-US" sz="1200" dirty="0" smtClean="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rPr>
              <a:t>월</a:t>
            </a:r>
            <a:endParaRPr lang="en-US" altLang="ko-KR" sz="1200" dirty="0">
              <a:solidFill>
                <a:schemeClr val="bg1">
                  <a:lumMod val="65000"/>
                </a:schemeClr>
              </a:solidFill>
              <a:latin typeface="+mn-ea"/>
              <a:ea typeface="+mn-ea"/>
            </a:endParaRPr>
          </a:p>
        </p:txBody>
      </p:sp>
      <p:grpSp>
        <p:nvGrpSpPr>
          <p:cNvPr id="7" name="그룹 6"/>
          <p:cNvGrpSpPr/>
          <p:nvPr/>
        </p:nvGrpSpPr>
        <p:grpSpPr>
          <a:xfrm>
            <a:off x="1576498" y="1311215"/>
            <a:ext cx="8778637" cy="5546785"/>
            <a:chOff x="1551559" y="1311215"/>
            <a:chExt cx="8778637" cy="5546785"/>
          </a:xfrm>
        </p:grpSpPr>
        <p:pic>
          <p:nvPicPr>
            <p:cNvPr id="4" name="그림 3"/>
            <p:cNvPicPr>
              <a:picLocks noChangeAspect="1"/>
            </p:cNvPicPr>
            <p:nvPr/>
          </p:nvPicPr>
          <p:blipFill rotWithShape="1"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551985" y="1311215"/>
              <a:ext cx="8778211" cy="5546785"/>
            </a:xfrm>
            <a:prstGeom prst="rect">
              <a:avLst/>
            </a:prstGeom>
          </p:spPr>
        </p:pic>
        <p:pic>
          <p:nvPicPr>
            <p:cNvPr id="5" name="그림 4"/>
            <p:cNvPicPr>
              <a:picLocks noChangeAspect="1"/>
            </p:cNvPicPr>
            <p:nvPr/>
          </p:nvPicPr>
          <p:blipFill rotWithShape="1"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 rot="239690">
              <a:off x="1551559" y="6156348"/>
              <a:ext cx="453225" cy="51212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693693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extBox 31">
            <a:extLst>
              <a:ext uri="{FF2B5EF4-FFF2-40B4-BE49-F238E27FC236}">
                <a16:creationId xmlns:a16="http://schemas.microsoft.com/office/drawing/2014/main" xmlns="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 smtClean="0">
                <a:solidFill>
                  <a:schemeClr val="bg1"/>
                </a:solidFill>
                <a:latin typeface="+mj-ea"/>
                <a:ea typeface="+mj-ea"/>
              </a:rPr>
              <a:t>탐구하기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xmlns="" id="{90560433-7D7D-E53F-75DC-9920154898C5}"/>
              </a:ext>
            </a:extLst>
          </p:cNvPr>
          <p:cNvSpPr txBox="1"/>
          <p:nvPr/>
        </p:nvSpPr>
        <p:spPr>
          <a:xfrm>
            <a:off x="9961582" y="942681"/>
            <a:ext cx="816322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 smtClean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그림</a:t>
            </a:r>
            <a:endParaRPr lang="ko-KR" altLang="en-US" sz="1600" b="1" dirty="0">
              <a:solidFill>
                <a:schemeClr val="bg1">
                  <a:lumMod val="5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xmlns="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FFFF00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7400" y="1613182"/>
            <a:ext cx="10239105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000" b="1" dirty="0" smtClean="0"/>
              <a:t>위 게시물을 작성한 사람들이 지진 피해국을 위해 위와 같은 행동을 한 까닭을 써 보자</a:t>
            </a:r>
            <a:r>
              <a:rPr lang="en-US" altLang="ko-KR" sz="2000" b="1" dirty="0" smtClean="0"/>
              <a:t>.</a:t>
            </a:r>
            <a:endParaRPr lang="ko-KR" altLang="en-US" sz="2000" b="1" dirty="0"/>
          </a:p>
        </p:txBody>
      </p:sp>
      <p:pic>
        <p:nvPicPr>
          <p:cNvPr id="36" name="그림 35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xmlns="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11144" y="2166948"/>
            <a:ext cx="487174" cy="487174"/>
          </a:xfrm>
          <a:prstGeom prst="rect">
            <a:avLst/>
          </a:prstGeom>
        </p:spPr>
      </p:pic>
      <p:grpSp>
        <p:nvGrpSpPr>
          <p:cNvPr id="37" name="그룹 36">
            <a:extLst>
              <a:ext uri="{FF2B5EF4-FFF2-40B4-BE49-F238E27FC236}">
                <a16:creationId xmlns:a16="http://schemas.microsoft.com/office/drawing/2014/main" xmlns="" id="{BD8F7919-81BA-4F6C-659C-1ECE98A49C77}"/>
              </a:ext>
            </a:extLst>
          </p:cNvPr>
          <p:cNvGrpSpPr/>
          <p:nvPr/>
        </p:nvGrpSpPr>
        <p:grpSpPr>
          <a:xfrm>
            <a:off x="9493668" y="2166948"/>
            <a:ext cx="1087577" cy="495431"/>
            <a:chOff x="10075659" y="2003022"/>
            <a:chExt cx="1156006" cy="495431"/>
          </a:xfrm>
        </p:grpSpPr>
        <p:pic>
          <p:nvPicPr>
            <p:cNvPr id="38" name="그림 37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xmlns="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xmlns="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40" name="사각형: 둥근 모서리 29">
            <a:extLst>
              <a:ext uri="{FF2B5EF4-FFF2-40B4-BE49-F238E27FC236}">
                <a16:creationId xmlns:a16="http://schemas.microsoft.com/office/drawing/2014/main" xmlns="" id="{C631BC03-B762-9123-7FD1-0A60290B94EB}"/>
              </a:ext>
            </a:extLst>
          </p:cNvPr>
          <p:cNvSpPr/>
          <p:nvPr/>
        </p:nvSpPr>
        <p:spPr>
          <a:xfrm>
            <a:off x="846757" y="2862497"/>
            <a:ext cx="10293350" cy="2129729"/>
          </a:xfrm>
          <a:prstGeom prst="roundRect">
            <a:avLst>
              <a:gd name="adj" fmla="val 8608"/>
            </a:avLst>
          </a:prstGeom>
          <a:solidFill>
            <a:srgbClr val="FFF7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1124945" y="2883366"/>
            <a:ext cx="9784141" cy="1129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400" dirty="0">
                <a:solidFill>
                  <a:srgbClr val="0070C0"/>
                </a:solidFill>
              </a:rPr>
              <a:t>게시물을 작성한 사람들은 지구촌 구성원을 사랑하는 마음으로 지진 피해국 사람들의 아픔에 공감하고</a:t>
            </a:r>
            <a:r>
              <a:rPr lang="en-US" altLang="ko-KR" sz="2400" dirty="0">
                <a:solidFill>
                  <a:srgbClr val="0070C0"/>
                </a:solidFill>
              </a:rPr>
              <a:t>, </a:t>
            </a:r>
            <a:r>
              <a:rPr lang="ko-KR" altLang="en-US" sz="2400" dirty="0">
                <a:solidFill>
                  <a:srgbClr val="0070C0"/>
                </a:solidFill>
              </a:rPr>
              <a:t>그들을 돕고자 했기 때문이다</a:t>
            </a:r>
            <a:r>
              <a:rPr lang="en-US" altLang="ko-KR" sz="2400" dirty="0">
                <a:solidFill>
                  <a:srgbClr val="0070C0"/>
                </a:solidFill>
              </a:rPr>
              <a:t>.</a:t>
            </a:r>
            <a:endParaRPr lang="ko-KR" altLang="en-US" sz="2400" dirty="0">
              <a:solidFill>
                <a:srgbClr val="0070C0"/>
              </a:solidFill>
            </a:endParaRPr>
          </a:p>
        </p:txBody>
      </p:sp>
      <p:pic>
        <p:nvPicPr>
          <p:cNvPr id="18" name="그래픽 13">
            <a:extLst>
              <a:ext uri="{FF2B5EF4-FFF2-40B4-BE49-F238E27FC236}">
                <a16:creationId xmlns:a16="http://schemas.microsoft.com/office/drawing/2014/main" xmlns="" id="{35DACDE9-C2C6-6DAB-E125-F5168FF9B962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xmlns="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xmlns="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세계시민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xmlns="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174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·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xmlns="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 smtClean="0">
                <a:latin typeface="+mj-ea"/>
                <a:ea typeface="+mj-ea"/>
              </a:rPr>
              <a:t>지구적 차원의 도덕 문제를 어떻게 해결할 수 있을까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7312415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7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6"/>
                  </p:tgtEl>
                </p:cond>
              </p:nextCondLst>
            </p:seq>
          </p:childTnLst>
        </p:cTn>
      </p:par>
    </p:tnLst>
    <p:bldLst>
      <p:bldP spid="41" grpId="0"/>
      <p:bldP spid="41" grpId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524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smtClean="0">
                <a:solidFill>
                  <a:schemeClr val="bg1"/>
                </a:solidFill>
                <a:latin typeface="+mj-ea"/>
                <a:ea typeface="+mj-ea"/>
              </a:rPr>
              <a:t>읽어 보기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2661580" y="732169"/>
            <a:ext cx="91262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2000" b="1" dirty="0">
                <a:latin typeface="+mj-ea"/>
                <a:ea typeface="+mj-ea"/>
              </a:rPr>
              <a:t>다음 글을 읽어 보자</a:t>
            </a:r>
            <a:r>
              <a:rPr lang="en-US" altLang="ko-KR" sz="2000" b="1" dirty="0" smtClean="0">
                <a:latin typeface="+mj-ea"/>
                <a:ea typeface="+mj-ea"/>
              </a:rPr>
              <a:t>.</a:t>
            </a:r>
            <a:endParaRPr lang="ko-KR" altLang="en-US" sz="2000" b="1" dirty="0">
              <a:latin typeface="+mj-ea"/>
              <a:ea typeface="+mj-ea"/>
            </a:endParaRPr>
          </a:p>
        </p:txBody>
      </p:sp>
      <p:pic>
        <p:nvPicPr>
          <p:cNvPr id="12" name="그래픽 13">
            <a:extLst>
              <a:ext uri="{FF2B5EF4-FFF2-40B4-BE49-F238E27FC236}">
                <a16:creationId xmlns:a16="http://schemas.microsoft.com/office/drawing/2014/main" xmlns="" id="{35DACDE9-C2C6-6DAB-E125-F5168FF9B96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세계시민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xmlns="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175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·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xmlns="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 smtClean="0">
                <a:latin typeface="+mj-ea"/>
                <a:ea typeface="+mj-ea"/>
              </a:rPr>
              <a:t>지구적 차원의 도덕 문제를 어떻게 해결할 수 있을까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66345" y="1750665"/>
            <a:ext cx="8729414" cy="35681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   미국에 사는 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8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살 </a:t>
            </a:r>
            <a:r>
              <a:rPr lang="ko-KR" altLang="en-US" sz="2200" dirty="0" err="1">
                <a:latin typeface="굴림" panose="020B0600000101010101" pitchFamily="50" charset="-127"/>
                <a:ea typeface="굴림" panose="020B0600000101010101" pitchFamily="50" charset="-127"/>
              </a:rPr>
              <a:t>비비안은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 ◯◯국의 어린이들이 채석장에서 무거운 돌을 옮기는 노동을 하는 모습을 보고 충격에 빠졌다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그는 제대로 된 식사와 임금을 보장받지 못한 채 온종일 일하는 어린이들이 있음을 알고 이들을 돕겠다고 결심하였다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dirty="0" err="1">
                <a:latin typeface="굴림" panose="020B0600000101010101" pitchFamily="50" charset="-127"/>
                <a:ea typeface="굴림" panose="020B0600000101010101" pitchFamily="50" charset="-127"/>
              </a:rPr>
              <a:t>비비안은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 ‘노동을 착취당하는 어린이 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500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명 </a:t>
            </a:r>
            <a:r>
              <a:rPr lang="ko-KR" altLang="en-US" sz="2200" dirty="0" err="1">
                <a:latin typeface="굴림" panose="020B0600000101010101" pitchFamily="50" charset="-127"/>
                <a:ea typeface="굴림" panose="020B0600000101010101" pitchFamily="50" charset="-127"/>
              </a:rPr>
              <a:t>돕기’라는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 목표를 세우고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매일 아침 집 앞에서 레모네이드를 만들어 팔며 모금 운동을 벌였다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dirty="0" err="1">
                <a:latin typeface="굴림" panose="020B0600000101010101" pitchFamily="50" charset="-127"/>
                <a:ea typeface="굴림" panose="020B0600000101010101" pitchFamily="50" charset="-127"/>
              </a:rPr>
              <a:t>비비안이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 정한 레모네이드 한 잔의 가격은 ‘마음이 우러나는 만큼’이었다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  <a:endParaRPr lang="en-US" altLang="ko-KR" sz="2200" dirty="0">
              <a:solidFill>
                <a:schemeClr val="tx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grpSp>
        <p:nvGrpSpPr>
          <p:cNvPr id="24" name="그룹 23"/>
          <p:cNvGrpSpPr/>
          <p:nvPr/>
        </p:nvGrpSpPr>
        <p:grpSpPr>
          <a:xfrm>
            <a:off x="9403593" y="1750665"/>
            <a:ext cx="2384216" cy="4581525"/>
            <a:chOff x="6834554" y="1541870"/>
            <a:chExt cx="2384216" cy="4581525"/>
          </a:xfrm>
        </p:grpSpPr>
        <p:pic>
          <p:nvPicPr>
            <p:cNvPr id="25" name="그림 24"/>
            <p:cNvPicPr>
              <a:picLocks noChangeAspect="1"/>
            </p:cNvPicPr>
            <p:nvPr/>
          </p:nvPicPr>
          <p:blipFill rotWithShape="1"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6838985" y="1541870"/>
              <a:ext cx="2379785" cy="4581525"/>
            </a:xfrm>
            <a:prstGeom prst="rect">
              <a:avLst/>
            </a:prstGeom>
          </p:spPr>
        </p:pic>
        <p:sp>
          <p:nvSpPr>
            <p:cNvPr id="26" name="직사각형 25"/>
            <p:cNvSpPr/>
            <p:nvPr/>
          </p:nvSpPr>
          <p:spPr>
            <a:xfrm>
              <a:off x="6834554" y="1541870"/>
              <a:ext cx="146960" cy="18291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7" name="직사각형 26"/>
            <p:cNvSpPr/>
            <p:nvPr/>
          </p:nvSpPr>
          <p:spPr>
            <a:xfrm>
              <a:off x="6834554" y="5058793"/>
              <a:ext cx="146960" cy="96658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8" name="타원 27"/>
          <p:cNvSpPr/>
          <p:nvPr/>
        </p:nvSpPr>
        <p:spPr>
          <a:xfrm>
            <a:off x="5766101" y="6265014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타원 28">
            <a:hlinkClick r:id="" action="ppaction://hlinkshowjump?jump=nextslide"/>
          </p:cNvPr>
          <p:cNvSpPr/>
          <p:nvPr/>
        </p:nvSpPr>
        <p:spPr>
          <a:xfrm>
            <a:off x="6161476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205988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524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smtClean="0">
                <a:solidFill>
                  <a:schemeClr val="bg1"/>
                </a:solidFill>
                <a:latin typeface="+mj-ea"/>
                <a:ea typeface="+mj-ea"/>
              </a:rPr>
              <a:t>읽어 보기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2661580" y="732169"/>
            <a:ext cx="91262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2000" b="1" dirty="0">
                <a:latin typeface="+mj-ea"/>
                <a:ea typeface="+mj-ea"/>
              </a:rPr>
              <a:t>다음 글을 읽어 보자</a:t>
            </a:r>
            <a:r>
              <a:rPr lang="en-US" altLang="ko-KR" sz="2000" b="1" dirty="0" smtClean="0">
                <a:latin typeface="+mj-ea"/>
                <a:ea typeface="+mj-ea"/>
              </a:rPr>
              <a:t>.</a:t>
            </a:r>
            <a:endParaRPr lang="ko-KR" altLang="en-US" sz="2000" b="1" dirty="0">
              <a:latin typeface="+mj-ea"/>
              <a:ea typeface="+mj-ea"/>
            </a:endParaRPr>
          </a:p>
        </p:txBody>
      </p:sp>
      <p:pic>
        <p:nvPicPr>
          <p:cNvPr id="12" name="그래픽 13">
            <a:extLst>
              <a:ext uri="{FF2B5EF4-FFF2-40B4-BE49-F238E27FC236}">
                <a16:creationId xmlns:a16="http://schemas.microsoft.com/office/drawing/2014/main" xmlns="" id="{35DACDE9-C2C6-6DAB-E125-F5168FF9B96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세계시민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xmlns="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175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·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xmlns="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 smtClean="0">
                <a:latin typeface="+mj-ea"/>
                <a:ea typeface="+mj-ea"/>
              </a:rPr>
              <a:t>지구적 차원의 도덕 문제를 어떻게 해결할 수 있을까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57718" y="1750665"/>
            <a:ext cx="8729414" cy="36471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20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 이 </a:t>
            </a:r>
            <a:r>
              <a:rPr lang="ko-KR" altLang="en-US" sz="2200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소식이 언론을 통해 알려지면서 </a:t>
            </a:r>
            <a:r>
              <a:rPr lang="ko-KR" altLang="en-US" sz="2200" dirty="0" err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비비안은</a:t>
            </a:r>
            <a:r>
              <a:rPr lang="ko-KR" altLang="en-US" sz="2200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뉴욕 타임스 스퀘어에서 </a:t>
            </a:r>
            <a:r>
              <a:rPr lang="ko-KR" altLang="en-US" sz="220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레모네이드를 판매할 </a:t>
            </a:r>
            <a:r>
              <a:rPr lang="ko-KR" altLang="en-US" sz="2200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수 있게 되었다</a:t>
            </a:r>
            <a:r>
              <a:rPr lang="en-US" altLang="ko-KR" sz="2200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그리고 수많은 사람의 관심과 후원 덕분에 모금 운동을 </a:t>
            </a:r>
            <a:r>
              <a:rPr lang="ko-KR" altLang="en-US" sz="220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벌인지 </a:t>
            </a:r>
            <a:r>
              <a:rPr lang="en-US" altLang="ko-KR" sz="2200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173</a:t>
            </a:r>
            <a:r>
              <a:rPr lang="ko-KR" altLang="en-US" sz="2200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일 만에 목표했던 </a:t>
            </a:r>
            <a:r>
              <a:rPr lang="en-US" altLang="ko-KR" sz="2200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10</a:t>
            </a:r>
            <a:r>
              <a:rPr lang="ko-KR" altLang="en-US" sz="2200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만 달러라는 큰돈을 모을 수 있었다</a:t>
            </a:r>
            <a:r>
              <a:rPr lang="en-US" altLang="ko-KR" sz="2200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dirty="0" err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비비안은</a:t>
            </a:r>
            <a:r>
              <a:rPr lang="ko-KR" altLang="en-US" sz="2200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모은 돈 </a:t>
            </a:r>
            <a:r>
              <a:rPr lang="ko-KR" altLang="en-US" sz="220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전부를 </a:t>
            </a:r>
            <a:r>
              <a:rPr lang="ko-KR" altLang="en-US" sz="2200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노동을 착취당하는 어린이를 돕는 단체에 기부하였다</a:t>
            </a:r>
            <a:r>
              <a:rPr lang="en-US" altLang="ko-KR" sz="2200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이후에도 그는 사회적 </a:t>
            </a:r>
            <a:r>
              <a:rPr lang="ko-KR" altLang="en-US" sz="220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기업을 </a:t>
            </a:r>
            <a:r>
              <a:rPr lang="ko-KR" altLang="en-US" sz="2200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설립해 레모네이드를 판매했고</a:t>
            </a:r>
            <a:r>
              <a:rPr lang="en-US" altLang="ko-KR" sz="2200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2200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수익금을 어린이 후원 단체에 기부하고 있다</a:t>
            </a:r>
            <a:r>
              <a:rPr lang="en-US" altLang="ko-KR" sz="220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.     </a:t>
            </a:r>
            <a:r>
              <a:rPr lang="en-US" altLang="ko-KR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- </a:t>
            </a:r>
            <a:r>
              <a:rPr lang="ko-KR" altLang="en-US" dirty="0" err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정학경</a:t>
            </a:r>
            <a:r>
              <a:rPr lang="en-US" altLang="ko-KR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, 《</a:t>
            </a:r>
            <a:r>
              <a:rPr lang="ko-KR" altLang="en-US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세상을 바꾼 </a:t>
            </a:r>
            <a:r>
              <a:rPr lang="en-US" altLang="ko-KR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10</a:t>
            </a:r>
            <a:r>
              <a:rPr lang="ko-KR" altLang="en-US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대들</a:t>
            </a:r>
            <a:r>
              <a:rPr lang="en-US" altLang="ko-KR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그들은 무엇이 달랐을까</a:t>
            </a:r>
            <a:r>
              <a:rPr lang="en-US" altLang="ko-KR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?》</a:t>
            </a:r>
          </a:p>
        </p:txBody>
      </p:sp>
      <p:grpSp>
        <p:nvGrpSpPr>
          <p:cNvPr id="24" name="그룹 23"/>
          <p:cNvGrpSpPr/>
          <p:nvPr/>
        </p:nvGrpSpPr>
        <p:grpSpPr>
          <a:xfrm>
            <a:off x="9403593" y="1750665"/>
            <a:ext cx="2384216" cy="4581525"/>
            <a:chOff x="6834554" y="1541870"/>
            <a:chExt cx="2384216" cy="4581525"/>
          </a:xfrm>
        </p:grpSpPr>
        <p:pic>
          <p:nvPicPr>
            <p:cNvPr id="25" name="그림 24"/>
            <p:cNvPicPr>
              <a:picLocks noChangeAspect="1"/>
            </p:cNvPicPr>
            <p:nvPr/>
          </p:nvPicPr>
          <p:blipFill rotWithShape="1"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6838985" y="1541870"/>
              <a:ext cx="2379785" cy="4581525"/>
            </a:xfrm>
            <a:prstGeom prst="rect">
              <a:avLst/>
            </a:prstGeom>
          </p:spPr>
        </p:pic>
        <p:sp>
          <p:nvSpPr>
            <p:cNvPr id="26" name="직사각형 25"/>
            <p:cNvSpPr/>
            <p:nvPr/>
          </p:nvSpPr>
          <p:spPr>
            <a:xfrm>
              <a:off x="6834554" y="1541870"/>
              <a:ext cx="146960" cy="18291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7" name="직사각형 26"/>
            <p:cNvSpPr/>
            <p:nvPr/>
          </p:nvSpPr>
          <p:spPr>
            <a:xfrm>
              <a:off x="6834554" y="5058793"/>
              <a:ext cx="146960" cy="96658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1" name="타원 20">
            <a:hlinkClick r:id="" action="ppaction://hlinkshowjump?jump=previousslide"/>
          </p:cNvPr>
          <p:cNvSpPr/>
          <p:nvPr/>
        </p:nvSpPr>
        <p:spPr>
          <a:xfrm>
            <a:off x="5766101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타원 21"/>
          <p:cNvSpPr/>
          <p:nvPr/>
        </p:nvSpPr>
        <p:spPr>
          <a:xfrm>
            <a:off x="6161476" y="6265014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91349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xmlns="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학습하기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2056" y="1510186"/>
            <a:ext cx="11028475" cy="40164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500" b="1" dirty="0">
                <a:solidFill>
                  <a:schemeClr val="accent2">
                    <a:lumMod val="50000"/>
                  </a:schemeClr>
                </a:solidFill>
              </a:rPr>
              <a:t>인류애 추구</a:t>
            </a:r>
            <a:endParaRPr lang="en-US" altLang="ko-KR" sz="2500" b="1" dirty="0">
              <a:solidFill>
                <a:schemeClr val="accent2">
                  <a:lumMod val="50000"/>
                </a:schemeClr>
              </a:solidFill>
            </a:endParaRPr>
          </a:p>
          <a:p>
            <a:pPr algn="just">
              <a:lnSpc>
                <a:spcPct val="150000"/>
              </a:lnSpc>
            </a:pPr>
            <a:r>
              <a:rPr lang="ko-KR" altLang="en-US" sz="2400" dirty="0"/>
              <a:t>인류 전체를 사랑하는 마음인 </a:t>
            </a:r>
            <a:r>
              <a:rPr lang="ko-KR" altLang="en-US" sz="2400" dirty="0" smtClean="0"/>
              <a:t>인류애를 추구하여 이들의 </a:t>
            </a:r>
            <a:r>
              <a:rPr lang="ko-KR" altLang="en-US" sz="2400" dirty="0"/>
              <a:t>고통에 공감하며 모두가 인간다운 삶을 살아갈 수 있도록 노력해야 함</a:t>
            </a:r>
            <a:r>
              <a:rPr lang="en-US" altLang="ko-KR" sz="2400" dirty="0" smtClean="0"/>
              <a:t>.</a:t>
            </a:r>
          </a:p>
          <a:p>
            <a:pPr algn="just">
              <a:lnSpc>
                <a:spcPct val="150000"/>
              </a:lnSpc>
            </a:pPr>
            <a:endParaRPr lang="en-US" altLang="ko-KR" sz="2400" dirty="0"/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500" b="1" dirty="0">
                <a:solidFill>
                  <a:schemeClr val="accent2">
                    <a:lumMod val="50000"/>
                  </a:schemeClr>
                </a:solidFill>
              </a:rPr>
              <a:t>연대 의식 추구</a:t>
            </a:r>
            <a:endParaRPr lang="en-US" altLang="ko-KR" sz="2500" b="1" dirty="0">
              <a:solidFill>
                <a:schemeClr val="accent2">
                  <a:lumMod val="50000"/>
                </a:schemeClr>
              </a:solidFill>
            </a:endParaRPr>
          </a:p>
          <a:p>
            <a:pPr algn="just">
              <a:lnSpc>
                <a:spcPct val="150000"/>
              </a:lnSpc>
            </a:pPr>
            <a:r>
              <a:rPr lang="ko-KR" altLang="en-US" sz="2400" dirty="0"/>
              <a:t>공동체의 구성원이 서로 연결되어 있다는 생각인 연대 </a:t>
            </a:r>
            <a:r>
              <a:rPr lang="ko-KR" altLang="en-US" sz="2400" dirty="0" smtClean="0"/>
              <a:t>의식을 추구하여 지구촌 </a:t>
            </a:r>
            <a:r>
              <a:rPr lang="ko-KR" altLang="en-US" sz="2400" dirty="0"/>
              <a:t>문제를 함께 책임지려는 마음을 지녀야 함</a:t>
            </a:r>
            <a:r>
              <a:rPr lang="en-US" altLang="ko-KR" sz="2400" dirty="0" smtClean="0"/>
              <a:t>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 err="1" smtClean="0">
                <a:solidFill>
                  <a:srgbClr val="FFFF00"/>
                </a:solidFill>
                <a:latin typeface="+mn-ea"/>
              </a:rPr>
              <a:t>세계시민이</a:t>
            </a:r>
            <a:r>
              <a:rPr lang="ko-KR" altLang="en-US" sz="2800" b="1" dirty="0" smtClean="0">
                <a:solidFill>
                  <a:srgbClr val="FFFF00"/>
                </a:solidFill>
                <a:latin typeface="+mn-ea"/>
              </a:rPr>
              <a:t> 갖추어야 할 도덕적 자세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pic>
        <p:nvPicPr>
          <p:cNvPr id="12" name="그래픽 13">
            <a:extLst>
              <a:ext uri="{FF2B5EF4-FFF2-40B4-BE49-F238E27FC236}">
                <a16:creationId xmlns:a16="http://schemas.microsoft.com/office/drawing/2014/main" xmlns="" id="{35DACDE9-C2C6-6DAB-E125-F5168FF9B962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xmlns="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세계시민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xmlns="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175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·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xmlns="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 smtClean="0">
                <a:latin typeface="+mj-ea"/>
                <a:ea typeface="+mj-ea"/>
              </a:rPr>
              <a:t>지구적 차원의 도덕 문제를 어떻게 해결할 수 있을까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25" name="타원 24"/>
          <p:cNvSpPr/>
          <p:nvPr/>
        </p:nvSpPr>
        <p:spPr>
          <a:xfrm>
            <a:off x="5766101" y="6265014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타원 25">
            <a:hlinkClick r:id="" action="ppaction://hlinkshowjump?jump=nextslide"/>
          </p:cNvPr>
          <p:cNvSpPr/>
          <p:nvPr/>
        </p:nvSpPr>
        <p:spPr>
          <a:xfrm>
            <a:off x="6161476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46983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xmlns="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학습하기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2056" y="1510186"/>
            <a:ext cx="11028475" cy="17774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500" b="1" dirty="0" smtClean="0">
                <a:solidFill>
                  <a:schemeClr val="accent2">
                    <a:lumMod val="50000"/>
                  </a:schemeClr>
                </a:solidFill>
                <a:latin typeface="+mn-ea"/>
              </a:rPr>
              <a:t>보편적 가치 </a:t>
            </a:r>
            <a:r>
              <a:rPr lang="ko-KR" altLang="en-US" sz="2500" b="1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추구</a:t>
            </a:r>
            <a:endParaRPr lang="en-US" altLang="ko-KR" sz="2500" b="1" dirty="0">
              <a:solidFill>
                <a:schemeClr val="accent2">
                  <a:lumMod val="50000"/>
                </a:schemeClr>
              </a:solidFill>
              <a:latin typeface="+mn-ea"/>
            </a:endParaRPr>
          </a:p>
          <a:p>
            <a:pPr algn="just">
              <a:lnSpc>
                <a:spcPct val="150000"/>
              </a:lnSpc>
            </a:pPr>
            <a:r>
              <a:rPr lang="ko-KR" altLang="en-US" sz="2400" dirty="0" smtClean="0"/>
              <a:t>시대와 장소를 초월하여 존중해야 할 가치인 보편적 가치를 추구하여 보편적 </a:t>
            </a:r>
            <a:r>
              <a:rPr lang="ko-KR" altLang="en-US" sz="2400" dirty="0"/>
              <a:t>가치가 지구 공동체 안에서 잘 실현되도록 지속적인 관심을 기울여야 함</a:t>
            </a:r>
            <a:r>
              <a:rPr lang="en-US" altLang="ko-KR" sz="2400" dirty="0"/>
              <a:t>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 err="1" smtClean="0">
                <a:solidFill>
                  <a:srgbClr val="FFFF00"/>
                </a:solidFill>
                <a:latin typeface="+mn-ea"/>
              </a:rPr>
              <a:t>세계시민이</a:t>
            </a:r>
            <a:r>
              <a:rPr lang="ko-KR" altLang="en-US" sz="2800" b="1" dirty="0" smtClean="0">
                <a:solidFill>
                  <a:srgbClr val="FFFF00"/>
                </a:solidFill>
                <a:latin typeface="+mn-ea"/>
              </a:rPr>
              <a:t> 갖추어야 할 도덕적 자세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pic>
        <p:nvPicPr>
          <p:cNvPr id="12" name="그래픽 13">
            <a:extLst>
              <a:ext uri="{FF2B5EF4-FFF2-40B4-BE49-F238E27FC236}">
                <a16:creationId xmlns:a16="http://schemas.microsoft.com/office/drawing/2014/main" xmlns="" id="{35DACDE9-C2C6-6DAB-E125-F5168FF9B962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xmlns="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세계시민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xmlns="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175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·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xmlns="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 smtClean="0">
                <a:latin typeface="+mj-ea"/>
                <a:ea typeface="+mj-ea"/>
              </a:rPr>
              <a:t>지구적 차원의 도덕 문제를 어떻게 해결할 수 있을까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14" name="타원 13">
            <a:hlinkClick r:id="" action="ppaction://hlinkshowjump?jump=previousslide"/>
          </p:cNvPr>
          <p:cNvSpPr/>
          <p:nvPr/>
        </p:nvSpPr>
        <p:spPr>
          <a:xfrm>
            <a:off x="5766101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타원 16"/>
          <p:cNvSpPr/>
          <p:nvPr/>
        </p:nvSpPr>
        <p:spPr>
          <a:xfrm>
            <a:off x="6161476" y="6265014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08284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 smtClean="0">
                <a:solidFill>
                  <a:schemeClr val="bg1"/>
                </a:solidFill>
                <a:latin typeface="+mj-ea"/>
                <a:ea typeface="+mj-ea"/>
              </a:rPr>
              <a:t>생각하기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xmlns="" id="{90560433-7D7D-E53F-75DC-9920154898C5}"/>
              </a:ext>
            </a:extLst>
          </p:cNvPr>
          <p:cNvSpPr txBox="1"/>
          <p:nvPr/>
        </p:nvSpPr>
        <p:spPr>
          <a:xfrm>
            <a:off x="9961582" y="942681"/>
            <a:ext cx="816322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 smtClean="0">
                <a:solidFill>
                  <a:srgbClr val="FFFF00"/>
                </a:solidFill>
                <a:latin typeface="+mj-ea"/>
                <a:ea typeface="+mj-ea"/>
              </a:rPr>
              <a:t>그림</a:t>
            </a:r>
            <a:endParaRPr lang="ko-KR" altLang="en-US" sz="1600" b="1" dirty="0">
              <a:solidFill>
                <a:srgbClr val="FFFF00"/>
              </a:solidFill>
              <a:latin typeface="+mj-ea"/>
              <a:ea typeface="+mj-ea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xmlns="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6C768E"/>
                </a:solidFill>
                <a:latin typeface="+mj-ea"/>
                <a:ea typeface="+mj-ea"/>
              </a:rPr>
              <a:t>활동</a:t>
            </a: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xmlns="" id="{DD2FC838-49B1-0E93-782F-F52D261F831C}"/>
              </a:ext>
            </a:extLst>
          </p:cNvPr>
          <p:cNvGrpSpPr/>
          <p:nvPr/>
        </p:nvGrpSpPr>
        <p:grpSpPr>
          <a:xfrm>
            <a:off x="9719971" y="5998328"/>
            <a:ext cx="1944697" cy="492328"/>
            <a:chOff x="377032" y="923820"/>
            <a:chExt cx="1944697" cy="492328"/>
          </a:xfrm>
        </p:grpSpPr>
        <p:pic>
          <p:nvPicPr>
            <p:cNvPr id="18" name="그림 17" descr="상징, 그린, 로고, 스크린샷이(가) 표시된 사진&#10;&#10;자동 생성된 설명">
              <a:extLst>
                <a:ext uri="{FF2B5EF4-FFF2-40B4-BE49-F238E27FC236}">
                  <a16:creationId xmlns:a16="http://schemas.microsoft.com/office/drawing/2014/main" xmlns="" id="{9C2C07B9-E9B8-5FD4-3609-BF7BDBCBFF9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77032" y="923820"/>
              <a:ext cx="1944697" cy="492328"/>
            </a:xfrm>
            <a:prstGeom prst="rect">
              <a:avLst/>
            </a:prstGeom>
          </p:spPr>
        </p:pic>
        <p:sp>
          <p:nvSpPr>
            <p:cNvPr id="28" name="TextBox 27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xmlns="" id="{4B404EC2-CE39-0907-EB0D-5A0B60F5A023}"/>
                </a:ext>
              </a:extLst>
            </p:cNvPr>
            <p:cNvSpPr txBox="1"/>
            <p:nvPr/>
          </p:nvSpPr>
          <p:spPr>
            <a:xfrm>
              <a:off x="817282" y="971280"/>
              <a:ext cx="141577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더 알아보기</a:t>
              </a:r>
            </a:p>
          </p:txBody>
        </p:sp>
      </p:grpSp>
      <p:pic>
        <p:nvPicPr>
          <p:cNvPr id="36" name="그래픽 13">
            <a:extLst>
              <a:ext uri="{FF2B5EF4-FFF2-40B4-BE49-F238E27FC236}">
                <a16:creationId xmlns:a16="http://schemas.microsoft.com/office/drawing/2014/main" xmlns="" id="{35DACDE9-C2C6-6DAB-E125-F5168FF9B962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xmlns="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xmlns="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세계시민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xmlns="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176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·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xmlns="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 smtClean="0">
                <a:latin typeface="+mj-ea"/>
                <a:ea typeface="+mj-ea"/>
              </a:rPr>
              <a:t>지구적 차원의 도덕 문제를 어떻게 해결할 수 있을까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grpSp>
        <p:nvGrpSpPr>
          <p:cNvPr id="7" name="그룹 6"/>
          <p:cNvGrpSpPr/>
          <p:nvPr/>
        </p:nvGrpSpPr>
        <p:grpSpPr>
          <a:xfrm>
            <a:off x="1433849" y="1274611"/>
            <a:ext cx="8620357" cy="5419487"/>
            <a:chOff x="1433849" y="1274611"/>
            <a:chExt cx="8620357" cy="5419487"/>
          </a:xfrm>
        </p:grpSpPr>
        <p:grpSp>
          <p:nvGrpSpPr>
            <p:cNvPr id="2" name="그룹 1"/>
            <p:cNvGrpSpPr/>
            <p:nvPr/>
          </p:nvGrpSpPr>
          <p:grpSpPr>
            <a:xfrm>
              <a:off x="1433849" y="1274611"/>
              <a:ext cx="8620357" cy="5419487"/>
              <a:chOff x="1433849" y="1274611"/>
              <a:chExt cx="8620357" cy="5419487"/>
            </a:xfrm>
          </p:grpSpPr>
          <p:pic>
            <p:nvPicPr>
              <p:cNvPr id="16" name="그림 15"/>
              <p:cNvPicPr>
                <a:picLocks noChangeAspect="1"/>
              </p:cNvPicPr>
              <p:nvPr/>
            </p:nvPicPr>
            <p:blipFill>
              <a:blip r:embed="rId6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632608" y="1274611"/>
                <a:ext cx="8421598" cy="5419487"/>
              </a:xfrm>
              <a:prstGeom prst="rect">
                <a:avLst/>
              </a:prstGeom>
            </p:spPr>
          </p:pic>
          <p:sp>
            <p:nvSpPr>
              <p:cNvPr id="29" name="직사각형 28"/>
              <p:cNvSpPr/>
              <p:nvPr/>
            </p:nvSpPr>
            <p:spPr>
              <a:xfrm rot="1513412">
                <a:off x="1433849" y="4462777"/>
                <a:ext cx="1578614" cy="377418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FFFF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3" name="타원 2"/>
            <p:cNvSpPr/>
            <p:nvPr/>
          </p:nvSpPr>
          <p:spPr>
            <a:xfrm>
              <a:off x="1847849" y="1418335"/>
              <a:ext cx="2551461" cy="289648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타원 19"/>
            <p:cNvSpPr/>
            <p:nvPr/>
          </p:nvSpPr>
          <p:spPr>
            <a:xfrm>
              <a:off x="4505325" y="1480692"/>
              <a:ext cx="2576222" cy="299496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타원 20"/>
            <p:cNvSpPr/>
            <p:nvPr/>
          </p:nvSpPr>
          <p:spPr>
            <a:xfrm>
              <a:off x="7264369" y="1439465"/>
              <a:ext cx="2442865" cy="295478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 smtClean="0"/>
                <a:t>11</a:t>
              </a:r>
              <a:endParaRPr lang="ko-KR" altLang="en-US" dirty="0"/>
            </a:p>
          </p:txBody>
        </p:sp>
        <p:sp>
          <p:nvSpPr>
            <p:cNvPr id="22" name="타원 21"/>
            <p:cNvSpPr/>
            <p:nvPr/>
          </p:nvSpPr>
          <p:spPr>
            <a:xfrm>
              <a:off x="7187562" y="1756470"/>
              <a:ext cx="1233778" cy="118099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1823568" y="1588377"/>
            <a:ext cx="2600021" cy="258532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400" dirty="0">
                <a:latin typeface="+mn-ea"/>
              </a:rPr>
              <a:t>저희는 장을 볼 때 주로 </a:t>
            </a:r>
          </a:p>
          <a:p>
            <a:pPr algn="ctr">
              <a:lnSpc>
                <a:spcPct val="150000"/>
              </a:lnSpc>
            </a:pPr>
            <a:r>
              <a:rPr lang="ko-KR" altLang="en-US" sz="1400" dirty="0">
                <a:latin typeface="+mn-ea"/>
              </a:rPr>
              <a:t>공정 무역 인증 마크가 </a:t>
            </a:r>
          </a:p>
          <a:p>
            <a:pPr algn="ctr">
              <a:lnSpc>
                <a:spcPct val="150000"/>
              </a:lnSpc>
            </a:pPr>
            <a:r>
              <a:rPr lang="ko-KR" altLang="en-US" sz="1400" dirty="0">
                <a:latin typeface="+mn-ea"/>
              </a:rPr>
              <a:t>붙어 있는 사탕</a:t>
            </a:r>
            <a:r>
              <a:rPr lang="en-US" altLang="ko-KR" sz="1400" dirty="0">
                <a:latin typeface="+mn-ea"/>
              </a:rPr>
              <a:t>, </a:t>
            </a:r>
            <a:r>
              <a:rPr lang="ko-KR" altLang="en-US" sz="1400" dirty="0">
                <a:latin typeface="+mn-ea"/>
              </a:rPr>
              <a:t>비누</a:t>
            </a:r>
            <a:r>
              <a:rPr lang="en-US" altLang="ko-KR" sz="1400" dirty="0">
                <a:latin typeface="+mn-ea"/>
              </a:rPr>
              <a:t>, </a:t>
            </a:r>
            <a:r>
              <a:rPr lang="ko-KR" altLang="en-US" sz="1400" dirty="0">
                <a:latin typeface="+mn-ea"/>
              </a:rPr>
              <a:t>초콜릿</a:t>
            </a:r>
            <a:r>
              <a:rPr lang="en-US" altLang="ko-KR" sz="1400" dirty="0">
                <a:latin typeface="+mn-ea"/>
              </a:rPr>
              <a:t>, </a:t>
            </a:r>
          </a:p>
          <a:p>
            <a:pPr algn="ctr">
              <a:lnSpc>
                <a:spcPct val="150000"/>
              </a:lnSpc>
            </a:pPr>
            <a:r>
              <a:rPr lang="ko-KR" altLang="en-US" sz="1400" dirty="0">
                <a:latin typeface="+mn-ea"/>
              </a:rPr>
              <a:t>커피</a:t>
            </a:r>
            <a:r>
              <a:rPr lang="en-US" altLang="ko-KR" sz="1400" dirty="0">
                <a:latin typeface="+mn-ea"/>
              </a:rPr>
              <a:t>, </a:t>
            </a:r>
            <a:r>
              <a:rPr lang="ko-KR" altLang="en-US" sz="1400" dirty="0">
                <a:latin typeface="+mn-ea"/>
              </a:rPr>
              <a:t>바나나 등을 구매해요</a:t>
            </a:r>
            <a:r>
              <a:rPr lang="en-US" altLang="ko-KR" sz="1400" dirty="0">
                <a:latin typeface="+mn-ea"/>
              </a:rPr>
              <a:t>. </a:t>
            </a:r>
          </a:p>
          <a:p>
            <a:pPr algn="ctr">
              <a:lnSpc>
                <a:spcPct val="150000"/>
              </a:lnSpc>
            </a:pPr>
            <a:r>
              <a:rPr lang="ko-KR" altLang="en-US" sz="1400" dirty="0">
                <a:latin typeface="+mn-ea"/>
              </a:rPr>
              <a:t>제 작은 소비 행위가 생산자에게 </a:t>
            </a:r>
          </a:p>
          <a:p>
            <a:pPr algn="ctr">
              <a:lnSpc>
                <a:spcPct val="150000"/>
              </a:lnSpc>
            </a:pPr>
            <a:r>
              <a:rPr lang="ko-KR" altLang="en-US" sz="1400" dirty="0">
                <a:latin typeface="+mn-ea"/>
              </a:rPr>
              <a:t>정당한 대가를 지불하고 공정한 </a:t>
            </a:r>
          </a:p>
          <a:p>
            <a:pPr algn="ctr">
              <a:lnSpc>
                <a:spcPct val="150000"/>
              </a:lnSpc>
            </a:pPr>
            <a:r>
              <a:rPr lang="ko-KR" altLang="en-US" sz="1400" dirty="0">
                <a:latin typeface="+mn-ea"/>
              </a:rPr>
              <a:t>무역 구조를 만드는 데 도움이 </a:t>
            </a:r>
          </a:p>
          <a:p>
            <a:pPr algn="ctr">
              <a:lnSpc>
                <a:spcPct val="150000"/>
              </a:lnSpc>
            </a:pPr>
            <a:r>
              <a:rPr lang="ko-KR" altLang="en-US" sz="1400" dirty="0">
                <a:latin typeface="+mn-ea"/>
              </a:rPr>
              <a:t>된다니 뿌듯해요</a:t>
            </a:r>
            <a:r>
              <a:rPr lang="en-US" altLang="ko-KR" sz="1400" dirty="0">
                <a:latin typeface="+mn-ea"/>
              </a:rPr>
              <a:t>.</a:t>
            </a:r>
            <a:endParaRPr lang="ko-KR" altLang="en-US" sz="1400" dirty="0">
              <a:latin typeface="+mn-ea"/>
              <a:ea typeface="+mn-ea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505325" y="1978661"/>
            <a:ext cx="2653029" cy="258532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400" dirty="0">
                <a:latin typeface="+mn-ea"/>
              </a:rPr>
              <a:t>저는 탄소 배출을 줄이고자 </a:t>
            </a:r>
          </a:p>
          <a:p>
            <a:pPr algn="ctr">
              <a:lnSpc>
                <a:spcPct val="150000"/>
              </a:lnSpc>
            </a:pPr>
            <a:r>
              <a:rPr lang="ko-KR" altLang="en-US" sz="1400" dirty="0">
                <a:latin typeface="+mn-ea"/>
              </a:rPr>
              <a:t>전교 학생 회의에서 채식 급식을 </a:t>
            </a:r>
          </a:p>
          <a:p>
            <a:pPr algn="ctr">
              <a:lnSpc>
                <a:spcPct val="150000"/>
              </a:lnSpc>
            </a:pPr>
            <a:r>
              <a:rPr lang="ko-KR" altLang="en-US" sz="1400" dirty="0">
                <a:latin typeface="+mn-ea"/>
              </a:rPr>
              <a:t>더 자주 시행하기를 제안했고</a:t>
            </a:r>
            <a:r>
              <a:rPr lang="en-US" altLang="ko-KR" sz="1400" dirty="0">
                <a:latin typeface="+mn-ea"/>
              </a:rPr>
              <a:t>, </a:t>
            </a:r>
          </a:p>
          <a:p>
            <a:pPr algn="ctr">
              <a:lnSpc>
                <a:spcPct val="150000"/>
              </a:lnSpc>
            </a:pPr>
            <a:r>
              <a:rPr lang="ko-KR" altLang="en-US" sz="1400" dirty="0">
                <a:latin typeface="+mn-ea"/>
              </a:rPr>
              <a:t>그 결과 우리 학교는 주 </a:t>
            </a:r>
            <a:r>
              <a:rPr lang="en-US" altLang="ko-KR" sz="1400" dirty="0">
                <a:latin typeface="+mn-ea"/>
              </a:rPr>
              <a:t>1</a:t>
            </a:r>
            <a:r>
              <a:rPr lang="ko-KR" altLang="en-US" sz="1400" dirty="0">
                <a:latin typeface="+mn-ea"/>
              </a:rPr>
              <a:t>회 채식 </a:t>
            </a:r>
          </a:p>
          <a:p>
            <a:pPr algn="ctr">
              <a:lnSpc>
                <a:spcPct val="150000"/>
              </a:lnSpc>
            </a:pPr>
            <a:r>
              <a:rPr lang="ko-KR" altLang="en-US" sz="1400" dirty="0">
                <a:latin typeface="+mn-ea"/>
              </a:rPr>
              <a:t>급식을 하게 되었어요</a:t>
            </a:r>
            <a:r>
              <a:rPr lang="en-US" altLang="ko-KR" sz="1400" dirty="0">
                <a:latin typeface="+mn-ea"/>
              </a:rPr>
              <a:t>. </a:t>
            </a:r>
          </a:p>
          <a:p>
            <a:pPr algn="ctr">
              <a:lnSpc>
                <a:spcPct val="150000"/>
              </a:lnSpc>
            </a:pPr>
            <a:r>
              <a:rPr lang="ko-KR" altLang="en-US" sz="1400" dirty="0">
                <a:latin typeface="+mn-ea"/>
              </a:rPr>
              <a:t>이러한 작은 노력이 모이면 </a:t>
            </a:r>
          </a:p>
          <a:p>
            <a:pPr algn="ctr">
              <a:lnSpc>
                <a:spcPct val="150000"/>
              </a:lnSpc>
            </a:pPr>
            <a:r>
              <a:rPr lang="ko-KR" altLang="en-US" sz="1400" dirty="0">
                <a:latin typeface="+mn-ea"/>
              </a:rPr>
              <a:t>지구 온난화를 극복하는 데 </a:t>
            </a:r>
          </a:p>
          <a:p>
            <a:pPr algn="ctr">
              <a:lnSpc>
                <a:spcPct val="150000"/>
              </a:lnSpc>
            </a:pPr>
            <a:r>
              <a:rPr lang="ko-KR" altLang="en-US" sz="1400" dirty="0">
                <a:latin typeface="+mn-ea"/>
              </a:rPr>
              <a:t>도움이 될 거예요</a:t>
            </a:r>
            <a:r>
              <a:rPr lang="en-US" altLang="ko-KR" sz="1400" dirty="0">
                <a:latin typeface="+mn-ea"/>
              </a:rPr>
              <a:t>.</a:t>
            </a:r>
            <a:endParaRPr lang="ko-KR" altLang="en-US" sz="1400" dirty="0">
              <a:latin typeface="+mn-ea"/>
              <a:ea typeface="+mn-ea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959386" y="1769564"/>
            <a:ext cx="2866757" cy="258532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400" dirty="0">
                <a:latin typeface="+mn-ea"/>
              </a:rPr>
              <a:t>저는 지구적 차원의 도덕 </a:t>
            </a:r>
          </a:p>
          <a:p>
            <a:pPr algn="ctr">
              <a:lnSpc>
                <a:spcPct val="150000"/>
              </a:lnSpc>
            </a:pPr>
            <a:r>
              <a:rPr lang="ko-KR" altLang="en-US" sz="1400" dirty="0">
                <a:latin typeface="+mn-ea"/>
              </a:rPr>
              <a:t>문제와 그에 관한 기부 </a:t>
            </a:r>
            <a:r>
              <a:rPr lang="ko-KR" altLang="en-US" sz="1400" dirty="0" smtClean="0">
                <a:latin typeface="+mn-ea"/>
              </a:rPr>
              <a:t>행사</a:t>
            </a:r>
            <a:endParaRPr lang="en-US" altLang="ko-KR" sz="1400" dirty="0" smtClean="0">
              <a:latin typeface="+mn-ea"/>
            </a:endParaRPr>
          </a:p>
          <a:p>
            <a:pPr algn="ctr">
              <a:lnSpc>
                <a:spcPct val="150000"/>
              </a:lnSpc>
            </a:pPr>
            <a:r>
              <a:rPr lang="ko-KR" altLang="en-US" sz="1400" dirty="0" smtClean="0">
                <a:latin typeface="+mn-ea"/>
              </a:rPr>
              <a:t>등의 정보를 </a:t>
            </a:r>
            <a:r>
              <a:rPr lang="ko-KR" altLang="en-US" sz="1400" dirty="0">
                <a:latin typeface="+mn-ea"/>
              </a:rPr>
              <a:t>누리 </a:t>
            </a:r>
            <a:r>
              <a:rPr lang="ko-KR" altLang="en-US" sz="1400" dirty="0" err="1">
                <a:latin typeface="+mn-ea"/>
              </a:rPr>
              <a:t>소통망에</a:t>
            </a:r>
            <a:r>
              <a:rPr lang="ko-KR" altLang="en-US" sz="1400" dirty="0">
                <a:latin typeface="+mn-ea"/>
              </a:rPr>
              <a:t> </a:t>
            </a:r>
            <a:endParaRPr lang="en-US" altLang="ko-KR" sz="1400" dirty="0" smtClean="0">
              <a:latin typeface="+mn-ea"/>
            </a:endParaRPr>
          </a:p>
          <a:p>
            <a:pPr algn="ctr">
              <a:lnSpc>
                <a:spcPct val="150000"/>
              </a:lnSpc>
            </a:pPr>
            <a:r>
              <a:rPr lang="ko-KR" altLang="en-US" sz="1400" dirty="0" smtClean="0">
                <a:latin typeface="+mn-ea"/>
              </a:rPr>
              <a:t>올리는데</a:t>
            </a:r>
            <a:r>
              <a:rPr lang="en-US" altLang="ko-KR" sz="1400" dirty="0">
                <a:latin typeface="+mn-ea"/>
              </a:rPr>
              <a:t>, </a:t>
            </a:r>
            <a:r>
              <a:rPr lang="ko-KR" altLang="en-US" sz="1400" dirty="0" smtClean="0">
                <a:latin typeface="+mn-ea"/>
              </a:rPr>
              <a:t>생각보다 </a:t>
            </a:r>
            <a:r>
              <a:rPr lang="ko-KR" altLang="en-US" sz="1400" dirty="0">
                <a:latin typeface="+mn-ea"/>
              </a:rPr>
              <a:t>반응이 </a:t>
            </a:r>
            <a:endParaRPr lang="en-US" altLang="ko-KR" sz="1400" dirty="0" smtClean="0">
              <a:latin typeface="+mn-ea"/>
            </a:endParaRPr>
          </a:p>
          <a:p>
            <a:pPr algn="ctr">
              <a:lnSpc>
                <a:spcPct val="150000"/>
              </a:lnSpc>
            </a:pPr>
            <a:r>
              <a:rPr lang="ko-KR" altLang="en-US" sz="1400" dirty="0" smtClean="0">
                <a:latin typeface="+mn-ea"/>
              </a:rPr>
              <a:t>좋아요</a:t>
            </a:r>
            <a:r>
              <a:rPr lang="en-US" altLang="ko-KR" sz="1400" dirty="0">
                <a:latin typeface="+mn-ea"/>
              </a:rPr>
              <a:t>. </a:t>
            </a:r>
            <a:r>
              <a:rPr lang="ko-KR" altLang="en-US" sz="1400" dirty="0" smtClean="0">
                <a:latin typeface="+mn-ea"/>
              </a:rPr>
              <a:t>제 </a:t>
            </a:r>
            <a:r>
              <a:rPr lang="ko-KR" altLang="en-US" sz="1400" dirty="0">
                <a:latin typeface="+mn-ea"/>
              </a:rPr>
              <a:t>글이 세계시민의 </a:t>
            </a:r>
            <a:endParaRPr lang="en-US" altLang="ko-KR" sz="1400" dirty="0" smtClean="0">
              <a:latin typeface="+mn-ea"/>
            </a:endParaRPr>
          </a:p>
          <a:p>
            <a:pPr algn="ctr">
              <a:lnSpc>
                <a:spcPct val="150000"/>
              </a:lnSpc>
            </a:pPr>
            <a:r>
              <a:rPr lang="ko-KR" altLang="en-US" sz="1400" dirty="0" smtClean="0">
                <a:latin typeface="+mn-ea"/>
              </a:rPr>
              <a:t>관심과 참여를 </a:t>
            </a:r>
            <a:r>
              <a:rPr lang="ko-KR" altLang="en-US" sz="1400" dirty="0">
                <a:latin typeface="+mn-ea"/>
              </a:rPr>
              <a:t>이끌어 낼 수 </a:t>
            </a:r>
            <a:endParaRPr lang="en-US" altLang="ko-KR" sz="1400" dirty="0" smtClean="0">
              <a:latin typeface="+mn-ea"/>
            </a:endParaRPr>
          </a:p>
          <a:p>
            <a:pPr algn="ctr">
              <a:lnSpc>
                <a:spcPct val="150000"/>
              </a:lnSpc>
            </a:pPr>
            <a:r>
              <a:rPr lang="ko-KR" altLang="en-US" sz="1400" dirty="0" smtClean="0">
                <a:latin typeface="+mn-ea"/>
              </a:rPr>
              <a:t>있다는 사실에 </a:t>
            </a:r>
            <a:r>
              <a:rPr lang="ko-KR" altLang="en-US" sz="1400" dirty="0">
                <a:latin typeface="+mn-ea"/>
              </a:rPr>
              <a:t>자부심을 </a:t>
            </a:r>
            <a:endParaRPr lang="en-US" altLang="ko-KR" sz="1400" dirty="0" smtClean="0">
              <a:latin typeface="+mn-ea"/>
            </a:endParaRPr>
          </a:p>
          <a:p>
            <a:pPr algn="ctr">
              <a:lnSpc>
                <a:spcPct val="150000"/>
              </a:lnSpc>
            </a:pPr>
            <a:r>
              <a:rPr lang="ko-KR" altLang="en-US" sz="1400" dirty="0" smtClean="0">
                <a:latin typeface="+mn-ea"/>
              </a:rPr>
              <a:t>느끼고 있어요</a:t>
            </a:r>
            <a:r>
              <a:rPr lang="en-US" altLang="ko-KR" sz="1400" dirty="0">
                <a:latin typeface="+mn-ea"/>
              </a:rPr>
              <a:t>. </a:t>
            </a:r>
            <a:endParaRPr lang="ko-KR" altLang="en-US" sz="1400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2477426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 smtClean="0">
                <a:solidFill>
                  <a:schemeClr val="bg1"/>
                </a:solidFill>
                <a:latin typeface="+mj-ea"/>
                <a:ea typeface="+mj-ea"/>
              </a:rPr>
              <a:t>생각하기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xmlns="" id="{90560433-7D7D-E53F-75DC-9920154898C5}"/>
              </a:ext>
            </a:extLst>
          </p:cNvPr>
          <p:cNvSpPr txBox="1"/>
          <p:nvPr/>
        </p:nvSpPr>
        <p:spPr>
          <a:xfrm>
            <a:off x="9961582" y="942681"/>
            <a:ext cx="816322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 smtClean="0">
                <a:solidFill>
                  <a:srgbClr val="FFFF00"/>
                </a:solidFill>
                <a:latin typeface="+mj-ea"/>
                <a:ea typeface="+mj-ea"/>
              </a:rPr>
              <a:t>그림</a:t>
            </a:r>
            <a:endParaRPr lang="ko-KR" altLang="en-US" sz="1600" b="1" dirty="0">
              <a:solidFill>
                <a:srgbClr val="FFFF00"/>
              </a:solidFill>
              <a:latin typeface="+mj-ea"/>
              <a:ea typeface="+mj-ea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xmlns="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6C768E"/>
                </a:solidFill>
                <a:latin typeface="+mj-ea"/>
                <a:ea typeface="+mj-ea"/>
              </a:rPr>
              <a:t>활동</a:t>
            </a:r>
          </a:p>
        </p:txBody>
      </p:sp>
      <p:grpSp>
        <p:nvGrpSpPr>
          <p:cNvPr id="2" name="그룹 1"/>
          <p:cNvGrpSpPr/>
          <p:nvPr/>
        </p:nvGrpSpPr>
        <p:grpSpPr>
          <a:xfrm>
            <a:off x="1433849" y="1274611"/>
            <a:ext cx="8620357" cy="5419487"/>
            <a:chOff x="1433849" y="1274611"/>
            <a:chExt cx="8620357" cy="5419487"/>
          </a:xfrm>
        </p:grpSpPr>
        <p:pic>
          <p:nvPicPr>
            <p:cNvPr id="16" name="그림 15"/>
            <p:cNvPicPr>
              <a:picLocks noChangeAspect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632608" y="1274611"/>
              <a:ext cx="8421598" cy="5419487"/>
            </a:xfrm>
            <a:prstGeom prst="rect">
              <a:avLst/>
            </a:prstGeom>
          </p:spPr>
        </p:pic>
        <p:sp>
          <p:nvSpPr>
            <p:cNvPr id="29" name="직사각형 28"/>
            <p:cNvSpPr/>
            <p:nvPr/>
          </p:nvSpPr>
          <p:spPr>
            <a:xfrm rot="1513412">
              <a:off x="1433849" y="4462777"/>
              <a:ext cx="1578614" cy="377418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xmlns="" id="{DD2FC838-49B1-0E93-782F-F52D261F831C}"/>
              </a:ext>
            </a:extLst>
          </p:cNvPr>
          <p:cNvGrpSpPr/>
          <p:nvPr/>
        </p:nvGrpSpPr>
        <p:grpSpPr>
          <a:xfrm>
            <a:off x="9719971" y="5998328"/>
            <a:ext cx="1944697" cy="492328"/>
            <a:chOff x="377032" y="923820"/>
            <a:chExt cx="1944697" cy="492328"/>
          </a:xfrm>
        </p:grpSpPr>
        <p:pic>
          <p:nvPicPr>
            <p:cNvPr id="18" name="그림 17" descr="상징, 그린, 로고, 스크린샷이(가) 표시된 사진&#10;&#10;자동 생성된 설명">
              <a:extLst>
                <a:ext uri="{FF2B5EF4-FFF2-40B4-BE49-F238E27FC236}">
                  <a16:creationId xmlns:a16="http://schemas.microsoft.com/office/drawing/2014/main" xmlns="" id="{9C2C07B9-E9B8-5FD4-3609-BF7BDBCBFF9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77032" y="923820"/>
              <a:ext cx="1944697" cy="492328"/>
            </a:xfrm>
            <a:prstGeom prst="rect">
              <a:avLst/>
            </a:prstGeom>
          </p:spPr>
        </p:pic>
        <p:sp>
          <p:nvSpPr>
            <p:cNvPr id="28" name="TextBox 27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xmlns="" id="{4B404EC2-CE39-0907-EB0D-5A0B60F5A023}"/>
                </a:ext>
              </a:extLst>
            </p:cNvPr>
            <p:cNvSpPr txBox="1"/>
            <p:nvPr/>
          </p:nvSpPr>
          <p:spPr>
            <a:xfrm>
              <a:off x="817282" y="971280"/>
              <a:ext cx="141577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더 알아보기</a:t>
              </a:r>
            </a:p>
          </p:txBody>
        </p:sp>
      </p:grpSp>
      <p:pic>
        <p:nvPicPr>
          <p:cNvPr id="36" name="그래픽 13">
            <a:extLst>
              <a:ext uri="{FF2B5EF4-FFF2-40B4-BE49-F238E27FC236}">
                <a16:creationId xmlns:a16="http://schemas.microsoft.com/office/drawing/2014/main" xmlns="" id="{35DACDE9-C2C6-6DAB-E125-F5168FF9B962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xmlns="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xmlns="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세계시민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xmlns="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176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·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xmlns="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 smtClean="0">
                <a:latin typeface="+mj-ea"/>
                <a:ea typeface="+mj-ea"/>
              </a:rPr>
              <a:t>지구적 차원의 도덕 문제를 어떻게 해결할 수 있을까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19" name="Google Shape;229;p6"/>
          <p:cNvSpPr/>
          <p:nvPr/>
        </p:nvSpPr>
        <p:spPr>
          <a:xfrm>
            <a:off x="0" y="3639"/>
            <a:ext cx="12192000" cy="6858000"/>
          </a:xfrm>
          <a:prstGeom prst="rect">
            <a:avLst/>
          </a:prstGeom>
          <a:solidFill>
            <a:schemeClr val="dk1">
              <a:alpha val="69411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800"/>
            </a:pPr>
            <a:endParaRPr sz="1800">
              <a:solidFill>
                <a:schemeClr val="lt1"/>
              </a:solidFill>
              <a:latin typeface="AppleSDGothicNeoB00" panose="02000503000000000000" pitchFamily="2" charset="-127"/>
              <a:ea typeface="AppleSDGothicNeoB00" panose="02000503000000000000" pitchFamily="2" charset="-127"/>
              <a:cs typeface="Malgun Gothic"/>
              <a:sym typeface="Malgun Gothic"/>
            </a:endParaRPr>
          </a:p>
        </p:txBody>
      </p:sp>
      <p:sp>
        <p:nvSpPr>
          <p:cNvPr id="20" name="사각형: 둥근 모서리 25">
            <a:extLst>
              <a:ext uri="{FF2B5EF4-FFF2-40B4-BE49-F238E27FC236}">
                <a16:creationId xmlns:a16="http://schemas.microsoft.com/office/drawing/2014/main" xmlns="" id="{5774C9A1-97EC-0D55-CC78-E79C45A8BF25}"/>
              </a:ext>
            </a:extLst>
          </p:cNvPr>
          <p:cNvSpPr/>
          <p:nvPr/>
        </p:nvSpPr>
        <p:spPr>
          <a:xfrm>
            <a:off x="248168" y="827095"/>
            <a:ext cx="11695665" cy="5880209"/>
          </a:xfrm>
          <a:prstGeom prst="roundRect">
            <a:avLst>
              <a:gd name="adj" fmla="val 432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21" name="그림 20" descr="상징, 원, 다채로움, 그린이(가) 표시된 사진&#10;&#10;자동 생성된 설명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xmlns="" id="{97505E8B-AD8F-CFF6-FC0F-0FF6BE8CC755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74222" y="897340"/>
            <a:ext cx="473351" cy="473351"/>
          </a:xfrm>
          <a:prstGeom prst="rect">
            <a:avLst/>
          </a:prstGeom>
        </p:spPr>
      </p:pic>
      <p:grpSp>
        <p:nvGrpSpPr>
          <p:cNvPr id="22" name="그룹 21">
            <a:extLst>
              <a:ext uri="{FF2B5EF4-FFF2-40B4-BE49-F238E27FC236}">
                <a16:creationId xmlns:a16="http://schemas.microsoft.com/office/drawing/2014/main" xmlns="" id="{DD2FC838-49B1-0E93-782F-F52D261F831C}"/>
              </a:ext>
            </a:extLst>
          </p:cNvPr>
          <p:cNvGrpSpPr/>
          <p:nvPr/>
        </p:nvGrpSpPr>
        <p:grpSpPr>
          <a:xfrm>
            <a:off x="622056" y="1194899"/>
            <a:ext cx="1944697" cy="492328"/>
            <a:chOff x="377032" y="923820"/>
            <a:chExt cx="1944697" cy="492328"/>
          </a:xfrm>
        </p:grpSpPr>
        <p:pic>
          <p:nvPicPr>
            <p:cNvPr id="23" name="그림 22" descr="상징, 그린, 로고, 스크린샷이(가) 표시된 사진&#10;&#10;자동 생성된 설명">
              <a:extLst>
                <a:ext uri="{FF2B5EF4-FFF2-40B4-BE49-F238E27FC236}">
                  <a16:creationId xmlns:a16="http://schemas.microsoft.com/office/drawing/2014/main" xmlns="" id="{9C2C07B9-E9B8-5FD4-3609-BF7BDBCBFF9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77032" y="923820"/>
              <a:ext cx="1944697" cy="492328"/>
            </a:xfrm>
            <a:prstGeom prst="rect">
              <a:avLst/>
            </a:prstGeom>
          </p:spPr>
        </p:pic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xmlns="" id="{4B404EC2-CE39-0907-EB0D-5A0B60F5A023}"/>
                </a:ext>
              </a:extLst>
            </p:cNvPr>
            <p:cNvSpPr txBox="1"/>
            <p:nvPr/>
          </p:nvSpPr>
          <p:spPr>
            <a:xfrm>
              <a:off x="817282" y="971280"/>
              <a:ext cx="141577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더 알아보기</a:t>
              </a:r>
            </a:p>
          </p:txBody>
        </p:sp>
      </p:grpSp>
      <p:sp>
        <p:nvSpPr>
          <p:cNvPr id="27" name="TextBox 26"/>
          <p:cNvSpPr txBox="1"/>
          <p:nvPr/>
        </p:nvSpPr>
        <p:spPr>
          <a:xfrm>
            <a:off x="622055" y="2016924"/>
            <a:ext cx="10752167" cy="8586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dirty="0">
                <a:latin typeface="돋움" panose="020B0600000101010101" pitchFamily="50" charset="-127"/>
                <a:ea typeface="돋움" panose="020B0600000101010101" pitchFamily="50" charset="-127"/>
              </a:rPr>
              <a:t>다양한 상품의 생산과 유통에 관해 친환경적 활동을 펼치고</a:t>
            </a:r>
            <a:r>
              <a:rPr lang="en-US" altLang="ko-KR" dirty="0">
                <a:latin typeface="돋움" panose="020B0600000101010101" pitchFamily="50" charset="-127"/>
                <a:ea typeface="돋움" panose="020B0600000101010101" pitchFamily="50" charset="-127"/>
              </a:rPr>
              <a:t>, </a:t>
            </a:r>
            <a:r>
              <a:rPr lang="ko-KR" altLang="en-US" dirty="0">
                <a:latin typeface="돋움" panose="020B0600000101010101" pitchFamily="50" charset="-127"/>
                <a:ea typeface="돋움" panose="020B0600000101010101" pitchFamily="50" charset="-127"/>
              </a:rPr>
              <a:t>생산자에게 공정한 가격을 지급하도록 하는 무역 형태이다</a:t>
            </a:r>
            <a:r>
              <a:rPr lang="en-US" altLang="ko-KR" dirty="0">
                <a:latin typeface="돋움" panose="020B0600000101010101" pitchFamily="50" charset="-127"/>
                <a:ea typeface="돋움" panose="020B0600000101010101" pitchFamily="50" charset="-127"/>
              </a:rPr>
              <a:t>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657698" y="1133260"/>
            <a:ext cx="7874038" cy="534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200" b="1" dirty="0" smtClean="0">
                <a:solidFill>
                  <a:schemeClr val="accent6">
                    <a:lumMod val="50000"/>
                  </a:schemeClr>
                </a:solidFill>
                <a:latin typeface="+mn-ea"/>
              </a:rPr>
              <a:t>공정 무역</a:t>
            </a:r>
            <a:endParaRPr lang="en-US" altLang="ko-KR" sz="2200" b="1" dirty="0">
              <a:solidFill>
                <a:schemeClr val="accent6">
                  <a:lumMod val="50000"/>
                </a:schemeClr>
              </a:solidFill>
              <a:latin typeface="+mn-ea"/>
            </a:endParaRPr>
          </a:p>
        </p:txBody>
      </p:sp>
      <p:pic>
        <p:nvPicPr>
          <p:cNvPr id="31" name="그림 30"/>
          <p:cNvPicPr>
            <a:picLocks noChangeAspect="1"/>
          </p:cNvPicPr>
          <p:nvPr/>
        </p:nvPicPr>
        <p:blipFill rotWithShape="1"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953683" y="3145120"/>
            <a:ext cx="2663968" cy="2915287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5865819" y="3590400"/>
            <a:ext cx="282098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dirty="0">
                <a:latin typeface="돋움" panose="020B0600000101010101" pitchFamily="50" charset="-127"/>
                <a:ea typeface="돋움" panose="020B0600000101010101" pitchFamily="50" charset="-127"/>
              </a:rPr>
              <a:t>← </a:t>
            </a:r>
            <a:r>
              <a:rPr lang="ko-KR" altLang="en-US" b="1" dirty="0">
                <a:latin typeface="돋움" panose="020B0600000101010101" pitchFamily="50" charset="-127"/>
                <a:ea typeface="돋움" panose="020B0600000101010101" pitchFamily="50" charset="-127"/>
              </a:rPr>
              <a:t>공정 무역 인증 </a:t>
            </a:r>
            <a:r>
              <a:rPr lang="ko-KR" altLang="en-US" b="1" dirty="0" smtClean="0">
                <a:latin typeface="돋움" panose="020B0600000101010101" pitchFamily="50" charset="-127"/>
                <a:ea typeface="돋움" panose="020B0600000101010101" pitchFamily="50" charset="-127"/>
              </a:rPr>
              <a:t>마크</a:t>
            </a:r>
            <a:endParaRPr lang="en-US" altLang="ko-KR" b="1" dirty="0" smtClean="0">
              <a:latin typeface="돋움" panose="020B0600000101010101" pitchFamily="50" charset="-127"/>
              <a:ea typeface="돋움" panose="020B0600000101010101" pitchFamily="50" charset="-127"/>
            </a:endParaRPr>
          </a:p>
          <a:p>
            <a:pPr algn="just"/>
            <a:endParaRPr lang="en-US" altLang="ko-KR" dirty="0">
              <a:latin typeface="돋움" panose="020B0600000101010101" pitchFamily="50" charset="-127"/>
              <a:ea typeface="돋움" panose="020B0600000101010101" pitchFamily="50" charset="-127"/>
            </a:endParaRPr>
          </a:p>
          <a:p>
            <a:pPr algn="just"/>
            <a:r>
              <a:rPr lang="ko-KR" altLang="en-US" dirty="0">
                <a:latin typeface="돋움" panose="020B0600000101010101" pitchFamily="50" charset="-127"/>
                <a:ea typeface="돋움" panose="020B0600000101010101" pitchFamily="50" charset="-127"/>
              </a:rPr>
              <a:t>이 마크가 붙어 있는 상품은 국제 공정 무역 기구에서 공정 무역 인증을 받은 상품으로</a:t>
            </a:r>
            <a:r>
              <a:rPr lang="en-US" altLang="ko-KR" dirty="0">
                <a:latin typeface="돋움" panose="020B0600000101010101" pitchFamily="50" charset="-127"/>
                <a:ea typeface="돋움" panose="020B0600000101010101" pitchFamily="50" charset="-127"/>
              </a:rPr>
              <a:t>, </a:t>
            </a:r>
            <a:r>
              <a:rPr lang="ko-KR" altLang="en-US" dirty="0">
                <a:latin typeface="돋움" panose="020B0600000101010101" pitchFamily="50" charset="-127"/>
                <a:ea typeface="돋움" panose="020B0600000101010101" pitchFamily="50" charset="-127"/>
              </a:rPr>
              <a:t>전 세계에서 찾아볼 수 있다</a:t>
            </a:r>
            <a:r>
              <a:rPr lang="en-US" altLang="ko-KR" dirty="0">
                <a:latin typeface="돋움" panose="020B0600000101010101" pitchFamily="50" charset="-127"/>
                <a:ea typeface="돋움" panose="020B0600000101010101" pitchFamily="50" charset="-127"/>
              </a:rPr>
              <a:t>.</a:t>
            </a:r>
            <a:endParaRPr lang="ko-KR" altLang="en-US" dirty="0"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435171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2"/>
          <p:cNvGrpSpPr/>
          <p:nvPr/>
        </p:nvGrpSpPr>
        <p:grpSpPr>
          <a:xfrm>
            <a:off x="787400" y="2747186"/>
            <a:ext cx="10452100" cy="3786118"/>
            <a:chOff x="787400" y="2709086"/>
            <a:chExt cx="10452100" cy="3786118"/>
          </a:xfrm>
        </p:grpSpPr>
        <p:pic>
          <p:nvPicPr>
            <p:cNvPr id="2" name="그림 1"/>
            <p:cNvPicPr>
              <a:picLocks noChangeAspect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87400" y="2709086"/>
              <a:ext cx="10452100" cy="3119550"/>
            </a:xfrm>
            <a:prstGeom prst="rect">
              <a:avLst/>
            </a:prstGeom>
          </p:spPr>
        </p:pic>
        <p:pic>
          <p:nvPicPr>
            <p:cNvPr id="30" name="그림 29"/>
            <p:cNvPicPr>
              <a:picLocks noChangeAspect="1"/>
            </p:cNvPicPr>
            <p:nvPr/>
          </p:nvPicPr>
          <p:blipFill rotWithShape="1"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787400" y="5448300"/>
              <a:ext cx="10452100" cy="1046904"/>
            </a:xfrm>
            <a:prstGeom prst="rect">
              <a:avLst/>
            </a:prstGeom>
          </p:spPr>
        </p:pic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xmlns="" id="{90560433-7D7D-E53F-75DC-9920154898C5}"/>
              </a:ext>
            </a:extLst>
          </p:cNvPr>
          <p:cNvSpPr txBox="1"/>
          <p:nvPr/>
        </p:nvSpPr>
        <p:spPr>
          <a:xfrm>
            <a:off x="9961582" y="942681"/>
            <a:ext cx="816322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 smtClean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그림</a:t>
            </a:r>
            <a:endParaRPr lang="ko-KR" altLang="en-US" sz="1600" b="1" dirty="0">
              <a:solidFill>
                <a:schemeClr val="bg1">
                  <a:lumMod val="5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xmlns="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FFFF00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7400" y="1613182"/>
            <a:ext cx="1023910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000" b="1" dirty="0" smtClean="0"/>
              <a:t>위 그림과 같이 지구적 차원의 도덕 문제를 해결하기 위해 일상에서 내가 실천할 수 있는 일과 나의 실천이 지구촌에 미칠 영향을 써 보자</a:t>
            </a:r>
            <a:r>
              <a:rPr lang="en-US" altLang="ko-KR" sz="2000" b="1" dirty="0" smtClean="0"/>
              <a:t>.</a:t>
            </a:r>
            <a:endParaRPr lang="ko-KR" altLang="en-US" sz="2000" b="1" dirty="0"/>
          </a:p>
        </p:txBody>
      </p:sp>
      <p:pic>
        <p:nvPicPr>
          <p:cNvPr id="36" name="그림 35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xmlns="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1787" y="2171942"/>
            <a:ext cx="487174" cy="487174"/>
          </a:xfrm>
          <a:prstGeom prst="rect">
            <a:avLst/>
          </a:prstGeom>
        </p:spPr>
      </p:pic>
      <p:grpSp>
        <p:nvGrpSpPr>
          <p:cNvPr id="37" name="그룹 36">
            <a:extLst>
              <a:ext uri="{FF2B5EF4-FFF2-40B4-BE49-F238E27FC236}">
                <a16:creationId xmlns:a16="http://schemas.microsoft.com/office/drawing/2014/main" xmlns="" id="{BD8F7919-81BA-4F6C-659C-1ECE98A49C77}"/>
              </a:ext>
            </a:extLst>
          </p:cNvPr>
          <p:cNvGrpSpPr/>
          <p:nvPr/>
        </p:nvGrpSpPr>
        <p:grpSpPr>
          <a:xfrm>
            <a:off x="9434311" y="2171942"/>
            <a:ext cx="1087577" cy="495431"/>
            <a:chOff x="10075659" y="2003022"/>
            <a:chExt cx="1156006" cy="495431"/>
          </a:xfrm>
        </p:grpSpPr>
        <p:pic>
          <p:nvPicPr>
            <p:cNvPr id="38" name="그림 37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xmlns="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xmlns="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xmlns="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 smtClean="0">
                <a:solidFill>
                  <a:schemeClr val="bg1"/>
                </a:solidFill>
                <a:latin typeface="+mj-ea"/>
                <a:ea typeface="+mj-ea"/>
              </a:rPr>
              <a:t>생각하기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pic>
        <p:nvPicPr>
          <p:cNvPr id="19" name="그래픽 13">
            <a:extLst>
              <a:ext uri="{FF2B5EF4-FFF2-40B4-BE49-F238E27FC236}">
                <a16:creationId xmlns:a16="http://schemas.microsoft.com/office/drawing/2014/main" xmlns="" id="{35DACDE9-C2C6-6DAB-E125-F5168FF9B962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xmlns="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xmlns="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세계시민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xmlns="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176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·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xmlns="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 smtClean="0">
                <a:latin typeface="+mj-ea"/>
                <a:ea typeface="+mj-ea"/>
              </a:rPr>
              <a:t>지구적 차원의 도덕 문제를 어떻게 해결할 수 있을까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022556" y="3500527"/>
            <a:ext cx="37783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400" dirty="0" smtClean="0">
                <a:solidFill>
                  <a:srgbClr val="0070C0"/>
                </a:solidFill>
              </a:rPr>
              <a:t>로컬 </a:t>
            </a:r>
            <a:r>
              <a:rPr lang="ko-KR" altLang="en-US" sz="2400" dirty="0" err="1" smtClean="0">
                <a:solidFill>
                  <a:srgbClr val="0070C0"/>
                </a:solidFill>
              </a:rPr>
              <a:t>푸드</a:t>
            </a:r>
            <a:r>
              <a:rPr lang="ko-KR" altLang="en-US" sz="2400" dirty="0" smtClean="0">
                <a:solidFill>
                  <a:srgbClr val="0070C0"/>
                </a:solidFill>
              </a:rPr>
              <a:t> 구매하기</a:t>
            </a:r>
            <a:endParaRPr lang="en-US" altLang="ko-KR" sz="2400" dirty="0" smtClean="0">
              <a:solidFill>
                <a:srgbClr val="0070C0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625086" y="3497885"/>
            <a:ext cx="432081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400" dirty="0">
                <a:solidFill>
                  <a:srgbClr val="0070C0"/>
                </a:solidFill>
              </a:rPr>
              <a:t>식재료 유통 과정에서 발생하는 온실가스를 줄임으로써 탄소 중립을 실천할 수 있다</a:t>
            </a:r>
            <a:r>
              <a:rPr lang="en-US" altLang="ko-KR" sz="2400" dirty="0" smtClean="0">
                <a:solidFill>
                  <a:srgbClr val="0070C0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390256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7"/>
                  </p:tgtEl>
                </p:cond>
              </p:nextCondLst>
            </p:seq>
            <p:seq concurrent="1" nextAc="seek">
              <p:cTn id="9" restart="whenNotActive" fill="hold" evtFilter="cancelBubble" nodeType="interactiveSeq">
                <p:stCondLst>
                  <p:cond evt="onClick" delay="0">
                    <p:tgtEl>
                      <p:spTgt spid="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6"/>
                  </p:tgtEl>
                </p:cond>
              </p:nextCondLst>
            </p:seq>
          </p:childTnLst>
        </p:cTn>
      </p:par>
    </p:tnLst>
    <p:bldLst>
      <p:bldP spid="28" grpId="0"/>
      <p:bldP spid="28" grpId="1"/>
      <p:bldP spid="29" grpId="0"/>
      <p:bldP spid="29" grpId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524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smtClean="0">
                <a:solidFill>
                  <a:schemeClr val="bg1"/>
                </a:solidFill>
                <a:latin typeface="+mj-ea"/>
                <a:ea typeface="+mj-ea"/>
              </a:rPr>
              <a:t>읽어 보기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2661580" y="732169"/>
            <a:ext cx="91262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2000" b="1" dirty="0">
                <a:latin typeface="+mj-ea"/>
                <a:ea typeface="+mj-ea"/>
              </a:rPr>
              <a:t>다음 </a:t>
            </a:r>
            <a:r>
              <a:rPr lang="ko-KR" altLang="en-US" sz="2000" b="1" dirty="0" smtClean="0">
                <a:latin typeface="+mj-ea"/>
                <a:ea typeface="+mj-ea"/>
              </a:rPr>
              <a:t>그림을 살펴보자</a:t>
            </a:r>
            <a:r>
              <a:rPr lang="en-US" altLang="ko-KR" sz="2000" b="1" dirty="0" smtClean="0">
                <a:latin typeface="+mj-ea"/>
                <a:ea typeface="+mj-ea"/>
              </a:rPr>
              <a:t>.</a:t>
            </a:r>
            <a:endParaRPr lang="ko-KR" altLang="en-US" sz="2000" b="1" dirty="0">
              <a:latin typeface="+mj-ea"/>
              <a:ea typeface="+mj-ea"/>
            </a:endParaRPr>
          </a:p>
        </p:txBody>
      </p:sp>
      <p:pic>
        <p:nvPicPr>
          <p:cNvPr id="12" name="그래픽 13">
            <a:extLst>
              <a:ext uri="{FF2B5EF4-FFF2-40B4-BE49-F238E27FC236}">
                <a16:creationId xmlns:a16="http://schemas.microsoft.com/office/drawing/2014/main" xmlns="" id="{35DACDE9-C2C6-6DAB-E125-F5168FF9B96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세계시민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xmlns="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177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·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xmlns="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 smtClean="0">
                <a:latin typeface="+mj-ea"/>
                <a:ea typeface="+mj-ea"/>
              </a:rPr>
              <a:t>지구적 차원의 도덕 문제를 어떻게 해결할 수 있을까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grpSp>
        <p:nvGrpSpPr>
          <p:cNvPr id="8" name="그룹 7"/>
          <p:cNvGrpSpPr/>
          <p:nvPr/>
        </p:nvGrpSpPr>
        <p:grpSpPr>
          <a:xfrm>
            <a:off x="129395" y="1676816"/>
            <a:ext cx="11637636" cy="4361675"/>
            <a:chOff x="129395" y="1676816"/>
            <a:chExt cx="11637636" cy="4361675"/>
          </a:xfrm>
        </p:grpSpPr>
        <p:grpSp>
          <p:nvGrpSpPr>
            <p:cNvPr id="5" name="그룹 4"/>
            <p:cNvGrpSpPr/>
            <p:nvPr/>
          </p:nvGrpSpPr>
          <p:grpSpPr>
            <a:xfrm>
              <a:off x="129395" y="1820173"/>
              <a:ext cx="11637636" cy="4218318"/>
              <a:chOff x="129395" y="1820173"/>
              <a:chExt cx="11637636" cy="4218318"/>
            </a:xfrm>
          </p:grpSpPr>
          <p:pic>
            <p:nvPicPr>
              <p:cNvPr id="2" name="그림 1"/>
              <p:cNvPicPr>
                <a:picLocks noChangeAspect="1"/>
              </p:cNvPicPr>
              <p:nvPr/>
            </p:nvPicPr>
            <p:blipFill rotWithShape="1">
              <a:blip r:embed="rId4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/>
            </p:blipFill>
            <p:spPr>
              <a:xfrm>
                <a:off x="129395" y="1820173"/>
                <a:ext cx="11589549" cy="4218318"/>
              </a:xfrm>
              <a:prstGeom prst="rect">
                <a:avLst/>
              </a:prstGeom>
            </p:spPr>
          </p:pic>
          <p:sp>
            <p:nvSpPr>
              <p:cNvPr id="3" name="타원 2"/>
              <p:cNvSpPr/>
              <p:nvPr/>
            </p:nvSpPr>
            <p:spPr>
              <a:xfrm>
                <a:off x="698758" y="4272742"/>
                <a:ext cx="2851266" cy="1496291"/>
              </a:xfrm>
              <a:prstGeom prst="ellipse">
                <a:avLst/>
              </a:prstGeom>
              <a:solidFill>
                <a:srgbClr val="DCEAF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" name="직사각형 3"/>
              <p:cNvSpPr/>
              <p:nvPr/>
            </p:nvSpPr>
            <p:spPr>
              <a:xfrm>
                <a:off x="523702" y="5112327"/>
                <a:ext cx="3026322" cy="540328"/>
              </a:xfrm>
              <a:prstGeom prst="rect">
                <a:avLst/>
              </a:prstGeom>
              <a:solidFill>
                <a:srgbClr val="DCEAF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" name="직사각형 18"/>
              <p:cNvSpPr/>
              <p:nvPr/>
            </p:nvSpPr>
            <p:spPr>
              <a:xfrm>
                <a:off x="4297680" y="5112327"/>
                <a:ext cx="3112221" cy="709354"/>
              </a:xfrm>
              <a:prstGeom prst="rect">
                <a:avLst/>
              </a:prstGeom>
              <a:solidFill>
                <a:srgbClr val="FDE3D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" name="직사각형 19"/>
              <p:cNvSpPr/>
              <p:nvPr/>
            </p:nvSpPr>
            <p:spPr>
              <a:xfrm>
                <a:off x="5045336" y="4757650"/>
                <a:ext cx="1613159" cy="709354"/>
              </a:xfrm>
              <a:prstGeom prst="rect">
                <a:avLst/>
              </a:prstGeom>
              <a:solidFill>
                <a:srgbClr val="FDE3D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" name="직사각형 20"/>
              <p:cNvSpPr/>
              <p:nvPr/>
            </p:nvSpPr>
            <p:spPr>
              <a:xfrm>
                <a:off x="8167534" y="4832465"/>
                <a:ext cx="3318671" cy="487680"/>
              </a:xfrm>
              <a:prstGeom prst="rect">
                <a:avLst/>
              </a:prstGeom>
              <a:solidFill>
                <a:srgbClr val="E8E7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" name="직사각형 21"/>
              <p:cNvSpPr/>
              <p:nvPr/>
            </p:nvSpPr>
            <p:spPr>
              <a:xfrm>
                <a:off x="8382140" y="4477788"/>
                <a:ext cx="2840042" cy="709354"/>
              </a:xfrm>
              <a:prstGeom prst="rect">
                <a:avLst/>
              </a:prstGeom>
              <a:solidFill>
                <a:srgbClr val="E8E7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" name="직사각형 22"/>
              <p:cNvSpPr/>
              <p:nvPr/>
            </p:nvSpPr>
            <p:spPr>
              <a:xfrm>
                <a:off x="8317339" y="4782587"/>
                <a:ext cx="2987969" cy="709354"/>
              </a:xfrm>
              <a:prstGeom prst="rect">
                <a:avLst/>
              </a:prstGeom>
              <a:solidFill>
                <a:srgbClr val="E8E7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4" name="TextBox 23"/>
              <p:cNvSpPr txBox="1"/>
              <p:nvPr/>
            </p:nvSpPr>
            <p:spPr>
              <a:xfrm>
                <a:off x="333195" y="4252021"/>
                <a:ext cx="3469602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ko-KR" altLang="en-US" sz="1600" dirty="0" smtClean="0">
                    <a:solidFill>
                      <a:schemeClr val="tx1"/>
                    </a:solidFill>
                    <a:latin typeface="+mn-ea"/>
                  </a:rPr>
                  <a:t>우리나라에서는 </a:t>
                </a:r>
                <a:endParaRPr lang="en-US" altLang="ko-KR" sz="1600" dirty="0" smtClean="0">
                  <a:solidFill>
                    <a:schemeClr val="tx1"/>
                  </a:solidFill>
                  <a:latin typeface="+mn-ea"/>
                </a:endParaRPr>
              </a:p>
              <a:p>
                <a:pPr algn="ctr">
                  <a:lnSpc>
                    <a:spcPct val="150000"/>
                  </a:lnSpc>
                </a:pPr>
                <a:r>
                  <a:rPr lang="ko-KR" altLang="en-US" sz="1600" dirty="0" smtClean="0">
                    <a:solidFill>
                      <a:schemeClr val="tx1"/>
                    </a:solidFill>
                    <a:latin typeface="+mn-ea"/>
                  </a:rPr>
                  <a:t>‘대한민국 해외 긴급 </a:t>
                </a:r>
                <a:r>
                  <a:rPr lang="ko-KR" altLang="en-US" sz="1600" dirty="0" err="1" smtClean="0">
                    <a:solidFill>
                      <a:schemeClr val="tx1"/>
                    </a:solidFill>
                    <a:latin typeface="+mn-ea"/>
                  </a:rPr>
                  <a:t>구호대’를</a:t>
                </a:r>
                <a:r>
                  <a:rPr lang="ko-KR" altLang="en-US" sz="1600" dirty="0" smtClean="0">
                    <a:solidFill>
                      <a:schemeClr val="tx1"/>
                    </a:solidFill>
                    <a:latin typeface="+mn-ea"/>
                  </a:rPr>
                  <a:t> </a:t>
                </a:r>
                <a:endParaRPr lang="en-US" altLang="ko-KR" sz="1600" dirty="0" smtClean="0">
                  <a:solidFill>
                    <a:schemeClr val="tx1"/>
                  </a:solidFill>
                  <a:latin typeface="+mn-ea"/>
                </a:endParaRPr>
              </a:p>
              <a:p>
                <a:pPr algn="ctr">
                  <a:lnSpc>
                    <a:spcPct val="150000"/>
                  </a:lnSpc>
                </a:pPr>
                <a:r>
                  <a:rPr lang="ko-KR" altLang="en-US" sz="1600" dirty="0" smtClean="0">
                    <a:solidFill>
                      <a:schemeClr val="tx1"/>
                    </a:solidFill>
                    <a:latin typeface="+mn-ea"/>
                  </a:rPr>
                  <a:t>재난이 발생한 세계 여러 국가에 </a:t>
                </a:r>
                <a:endParaRPr lang="en-US" altLang="ko-KR" sz="1600" dirty="0" smtClean="0">
                  <a:solidFill>
                    <a:schemeClr val="tx1"/>
                  </a:solidFill>
                  <a:latin typeface="+mn-ea"/>
                </a:endParaRPr>
              </a:p>
              <a:p>
                <a:pPr algn="ctr">
                  <a:lnSpc>
                    <a:spcPct val="150000"/>
                  </a:lnSpc>
                </a:pPr>
                <a:r>
                  <a:rPr lang="ko-KR" altLang="en-US" sz="1600" dirty="0" smtClean="0">
                    <a:solidFill>
                      <a:schemeClr val="tx1"/>
                    </a:solidFill>
                    <a:latin typeface="+mn-ea"/>
                  </a:rPr>
                  <a:t>파견하여 구호 활동을 하고 있다</a:t>
                </a:r>
                <a:r>
                  <a:rPr lang="en-US" altLang="ko-KR" sz="1600" dirty="0" smtClean="0">
                    <a:solidFill>
                      <a:schemeClr val="tx1"/>
                    </a:solidFill>
                    <a:latin typeface="+mn-ea"/>
                  </a:rPr>
                  <a:t>.</a:t>
                </a:r>
                <a:endParaRPr lang="en-US" altLang="ko-KR" sz="1600" b="1" dirty="0" smtClean="0">
                  <a:solidFill>
                    <a:srgbClr val="00B050"/>
                  </a:solidFill>
                  <a:latin typeface="+mn-ea"/>
                </a:endParaRPr>
              </a:p>
            </p:txBody>
          </p:sp>
          <p:sp>
            <p:nvSpPr>
              <p:cNvPr id="25" name="TextBox 24"/>
              <p:cNvSpPr txBox="1"/>
              <p:nvPr/>
            </p:nvSpPr>
            <p:spPr>
              <a:xfrm>
                <a:off x="4069402" y="4716221"/>
                <a:ext cx="3609518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ko-KR" altLang="en-US" sz="1600" dirty="0">
                    <a:solidFill>
                      <a:schemeClr val="tx1"/>
                    </a:solidFill>
                    <a:latin typeface="+mn-ea"/>
                  </a:rPr>
                  <a:t>세계 여러 </a:t>
                </a:r>
                <a:r>
                  <a:rPr lang="ko-KR" altLang="en-US" sz="1600" dirty="0" smtClean="0">
                    <a:solidFill>
                      <a:schemeClr val="tx1"/>
                    </a:solidFill>
                    <a:latin typeface="+mn-ea"/>
                  </a:rPr>
                  <a:t>국가는 </a:t>
                </a:r>
                <a:endParaRPr lang="en-US" altLang="ko-KR" sz="1600" dirty="0" smtClean="0">
                  <a:solidFill>
                    <a:schemeClr val="tx1"/>
                  </a:solidFill>
                  <a:latin typeface="+mn-ea"/>
                </a:endParaRPr>
              </a:p>
              <a:p>
                <a:pPr algn="ctr">
                  <a:lnSpc>
                    <a:spcPct val="150000"/>
                  </a:lnSpc>
                </a:pPr>
                <a:r>
                  <a:rPr lang="ko-KR" altLang="en-US" sz="1600" dirty="0" smtClean="0">
                    <a:solidFill>
                      <a:schemeClr val="tx1"/>
                    </a:solidFill>
                    <a:latin typeface="+mn-ea"/>
                  </a:rPr>
                  <a:t>‘</a:t>
                </a:r>
                <a:r>
                  <a:rPr lang="ko-KR" altLang="en-US" sz="1600" dirty="0">
                    <a:solidFill>
                      <a:schemeClr val="tx1"/>
                    </a:solidFill>
                    <a:latin typeface="+mn-ea"/>
                  </a:rPr>
                  <a:t>사막화 방지 </a:t>
                </a:r>
                <a:r>
                  <a:rPr lang="ko-KR" altLang="en-US" sz="1600" dirty="0" err="1">
                    <a:solidFill>
                      <a:schemeClr val="tx1"/>
                    </a:solidFill>
                    <a:latin typeface="+mn-ea"/>
                  </a:rPr>
                  <a:t>협약’을</a:t>
                </a:r>
                <a:r>
                  <a:rPr lang="ko-KR" altLang="en-US" sz="1600" dirty="0">
                    <a:solidFill>
                      <a:schemeClr val="tx1"/>
                    </a:solidFill>
                    <a:latin typeface="+mn-ea"/>
                  </a:rPr>
                  <a:t> 맺어 </a:t>
                </a:r>
                <a:r>
                  <a:rPr lang="ko-KR" altLang="en-US" sz="1600" dirty="0" smtClean="0">
                    <a:solidFill>
                      <a:schemeClr val="tx1"/>
                    </a:solidFill>
                    <a:latin typeface="+mn-ea"/>
                  </a:rPr>
                  <a:t>사막화와 토지 </a:t>
                </a:r>
                <a:r>
                  <a:rPr lang="ko-KR" altLang="en-US" sz="1600" dirty="0">
                    <a:solidFill>
                      <a:schemeClr val="tx1"/>
                    </a:solidFill>
                    <a:latin typeface="+mn-ea"/>
                  </a:rPr>
                  <a:t>황폐화를 막고자 노력하고 있다</a:t>
                </a:r>
                <a:r>
                  <a:rPr lang="en-US" altLang="ko-KR" sz="1600" dirty="0">
                    <a:solidFill>
                      <a:schemeClr val="tx1"/>
                    </a:solidFill>
                    <a:latin typeface="+mn-ea"/>
                  </a:rPr>
                  <a:t>.</a:t>
                </a:r>
                <a:endParaRPr lang="en-US" altLang="ko-KR" sz="1600" b="1" dirty="0" smtClean="0">
                  <a:solidFill>
                    <a:srgbClr val="00B050"/>
                  </a:solidFill>
                  <a:latin typeface="+mn-ea"/>
                </a:endParaRPr>
              </a:p>
            </p:txBody>
          </p:sp>
          <p:sp>
            <p:nvSpPr>
              <p:cNvPr id="26" name="TextBox 25"/>
              <p:cNvSpPr txBox="1"/>
              <p:nvPr/>
            </p:nvSpPr>
            <p:spPr>
              <a:xfrm>
                <a:off x="7887168" y="4427250"/>
                <a:ext cx="3879863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ko-KR" altLang="en-US" sz="1600" dirty="0">
                    <a:solidFill>
                      <a:schemeClr val="tx1"/>
                    </a:solidFill>
                    <a:latin typeface="+mn-ea"/>
                  </a:rPr>
                  <a:t>비정부 기구 ‘국경 없는 </a:t>
                </a:r>
                <a:r>
                  <a:rPr lang="ko-KR" altLang="en-US" sz="1600" dirty="0" err="1">
                    <a:solidFill>
                      <a:schemeClr val="tx1"/>
                    </a:solidFill>
                    <a:latin typeface="+mn-ea"/>
                  </a:rPr>
                  <a:t>의사회’</a:t>
                </a:r>
                <a:r>
                  <a:rPr lang="ko-KR" altLang="en-US" sz="1600" dirty="0" err="1" smtClean="0">
                    <a:solidFill>
                      <a:schemeClr val="tx1"/>
                    </a:solidFill>
                    <a:latin typeface="+mn-ea"/>
                  </a:rPr>
                  <a:t>는</a:t>
                </a:r>
                <a:r>
                  <a:rPr lang="ko-KR" altLang="en-US" sz="1600" dirty="0" smtClean="0">
                    <a:solidFill>
                      <a:schemeClr val="tx1"/>
                    </a:solidFill>
                    <a:latin typeface="+mn-ea"/>
                  </a:rPr>
                  <a:t> </a:t>
                </a:r>
                <a:endParaRPr lang="en-US" altLang="ko-KR" sz="1600" dirty="0" smtClean="0">
                  <a:solidFill>
                    <a:schemeClr val="tx1"/>
                  </a:solidFill>
                  <a:latin typeface="+mn-ea"/>
                </a:endParaRPr>
              </a:p>
              <a:p>
                <a:pPr algn="ctr">
                  <a:lnSpc>
                    <a:spcPct val="150000"/>
                  </a:lnSpc>
                </a:pPr>
                <a:r>
                  <a:rPr lang="ko-KR" altLang="en-US" sz="1600" dirty="0" smtClean="0">
                    <a:solidFill>
                      <a:schemeClr val="tx1"/>
                    </a:solidFill>
                    <a:latin typeface="+mn-ea"/>
                  </a:rPr>
                  <a:t>전쟁</a:t>
                </a:r>
                <a:r>
                  <a:rPr lang="en-US" altLang="ko-KR" sz="1600" dirty="0">
                    <a:solidFill>
                      <a:schemeClr val="tx1"/>
                    </a:solidFill>
                    <a:latin typeface="+mn-ea"/>
                  </a:rPr>
                  <a:t>, </a:t>
                </a:r>
                <a:r>
                  <a:rPr lang="ko-KR" altLang="en-US" sz="1600" dirty="0">
                    <a:solidFill>
                      <a:schemeClr val="tx1"/>
                    </a:solidFill>
                    <a:latin typeface="+mn-ea"/>
                  </a:rPr>
                  <a:t>자연재해 등으로 고통받는 </a:t>
                </a:r>
                <a:r>
                  <a:rPr lang="ko-KR" altLang="en-US" sz="1600" dirty="0" smtClean="0">
                    <a:solidFill>
                      <a:schemeClr val="tx1"/>
                    </a:solidFill>
                    <a:latin typeface="+mn-ea"/>
                  </a:rPr>
                  <a:t>지역에</a:t>
                </a:r>
                <a:endParaRPr lang="en-US" altLang="ko-KR" sz="1600" dirty="0" smtClean="0">
                  <a:solidFill>
                    <a:schemeClr val="tx1"/>
                  </a:solidFill>
                  <a:latin typeface="+mn-ea"/>
                </a:endParaRPr>
              </a:p>
              <a:p>
                <a:pPr algn="ctr">
                  <a:lnSpc>
                    <a:spcPct val="150000"/>
                  </a:lnSpc>
                </a:pPr>
                <a:r>
                  <a:rPr lang="ko-KR" altLang="en-US" sz="1600" dirty="0" smtClean="0">
                    <a:solidFill>
                      <a:schemeClr val="tx1"/>
                    </a:solidFill>
                    <a:latin typeface="+mn-ea"/>
                  </a:rPr>
                  <a:t>긴급 </a:t>
                </a:r>
                <a:r>
                  <a:rPr lang="ko-KR" altLang="en-US" sz="1600" dirty="0">
                    <a:solidFill>
                      <a:schemeClr val="tx1"/>
                    </a:solidFill>
                    <a:latin typeface="+mn-ea"/>
                  </a:rPr>
                  <a:t>의료 서비스를 제공하고 있다</a:t>
                </a:r>
                <a:r>
                  <a:rPr lang="en-US" altLang="ko-KR" sz="1600" dirty="0">
                    <a:solidFill>
                      <a:schemeClr val="tx1"/>
                    </a:solidFill>
                    <a:latin typeface="+mn-ea"/>
                  </a:rPr>
                  <a:t>.</a:t>
                </a:r>
                <a:endParaRPr lang="en-US" altLang="ko-KR" sz="1600" b="1" dirty="0" smtClean="0">
                  <a:solidFill>
                    <a:srgbClr val="00B050"/>
                  </a:solidFill>
                  <a:latin typeface="+mn-ea"/>
                </a:endParaRPr>
              </a:p>
            </p:txBody>
          </p:sp>
        </p:grpSp>
        <p:sp>
          <p:nvSpPr>
            <p:cNvPr id="7" name="모서리가 둥근 직사각형 6"/>
            <p:cNvSpPr/>
            <p:nvPr/>
          </p:nvSpPr>
          <p:spPr>
            <a:xfrm>
              <a:off x="129395" y="1744636"/>
              <a:ext cx="3940007" cy="2607798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7" name="모서리가 둥근 직사각형 26"/>
            <p:cNvSpPr/>
            <p:nvPr/>
          </p:nvSpPr>
          <p:spPr>
            <a:xfrm>
              <a:off x="3954165" y="1964297"/>
              <a:ext cx="3724755" cy="2793353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" name="모서리가 둥근 직사각형 27"/>
            <p:cNvSpPr/>
            <p:nvPr/>
          </p:nvSpPr>
          <p:spPr>
            <a:xfrm>
              <a:off x="7627567" y="1676816"/>
              <a:ext cx="3858638" cy="2793353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1934640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xmlns="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학습하기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7702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smtClean="0">
                <a:solidFill>
                  <a:srgbClr val="FFFF00"/>
                </a:solidFill>
                <a:latin typeface="+mn-ea"/>
              </a:rPr>
              <a:t>지구적 차원의 도덕 문제를 해결하기 위한 노력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pic>
        <p:nvPicPr>
          <p:cNvPr id="12" name="그래픽 13">
            <a:extLst>
              <a:ext uri="{FF2B5EF4-FFF2-40B4-BE49-F238E27FC236}">
                <a16:creationId xmlns:a16="http://schemas.microsoft.com/office/drawing/2014/main" xmlns="" id="{35DACDE9-C2C6-6DAB-E125-F5168FF9B962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xmlns="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세계시민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xmlns="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177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·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xmlns="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 smtClean="0">
                <a:latin typeface="+mj-ea"/>
                <a:ea typeface="+mj-ea"/>
              </a:rPr>
              <a:t>지구적 차원의 도덕 문제를 어떻게 해결할 수 있을까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29091" y="1428205"/>
            <a:ext cx="11334284" cy="51475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500" b="1" dirty="0" smtClean="0">
                <a:solidFill>
                  <a:schemeClr val="accent2">
                    <a:lumMod val="50000"/>
                  </a:schemeClr>
                </a:solidFill>
              </a:rPr>
              <a:t>개인적</a:t>
            </a:r>
            <a:r>
              <a:rPr lang="en-US" altLang="ko-KR" sz="2500" b="1" dirty="0">
                <a:solidFill>
                  <a:schemeClr val="accent2">
                    <a:lumMod val="50000"/>
                  </a:schemeClr>
                </a:solidFill>
              </a:rPr>
              <a:t> </a:t>
            </a:r>
            <a:r>
              <a:rPr lang="ko-KR" altLang="en-US" sz="2500" b="1" dirty="0" smtClean="0">
                <a:solidFill>
                  <a:schemeClr val="accent2">
                    <a:lumMod val="50000"/>
                  </a:schemeClr>
                </a:solidFill>
              </a:rPr>
              <a:t>노력</a:t>
            </a:r>
            <a:endParaRPr lang="en-US" altLang="ko-KR" sz="2500" b="1" dirty="0" smtClean="0">
              <a:solidFill>
                <a:schemeClr val="accent2">
                  <a:lumMod val="50000"/>
                </a:schemeClr>
              </a:solidFill>
            </a:endParaRPr>
          </a:p>
          <a:p>
            <a:pPr algn="just">
              <a:lnSpc>
                <a:spcPct val="150000"/>
              </a:lnSpc>
            </a:pPr>
            <a:r>
              <a:rPr lang="ko-KR" altLang="en-US" sz="2400" dirty="0">
                <a:solidFill>
                  <a:schemeClr val="tx1"/>
                </a:solidFill>
              </a:rPr>
              <a:t>공정 무역 상품 구매</a:t>
            </a:r>
            <a:r>
              <a:rPr lang="en-US" altLang="ko-KR" sz="2400" dirty="0">
                <a:solidFill>
                  <a:schemeClr val="tx1"/>
                </a:solidFill>
              </a:rPr>
              <a:t>, </a:t>
            </a:r>
            <a:r>
              <a:rPr lang="ko-KR" altLang="en-US" sz="2400" dirty="0">
                <a:solidFill>
                  <a:schemeClr val="tx1"/>
                </a:solidFill>
              </a:rPr>
              <a:t>탄소 배출 감소 </a:t>
            </a:r>
            <a:r>
              <a:rPr lang="ko-KR" altLang="en-US" sz="2400" dirty="0" smtClean="0">
                <a:solidFill>
                  <a:schemeClr val="tx1"/>
                </a:solidFill>
              </a:rPr>
              <a:t>방법 제안</a:t>
            </a:r>
            <a:r>
              <a:rPr lang="en-US" altLang="ko-KR" sz="2400" dirty="0">
                <a:solidFill>
                  <a:schemeClr val="tx1"/>
                </a:solidFill>
              </a:rPr>
              <a:t>, </a:t>
            </a:r>
            <a:r>
              <a:rPr lang="ko-KR" altLang="en-US" sz="2400" dirty="0">
                <a:solidFill>
                  <a:schemeClr val="tx1"/>
                </a:solidFill>
              </a:rPr>
              <a:t>지구적 차원의 도덕 문제 홍보 </a:t>
            </a:r>
            <a:r>
              <a:rPr lang="ko-KR" altLang="en-US" sz="2400" dirty="0" smtClean="0">
                <a:solidFill>
                  <a:schemeClr val="tx1"/>
                </a:solidFill>
              </a:rPr>
              <a:t>등</a:t>
            </a:r>
            <a:endParaRPr lang="en-US" altLang="ko-KR" sz="2400" dirty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</a:pPr>
            <a:endParaRPr lang="en-US" altLang="ko-KR" sz="2400" b="1" dirty="0" smtClean="0">
              <a:solidFill>
                <a:schemeClr val="accent2">
                  <a:lumMod val="50000"/>
                </a:schemeClr>
              </a:solidFill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500" b="1" dirty="0" smtClean="0">
                <a:solidFill>
                  <a:schemeClr val="accent2">
                    <a:lumMod val="50000"/>
                  </a:schemeClr>
                </a:solidFill>
              </a:rPr>
              <a:t>국가적 노력</a:t>
            </a:r>
            <a:endParaRPr lang="en-US" altLang="ko-KR" sz="2500" b="1" dirty="0" smtClean="0">
              <a:solidFill>
                <a:schemeClr val="accent2">
                  <a:lumMod val="50000"/>
                </a:schemeClr>
              </a:solidFill>
            </a:endParaRPr>
          </a:p>
          <a:p>
            <a:pPr algn="just">
              <a:lnSpc>
                <a:spcPct val="150000"/>
              </a:lnSpc>
            </a:pPr>
            <a:r>
              <a:rPr lang="ko-KR" altLang="en-US" sz="2400" dirty="0">
                <a:solidFill>
                  <a:schemeClr val="tx1"/>
                </a:solidFill>
              </a:rPr>
              <a:t>관련 법과 제도 마련</a:t>
            </a:r>
            <a:r>
              <a:rPr lang="en-US" altLang="ko-KR" sz="2400" dirty="0">
                <a:solidFill>
                  <a:schemeClr val="tx1"/>
                </a:solidFill>
              </a:rPr>
              <a:t>, </a:t>
            </a:r>
            <a:r>
              <a:rPr lang="ko-KR" altLang="en-US" sz="2400" dirty="0">
                <a:solidFill>
                  <a:schemeClr val="tx1"/>
                </a:solidFill>
              </a:rPr>
              <a:t>정부 차원의 구호 </a:t>
            </a:r>
            <a:r>
              <a:rPr lang="ko-KR" altLang="en-US" sz="2400" dirty="0" smtClean="0">
                <a:solidFill>
                  <a:schemeClr val="tx1"/>
                </a:solidFill>
              </a:rPr>
              <a:t>활동</a:t>
            </a:r>
            <a:r>
              <a:rPr lang="en-US" altLang="ko-KR" sz="2400" dirty="0" smtClean="0">
                <a:solidFill>
                  <a:schemeClr val="tx1"/>
                </a:solidFill>
              </a:rPr>
              <a:t>, </a:t>
            </a:r>
            <a:r>
              <a:rPr lang="ko-KR" altLang="en-US" sz="2400" dirty="0" smtClean="0">
                <a:solidFill>
                  <a:schemeClr val="tx1"/>
                </a:solidFill>
              </a:rPr>
              <a:t>국제기구와의 협력 등</a:t>
            </a:r>
            <a:endParaRPr lang="en-US" altLang="ko-KR" sz="2400" dirty="0" smtClean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</a:pPr>
            <a:endParaRPr lang="en-US" altLang="ko-KR" sz="2400" b="1" dirty="0" smtClean="0">
              <a:solidFill>
                <a:schemeClr val="accent2">
                  <a:lumMod val="50000"/>
                </a:schemeClr>
              </a:solidFill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500" b="1" dirty="0" smtClean="0">
                <a:solidFill>
                  <a:schemeClr val="accent2">
                    <a:lumMod val="50000"/>
                  </a:schemeClr>
                </a:solidFill>
              </a:rPr>
              <a:t>국제적 </a:t>
            </a:r>
            <a:r>
              <a:rPr lang="ko-KR" altLang="en-US" sz="2500" b="1" dirty="0">
                <a:solidFill>
                  <a:schemeClr val="accent2">
                    <a:lumMod val="50000"/>
                  </a:schemeClr>
                </a:solidFill>
              </a:rPr>
              <a:t>노력</a:t>
            </a:r>
            <a:endParaRPr lang="en-US" altLang="ko-KR" sz="2500" b="1" dirty="0">
              <a:solidFill>
                <a:schemeClr val="accent2">
                  <a:lumMod val="50000"/>
                </a:schemeClr>
              </a:solidFill>
            </a:endParaRPr>
          </a:p>
          <a:p>
            <a:pPr algn="just">
              <a:lnSpc>
                <a:spcPct val="150000"/>
              </a:lnSpc>
            </a:pPr>
            <a:r>
              <a:rPr lang="ko-KR" altLang="en-US" sz="2400" dirty="0">
                <a:solidFill>
                  <a:schemeClr val="tx1"/>
                </a:solidFill>
              </a:rPr>
              <a:t>국제기구를 통한 이해관계 조정</a:t>
            </a:r>
            <a:r>
              <a:rPr lang="en-US" altLang="ko-KR" sz="2400" dirty="0">
                <a:solidFill>
                  <a:schemeClr val="tx1"/>
                </a:solidFill>
              </a:rPr>
              <a:t>, </a:t>
            </a:r>
            <a:r>
              <a:rPr lang="ko-KR" altLang="en-US" sz="2400" dirty="0">
                <a:solidFill>
                  <a:schemeClr val="tx1"/>
                </a:solidFill>
              </a:rPr>
              <a:t>국제 </a:t>
            </a:r>
            <a:r>
              <a:rPr lang="ko-KR" altLang="en-US" sz="2400" dirty="0" smtClean="0">
                <a:solidFill>
                  <a:schemeClr val="tx1"/>
                </a:solidFill>
              </a:rPr>
              <a:t>협약을 통한 </a:t>
            </a:r>
            <a:r>
              <a:rPr lang="ko-KR" altLang="en-US" sz="2400" dirty="0">
                <a:solidFill>
                  <a:schemeClr val="tx1"/>
                </a:solidFill>
              </a:rPr>
              <a:t>국제 규범 설정</a:t>
            </a:r>
            <a:r>
              <a:rPr lang="en-US" altLang="ko-KR" sz="2400" dirty="0">
                <a:solidFill>
                  <a:schemeClr val="tx1"/>
                </a:solidFill>
              </a:rPr>
              <a:t>, </a:t>
            </a:r>
            <a:r>
              <a:rPr lang="ko-KR" altLang="en-US" sz="2400" dirty="0">
                <a:solidFill>
                  <a:schemeClr val="tx1"/>
                </a:solidFill>
              </a:rPr>
              <a:t>비정부 기구 활동 등</a:t>
            </a:r>
            <a:endParaRPr lang="en-US" altLang="ko-KR" sz="2400" dirty="0" smtClean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54817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xmlns="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 smtClean="0">
                <a:solidFill>
                  <a:srgbClr val="FFFF00"/>
                </a:solidFill>
                <a:latin typeface="+mj-ea"/>
                <a:ea typeface="+mj-ea"/>
              </a:rPr>
              <a:t>자료</a:t>
            </a:r>
            <a:r>
              <a:rPr lang="en-US" altLang="ko-KR" sz="2400" b="1" dirty="0" smtClean="0">
                <a:solidFill>
                  <a:srgbClr val="FFFF00"/>
                </a:solidFill>
                <a:latin typeface="+mj-ea"/>
                <a:ea typeface="+mj-ea"/>
              </a:rPr>
              <a:t>+</a:t>
            </a:r>
            <a:endParaRPr lang="ko-KR" altLang="en-US" sz="2400" b="1" dirty="0">
              <a:solidFill>
                <a:srgbClr val="FFFF00"/>
              </a:solidFill>
              <a:latin typeface="+mj-ea"/>
              <a:ea typeface="+mj-ea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22729" y="1223040"/>
            <a:ext cx="11499925" cy="6381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2800" b="1" dirty="0" smtClean="0">
                <a:ln>
                  <a:solidFill>
                    <a:schemeClr val="tx1"/>
                  </a:solidFill>
                </a:ln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굴림" panose="020B0600000101010101" pitchFamily="50" charset="-127"/>
                <a:ea typeface="굴림" panose="020B0600000101010101" pitchFamily="50" charset="-127"/>
              </a:rPr>
              <a:t>지구촌을 더 나은 방향으로 이끄는 윤리적 소비</a:t>
            </a:r>
            <a:endParaRPr lang="en-US" altLang="ko-KR" sz="2800" b="1" dirty="0">
              <a:ln>
                <a:solidFill>
                  <a:schemeClr val="tx1"/>
                </a:solidFill>
              </a:ln>
              <a:solidFill>
                <a:srgbClr val="00B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404055" y="1961289"/>
            <a:ext cx="8136095" cy="46628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ko-KR" altLang="en-US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 윤리적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소비란 환경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사회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인권 등 도덕적 가치를 기준으로 삼아 상품이나 서비스를 구매하는 것을 말한다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최근 들어 이러한 윤리적 소비를 지향하는 사람들이 많아졌다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이들은 도덕적 가치를 위배하는 기업의 상품을 구매하지 않거나 사회적 책임을 다하는 기업의 상품을 구매하는 등 적극적인 소비 활동을 한다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  이러한 소비자들의 변화에 발맞추어 기업도 환경이나 동물 복지를 고려한 상품을 만들거나 사회적 책임을 다하는 경영 방식을 강조하고 있다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이처럼 윤리적 소비는 지구촌을 더 나은 방향으로 이끄는 적극적인 사회 참여의 한 방법으로 자리 잡고 있다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  <a:endParaRPr lang="en-US" altLang="ko-KR" sz="2200" spc="-15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pic>
        <p:nvPicPr>
          <p:cNvPr id="16" name="그래픽 13">
            <a:extLst>
              <a:ext uri="{FF2B5EF4-FFF2-40B4-BE49-F238E27FC236}">
                <a16:creationId xmlns:a16="http://schemas.microsoft.com/office/drawing/2014/main" xmlns="" id="{35DACDE9-C2C6-6DAB-E125-F5168FF9B962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xmlns="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xmlns="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세계시민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xmlns="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177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·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xmlns="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 smtClean="0">
                <a:latin typeface="+mj-ea"/>
                <a:ea typeface="+mj-ea"/>
              </a:rPr>
              <a:t>지구적 차원의 도덕 문제를 어떻게 해결할 수 있을까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605407" y="2015814"/>
            <a:ext cx="3217247" cy="455376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 rot="21417414">
            <a:off x="8843213" y="3941014"/>
            <a:ext cx="1190880" cy="584775"/>
          </a:xfrm>
          <a:prstGeom prst="rect">
            <a:avLst/>
          </a:prstGeom>
          <a:solidFill>
            <a:srgbClr val="F0F8EC"/>
          </a:solidFill>
        </p:spPr>
        <p:txBody>
          <a:bodyPr wrap="square" lIns="0" rIns="0" rtlCol="0">
            <a:spAutoFit/>
          </a:bodyPr>
          <a:lstStyle/>
          <a:p>
            <a:pPr algn="ctr"/>
            <a:r>
              <a:rPr lang="ko-KR" altLang="en-US" sz="1600" dirty="0" smtClean="0">
                <a:latin typeface="+mn-ea"/>
              </a:rPr>
              <a:t>친환경 상품 구매하기</a:t>
            </a:r>
            <a:endParaRPr lang="ko-KR" altLang="en-US" sz="1600" dirty="0">
              <a:latin typeface="+mn-ea"/>
            </a:endParaRPr>
          </a:p>
        </p:txBody>
      </p:sp>
      <p:sp>
        <p:nvSpPr>
          <p:cNvPr id="17" name="TextBox 16"/>
          <p:cNvSpPr txBox="1"/>
          <p:nvPr/>
        </p:nvSpPr>
        <p:spPr>
          <a:xfrm rot="21417414">
            <a:off x="10228565" y="3892537"/>
            <a:ext cx="1400838" cy="584775"/>
          </a:xfrm>
          <a:prstGeom prst="rect">
            <a:avLst/>
          </a:prstGeom>
          <a:solidFill>
            <a:srgbClr val="F0F8EC"/>
          </a:solidFill>
        </p:spPr>
        <p:txBody>
          <a:bodyPr wrap="square" lIns="0" rIns="0" rtlCol="0">
            <a:spAutoFit/>
          </a:bodyPr>
          <a:lstStyle/>
          <a:p>
            <a:pPr algn="ctr"/>
            <a:r>
              <a:rPr lang="ko-KR" altLang="en-US" sz="1600" dirty="0" smtClean="0">
                <a:latin typeface="+mn-ea"/>
              </a:rPr>
              <a:t>동물 복지 상품 구매하기</a:t>
            </a:r>
            <a:endParaRPr lang="ko-KR" altLang="en-US" sz="1600" dirty="0">
              <a:latin typeface="+mn-ea"/>
            </a:endParaRPr>
          </a:p>
        </p:txBody>
      </p:sp>
      <p:sp>
        <p:nvSpPr>
          <p:cNvPr id="18" name="TextBox 17"/>
          <p:cNvSpPr txBox="1"/>
          <p:nvPr/>
        </p:nvSpPr>
        <p:spPr>
          <a:xfrm rot="21417414">
            <a:off x="8843065" y="5814340"/>
            <a:ext cx="1400838" cy="584775"/>
          </a:xfrm>
          <a:prstGeom prst="rect">
            <a:avLst/>
          </a:prstGeom>
          <a:solidFill>
            <a:srgbClr val="F0F8EC"/>
          </a:solidFill>
        </p:spPr>
        <p:txBody>
          <a:bodyPr wrap="square" lIns="0" rIns="0" rtlCol="0">
            <a:spAutoFit/>
          </a:bodyPr>
          <a:lstStyle/>
          <a:p>
            <a:pPr algn="ctr"/>
            <a:r>
              <a:rPr lang="ko-KR" altLang="en-US" sz="1600" dirty="0" smtClean="0">
                <a:latin typeface="+mn-ea"/>
              </a:rPr>
              <a:t>기부 연계 상품 구매하기</a:t>
            </a:r>
            <a:endParaRPr lang="ko-KR" altLang="en-US" sz="1600" dirty="0">
              <a:latin typeface="+mn-ea"/>
            </a:endParaRPr>
          </a:p>
        </p:txBody>
      </p:sp>
      <p:sp>
        <p:nvSpPr>
          <p:cNvPr id="19" name="TextBox 18"/>
          <p:cNvSpPr txBox="1"/>
          <p:nvPr/>
        </p:nvSpPr>
        <p:spPr>
          <a:xfrm rot="21417414">
            <a:off x="10307100" y="5726909"/>
            <a:ext cx="1400838" cy="584775"/>
          </a:xfrm>
          <a:prstGeom prst="rect">
            <a:avLst/>
          </a:prstGeom>
          <a:solidFill>
            <a:srgbClr val="F0F8EC"/>
          </a:solidFill>
        </p:spPr>
        <p:txBody>
          <a:bodyPr wrap="square" lIns="0" rIns="0" rtlCol="0">
            <a:spAutoFit/>
          </a:bodyPr>
          <a:lstStyle/>
          <a:p>
            <a:pPr algn="ctr"/>
            <a:r>
              <a:rPr lang="ko-KR" altLang="en-US" sz="1600" dirty="0" smtClean="0">
                <a:latin typeface="+mn-ea"/>
              </a:rPr>
              <a:t>공정 무역 상품 구매하기</a:t>
            </a:r>
            <a:endParaRPr lang="ko-KR" altLang="en-US" sz="1600" dirty="0">
              <a:latin typeface="+mn-ea"/>
            </a:endParaRPr>
          </a:p>
        </p:txBody>
      </p:sp>
      <p:sp>
        <p:nvSpPr>
          <p:cNvPr id="20" name="TextBox 19"/>
          <p:cNvSpPr txBox="1"/>
          <p:nvPr/>
        </p:nvSpPr>
        <p:spPr>
          <a:xfrm rot="21373784">
            <a:off x="9128365" y="2355858"/>
            <a:ext cx="2052729" cy="338554"/>
          </a:xfrm>
          <a:prstGeom prst="rect">
            <a:avLst/>
          </a:prstGeom>
          <a:solidFill>
            <a:srgbClr val="DDEBD2"/>
          </a:solidFill>
        </p:spPr>
        <p:txBody>
          <a:bodyPr wrap="square" rtlCol="0">
            <a:spAutoFit/>
          </a:bodyPr>
          <a:lstStyle/>
          <a:p>
            <a:r>
              <a:rPr lang="ko-KR" altLang="en-US" sz="1600" b="1" dirty="0" smtClean="0">
                <a:solidFill>
                  <a:srgbClr val="00B050"/>
                </a:solidFill>
              </a:rPr>
              <a:t>윤리적 소비의 사례</a:t>
            </a:r>
            <a:endParaRPr lang="ko-KR" altLang="en-US" sz="1600" b="1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01927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Box 25"/>
          <p:cNvSpPr txBox="1"/>
          <p:nvPr/>
        </p:nvSpPr>
        <p:spPr>
          <a:xfrm>
            <a:off x="787400" y="1613182"/>
            <a:ext cx="1023910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000" b="1" dirty="0" err="1" smtClean="0"/>
              <a:t>모둠별로</a:t>
            </a:r>
            <a:r>
              <a:rPr lang="ko-KR" altLang="en-US" sz="2000" b="1" dirty="0" smtClean="0"/>
              <a:t> 다음 </a:t>
            </a:r>
            <a:r>
              <a:rPr lang="en-US" altLang="ko-KR" sz="2000" b="1" dirty="0" smtClean="0"/>
              <a:t>&lt;</a:t>
            </a:r>
            <a:r>
              <a:rPr lang="ko-KR" altLang="en-US" sz="2000" b="1" dirty="0" smtClean="0"/>
              <a:t>활동 방법</a:t>
            </a:r>
            <a:r>
              <a:rPr lang="en-US" altLang="ko-KR" sz="2000" b="1" dirty="0" smtClean="0"/>
              <a:t>&gt;</a:t>
            </a:r>
            <a:r>
              <a:rPr lang="ko-KR" altLang="en-US" sz="2000" b="1" dirty="0" smtClean="0"/>
              <a:t>에 따라 지구촌 말판 놀이를 해 보고</a:t>
            </a:r>
            <a:r>
              <a:rPr lang="en-US" altLang="ko-KR" sz="2000" b="1" dirty="0" smtClean="0"/>
              <a:t>, </a:t>
            </a:r>
            <a:r>
              <a:rPr lang="ko-KR" altLang="en-US" sz="2000" b="1" dirty="0" smtClean="0"/>
              <a:t>인류의 고통에 공감하며 지구촌 문제를 해결하기 위한 방안을 생각해 보자</a:t>
            </a:r>
            <a:r>
              <a:rPr lang="en-US" altLang="ko-KR" sz="2000" b="1" dirty="0" smtClean="0"/>
              <a:t>.</a:t>
            </a:r>
            <a:endParaRPr lang="ko-KR" altLang="en-US" sz="2000" b="1" dirty="0"/>
          </a:p>
        </p:txBody>
      </p:sp>
      <p:sp>
        <p:nvSpPr>
          <p:cNvPr id="12" name="순서도: 수행의 시작/종료 11">
            <a:extLst>
              <a:ext uri="{FF2B5EF4-FFF2-40B4-BE49-F238E27FC236}">
                <a16:creationId xmlns:a16="http://schemas.microsoft.com/office/drawing/2014/main" xmlns="" id="{9DFB822A-B6F1-2298-D387-61BD7FE98B43}"/>
              </a:ext>
            </a:extLst>
          </p:cNvPr>
          <p:cNvSpPr/>
          <p:nvPr/>
        </p:nvSpPr>
        <p:spPr>
          <a:xfrm>
            <a:off x="1764504" y="582930"/>
            <a:ext cx="1775115" cy="585788"/>
          </a:xfrm>
          <a:prstGeom prst="flowChartTerminator">
            <a:avLst/>
          </a:prstGeom>
          <a:solidFill>
            <a:srgbClr val="FF9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3C67A572-5929-17A2-D60C-4C11D984771C}"/>
              </a:ext>
            </a:extLst>
          </p:cNvPr>
          <p:cNvSpPr txBox="1"/>
          <p:nvPr/>
        </p:nvSpPr>
        <p:spPr>
          <a:xfrm>
            <a:off x="979524" y="671335"/>
            <a:ext cx="23839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spc="-150" dirty="0">
                <a:solidFill>
                  <a:schemeClr val="bg1"/>
                </a:solidFill>
                <a:latin typeface="+mj-ea"/>
                <a:ea typeface="+mj-ea"/>
              </a:rPr>
              <a:t>더 깊이 </a:t>
            </a:r>
            <a:r>
              <a:rPr lang="ko-KR" altLang="en-US" sz="2400" b="1" spc="-150" dirty="0" smtClean="0">
                <a:solidFill>
                  <a:schemeClr val="bg1"/>
                </a:solidFill>
                <a:latin typeface="+mj-ea"/>
                <a:ea typeface="+mj-ea"/>
              </a:rPr>
              <a:t>실천하기</a:t>
            </a:r>
            <a:endParaRPr lang="ko-KR" altLang="en-US" sz="2400" b="1" spc="-15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E154A385-B13F-711E-8062-D58E9EE68096}"/>
              </a:ext>
            </a:extLst>
          </p:cNvPr>
          <p:cNvSpPr txBox="1"/>
          <p:nvPr/>
        </p:nvSpPr>
        <p:spPr>
          <a:xfrm>
            <a:off x="3563317" y="654715"/>
            <a:ext cx="71087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smtClean="0">
                <a:solidFill>
                  <a:srgbClr val="FF9300"/>
                </a:solidFill>
                <a:latin typeface="+mj-ea"/>
                <a:ea typeface="+mj-ea"/>
              </a:rPr>
              <a:t>지구촌 말판 놀이를 하며 인류의 고통에 공감하기</a:t>
            </a:r>
            <a:endParaRPr lang="ko-KR" altLang="en-US" sz="2400" b="1" dirty="0">
              <a:solidFill>
                <a:srgbClr val="FF9300"/>
              </a:solidFill>
              <a:latin typeface="+mj-ea"/>
              <a:ea typeface="+mj-ea"/>
            </a:endParaRPr>
          </a:p>
        </p:txBody>
      </p:sp>
      <p:pic>
        <p:nvPicPr>
          <p:cNvPr id="37" name="그래픽 13">
            <a:extLst>
              <a:ext uri="{FF2B5EF4-FFF2-40B4-BE49-F238E27FC236}">
                <a16:creationId xmlns:a16="http://schemas.microsoft.com/office/drawing/2014/main" xmlns="" id="{35DACDE9-C2C6-6DAB-E125-F5168FF9B96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xmlns="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xmlns="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세계시민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xmlns="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178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·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xmlns="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 smtClean="0">
                <a:latin typeface="+mj-ea"/>
                <a:ea typeface="+mj-ea"/>
              </a:rPr>
              <a:t>지구적 차원의 도덕 문제를 어떻게 해결할 수 있을까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pic>
        <p:nvPicPr>
          <p:cNvPr id="31" name="그림 30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xmlns="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41029" y="2196609"/>
            <a:ext cx="487174" cy="487174"/>
          </a:xfrm>
          <a:prstGeom prst="rect">
            <a:avLst/>
          </a:prstGeom>
        </p:spPr>
      </p:pic>
      <p:grpSp>
        <p:nvGrpSpPr>
          <p:cNvPr id="32" name="그룹 31">
            <a:extLst>
              <a:ext uri="{FF2B5EF4-FFF2-40B4-BE49-F238E27FC236}">
                <a16:creationId xmlns:a16="http://schemas.microsoft.com/office/drawing/2014/main" xmlns="" id="{BD8F7919-81BA-4F6C-659C-1ECE98A49C77}"/>
              </a:ext>
            </a:extLst>
          </p:cNvPr>
          <p:cNvGrpSpPr/>
          <p:nvPr/>
        </p:nvGrpSpPr>
        <p:grpSpPr>
          <a:xfrm>
            <a:off x="9423553" y="2196609"/>
            <a:ext cx="1087577" cy="495431"/>
            <a:chOff x="10075659" y="2003022"/>
            <a:chExt cx="1156006" cy="495431"/>
          </a:xfrm>
        </p:grpSpPr>
        <p:pic>
          <p:nvPicPr>
            <p:cNvPr id="33" name="그림 32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xmlns="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xmlns="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grpSp>
        <p:nvGrpSpPr>
          <p:cNvPr id="35" name="그룹 34">
            <a:extLst>
              <a:ext uri="{FF2B5EF4-FFF2-40B4-BE49-F238E27FC236}">
                <a16:creationId xmlns:a16="http://schemas.microsoft.com/office/drawing/2014/main" xmlns="" id="{BD8F7919-81BA-4F6C-659C-1ECE98A49C77}"/>
              </a:ext>
            </a:extLst>
          </p:cNvPr>
          <p:cNvGrpSpPr/>
          <p:nvPr/>
        </p:nvGrpSpPr>
        <p:grpSpPr>
          <a:xfrm>
            <a:off x="8111266" y="2196609"/>
            <a:ext cx="1282388" cy="495431"/>
            <a:chOff x="10075659" y="2003022"/>
            <a:chExt cx="1178665" cy="495431"/>
          </a:xfrm>
        </p:grpSpPr>
        <p:pic>
          <p:nvPicPr>
            <p:cNvPr id="36" name="그림 35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xmlns="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48" name="TextBox 47">
              <a:hlinkClick r:id="rId8" action="ppaction://hlinksldjump"/>
              <a:extLst>
                <a:ext uri="{FF2B5EF4-FFF2-40B4-BE49-F238E27FC236}">
                  <a16:creationId xmlns:a16="http://schemas.microsoft.com/office/drawing/2014/main" xmlns="" id="{492508EF-5B45-FCB1-63DF-BCFA304E8F7C}"/>
                </a:ext>
              </a:extLst>
            </p:cNvPr>
            <p:cNvSpPr txBox="1"/>
            <p:nvPr/>
          </p:nvSpPr>
          <p:spPr>
            <a:xfrm>
              <a:off x="10075659" y="2052992"/>
              <a:ext cx="117866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b="1" spc="-150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활동 방법</a:t>
              </a:r>
              <a:endParaRPr lang="ko-KR" altLang="en-US" b="1" spc="-150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grpSp>
        <p:nvGrpSpPr>
          <p:cNvPr id="65" name="그룹 64"/>
          <p:cNvGrpSpPr/>
          <p:nvPr/>
        </p:nvGrpSpPr>
        <p:grpSpPr>
          <a:xfrm>
            <a:off x="385482" y="3325437"/>
            <a:ext cx="11385177" cy="3532563"/>
            <a:chOff x="385482" y="3325437"/>
            <a:chExt cx="11385177" cy="3532563"/>
          </a:xfrm>
        </p:grpSpPr>
        <p:pic>
          <p:nvPicPr>
            <p:cNvPr id="52" name="그림 51"/>
            <p:cNvPicPr>
              <a:picLocks noChangeAspect="1"/>
            </p:cNvPicPr>
            <p:nvPr/>
          </p:nvPicPr>
          <p:blipFill rotWithShape="1">
            <a:blip r:embed="rId9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7829550" y="6297609"/>
              <a:ext cx="3417093" cy="560391"/>
            </a:xfrm>
            <a:prstGeom prst="rect">
              <a:avLst/>
            </a:prstGeom>
          </p:spPr>
        </p:pic>
        <p:pic>
          <p:nvPicPr>
            <p:cNvPr id="2" name="그림 1"/>
            <p:cNvPicPr>
              <a:picLocks noChangeAspect="1"/>
            </p:cNvPicPr>
            <p:nvPr/>
          </p:nvPicPr>
          <p:blipFill rotWithShape="1">
            <a:blip r:embed="rId10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385482" y="3325437"/>
              <a:ext cx="11385177" cy="3169395"/>
            </a:xfrm>
            <a:prstGeom prst="rect">
              <a:avLst/>
            </a:prstGeom>
          </p:spPr>
        </p:pic>
      </p:grpSp>
      <p:sp>
        <p:nvSpPr>
          <p:cNvPr id="23" name="TextBox 22"/>
          <p:cNvSpPr txBox="1"/>
          <p:nvPr/>
        </p:nvSpPr>
        <p:spPr>
          <a:xfrm>
            <a:off x="4391913" y="3971768"/>
            <a:ext cx="223108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dirty="0" smtClean="0">
                <a:latin typeface="+mn-ea"/>
              </a:rPr>
              <a:t>세계 물의 날</a:t>
            </a:r>
            <a:endParaRPr lang="en-US" altLang="ko-KR" sz="2000" dirty="0" smtClean="0">
              <a:latin typeface="+mn-ea"/>
            </a:endParaRPr>
          </a:p>
          <a:p>
            <a:pPr algn="ctr"/>
            <a:r>
              <a:rPr lang="en-US" altLang="ko-KR" sz="2000" dirty="0" smtClean="0">
                <a:latin typeface="+mn-ea"/>
              </a:rPr>
              <a:t>(3</a:t>
            </a:r>
            <a:r>
              <a:rPr lang="ko-KR" altLang="en-US" sz="2000" dirty="0" smtClean="0">
                <a:latin typeface="+mn-ea"/>
              </a:rPr>
              <a:t>월 </a:t>
            </a:r>
            <a:r>
              <a:rPr lang="en-US" altLang="ko-KR" sz="2000" dirty="0" smtClean="0">
                <a:latin typeface="+mn-ea"/>
              </a:rPr>
              <a:t>22</a:t>
            </a:r>
            <a:r>
              <a:rPr lang="ko-KR" altLang="en-US" sz="2000" dirty="0" smtClean="0">
                <a:latin typeface="+mn-ea"/>
              </a:rPr>
              <a:t>일</a:t>
            </a:r>
            <a:r>
              <a:rPr lang="en-US" altLang="ko-KR" sz="2000" dirty="0" smtClean="0">
                <a:latin typeface="+mn-ea"/>
              </a:rPr>
              <a:t>)</a:t>
            </a:r>
          </a:p>
          <a:p>
            <a:pPr algn="just"/>
            <a:endParaRPr lang="en-US" altLang="ko-KR" sz="1600" dirty="0" smtClean="0">
              <a:latin typeface="+mn-ea"/>
            </a:endParaRPr>
          </a:p>
          <a:p>
            <a:pPr algn="just"/>
            <a:r>
              <a:rPr lang="ko-KR" altLang="en-US" sz="1600" dirty="0" smtClean="0">
                <a:latin typeface="+mn-ea"/>
              </a:rPr>
              <a:t>물 부족 문제를 해결하기 위해 일상에서 실천할 수 있는 일을 두 가지 말해 보자</a:t>
            </a:r>
            <a:r>
              <a:rPr lang="en-US" altLang="ko-KR" sz="1600" dirty="0" smtClean="0">
                <a:latin typeface="+mn-ea"/>
              </a:rPr>
              <a:t>.</a:t>
            </a:r>
            <a:endParaRPr lang="ko-KR" altLang="en-US" sz="1600" dirty="0">
              <a:latin typeface="+mn-ea"/>
            </a:endParaRP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11" cstate="email">
            <a:clrChange>
              <a:clrFrom>
                <a:srgbClr val="7CD3F6"/>
              </a:clrFrom>
              <a:clrTo>
                <a:srgbClr val="7CD3F6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99836" y="4621830"/>
            <a:ext cx="1343362" cy="743063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852627" y="4023866"/>
            <a:ext cx="268840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2000" dirty="0" smtClean="0">
                <a:latin typeface="+mn-ea"/>
              </a:rPr>
              <a:t>  세계 보건의 날</a:t>
            </a:r>
            <a:endParaRPr lang="en-US" altLang="ko-KR" sz="2000" dirty="0" smtClean="0">
              <a:latin typeface="+mn-ea"/>
            </a:endParaRPr>
          </a:p>
          <a:p>
            <a:pPr algn="just"/>
            <a:r>
              <a:rPr lang="en-US" altLang="ko-KR" sz="2000" dirty="0" smtClean="0">
                <a:latin typeface="+mn-ea"/>
              </a:rPr>
              <a:t>       (4</a:t>
            </a:r>
            <a:r>
              <a:rPr lang="ko-KR" altLang="en-US" sz="2000" dirty="0" smtClean="0">
                <a:latin typeface="+mn-ea"/>
              </a:rPr>
              <a:t>월 </a:t>
            </a:r>
            <a:r>
              <a:rPr lang="en-US" altLang="ko-KR" sz="2000" dirty="0">
                <a:latin typeface="+mn-ea"/>
              </a:rPr>
              <a:t>7</a:t>
            </a:r>
            <a:r>
              <a:rPr lang="ko-KR" altLang="en-US" sz="2000" dirty="0" smtClean="0">
                <a:latin typeface="+mn-ea"/>
              </a:rPr>
              <a:t>일</a:t>
            </a:r>
            <a:r>
              <a:rPr lang="en-US" altLang="ko-KR" sz="2000" dirty="0" smtClean="0">
                <a:latin typeface="+mn-ea"/>
              </a:rPr>
              <a:t>)</a:t>
            </a:r>
          </a:p>
          <a:p>
            <a:pPr algn="just"/>
            <a:endParaRPr lang="en-US" altLang="ko-KR" sz="1600" dirty="0" smtClean="0">
              <a:latin typeface="+mn-ea"/>
            </a:endParaRPr>
          </a:p>
          <a:p>
            <a:pPr algn="just"/>
            <a:r>
              <a:rPr lang="ko-KR" altLang="en-US" sz="1600" dirty="0" smtClean="0">
                <a:latin typeface="+mn-ea"/>
              </a:rPr>
              <a:t>병에 걸렸지만 돈이 없어 약을 구할 수 없다면 어떤 기분일지 말해 </a:t>
            </a:r>
            <a:endParaRPr lang="en-US" altLang="ko-KR" sz="1600" dirty="0" smtClean="0">
              <a:latin typeface="+mn-ea"/>
            </a:endParaRPr>
          </a:p>
          <a:p>
            <a:pPr algn="just"/>
            <a:r>
              <a:rPr lang="ko-KR" altLang="en-US" sz="1600" dirty="0" smtClean="0">
                <a:latin typeface="+mn-ea"/>
              </a:rPr>
              <a:t>보자</a:t>
            </a:r>
            <a:r>
              <a:rPr lang="en-US" altLang="ko-KR" sz="1600" dirty="0" smtClean="0">
                <a:latin typeface="+mn-ea"/>
              </a:rPr>
              <a:t>.</a:t>
            </a:r>
            <a:endParaRPr lang="ko-KR" altLang="en-US" sz="1600" dirty="0">
              <a:latin typeface="+mn-ea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8223966" y="5910760"/>
            <a:ext cx="263747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dirty="0" smtClean="0">
                <a:latin typeface="+mn-ea"/>
              </a:rPr>
              <a:t>교실을 한 바퀴 돌며 </a:t>
            </a:r>
            <a:endParaRPr lang="en-US" altLang="ko-KR" sz="1600" dirty="0" smtClean="0">
              <a:latin typeface="+mn-ea"/>
            </a:endParaRPr>
          </a:p>
          <a:p>
            <a:pPr algn="ctr"/>
            <a:r>
              <a:rPr lang="en-US" altLang="ko-KR" sz="1600" dirty="0" smtClean="0">
                <a:latin typeface="+mn-ea"/>
              </a:rPr>
              <a:t>“</a:t>
            </a:r>
            <a:r>
              <a:rPr lang="ko-KR" altLang="en-US" sz="1600" dirty="0" smtClean="0">
                <a:latin typeface="+mn-ea"/>
              </a:rPr>
              <a:t>나는 </a:t>
            </a:r>
            <a:r>
              <a:rPr lang="ko-KR" altLang="en-US" sz="1600" dirty="0" err="1" smtClean="0">
                <a:latin typeface="+mn-ea"/>
              </a:rPr>
              <a:t>세계시민입니다</a:t>
            </a:r>
            <a:r>
              <a:rPr lang="en-US" altLang="ko-KR" sz="1600" dirty="0" smtClean="0">
                <a:latin typeface="+mn-ea"/>
              </a:rPr>
              <a:t>.”</a:t>
            </a:r>
          </a:p>
          <a:p>
            <a:pPr algn="ctr"/>
            <a:r>
              <a:rPr lang="ko-KR" altLang="en-US" sz="1600" dirty="0" err="1" smtClean="0">
                <a:latin typeface="+mn-ea"/>
              </a:rPr>
              <a:t>라고</a:t>
            </a:r>
            <a:r>
              <a:rPr lang="ko-KR" altLang="en-US" sz="1600" dirty="0" smtClean="0">
                <a:latin typeface="+mn-ea"/>
              </a:rPr>
              <a:t> 외치기</a:t>
            </a:r>
            <a:endParaRPr lang="ko-KR" altLang="en-US" sz="1600" dirty="0">
              <a:latin typeface="+mn-ea"/>
            </a:endParaRPr>
          </a:p>
        </p:txBody>
      </p:sp>
      <p:cxnSp>
        <p:nvCxnSpPr>
          <p:cNvPr id="9" name="직선 연결선 8"/>
          <p:cNvCxnSpPr>
            <a:stCxn id="23" idx="0"/>
          </p:cNvCxnSpPr>
          <p:nvPr/>
        </p:nvCxnSpPr>
        <p:spPr>
          <a:xfrm flipV="1">
            <a:off x="5507455" y="3481623"/>
            <a:ext cx="7520" cy="490145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사각형: 둥근 모서리 29">
            <a:extLst>
              <a:ext uri="{FF2B5EF4-FFF2-40B4-BE49-F238E27FC236}">
                <a16:creationId xmlns:a16="http://schemas.microsoft.com/office/drawing/2014/main" xmlns="" id="{C631BC03-B762-9123-7FD1-0A60290B94EB}"/>
              </a:ext>
            </a:extLst>
          </p:cNvPr>
          <p:cNvSpPr/>
          <p:nvPr/>
        </p:nvSpPr>
        <p:spPr>
          <a:xfrm>
            <a:off x="2067996" y="2657783"/>
            <a:ext cx="4441446" cy="860454"/>
          </a:xfrm>
          <a:prstGeom prst="roundRect">
            <a:avLst>
              <a:gd name="adj" fmla="val 8608"/>
            </a:avLst>
          </a:prstGeom>
          <a:solidFill>
            <a:srgbClr val="FFF7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2038097" y="2681606"/>
            <a:ext cx="432224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2400" dirty="0" smtClean="0">
                <a:solidFill>
                  <a:srgbClr val="0070C0"/>
                </a:solidFill>
              </a:rPr>
              <a:t>양치할 </a:t>
            </a:r>
            <a:r>
              <a:rPr lang="ko-KR" altLang="en-US" sz="2400" dirty="0">
                <a:solidFill>
                  <a:srgbClr val="0070C0"/>
                </a:solidFill>
              </a:rPr>
              <a:t>때 양치 컵을 </a:t>
            </a:r>
            <a:r>
              <a:rPr lang="ko-KR" altLang="en-US" sz="2400">
                <a:solidFill>
                  <a:srgbClr val="0070C0"/>
                </a:solidFill>
              </a:rPr>
              <a:t>사용한다</a:t>
            </a:r>
            <a:r>
              <a:rPr lang="en-US" altLang="ko-KR" sz="2400" smtClean="0">
                <a:solidFill>
                  <a:srgbClr val="0070C0"/>
                </a:solidFill>
              </a:rPr>
              <a:t>.</a:t>
            </a:r>
          </a:p>
          <a:p>
            <a:pPr algn="just"/>
            <a:r>
              <a:rPr lang="ko-KR" altLang="en-US" sz="2400" smtClean="0">
                <a:solidFill>
                  <a:srgbClr val="0070C0"/>
                </a:solidFill>
              </a:rPr>
              <a:t>정수기를 설치한다</a:t>
            </a:r>
            <a:r>
              <a:rPr lang="en-US" altLang="ko-KR" sz="2400" smtClean="0">
                <a:solidFill>
                  <a:srgbClr val="0070C0"/>
                </a:solidFill>
              </a:rPr>
              <a:t>.  </a:t>
            </a:r>
            <a:endParaRPr lang="ko-KR" altLang="en-US" sz="2400" dirty="0">
              <a:solidFill>
                <a:srgbClr val="0070C0"/>
              </a:solidFill>
            </a:endParaRPr>
          </a:p>
        </p:txBody>
      </p:sp>
      <p:sp>
        <p:nvSpPr>
          <p:cNvPr id="54" name="사각형: 둥근 모서리 29">
            <a:extLst>
              <a:ext uri="{FF2B5EF4-FFF2-40B4-BE49-F238E27FC236}">
                <a16:creationId xmlns:a16="http://schemas.microsoft.com/office/drawing/2014/main" xmlns="" id="{C631BC03-B762-9123-7FD1-0A60290B94EB}"/>
              </a:ext>
            </a:extLst>
          </p:cNvPr>
          <p:cNvSpPr/>
          <p:nvPr/>
        </p:nvSpPr>
        <p:spPr>
          <a:xfrm>
            <a:off x="8428804" y="2756579"/>
            <a:ext cx="3198420" cy="836374"/>
          </a:xfrm>
          <a:prstGeom prst="roundRect">
            <a:avLst>
              <a:gd name="adj" fmla="val 8608"/>
            </a:avLst>
          </a:prstGeom>
          <a:solidFill>
            <a:srgbClr val="FFF7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8434646" y="2761955"/>
            <a:ext cx="319257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2400" dirty="0" smtClean="0">
                <a:solidFill>
                  <a:srgbClr val="0070C0"/>
                </a:solidFill>
                <a:latin typeface="+mn-ea"/>
              </a:rPr>
              <a:t>절망스럽고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, </a:t>
            </a: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스스로를 원망할 것이다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. </a:t>
            </a:r>
            <a:endParaRPr lang="ko-KR" altLang="en-US" sz="2400" dirty="0">
              <a:solidFill>
                <a:srgbClr val="0070C0"/>
              </a:solidFill>
              <a:latin typeface="+mn-ea"/>
            </a:endParaRPr>
          </a:p>
        </p:txBody>
      </p:sp>
      <p:cxnSp>
        <p:nvCxnSpPr>
          <p:cNvPr id="51" name="직선 연결선 50"/>
          <p:cNvCxnSpPr/>
          <p:nvPr/>
        </p:nvCxnSpPr>
        <p:spPr>
          <a:xfrm flipV="1">
            <a:off x="9071577" y="3592952"/>
            <a:ext cx="351976" cy="441441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88749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2"/>
                  </p:tgtEl>
                </p:cond>
              </p:nextCondLst>
            </p:seq>
            <p:seq concurrent="1" nextAc="seek">
              <p:cTn id="17" restart="whenNotActive" fill="hold" evtFilter="cancelBubble" nodeType="interactiveSeq">
                <p:stCondLst>
                  <p:cond evt="onClick" delay="0">
                    <p:tgtEl>
                      <p:spTgt spid="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1"/>
                  </p:tgtEl>
                </p:cond>
              </p:nextCondLst>
            </p:seq>
          </p:childTnLst>
        </p:cTn>
      </p:par>
    </p:tnLst>
    <p:bldLst>
      <p:bldP spid="53" grpId="0" animBg="1"/>
      <p:bldP spid="53" grpId="1" animBg="1"/>
      <p:bldP spid="30" grpId="0"/>
      <p:bldP spid="30" grpId="1"/>
      <p:bldP spid="54" grpId="0" animBg="1"/>
      <p:bldP spid="54" grpId="1" animBg="1"/>
      <p:bldP spid="50" grpId="0"/>
      <p:bldP spid="50" grpId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순서도: 수행의 시작/종료 11">
            <a:extLst>
              <a:ext uri="{FF2B5EF4-FFF2-40B4-BE49-F238E27FC236}">
                <a16:creationId xmlns:a16="http://schemas.microsoft.com/office/drawing/2014/main" xmlns="" id="{9DFB822A-B6F1-2298-D387-61BD7FE98B43}"/>
              </a:ext>
            </a:extLst>
          </p:cNvPr>
          <p:cNvSpPr/>
          <p:nvPr/>
        </p:nvSpPr>
        <p:spPr>
          <a:xfrm>
            <a:off x="1764504" y="582930"/>
            <a:ext cx="1775115" cy="585788"/>
          </a:xfrm>
          <a:prstGeom prst="flowChartTerminator">
            <a:avLst/>
          </a:prstGeom>
          <a:solidFill>
            <a:srgbClr val="FF9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3C67A572-5929-17A2-D60C-4C11D984771C}"/>
              </a:ext>
            </a:extLst>
          </p:cNvPr>
          <p:cNvSpPr txBox="1"/>
          <p:nvPr/>
        </p:nvSpPr>
        <p:spPr>
          <a:xfrm>
            <a:off x="979524" y="671335"/>
            <a:ext cx="23839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spc="-150" dirty="0">
                <a:solidFill>
                  <a:schemeClr val="bg1"/>
                </a:solidFill>
                <a:latin typeface="+mj-ea"/>
                <a:ea typeface="+mj-ea"/>
              </a:rPr>
              <a:t>더 깊이 </a:t>
            </a:r>
            <a:r>
              <a:rPr lang="ko-KR" altLang="en-US" sz="2400" b="1" spc="-150" dirty="0" smtClean="0">
                <a:solidFill>
                  <a:schemeClr val="bg1"/>
                </a:solidFill>
                <a:latin typeface="+mj-ea"/>
                <a:ea typeface="+mj-ea"/>
              </a:rPr>
              <a:t>실천하기</a:t>
            </a:r>
            <a:endParaRPr lang="ko-KR" altLang="en-US" sz="2400" b="1" spc="-15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E154A385-B13F-711E-8062-D58E9EE68096}"/>
              </a:ext>
            </a:extLst>
          </p:cNvPr>
          <p:cNvSpPr txBox="1"/>
          <p:nvPr/>
        </p:nvSpPr>
        <p:spPr>
          <a:xfrm>
            <a:off x="3563317" y="654715"/>
            <a:ext cx="71087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smtClean="0">
                <a:solidFill>
                  <a:srgbClr val="FF9300"/>
                </a:solidFill>
                <a:latin typeface="+mj-ea"/>
                <a:ea typeface="+mj-ea"/>
              </a:rPr>
              <a:t>지구촌 말판 놀이를 하며 인류의 고통에 공감하기</a:t>
            </a:r>
            <a:endParaRPr lang="ko-KR" altLang="en-US" sz="2400" b="1" dirty="0">
              <a:solidFill>
                <a:srgbClr val="FF9300"/>
              </a:solidFill>
              <a:latin typeface="+mj-ea"/>
              <a:ea typeface="+mj-ea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787400" y="1613182"/>
            <a:ext cx="1023910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000" b="1" dirty="0" err="1" smtClean="0"/>
              <a:t>모둠별로</a:t>
            </a:r>
            <a:r>
              <a:rPr lang="ko-KR" altLang="en-US" sz="2000" b="1" dirty="0" smtClean="0"/>
              <a:t> 다음 </a:t>
            </a:r>
            <a:r>
              <a:rPr lang="en-US" altLang="ko-KR" sz="2000" b="1" dirty="0" smtClean="0"/>
              <a:t>&lt;</a:t>
            </a:r>
            <a:r>
              <a:rPr lang="ko-KR" altLang="en-US" sz="2000" b="1" dirty="0" smtClean="0"/>
              <a:t>활동 방법</a:t>
            </a:r>
            <a:r>
              <a:rPr lang="en-US" altLang="ko-KR" sz="2000" b="1" dirty="0" smtClean="0"/>
              <a:t>&gt;</a:t>
            </a:r>
            <a:r>
              <a:rPr lang="ko-KR" altLang="en-US" sz="2000" b="1" dirty="0" smtClean="0"/>
              <a:t>에 따라 지구촌 말판 놀이를 해 보고</a:t>
            </a:r>
            <a:r>
              <a:rPr lang="en-US" altLang="ko-KR" sz="2000" b="1" dirty="0" smtClean="0"/>
              <a:t>, </a:t>
            </a:r>
            <a:r>
              <a:rPr lang="ko-KR" altLang="en-US" sz="2000" b="1" dirty="0" smtClean="0"/>
              <a:t>인류의 고통에 공감하며 지구촌 문제를 해결하기 위한 방안을 생각해 보자</a:t>
            </a:r>
            <a:r>
              <a:rPr lang="en-US" altLang="ko-KR" sz="2000" b="1" dirty="0" smtClean="0"/>
              <a:t>.</a:t>
            </a:r>
            <a:endParaRPr lang="ko-KR" altLang="en-US" sz="2000" b="1" dirty="0"/>
          </a:p>
        </p:txBody>
      </p:sp>
      <p:pic>
        <p:nvPicPr>
          <p:cNvPr id="37" name="그래픽 13">
            <a:extLst>
              <a:ext uri="{FF2B5EF4-FFF2-40B4-BE49-F238E27FC236}">
                <a16:creationId xmlns:a16="http://schemas.microsoft.com/office/drawing/2014/main" xmlns="" id="{35DACDE9-C2C6-6DAB-E125-F5168FF9B96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xmlns="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xmlns="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세계시민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xmlns="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178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·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xmlns="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 smtClean="0">
                <a:latin typeface="+mj-ea"/>
                <a:ea typeface="+mj-ea"/>
              </a:rPr>
              <a:t>지구적 차원의 도덕 문제를 어떻게 해결할 수 있을까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grpSp>
        <p:nvGrpSpPr>
          <p:cNvPr id="43" name="그룹 42">
            <a:extLst>
              <a:ext uri="{FF2B5EF4-FFF2-40B4-BE49-F238E27FC236}">
                <a16:creationId xmlns:a16="http://schemas.microsoft.com/office/drawing/2014/main" xmlns="" id="{BD8F7919-81BA-4F6C-659C-1ECE98A49C77}"/>
              </a:ext>
            </a:extLst>
          </p:cNvPr>
          <p:cNvGrpSpPr/>
          <p:nvPr/>
        </p:nvGrpSpPr>
        <p:grpSpPr>
          <a:xfrm>
            <a:off x="9832711" y="2146199"/>
            <a:ext cx="1087577" cy="495431"/>
            <a:chOff x="10075659" y="2003022"/>
            <a:chExt cx="1156006" cy="495431"/>
          </a:xfrm>
        </p:grpSpPr>
        <p:pic>
          <p:nvPicPr>
            <p:cNvPr id="44" name="그림 43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xmlns="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45" name="TextBox 44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xmlns="" id="{492508EF-5B45-FCB1-63DF-BCFA304E8F7C}"/>
                </a:ext>
              </a:extLst>
            </p:cNvPr>
            <p:cNvSpPr txBox="1"/>
            <p:nvPr/>
          </p:nvSpPr>
          <p:spPr>
            <a:xfrm>
              <a:off x="10075660" y="2052992"/>
              <a:ext cx="1156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b="1" spc="-150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활동 방법</a:t>
              </a:r>
              <a:endParaRPr lang="ko-KR" altLang="en-US" b="1" spc="-150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15" name="Google Shape;229;p6"/>
          <p:cNvSpPr/>
          <p:nvPr/>
        </p:nvSpPr>
        <p:spPr>
          <a:xfrm>
            <a:off x="0" y="3639"/>
            <a:ext cx="12192000" cy="6858000"/>
          </a:xfrm>
          <a:prstGeom prst="rect">
            <a:avLst/>
          </a:prstGeom>
          <a:solidFill>
            <a:schemeClr val="dk1">
              <a:alpha val="69411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800"/>
            </a:pPr>
            <a:endParaRPr sz="1800">
              <a:solidFill>
                <a:schemeClr val="lt1"/>
              </a:solidFill>
              <a:latin typeface="AppleSDGothicNeoB00" panose="02000503000000000000" pitchFamily="2" charset="-127"/>
              <a:ea typeface="AppleSDGothicNeoB00" panose="02000503000000000000" pitchFamily="2" charset="-127"/>
              <a:cs typeface="Malgun Gothic"/>
              <a:sym typeface="Malgun Gothic"/>
            </a:endParaRPr>
          </a:p>
        </p:txBody>
      </p:sp>
      <p:sp>
        <p:nvSpPr>
          <p:cNvPr id="16" name="사각형: 둥근 모서리 25">
            <a:extLst>
              <a:ext uri="{FF2B5EF4-FFF2-40B4-BE49-F238E27FC236}">
                <a16:creationId xmlns:a16="http://schemas.microsoft.com/office/drawing/2014/main" xmlns="" id="{5774C9A1-97EC-0D55-CC78-E79C45A8BF25}"/>
              </a:ext>
            </a:extLst>
          </p:cNvPr>
          <p:cNvSpPr/>
          <p:nvPr/>
        </p:nvSpPr>
        <p:spPr>
          <a:xfrm>
            <a:off x="248168" y="827095"/>
            <a:ext cx="11695665" cy="5880209"/>
          </a:xfrm>
          <a:prstGeom prst="roundRect">
            <a:avLst>
              <a:gd name="adj" fmla="val 432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7" name="그림 16" descr="상징, 원, 다채로움, 그린이(가) 표시된 사진&#10;&#10;자동 생성된 설명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xmlns="" id="{97505E8B-AD8F-CFF6-FC0F-0FF6BE8CC755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74222" y="897340"/>
            <a:ext cx="473351" cy="473351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22055" y="2016924"/>
            <a:ext cx="10913340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+mj-ea"/>
              <a:buAutoNum type="circleNumDbPlain"/>
            </a:pPr>
            <a:r>
              <a:rPr lang="en-US" altLang="ko-KR" sz="2000" dirty="0" smtClean="0">
                <a:latin typeface="돋움" panose="020B0600000101010101" pitchFamily="50" charset="-127"/>
                <a:ea typeface="돋움" panose="020B0600000101010101" pitchFamily="50" charset="-127"/>
              </a:rPr>
              <a:t>&lt;</a:t>
            </a:r>
            <a:r>
              <a:rPr lang="ko-KR" altLang="en-US" sz="2000" dirty="0" smtClean="0">
                <a:latin typeface="돋움" panose="020B0600000101010101" pitchFamily="50" charset="-127"/>
                <a:ea typeface="돋움" panose="020B0600000101010101" pitchFamily="50" charset="-127"/>
              </a:rPr>
              <a:t>활동 </a:t>
            </a:r>
            <a:r>
              <a:rPr lang="ko-KR" altLang="en-US" sz="2000" dirty="0">
                <a:latin typeface="돋움" panose="020B0600000101010101" pitchFamily="50" charset="-127"/>
                <a:ea typeface="돋움" panose="020B0600000101010101" pitchFamily="50" charset="-127"/>
              </a:rPr>
              <a:t>자료 </a:t>
            </a:r>
            <a:r>
              <a:rPr lang="en-US" altLang="ko-KR" sz="2000" dirty="0" smtClean="0">
                <a:latin typeface="돋움" panose="020B0600000101010101" pitchFamily="50" charset="-127"/>
                <a:ea typeface="돋움" panose="020B0600000101010101" pitchFamily="50" charset="-127"/>
              </a:rPr>
              <a:t>4&gt;</a:t>
            </a:r>
            <a:r>
              <a:rPr lang="ko-KR" altLang="en-US" sz="2000" dirty="0" smtClean="0">
                <a:latin typeface="돋움" panose="020B0600000101010101" pitchFamily="50" charset="-127"/>
                <a:ea typeface="돋움" panose="020B0600000101010101" pitchFamily="50" charset="-127"/>
              </a:rPr>
              <a:t>를 </a:t>
            </a:r>
            <a:r>
              <a:rPr lang="ko-KR" altLang="en-US" sz="2000" dirty="0">
                <a:latin typeface="돋움" panose="020B0600000101010101" pitchFamily="50" charset="-127"/>
                <a:ea typeface="돋움" panose="020B0600000101010101" pitchFamily="50" charset="-127"/>
              </a:rPr>
              <a:t>활용하여 주사위와 자신의 말을 만든다</a:t>
            </a:r>
            <a:r>
              <a:rPr lang="en-US" altLang="ko-KR" sz="2000" dirty="0">
                <a:latin typeface="돋움" panose="020B0600000101010101" pitchFamily="50" charset="-127"/>
                <a:ea typeface="돋움" panose="020B0600000101010101" pitchFamily="50" charset="-127"/>
              </a:rPr>
              <a:t>.</a:t>
            </a:r>
          </a:p>
          <a:p>
            <a:pPr marL="342900" indent="-342900" algn="just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2000" dirty="0" err="1">
                <a:latin typeface="돋움" panose="020B0600000101010101" pitchFamily="50" charset="-127"/>
                <a:ea typeface="돋움" panose="020B0600000101010101" pitchFamily="50" charset="-127"/>
              </a:rPr>
              <a:t>모둠원끼리</a:t>
            </a:r>
            <a:r>
              <a:rPr lang="ko-KR" altLang="en-US" sz="2000" dirty="0">
                <a:latin typeface="돋움" panose="020B0600000101010101" pitchFamily="50" charset="-127"/>
                <a:ea typeface="돋움" panose="020B0600000101010101" pitchFamily="50" charset="-127"/>
              </a:rPr>
              <a:t> 순서를 정해 주사위를 던지고</a:t>
            </a:r>
            <a:r>
              <a:rPr lang="en-US" altLang="ko-KR" sz="2000" dirty="0">
                <a:latin typeface="돋움" panose="020B0600000101010101" pitchFamily="50" charset="-127"/>
                <a:ea typeface="돋움" panose="020B0600000101010101" pitchFamily="50" charset="-127"/>
              </a:rPr>
              <a:t>, </a:t>
            </a:r>
            <a:r>
              <a:rPr lang="ko-KR" altLang="en-US" sz="2000" dirty="0">
                <a:latin typeface="돋움" panose="020B0600000101010101" pitchFamily="50" charset="-127"/>
                <a:ea typeface="돋움" panose="020B0600000101010101" pitchFamily="50" charset="-127"/>
              </a:rPr>
              <a:t>나온 수만큼 자신의 말을 이동한다</a:t>
            </a:r>
            <a:r>
              <a:rPr lang="en-US" altLang="ko-KR" sz="2000" dirty="0">
                <a:latin typeface="돋움" panose="020B0600000101010101" pitchFamily="50" charset="-127"/>
                <a:ea typeface="돋움" panose="020B0600000101010101" pitchFamily="50" charset="-127"/>
              </a:rPr>
              <a:t>.</a:t>
            </a:r>
          </a:p>
          <a:p>
            <a:pPr marL="342900" indent="-342900" algn="just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2000" dirty="0">
                <a:latin typeface="돋움" panose="020B0600000101010101" pitchFamily="50" charset="-127"/>
                <a:ea typeface="돋움" panose="020B0600000101010101" pitchFamily="50" charset="-127"/>
              </a:rPr>
              <a:t>말이 도착한 곳에 제시된 내용을 큰 소리로 읽고 수행한다</a:t>
            </a:r>
            <a:r>
              <a:rPr lang="en-US" altLang="ko-KR" sz="2000" dirty="0">
                <a:latin typeface="돋움" panose="020B0600000101010101" pitchFamily="50" charset="-127"/>
                <a:ea typeface="돋움" panose="020B0600000101010101" pitchFamily="50" charset="-127"/>
              </a:rPr>
              <a:t>. </a:t>
            </a:r>
            <a:r>
              <a:rPr lang="ko-KR" altLang="en-US" sz="2000" dirty="0">
                <a:latin typeface="돋움" panose="020B0600000101010101" pitchFamily="50" charset="-127"/>
                <a:ea typeface="돋움" panose="020B0600000101010101" pitchFamily="50" charset="-127"/>
              </a:rPr>
              <a:t>수행하지 못한 경우 다음 차례에 한 번 쉰다</a:t>
            </a:r>
            <a:r>
              <a:rPr lang="en-US" altLang="ko-KR" sz="2000" dirty="0">
                <a:latin typeface="돋움" panose="020B0600000101010101" pitchFamily="50" charset="-127"/>
                <a:ea typeface="돋움" panose="020B0600000101010101" pitchFamily="50" charset="-127"/>
              </a:rPr>
              <a:t>.</a:t>
            </a:r>
          </a:p>
          <a:p>
            <a:pPr marL="342900" indent="-342900" algn="just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2000" dirty="0">
                <a:latin typeface="돋움" panose="020B0600000101010101" pitchFamily="50" charset="-127"/>
                <a:ea typeface="돋움" panose="020B0600000101010101" pitchFamily="50" charset="-127"/>
              </a:rPr>
              <a:t>말이 초록색 칸에 도착하면 제시된 내용에 따라 나의 행동을 성찰해 보고</a:t>
            </a:r>
            <a:r>
              <a:rPr lang="en-US" altLang="ko-KR" sz="2000" dirty="0">
                <a:latin typeface="돋움" panose="020B0600000101010101" pitchFamily="50" charset="-127"/>
                <a:ea typeface="돋움" panose="020B0600000101010101" pitchFamily="50" charset="-127"/>
              </a:rPr>
              <a:t>, </a:t>
            </a:r>
            <a:r>
              <a:rPr lang="ko-KR" altLang="en-US" sz="2000" dirty="0">
                <a:latin typeface="돋움" panose="020B0600000101010101" pitchFamily="50" charset="-127"/>
                <a:ea typeface="돋움" panose="020B0600000101010101" pitchFamily="50" charset="-127"/>
              </a:rPr>
              <a:t>해당하는 경우에만 말을 움직인다</a:t>
            </a:r>
            <a:r>
              <a:rPr lang="en-US" altLang="ko-KR" sz="2000" dirty="0">
                <a:latin typeface="돋움" panose="020B0600000101010101" pitchFamily="50" charset="-127"/>
                <a:ea typeface="돋움" panose="020B0600000101010101" pitchFamily="50" charset="-127"/>
              </a:rPr>
              <a:t>.</a:t>
            </a:r>
          </a:p>
          <a:p>
            <a:pPr marL="342900" indent="-342900" algn="just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2000" dirty="0">
                <a:latin typeface="돋움" panose="020B0600000101010101" pitchFamily="50" charset="-127"/>
                <a:ea typeface="돋움" panose="020B0600000101010101" pitchFamily="50" charset="-127"/>
              </a:rPr>
              <a:t>도착점에 가장 먼저 들어오는 사람이 승리하며</a:t>
            </a:r>
            <a:r>
              <a:rPr lang="en-US" altLang="ko-KR" sz="2000" dirty="0">
                <a:latin typeface="돋움" panose="020B0600000101010101" pitchFamily="50" charset="-127"/>
                <a:ea typeface="돋움" panose="020B0600000101010101" pitchFamily="50" charset="-127"/>
              </a:rPr>
              <a:t>, </a:t>
            </a:r>
            <a:r>
              <a:rPr lang="ko-KR" altLang="en-US" sz="2000" dirty="0">
                <a:latin typeface="돋움" panose="020B0600000101010101" pitchFamily="50" charset="-127"/>
                <a:ea typeface="돋움" panose="020B0600000101010101" pitchFamily="50" charset="-127"/>
              </a:rPr>
              <a:t>모든 말이 도착하면 말판 놀이가 끝난다</a:t>
            </a:r>
            <a:r>
              <a:rPr lang="en-US" altLang="ko-KR" sz="2000" dirty="0">
                <a:latin typeface="돋움" panose="020B0600000101010101" pitchFamily="50" charset="-127"/>
                <a:ea typeface="돋움" panose="020B0600000101010101" pitchFamily="50" charset="-127"/>
              </a:rPr>
              <a:t>.</a:t>
            </a:r>
          </a:p>
        </p:txBody>
      </p:sp>
      <p:grpSp>
        <p:nvGrpSpPr>
          <p:cNvPr id="19" name="그룹 18">
            <a:extLst>
              <a:ext uri="{FF2B5EF4-FFF2-40B4-BE49-F238E27FC236}">
                <a16:creationId xmlns:a16="http://schemas.microsoft.com/office/drawing/2014/main" xmlns="" id="{BD8F7919-81BA-4F6C-659C-1ECE98A49C77}"/>
              </a:ext>
            </a:extLst>
          </p:cNvPr>
          <p:cNvGrpSpPr/>
          <p:nvPr/>
        </p:nvGrpSpPr>
        <p:grpSpPr>
          <a:xfrm>
            <a:off x="622055" y="1188983"/>
            <a:ext cx="1087577" cy="495431"/>
            <a:chOff x="10075659" y="2003022"/>
            <a:chExt cx="1156006" cy="495431"/>
          </a:xfrm>
        </p:grpSpPr>
        <p:pic>
          <p:nvPicPr>
            <p:cNvPr id="20" name="그림 19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xmlns="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xmlns="" id="{492508EF-5B45-FCB1-63DF-BCFA304E8F7C}"/>
                </a:ext>
              </a:extLst>
            </p:cNvPr>
            <p:cNvSpPr txBox="1"/>
            <p:nvPr/>
          </p:nvSpPr>
          <p:spPr>
            <a:xfrm>
              <a:off x="10075660" y="2052992"/>
              <a:ext cx="1156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b="1" spc="-150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활동 방법</a:t>
              </a:r>
              <a:endParaRPr lang="ko-KR" altLang="en-US" b="1" spc="-150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44397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2"/>
          <p:cNvGrpSpPr/>
          <p:nvPr/>
        </p:nvGrpSpPr>
        <p:grpSpPr>
          <a:xfrm>
            <a:off x="787399" y="3066130"/>
            <a:ext cx="10369334" cy="3791870"/>
            <a:chOff x="787399" y="3066130"/>
            <a:chExt cx="10369334" cy="3791870"/>
          </a:xfrm>
        </p:grpSpPr>
        <p:pic>
          <p:nvPicPr>
            <p:cNvPr id="44" name="그림 43"/>
            <p:cNvPicPr>
              <a:picLocks noChangeAspect="1"/>
            </p:cNvPicPr>
            <p:nvPr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 flipH="1">
              <a:off x="7439891" y="3066130"/>
              <a:ext cx="3499432" cy="1256939"/>
            </a:xfrm>
            <a:prstGeom prst="rect">
              <a:avLst/>
            </a:prstGeom>
          </p:spPr>
        </p:pic>
        <p:pic>
          <p:nvPicPr>
            <p:cNvPr id="2" name="그림 1"/>
            <p:cNvPicPr>
              <a:picLocks noChangeAspect="1"/>
            </p:cNvPicPr>
            <p:nvPr/>
          </p:nvPicPr>
          <p:blipFill rotWithShape="1"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804026" y="3941091"/>
              <a:ext cx="10352707" cy="2563906"/>
            </a:xfrm>
            <a:prstGeom prst="rect">
              <a:avLst/>
            </a:prstGeom>
          </p:spPr>
        </p:pic>
        <p:pic>
          <p:nvPicPr>
            <p:cNvPr id="45" name="그림 44"/>
            <p:cNvPicPr>
              <a:picLocks noChangeAspect="1"/>
            </p:cNvPicPr>
            <p:nvPr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787399" y="6330292"/>
              <a:ext cx="3335713" cy="527708"/>
            </a:xfrm>
            <a:prstGeom prst="rect">
              <a:avLst/>
            </a:prstGeom>
          </p:spPr>
        </p:pic>
      </p:grpSp>
      <p:sp>
        <p:nvSpPr>
          <p:cNvPr id="26" name="TextBox 25"/>
          <p:cNvSpPr txBox="1"/>
          <p:nvPr/>
        </p:nvSpPr>
        <p:spPr>
          <a:xfrm>
            <a:off x="787400" y="1613182"/>
            <a:ext cx="1023910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000" b="1" dirty="0" err="1" smtClean="0"/>
              <a:t>모둠별로</a:t>
            </a:r>
            <a:r>
              <a:rPr lang="ko-KR" altLang="en-US" sz="2000" b="1" dirty="0" smtClean="0"/>
              <a:t> 다음 </a:t>
            </a:r>
            <a:r>
              <a:rPr lang="en-US" altLang="ko-KR" sz="2000" b="1" dirty="0" smtClean="0"/>
              <a:t>&lt;</a:t>
            </a:r>
            <a:r>
              <a:rPr lang="ko-KR" altLang="en-US" sz="2000" b="1" dirty="0" smtClean="0"/>
              <a:t>활동 방법</a:t>
            </a:r>
            <a:r>
              <a:rPr lang="en-US" altLang="ko-KR" sz="2000" b="1" dirty="0" smtClean="0"/>
              <a:t>&gt;</a:t>
            </a:r>
            <a:r>
              <a:rPr lang="ko-KR" altLang="en-US" sz="2000" b="1" dirty="0" smtClean="0"/>
              <a:t>에 따라 지구촌 말판 놀이를 해 보고</a:t>
            </a:r>
            <a:r>
              <a:rPr lang="en-US" altLang="ko-KR" sz="2000" b="1" dirty="0" smtClean="0"/>
              <a:t>, </a:t>
            </a:r>
            <a:r>
              <a:rPr lang="ko-KR" altLang="en-US" sz="2000" b="1" dirty="0" smtClean="0"/>
              <a:t>인류의 고통에 공감하며 지구촌 문제를 해결하기 위한 방안을 생각해 보자</a:t>
            </a:r>
            <a:r>
              <a:rPr lang="en-US" altLang="ko-KR" sz="2000" b="1" dirty="0" smtClean="0"/>
              <a:t>.</a:t>
            </a:r>
            <a:endParaRPr lang="ko-KR" altLang="en-US" sz="2000" b="1" dirty="0"/>
          </a:p>
        </p:txBody>
      </p:sp>
      <p:sp>
        <p:nvSpPr>
          <p:cNvPr id="12" name="순서도: 수행의 시작/종료 11">
            <a:extLst>
              <a:ext uri="{FF2B5EF4-FFF2-40B4-BE49-F238E27FC236}">
                <a16:creationId xmlns:a16="http://schemas.microsoft.com/office/drawing/2014/main" xmlns="" id="{9DFB822A-B6F1-2298-D387-61BD7FE98B43}"/>
              </a:ext>
            </a:extLst>
          </p:cNvPr>
          <p:cNvSpPr/>
          <p:nvPr/>
        </p:nvSpPr>
        <p:spPr>
          <a:xfrm>
            <a:off x="1764504" y="582930"/>
            <a:ext cx="1775115" cy="585788"/>
          </a:xfrm>
          <a:prstGeom prst="flowChartTerminator">
            <a:avLst/>
          </a:prstGeom>
          <a:solidFill>
            <a:srgbClr val="FF9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3C67A572-5929-17A2-D60C-4C11D984771C}"/>
              </a:ext>
            </a:extLst>
          </p:cNvPr>
          <p:cNvSpPr txBox="1"/>
          <p:nvPr/>
        </p:nvSpPr>
        <p:spPr>
          <a:xfrm>
            <a:off x="979524" y="671335"/>
            <a:ext cx="23839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spc="-150" dirty="0">
                <a:solidFill>
                  <a:schemeClr val="bg1"/>
                </a:solidFill>
                <a:latin typeface="+mj-ea"/>
                <a:ea typeface="+mj-ea"/>
              </a:rPr>
              <a:t>더 깊이 </a:t>
            </a:r>
            <a:r>
              <a:rPr lang="ko-KR" altLang="en-US" sz="2400" b="1" spc="-150" dirty="0" smtClean="0">
                <a:solidFill>
                  <a:schemeClr val="bg1"/>
                </a:solidFill>
                <a:latin typeface="+mj-ea"/>
                <a:ea typeface="+mj-ea"/>
              </a:rPr>
              <a:t>실천하기</a:t>
            </a:r>
            <a:endParaRPr lang="ko-KR" altLang="en-US" sz="2400" b="1" spc="-15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E154A385-B13F-711E-8062-D58E9EE68096}"/>
              </a:ext>
            </a:extLst>
          </p:cNvPr>
          <p:cNvSpPr txBox="1"/>
          <p:nvPr/>
        </p:nvSpPr>
        <p:spPr>
          <a:xfrm>
            <a:off x="3563317" y="654715"/>
            <a:ext cx="71087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smtClean="0">
                <a:solidFill>
                  <a:srgbClr val="FF9300"/>
                </a:solidFill>
                <a:latin typeface="+mj-ea"/>
                <a:ea typeface="+mj-ea"/>
              </a:rPr>
              <a:t>지구촌 말판 놀이를 하며 인류의 고통에 공감하기</a:t>
            </a:r>
            <a:endParaRPr lang="ko-KR" altLang="en-US" sz="2400" b="1" dirty="0">
              <a:solidFill>
                <a:srgbClr val="FF9300"/>
              </a:solidFill>
              <a:latin typeface="+mj-ea"/>
              <a:ea typeface="+mj-ea"/>
            </a:endParaRPr>
          </a:p>
        </p:txBody>
      </p:sp>
      <p:pic>
        <p:nvPicPr>
          <p:cNvPr id="37" name="그래픽 13">
            <a:extLst>
              <a:ext uri="{FF2B5EF4-FFF2-40B4-BE49-F238E27FC236}">
                <a16:creationId xmlns:a16="http://schemas.microsoft.com/office/drawing/2014/main" xmlns="" id="{35DACDE9-C2C6-6DAB-E125-F5168FF9B962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xmlns="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xmlns="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세계시민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xmlns="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178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·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xmlns="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 smtClean="0">
                <a:latin typeface="+mj-ea"/>
                <a:ea typeface="+mj-ea"/>
              </a:rPr>
              <a:t>지구적 차원의 도덕 문제를 어떻게 해결할 수 있을까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pic>
        <p:nvPicPr>
          <p:cNvPr id="31" name="그림 30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xmlns="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41029" y="2196609"/>
            <a:ext cx="487174" cy="487174"/>
          </a:xfrm>
          <a:prstGeom prst="rect">
            <a:avLst/>
          </a:prstGeom>
        </p:spPr>
      </p:pic>
      <p:grpSp>
        <p:nvGrpSpPr>
          <p:cNvPr id="32" name="그룹 31">
            <a:extLst>
              <a:ext uri="{FF2B5EF4-FFF2-40B4-BE49-F238E27FC236}">
                <a16:creationId xmlns:a16="http://schemas.microsoft.com/office/drawing/2014/main" xmlns="" id="{BD8F7919-81BA-4F6C-659C-1ECE98A49C77}"/>
              </a:ext>
            </a:extLst>
          </p:cNvPr>
          <p:cNvGrpSpPr/>
          <p:nvPr/>
        </p:nvGrpSpPr>
        <p:grpSpPr>
          <a:xfrm>
            <a:off x="9423553" y="2196609"/>
            <a:ext cx="1087577" cy="495431"/>
            <a:chOff x="10075659" y="2003022"/>
            <a:chExt cx="1156006" cy="495431"/>
          </a:xfrm>
        </p:grpSpPr>
        <p:pic>
          <p:nvPicPr>
            <p:cNvPr id="33" name="그림 32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xmlns="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xmlns="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grpSp>
        <p:nvGrpSpPr>
          <p:cNvPr id="35" name="그룹 34">
            <a:extLst>
              <a:ext uri="{FF2B5EF4-FFF2-40B4-BE49-F238E27FC236}">
                <a16:creationId xmlns:a16="http://schemas.microsoft.com/office/drawing/2014/main" xmlns="" id="{BD8F7919-81BA-4F6C-659C-1ECE98A49C77}"/>
              </a:ext>
            </a:extLst>
          </p:cNvPr>
          <p:cNvGrpSpPr/>
          <p:nvPr/>
        </p:nvGrpSpPr>
        <p:grpSpPr>
          <a:xfrm>
            <a:off x="8111266" y="2196609"/>
            <a:ext cx="1282388" cy="495431"/>
            <a:chOff x="10075659" y="2003022"/>
            <a:chExt cx="1178665" cy="495431"/>
          </a:xfrm>
        </p:grpSpPr>
        <p:pic>
          <p:nvPicPr>
            <p:cNvPr id="36" name="그림 35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xmlns="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48" name="TextBox 47">
              <a:hlinkClick r:id="rId9" action="ppaction://hlinksldjump"/>
              <a:extLst>
                <a:ext uri="{FF2B5EF4-FFF2-40B4-BE49-F238E27FC236}">
                  <a16:creationId xmlns:a16="http://schemas.microsoft.com/office/drawing/2014/main" xmlns="" id="{492508EF-5B45-FCB1-63DF-BCFA304E8F7C}"/>
                </a:ext>
              </a:extLst>
            </p:cNvPr>
            <p:cNvSpPr txBox="1"/>
            <p:nvPr/>
          </p:nvSpPr>
          <p:spPr>
            <a:xfrm>
              <a:off x="10075659" y="2052992"/>
              <a:ext cx="117866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b="1" spc="-150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활동 방법</a:t>
              </a:r>
              <a:endParaRPr lang="ko-KR" altLang="en-US" b="1" spc="-150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49" name="TextBox 48"/>
          <p:cNvSpPr txBox="1"/>
          <p:nvPr/>
        </p:nvSpPr>
        <p:spPr>
          <a:xfrm>
            <a:off x="7594035" y="4488545"/>
            <a:ext cx="253573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dirty="0" smtClean="0">
                <a:latin typeface="+mn-ea"/>
              </a:rPr>
              <a:t>평소에 장을 볼 때</a:t>
            </a:r>
            <a:endParaRPr lang="en-US" altLang="ko-KR" sz="1600" dirty="0" smtClean="0">
              <a:latin typeface="+mn-ea"/>
            </a:endParaRPr>
          </a:p>
          <a:p>
            <a:pPr algn="ctr"/>
            <a:r>
              <a:rPr lang="ko-KR" altLang="en-US" sz="1600" dirty="0" smtClean="0">
                <a:latin typeface="+mn-ea"/>
              </a:rPr>
              <a:t>장바구니가 아닌 일회용 봉투를 사용한다면</a:t>
            </a:r>
            <a:endParaRPr lang="en-US" altLang="ko-KR" sz="1600" dirty="0" smtClean="0">
              <a:latin typeface="+mn-ea"/>
            </a:endParaRPr>
          </a:p>
          <a:p>
            <a:pPr algn="ctr"/>
            <a:endParaRPr lang="en-US" altLang="ko-KR" sz="1600" dirty="0" smtClean="0">
              <a:latin typeface="+mn-ea"/>
            </a:endParaRPr>
          </a:p>
          <a:p>
            <a:pPr algn="ctr"/>
            <a:r>
              <a:rPr lang="ko-KR" altLang="en-US" sz="2000" b="1" dirty="0" smtClean="0">
                <a:solidFill>
                  <a:schemeClr val="bg1"/>
                </a:solidFill>
                <a:latin typeface="+mn-ea"/>
              </a:rPr>
              <a:t>뒤로 </a:t>
            </a:r>
            <a:r>
              <a:rPr lang="en-US" altLang="ko-KR" sz="2000" b="1" dirty="0" smtClean="0">
                <a:solidFill>
                  <a:schemeClr val="bg1"/>
                </a:solidFill>
                <a:latin typeface="+mn-ea"/>
              </a:rPr>
              <a:t>1</a:t>
            </a:r>
            <a:r>
              <a:rPr lang="ko-KR" altLang="en-US" sz="2000" b="1" dirty="0" smtClean="0">
                <a:solidFill>
                  <a:schemeClr val="bg1"/>
                </a:solidFill>
                <a:latin typeface="+mn-ea"/>
              </a:rPr>
              <a:t>칸 가기</a:t>
            </a:r>
            <a:endParaRPr lang="ko-KR" altLang="en-US" sz="20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4" name="자유형 3"/>
          <p:cNvSpPr/>
          <p:nvPr/>
        </p:nvSpPr>
        <p:spPr>
          <a:xfrm>
            <a:off x="2818861" y="4263457"/>
            <a:ext cx="1369193" cy="1969042"/>
          </a:xfrm>
          <a:custGeom>
            <a:avLst/>
            <a:gdLst>
              <a:gd name="connsiteX0" fmla="*/ 0 w 1344706"/>
              <a:gd name="connsiteY0" fmla="*/ 44823 h 1972235"/>
              <a:gd name="connsiteX1" fmla="*/ 403412 w 1344706"/>
              <a:gd name="connsiteY1" fmla="*/ 0 h 1972235"/>
              <a:gd name="connsiteX2" fmla="*/ 1030941 w 1344706"/>
              <a:gd name="connsiteY2" fmla="*/ 26894 h 1972235"/>
              <a:gd name="connsiteX3" fmla="*/ 1344706 w 1344706"/>
              <a:gd name="connsiteY3" fmla="*/ 1927411 h 1972235"/>
              <a:gd name="connsiteX4" fmla="*/ 1192306 w 1344706"/>
              <a:gd name="connsiteY4" fmla="*/ 1972235 h 1972235"/>
              <a:gd name="connsiteX5" fmla="*/ 0 w 1344706"/>
              <a:gd name="connsiteY5" fmla="*/ 44823 h 19722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44706" h="1972235">
                <a:moveTo>
                  <a:pt x="0" y="44823"/>
                </a:moveTo>
                <a:lnTo>
                  <a:pt x="403412" y="0"/>
                </a:lnTo>
                <a:lnTo>
                  <a:pt x="1030941" y="26894"/>
                </a:lnTo>
                <a:lnTo>
                  <a:pt x="1344706" y="1927411"/>
                </a:lnTo>
                <a:lnTo>
                  <a:pt x="1192306" y="1972235"/>
                </a:lnTo>
                <a:lnTo>
                  <a:pt x="0" y="44823"/>
                </a:lnTo>
                <a:close/>
              </a:path>
            </a:pathLst>
          </a:custGeom>
          <a:solidFill>
            <a:srgbClr val="FDFAC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/>
          <p:cNvSpPr txBox="1"/>
          <p:nvPr/>
        </p:nvSpPr>
        <p:spPr>
          <a:xfrm>
            <a:off x="3504294" y="4488545"/>
            <a:ext cx="3005506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dirty="0" smtClean="0">
                <a:latin typeface="+mn-ea"/>
              </a:rPr>
              <a:t>세계 생물 </a:t>
            </a:r>
            <a:r>
              <a:rPr lang="ko-KR" altLang="en-US" sz="2000" dirty="0">
                <a:latin typeface="+mn-ea"/>
              </a:rPr>
              <a:t>다</a:t>
            </a:r>
            <a:r>
              <a:rPr lang="ko-KR" altLang="en-US" sz="2000" dirty="0" smtClean="0">
                <a:latin typeface="+mn-ea"/>
              </a:rPr>
              <a:t>양성의 날</a:t>
            </a:r>
            <a:endParaRPr lang="en-US" altLang="ko-KR" sz="2000" dirty="0" smtClean="0">
              <a:latin typeface="+mn-ea"/>
            </a:endParaRPr>
          </a:p>
          <a:p>
            <a:pPr algn="ctr"/>
            <a:r>
              <a:rPr lang="en-US" altLang="ko-KR" sz="2000" dirty="0" smtClean="0">
                <a:latin typeface="+mn-ea"/>
              </a:rPr>
              <a:t>(5</a:t>
            </a:r>
            <a:r>
              <a:rPr lang="ko-KR" altLang="en-US" sz="2000" dirty="0" smtClean="0">
                <a:latin typeface="+mn-ea"/>
              </a:rPr>
              <a:t>월 </a:t>
            </a:r>
            <a:r>
              <a:rPr lang="en-US" altLang="ko-KR" sz="2000" dirty="0" smtClean="0">
                <a:latin typeface="+mn-ea"/>
              </a:rPr>
              <a:t>22</a:t>
            </a:r>
            <a:r>
              <a:rPr lang="ko-KR" altLang="en-US" sz="2000" dirty="0" smtClean="0">
                <a:latin typeface="+mn-ea"/>
              </a:rPr>
              <a:t>일</a:t>
            </a:r>
            <a:r>
              <a:rPr lang="en-US" altLang="ko-KR" sz="2000" dirty="0" smtClean="0">
                <a:latin typeface="+mn-ea"/>
              </a:rPr>
              <a:t>)</a:t>
            </a:r>
          </a:p>
          <a:p>
            <a:pPr algn="ctr"/>
            <a:endParaRPr lang="en-US" altLang="ko-KR" sz="1600" dirty="0" smtClean="0">
              <a:latin typeface="+mn-ea"/>
            </a:endParaRPr>
          </a:p>
          <a:p>
            <a:pPr algn="ctr"/>
            <a:r>
              <a:rPr lang="ko-KR" altLang="en-US" sz="1600" dirty="0" smtClean="0">
                <a:latin typeface="+mn-ea"/>
              </a:rPr>
              <a:t>멸종 위기에 처한 동물을 </a:t>
            </a:r>
            <a:endParaRPr lang="en-US" altLang="ko-KR" sz="1600" dirty="0" smtClean="0">
              <a:latin typeface="+mn-ea"/>
            </a:endParaRPr>
          </a:p>
          <a:p>
            <a:pPr algn="ctr"/>
            <a:r>
              <a:rPr lang="ko-KR" altLang="en-US" sz="1600" dirty="0" smtClean="0">
                <a:latin typeface="+mn-ea"/>
              </a:rPr>
              <a:t>한 가지 이상 말해 보자</a:t>
            </a:r>
            <a:r>
              <a:rPr lang="en-US" altLang="ko-KR" sz="1600" dirty="0" smtClean="0">
                <a:latin typeface="+mn-ea"/>
              </a:rPr>
              <a:t>.</a:t>
            </a:r>
            <a:endParaRPr lang="ko-KR" altLang="en-US" sz="1600" dirty="0">
              <a:latin typeface="+mn-ea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1170502" y="5040008"/>
            <a:ext cx="25357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 smtClean="0">
                <a:latin typeface="+mn-ea"/>
              </a:rPr>
              <a:t>‘</a:t>
            </a:r>
            <a:r>
              <a:rPr lang="ko-KR" altLang="en-US" sz="1600" dirty="0" smtClean="0">
                <a:latin typeface="+mn-ea"/>
              </a:rPr>
              <a:t>세계시민</a:t>
            </a:r>
            <a:r>
              <a:rPr lang="en-US" altLang="ko-KR" sz="1600" dirty="0" smtClean="0">
                <a:latin typeface="+mn-ea"/>
              </a:rPr>
              <a:t>’</a:t>
            </a:r>
            <a:r>
              <a:rPr lang="ko-KR" altLang="en-US" sz="1600" dirty="0" smtClean="0">
                <a:latin typeface="+mn-ea"/>
              </a:rPr>
              <a:t>으로</a:t>
            </a:r>
            <a:endParaRPr lang="en-US" altLang="ko-KR" sz="1600" dirty="0" smtClean="0">
              <a:latin typeface="+mn-ea"/>
            </a:endParaRPr>
          </a:p>
          <a:p>
            <a:pPr algn="ctr"/>
            <a:r>
              <a:rPr lang="en-US" altLang="ko-KR" sz="1600" dirty="0" smtClean="0">
                <a:latin typeface="+mn-ea"/>
              </a:rPr>
              <a:t>4</a:t>
            </a:r>
            <a:r>
              <a:rPr lang="ko-KR" altLang="en-US" sz="1600" dirty="0" smtClean="0">
                <a:latin typeface="+mn-ea"/>
              </a:rPr>
              <a:t>행시 짓기</a:t>
            </a:r>
            <a:endParaRPr lang="ko-KR" altLang="en-US" sz="2000" dirty="0">
              <a:latin typeface="+mn-ea"/>
            </a:endParaRPr>
          </a:p>
        </p:txBody>
      </p:sp>
      <p:sp>
        <p:nvSpPr>
          <p:cNvPr id="53" name="사각형: 둥근 모서리 29">
            <a:extLst>
              <a:ext uri="{FF2B5EF4-FFF2-40B4-BE49-F238E27FC236}">
                <a16:creationId xmlns:a16="http://schemas.microsoft.com/office/drawing/2014/main" xmlns="" id="{C631BC03-B762-9123-7FD1-0A60290B94EB}"/>
              </a:ext>
            </a:extLst>
          </p:cNvPr>
          <p:cNvSpPr/>
          <p:nvPr/>
        </p:nvSpPr>
        <p:spPr>
          <a:xfrm>
            <a:off x="2670007" y="3073309"/>
            <a:ext cx="4674081" cy="707898"/>
          </a:xfrm>
          <a:prstGeom prst="roundRect">
            <a:avLst>
              <a:gd name="adj" fmla="val 8608"/>
            </a:avLst>
          </a:prstGeom>
          <a:solidFill>
            <a:srgbClr val="FFF7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2675848" y="3085437"/>
            <a:ext cx="46682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늑대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, </a:t>
            </a: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담비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, </a:t>
            </a: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수달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, </a:t>
            </a:r>
            <a:r>
              <a:rPr lang="ko-KR" altLang="en-US" sz="2400" dirty="0" smtClean="0">
                <a:solidFill>
                  <a:srgbClr val="0070C0"/>
                </a:solidFill>
                <a:latin typeface="+mn-ea"/>
              </a:rPr>
              <a:t>표범</a:t>
            </a:r>
            <a:r>
              <a:rPr lang="en-US" altLang="ko-KR" sz="2400" dirty="0" smtClean="0">
                <a:solidFill>
                  <a:srgbClr val="0070C0"/>
                </a:solidFill>
                <a:latin typeface="+mn-ea"/>
              </a:rPr>
              <a:t>, </a:t>
            </a:r>
            <a:r>
              <a:rPr lang="ko-KR" altLang="en-US" sz="2400" dirty="0" smtClean="0">
                <a:solidFill>
                  <a:srgbClr val="0070C0"/>
                </a:solidFill>
                <a:latin typeface="+mn-ea"/>
              </a:rPr>
              <a:t>두루미 등</a:t>
            </a:r>
            <a:endParaRPr lang="ko-KR" altLang="en-US" sz="2400" dirty="0">
              <a:solidFill>
                <a:srgbClr val="0070C0"/>
              </a:solidFill>
              <a:latin typeface="+mn-ea"/>
            </a:endParaRPr>
          </a:p>
        </p:txBody>
      </p:sp>
      <p:cxnSp>
        <p:nvCxnSpPr>
          <p:cNvPr id="9" name="직선 연결선 8"/>
          <p:cNvCxnSpPr/>
          <p:nvPr/>
        </p:nvCxnSpPr>
        <p:spPr>
          <a:xfrm flipV="1">
            <a:off x="4974108" y="3781207"/>
            <a:ext cx="8965" cy="609545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6" name="그림 45"/>
          <p:cNvPicPr>
            <a:picLocks noChangeAspect="1"/>
          </p:cNvPicPr>
          <p:nvPr/>
        </p:nvPicPr>
        <p:blipFill>
          <a:blip r:embed="rId10" cstate="email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0" b="100000" l="0" r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54115" y="5040008"/>
            <a:ext cx="751313" cy="656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16634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2"/>
                  </p:tgtEl>
                </p:cond>
              </p:nextCondLst>
            </p:seq>
            <p:seq concurrent="1" nextAc="seek">
              <p:cTn id="11" restart="whenNotActive" fill="hold" evtFilter="cancelBubble" nodeType="interactiveSeq">
                <p:stCondLst>
                  <p:cond evt="onClick" delay="0">
                    <p:tgtEl>
                      <p:spTgt spid="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" fill="hold">
                      <p:stCondLst>
                        <p:cond delay="0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1"/>
                  </p:tgtEl>
                </p:cond>
              </p:nextCondLst>
            </p:seq>
          </p:childTnLst>
        </p:cTn>
      </p:par>
    </p:tnLst>
    <p:bldLst>
      <p:bldP spid="53" grpId="0" animBg="1"/>
      <p:bldP spid="53" grpId="1" animBg="1"/>
      <p:bldP spid="30" grpId="0"/>
      <p:bldP spid="30" grpId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Box 25"/>
          <p:cNvSpPr txBox="1"/>
          <p:nvPr/>
        </p:nvSpPr>
        <p:spPr>
          <a:xfrm>
            <a:off x="787400" y="1613182"/>
            <a:ext cx="1023910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000" b="1" dirty="0" err="1" smtClean="0"/>
              <a:t>모둠별로</a:t>
            </a:r>
            <a:r>
              <a:rPr lang="ko-KR" altLang="en-US" sz="2000" b="1" dirty="0" smtClean="0"/>
              <a:t> 다음 </a:t>
            </a:r>
            <a:r>
              <a:rPr lang="en-US" altLang="ko-KR" sz="2000" b="1" dirty="0" smtClean="0"/>
              <a:t>&lt;</a:t>
            </a:r>
            <a:r>
              <a:rPr lang="ko-KR" altLang="en-US" sz="2000" b="1" dirty="0" smtClean="0"/>
              <a:t>활동 방법</a:t>
            </a:r>
            <a:r>
              <a:rPr lang="en-US" altLang="ko-KR" sz="2000" b="1" dirty="0" smtClean="0"/>
              <a:t>&gt;</a:t>
            </a:r>
            <a:r>
              <a:rPr lang="ko-KR" altLang="en-US" sz="2000" b="1" dirty="0" smtClean="0"/>
              <a:t>에 따라 지구촌 말판 놀이를 해 보고</a:t>
            </a:r>
            <a:r>
              <a:rPr lang="en-US" altLang="ko-KR" sz="2000" b="1" dirty="0" smtClean="0"/>
              <a:t>, </a:t>
            </a:r>
            <a:r>
              <a:rPr lang="ko-KR" altLang="en-US" sz="2000" b="1" dirty="0" smtClean="0"/>
              <a:t>인류의 고통에 공감하며 지구촌 문제를 해결하기 위한 방안을 생각해 보자</a:t>
            </a:r>
            <a:r>
              <a:rPr lang="en-US" altLang="ko-KR" sz="2000" b="1" dirty="0" smtClean="0"/>
              <a:t>.</a:t>
            </a:r>
            <a:endParaRPr lang="ko-KR" altLang="en-US" sz="2000" b="1" dirty="0"/>
          </a:p>
        </p:txBody>
      </p:sp>
      <p:sp>
        <p:nvSpPr>
          <p:cNvPr id="12" name="순서도: 수행의 시작/종료 11">
            <a:extLst>
              <a:ext uri="{FF2B5EF4-FFF2-40B4-BE49-F238E27FC236}">
                <a16:creationId xmlns:a16="http://schemas.microsoft.com/office/drawing/2014/main" xmlns="" id="{9DFB822A-B6F1-2298-D387-61BD7FE98B43}"/>
              </a:ext>
            </a:extLst>
          </p:cNvPr>
          <p:cNvSpPr/>
          <p:nvPr/>
        </p:nvSpPr>
        <p:spPr>
          <a:xfrm>
            <a:off x="1764504" y="582930"/>
            <a:ext cx="1775115" cy="585788"/>
          </a:xfrm>
          <a:prstGeom prst="flowChartTerminator">
            <a:avLst/>
          </a:prstGeom>
          <a:solidFill>
            <a:srgbClr val="FF9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3C67A572-5929-17A2-D60C-4C11D984771C}"/>
              </a:ext>
            </a:extLst>
          </p:cNvPr>
          <p:cNvSpPr txBox="1"/>
          <p:nvPr/>
        </p:nvSpPr>
        <p:spPr>
          <a:xfrm>
            <a:off x="979524" y="671335"/>
            <a:ext cx="23839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spc="-150" dirty="0">
                <a:solidFill>
                  <a:schemeClr val="bg1"/>
                </a:solidFill>
                <a:latin typeface="+mj-ea"/>
                <a:ea typeface="+mj-ea"/>
              </a:rPr>
              <a:t>더 깊이 </a:t>
            </a:r>
            <a:r>
              <a:rPr lang="ko-KR" altLang="en-US" sz="2400" b="1" spc="-150" dirty="0" smtClean="0">
                <a:solidFill>
                  <a:schemeClr val="bg1"/>
                </a:solidFill>
                <a:latin typeface="+mj-ea"/>
                <a:ea typeface="+mj-ea"/>
              </a:rPr>
              <a:t>실천하기</a:t>
            </a:r>
            <a:endParaRPr lang="ko-KR" altLang="en-US" sz="2400" b="1" spc="-15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E154A385-B13F-711E-8062-D58E9EE68096}"/>
              </a:ext>
            </a:extLst>
          </p:cNvPr>
          <p:cNvSpPr txBox="1"/>
          <p:nvPr/>
        </p:nvSpPr>
        <p:spPr>
          <a:xfrm>
            <a:off x="3563317" y="654715"/>
            <a:ext cx="71087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smtClean="0">
                <a:solidFill>
                  <a:srgbClr val="FF9300"/>
                </a:solidFill>
                <a:latin typeface="+mj-ea"/>
                <a:ea typeface="+mj-ea"/>
              </a:rPr>
              <a:t>지구촌 말판 놀이를 하며 인류의 고통에 공감하기</a:t>
            </a:r>
            <a:endParaRPr lang="ko-KR" altLang="en-US" sz="2400" b="1" dirty="0">
              <a:solidFill>
                <a:srgbClr val="FF9300"/>
              </a:solidFill>
              <a:latin typeface="+mj-ea"/>
              <a:ea typeface="+mj-ea"/>
            </a:endParaRPr>
          </a:p>
        </p:txBody>
      </p:sp>
      <p:pic>
        <p:nvPicPr>
          <p:cNvPr id="37" name="그래픽 13">
            <a:extLst>
              <a:ext uri="{FF2B5EF4-FFF2-40B4-BE49-F238E27FC236}">
                <a16:creationId xmlns:a16="http://schemas.microsoft.com/office/drawing/2014/main" xmlns="" id="{35DACDE9-C2C6-6DAB-E125-F5168FF9B96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xmlns="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xmlns="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세계시민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xmlns="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178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·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xmlns="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 smtClean="0">
                <a:latin typeface="+mj-ea"/>
                <a:ea typeface="+mj-ea"/>
              </a:rPr>
              <a:t>지구적 차원의 도덕 문제를 어떻게 해결할 수 있을까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pic>
        <p:nvPicPr>
          <p:cNvPr id="31" name="그림 30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xmlns="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41029" y="2196609"/>
            <a:ext cx="487174" cy="487174"/>
          </a:xfrm>
          <a:prstGeom prst="rect">
            <a:avLst/>
          </a:prstGeom>
        </p:spPr>
      </p:pic>
      <p:grpSp>
        <p:nvGrpSpPr>
          <p:cNvPr id="32" name="그룹 31">
            <a:extLst>
              <a:ext uri="{FF2B5EF4-FFF2-40B4-BE49-F238E27FC236}">
                <a16:creationId xmlns:a16="http://schemas.microsoft.com/office/drawing/2014/main" xmlns="" id="{BD8F7919-81BA-4F6C-659C-1ECE98A49C77}"/>
              </a:ext>
            </a:extLst>
          </p:cNvPr>
          <p:cNvGrpSpPr/>
          <p:nvPr/>
        </p:nvGrpSpPr>
        <p:grpSpPr>
          <a:xfrm>
            <a:off x="9423553" y="2196609"/>
            <a:ext cx="1087577" cy="495431"/>
            <a:chOff x="10075659" y="2003022"/>
            <a:chExt cx="1156006" cy="495431"/>
          </a:xfrm>
        </p:grpSpPr>
        <p:pic>
          <p:nvPicPr>
            <p:cNvPr id="33" name="그림 32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xmlns="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xmlns="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grpSp>
        <p:nvGrpSpPr>
          <p:cNvPr id="35" name="그룹 34">
            <a:extLst>
              <a:ext uri="{FF2B5EF4-FFF2-40B4-BE49-F238E27FC236}">
                <a16:creationId xmlns:a16="http://schemas.microsoft.com/office/drawing/2014/main" xmlns="" id="{BD8F7919-81BA-4F6C-659C-1ECE98A49C77}"/>
              </a:ext>
            </a:extLst>
          </p:cNvPr>
          <p:cNvGrpSpPr/>
          <p:nvPr/>
        </p:nvGrpSpPr>
        <p:grpSpPr>
          <a:xfrm>
            <a:off x="8111266" y="2196609"/>
            <a:ext cx="1282388" cy="495431"/>
            <a:chOff x="10075659" y="2003022"/>
            <a:chExt cx="1178665" cy="495431"/>
          </a:xfrm>
        </p:grpSpPr>
        <p:pic>
          <p:nvPicPr>
            <p:cNvPr id="36" name="그림 35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xmlns="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48" name="TextBox 47">
              <a:hlinkClick r:id="rId8" action="ppaction://hlinksldjump"/>
              <a:extLst>
                <a:ext uri="{FF2B5EF4-FFF2-40B4-BE49-F238E27FC236}">
                  <a16:creationId xmlns:a16="http://schemas.microsoft.com/office/drawing/2014/main" xmlns="" id="{492508EF-5B45-FCB1-63DF-BCFA304E8F7C}"/>
                </a:ext>
              </a:extLst>
            </p:cNvPr>
            <p:cNvSpPr txBox="1"/>
            <p:nvPr/>
          </p:nvSpPr>
          <p:spPr>
            <a:xfrm>
              <a:off x="10075659" y="2052992"/>
              <a:ext cx="117866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b="1" spc="-150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활동 방법</a:t>
              </a:r>
              <a:endParaRPr lang="ko-KR" altLang="en-US" b="1" spc="-150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64524" y="3906380"/>
            <a:ext cx="10950203" cy="2864786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496706" y="4445118"/>
            <a:ext cx="2231084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dirty="0" smtClean="0">
                <a:latin typeface="+mn-ea"/>
              </a:rPr>
              <a:t>세계 환경의 날</a:t>
            </a:r>
            <a:endParaRPr lang="en-US" altLang="ko-KR" sz="2000" dirty="0" smtClean="0">
              <a:latin typeface="+mn-ea"/>
            </a:endParaRPr>
          </a:p>
          <a:p>
            <a:pPr algn="ctr"/>
            <a:r>
              <a:rPr lang="en-US" altLang="ko-KR" sz="2000" dirty="0" smtClean="0">
                <a:latin typeface="+mn-ea"/>
              </a:rPr>
              <a:t>(6</a:t>
            </a:r>
            <a:r>
              <a:rPr lang="ko-KR" altLang="en-US" sz="2000" dirty="0" smtClean="0">
                <a:latin typeface="+mn-ea"/>
              </a:rPr>
              <a:t>월 </a:t>
            </a:r>
            <a:r>
              <a:rPr lang="en-US" altLang="ko-KR" sz="2000" dirty="0">
                <a:latin typeface="+mn-ea"/>
              </a:rPr>
              <a:t>5</a:t>
            </a:r>
            <a:r>
              <a:rPr lang="ko-KR" altLang="en-US" sz="2000" dirty="0" smtClean="0">
                <a:latin typeface="+mn-ea"/>
              </a:rPr>
              <a:t>일</a:t>
            </a:r>
            <a:r>
              <a:rPr lang="en-US" altLang="ko-KR" sz="2000" dirty="0" smtClean="0">
                <a:latin typeface="+mn-ea"/>
              </a:rPr>
              <a:t>)</a:t>
            </a:r>
          </a:p>
          <a:p>
            <a:pPr algn="just"/>
            <a:endParaRPr lang="en-US" altLang="ko-KR" sz="1600" dirty="0" smtClean="0">
              <a:latin typeface="+mn-ea"/>
            </a:endParaRPr>
          </a:p>
          <a:p>
            <a:pPr algn="just"/>
            <a:r>
              <a:rPr lang="ko-KR" altLang="en-US" sz="1600" dirty="0" smtClean="0">
                <a:latin typeface="+mn-ea"/>
              </a:rPr>
              <a:t>탄소 배출을 줄일 수 있는 좋은 식습관에 관해 말해 보자</a:t>
            </a:r>
            <a:r>
              <a:rPr lang="en-US" altLang="ko-KR" sz="1600" dirty="0" smtClean="0">
                <a:latin typeface="+mn-ea"/>
              </a:rPr>
              <a:t>.</a:t>
            </a:r>
            <a:endParaRPr lang="ko-KR" altLang="en-US" sz="1600" dirty="0">
              <a:latin typeface="+mn-ea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150177" y="4759635"/>
            <a:ext cx="2417771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dirty="0" smtClean="0">
                <a:latin typeface="+mn-ea"/>
              </a:rPr>
              <a:t>세계 해양의 날</a:t>
            </a:r>
            <a:endParaRPr lang="en-US" altLang="ko-KR" sz="2000" dirty="0" smtClean="0">
              <a:latin typeface="+mn-ea"/>
            </a:endParaRPr>
          </a:p>
          <a:p>
            <a:pPr algn="ctr"/>
            <a:r>
              <a:rPr lang="en-US" altLang="ko-KR" sz="2000" dirty="0" smtClean="0">
                <a:latin typeface="+mn-ea"/>
              </a:rPr>
              <a:t>(6</a:t>
            </a:r>
            <a:r>
              <a:rPr lang="ko-KR" altLang="en-US" sz="2000" dirty="0" smtClean="0">
                <a:latin typeface="+mn-ea"/>
              </a:rPr>
              <a:t>월 </a:t>
            </a:r>
            <a:r>
              <a:rPr lang="en-US" altLang="ko-KR" sz="2000" dirty="0" smtClean="0">
                <a:latin typeface="+mn-ea"/>
              </a:rPr>
              <a:t>8</a:t>
            </a:r>
            <a:r>
              <a:rPr lang="ko-KR" altLang="en-US" sz="2000" dirty="0" smtClean="0">
                <a:latin typeface="+mn-ea"/>
              </a:rPr>
              <a:t>일</a:t>
            </a:r>
            <a:r>
              <a:rPr lang="en-US" altLang="ko-KR" sz="2000" dirty="0" smtClean="0">
                <a:latin typeface="+mn-ea"/>
              </a:rPr>
              <a:t>)</a:t>
            </a:r>
          </a:p>
          <a:p>
            <a:pPr algn="ctr"/>
            <a:endParaRPr lang="en-US" altLang="ko-KR" sz="1600" dirty="0" smtClean="0">
              <a:latin typeface="+mn-ea"/>
            </a:endParaRPr>
          </a:p>
          <a:p>
            <a:pPr algn="ctr"/>
            <a:r>
              <a:rPr lang="ko-KR" altLang="en-US" sz="1600" dirty="0" smtClean="0">
                <a:latin typeface="+mn-ea"/>
              </a:rPr>
              <a:t>플라스틱 없는 일상을 실천하기 위한 방법을 두 가지 말해 보자</a:t>
            </a:r>
            <a:r>
              <a:rPr lang="en-US" altLang="ko-KR" sz="1600" dirty="0" smtClean="0">
                <a:latin typeface="+mn-ea"/>
              </a:rPr>
              <a:t>.</a:t>
            </a:r>
            <a:endParaRPr lang="ko-KR" altLang="en-US" sz="1600" dirty="0">
              <a:latin typeface="+mn-ea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4076098" y="5051290"/>
            <a:ext cx="12094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dirty="0" smtClean="0">
                <a:latin typeface="+mn-ea"/>
              </a:rPr>
              <a:t>한 번 쉬기</a:t>
            </a:r>
            <a:endParaRPr lang="ko-KR" altLang="en-US" sz="1600" dirty="0">
              <a:latin typeface="+mn-ea"/>
            </a:endParaRPr>
          </a:p>
        </p:txBody>
      </p:sp>
      <p:cxnSp>
        <p:nvCxnSpPr>
          <p:cNvPr id="9" name="직선 연결선 8"/>
          <p:cNvCxnSpPr/>
          <p:nvPr/>
        </p:nvCxnSpPr>
        <p:spPr>
          <a:xfrm flipV="1">
            <a:off x="2867025" y="3626775"/>
            <a:ext cx="9525" cy="809256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사각형: 둥근 모서리 29">
            <a:extLst>
              <a:ext uri="{FF2B5EF4-FFF2-40B4-BE49-F238E27FC236}">
                <a16:creationId xmlns:a16="http://schemas.microsoft.com/office/drawing/2014/main" xmlns="" id="{C631BC03-B762-9123-7FD1-0A60290B94EB}"/>
              </a:ext>
            </a:extLst>
          </p:cNvPr>
          <p:cNvSpPr/>
          <p:nvPr/>
        </p:nvSpPr>
        <p:spPr>
          <a:xfrm>
            <a:off x="2365584" y="2940586"/>
            <a:ext cx="4322242" cy="672117"/>
          </a:xfrm>
          <a:prstGeom prst="roundRect">
            <a:avLst>
              <a:gd name="adj" fmla="val 8608"/>
            </a:avLst>
          </a:prstGeom>
          <a:solidFill>
            <a:srgbClr val="FFF7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2365584" y="2969409"/>
            <a:ext cx="4322242" cy="5749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육식을 줄이고 채식을 늘린다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. </a:t>
            </a:r>
            <a:endParaRPr lang="ko-KR" altLang="en-US" sz="3200" dirty="0">
              <a:solidFill>
                <a:srgbClr val="0070C0"/>
              </a:solidFill>
              <a:latin typeface="+mn-ea"/>
            </a:endParaRPr>
          </a:p>
        </p:txBody>
      </p:sp>
      <p:sp>
        <p:nvSpPr>
          <p:cNvPr id="54" name="사각형: 둥근 모서리 29">
            <a:extLst>
              <a:ext uri="{FF2B5EF4-FFF2-40B4-BE49-F238E27FC236}">
                <a16:creationId xmlns:a16="http://schemas.microsoft.com/office/drawing/2014/main" xmlns="" id="{C631BC03-B762-9123-7FD1-0A60290B94EB}"/>
              </a:ext>
            </a:extLst>
          </p:cNvPr>
          <p:cNvSpPr/>
          <p:nvPr/>
        </p:nvSpPr>
        <p:spPr>
          <a:xfrm>
            <a:off x="7010067" y="2922522"/>
            <a:ext cx="4617157" cy="1344677"/>
          </a:xfrm>
          <a:prstGeom prst="roundRect">
            <a:avLst>
              <a:gd name="adj" fmla="val 8608"/>
            </a:avLst>
          </a:prstGeom>
          <a:solidFill>
            <a:srgbClr val="FFF7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7010067" y="2985718"/>
            <a:ext cx="459500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장을 볼 때 장바구니를 사용한다</a:t>
            </a:r>
            <a:r>
              <a:rPr lang="en-US" altLang="ko-KR" sz="2400">
                <a:solidFill>
                  <a:srgbClr val="0070C0"/>
                </a:solidFill>
                <a:latin typeface="+mn-ea"/>
              </a:rPr>
              <a:t>. </a:t>
            </a:r>
            <a:r>
              <a:rPr lang="ko-KR" altLang="en-US" sz="2400" smtClean="0">
                <a:solidFill>
                  <a:srgbClr val="0070C0"/>
                </a:solidFill>
                <a:latin typeface="+mn-ea"/>
              </a:rPr>
              <a:t>플라스틱병에 담긴 생수를 구매하지 </a:t>
            </a: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않고 텀블러를 사용한다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. </a:t>
            </a:r>
            <a:endParaRPr lang="ko-KR" altLang="en-US" sz="2400" dirty="0">
              <a:solidFill>
                <a:srgbClr val="0070C0"/>
              </a:solidFill>
              <a:latin typeface="+mn-ea"/>
            </a:endParaRPr>
          </a:p>
        </p:txBody>
      </p:sp>
      <p:cxnSp>
        <p:nvCxnSpPr>
          <p:cNvPr id="51" name="직선 연결선 50"/>
          <p:cNvCxnSpPr/>
          <p:nvPr/>
        </p:nvCxnSpPr>
        <p:spPr>
          <a:xfrm flipV="1">
            <a:off x="8252427" y="4249243"/>
            <a:ext cx="5748" cy="506591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그림 3"/>
          <p:cNvPicPr>
            <a:picLocks noChangeAspect="1"/>
          </p:cNvPicPr>
          <p:nvPr/>
        </p:nvPicPr>
        <p:blipFill>
          <a:blip r:embed="rId10" cstate="email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1964" y="4569644"/>
            <a:ext cx="1540906" cy="2811368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11" cstate="email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0184" y="4367522"/>
            <a:ext cx="1138675" cy="1685365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 rotWithShape="1">
          <a:blip r:embed="rId12" cstate="email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4973" t="7113" r="9449" b="10501"/>
          <a:stretch/>
        </p:blipFill>
        <p:spPr>
          <a:xfrm>
            <a:off x="4237822" y="5389843"/>
            <a:ext cx="914400" cy="781051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5579683" y="5313632"/>
            <a:ext cx="13531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dirty="0" smtClean="0">
                <a:latin typeface="+mn-ea"/>
              </a:rPr>
              <a:t>바람을 타고 올라가기</a:t>
            </a:r>
            <a:endParaRPr lang="en-US" altLang="ko-KR" sz="1600" dirty="0" smtClean="0">
              <a:latin typeface="+mn-ea"/>
            </a:endParaRPr>
          </a:p>
        </p:txBody>
      </p:sp>
      <p:sp>
        <p:nvSpPr>
          <p:cNvPr id="16" name="타원형 설명선 15"/>
          <p:cNvSpPr/>
          <p:nvPr/>
        </p:nvSpPr>
        <p:spPr>
          <a:xfrm>
            <a:off x="41643" y="2683783"/>
            <a:ext cx="2001700" cy="1614596"/>
          </a:xfrm>
          <a:prstGeom prst="wedgeEllipseCallout">
            <a:avLst>
              <a:gd name="adj1" fmla="val -7981"/>
              <a:gd name="adj2" fmla="val 70684"/>
            </a:avLst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9106" y="2908450"/>
            <a:ext cx="196322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dirty="0">
                <a:latin typeface="+mn-ea"/>
              </a:rPr>
              <a:t>국제 연합에서는</a:t>
            </a:r>
            <a:endParaRPr lang="en-US" altLang="ko-KR" sz="1600" dirty="0">
              <a:latin typeface="+mn-ea"/>
            </a:endParaRPr>
          </a:p>
          <a:p>
            <a:pPr algn="ctr"/>
            <a:r>
              <a:rPr lang="ko-KR" altLang="en-US" sz="1600" dirty="0">
                <a:latin typeface="+mn-ea"/>
              </a:rPr>
              <a:t>지구촌 </a:t>
            </a:r>
            <a:r>
              <a:rPr lang="ko-KR" altLang="en-US" sz="1600" dirty="0" smtClean="0">
                <a:latin typeface="+mn-ea"/>
              </a:rPr>
              <a:t>문제를</a:t>
            </a:r>
            <a:endParaRPr lang="en-US" altLang="ko-KR" sz="1600" dirty="0" smtClean="0">
              <a:latin typeface="+mn-ea"/>
            </a:endParaRPr>
          </a:p>
          <a:p>
            <a:pPr algn="ctr"/>
            <a:r>
              <a:rPr lang="ko-KR" altLang="en-US" sz="1600" dirty="0" smtClean="0">
                <a:latin typeface="+mn-ea"/>
              </a:rPr>
              <a:t>알리고자 다양한 </a:t>
            </a:r>
            <a:endParaRPr lang="en-US" altLang="ko-KR" sz="1600" dirty="0" smtClean="0">
              <a:latin typeface="+mn-ea"/>
            </a:endParaRPr>
          </a:p>
          <a:p>
            <a:pPr algn="ctr"/>
            <a:r>
              <a:rPr lang="ko-KR" altLang="en-US" sz="1600" dirty="0" smtClean="0">
                <a:latin typeface="+mn-ea"/>
              </a:rPr>
              <a:t>세계 </a:t>
            </a:r>
            <a:r>
              <a:rPr lang="ko-KR" altLang="en-US" sz="1600" dirty="0">
                <a:latin typeface="+mn-ea"/>
              </a:rPr>
              <a:t>기념일을 </a:t>
            </a:r>
            <a:endParaRPr lang="en-US" altLang="ko-KR" sz="1600" dirty="0" smtClean="0">
              <a:latin typeface="+mn-ea"/>
            </a:endParaRPr>
          </a:p>
          <a:p>
            <a:pPr algn="ctr"/>
            <a:r>
              <a:rPr lang="ko-KR" altLang="en-US" sz="1600" dirty="0" smtClean="0">
                <a:latin typeface="+mn-ea"/>
              </a:rPr>
              <a:t>지정했어요</a:t>
            </a:r>
            <a:r>
              <a:rPr lang="en-US" altLang="ko-KR" sz="1600" dirty="0" smtClean="0">
                <a:latin typeface="+mn-ea"/>
              </a:rPr>
              <a:t>.</a:t>
            </a:r>
            <a:endParaRPr lang="ko-KR" altLang="en-US" sz="1600" dirty="0">
              <a:latin typeface="+mn-ea"/>
            </a:endParaRPr>
          </a:p>
        </p:txBody>
      </p:sp>
      <p:pic>
        <p:nvPicPr>
          <p:cNvPr id="45" name="그림 44"/>
          <p:cNvPicPr>
            <a:picLocks noChangeAspect="1"/>
          </p:cNvPicPr>
          <p:nvPr/>
        </p:nvPicPr>
        <p:blipFill>
          <a:blip r:embed="rId13" cstate="email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ackgroundRemoval t="8034" b="75476" l="6581" r="90701">
                        <a14:foregroundMark x1="15594" y1="25793" x2="15594" y2="25793"/>
                        <a14:foregroundMark x1="15594" y1="25793" x2="15594" y2="25793"/>
                        <a14:foregroundMark x1="86409" y1="72093" x2="86409" y2="72093"/>
                        <a14:foregroundMark x1="86409" y1="72093" x2="86409" y2="7209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6157125" flipH="1">
            <a:off x="5489066" y="4234482"/>
            <a:ext cx="1353553" cy="915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01254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2"/>
                  </p:tgtEl>
                </p:cond>
              </p:nextCondLst>
            </p:seq>
            <p:seq concurrent="1" nextAc="seek">
              <p:cTn id="17" restart="whenNotActive" fill="hold" evtFilter="cancelBubble" nodeType="interactiveSeq">
                <p:stCondLst>
                  <p:cond evt="onClick" delay="0">
                    <p:tgtEl>
                      <p:spTgt spid="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1"/>
                  </p:tgtEl>
                </p:cond>
              </p:nextCondLst>
            </p:seq>
          </p:childTnLst>
        </p:cTn>
      </p:par>
    </p:tnLst>
    <p:bldLst>
      <p:bldP spid="53" grpId="0" animBg="1"/>
      <p:bldP spid="53" grpId="1" animBg="1"/>
      <p:bldP spid="30" grpId="0"/>
      <p:bldP spid="30" grpId="1"/>
      <p:bldP spid="54" grpId="0" animBg="1"/>
      <p:bldP spid="54" grpId="1" animBg="1"/>
      <p:bldP spid="50" grpId="0"/>
      <p:bldP spid="50" grpId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그룹 17"/>
          <p:cNvGrpSpPr/>
          <p:nvPr/>
        </p:nvGrpSpPr>
        <p:grpSpPr>
          <a:xfrm>
            <a:off x="0" y="2837103"/>
            <a:ext cx="11140107" cy="4006037"/>
            <a:chOff x="0" y="2837103"/>
            <a:chExt cx="11140107" cy="4006037"/>
          </a:xfrm>
        </p:grpSpPr>
        <p:pic>
          <p:nvPicPr>
            <p:cNvPr id="2" name="그림 1"/>
            <p:cNvPicPr>
              <a:picLocks noChangeAspect="1"/>
            </p:cNvPicPr>
            <p:nvPr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0" y="2837103"/>
              <a:ext cx="11140107" cy="4006037"/>
            </a:xfrm>
            <a:prstGeom prst="rect">
              <a:avLst/>
            </a:prstGeom>
          </p:spPr>
        </p:pic>
        <p:sp>
          <p:nvSpPr>
            <p:cNvPr id="15" name="직사각형 14"/>
            <p:cNvSpPr/>
            <p:nvPr/>
          </p:nvSpPr>
          <p:spPr>
            <a:xfrm>
              <a:off x="7210425" y="3010434"/>
              <a:ext cx="238125" cy="1847316"/>
            </a:xfrm>
            <a:prstGeom prst="rect">
              <a:avLst/>
            </a:prstGeom>
            <a:solidFill>
              <a:srgbClr val="FDFAC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" name="사다리꼴 16"/>
            <p:cNvSpPr/>
            <p:nvPr/>
          </p:nvSpPr>
          <p:spPr>
            <a:xfrm rot="16200000">
              <a:off x="7308951" y="2889348"/>
              <a:ext cx="69656" cy="209547"/>
            </a:xfrm>
            <a:prstGeom prst="trapezoid">
              <a:avLst/>
            </a:prstGeom>
            <a:solidFill>
              <a:srgbClr val="FDFAC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6" name="TextBox 25"/>
          <p:cNvSpPr txBox="1"/>
          <p:nvPr/>
        </p:nvSpPr>
        <p:spPr>
          <a:xfrm>
            <a:off x="787400" y="1613182"/>
            <a:ext cx="1023910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000" b="1" dirty="0" err="1" smtClean="0"/>
              <a:t>모둠별로</a:t>
            </a:r>
            <a:r>
              <a:rPr lang="ko-KR" altLang="en-US" sz="2000" b="1" dirty="0" smtClean="0"/>
              <a:t> 다음 </a:t>
            </a:r>
            <a:r>
              <a:rPr lang="en-US" altLang="ko-KR" sz="2000" b="1" dirty="0" smtClean="0"/>
              <a:t>&lt;</a:t>
            </a:r>
            <a:r>
              <a:rPr lang="ko-KR" altLang="en-US" sz="2000" b="1" dirty="0" smtClean="0"/>
              <a:t>활동 방법</a:t>
            </a:r>
            <a:r>
              <a:rPr lang="en-US" altLang="ko-KR" sz="2000" b="1" dirty="0" smtClean="0"/>
              <a:t>&gt;</a:t>
            </a:r>
            <a:r>
              <a:rPr lang="ko-KR" altLang="en-US" sz="2000" b="1" dirty="0" smtClean="0"/>
              <a:t>에 따라 지구촌 말판 놀이를 해 보고</a:t>
            </a:r>
            <a:r>
              <a:rPr lang="en-US" altLang="ko-KR" sz="2000" b="1" dirty="0" smtClean="0"/>
              <a:t>, </a:t>
            </a:r>
            <a:r>
              <a:rPr lang="ko-KR" altLang="en-US" sz="2000" b="1" dirty="0" smtClean="0"/>
              <a:t>인류의 고통에 공감하며 지구촌 문제를 해결하기 위한 방안을 생각해 보자</a:t>
            </a:r>
            <a:r>
              <a:rPr lang="en-US" altLang="ko-KR" sz="2000" b="1" dirty="0" smtClean="0"/>
              <a:t>.</a:t>
            </a:r>
            <a:endParaRPr lang="ko-KR" altLang="en-US" sz="2000" b="1" dirty="0"/>
          </a:p>
        </p:txBody>
      </p:sp>
      <p:sp>
        <p:nvSpPr>
          <p:cNvPr id="12" name="순서도: 수행의 시작/종료 11">
            <a:extLst>
              <a:ext uri="{FF2B5EF4-FFF2-40B4-BE49-F238E27FC236}">
                <a16:creationId xmlns:a16="http://schemas.microsoft.com/office/drawing/2014/main" xmlns="" id="{9DFB822A-B6F1-2298-D387-61BD7FE98B43}"/>
              </a:ext>
            </a:extLst>
          </p:cNvPr>
          <p:cNvSpPr/>
          <p:nvPr/>
        </p:nvSpPr>
        <p:spPr>
          <a:xfrm>
            <a:off x="1764504" y="582930"/>
            <a:ext cx="1775115" cy="585788"/>
          </a:xfrm>
          <a:prstGeom prst="flowChartTerminator">
            <a:avLst/>
          </a:prstGeom>
          <a:solidFill>
            <a:srgbClr val="FF9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3C67A572-5929-17A2-D60C-4C11D984771C}"/>
              </a:ext>
            </a:extLst>
          </p:cNvPr>
          <p:cNvSpPr txBox="1"/>
          <p:nvPr/>
        </p:nvSpPr>
        <p:spPr>
          <a:xfrm>
            <a:off x="979524" y="671335"/>
            <a:ext cx="23839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spc="-150" dirty="0">
                <a:solidFill>
                  <a:schemeClr val="bg1"/>
                </a:solidFill>
                <a:latin typeface="+mj-ea"/>
                <a:ea typeface="+mj-ea"/>
              </a:rPr>
              <a:t>더 깊이 </a:t>
            </a:r>
            <a:r>
              <a:rPr lang="ko-KR" altLang="en-US" sz="2400" b="1" spc="-150" dirty="0" smtClean="0">
                <a:solidFill>
                  <a:schemeClr val="bg1"/>
                </a:solidFill>
                <a:latin typeface="+mj-ea"/>
                <a:ea typeface="+mj-ea"/>
              </a:rPr>
              <a:t>실천하기</a:t>
            </a:r>
            <a:endParaRPr lang="ko-KR" altLang="en-US" sz="2400" b="1" spc="-15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E154A385-B13F-711E-8062-D58E9EE68096}"/>
              </a:ext>
            </a:extLst>
          </p:cNvPr>
          <p:cNvSpPr txBox="1"/>
          <p:nvPr/>
        </p:nvSpPr>
        <p:spPr>
          <a:xfrm>
            <a:off x="3563317" y="654715"/>
            <a:ext cx="71087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smtClean="0">
                <a:solidFill>
                  <a:srgbClr val="FF9300"/>
                </a:solidFill>
                <a:latin typeface="+mj-ea"/>
                <a:ea typeface="+mj-ea"/>
              </a:rPr>
              <a:t>지구촌 말판 놀이를 하며 인류의 고통에 공감하기</a:t>
            </a:r>
            <a:endParaRPr lang="ko-KR" altLang="en-US" sz="2400" b="1" dirty="0">
              <a:solidFill>
                <a:srgbClr val="FF9300"/>
              </a:solidFill>
              <a:latin typeface="+mj-ea"/>
              <a:ea typeface="+mj-ea"/>
            </a:endParaRPr>
          </a:p>
        </p:txBody>
      </p:sp>
      <p:pic>
        <p:nvPicPr>
          <p:cNvPr id="37" name="그래픽 13">
            <a:extLst>
              <a:ext uri="{FF2B5EF4-FFF2-40B4-BE49-F238E27FC236}">
                <a16:creationId xmlns:a16="http://schemas.microsoft.com/office/drawing/2014/main" xmlns="" id="{35DACDE9-C2C6-6DAB-E125-F5168FF9B962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xmlns="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xmlns="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세계시민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xmlns="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178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·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xmlns="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 smtClean="0">
                <a:latin typeface="+mj-ea"/>
                <a:ea typeface="+mj-ea"/>
              </a:rPr>
              <a:t>지구적 차원의 도덕 문제를 어떻게 해결할 수 있을까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pic>
        <p:nvPicPr>
          <p:cNvPr id="31" name="그림 30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xmlns="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41029" y="2196609"/>
            <a:ext cx="487174" cy="487174"/>
          </a:xfrm>
          <a:prstGeom prst="rect">
            <a:avLst/>
          </a:prstGeom>
        </p:spPr>
      </p:pic>
      <p:grpSp>
        <p:nvGrpSpPr>
          <p:cNvPr id="32" name="그룹 31">
            <a:extLst>
              <a:ext uri="{FF2B5EF4-FFF2-40B4-BE49-F238E27FC236}">
                <a16:creationId xmlns:a16="http://schemas.microsoft.com/office/drawing/2014/main" xmlns="" id="{BD8F7919-81BA-4F6C-659C-1ECE98A49C77}"/>
              </a:ext>
            </a:extLst>
          </p:cNvPr>
          <p:cNvGrpSpPr/>
          <p:nvPr/>
        </p:nvGrpSpPr>
        <p:grpSpPr>
          <a:xfrm>
            <a:off x="9423553" y="2196609"/>
            <a:ext cx="1087577" cy="495431"/>
            <a:chOff x="10075659" y="2003022"/>
            <a:chExt cx="1156006" cy="495431"/>
          </a:xfrm>
        </p:grpSpPr>
        <p:pic>
          <p:nvPicPr>
            <p:cNvPr id="33" name="그림 32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xmlns="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xmlns="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grpSp>
        <p:nvGrpSpPr>
          <p:cNvPr id="35" name="그룹 34">
            <a:extLst>
              <a:ext uri="{FF2B5EF4-FFF2-40B4-BE49-F238E27FC236}">
                <a16:creationId xmlns:a16="http://schemas.microsoft.com/office/drawing/2014/main" xmlns="" id="{BD8F7919-81BA-4F6C-659C-1ECE98A49C77}"/>
              </a:ext>
            </a:extLst>
          </p:cNvPr>
          <p:cNvGrpSpPr/>
          <p:nvPr/>
        </p:nvGrpSpPr>
        <p:grpSpPr>
          <a:xfrm>
            <a:off x="8111266" y="2196609"/>
            <a:ext cx="1282388" cy="495431"/>
            <a:chOff x="10075659" y="2003022"/>
            <a:chExt cx="1178665" cy="495431"/>
          </a:xfrm>
        </p:grpSpPr>
        <p:pic>
          <p:nvPicPr>
            <p:cNvPr id="36" name="그림 35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xmlns="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48" name="TextBox 47">
              <a:hlinkClick r:id="rId8" action="ppaction://hlinksldjump"/>
              <a:extLst>
                <a:ext uri="{FF2B5EF4-FFF2-40B4-BE49-F238E27FC236}">
                  <a16:creationId xmlns:a16="http://schemas.microsoft.com/office/drawing/2014/main" xmlns="" id="{492508EF-5B45-FCB1-63DF-BCFA304E8F7C}"/>
                </a:ext>
              </a:extLst>
            </p:cNvPr>
            <p:cNvSpPr txBox="1"/>
            <p:nvPr/>
          </p:nvSpPr>
          <p:spPr>
            <a:xfrm>
              <a:off x="10075659" y="2052992"/>
              <a:ext cx="117866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b="1" spc="-150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활동 방법</a:t>
              </a:r>
              <a:endParaRPr lang="ko-KR" altLang="en-US" b="1" spc="-150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23" name="TextBox 22"/>
          <p:cNvSpPr txBox="1"/>
          <p:nvPr/>
        </p:nvSpPr>
        <p:spPr>
          <a:xfrm>
            <a:off x="2774363" y="3059178"/>
            <a:ext cx="2143990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dirty="0" smtClean="0">
                <a:latin typeface="+mn-ea"/>
              </a:rPr>
              <a:t>인류의 고통에 </a:t>
            </a:r>
            <a:endParaRPr lang="en-US" altLang="ko-KR" sz="1600" dirty="0" smtClean="0">
              <a:latin typeface="+mn-ea"/>
            </a:endParaRPr>
          </a:p>
          <a:p>
            <a:pPr algn="ctr"/>
            <a:r>
              <a:rPr lang="ko-KR" altLang="en-US" sz="1600" dirty="0" smtClean="0">
                <a:latin typeface="+mn-ea"/>
              </a:rPr>
              <a:t>관심을 기울이고</a:t>
            </a:r>
            <a:endParaRPr lang="en-US" altLang="ko-KR" sz="1600" dirty="0" smtClean="0">
              <a:latin typeface="+mn-ea"/>
            </a:endParaRPr>
          </a:p>
          <a:p>
            <a:pPr algn="ctr"/>
            <a:r>
              <a:rPr lang="ko-KR" altLang="en-US" sz="1600" dirty="0" smtClean="0">
                <a:latin typeface="+mn-ea"/>
              </a:rPr>
              <a:t>국제 뉴스를 </a:t>
            </a:r>
            <a:endParaRPr lang="en-US" altLang="ko-KR" sz="1600" dirty="0" smtClean="0">
              <a:latin typeface="+mn-ea"/>
            </a:endParaRPr>
          </a:p>
          <a:p>
            <a:pPr algn="ctr"/>
            <a:r>
              <a:rPr lang="ko-KR" altLang="en-US" sz="1600" dirty="0" smtClean="0">
                <a:latin typeface="+mn-ea"/>
              </a:rPr>
              <a:t>검색해 보았다면</a:t>
            </a:r>
            <a:endParaRPr lang="en-US" altLang="ko-KR" sz="1600" dirty="0" smtClean="0">
              <a:latin typeface="+mn-ea"/>
            </a:endParaRPr>
          </a:p>
          <a:p>
            <a:pPr algn="ctr"/>
            <a:endParaRPr lang="en-US" altLang="ko-KR" sz="1600" dirty="0">
              <a:latin typeface="+mn-ea"/>
            </a:endParaRPr>
          </a:p>
          <a:p>
            <a:pPr algn="ctr"/>
            <a:r>
              <a:rPr lang="ko-KR" altLang="en-US" sz="2000" b="1" dirty="0" smtClean="0">
                <a:solidFill>
                  <a:schemeClr val="bg1"/>
                </a:solidFill>
                <a:latin typeface="+mn-ea"/>
              </a:rPr>
              <a:t>앞으로 </a:t>
            </a:r>
            <a:r>
              <a:rPr lang="en-US" altLang="ko-KR" sz="2000" b="1" dirty="0" smtClean="0">
                <a:solidFill>
                  <a:schemeClr val="bg1"/>
                </a:solidFill>
                <a:latin typeface="+mn-ea"/>
              </a:rPr>
              <a:t>2</a:t>
            </a:r>
            <a:r>
              <a:rPr lang="ko-KR" altLang="en-US" sz="2000" b="1" dirty="0" smtClean="0">
                <a:solidFill>
                  <a:schemeClr val="bg1"/>
                </a:solidFill>
                <a:latin typeface="+mn-ea"/>
              </a:rPr>
              <a:t>칸 가기</a:t>
            </a:r>
            <a:endParaRPr lang="ko-KR" altLang="en-US" sz="16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2407670" y="5553468"/>
            <a:ext cx="215999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dirty="0" smtClean="0">
                <a:latin typeface="+mn-ea"/>
              </a:rPr>
              <a:t>다음 차례에 주사위를 굴려서 짝수가 나오면 바로 탈출할 수 있다</a:t>
            </a:r>
            <a:r>
              <a:rPr lang="en-US" altLang="ko-KR" sz="1600" dirty="0" smtClean="0">
                <a:latin typeface="+mn-ea"/>
              </a:rPr>
              <a:t>.</a:t>
            </a:r>
            <a:endParaRPr lang="ko-KR" altLang="en-US" sz="2000" dirty="0">
              <a:latin typeface="+mn-ea"/>
            </a:endParaRPr>
          </a:p>
        </p:txBody>
      </p:sp>
      <p:cxnSp>
        <p:nvCxnSpPr>
          <p:cNvPr id="9" name="직선 연결선 8"/>
          <p:cNvCxnSpPr/>
          <p:nvPr/>
        </p:nvCxnSpPr>
        <p:spPr>
          <a:xfrm flipH="1" flipV="1">
            <a:off x="6166755" y="4737793"/>
            <a:ext cx="852" cy="744812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그림 5"/>
          <p:cNvPicPr>
            <a:picLocks noChangeAspect="1"/>
          </p:cNvPicPr>
          <p:nvPr/>
        </p:nvPicPr>
        <p:blipFill>
          <a:blip r:embed="rId9" cstate="email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90835" y="4362084"/>
            <a:ext cx="1643263" cy="1290052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 rotWithShape="1">
          <a:blip r:embed="rId1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264336" y="5190566"/>
            <a:ext cx="650081" cy="326232"/>
          </a:xfrm>
          <a:prstGeom prst="rect">
            <a:avLst/>
          </a:prstGeom>
        </p:spPr>
      </p:pic>
      <p:sp>
        <p:nvSpPr>
          <p:cNvPr id="53" name="사각형: 둥근 모서리 29">
            <a:extLst>
              <a:ext uri="{FF2B5EF4-FFF2-40B4-BE49-F238E27FC236}">
                <a16:creationId xmlns:a16="http://schemas.microsoft.com/office/drawing/2014/main" xmlns="" id="{C631BC03-B762-9123-7FD1-0A60290B94EB}"/>
              </a:ext>
            </a:extLst>
          </p:cNvPr>
          <p:cNvSpPr/>
          <p:nvPr/>
        </p:nvSpPr>
        <p:spPr>
          <a:xfrm>
            <a:off x="5788114" y="5383492"/>
            <a:ext cx="5506295" cy="563946"/>
          </a:xfrm>
          <a:prstGeom prst="roundRect">
            <a:avLst>
              <a:gd name="adj" fmla="val 8608"/>
            </a:avLst>
          </a:prstGeom>
          <a:solidFill>
            <a:srgbClr val="FFF7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5788114" y="5434633"/>
            <a:ext cx="57173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나무를 심는다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. </a:t>
            </a: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쓰레기를 분리배출한다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. </a:t>
            </a:r>
            <a:endParaRPr lang="ko-KR" altLang="en-US" sz="2400" dirty="0">
              <a:solidFill>
                <a:srgbClr val="0070C0"/>
              </a:solidFill>
              <a:latin typeface="+mn-ea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7913346" y="3378127"/>
            <a:ext cx="21599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 smtClean="0">
                <a:latin typeface="+mn-ea"/>
              </a:rPr>
              <a:t>1</a:t>
            </a:r>
            <a:r>
              <a:rPr lang="ko-KR" altLang="en-US" sz="1600" dirty="0" smtClean="0">
                <a:latin typeface="+mn-ea"/>
              </a:rPr>
              <a:t>등 말과</a:t>
            </a:r>
            <a:endParaRPr lang="en-US" altLang="ko-KR" sz="1600" dirty="0" smtClean="0">
              <a:latin typeface="+mn-ea"/>
            </a:endParaRPr>
          </a:p>
          <a:p>
            <a:pPr algn="ctr"/>
            <a:r>
              <a:rPr lang="ko-KR" altLang="en-US" sz="1600" dirty="0" smtClean="0">
                <a:latin typeface="+mn-ea"/>
              </a:rPr>
              <a:t>자리 바꾸기</a:t>
            </a:r>
            <a:endParaRPr lang="ko-KR" altLang="en-US" sz="2000" dirty="0">
              <a:latin typeface="+mn-ea"/>
            </a:endParaRPr>
          </a:p>
        </p:txBody>
      </p:sp>
      <p:pic>
        <p:nvPicPr>
          <p:cNvPr id="11" name="그림 10"/>
          <p:cNvPicPr>
            <a:picLocks noChangeAspect="1"/>
          </p:cNvPicPr>
          <p:nvPr/>
        </p:nvPicPr>
        <p:blipFill rotWithShape="1">
          <a:blip r:embed="rId12" cstate="email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8286" t="3368" r="10486" b="7331"/>
          <a:stretch/>
        </p:blipFill>
        <p:spPr>
          <a:xfrm>
            <a:off x="8855132" y="3906380"/>
            <a:ext cx="859918" cy="701292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4670346" y="3039009"/>
            <a:ext cx="2778204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dirty="0" smtClean="0">
                <a:latin typeface="+mn-ea"/>
              </a:rPr>
              <a:t>세계 사막화 방지의 날</a:t>
            </a:r>
            <a:endParaRPr lang="en-US" altLang="ko-KR" sz="2000" dirty="0" smtClean="0">
              <a:latin typeface="+mn-ea"/>
            </a:endParaRPr>
          </a:p>
          <a:p>
            <a:pPr algn="ctr"/>
            <a:r>
              <a:rPr lang="en-US" altLang="ko-KR" sz="2000" dirty="0" smtClean="0">
                <a:latin typeface="+mn-ea"/>
              </a:rPr>
              <a:t>(6</a:t>
            </a:r>
            <a:r>
              <a:rPr lang="ko-KR" altLang="en-US" sz="2000" dirty="0" smtClean="0">
                <a:latin typeface="+mn-ea"/>
              </a:rPr>
              <a:t>월 </a:t>
            </a:r>
            <a:r>
              <a:rPr lang="en-US" altLang="ko-KR" sz="2000" dirty="0" smtClean="0">
                <a:latin typeface="+mn-ea"/>
              </a:rPr>
              <a:t>17</a:t>
            </a:r>
            <a:r>
              <a:rPr lang="ko-KR" altLang="en-US" sz="2000" dirty="0" smtClean="0">
                <a:latin typeface="+mn-ea"/>
              </a:rPr>
              <a:t>일</a:t>
            </a:r>
            <a:r>
              <a:rPr lang="en-US" altLang="ko-KR" sz="2000" dirty="0" smtClean="0">
                <a:latin typeface="+mn-ea"/>
              </a:rPr>
              <a:t>)</a:t>
            </a:r>
          </a:p>
          <a:p>
            <a:pPr algn="ctr"/>
            <a:endParaRPr lang="en-US" altLang="ko-KR" sz="1600" dirty="0">
              <a:latin typeface="+mn-ea"/>
            </a:endParaRPr>
          </a:p>
          <a:p>
            <a:pPr algn="r"/>
            <a:r>
              <a:rPr lang="ko-KR" altLang="en-US" sz="1600" dirty="0" smtClean="0">
                <a:latin typeface="+mn-ea"/>
              </a:rPr>
              <a:t>사막화를 방지하기 위해 </a:t>
            </a:r>
            <a:endParaRPr lang="en-US" altLang="ko-KR" sz="1600" dirty="0" smtClean="0">
              <a:latin typeface="+mn-ea"/>
            </a:endParaRPr>
          </a:p>
          <a:p>
            <a:pPr algn="r"/>
            <a:r>
              <a:rPr lang="ko-KR" altLang="en-US" sz="1600" dirty="0" smtClean="0">
                <a:latin typeface="+mn-ea"/>
              </a:rPr>
              <a:t>일상에서 실천할 수 </a:t>
            </a:r>
            <a:endParaRPr lang="en-US" altLang="ko-KR" sz="1600" dirty="0" smtClean="0">
              <a:latin typeface="+mn-ea"/>
            </a:endParaRPr>
          </a:p>
          <a:p>
            <a:pPr algn="r"/>
            <a:r>
              <a:rPr lang="ko-KR" altLang="en-US" sz="1600" dirty="0" smtClean="0">
                <a:latin typeface="+mn-ea"/>
              </a:rPr>
              <a:t>있는 일을 말해 보자</a:t>
            </a:r>
            <a:r>
              <a:rPr lang="en-US" altLang="ko-KR" sz="1600" dirty="0" smtClean="0">
                <a:latin typeface="+mn-ea"/>
              </a:rPr>
              <a:t>.</a:t>
            </a:r>
            <a:endParaRPr lang="ko-KR" altLang="en-US" sz="2000" dirty="0">
              <a:latin typeface="+mn-ea"/>
            </a:endParaRPr>
          </a:p>
        </p:txBody>
      </p:sp>
      <p:pic>
        <p:nvPicPr>
          <p:cNvPr id="46" name="그림 45"/>
          <p:cNvPicPr>
            <a:picLocks noChangeAspect="1"/>
          </p:cNvPicPr>
          <p:nvPr/>
        </p:nvPicPr>
        <p:blipFill>
          <a:blip r:embed="rId13" cstate="email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ackgroundRemoval t="0" b="97279" l="0" r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203258" y="4698221"/>
            <a:ext cx="815695" cy="722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57733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2"/>
                  </p:tgtEl>
                </p:cond>
              </p:nextCondLst>
            </p:seq>
            <p:seq concurrent="1" nextAc="seek">
              <p:cTn id="11" restart="whenNotActive" fill="hold" evtFilter="cancelBubble" nodeType="interactiveSeq">
                <p:stCondLst>
                  <p:cond evt="onClick" delay="0">
                    <p:tgtEl>
                      <p:spTgt spid="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" fill="hold">
                      <p:stCondLst>
                        <p:cond delay="0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1"/>
                  </p:tgtEl>
                </p:cond>
              </p:nextCondLst>
            </p:seq>
          </p:childTnLst>
        </p:cTn>
      </p:par>
    </p:tnLst>
    <p:bldLst>
      <p:bldP spid="53" grpId="0" animBg="1"/>
      <p:bldP spid="53" grpId="1" animBg="1"/>
      <p:bldP spid="30" grpId="0"/>
      <p:bldP spid="30" grpId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77751" y="2922523"/>
            <a:ext cx="10214128" cy="3877456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787400" y="1613182"/>
            <a:ext cx="1023910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000" b="1" dirty="0" err="1" smtClean="0"/>
              <a:t>모둠별로</a:t>
            </a:r>
            <a:r>
              <a:rPr lang="ko-KR" altLang="en-US" sz="2000" b="1" dirty="0" smtClean="0"/>
              <a:t> 다음 </a:t>
            </a:r>
            <a:r>
              <a:rPr lang="en-US" altLang="ko-KR" sz="2000" b="1" dirty="0" smtClean="0"/>
              <a:t>&lt;</a:t>
            </a:r>
            <a:r>
              <a:rPr lang="ko-KR" altLang="en-US" sz="2000" b="1" dirty="0" smtClean="0"/>
              <a:t>활동 방법</a:t>
            </a:r>
            <a:r>
              <a:rPr lang="en-US" altLang="ko-KR" sz="2000" b="1" dirty="0" smtClean="0"/>
              <a:t>&gt;</a:t>
            </a:r>
            <a:r>
              <a:rPr lang="ko-KR" altLang="en-US" sz="2000" b="1" dirty="0" smtClean="0"/>
              <a:t>에 따라 지구촌 말판 놀이를 해 보고</a:t>
            </a:r>
            <a:r>
              <a:rPr lang="en-US" altLang="ko-KR" sz="2000" b="1" dirty="0" smtClean="0"/>
              <a:t>, </a:t>
            </a:r>
            <a:r>
              <a:rPr lang="ko-KR" altLang="en-US" sz="2000" b="1" dirty="0" smtClean="0"/>
              <a:t>인류의 고통에 공감하며 지구촌 문제를 해결하기 위한 방안을 생각해 보자</a:t>
            </a:r>
            <a:r>
              <a:rPr lang="en-US" altLang="ko-KR" sz="2000" b="1" dirty="0" smtClean="0"/>
              <a:t>.</a:t>
            </a:r>
            <a:endParaRPr lang="ko-KR" altLang="en-US" sz="2000" b="1" dirty="0"/>
          </a:p>
        </p:txBody>
      </p:sp>
      <p:sp>
        <p:nvSpPr>
          <p:cNvPr id="12" name="순서도: 수행의 시작/종료 11">
            <a:extLst>
              <a:ext uri="{FF2B5EF4-FFF2-40B4-BE49-F238E27FC236}">
                <a16:creationId xmlns:a16="http://schemas.microsoft.com/office/drawing/2014/main" xmlns="" id="{9DFB822A-B6F1-2298-D387-61BD7FE98B43}"/>
              </a:ext>
            </a:extLst>
          </p:cNvPr>
          <p:cNvSpPr/>
          <p:nvPr/>
        </p:nvSpPr>
        <p:spPr>
          <a:xfrm>
            <a:off x="1764504" y="582930"/>
            <a:ext cx="1775115" cy="585788"/>
          </a:xfrm>
          <a:prstGeom prst="flowChartTerminator">
            <a:avLst/>
          </a:prstGeom>
          <a:solidFill>
            <a:srgbClr val="FF9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3C67A572-5929-17A2-D60C-4C11D984771C}"/>
              </a:ext>
            </a:extLst>
          </p:cNvPr>
          <p:cNvSpPr txBox="1"/>
          <p:nvPr/>
        </p:nvSpPr>
        <p:spPr>
          <a:xfrm>
            <a:off x="979524" y="671335"/>
            <a:ext cx="23839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spc="-150" dirty="0">
                <a:solidFill>
                  <a:schemeClr val="bg1"/>
                </a:solidFill>
                <a:latin typeface="+mj-ea"/>
                <a:ea typeface="+mj-ea"/>
              </a:rPr>
              <a:t>더 깊이 </a:t>
            </a:r>
            <a:r>
              <a:rPr lang="ko-KR" altLang="en-US" sz="2400" b="1" spc="-150" dirty="0" smtClean="0">
                <a:solidFill>
                  <a:schemeClr val="bg1"/>
                </a:solidFill>
                <a:latin typeface="+mj-ea"/>
                <a:ea typeface="+mj-ea"/>
              </a:rPr>
              <a:t>실천하기</a:t>
            </a:r>
            <a:endParaRPr lang="ko-KR" altLang="en-US" sz="2400" b="1" spc="-15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E154A385-B13F-711E-8062-D58E9EE68096}"/>
              </a:ext>
            </a:extLst>
          </p:cNvPr>
          <p:cNvSpPr txBox="1"/>
          <p:nvPr/>
        </p:nvSpPr>
        <p:spPr>
          <a:xfrm>
            <a:off x="3563317" y="654715"/>
            <a:ext cx="71087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smtClean="0">
                <a:solidFill>
                  <a:srgbClr val="FF9300"/>
                </a:solidFill>
                <a:latin typeface="+mj-ea"/>
                <a:ea typeface="+mj-ea"/>
              </a:rPr>
              <a:t>지구촌 말판 놀이를 하며 인류의 고통에 공감하기</a:t>
            </a:r>
            <a:endParaRPr lang="ko-KR" altLang="en-US" sz="2400" b="1" dirty="0">
              <a:solidFill>
                <a:srgbClr val="FF9300"/>
              </a:solidFill>
              <a:latin typeface="+mj-ea"/>
              <a:ea typeface="+mj-ea"/>
            </a:endParaRPr>
          </a:p>
        </p:txBody>
      </p:sp>
      <p:pic>
        <p:nvPicPr>
          <p:cNvPr id="37" name="그래픽 13">
            <a:extLst>
              <a:ext uri="{FF2B5EF4-FFF2-40B4-BE49-F238E27FC236}">
                <a16:creationId xmlns:a16="http://schemas.microsoft.com/office/drawing/2014/main" xmlns="" id="{35DACDE9-C2C6-6DAB-E125-F5168FF9B962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xmlns="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xmlns="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세계시민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xmlns="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178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·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xmlns="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 smtClean="0">
                <a:latin typeface="+mj-ea"/>
                <a:ea typeface="+mj-ea"/>
              </a:rPr>
              <a:t>지구적 차원의 도덕 문제를 어떻게 해결할 수 있을까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pic>
        <p:nvPicPr>
          <p:cNvPr id="31" name="그림 30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xmlns="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41029" y="2196609"/>
            <a:ext cx="487174" cy="487174"/>
          </a:xfrm>
          <a:prstGeom prst="rect">
            <a:avLst/>
          </a:prstGeom>
        </p:spPr>
      </p:pic>
      <p:grpSp>
        <p:nvGrpSpPr>
          <p:cNvPr id="32" name="그룹 31">
            <a:extLst>
              <a:ext uri="{FF2B5EF4-FFF2-40B4-BE49-F238E27FC236}">
                <a16:creationId xmlns:a16="http://schemas.microsoft.com/office/drawing/2014/main" xmlns="" id="{BD8F7919-81BA-4F6C-659C-1ECE98A49C77}"/>
              </a:ext>
            </a:extLst>
          </p:cNvPr>
          <p:cNvGrpSpPr/>
          <p:nvPr/>
        </p:nvGrpSpPr>
        <p:grpSpPr>
          <a:xfrm>
            <a:off x="9423553" y="2196609"/>
            <a:ext cx="1087577" cy="495431"/>
            <a:chOff x="10075659" y="2003022"/>
            <a:chExt cx="1156006" cy="495431"/>
          </a:xfrm>
        </p:grpSpPr>
        <p:pic>
          <p:nvPicPr>
            <p:cNvPr id="33" name="그림 32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xmlns="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xmlns="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grpSp>
        <p:nvGrpSpPr>
          <p:cNvPr id="35" name="그룹 34">
            <a:extLst>
              <a:ext uri="{FF2B5EF4-FFF2-40B4-BE49-F238E27FC236}">
                <a16:creationId xmlns:a16="http://schemas.microsoft.com/office/drawing/2014/main" xmlns="" id="{BD8F7919-81BA-4F6C-659C-1ECE98A49C77}"/>
              </a:ext>
            </a:extLst>
          </p:cNvPr>
          <p:cNvGrpSpPr/>
          <p:nvPr/>
        </p:nvGrpSpPr>
        <p:grpSpPr>
          <a:xfrm>
            <a:off x="8111266" y="2196609"/>
            <a:ext cx="1282388" cy="495431"/>
            <a:chOff x="10075659" y="2003022"/>
            <a:chExt cx="1178665" cy="495431"/>
          </a:xfrm>
        </p:grpSpPr>
        <p:pic>
          <p:nvPicPr>
            <p:cNvPr id="36" name="그림 35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xmlns="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48" name="TextBox 47">
              <a:hlinkClick r:id="rId9" action="ppaction://hlinksldjump"/>
              <a:extLst>
                <a:ext uri="{FF2B5EF4-FFF2-40B4-BE49-F238E27FC236}">
                  <a16:creationId xmlns:a16="http://schemas.microsoft.com/office/drawing/2014/main" xmlns="" id="{492508EF-5B45-FCB1-63DF-BCFA304E8F7C}"/>
                </a:ext>
              </a:extLst>
            </p:cNvPr>
            <p:cNvSpPr txBox="1"/>
            <p:nvPr/>
          </p:nvSpPr>
          <p:spPr>
            <a:xfrm>
              <a:off x="10075659" y="2052992"/>
              <a:ext cx="117866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b="1" spc="-150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활동 방법</a:t>
              </a:r>
              <a:endParaRPr lang="ko-KR" altLang="en-US" b="1" spc="-150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23" name="TextBox 22"/>
          <p:cNvSpPr txBox="1"/>
          <p:nvPr/>
        </p:nvSpPr>
        <p:spPr>
          <a:xfrm>
            <a:off x="4587305" y="3332660"/>
            <a:ext cx="2040546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dirty="0" smtClean="0">
                <a:latin typeface="+mn-ea"/>
              </a:rPr>
              <a:t>세계 평화의 날</a:t>
            </a:r>
            <a:endParaRPr lang="en-US" altLang="ko-KR" sz="2000" dirty="0" smtClean="0">
              <a:latin typeface="+mn-ea"/>
            </a:endParaRPr>
          </a:p>
          <a:p>
            <a:pPr algn="ctr"/>
            <a:r>
              <a:rPr lang="en-US" altLang="ko-KR" sz="2000" dirty="0" smtClean="0">
                <a:latin typeface="+mn-ea"/>
              </a:rPr>
              <a:t>(9</a:t>
            </a:r>
            <a:r>
              <a:rPr lang="ko-KR" altLang="en-US" sz="2000" dirty="0" smtClean="0">
                <a:latin typeface="+mn-ea"/>
              </a:rPr>
              <a:t>월 </a:t>
            </a:r>
            <a:r>
              <a:rPr lang="en-US" altLang="ko-KR" sz="2000" dirty="0" smtClean="0">
                <a:latin typeface="+mn-ea"/>
              </a:rPr>
              <a:t>21</a:t>
            </a:r>
            <a:r>
              <a:rPr lang="ko-KR" altLang="en-US" sz="2000" dirty="0" smtClean="0">
                <a:latin typeface="+mn-ea"/>
              </a:rPr>
              <a:t>일</a:t>
            </a:r>
            <a:r>
              <a:rPr lang="en-US" altLang="ko-KR" sz="2000" dirty="0" smtClean="0">
                <a:latin typeface="+mn-ea"/>
              </a:rPr>
              <a:t>)</a:t>
            </a:r>
          </a:p>
          <a:p>
            <a:pPr algn="ctr"/>
            <a:endParaRPr lang="en-US" altLang="ko-KR" sz="1600" dirty="0" smtClean="0">
              <a:latin typeface="+mn-ea"/>
            </a:endParaRPr>
          </a:p>
          <a:p>
            <a:pPr algn="ctr"/>
            <a:r>
              <a:rPr lang="ko-KR" altLang="en-US" sz="1600" dirty="0" smtClean="0">
                <a:latin typeface="+mn-ea"/>
              </a:rPr>
              <a:t>전쟁의 문제점을 </a:t>
            </a:r>
            <a:endParaRPr lang="en-US" altLang="ko-KR" sz="1600" dirty="0" smtClean="0">
              <a:latin typeface="+mn-ea"/>
            </a:endParaRPr>
          </a:p>
          <a:p>
            <a:pPr algn="ctr"/>
            <a:r>
              <a:rPr lang="ko-KR" altLang="en-US" sz="1600" dirty="0" smtClean="0">
                <a:latin typeface="+mn-ea"/>
              </a:rPr>
              <a:t>세 가지 이상 </a:t>
            </a:r>
            <a:endParaRPr lang="en-US" altLang="ko-KR" sz="1600" dirty="0" smtClean="0">
              <a:latin typeface="+mn-ea"/>
            </a:endParaRPr>
          </a:p>
          <a:p>
            <a:pPr algn="ctr"/>
            <a:r>
              <a:rPr lang="ko-KR" altLang="en-US" sz="1600" dirty="0" smtClean="0">
                <a:latin typeface="+mn-ea"/>
              </a:rPr>
              <a:t>말해 보자</a:t>
            </a:r>
            <a:r>
              <a:rPr lang="en-US" altLang="ko-KR" sz="1600" dirty="0" smtClean="0">
                <a:latin typeface="+mn-ea"/>
              </a:rPr>
              <a:t>.</a:t>
            </a:r>
            <a:endParaRPr lang="ko-KR" altLang="en-US" sz="1600" dirty="0">
              <a:latin typeface="+mn-ea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267701" y="5107208"/>
            <a:ext cx="2576408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dirty="0" smtClean="0">
                <a:latin typeface="+mn-ea"/>
              </a:rPr>
              <a:t>세계 난민의 날</a:t>
            </a:r>
            <a:endParaRPr lang="en-US" altLang="ko-KR" sz="2000" dirty="0" smtClean="0">
              <a:latin typeface="+mn-ea"/>
            </a:endParaRPr>
          </a:p>
          <a:p>
            <a:pPr algn="ctr"/>
            <a:r>
              <a:rPr lang="en-US" altLang="ko-KR" sz="2000" dirty="0" smtClean="0">
                <a:latin typeface="+mn-ea"/>
              </a:rPr>
              <a:t>(6</a:t>
            </a:r>
            <a:r>
              <a:rPr lang="ko-KR" altLang="en-US" sz="2000" dirty="0" smtClean="0">
                <a:latin typeface="+mn-ea"/>
              </a:rPr>
              <a:t>월 </a:t>
            </a:r>
            <a:r>
              <a:rPr lang="en-US" altLang="ko-KR" sz="2000" dirty="0" smtClean="0">
                <a:latin typeface="+mn-ea"/>
              </a:rPr>
              <a:t>20</a:t>
            </a:r>
            <a:r>
              <a:rPr lang="ko-KR" altLang="en-US" sz="2000" dirty="0" smtClean="0">
                <a:latin typeface="+mn-ea"/>
              </a:rPr>
              <a:t>일</a:t>
            </a:r>
            <a:r>
              <a:rPr lang="en-US" altLang="ko-KR" sz="2000" dirty="0" smtClean="0">
                <a:latin typeface="+mn-ea"/>
              </a:rPr>
              <a:t>)</a:t>
            </a:r>
          </a:p>
          <a:p>
            <a:pPr algn="ctr"/>
            <a:endParaRPr lang="en-US" altLang="ko-KR" sz="1600" dirty="0" smtClean="0">
              <a:latin typeface="+mn-ea"/>
            </a:endParaRPr>
          </a:p>
          <a:p>
            <a:pPr algn="ctr"/>
            <a:r>
              <a:rPr lang="ko-KR" altLang="en-US" sz="1600" dirty="0" smtClean="0">
                <a:latin typeface="+mn-ea"/>
              </a:rPr>
              <a:t>내가 삶의 근거지를</a:t>
            </a:r>
            <a:endParaRPr lang="en-US" altLang="ko-KR" sz="1600" dirty="0" smtClean="0">
              <a:latin typeface="+mn-ea"/>
            </a:endParaRPr>
          </a:p>
          <a:p>
            <a:pPr algn="ctr"/>
            <a:r>
              <a:rPr lang="ko-KR" altLang="en-US" sz="1600" dirty="0" smtClean="0">
                <a:latin typeface="+mn-ea"/>
              </a:rPr>
              <a:t>잃은 난민이라면</a:t>
            </a:r>
            <a:endParaRPr lang="en-US" altLang="ko-KR" sz="1600" dirty="0" smtClean="0">
              <a:latin typeface="+mn-ea"/>
            </a:endParaRPr>
          </a:p>
          <a:p>
            <a:pPr algn="ctr"/>
            <a:r>
              <a:rPr lang="ko-KR" altLang="en-US" sz="1600" dirty="0" smtClean="0">
                <a:latin typeface="+mn-ea"/>
              </a:rPr>
              <a:t>어떤 기분일지 말해 보자</a:t>
            </a:r>
            <a:r>
              <a:rPr lang="en-US" altLang="ko-KR" sz="1600" dirty="0" smtClean="0">
                <a:latin typeface="+mn-ea"/>
              </a:rPr>
              <a:t>.</a:t>
            </a:r>
            <a:endParaRPr lang="ko-KR" altLang="en-US" sz="1600" dirty="0">
              <a:latin typeface="+mn-ea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8006253" y="4270834"/>
            <a:ext cx="263747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dirty="0" smtClean="0">
                <a:latin typeface="+mn-ea"/>
              </a:rPr>
              <a:t>주사위 한번 더 던지기</a:t>
            </a:r>
            <a:endParaRPr lang="ko-KR" altLang="en-US" sz="1600" dirty="0">
              <a:latin typeface="+mn-ea"/>
            </a:endParaRPr>
          </a:p>
        </p:txBody>
      </p:sp>
      <p:cxnSp>
        <p:nvCxnSpPr>
          <p:cNvPr id="9" name="직선 연결선 8"/>
          <p:cNvCxnSpPr/>
          <p:nvPr/>
        </p:nvCxnSpPr>
        <p:spPr>
          <a:xfrm flipV="1">
            <a:off x="4162057" y="5107208"/>
            <a:ext cx="854744" cy="939009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사각형: 둥근 모서리 29">
            <a:extLst>
              <a:ext uri="{FF2B5EF4-FFF2-40B4-BE49-F238E27FC236}">
                <a16:creationId xmlns:a16="http://schemas.microsoft.com/office/drawing/2014/main" xmlns="" id="{C631BC03-B762-9123-7FD1-0A60290B94EB}"/>
              </a:ext>
            </a:extLst>
          </p:cNvPr>
          <p:cNvSpPr/>
          <p:nvPr/>
        </p:nvSpPr>
        <p:spPr>
          <a:xfrm>
            <a:off x="424135" y="5435566"/>
            <a:ext cx="4000368" cy="1243702"/>
          </a:xfrm>
          <a:prstGeom prst="roundRect">
            <a:avLst>
              <a:gd name="adj" fmla="val 8608"/>
            </a:avLst>
          </a:prstGeom>
          <a:solidFill>
            <a:srgbClr val="FFF7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417930" y="5419726"/>
            <a:ext cx="397328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2400" dirty="0" smtClean="0">
                <a:solidFill>
                  <a:srgbClr val="0070C0"/>
                </a:solidFill>
                <a:latin typeface="+mn-ea"/>
              </a:rPr>
              <a:t>교육받을 권리를 침해한다</a:t>
            </a:r>
            <a:r>
              <a:rPr lang="en-US" altLang="ko-KR" sz="2400" dirty="0" smtClean="0">
                <a:solidFill>
                  <a:srgbClr val="0070C0"/>
                </a:solidFill>
                <a:latin typeface="+mn-ea"/>
              </a:rPr>
              <a:t>.</a:t>
            </a:r>
          </a:p>
          <a:p>
            <a:pPr algn="just"/>
            <a:r>
              <a:rPr lang="ko-KR" altLang="en-US" sz="2400" dirty="0" smtClean="0">
                <a:solidFill>
                  <a:srgbClr val="0070C0"/>
                </a:solidFill>
                <a:latin typeface="+mn-ea"/>
              </a:rPr>
              <a:t>환경을 파괴한다</a:t>
            </a:r>
            <a:r>
              <a:rPr lang="en-US" altLang="ko-KR" sz="2400" dirty="0" smtClean="0">
                <a:solidFill>
                  <a:srgbClr val="0070C0"/>
                </a:solidFill>
                <a:latin typeface="+mn-ea"/>
              </a:rPr>
              <a:t>. </a:t>
            </a:r>
            <a:r>
              <a:rPr lang="ko-KR" altLang="en-US" sz="2400" dirty="0" smtClean="0">
                <a:solidFill>
                  <a:srgbClr val="0070C0"/>
                </a:solidFill>
                <a:latin typeface="+mn-ea"/>
              </a:rPr>
              <a:t>사람들의 안전과 생명을 위협한다</a:t>
            </a:r>
            <a:r>
              <a:rPr lang="en-US" altLang="ko-KR" sz="2400" dirty="0" smtClean="0">
                <a:solidFill>
                  <a:srgbClr val="0070C0"/>
                </a:solidFill>
                <a:latin typeface="+mn-ea"/>
              </a:rPr>
              <a:t>. </a:t>
            </a:r>
          </a:p>
        </p:txBody>
      </p:sp>
      <p:sp>
        <p:nvSpPr>
          <p:cNvPr id="54" name="사각형: 둥근 모서리 29">
            <a:extLst>
              <a:ext uri="{FF2B5EF4-FFF2-40B4-BE49-F238E27FC236}">
                <a16:creationId xmlns:a16="http://schemas.microsoft.com/office/drawing/2014/main" xmlns="" id="{C631BC03-B762-9123-7FD1-0A60290B94EB}"/>
              </a:ext>
            </a:extLst>
          </p:cNvPr>
          <p:cNvSpPr/>
          <p:nvPr/>
        </p:nvSpPr>
        <p:spPr>
          <a:xfrm>
            <a:off x="4725908" y="5852350"/>
            <a:ext cx="3529531" cy="836374"/>
          </a:xfrm>
          <a:prstGeom prst="roundRect">
            <a:avLst>
              <a:gd name="adj" fmla="val 8608"/>
            </a:avLst>
          </a:prstGeom>
          <a:solidFill>
            <a:srgbClr val="FFF7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4638987" y="5848272"/>
            <a:ext cx="361645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2400" smtClean="0">
                <a:solidFill>
                  <a:srgbClr val="0070C0"/>
                </a:solidFill>
                <a:latin typeface="+mn-ea"/>
              </a:rPr>
              <a:t>평범한 일상을 꿈꿀 수 없어 </a:t>
            </a:r>
            <a:r>
              <a:rPr lang="ko-KR" altLang="en-US" sz="2400">
                <a:solidFill>
                  <a:srgbClr val="0070C0"/>
                </a:solidFill>
                <a:latin typeface="+mn-ea"/>
              </a:rPr>
              <a:t>절망스러울 </a:t>
            </a:r>
            <a:r>
              <a:rPr lang="ko-KR" altLang="en-US" sz="2400" smtClean="0">
                <a:solidFill>
                  <a:srgbClr val="0070C0"/>
                </a:solidFill>
                <a:latin typeface="+mn-ea"/>
              </a:rPr>
              <a:t>것이다</a:t>
            </a:r>
            <a:r>
              <a:rPr lang="en-US" altLang="ko-KR" sz="2400" smtClean="0">
                <a:solidFill>
                  <a:srgbClr val="0070C0"/>
                </a:solidFill>
                <a:latin typeface="+mn-ea"/>
              </a:rPr>
              <a:t>.  </a:t>
            </a:r>
            <a:endParaRPr lang="ko-KR" altLang="en-US" sz="2400" dirty="0">
              <a:solidFill>
                <a:srgbClr val="0070C0"/>
              </a:solidFill>
              <a:latin typeface="+mn-ea"/>
            </a:endParaRPr>
          </a:p>
        </p:txBody>
      </p:sp>
      <p:cxnSp>
        <p:nvCxnSpPr>
          <p:cNvPr id="51" name="직선 연결선 50"/>
          <p:cNvCxnSpPr/>
          <p:nvPr/>
        </p:nvCxnSpPr>
        <p:spPr>
          <a:xfrm flipV="1">
            <a:off x="8006253" y="5419726"/>
            <a:ext cx="586357" cy="432624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그림 6"/>
          <p:cNvPicPr>
            <a:picLocks noChangeAspect="1"/>
          </p:cNvPicPr>
          <p:nvPr/>
        </p:nvPicPr>
        <p:blipFill>
          <a:blip r:embed="rId10" cstate="email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6369" b="89809" l="5263" r="89879">
                        <a14:foregroundMark x1="58907" y1="34076" x2="58907" y2="34076"/>
                        <a14:foregroundMark x1="48988" y1="14331" x2="48988" y2="14331"/>
                        <a14:foregroundMark x1="38866" y1="11146" x2="38866" y2="11146"/>
                        <a14:foregroundMark x1="34413" y1="13057" x2="34413" y2="13057"/>
                        <a14:foregroundMark x1="28947" y1="14968" x2="28947" y2="14968"/>
                        <a14:foregroundMark x1="25911" y1="20382" x2="25911" y2="20382"/>
                        <a14:foregroundMark x1="22267" y1="23248" x2="22267" y2="23248"/>
                        <a14:foregroundMark x1="21053" y1="28025" x2="21053" y2="28025"/>
                        <a14:foregroundMark x1="20648" y1="28344" x2="20648" y2="28344"/>
                        <a14:foregroundMark x1="19433" y1="35669" x2="19433" y2="35669"/>
                        <a14:foregroundMark x1="19433" y1="35669" x2="19433" y2="35669"/>
                        <a14:foregroundMark x1="44332" y1="12102" x2="44332" y2="12102"/>
                        <a14:foregroundMark x1="44332" y1="12102" x2="44332" y2="12102"/>
                        <a14:foregroundMark x1="41700" y1="10510" x2="41700" y2="10510"/>
                        <a14:foregroundMark x1="41700" y1="10510" x2="41700" y2="10510"/>
                        <a14:foregroundMark x1="53846" y1="21656" x2="53846" y2="21656"/>
                        <a14:foregroundMark x1="53846" y1="21656" x2="53846" y2="2165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65196" y="2937359"/>
            <a:ext cx="2407610" cy="1530343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1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592610" y="3645568"/>
            <a:ext cx="1237087" cy="537077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6647088" y="4010840"/>
            <a:ext cx="135916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dirty="0" smtClean="0">
                <a:latin typeface="+mn-ea"/>
              </a:rPr>
              <a:t>비행기를 </a:t>
            </a:r>
            <a:endParaRPr lang="en-US" altLang="ko-KR" sz="1600" dirty="0" smtClean="0">
              <a:latin typeface="+mn-ea"/>
            </a:endParaRPr>
          </a:p>
          <a:p>
            <a:pPr algn="ctr"/>
            <a:r>
              <a:rPr lang="ko-KR" altLang="en-US" sz="1600" dirty="0" smtClean="0">
                <a:latin typeface="+mn-ea"/>
              </a:rPr>
              <a:t>타고</a:t>
            </a:r>
            <a:endParaRPr lang="en-US" altLang="ko-KR" sz="1600" dirty="0" smtClean="0">
              <a:latin typeface="+mn-ea"/>
            </a:endParaRPr>
          </a:p>
          <a:p>
            <a:pPr algn="ctr"/>
            <a:r>
              <a:rPr lang="ko-KR" altLang="en-US" sz="1600" dirty="0" smtClean="0">
                <a:latin typeface="+mn-ea"/>
              </a:rPr>
              <a:t>올라가기</a:t>
            </a:r>
            <a:endParaRPr lang="ko-KR" altLang="en-US" sz="1600" dirty="0">
              <a:latin typeface="+mn-ea"/>
            </a:endParaRPr>
          </a:p>
        </p:txBody>
      </p:sp>
      <p:pic>
        <p:nvPicPr>
          <p:cNvPr id="11" name="그림 10"/>
          <p:cNvPicPr>
            <a:picLocks noChangeAspect="1"/>
          </p:cNvPicPr>
          <p:nvPr/>
        </p:nvPicPr>
        <p:blipFill>
          <a:blip r:embed="rId13" cstate="email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ackgroundRemoval t="10000" b="90000" l="10000" r="90000">
                        <a14:foregroundMark x1="23223" y1="21037" x2="23223" y2="21037"/>
                        <a14:foregroundMark x1="22749" y1="20122" x2="22749" y2="20122"/>
                        <a14:foregroundMark x1="22986" y1="20427" x2="22986" y2="20427"/>
                        <a14:foregroundMark x1="22986" y1="20427" x2="22986" y2="20427"/>
                        <a14:foregroundMark x1="22986" y1="20732" x2="22986" y2="20732"/>
                        <a14:foregroundMark x1="23460" y1="20122" x2="23460" y2="20122"/>
                        <a14:foregroundMark x1="23460" y1="20122" x2="23460" y2="2012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412878">
            <a:off x="6433619" y="2606324"/>
            <a:ext cx="1930415" cy="1500418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3328757" y="3763546"/>
            <a:ext cx="132817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dirty="0" smtClean="0">
                <a:latin typeface="+mn-ea"/>
              </a:rPr>
              <a:t>바람을 </a:t>
            </a:r>
            <a:endParaRPr lang="en-US" altLang="ko-KR" sz="1600" dirty="0" smtClean="0">
              <a:latin typeface="+mn-ea"/>
            </a:endParaRPr>
          </a:p>
          <a:p>
            <a:pPr algn="ctr"/>
            <a:r>
              <a:rPr lang="ko-KR" altLang="en-US" sz="1600" dirty="0" smtClean="0">
                <a:latin typeface="+mn-ea"/>
              </a:rPr>
              <a:t>타고</a:t>
            </a:r>
            <a:endParaRPr lang="en-US" altLang="ko-KR" sz="1600" dirty="0" smtClean="0">
              <a:latin typeface="+mn-ea"/>
            </a:endParaRPr>
          </a:p>
          <a:p>
            <a:pPr algn="ctr"/>
            <a:r>
              <a:rPr lang="ko-KR" altLang="en-US" sz="1600" dirty="0" smtClean="0">
                <a:latin typeface="+mn-ea"/>
              </a:rPr>
              <a:t>내려가기</a:t>
            </a:r>
            <a:endParaRPr lang="ko-KR" altLang="en-US" sz="1600" dirty="0">
              <a:latin typeface="+mn-ea"/>
            </a:endParaRPr>
          </a:p>
        </p:txBody>
      </p:sp>
      <p:pic>
        <p:nvPicPr>
          <p:cNvPr id="15" name="그림 14"/>
          <p:cNvPicPr>
            <a:picLocks noChangeAspect="1"/>
          </p:cNvPicPr>
          <p:nvPr/>
        </p:nvPicPr>
        <p:blipFill>
          <a:blip r:embed="rId15" cstate="email">
            <a:extLst>
              <a:ext uri="{BEBA8EAE-BF5A-486C-A8C5-ECC9F3942E4B}">
                <a14:imgProps xmlns:a14="http://schemas.microsoft.com/office/drawing/2010/main">
                  <a14:imgLayer r:embed="rId16">
                    <a14:imgEffect>
                      <a14:backgroundRemoval t="8034" b="75476" l="6581" r="90701">
                        <a14:foregroundMark x1="15594" y1="25793" x2="15594" y2="25793"/>
                        <a14:foregroundMark x1="15594" y1="25793" x2="15594" y2="25793"/>
                        <a14:foregroundMark x1="86409" y1="72093" x2="86409" y2="72093"/>
                        <a14:foregroundMark x1="86409" y1="72093" x2="86409" y2="7209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724123">
            <a:off x="3306192" y="4584554"/>
            <a:ext cx="1166280" cy="789200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1105220" y="3072121"/>
            <a:ext cx="2025560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dirty="0" smtClean="0">
                <a:latin typeface="+mn-ea"/>
              </a:rPr>
              <a:t>지구촌 문제와 </a:t>
            </a:r>
            <a:endParaRPr lang="en-US" altLang="ko-KR" sz="1600" dirty="0" smtClean="0">
              <a:latin typeface="+mn-ea"/>
            </a:endParaRPr>
          </a:p>
          <a:p>
            <a:pPr algn="ctr"/>
            <a:r>
              <a:rPr lang="ko-KR" altLang="en-US" sz="1600" dirty="0" smtClean="0">
                <a:latin typeface="+mn-ea"/>
              </a:rPr>
              <a:t>그 해결 방안을</a:t>
            </a:r>
            <a:r>
              <a:rPr lang="en-US" altLang="ko-KR" sz="1600" dirty="0">
                <a:latin typeface="+mn-ea"/>
              </a:rPr>
              <a:t> </a:t>
            </a:r>
            <a:endParaRPr lang="en-US" altLang="ko-KR" sz="1600" dirty="0" smtClean="0">
              <a:latin typeface="+mn-ea"/>
            </a:endParaRPr>
          </a:p>
          <a:p>
            <a:pPr algn="ctr"/>
            <a:r>
              <a:rPr lang="ko-KR" altLang="en-US" sz="1600" dirty="0" smtClean="0">
                <a:latin typeface="+mn-ea"/>
              </a:rPr>
              <a:t>탐구하는 </a:t>
            </a:r>
            <a:endParaRPr lang="en-US" altLang="ko-KR" sz="1600" dirty="0" smtClean="0">
              <a:latin typeface="+mn-ea"/>
            </a:endParaRPr>
          </a:p>
          <a:p>
            <a:pPr algn="ctr"/>
            <a:r>
              <a:rPr lang="ko-KR" altLang="en-US" sz="1600" dirty="0" smtClean="0">
                <a:latin typeface="+mn-ea"/>
              </a:rPr>
              <a:t>교내 자율 동아리를 개설하였다면</a:t>
            </a:r>
            <a:endParaRPr lang="en-US" altLang="ko-KR" sz="1600" dirty="0" smtClean="0">
              <a:latin typeface="+mn-ea"/>
            </a:endParaRPr>
          </a:p>
          <a:p>
            <a:pPr algn="ctr"/>
            <a:endParaRPr lang="en-US" altLang="ko-KR" sz="1600" dirty="0">
              <a:latin typeface="+mn-ea"/>
            </a:endParaRPr>
          </a:p>
          <a:p>
            <a:pPr algn="ctr"/>
            <a:r>
              <a:rPr lang="ko-KR" altLang="en-US" sz="2000" b="1" spc="-100" dirty="0" smtClean="0">
                <a:solidFill>
                  <a:schemeClr val="bg1"/>
                </a:solidFill>
                <a:latin typeface="+mn-ea"/>
              </a:rPr>
              <a:t>앞으로 </a:t>
            </a:r>
            <a:r>
              <a:rPr lang="en-US" altLang="ko-KR" sz="2000" b="1" spc="-100" dirty="0" smtClean="0">
                <a:solidFill>
                  <a:schemeClr val="bg1"/>
                </a:solidFill>
                <a:latin typeface="+mn-ea"/>
              </a:rPr>
              <a:t>2</a:t>
            </a:r>
            <a:r>
              <a:rPr lang="ko-KR" altLang="en-US" sz="2000" b="1" spc="-100" dirty="0" smtClean="0">
                <a:solidFill>
                  <a:schemeClr val="bg1"/>
                </a:solidFill>
                <a:latin typeface="+mn-ea"/>
              </a:rPr>
              <a:t>칸 가기</a:t>
            </a:r>
            <a:endParaRPr lang="ko-KR" altLang="en-US" sz="1600" b="1" spc="-100" dirty="0">
              <a:solidFill>
                <a:schemeClr val="bg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4077275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2"/>
                  </p:tgtEl>
                </p:cond>
              </p:nextCondLst>
            </p:seq>
            <p:seq concurrent="1" nextAc="seek">
              <p:cTn id="17" restart="whenNotActive" fill="hold" evtFilter="cancelBubble" nodeType="interactiveSeq">
                <p:stCondLst>
                  <p:cond evt="onClick" delay="0">
                    <p:tgtEl>
                      <p:spTgt spid="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1"/>
                  </p:tgtEl>
                </p:cond>
              </p:nextCondLst>
            </p:seq>
          </p:childTnLst>
        </p:cTn>
      </p:par>
    </p:tnLst>
    <p:bldLst>
      <p:bldP spid="53" grpId="0" animBg="1"/>
      <p:bldP spid="53" grpId="1" animBg="1"/>
      <p:bldP spid="30" grpId="0"/>
      <p:bldP spid="30" grpId="1"/>
      <p:bldP spid="54" grpId="0" animBg="1"/>
      <p:bldP spid="54" grpId="1" animBg="1"/>
      <p:bldP spid="50" grpId="0"/>
      <p:bldP spid="50" grpId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그룹 9"/>
          <p:cNvGrpSpPr/>
          <p:nvPr/>
        </p:nvGrpSpPr>
        <p:grpSpPr>
          <a:xfrm>
            <a:off x="657225" y="3039906"/>
            <a:ext cx="10482883" cy="3818094"/>
            <a:chOff x="657225" y="3039906"/>
            <a:chExt cx="10482883" cy="3818094"/>
          </a:xfrm>
        </p:grpSpPr>
        <p:pic>
          <p:nvPicPr>
            <p:cNvPr id="43" name="그림 42"/>
            <p:cNvPicPr>
              <a:picLocks noChangeAspect="1"/>
            </p:cNvPicPr>
            <p:nvPr/>
          </p:nvPicPr>
          <p:blipFill rotWithShape="1"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762000" y="3039906"/>
              <a:ext cx="10378108" cy="2495550"/>
            </a:xfrm>
            <a:prstGeom prst="rect">
              <a:avLst/>
            </a:prstGeom>
          </p:spPr>
        </p:pic>
        <p:sp>
          <p:nvSpPr>
            <p:cNvPr id="3" name="직사각형 2"/>
            <p:cNvSpPr/>
            <p:nvPr/>
          </p:nvSpPr>
          <p:spPr>
            <a:xfrm>
              <a:off x="6637469" y="3117566"/>
              <a:ext cx="551140" cy="1724945"/>
            </a:xfrm>
            <a:prstGeom prst="rect">
              <a:avLst/>
            </a:prstGeom>
            <a:solidFill>
              <a:srgbClr val="FDFAC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44" name="그림 43"/>
            <p:cNvPicPr>
              <a:picLocks noChangeAspect="1"/>
            </p:cNvPicPr>
            <p:nvPr/>
          </p:nvPicPr>
          <p:blipFill rotWithShape="1"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657225" y="5021310"/>
              <a:ext cx="3448050" cy="1836690"/>
            </a:xfrm>
            <a:prstGeom prst="rect">
              <a:avLst/>
            </a:prstGeom>
          </p:spPr>
        </p:pic>
        <p:sp>
          <p:nvSpPr>
            <p:cNvPr id="58" name="직사각형 57"/>
            <p:cNvSpPr/>
            <p:nvPr/>
          </p:nvSpPr>
          <p:spPr>
            <a:xfrm rot="165408">
              <a:off x="8671829" y="3145161"/>
              <a:ext cx="551140" cy="1742063"/>
            </a:xfrm>
            <a:prstGeom prst="rect">
              <a:avLst/>
            </a:prstGeom>
            <a:solidFill>
              <a:srgbClr val="FDFAC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9" name="직사각형 58"/>
            <p:cNvSpPr/>
            <p:nvPr/>
          </p:nvSpPr>
          <p:spPr>
            <a:xfrm>
              <a:off x="9020268" y="4708374"/>
              <a:ext cx="144090" cy="191096"/>
            </a:xfrm>
            <a:prstGeom prst="rect">
              <a:avLst/>
            </a:prstGeom>
            <a:solidFill>
              <a:srgbClr val="FDFAC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6" name="TextBox 25"/>
          <p:cNvSpPr txBox="1"/>
          <p:nvPr/>
        </p:nvSpPr>
        <p:spPr>
          <a:xfrm>
            <a:off x="787400" y="1613182"/>
            <a:ext cx="1023910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000" b="1" dirty="0" err="1" smtClean="0"/>
              <a:t>모둠별로</a:t>
            </a:r>
            <a:r>
              <a:rPr lang="ko-KR" altLang="en-US" sz="2000" b="1" dirty="0" smtClean="0"/>
              <a:t> 다음 </a:t>
            </a:r>
            <a:r>
              <a:rPr lang="en-US" altLang="ko-KR" sz="2000" b="1" dirty="0" smtClean="0"/>
              <a:t>&lt;</a:t>
            </a:r>
            <a:r>
              <a:rPr lang="ko-KR" altLang="en-US" sz="2000" b="1" dirty="0" smtClean="0"/>
              <a:t>활동 방법</a:t>
            </a:r>
            <a:r>
              <a:rPr lang="en-US" altLang="ko-KR" sz="2000" b="1" dirty="0" smtClean="0"/>
              <a:t>&gt;</a:t>
            </a:r>
            <a:r>
              <a:rPr lang="ko-KR" altLang="en-US" sz="2000" b="1" dirty="0" smtClean="0"/>
              <a:t>에 따라 지구촌 말판 놀이를 해 보고</a:t>
            </a:r>
            <a:r>
              <a:rPr lang="en-US" altLang="ko-KR" sz="2000" b="1" dirty="0" smtClean="0"/>
              <a:t>, </a:t>
            </a:r>
            <a:r>
              <a:rPr lang="ko-KR" altLang="en-US" sz="2000" b="1" dirty="0" smtClean="0"/>
              <a:t>인류의 고통에 공감하며 지구촌 문제를 해결하기 위한 방안을 생각해 보자</a:t>
            </a:r>
            <a:r>
              <a:rPr lang="en-US" altLang="ko-KR" sz="2000" b="1" dirty="0" smtClean="0"/>
              <a:t>.</a:t>
            </a:r>
            <a:endParaRPr lang="ko-KR" altLang="en-US" sz="2000" b="1" dirty="0"/>
          </a:p>
        </p:txBody>
      </p:sp>
      <p:sp>
        <p:nvSpPr>
          <p:cNvPr id="12" name="순서도: 수행의 시작/종료 11">
            <a:extLst>
              <a:ext uri="{FF2B5EF4-FFF2-40B4-BE49-F238E27FC236}">
                <a16:creationId xmlns:a16="http://schemas.microsoft.com/office/drawing/2014/main" xmlns="" id="{9DFB822A-B6F1-2298-D387-61BD7FE98B43}"/>
              </a:ext>
            </a:extLst>
          </p:cNvPr>
          <p:cNvSpPr/>
          <p:nvPr/>
        </p:nvSpPr>
        <p:spPr>
          <a:xfrm>
            <a:off x="1764504" y="582930"/>
            <a:ext cx="1775115" cy="585788"/>
          </a:xfrm>
          <a:prstGeom prst="flowChartTerminator">
            <a:avLst/>
          </a:prstGeom>
          <a:solidFill>
            <a:srgbClr val="FF9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3C67A572-5929-17A2-D60C-4C11D984771C}"/>
              </a:ext>
            </a:extLst>
          </p:cNvPr>
          <p:cNvSpPr txBox="1"/>
          <p:nvPr/>
        </p:nvSpPr>
        <p:spPr>
          <a:xfrm>
            <a:off x="979524" y="671335"/>
            <a:ext cx="23839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spc="-150" dirty="0">
                <a:solidFill>
                  <a:schemeClr val="bg1"/>
                </a:solidFill>
                <a:latin typeface="+mj-ea"/>
                <a:ea typeface="+mj-ea"/>
              </a:rPr>
              <a:t>더 깊이 </a:t>
            </a:r>
            <a:r>
              <a:rPr lang="ko-KR" altLang="en-US" sz="2400" b="1" spc="-150" dirty="0" smtClean="0">
                <a:solidFill>
                  <a:schemeClr val="bg1"/>
                </a:solidFill>
                <a:latin typeface="+mj-ea"/>
                <a:ea typeface="+mj-ea"/>
              </a:rPr>
              <a:t>실천하기</a:t>
            </a:r>
            <a:endParaRPr lang="ko-KR" altLang="en-US" sz="2400" b="1" spc="-15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E154A385-B13F-711E-8062-D58E9EE68096}"/>
              </a:ext>
            </a:extLst>
          </p:cNvPr>
          <p:cNvSpPr txBox="1"/>
          <p:nvPr/>
        </p:nvSpPr>
        <p:spPr>
          <a:xfrm>
            <a:off x="3563317" y="654715"/>
            <a:ext cx="71087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smtClean="0">
                <a:solidFill>
                  <a:srgbClr val="FF9300"/>
                </a:solidFill>
                <a:latin typeface="+mj-ea"/>
                <a:ea typeface="+mj-ea"/>
              </a:rPr>
              <a:t>지구촌 말판 놀이를 하며 인류의 고통에 공감하기</a:t>
            </a:r>
            <a:endParaRPr lang="ko-KR" altLang="en-US" sz="2400" b="1" dirty="0">
              <a:solidFill>
                <a:srgbClr val="FF9300"/>
              </a:solidFill>
              <a:latin typeface="+mj-ea"/>
              <a:ea typeface="+mj-ea"/>
            </a:endParaRPr>
          </a:p>
        </p:txBody>
      </p:sp>
      <p:pic>
        <p:nvPicPr>
          <p:cNvPr id="37" name="그래픽 13">
            <a:extLst>
              <a:ext uri="{FF2B5EF4-FFF2-40B4-BE49-F238E27FC236}">
                <a16:creationId xmlns:a16="http://schemas.microsoft.com/office/drawing/2014/main" xmlns="" id="{35DACDE9-C2C6-6DAB-E125-F5168FF9B962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xmlns="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xmlns="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세계시민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xmlns="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178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·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xmlns="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 smtClean="0">
                <a:latin typeface="+mj-ea"/>
                <a:ea typeface="+mj-ea"/>
              </a:rPr>
              <a:t>지구적 차원의 도덕 문제를 어떻게 해결할 수 있을까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pic>
        <p:nvPicPr>
          <p:cNvPr id="31" name="그림 30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xmlns="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41029" y="2196609"/>
            <a:ext cx="487174" cy="487174"/>
          </a:xfrm>
          <a:prstGeom prst="rect">
            <a:avLst/>
          </a:prstGeom>
        </p:spPr>
      </p:pic>
      <p:grpSp>
        <p:nvGrpSpPr>
          <p:cNvPr id="32" name="그룹 31">
            <a:extLst>
              <a:ext uri="{FF2B5EF4-FFF2-40B4-BE49-F238E27FC236}">
                <a16:creationId xmlns:a16="http://schemas.microsoft.com/office/drawing/2014/main" xmlns="" id="{BD8F7919-81BA-4F6C-659C-1ECE98A49C77}"/>
              </a:ext>
            </a:extLst>
          </p:cNvPr>
          <p:cNvGrpSpPr/>
          <p:nvPr/>
        </p:nvGrpSpPr>
        <p:grpSpPr>
          <a:xfrm>
            <a:off x="9423553" y="2196609"/>
            <a:ext cx="1087577" cy="495431"/>
            <a:chOff x="10075659" y="2003022"/>
            <a:chExt cx="1156006" cy="495431"/>
          </a:xfrm>
        </p:grpSpPr>
        <p:pic>
          <p:nvPicPr>
            <p:cNvPr id="33" name="그림 32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xmlns="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xmlns="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grpSp>
        <p:nvGrpSpPr>
          <p:cNvPr id="35" name="그룹 34">
            <a:extLst>
              <a:ext uri="{FF2B5EF4-FFF2-40B4-BE49-F238E27FC236}">
                <a16:creationId xmlns:a16="http://schemas.microsoft.com/office/drawing/2014/main" xmlns="" id="{BD8F7919-81BA-4F6C-659C-1ECE98A49C77}"/>
              </a:ext>
            </a:extLst>
          </p:cNvPr>
          <p:cNvGrpSpPr/>
          <p:nvPr/>
        </p:nvGrpSpPr>
        <p:grpSpPr>
          <a:xfrm>
            <a:off x="8111266" y="2196609"/>
            <a:ext cx="1282388" cy="495431"/>
            <a:chOff x="10075659" y="2003022"/>
            <a:chExt cx="1178665" cy="495431"/>
          </a:xfrm>
        </p:grpSpPr>
        <p:pic>
          <p:nvPicPr>
            <p:cNvPr id="36" name="그림 35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xmlns="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48" name="TextBox 47">
              <a:hlinkClick r:id="rId10" action="ppaction://hlinksldjump"/>
              <a:extLst>
                <a:ext uri="{FF2B5EF4-FFF2-40B4-BE49-F238E27FC236}">
                  <a16:creationId xmlns:a16="http://schemas.microsoft.com/office/drawing/2014/main" xmlns="" id="{492508EF-5B45-FCB1-63DF-BCFA304E8F7C}"/>
                </a:ext>
              </a:extLst>
            </p:cNvPr>
            <p:cNvSpPr txBox="1"/>
            <p:nvPr/>
          </p:nvSpPr>
          <p:spPr>
            <a:xfrm>
              <a:off x="10075659" y="2052992"/>
              <a:ext cx="117866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b="1" spc="-150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활동 방법</a:t>
              </a:r>
              <a:endParaRPr lang="ko-KR" altLang="en-US" b="1" spc="-150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23" name="TextBox 22"/>
          <p:cNvSpPr txBox="1"/>
          <p:nvPr/>
        </p:nvSpPr>
        <p:spPr>
          <a:xfrm>
            <a:off x="1005047" y="5093269"/>
            <a:ext cx="2752405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dirty="0" smtClean="0">
                <a:latin typeface="+mn-ea"/>
              </a:rPr>
              <a:t>세계 빈곤 퇴치의 날</a:t>
            </a:r>
            <a:endParaRPr lang="en-US" altLang="ko-KR" sz="2000" dirty="0" smtClean="0">
              <a:latin typeface="+mn-ea"/>
            </a:endParaRPr>
          </a:p>
          <a:p>
            <a:pPr algn="ctr"/>
            <a:r>
              <a:rPr lang="en-US" altLang="ko-KR" sz="2000" dirty="0" smtClean="0">
                <a:latin typeface="+mn-ea"/>
              </a:rPr>
              <a:t>(10</a:t>
            </a:r>
            <a:r>
              <a:rPr lang="ko-KR" altLang="en-US" sz="2000" dirty="0" smtClean="0">
                <a:latin typeface="+mn-ea"/>
              </a:rPr>
              <a:t>월 </a:t>
            </a:r>
            <a:r>
              <a:rPr lang="en-US" altLang="ko-KR" sz="2000" dirty="0" smtClean="0">
                <a:latin typeface="+mn-ea"/>
              </a:rPr>
              <a:t>17</a:t>
            </a:r>
            <a:r>
              <a:rPr lang="ko-KR" altLang="en-US" sz="2000" dirty="0" smtClean="0">
                <a:latin typeface="+mn-ea"/>
              </a:rPr>
              <a:t>일</a:t>
            </a:r>
            <a:r>
              <a:rPr lang="en-US" altLang="ko-KR" sz="2000" dirty="0" smtClean="0">
                <a:latin typeface="+mn-ea"/>
              </a:rPr>
              <a:t>)</a:t>
            </a:r>
          </a:p>
          <a:p>
            <a:pPr algn="ctr"/>
            <a:endParaRPr lang="en-US" altLang="ko-KR" sz="1600" dirty="0" smtClean="0">
              <a:latin typeface="+mn-ea"/>
            </a:endParaRPr>
          </a:p>
          <a:p>
            <a:pPr algn="ctr"/>
            <a:r>
              <a:rPr lang="ko-KR" altLang="en-US" sz="1600" dirty="0" smtClean="0">
                <a:latin typeface="+mn-ea"/>
              </a:rPr>
              <a:t>세계 빈곤 문제를 해결하기</a:t>
            </a:r>
            <a:endParaRPr lang="en-US" altLang="ko-KR" sz="1600" dirty="0" smtClean="0">
              <a:latin typeface="+mn-ea"/>
            </a:endParaRPr>
          </a:p>
          <a:p>
            <a:pPr algn="ctr"/>
            <a:r>
              <a:rPr lang="ko-KR" altLang="en-US" sz="1600" dirty="0" smtClean="0">
                <a:latin typeface="+mn-ea"/>
              </a:rPr>
              <a:t>위해 내가 할 수 있는 일을</a:t>
            </a:r>
            <a:endParaRPr lang="en-US" altLang="ko-KR" sz="1600" dirty="0" smtClean="0">
              <a:latin typeface="+mn-ea"/>
            </a:endParaRPr>
          </a:p>
          <a:p>
            <a:pPr algn="ctr"/>
            <a:r>
              <a:rPr lang="ko-KR" altLang="en-US" sz="1600" dirty="0" smtClean="0">
                <a:latin typeface="+mn-ea"/>
              </a:rPr>
              <a:t>말해 보자</a:t>
            </a:r>
            <a:r>
              <a:rPr lang="en-US" altLang="ko-KR" sz="1600" dirty="0" smtClean="0">
                <a:latin typeface="+mn-ea"/>
              </a:rPr>
              <a:t>.</a:t>
            </a:r>
            <a:endParaRPr lang="ko-KR" altLang="en-US" sz="1600" dirty="0">
              <a:latin typeface="+mn-ea"/>
            </a:endParaRPr>
          </a:p>
        </p:txBody>
      </p:sp>
      <p:cxnSp>
        <p:nvCxnSpPr>
          <p:cNvPr id="9" name="직선 연결선 8"/>
          <p:cNvCxnSpPr/>
          <p:nvPr/>
        </p:nvCxnSpPr>
        <p:spPr>
          <a:xfrm flipH="1" flipV="1">
            <a:off x="3431670" y="5620678"/>
            <a:ext cx="499693" cy="2798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사각형: 둥근 모서리 29">
            <a:extLst>
              <a:ext uri="{FF2B5EF4-FFF2-40B4-BE49-F238E27FC236}">
                <a16:creationId xmlns:a16="http://schemas.microsoft.com/office/drawing/2014/main" xmlns="" id="{C631BC03-B762-9123-7FD1-0A60290B94EB}"/>
              </a:ext>
            </a:extLst>
          </p:cNvPr>
          <p:cNvSpPr/>
          <p:nvPr/>
        </p:nvSpPr>
        <p:spPr>
          <a:xfrm>
            <a:off x="3865154" y="5192293"/>
            <a:ext cx="2988319" cy="1172861"/>
          </a:xfrm>
          <a:prstGeom prst="roundRect">
            <a:avLst>
              <a:gd name="adj" fmla="val 8608"/>
            </a:avLst>
          </a:prstGeom>
          <a:solidFill>
            <a:srgbClr val="FFF7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3865154" y="5235275"/>
            <a:ext cx="291589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국제 </a:t>
            </a:r>
            <a:r>
              <a:rPr lang="ko-KR" altLang="en-US" sz="2400">
                <a:solidFill>
                  <a:srgbClr val="0070C0"/>
                </a:solidFill>
                <a:latin typeface="+mn-ea"/>
              </a:rPr>
              <a:t>뉴스를 </a:t>
            </a:r>
            <a:r>
              <a:rPr lang="ko-KR" altLang="en-US" sz="2400" smtClean="0">
                <a:solidFill>
                  <a:srgbClr val="0070C0"/>
                </a:solidFill>
                <a:latin typeface="+mn-ea"/>
              </a:rPr>
              <a:t>찾아보며 빈곤 문제에 관심을 기울인다</a:t>
            </a:r>
            <a:r>
              <a:rPr lang="en-US" altLang="ko-KR" sz="2400" smtClean="0">
                <a:solidFill>
                  <a:srgbClr val="0070C0"/>
                </a:solidFill>
                <a:latin typeface="+mn-ea"/>
              </a:rPr>
              <a:t>. </a:t>
            </a:r>
            <a:endParaRPr lang="ko-KR" altLang="en-US" sz="2400" dirty="0">
              <a:solidFill>
                <a:srgbClr val="0070C0"/>
              </a:solidFill>
              <a:latin typeface="+mn-ea"/>
            </a:endParaRPr>
          </a:p>
        </p:txBody>
      </p:sp>
      <p:sp>
        <p:nvSpPr>
          <p:cNvPr id="54" name="사각형: 둥근 모서리 29">
            <a:extLst>
              <a:ext uri="{FF2B5EF4-FFF2-40B4-BE49-F238E27FC236}">
                <a16:creationId xmlns:a16="http://schemas.microsoft.com/office/drawing/2014/main" xmlns="" id="{C631BC03-B762-9123-7FD1-0A60290B94EB}"/>
              </a:ext>
            </a:extLst>
          </p:cNvPr>
          <p:cNvSpPr/>
          <p:nvPr/>
        </p:nvSpPr>
        <p:spPr>
          <a:xfrm>
            <a:off x="7078921" y="5205486"/>
            <a:ext cx="3982171" cy="1283031"/>
          </a:xfrm>
          <a:prstGeom prst="roundRect">
            <a:avLst>
              <a:gd name="adj" fmla="val 8608"/>
            </a:avLst>
          </a:prstGeom>
          <a:solidFill>
            <a:srgbClr val="FFF7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cxnSp>
        <p:nvCxnSpPr>
          <p:cNvPr id="51" name="직선 연결선 50"/>
          <p:cNvCxnSpPr/>
          <p:nvPr/>
        </p:nvCxnSpPr>
        <p:spPr>
          <a:xfrm flipV="1">
            <a:off x="9092313" y="4775479"/>
            <a:ext cx="0" cy="425615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그림 1"/>
          <p:cNvPicPr>
            <a:picLocks noChangeAspect="1"/>
          </p:cNvPicPr>
          <p:nvPr/>
        </p:nvPicPr>
        <p:blipFill>
          <a:blip r:embed="rId11" cstate="email">
            <a:clrChange>
              <a:clrFrom>
                <a:srgbClr val="7CD3F6"/>
              </a:clrFrom>
              <a:clrTo>
                <a:srgbClr val="7CD3F6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402404" y="3644786"/>
            <a:ext cx="982264" cy="706002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2263622" y="3430560"/>
            <a:ext cx="219977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600" dirty="0" smtClean="0">
                <a:latin typeface="+mn-ea"/>
              </a:rPr>
              <a:t>다음 차례에 주사위를 굴려서 홀수가</a:t>
            </a:r>
            <a:r>
              <a:rPr lang="en-US" altLang="ko-KR" sz="1600" dirty="0" smtClean="0">
                <a:latin typeface="+mn-ea"/>
              </a:rPr>
              <a:t> </a:t>
            </a:r>
          </a:p>
          <a:p>
            <a:pPr algn="r"/>
            <a:r>
              <a:rPr lang="ko-KR" altLang="en-US" sz="1600" dirty="0" smtClean="0">
                <a:latin typeface="+mn-ea"/>
              </a:rPr>
              <a:t>나오면 바로 </a:t>
            </a:r>
            <a:endParaRPr lang="en-US" altLang="ko-KR" sz="1600" dirty="0" smtClean="0">
              <a:latin typeface="+mn-ea"/>
            </a:endParaRPr>
          </a:p>
          <a:p>
            <a:pPr algn="r"/>
            <a:r>
              <a:rPr lang="ko-KR" altLang="en-US" sz="1600" dirty="0" smtClean="0">
                <a:latin typeface="+mn-ea"/>
              </a:rPr>
              <a:t>탈출할 수</a:t>
            </a:r>
            <a:endParaRPr lang="en-US" altLang="ko-KR" sz="1600" dirty="0" smtClean="0">
              <a:latin typeface="+mn-ea"/>
            </a:endParaRPr>
          </a:p>
          <a:p>
            <a:pPr algn="r"/>
            <a:r>
              <a:rPr lang="ko-KR" altLang="en-US" sz="1600" dirty="0" smtClean="0">
                <a:latin typeface="+mn-ea"/>
              </a:rPr>
              <a:t>있다</a:t>
            </a:r>
            <a:r>
              <a:rPr lang="en-US" altLang="ko-KR" sz="1600" dirty="0" smtClean="0">
                <a:latin typeface="+mn-ea"/>
              </a:rPr>
              <a:t>.</a:t>
            </a:r>
            <a:endParaRPr lang="ko-KR" altLang="en-US" sz="2000" dirty="0">
              <a:latin typeface="+mn-ea"/>
            </a:endParaRPr>
          </a:p>
        </p:txBody>
      </p:sp>
      <p:pic>
        <p:nvPicPr>
          <p:cNvPr id="52" name="그림 51"/>
          <p:cNvPicPr>
            <a:picLocks noChangeAspect="1"/>
          </p:cNvPicPr>
          <p:nvPr/>
        </p:nvPicPr>
        <p:blipFill>
          <a:blip r:embed="rId12" cstate="email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152876" y="2334830"/>
            <a:ext cx="1643263" cy="1231515"/>
          </a:xfrm>
          <a:prstGeom prst="rect">
            <a:avLst/>
          </a:prstGeom>
        </p:spPr>
      </p:pic>
      <p:pic>
        <p:nvPicPr>
          <p:cNvPr id="56" name="그림 55"/>
          <p:cNvPicPr>
            <a:picLocks noChangeAspect="1"/>
          </p:cNvPicPr>
          <p:nvPr/>
        </p:nvPicPr>
        <p:blipFill rotWithShape="1">
          <a:blip r:embed="rId1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626377" y="3119578"/>
            <a:ext cx="650081" cy="311429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4368646" y="3345338"/>
            <a:ext cx="183125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spc="-130" dirty="0" smtClean="0">
                <a:latin typeface="+mn-ea"/>
              </a:rPr>
              <a:t>’</a:t>
            </a:r>
            <a:r>
              <a:rPr lang="ko-KR" altLang="en-US" sz="1600" spc="-130" dirty="0" smtClean="0">
                <a:latin typeface="+mn-ea"/>
              </a:rPr>
              <a:t>내가 생각하는</a:t>
            </a:r>
            <a:endParaRPr lang="en-US" altLang="ko-KR" sz="1600" spc="-130" dirty="0" smtClean="0">
              <a:latin typeface="+mn-ea"/>
            </a:endParaRPr>
          </a:p>
          <a:p>
            <a:pPr algn="ctr"/>
            <a:r>
              <a:rPr lang="ko-KR" altLang="en-US" sz="1600" spc="-130" dirty="0" err="1" smtClean="0">
                <a:latin typeface="+mn-ea"/>
              </a:rPr>
              <a:t>세계시민은</a:t>
            </a:r>
            <a:r>
              <a:rPr lang="ko-KR" altLang="en-US" sz="1600" spc="-130" dirty="0" smtClean="0">
                <a:latin typeface="+mn-ea"/>
              </a:rPr>
              <a:t> </a:t>
            </a:r>
            <a:r>
              <a:rPr lang="en-US" altLang="ko-KR" sz="1600" spc="-130" dirty="0" smtClean="0">
                <a:latin typeface="+mn-ea"/>
              </a:rPr>
              <a:t>____</a:t>
            </a:r>
            <a:r>
              <a:rPr lang="ko-KR" altLang="en-US" sz="1600" spc="-130" dirty="0" smtClean="0">
                <a:latin typeface="+mn-ea"/>
              </a:rPr>
              <a:t>이다</a:t>
            </a:r>
            <a:r>
              <a:rPr lang="en-US" altLang="ko-KR" sz="1600" spc="-130" dirty="0" smtClean="0">
                <a:latin typeface="+mn-ea"/>
              </a:rPr>
              <a:t>. </a:t>
            </a:r>
          </a:p>
          <a:p>
            <a:pPr algn="ctr"/>
            <a:r>
              <a:rPr lang="ko-KR" altLang="en-US" sz="1600" spc="-130" dirty="0" smtClean="0">
                <a:latin typeface="+mn-ea"/>
              </a:rPr>
              <a:t>왜냐하면 </a:t>
            </a:r>
            <a:r>
              <a:rPr lang="en-US" altLang="ko-KR" sz="1600" spc="-130" dirty="0" smtClean="0">
                <a:latin typeface="+mn-ea"/>
              </a:rPr>
              <a:t>______</a:t>
            </a:r>
            <a:r>
              <a:rPr lang="ko-KR" altLang="en-US" sz="1600" spc="-130" dirty="0" smtClean="0">
                <a:latin typeface="+mn-ea"/>
              </a:rPr>
              <a:t>하기 </a:t>
            </a:r>
            <a:endParaRPr lang="en-US" altLang="ko-KR" sz="1600" spc="-130" dirty="0" smtClean="0">
              <a:latin typeface="+mn-ea"/>
            </a:endParaRPr>
          </a:p>
          <a:p>
            <a:pPr algn="ctr"/>
            <a:r>
              <a:rPr lang="ko-KR" altLang="en-US" sz="1600" spc="-130" dirty="0" smtClean="0">
                <a:latin typeface="+mn-ea"/>
              </a:rPr>
              <a:t>때문이다</a:t>
            </a:r>
            <a:r>
              <a:rPr lang="en-US" altLang="ko-KR" sz="1600" spc="-130" dirty="0" smtClean="0">
                <a:latin typeface="+mn-ea"/>
              </a:rPr>
              <a:t>.’ </a:t>
            </a:r>
            <a:r>
              <a:rPr lang="ko-KR" altLang="en-US" sz="1600" spc="-130" dirty="0" smtClean="0">
                <a:latin typeface="+mn-ea"/>
              </a:rPr>
              <a:t>라는 </a:t>
            </a:r>
            <a:endParaRPr lang="en-US" altLang="ko-KR" sz="1600" spc="-130" dirty="0" smtClean="0">
              <a:latin typeface="+mn-ea"/>
            </a:endParaRPr>
          </a:p>
          <a:p>
            <a:pPr algn="ctr"/>
            <a:r>
              <a:rPr lang="ko-KR" altLang="en-US" sz="1600" spc="-130" dirty="0" smtClean="0">
                <a:latin typeface="+mn-ea"/>
              </a:rPr>
              <a:t>문장 완성하기</a:t>
            </a:r>
            <a:endParaRPr lang="ko-KR" altLang="en-US" sz="2000" spc="-130" dirty="0">
              <a:latin typeface="+mn-ea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641486" y="3147738"/>
            <a:ext cx="2600880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dirty="0" smtClean="0">
                <a:latin typeface="+mn-ea"/>
              </a:rPr>
              <a:t>세계 인간 연대의 날</a:t>
            </a:r>
            <a:endParaRPr lang="en-US" altLang="ko-KR" sz="2000" dirty="0" smtClean="0">
              <a:latin typeface="+mn-ea"/>
            </a:endParaRPr>
          </a:p>
          <a:p>
            <a:pPr algn="ctr"/>
            <a:r>
              <a:rPr lang="en-US" altLang="ko-KR" sz="2000" dirty="0" smtClean="0">
                <a:latin typeface="+mn-ea"/>
              </a:rPr>
              <a:t>(12</a:t>
            </a:r>
            <a:r>
              <a:rPr lang="ko-KR" altLang="en-US" sz="2000" dirty="0" smtClean="0">
                <a:latin typeface="+mn-ea"/>
              </a:rPr>
              <a:t>월 </a:t>
            </a:r>
            <a:r>
              <a:rPr lang="en-US" altLang="ko-KR" sz="2000" dirty="0" smtClean="0">
                <a:latin typeface="+mn-ea"/>
              </a:rPr>
              <a:t>20</a:t>
            </a:r>
            <a:r>
              <a:rPr lang="ko-KR" altLang="en-US" sz="2000" dirty="0" smtClean="0">
                <a:latin typeface="+mn-ea"/>
              </a:rPr>
              <a:t>일</a:t>
            </a:r>
            <a:r>
              <a:rPr lang="en-US" altLang="ko-KR" sz="2000" dirty="0" smtClean="0">
                <a:latin typeface="+mn-ea"/>
              </a:rPr>
              <a:t>)</a:t>
            </a:r>
          </a:p>
          <a:p>
            <a:pPr algn="ctr"/>
            <a:endParaRPr lang="en-US" altLang="ko-KR" sz="1600" dirty="0" smtClean="0">
              <a:latin typeface="+mn-ea"/>
            </a:endParaRPr>
          </a:p>
          <a:p>
            <a:pPr algn="ctr"/>
            <a:r>
              <a:rPr lang="ko-KR" altLang="en-US" sz="1600" dirty="0" smtClean="0">
                <a:latin typeface="+mn-ea"/>
              </a:rPr>
              <a:t>세계시민으로서 </a:t>
            </a:r>
            <a:endParaRPr lang="en-US" altLang="ko-KR" sz="1600" dirty="0" smtClean="0">
              <a:latin typeface="+mn-ea"/>
            </a:endParaRPr>
          </a:p>
          <a:p>
            <a:pPr algn="ctr"/>
            <a:r>
              <a:rPr lang="ko-KR" altLang="en-US" sz="1600" dirty="0" smtClean="0">
                <a:latin typeface="+mn-ea"/>
              </a:rPr>
              <a:t>연대 의식을 지니는 것이</a:t>
            </a:r>
            <a:endParaRPr lang="en-US" altLang="ko-KR" sz="1600" dirty="0" smtClean="0">
              <a:latin typeface="+mn-ea"/>
            </a:endParaRPr>
          </a:p>
          <a:p>
            <a:pPr algn="ctr"/>
            <a:r>
              <a:rPr lang="ko-KR" altLang="en-US" sz="1600" dirty="0" smtClean="0">
                <a:latin typeface="+mn-ea"/>
              </a:rPr>
              <a:t>중요한 까닭을 말해 보자</a:t>
            </a:r>
            <a:r>
              <a:rPr lang="en-US" altLang="ko-KR" sz="1600" spc="-110" dirty="0" smtClean="0">
                <a:latin typeface="+mn-ea"/>
              </a:rPr>
              <a:t>.</a:t>
            </a:r>
            <a:endParaRPr lang="ko-KR" altLang="en-US" sz="1600" spc="-110" dirty="0">
              <a:latin typeface="+mn-ea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7006494" y="5235274"/>
            <a:ext cx="405459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2400" dirty="0" smtClean="0">
                <a:solidFill>
                  <a:srgbClr val="0070C0"/>
                </a:solidFill>
                <a:latin typeface="+mn-ea"/>
              </a:rPr>
              <a:t>지구촌 </a:t>
            </a: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구성원들은 서로 영향을 </a:t>
            </a:r>
            <a:r>
              <a:rPr lang="ko-KR" altLang="en-US" sz="2400" dirty="0" smtClean="0">
                <a:solidFill>
                  <a:srgbClr val="0070C0"/>
                </a:solidFill>
                <a:latin typeface="+mn-ea"/>
              </a:rPr>
              <a:t>주고받으며 </a:t>
            </a: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살아가므로 </a:t>
            </a:r>
            <a:r>
              <a:rPr lang="ko-KR" altLang="en-US" sz="2400" dirty="0" smtClean="0">
                <a:solidFill>
                  <a:srgbClr val="0070C0"/>
                </a:solidFill>
                <a:latin typeface="+mn-ea"/>
              </a:rPr>
              <a:t>연대 </a:t>
            </a:r>
            <a:r>
              <a:rPr lang="ko-KR" altLang="en-US" sz="2400">
                <a:solidFill>
                  <a:srgbClr val="0070C0"/>
                </a:solidFill>
                <a:latin typeface="+mn-ea"/>
              </a:rPr>
              <a:t>의식이 </a:t>
            </a:r>
            <a:r>
              <a:rPr lang="ko-KR" altLang="en-US" sz="2400" smtClean="0">
                <a:solidFill>
                  <a:srgbClr val="0070C0"/>
                </a:solidFill>
                <a:latin typeface="+mn-ea"/>
              </a:rPr>
              <a:t>중요해졌다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. </a:t>
            </a:r>
            <a:endParaRPr lang="ko-KR" altLang="en-US" sz="2400" dirty="0">
              <a:solidFill>
                <a:srgbClr val="0070C0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7661770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9" restart="whenNotActive" fill="hold" evtFilter="cancelBubble" nodeType="interactiveSeq">
                <p:stCondLst>
                  <p:cond evt="onClick" delay="0">
                    <p:tgtEl>
                      <p:spTgt spid="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2"/>
                  </p:tgtEl>
                </p:cond>
              </p:nextCondLst>
            </p:seq>
            <p:seq concurrent="1" nextAc="seek">
              <p:cTn id="22" restart="whenNotActive" fill="hold" evtFilter="cancelBubble" nodeType="interactiveSeq">
                <p:stCondLst>
                  <p:cond evt="onClick" delay="0">
                    <p:tgtEl>
                      <p:spTgt spid="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1"/>
                  </p:tgtEl>
                </p:cond>
              </p:nextCondLst>
            </p:seq>
          </p:childTnLst>
        </p:cTn>
      </p:par>
    </p:tnLst>
    <p:bldLst>
      <p:bldP spid="53" grpId="0" animBg="1"/>
      <p:bldP spid="53" grpId="1" animBg="1"/>
      <p:bldP spid="30" grpId="0"/>
      <p:bldP spid="30" grpId="1"/>
      <p:bldP spid="54" grpId="0" animBg="1"/>
      <p:bldP spid="54" grpId="1" animBg="1"/>
      <p:bldP spid="49" grpId="0"/>
      <p:bldP spid="49" grpId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사각형: 둥근 모서리 29">
            <a:extLst>
              <a:ext uri="{FF2B5EF4-FFF2-40B4-BE49-F238E27FC236}">
                <a16:creationId xmlns:a16="http://schemas.microsoft.com/office/drawing/2014/main" xmlns="" id="{C631BC03-B762-9123-7FD1-0A60290B94EB}"/>
              </a:ext>
            </a:extLst>
          </p:cNvPr>
          <p:cNvSpPr/>
          <p:nvPr/>
        </p:nvSpPr>
        <p:spPr>
          <a:xfrm>
            <a:off x="782429" y="2528047"/>
            <a:ext cx="8522936" cy="3399417"/>
          </a:xfrm>
          <a:prstGeom prst="roundRect">
            <a:avLst>
              <a:gd name="adj" fmla="val 8608"/>
            </a:avLst>
          </a:prstGeom>
          <a:solidFill>
            <a:schemeClr val="accent6">
              <a:lumMod val="20000"/>
              <a:lumOff val="80000"/>
            </a:schemeClr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14" name="순서도: 수행의 시작/종료 13">
            <a:extLst>
              <a:ext uri="{FF2B5EF4-FFF2-40B4-BE49-F238E27FC236}">
                <a16:creationId xmlns:a16="http://schemas.microsoft.com/office/drawing/2014/main" xmlns="" id="{0C9572D1-DE61-A840-0F97-7BDF6B8F4F4A}"/>
              </a:ext>
            </a:extLst>
          </p:cNvPr>
          <p:cNvSpPr/>
          <p:nvPr/>
        </p:nvSpPr>
        <p:spPr>
          <a:xfrm>
            <a:off x="1764504" y="582930"/>
            <a:ext cx="1775115" cy="585788"/>
          </a:xfrm>
          <a:prstGeom prst="flowChartTerminator">
            <a:avLst/>
          </a:prstGeom>
          <a:solidFill>
            <a:srgbClr val="04CB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E06FC953-457F-63EC-153E-F835BABE4C1D}"/>
              </a:ext>
            </a:extLst>
          </p:cNvPr>
          <p:cNvSpPr txBox="1"/>
          <p:nvPr/>
        </p:nvSpPr>
        <p:spPr>
          <a:xfrm>
            <a:off x="1040188" y="671335"/>
            <a:ext cx="24481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스스로 성찰하기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7400" y="1613182"/>
            <a:ext cx="1059187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2200" b="1" dirty="0" smtClean="0">
                <a:solidFill>
                  <a:srgbClr val="00B050"/>
                </a:solidFill>
                <a:latin typeface="+mn-ea"/>
              </a:rPr>
              <a:t>세계시민으로서 지구적 차원의 도덕 문제를 해결하기 위해 내가 할 수 있는 일을 떠올리며 나의 다짐을 써 보자</a:t>
            </a:r>
            <a:r>
              <a:rPr lang="en-US" altLang="ko-KR" sz="2200" b="1" dirty="0" smtClean="0">
                <a:solidFill>
                  <a:srgbClr val="00B050"/>
                </a:solidFill>
                <a:latin typeface="+mn-ea"/>
              </a:rPr>
              <a:t>.</a:t>
            </a:r>
            <a:endParaRPr lang="ko-KR" altLang="en-US" sz="2200" b="1" dirty="0">
              <a:solidFill>
                <a:srgbClr val="00B050"/>
              </a:solidFill>
              <a:latin typeface="+mn-ea"/>
            </a:endParaRPr>
          </a:p>
        </p:txBody>
      </p:sp>
      <p:pic>
        <p:nvPicPr>
          <p:cNvPr id="45" name="그림 44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xmlns="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52933" y="2553035"/>
            <a:ext cx="487174" cy="487174"/>
          </a:xfrm>
          <a:prstGeom prst="rect">
            <a:avLst/>
          </a:prstGeom>
        </p:spPr>
      </p:pic>
      <p:grpSp>
        <p:nvGrpSpPr>
          <p:cNvPr id="46" name="그룹 45">
            <a:extLst>
              <a:ext uri="{FF2B5EF4-FFF2-40B4-BE49-F238E27FC236}">
                <a16:creationId xmlns:a16="http://schemas.microsoft.com/office/drawing/2014/main" xmlns="" id="{BD8F7919-81BA-4F6C-659C-1ECE98A49C77}"/>
              </a:ext>
            </a:extLst>
          </p:cNvPr>
          <p:cNvGrpSpPr/>
          <p:nvPr/>
        </p:nvGrpSpPr>
        <p:grpSpPr>
          <a:xfrm>
            <a:off x="9535457" y="2553035"/>
            <a:ext cx="1087577" cy="495431"/>
            <a:chOff x="10075659" y="2003022"/>
            <a:chExt cx="1156006" cy="495431"/>
          </a:xfrm>
        </p:grpSpPr>
        <p:pic>
          <p:nvPicPr>
            <p:cNvPr id="47" name="그림 46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xmlns="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xmlns="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50" name="TextBox 49"/>
          <p:cNvSpPr txBox="1"/>
          <p:nvPr/>
        </p:nvSpPr>
        <p:spPr>
          <a:xfrm>
            <a:off x="935915" y="3169302"/>
            <a:ext cx="8165055" cy="1129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400" dirty="0">
                <a:solidFill>
                  <a:srgbClr val="0070C0"/>
                </a:solidFill>
              </a:rPr>
              <a:t>세계시민으로서 환경 파괴 문제를 해결하기 위해 플라스틱으로 만든 물건을 사용하지 않으려고 노력해야겠다</a:t>
            </a:r>
            <a:r>
              <a:rPr lang="en-US" altLang="ko-KR" sz="2400" dirty="0">
                <a:solidFill>
                  <a:srgbClr val="0070C0"/>
                </a:solidFill>
              </a:rPr>
              <a:t>.</a:t>
            </a:r>
            <a:endParaRPr lang="ko-KR" altLang="en-US" sz="2400" dirty="0">
              <a:solidFill>
                <a:srgbClr val="0070C0"/>
              </a:solidFill>
            </a:endParaRPr>
          </a:p>
        </p:txBody>
      </p:sp>
      <p:grpSp>
        <p:nvGrpSpPr>
          <p:cNvPr id="3" name="그룹 2"/>
          <p:cNvGrpSpPr/>
          <p:nvPr/>
        </p:nvGrpSpPr>
        <p:grpSpPr>
          <a:xfrm>
            <a:off x="936087" y="2619813"/>
            <a:ext cx="1328154" cy="458932"/>
            <a:chOff x="877165" y="3739778"/>
            <a:chExt cx="1328154" cy="458932"/>
          </a:xfrm>
        </p:grpSpPr>
        <p:sp>
          <p:nvSpPr>
            <p:cNvPr id="2" name="모서리가 둥근 직사각형 1"/>
            <p:cNvSpPr/>
            <p:nvPr/>
          </p:nvSpPr>
          <p:spPr>
            <a:xfrm>
              <a:off x="877165" y="4040219"/>
              <a:ext cx="1328154" cy="1584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948928" y="3739778"/>
              <a:ext cx="1224117" cy="4431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ko-KR" altLang="en-US" b="1" dirty="0" smtClean="0">
                  <a:solidFill>
                    <a:schemeClr val="accent6">
                      <a:lumMod val="50000"/>
                    </a:schemeClr>
                  </a:solidFill>
                  <a:latin typeface="돋움" panose="020B0600000101010101" pitchFamily="50" charset="-127"/>
                  <a:ea typeface="돋움" panose="020B0600000101010101" pitchFamily="50" charset="-127"/>
                </a:rPr>
                <a:t>나의 다짐</a:t>
              </a:r>
              <a:endParaRPr lang="ko-KR" altLang="en-US" b="1" dirty="0">
                <a:solidFill>
                  <a:schemeClr val="accent6">
                    <a:lumMod val="50000"/>
                  </a:schemeClr>
                </a:solidFill>
                <a:latin typeface="돋움" panose="020B0600000101010101" pitchFamily="50" charset="-127"/>
                <a:ea typeface="돋움" panose="020B0600000101010101" pitchFamily="50" charset="-127"/>
              </a:endParaRPr>
            </a:p>
          </p:txBody>
        </p:sp>
      </p:grpSp>
      <p:pic>
        <p:nvPicPr>
          <p:cNvPr id="20" name="그래픽 13">
            <a:extLst>
              <a:ext uri="{FF2B5EF4-FFF2-40B4-BE49-F238E27FC236}">
                <a16:creationId xmlns:a16="http://schemas.microsoft.com/office/drawing/2014/main" xmlns="" id="{35DACDE9-C2C6-6DAB-E125-F5168FF9B962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xmlns="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xmlns="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세계시민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xmlns="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179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·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xmlns="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 smtClean="0">
                <a:latin typeface="+mj-ea"/>
                <a:ea typeface="+mj-ea"/>
              </a:rPr>
              <a:t>지구적 차원의 도덕 문제를 어떻게 해결할 수 있을까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5034390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6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5"/>
                  </p:tgtEl>
                </p:cond>
              </p:nextCondLst>
            </p:seq>
          </p:childTnLst>
        </p:cTn>
      </p:par>
    </p:tnLst>
    <p:bldLst>
      <p:bldP spid="50" grpId="0"/>
      <p:bldP spid="50" grpId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모서리가 둥근 직사각형 2"/>
          <p:cNvSpPr/>
          <p:nvPr/>
        </p:nvSpPr>
        <p:spPr>
          <a:xfrm>
            <a:off x="1271238" y="2086984"/>
            <a:ext cx="9523142" cy="4173967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800" dirty="0" smtClean="0">
                <a:solidFill>
                  <a:schemeClr val="tx1"/>
                </a:solidFill>
              </a:rPr>
              <a:t>다음 시간에는</a:t>
            </a:r>
            <a:endParaRPr lang="en-US" altLang="ko-KR" sz="2800" dirty="0" smtClean="0">
              <a:solidFill>
                <a:schemeClr val="tx1"/>
              </a:solidFill>
            </a:endParaRPr>
          </a:p>
          <a:p>
            <a:pPr algn="ctr"/>
            <a:endParaRPr lang="en-US" altLang="ko-KR" sz="2800" dirty="0">
              <a:solidFill>
                <a:schemeClr val="tx1"/>
              </a:solidFill>
            </a:endParaRPr>
          </a:p>
          <a:p>
            <a:pPr algn="ctr"/>
            <a:r>
              <a:rPr lang="en-US" altLang="ko-KR" sz="2800" b="1" dirty="0" smtClean="0">
                <a:solidFill>
                  <a:schemeClr val="tx1"/>
                </a:solidFill>
              </a:rPr>
              <a:t>“4. </a:t>
            </a:r>
            <a:r>
              <a:rPr lang="ko-KR" altLang="en-US" sz="2800" b="1" dirty="0" smtClean="0">
                <a:solidFill>
                  <a:schemeClr val="tx1"/>
                </a:solidFill>
              </a:rPr>
              <a:t>과학과 윤리 </a:t>
            </a:r>
            <a:r>
              <a:rPr lang="en-US" altLang="ko-KR" sz="2800" b="1" dirty="0" smtClean="0">
                <a:solidFill>
                  <a:schemeClr val="tx1"/>
                </a:solidFill>
              </a:rPr>
              <a:t>– </a:t>
            </a:r>
          </a:p>
          <a:p>
            <a:pPr algn="ctr"/>
            <a:r>
              <a:rPr lang="en-US" altLang="ko-KR" sz="2800" b="1" dirty="0" smtClean="0">
                <a:solidFill>
                  <a:schemeClr val="tx1"/>
                </a:solidFill>
              </a:rPr>
              <a:t>01. </a:t>
            </a:r>
            <a:r>
              <a:rPr lang="ko-KR" altLang="en-US" sz="2800" b="1" dirty="0" smtClean="0">
                <a:solidFill>
                  <a:schemeClr val="tx1"/>
                </a:solidFill>
              </a:rPr>
              <a:t>과학기술의 유용성과 한계는 무엇일까</a:t>
            </a:r>
            <a:r>
              <a:rPr lang="en-US" altLang="ko-KR" sz="2800" b="1" dirty="0" smtClean="0">
                <a:solidFill>
                  <a:schemeClr val="tx1"/>
                </a:solidFill>
              </a:rPr>
              <a:t>?”</a:t>
            </a:r>
            <a:r>
              <a:rPr lang="ko-KR" altLang="en-US" sz="2800" dirty="0" smtClean="0">
                <a:solidFill>
                  <a:schemeClr val="tx1"/>
                </a:solidFill>
              </a:rPr>
              <a:t>를</a:t>
            </a:r>
            <a:endParaRPr lang="en-US" altLang="ko-KR" sz="2800" dirty="0" smtClean="0">
              <a:solidFill>
                <a:schemeClr val="tx1"/>
              </a:solidFill>
            </a:endParaRPr>
          </a:p>
          <a:p>
            <a:pPr algn="ctr"/>
            <a:endParaRPr lang="en-US" altLang="ko-KR" sz="2800" dirty="0">
              <a:solidFill>
                <a:schemeClr val="tx1"/>
              </a:solidFill>
            </a:endParaRPr>
          </a:p>
          <a:p>
            <a:pPr algn="ctr"/>
            <a:r>
              <a:rPr lang="ko-KR" altLang="en-US" sz="2800" dirty="0" smtClean="0">
                <a:solidFill>
                  <a:schemeClr val="tx1"/>
                </a:solidFill>
              </a:rPr>
              <a:t>배워 보아요</a:t>
            </a:r>
            <a:r>
              <a:rPr lang="en-US" altLang="ko-KR" sz="2800" dirty="0" smtClean="0">
                <a:solidFill>
                  <a:schemeClr val="tx1"/>
                </a:solidFill>
              </a:rPr>
              <a:t>.</a:t>
            </a:r>
            <a:endParaRPr lang="ko-KR" altLang="en-US" sz="2800" dirty="0">
              <a:solidFill>
                <a:schemeClr val="tx1"/>
              </a:solidFill>
            </a:endParaRPr>
          </a:p>
        </p:txBody>
      </p:sp>
      <p:pic>
        <p:nvPicPr>
          <p:cNvPr id="2" name="그림 1" descr="동물 피규어, 곰, 클립아트, 만화 영화이(가) 표시된 사진&#10;&#10;자동 생성된 설명">
            <a:extLst>
              <a:ext uri="{FF2B5EF4-FFF2-40B4-BE49-F238E27FC236}">
                <a16:creationId xmlns:a16="http://schemas.microsoft.com/office/drawing/2014/main" xmlns="" id="{D69624B4-0050-04C5-8DBB-1467BBABF8D7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541833" y="571002"/>
            <a:ext cx="1743521" cy="1617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92735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xmlns="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빈칸 채우기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 err="1" smtClean="0">
                <a:solidFill>
                  <a:srgbClr val="FFFF00"/>
                </a:solidFill>
                <a:latin typeface="+mn-ea"/>
              </a:rPr>
              <a:t>세계시민이 갖추어야 할 도덕적 자세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pic>
        <p:nvPicPr>
          <p:cNvPr id="12" name="그래픽 13">
            <a:extLst>
              <a:ext uri="{FF2B5EF4-FFF2-40B4-BE49-F238E27FC236}">
                <a16:creationId xmlns:a16="http://schemas.microsoft.com/office/drawing/2014/main" xmlns="" id="{35DACDE9-C2C6-6DAB-E125-F5168FF9B962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xmlns="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세계시민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xmlns="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174쪽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·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xmlns="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 smtClean="0">
                <a:latin typeface="+mj-ea"/>
                <a:ea typeface="+mj-ea"/>
              </a:rPr>
              <a:t>지구적 차원의 도덕 문제를 어떻게 해결할 수 있을까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/>
                </a:solidFill>
              </a:rPr>
              <a:t>(1) 인류애 추구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/>
                </a:solidFill>
              </a:rPr>
              <a:t>① 인류애의 의미</a:t>
            </a:r>
            <a:r>
              <a:rPr sz="2400" b="1">
                <a:solidFill>
                  <a:srgbClr val="843C0C"/>
                </a:solidFill>
              </a:rPr>
              <a:t> : </a:t>
            </a:r>
            <a:r>
              <a:rPr sz="1439" b="1">
                <a:solidFill>
                  <a:srgbClr val="2F6FD0"/>
                </a:solidFill>
              </a:rPr>
              <a:t>①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인류 </a:t>
            </a:r>
            <a:r>
              <a:rPr sz="2400" b="0">
                <a:solidFill>
                  <a:srgbClr val="262626"/>
                </a:solidFill>
              </a:rPr>
              <a:t> 전체를 사랑하는 마음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튀르키예 지진(2023) 때 모인 전 세계의 구호 물품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/>
                </a:solidFill>
              </a:rPr>
              <a:t>② 인류애를 바탕으로 고통받는 이들에게 공감하며 모두가 인간다운 삶을 살아갈 수 있도록 노력해야 함.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/>
                </a:solidFill>
              </a:rPr>
              <a:t>(2) 연대 의식 추구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/>
                </a:solidFill>
              </a:rPr>
              <a:t>① 연대 의식의 의미</a:t>
            </a:r>
            <a:r>
              <a:rPr sz="2400" b="1">
                <a:solidFill>
                  <a:srgbClr val="843C0C"/>
                </a:solidFill>
              </a:rPr>
              <a:t> : </a:t>
            </a:r>
            <a:r>
              <a:rPr sz="2400" b="0">
                <a:solidFill>
                  <a:srgbClr val="262626"/>
                </a:solidFill>
              </a:rPr>
              <a:t>공동체의 구성원이 서로 </a:t>
            </a:r>
            <a:r>
              <a:rPr sz="1439" b="1">
                <a:solidFill>
                  <a:srgbClr val="2F6FD0"/>
                </a:solidFill>
              </a:rPr>
              <a:t>②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연결 </a:t>
            </a:r>
            <a:r>
              <a:rPr sz="2400" b="0">
                <a:solidFill>
                  <a:srgbClr val="262626"/>
                </a:solidFill>
              </a:rPr>
              <a:t>되어 있다는 생각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(1) 인류애 추구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① 인류애의 의미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①</a:t>
            </a:r>
            <a:r>
              <a:rPr sz="2400" b="1">
                <a:solidFill>
                  <a:srgbClr val="C0392B"/>
                </a:solidFill>
              </a:rPr>
              <a:t> 인류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 전체를 사랑하는 마음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튀르키예 지진(2023) 때 모인 전 세계의 구호 물품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② 인류애를 바탕으로 고통받는 이들에게 공감하며 모두가 인간다운 삶을 살아갈 수 있도록 노력해야 함.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(2) 연대 의식 추구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① 연대 의식의 의미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공동체의 구성원이 서로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②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연결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되어 있다는 생각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(1) 인류애 추구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① 인류애의 의미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①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인류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 전체를 사랑하는 마음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/>
                </a:solidFill>
              </a:rPr>
              <a:t>💡 튀르키예 지진(2023) 때 모인 전 세계의 구호 물품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② 인류애를 바탕으로 고통받는 이들에게 공감하며 모두가 인간다운 삶을 살아갈 수 있도록 노력해야 함.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(2) 연대 의식 추구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① 연대 의식의 의미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공동체의 구성원이 서로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②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연결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되어 있다는 생각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(1) 인류애 추구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① 인류애의 의미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①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인류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 전체를 사랑하는 마음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튀르키예 지진(2023) 때 모인 전 세계의 구호 물품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② 인류애를 바탕으로 고통받는 이들에게 공감하며 모두가 인간다운 삶을 살아갈 수 있도록 노력해야 함.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(2) 연대 의식 추구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① 연대 의식의 의미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공동체의 구성원이 서로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②</a:t>
            </a:r>
            <a:r>
              <a:rPr sz="2400" b="1">
                <a:solidFill>
                  <a:srgbClr val="C0392B"/>
                </a:solidFill>
              </a:rPr>
              <a:t> 연결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되어 있다는 생각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7" grpId="0"/>
      <p:bldP spid="28" grpId="0"/>
    </p:bldLst>
  </p:timing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xmlns="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빈칸 채우기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 err="1" smtClean="0">
                <a:solidFill>
                  <a:srgbClr val="FFFF00"/>
                </a:solidFill>
                <a:latin typeface="+mn-ea"/>
              </a:rPr>
              <a:t>세계시민이 갖추어야 할 도덕적 자세 (이어서)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pic>
        <p:nvPicPr>
          <p:cNvPr id="12" name="그래픽 13">
            <a:extLst>
              <a:ext uri="{FF2B5EF4-FFF2-40B4-BE49-F238E27FC236}">
                <a16:creationId xmlns:a16="http://schemas.microsoft.com/office/drawing/2014/main" xmlns="" id="{35DACDE9-C2C6-6DAB-E125-F5168FF9B962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xmlns="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세계시민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xmlns="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174쪽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·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xmlns="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 smtClean="0">
                <a:latin typeface="+mj-ea"/>
                <a:ea typeface="+mj-ea"/>
              </a:rPr>
              <a:t>지구적 차원의 도덕 문제를 어떻게 해결할 수 있을까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/>
                </a:solidFill>
              </a:rPr>
              <a:t>② 지구촌 문제는 개인이나 일부 국가의 노력만으로는 해결하기 어려우므로 세계시민은 연대 의식을 바탕으로 지구촌 문제를 함께 </a:t>
            </a:r>
            <a:r>
              <a:rPr sz="1439" b="1">
                <a:solidFill>
                  <a:srgbClr val="2F6FD0"/>
                </a:solidFill>
              </a:rPr>
              <a:t>③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책임 </a:t>
            </a:r>
            <a:r>
              <a:rPr sz="2400" b="0">
                <a:solidFill>
                  <a:srgbClr val="262626"/>
                </a:solidFill>
              </a:rPr>
              <a:t>지려는 마음을 지녀야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“그 나라 일”이 아니라 “우리 지구의 일”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/>
                </a:solidFill>
              </a:rPr>
              <a:t>(3) 보편적 가치 추구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/>
                </a:solidFill>
              </a:rPr>
              <a:t>① 인간 존엄성, 자유, 평등, 정의, 평화 등의 보편적 가치가 지구 공동체 안에서 잘 실현되도록 지속적인 관심을 기울여야 함.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/>
                </a:solidFill>
              </a:rPr>
              <a:t>② 지구 공동체 구성원 모두를 위한 </a:t>
            </a:r>
            <a:r>
              <a:rPr sz="1439" b="1">
                <a:solidFill>
                  <a:srgbClr val="2F6FD0"/>
                </a:solidFill>
              </a:rPr>
              <a:t>④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공동선 </a:t>
            </a:r>
            <a:r>
              <a:rPr sz="2400" b="0">
                <a:solidFill>
                  <a:srgbClr val="262626"/>
                </a:solidFill>
              </a:rPr>
              <a:t>을 추구해야 함.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② 지구촌 문제는 개인이나 일부 국가의 노력만으로는 해결하기 어려우므로 세계시민은 연대 의식을 바탕으로 지구촌 문제를 함께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③</a:t>
            </a:r>
            <a:r>
              <a:rPr sz="2400" b="1">
                <a:solidFill>
                  <a:srgbClr val="C0392B"/>
                </a:solidFill>
              </a:rPr>
              <a:t> 책임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지려는 마음을 지녀야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“그 나라 일”이 아니라 “우리 지구의 일”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(3) 보편적 가치 추구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① 인간 존엄성, 자유, 평등, 정의, 평화 등의 보편적 가치가 지구 공동체 안에서 잘 실현되도록 지속적인 관심을 기울여야 함.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② 지구 공동체 구성원 모두를 위한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④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공동선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을 추구해야 함.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② 지구촌 문제는 개인이나 일부 국가의 노력만으로는 해결하기 어려우므로 세계시민은 연대 의식을 바탕으로 지구촌 문제를 함께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③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책임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지려는 마음을 지녀야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/>
                </a:solidFill>
              </a:rPr>
              <a:t>💡 “그 나라 일”이 아니라 “우리 지구의 일”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(3) 보편적 가치 추구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① 인간 존엄성, 자유, 평등, 정의, 평화 등의 보편적 가치가 지구 공동체 안에서 잘 실현되도록 지속적인 관심을 기울여야 함.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② 지구 공동체 구성원 모두를 위한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④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공동선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을 추구해야 함.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② 지구촌 문제는 개인이나 일부 국가의 노력만으로는 해결하기 어려우므로 세계시민은 연대 의식을 바탕으로 지구촌 문제를 함께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③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책임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지려는 마음을 지녀야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“그 나라 일”이 아니라 “우리 지구의 일”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(3) 보편적 가치 추구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① 인간 존엄성, 자유, 평등, 정의, 평화 등의 보편적 가치가 지구 공동체 안에서 잘 실현되도록 지속적인 관심을 기울여야 함.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② 지구 공동체 구성원 모두를 위한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④</a:t>
            </a:r>
            <a:r>
              <a:rPr sz="2400" b="1">
                <a:solidFill>
                  <a:srgbClr val="C0392B"/>
                </a:solidFill>
              </a:rPr>
              <a:t> 공동선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을 추구해야 함.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7" grpId="0"/>
      <p:bldP spid="28" grpId="0"/>
    </p:bldLst>
  </p:timing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xmlns="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빈칸 채우기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300" b="1" dirty="0" err="1" smtClean="0">
                <a:solidFill>
                  <a:srgbClr val="FFFF00"/>
                </a:solidFill>
                <a:latin typeface="+mn-ea"/>
              </a:rPr>
              <a:t>지구적 차원의 도덕 문제를 해결하기 위한 노력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pic>
        <p:nvPicPr>
          <p:cNvPr id="12" name="그래픽 13">
            <a:extLst>
              <a:ext uri="{FF2B5EF4-FFF2-40B4-BE49-F238E27FC236}">
                <a16:creationId xmlns:a16="http://schemas.microsoft.com/office/drawing/2014/main" xmlns="" id="{35DACDE9-C2C6-6DAB-E125-F5168FF9B962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xmlns="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세계시민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xmlns="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177쪽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·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xmlns="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 smtClean="0">
                <a:latin typeface="+mj-ea"/>
                <a:ea typeface="+mj-ea"/>
              </a:rPr>
              <a:t>지구적 차원의 도덕 문제를 어떻게 해결할 수 있을까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/>
                </a:solidFill>
              </a:rPr>
              <a:t>(1) </a:t>
            </a:r>
            <a:r>
              <a:rPr sz="1439" b="1">
                <a:solidFill>
                  <a:srgbClr val="2F6FD0"/>
                </a:solidFill>
              </a:rPr>
              <a:t>⑤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개인 </a:t>
            </a:r>
            <a:r>
              <a:rPr sz="2400" b="1">
                <a:solidFill>
                  <a:srgbClr val="843C0C"/>
                </a:solidFill>
              </a:rPr>
              <a:t>적 노력</a:t>
            </a:r>
            <a:r>
              <a:rPr sz="2400" b="1">
                <a:solidFill>
                  <a:srgbClr val="843C0C"/>
                </a:solidFill>
              </a:rPr>
              <a:t> : </a:t>
            </a:r>
            <a:r>
              <a:rPr sz="2400" b="0">
                <a:solidFill>
                  <a:srgbClr val="262626"/>
                </a:solidFill>
              </a:rPr>
              <a:t>공정 무역 상품 구매, 탄소 배출 감소 방법 제안, 지구적 차원의 도덕 문제 홍보 등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8살 비비안이 레모네이드를 팔아 아동 노동 반대 모금을 했다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/>
                </a:solidFill>
              </a:rPr>
              <a:t>(2) </a:t>
            </a:r>
            <a:r>
              <a:rPr sz="1439" b="1">
                <a:solidFill>
                  <a:srgbClr val="2F6FD0"/>
                </a:solidFill>
              </a:rPr>
              <a:t>⑥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국가 </a:t>
            </a:r>
            <a:r>
              <a:rPr sz="2400" b="1">
                <a:solidFill>
                  <a:srgbClr val="843C0C"/>
                </a:solidFill>
              </a:rPr>
              <a:t>적 노력</a:t>
            </a:r>
            <a:r>
              <a:rPr sz="2400" b="1">
                <a:solidFill>
                  <a:srgbClr val="843C0C"/>
                </a:solidFill>
              </a:rPr>
              <a:t> : </a:t>
            </a:r>
            <a:r>
              <a:rPr sz="2400" b="0">
                <a:solidFill>
                  <a:srgbClr val="262626"/>
                </a:solidFill>
              </a:rPr>
              <a:t>관련 법과 제도 마련, 정부 차원의 구호 활동, 국제기구와 협력 등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대한민국 해외 긴급 구호대(KDRT) 파견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/>
                </a:solidFill>
              </a:rPr>
              <a:t>(3) </a:t>
            </a:r>
            <a:r>
              <a:rPr sz="1439" b="1">
                <a:solidFill>
                  <a:srgbClr val="2F6FD0"/>
                </a:solidFill>
              </a:rPr>
              <a:t>⑦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국제 </a:t>
            </a:r>
            <a:r>
              <a:rPr sz="2400" b="1">
                <a:solidFill>
                  <a:srgbClr val="843C0C"/>
                </a:solidFill>
              </a:rPr>
              <a:t>적 노력</a:t>
            </a:r>
            <a:r>
              <a:rPr sz="2400" b="1">
                <a:solidFill>
                  <a:srgbClr val="843C0C"/>
                </a:solidFill>
              </a:rPr>
              <a:t> : </a:t>
            </a:r>
            <a:r>
              <a:rPr sz="2400" b="0">
                <a:solidFill>
                  <a:srgbClr val="262626"/>
                </a:solidFill>
              </a:rPr>
              <a:t>국제기구를 통한 국가들 사이의 이해관계 조정, 국제 협약으로 국제 규범 설정, 비정부 기구 활동 등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사막화 방지 협약, 국경 없는 의사회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(1)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⑤</a:t>
            </a:r>
            <a:r>
              <a:rPr sz="2400" b="1">
                <a:solidFill>
                  <a:srgbClr val="C0392B"/>
                </a:solidFill>
              </a:rPr>
              <a:t> 개인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적 노력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공정 무역 상품 구매, 탄소 배출 감소 방법 제안, 지구적 차원의 도덕 문제 홍보 등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8살 비비안이 레모네이드를 팔아 아동 노동 반대 모금을 했다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(2)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⑥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국가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적 노력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관련 법과 제도 마련, 정부 차원의 구호 활동, 국제기구와 협력 등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대한민국 해외 긴급 구호대(KDRT) 파견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(3)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⑦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국제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적 노력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국제기구를 통한 국가들 사이의 이해관계 조정, 국제 협약으로 국제 규범 설정, 비정부 기구 활동 등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사막화 방지 협약, 국경 없는 의사회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(1)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⑤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개인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적 노력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공정 무역 상품 구매, 탄소 배출 감소 방법 제안, 지구적 차원의 도덕 문제 홍보 등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/>
                </a:solidFill>
              </a:rPr>
              <a:t>💡 8살 비비안이 레모네이드를 팔아 아동 노동 반대 모금을 했다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(2)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⑥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국가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적 노력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관련 법과 제도 마련, 정부 차원의 구호 활동, 국제기구와 협력 등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대한민국 해외 긴급 구호대(KDRT) 파견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(3)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⑦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국제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적 노력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국제기구를 통한 국가들 사이의 이해관계 조정, 국제 협약으로 국제 규범 설정, 비정부 기구 활동 등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사막화 방지 협약, 국경 없는 의사회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(1)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⑤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개인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적 노력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공정 무역 상품 구매, 탄소 배출 감소 방법 제안, 지구적 차원의 도덕 문제 홍보 등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8살 비비안이 레모네이드를 팔아 아동 노동 반대 모금을 했다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(2)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⑥</a:t>
            </a:r>
            <a:r>
              <a:rPr sz="2400" b="1">
                <a:solidFill>
                  <a:srgbClr val="C0392B"/>
                </a:solidFill>
              </a:rPr>
              <a:t> 국가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적 노력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관련 법과 제도 마련, 정부 차원의 구호 활동, 국제기구와 협력 등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대한민국 해외 긴급 구호대(KDRT) 파견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(3)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⑦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국제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적 노력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국제기구를 통한 국가들 사이의 이해관계 조정, 국제 협약으로 국제 규범 설정, 비정부 기구 활동 등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사막화 방지 협약, 국경 없는 의사회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(1)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⑤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개인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적 노력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공정 무역 상품 구매, 탄소 배출 감소 방법 제안, 지구적 차원의 도덕 문제 홍보 등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8살 비비안이 레모네이드를 팔아 아동 노동 반대 모금을 했다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(2)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⑥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국가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적 노력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관련 법과 제도 마련, 정부 차원의 구호 활동, 국제기구와 협력 등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/>
                </a:solidFill>
              </a:rPr>
              <a:t>💡 대한민국 해외 긴급 구호대(KDRT) 파견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(3)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⑦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국제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적 노력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국제기구를 통한 국가들 사이의 이해관계 조정, 국제 협약으로 국제 규범 설정, 비정부 기구 활동 등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사막화 방지 협약, 국경 없는 의사회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(1)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⑤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개인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적 노력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공정 무역 상품 구매, 탄소 배출 감소 방법 제안, 지구적 차원의 도덕 문제 홍보 등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8살 비비안이 레모네이드를 팔아 아동 노동 반대 모금을 했다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(2)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⑥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국가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적 노력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관련 법과 제도 마련, 정부 차원의 구호 활동, 국제기구와 협력 등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대한민국 해외 긴급 구호대(KDRT) 파견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(3)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⑦</a:t>
            </a:r>
            <a:r>
              <a:rPr sz="2400" b="1">
                <a:solidFill>
                  <a:srgbClr val="C0392B"/>
                </a:solidFill>
              </a:rPr>
              <a:t> 국제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적 노력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국제기구를 통한 국가들 사이의 이해관계 조정, 국제 협약으로 국제 규범 설정, 비정부 기구 활동 등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사막화 방지 협약, 국경 없는 의사회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(1)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⑤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개인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적 노력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공정 무역 상품 구매, 탄소 배출 감소 방법 제안, 지구적 차원의 도덕 문제 홍보 등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8살 비비안이 레모네이드를 팔아 아동 노동 반대 모금을 했다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(2)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⑥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국가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적 노력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관련 법과 제도 마련, 정부 차원의 구호 활동, 국제기구와 협력 등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대한민국 해외 긴급 구호대(KDRT) 파견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(3)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⑦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국제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적 노력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국제기구를 통한 국가들 사이의 이해관계 조정, 국제 협약으로 국제 규범 설정, 비정부 기구 활동 등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/>
                </a:solidFill>
              </a:rPr>
              <a:t>💡 사막화 방지 협약, 국경 없는 의사회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7" grpId="0"/>
      <p:bldP spid="28" grpId="0"/>
      <p:bldP spid="29" grpId="0"/>
      <p:bldP spid="30" grpId="0"/>
      <p:bldP spid="31" grpId="0"/>
    </p:bldLst>
  </p:timing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xmlns="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더해 보기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 err="1" smtClean="0">
                <a:solidFill>
                  <a:srgbClr val="FFFF00"/>
                </a:solidFill>
                <a:latin typeface="+mn-ea"/>
              </a:rPr>
              <a:t>딜레마 · 나라면?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pic>
        <p:nvPicPr>
          <p:cNvPr id="12" name="그래픽 13">
            <a:extLst>
              <a:ext uri="{FF2B5EF4-FFF2-40B4-BE49-F238E27FC236}">
                <a16:creationId xmlns:a16="http://schemas.microsoft.com/office/drawing/2014/main" xmlns="" id="{35DACDE9-C2C6-6DAB-E125-F5168FF9B962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xmlns="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세계시민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xmlns="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177쪽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·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xmlns="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 smtClean="0">
                <a:latin typeface="+mj-ea"/>
                <a:ea typeface="+mj-ea"/>
              </a:rPr>
              <a:t>지구적 차원의 도덕 문제를 어떻게 해결할 수 있을까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/>
                </a:solidFill>
              </a:rPr>
              <a:t>“우리나라에도 어려운 사람이 많은데 왜 지구촌 문제까지 신경 써야 해?”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A — 우리나라부터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B — 둘 다 함께</a:t>
            </a:r>
          </a:p>
          <a:p>
            <a:pPr>
              <a:lnSpc>
                <a:spcPct val="130000"/>
              </a:lnSpc>
              <a:spcBef>
                <a:spcPts val="1200"/>
              </a:spcBef>
            </a:pPr>
            <a:r>
              <a:rPr sz="2400" b="1">
                <a:solidFill>
                  <a:srgbClr val="2F6FD0">
                    <a:alpha val="0"/>
                  </a:srgbClr>
                </a:solidFill>
              </a:rPr>
              <a:t>❓ 세계시민으로서 어떻게 답할까?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“우리나라에도 어려운 사람이 많은데 왜 지구촌 문제까지 신경 써야 해?”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A — 우리나라부터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B — 둘 다 함께</a:t>
            </a:r>
          </a:p>
          <a:p>
            <a:pPr>
              <a:lnSpc>
                <a:spcPct val="130000"/>
              </a:lnSpc>
              <a:spcBef>
                <a:spcPts val="1200"/>
              </a:spcBef>
            </a:pPr>
            <a:r>
              <a:rPr sz="2400" b="1">
                <a:solidFill>
                  <a:srgbClr val="2F6FD0"/>
                </a:solidFill>
              </a:rPr>
              <a:t>❓ 세계시민으로서 어떻게 답할까?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</p:bldLst>
  </p:timing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xmlns="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더해 보기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 err="1" smtClean="0">
                <a:solidFill>
                  <a:srgbClr val="FFFF00"/>
                </a:solidFill>
                <a:latin typeface="+mn-ea"/>
              </a:rPr>
              <a:t>세계 기념일 맞히기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pic>
        <p:nvPicPr>
          <p:cNvPr id="12" name="그래픽 13">
            <a:extLst>
              <a:ext uri="{FF2B5EF4-FFF2-40B4-BE49-F238E27FC236}">
                <a16:creationId xmlns:a16="http://schemas.microsoft.com/office/drawing/2014/main" xmlns="" id="{35DACDE9-C2C6-6DAB-E125-F5168FF9B962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xmlns="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세계시민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xmlns="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177쪽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·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xmlns="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 smtClean="0">
                <a:latin typeface="+mj-ea"/>
                <a:ea typeface="+mj-ea"/>
              </a:rPr>
              <a:t>지구적 차원의 도덕 문제를 어떻게 해결할 수 있을까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3월 22일 · 세계 물의 날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6월 5일 · 세계 환경의 날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6월 20일 · 세계 난민의 날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10월 17일 · 세계 빈곤 퇴치의 날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xmlns="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1분 체크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 err="1" smtClean="0">
                <a:solidFill>
                  <a:srgbClr val="FFFF00"/>
                </a:solidFill>
                <a:latin typeface="+mn-ea"/>
              </a:rPr>
              <a:t>학습지 1분 체크 · 맞으면 ○, 틀리면 ✕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pic>
        <p:nvPicPr>
          <p:cNvPr id="12" name="그래픽 13">
            <a:extLst>
              <a:ext uri="{FF2B5EF4-FFF2-40B4-BE49-F238E27FC236}">
                <a16:creationId xmlns:a16="http://schemas.microsoft.com/office/drawing/2014/main" xmlns="" id="{35DACDE9-C2C6-6DAB-E125-F5168FF9B962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xmlns="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세계시민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xmlns="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173쪽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·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xmlns="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 smtClean="0">
                <a:latin typeface="+mj-ea"/>
                <a:ea typeface="+mj-ea"/>
              </a:rPr>
              <a:t>지구적 차원의 도덕 문제를 어떻게 해결할 수 있을까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1. 연대 의식은 책임감 있는 마음을 포함하지 않는다.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2. 개인의 작은 실천은 지구적 차원의 도덕 문제를 해결하는 데 도움이 되지 않는다.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3. 비정부 기구는 세계시민들이 자발적으로 구성한 기구이다.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4. 지구촌 전체가 함께 힘을 모으면 당장 해결하기 어려운 문제도 조금씩 변화시킬 수 있다.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연대 의식은 책임감 있는 마음을 포함하지 않는다.  ( ○ / ✕ )</a:t>
            </a:r>
            <a:r>
              <a:rPr sz="2300" b="1">
                <a:solidFill>
                  <a:srgbClr val="C0392B"/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개인의 작은 실천은 지구적 차원의 도덕 문제를 해결하는 데 도움이 되지 않는다.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비정부 기구는 세계시민들이 자발적으로 구성한 기구이다.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지구촌 전체가 함께 힘을 모으면 당장 해결하기 어려운 문제도 조금씩 변화시킬 수 있다.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연대 의식은 책임감 있는 마음을 포함하지 않는다.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개인의 작은 실천은 지구적 차원의 도덕 문제를 해결하는 데 도움이 되지 않는다.  ( ○ / ✕ )</a:t>
            </a:r>
            <a:r>
              <a:rPr sz="2300" b="1">
                <a:solidFill>
                  <a:srgbClr val="C0392B"/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비정부 기구는 세계시민들이 자발적으로 구성한 기구이다.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지구촌 전체가 함께 힘을 모으면 당장 해결하기 어려운 문제도 조금씩 변화시킬 수 있다.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연대 의식은 책임감 있는 마음을 포함하지 않는다.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개인의 작은 실천은 지구적 차원의 도덕 문제를 해결하는 데 도움이 되지 않는다.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비정부 기구는 세계시민들이 자발적으로 구성한 기구이다.  ( ○ / ✕ )</a:t>
            </a:r>
            <a:r>
              <a:rPr sz="2300" b="1">
                <a:solidFill>
                  <a:srgbClr val="C0392B"/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지구촌 전체가 함께 힘을 모으면 당장 해결하기 어려운 문제도 조금씩 변화시킬 수 있다.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연대 의식은 책임감 있는 마음을 포함하지 않는다.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개인의 작은 실천은 지구적 차원의 도덕 문제를 해결하는 데 도움이 되지 않는다.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비정부 기구는 세계시민들이 자발적으로 구성한 기구이다.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지구촌 전체가 함께 힘을 모으면 당장 해결하기 어려운 문제도 조금씩 변화시킬 수 있다.  ( ○ / ✕ )</a:t>
            </a:r>
            <a:r>
              <a:rPr sz="2300" b="1">
                <a:solidFill>
                  <a:srgbClr val="C0392B"/>
                </a:solidFill>
              </a:rPr>
              <a:t>   ○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7" grpId="0"/>
      <p:bldP spid="28" grpId="0"/>
      <p:bldP spid="29" grpId="0"/>
    </p:bldLst>
  </p:timing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xmlns="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함께 해 보기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 err="1" smtClean="0">
                <a:solidFill>
                  <a:srgbClr val="FFFF00"/>
                </a:solidFill>
                <a:latin typeface="+mn-ea"/>
              </a:rPr>
              <a:t>어떤 차원의 노력일까?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pic>
        <p:nvPicPr>
          <p:cNvPr id="12" name="그래픽 13">
            <a:extLst>
              <a:ext uri="{FF2B5EF4-FFF2-40B4-BE49-F238E27FC236}">
                <a16:creationId xmlns:a16="http://schemas.microsoft.com/office/drawing/2014/main" xmlns="" id="{35DACDE9-C2C6-6DAB-E125-F5168FF9B962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xmlns="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세계시민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xmlns="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173쪽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·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xmlns="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 smtClean="0">
                <a:latin typeface="+mj-ea"/>
                <a:ea typeface="+mj-ea"/>
              </a:rPr>
              <a:t>지구적 차원의 도덕 문제를 어떻게 해결할 수 있을까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/>
                </a:solidFill>
              </a:rPr>
              <a:t>어느 칸일까? 개인적 · 국가적 · 국제적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1. 공정 무역 초콜릿을 산다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개인적 (윤리적 소비)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2. 해외 긴급 구호대를 보낸다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국가적 (정부의 구호)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3. 여러 나라가 사막화 방지 협약을 맺었다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국제적 (국제 협약)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4. 채식 급식을 제안한다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개인적 (탄소 줄이기)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5. 국경 없는 의사회가 긴급 의료를 제공한다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국제적 (비정부 기구)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6. 지구촌 문제와 관련된 법을 만든다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국가적 (법과 제도)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어느 칸일까? 개인적 · 국가적 · 국제적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공정 무역 초콜릿을 산다</a:t>
            </a:r>
            <a:r>
              <a:rPr sz="2300" b="1">
                <a:solidFill>
                  <a:srgbClr val="C0392B"/>
                </a:solidFill>
              </a:rPr>
              <a:t>   → 개인적 (윤리적 소비)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해외 긴급 구호대를 보낸다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국가적 (정부의 구호)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여러 나라가 사막화 방지 협약을 맺었다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국제적 (국제 협약)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채식 급식을 제안한다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개인적 (탄소 줄이기)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5. 국경 없는 의사회가 긴급 의료를 제공한다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국제적 (비정부 기구)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6. 지구촌 문제와 관련된 법을 만든다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국가적 (법과 제도)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어느 칸일까? 개인적 · 국가적 · 국제적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공정 무역 초콜릿을 산다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개인적 (윤리적 소비)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해외 긴급 구호대를 보낸다</a:t>
            </a:r>
            <a:r>
              <a:rPr sz="2300" b="1">
                <a:solidFill>
                  <a:srgbClr val="C0392B"/>
                </a:solidFill>
              </a:rPr>
              <a:t>   → 국가적 (정부의 구호)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여러 나라가 사막화 방지 협약을 맺었다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국제적 (국제 협약)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채식 급식을 제안한다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개인적 (탄소 줄이기)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5. 국경 없는 의사회가 긴급 의료를 제공한다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국제적 (비정부 기구)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6. 지구촌 문제와 관련된 법을 만든다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국가적 (법과 제도)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어느 칸일까? 개인적 · 국가적 · 국제적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공정 무역 초콜릿을 산다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개인적 (윤리적 소비)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해외 긴급 구호대를 보낸다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국가적 (정부의 구호)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여러 나라가 사막화 방지 협약을 맺었다</a:t>
            </a:r>
            <a:r>
              <a:rPr sz="2300" b="1">
                <a:solidFill>
                  <a:srgbClr val="C0392B"/>
                </a:solidFill>
              </a:rPr>
              <a:t>   → 국제적 (국제 협약)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채식 급식을 제안한다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개인적 (탄소 줄이기)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5. 국경 없는 의사회가 긴급 의료를 제공한다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국제적 (비정부 기구)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6. 지구촌 문제와 관련된 법을 만든다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국가적 (법과 제도)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어느 칸일까? 개인적 · 국가적 · 국제적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공정 무역 초콜릿을 산다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개인적 (윤리적 소비)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해외 긴급 구호대를 보낸다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국가적 (정부의 구호)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여러 나라가 사막화 방지 협약을 맺었다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국제적 (국제 협약)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채식 급식을 제안한다</a:t>
            </a:r>
            <a:r>
              <a:rPr sz="2300" b="1">
                <a:solidFill>
                  <a:srgbClr val="C0392B"/>
                </a:solidFill>
              </a:rPr>
              <a:t>   → 개인적 (탄소 줄이기)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5. 국경 없는 의사회가 긴급 의료를 제공한다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국제적 (비정부 기구)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6. 지구촌 문제와 관련된 법을 만든다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국가적 (법과 제도)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어느 칸일까? 개인적 · 국가적 · 국제적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공정 무역 초콜릿을 산다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개인적 (윤리적 소비)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해외 긴급 구호대를 보낸다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국가적 (정부의 구호)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여러 나라가 사막화 방지 협약을 맺었다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국제적 (국제 협약)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채식 급식을 제안한다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개인적 (탄소 줄이기)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5. 국경 없는 의사회가 긴급 의료를 제공한다</a:t>
            </a:r>
            <a:r>
              <a:rPr sz="2300" b="1">
                <a:solidFill>
                  <a:srgbClr val="C0392B"/>
                </a:solidFill>
              </a:rPr>
              <a:t>   → 국제적 (비정부 기구)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6. 지구촌 문제와 관련된 법을 만든다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국가적 (법과 제도)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어느 칸일까? 개인적 · 국가적 · 국제적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공정 무역 초콜릿을 산다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개인적 (윤리적 소비)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해외 긴급 구호대를 보낸다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국가적 (정부의 구호)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여러 나라가 사막화 방지 협약을 맺었다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국제적 (국제 협약)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채식 급식을 제안한다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개인적 (탄소 줄이기)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5. 국경 없는 의사회가 긴급 의료를 제공한다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국제적 (비정부 기구)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6. 지구촌 문제와 관련된 법을 만든다</a:t>
            </a:r>
            <a:r>
              <a:rPr sz="2300" b="1">
                <a:solidFill>
                  <a:srgbClr val="C0392B"/>
                </a:solidFill>
              </a:rPr>
              <a:t>   → 국가적 (법과 제도)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7" grpId="0"/>
      <p:bldP spid="28" grpId="0"/>
      <p:bldP spid="29" grpId="0"/>
      <p:bldP spid="30" grpId="0"/>
      <p:bldP spid="31" grpId="0"/>
    </p:bldLst>
  </p:timing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xmlns="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함께 해 보기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 err="1" smtClean="0">
                <a:solidFill>
                  <a:srgbClr val="FFFF00"/>
                </a:solidFill>
                <a:latin typeface="+mn-ea"/>
              </a:rPr>
              <a:t>지구촌 말판 미션 뽑기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pic>
        <p:nvPicPr>
          <p:cNvPr id="12" name="그래픽 13">
            <a:extLst>
              <a:ext uri="{FF2B5EF4-FFF2-40B4-BE49-F238E27FC236}">
                <a16:creationId xmlns:a16="http://schemas.microsoft.com/office/drawing/2014/main" xmlns="" id="{35DACDE9-C2C6-6DAB-E125-F5168FF9B962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xmlns="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세계시민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xmlns="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173쪽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·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xmlns="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 smtClean="0">
                <a:latin typeface="+mj-ea"/>
                <a:ea typeface="+mj-ea"/>
              </a:rPr>
              <a:t>지구적 차원의 도덕 문제를 어떻게 해결할 수 있을까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/>
                </a:solidFill>
              </a:rPr>
              <a:t>모둠이 번호를 하나 골라 미션 수행!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1. 물 부족을 줄이려고 일상에서 할 일 두 가지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2. 약을 살 돈이 없다면 어떤 기분일까?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3. ‘세계시민’으로 4행시 짓기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4. 멸종 위기 동물 하나 이상 말하기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5. 플라스틱 없는 하루를 위한 방법 두 가지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6. 전쟁의 문제점 세 가지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7. 내가 난민이라면 어떤 기분일까?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8. 연대 의식이 중요한 까닭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9. “내가 생각하는 세계시민은 ___이다” 완성하기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xmlns="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함께 해 보기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 err="1" smtClean="0">
                <a:solidFill>
                  <a:srgbClr val="FFFF00"/>
                </a:solidFill>
                <a:latin typeface="+mn-ea"/>
              </a:rPr>
              <a:t>세계시민으로서 나의 다짐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pic>
        <p:nvPicPr>
          <p:cNvPr id="12" name="그래픽 13">
            <a:extLst>
              <a:ext uri="{FF2B5EF4-FFF2-40B4-BE49-F238E27FC236}">
                <a16:creationId xmlns:a16="http://schemas.microsoft.com/office/drawing/2014/main" xmlns="" id="{35DACDE9-C2C6-6DAB-E125-F5168FF9B962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xmlns="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세계시민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xmlns="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173쪽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·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xmlns="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 smtClean="0">
                <a:latin typeface="+mj-ea"/>
                <a:ea typeface="+mj-ea"/>
              </a:rPr>
              <a:t>지구적 차원의 도덕 문제를 어떻게 해결할 수 있을까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/>
                </a:solidFill>
              </a:rPr>
              <a:t>빈칸을 채워 문장을 완성해 보자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✍️ 나의 다짐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예) 간식은 공정 무역 표시를 먼저 찾아보고, 한 달에 한 번 국제 뉴스를 찾아 가족과 이야기하겠다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빈칸을 채워 문장을 완성해 보자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✍️ 나의 다짐</a:t>
            </a:r>
            <a:r>
              <a:rPr sz="2300" b="1">
                <a:solidFill>
                  <a:srgbClr val="C0392B"/>
                </a:solidFill>
              </a:rPr>
              <a:t>   예) 간식은 공정 무역 표시를 먼저 찾아보고, 한 달에 한 번 국제 뉴스를 찾아 가족과 이야기하겠다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</p:bldLst>
  </p:timing>
</p:sld>
</file>

<file path=ppt/theme/theme1.xml><?xml version="1.0" encoding="utf-8"?>
<a:theme xmlns:a="http://schemas.openxmlformats.org/drawingml/2006/main" name="2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6">
            <a:lumMod val="20000"/>
            <a:lumOff val="80000"/>
          </a:schemeClr>
        </a:solidFill>
        <a:ln>
          <a:solidFill>
            <a:srgbClr val="00A746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8368</TotalTime>
  <Words>2307</Words>
  <Application>Microsoft Office PowerPoint</Application>
  <PresentationFormat>와이드스크린</PresentationFormat>
  <Paragraphs>420</Paragraphs>
  <Slides>25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25</vt:i4>
      </vt:variant>
    </vt:vector>
  </HeadingPairs>
  <TitlesOfParts>
    <vt:vector size="33" baseType="lpstr">
      <vt:lpstr>AppleSDGothicNeoB00</vt:lpstr>
      <vt:lpstr>굴림</vt:lpstr>
      <vt:lpstr>나눔스퀘어라운드 ExtraBold</vt:lpstr>
      <vt:lpstr>돋움</vt:lpstr>
      <vt:lpstr>맑은 고딕</vt:lpstr>
      <vt:lpstr>맑은 고딕</vt:lpstr>
      <vt:lpstr>Arial</vt:lpstr>
      <vt:lpstr>2_Office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PC</cp:lastModifiedBy>
  <cp:revision>189</cp:revision>
  <cp:lastPrinted>2024-06-05T04:53:22Z</cp:lastPrinted>
  <dcterms:created xsi:type="dcterms:W3CDTF">2023-10-31T05:50:03Z</dcterms:created>
  <dcterms:modified xsi:type="dcterms:W3CDTF">2025-04-22T06:45:19Z</dcterms:modified>
</cp:coreProperties>
</file>