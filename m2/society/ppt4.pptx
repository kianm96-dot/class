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media/image5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37"/>
  </p:notesMasterIdLst>
  <p:handoutMasterIdLst>
    <p:handoutMasterId r:id="rId38"/>
  </p:handoutMasterIdLst>
  <p:sldIdLst>
    <p:sldId id="302" r:id="rId2"/>
    <p:sldId id="301" r:id="rId3"/>
    <p:sldId id="258" r:id="rId4"/>
    <p:sldId id="304" r:id="rId5"/>
    <p:sldId id="305" r:id="rId6"/>
    <p:sldId id="306" r:id="rId7"/>
    <p:sldId id="428" r:id="rId8"/>
    <p:sldId id="270" r:id="rId9"/>
    <p:sldId id="387" r:id="rId10"/>
    <p:sldId id="260" r:id="rId11"/>
    <p:sldId id="434" r:id="rId44"/>
    <p:sldId id="388" r:id="rId12"/>
    <p:sldId id="308" r:id="rId13"/>
    <p:sldId id="420" r:id="rId14"/>
    <p:sldId id="394" r:id="rId15"/>
    <p:sldId id="395" r:id="rId16"/>
    <p:sldId id="435" r:id="rId45"/>
    <p:sldId id="397" r:id="rId17"/>
    <p:sldId id="389" r:id="rId18"/>
    <p:sldId id="360" r:id="rId19"/>
    <p:sldId id="396" r:id="rId20"/>
    <p:sldId id="436" r:id="rId46"/>
    <p:sldId id="437" r:id="rId47"/>
    <p:sldId id="438" r:id="rId48"/>
    <p:sldId id="398" r:id="rId21"/>
    <p:sldId id="404" r:id="rId22"/>
    <p:sldId id="421" r:id="rId23"/>
    <p:sldId id="422" r:id="rId24"/>
    <p:sldId id="423" r:id="rId25"/>
    <p:sldId id="407" r:id="rId26"/>
    <p:sldId id="429" r:id="rId27"/>
    <p:sldId id="430" r:id="rId28"/>
    <p:sldId id="431" r:id="rId29"/>
    <p:sldId id="432" r:id="rId30"/>
    <p:sldId id="402" r:id="rId31"/>
    <p:sldId id="409" r:id="rId32"/>
    <p:sldId id="433" r:id="rId33"/>
    <p:sldId id="412" r:id="rId34"/>
    <p:sldId id="418" r:id="rId35"/>
    <p:sldId id="439" r:id="rId49"/>
    <p:sldId id="440" r:id="rId50"/>
    <p:sldId id="441" r:id="rId51"/>
    <p:sldId id="442" r:id="rId52"/>
    <p:sldId id="403" r:id="rId36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5EB"/>
    <a:srgbClr val="9FCCEA"/>
    <a:srgbClr val="B2D8F0"/>
    <a:srgbClr val="88C3E8"/>
    <a:srgbClr val="94C8EB"/>
    <a:srgbClr val="8DC5E7"/>
    <a:srgbClr val="D8E9D2"/>
    <a:srgbClr val="FEEFD2"/>
    <a:srgbClr val="FFC000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210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commentAuthors" Target="commentAuthors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44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654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155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082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109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국가와 시민의 바람직한 관계</a:t>
            </a:r>
          </a:p>
          <a:p>
            <a:r>
              <a:t>앞의 국가의 역할 · 시민의 역할을 한 문장으로 묶는다. “국가는 ___을 갖추고, 시민은 ___을 고려할 때”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시민 불복종 (교과서 161쪽)</a:t>
            </a:r>
          </a:p>
          <a:p>
            <a:r>
              <a:t>정의롭지 않은 법에 공개적이고 비폭력적으로 맞서고, 처벌을 받아들였다. 이 운동을 이끈 젊은 목사가 마틴 루서 킹(141쪽 연설문)이다.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소로 (교과서 165쪽)</a:t>
            </a:r>
          </a:p>
          <a:p>
            <a:r>
              <a:t>법을 존중하기보다 옳음을 먼저 존중해야 한다는 주장. 간디와 킹에게 큰 영향을 주었다.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국가와 시민의 역할을 구분하고, 시민 불복종을 조건으로 분석해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국가와 시민의 역할을 구분하고, 시민 불복종을 조건으로 분석해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국가와 시민의 역할을 구분하고, 시민 불복종을 조건으로 분석해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" Target="slide13.xml"/><Relationship Id="rId7" Type="http://schemas.openxmlformats.org/officeDocument/2006/relationships/slide" Target="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" Target="slide12.xml"/><Relationship Id="rId7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7.png"/><Relationship Id="rId6" Type="http://schemas.microsoft.com/office/2007/relationships/hdphoto" Target="../media/hdphoto1.wdp"/><Relationship Id="rId7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.xml"/><Relationship Id="rId8" Type="http://schemas.openxmlformats.org/officeDocument/2006/relationships/slide" Target="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.xml"/><Relationship Id="rId8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.xml"/><Relationship Id="rId8" Type="http://schemas.openxmlformats.org/officeDocument/2006/relationships/slide" Target="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slide" Target="slide25.xml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slide" Target="slide26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slide" Target="slide25.xml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9.xml"/><Relationship Id="rId10" Type="http://schemas.openxmlformats.org/officeDocument/2006/relationships/slide" Target="slide25.xml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5.xml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slide" Target="slide33.xml"/><Relationship Id="rId8" Type="http://schemas.openxmlformats.org/officeDocument/2006/relationships/slide" Target="slide34.xml"/><Relationship Id="rId9" Type="http://schemas.openxmlformats.org/officeDocument/2006/relationships/slide" Target="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24.png"/><Relationship Id="rId5" Type="http://schemas.openxmlformats.org/officeDocument/2006/relationships/image" Target="../media/image592.svg"/><Relationship Id="rId6" Type="http://schemas.openxmlformats.org/officeDocument/2006/relationships/image" Target="../media/image49.png"/><Relationship Id="rId7" Type="http://schemas.openxmlformats.org/officeDocument/2006/relationships/slide" Target="slide32.xml"/><Relationship Id="rId8" Type="http://schemas.openxmlformats.org/officeDocument/2006/relationships/slide" Target="slide34.xml"/><Relationship Id="rId9" Type="http://schemas.openxmlformats.org/officeDocument/2006/relationships/slide" Target="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slide" Target="slide32.xml"/><Relationship Id="rId8" Type="http://schemas.openxmlformats.org/officeDocument/2006/relationships/slide" Target="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28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smtClean="0">
                <a:solidFill>
                  <a:schemeClr val="bg1"/>
                </a:solidFill>
                <a:latin typeface="+mj-ea"/>
                <a:ea typeface="+mj-ea"/>
              </a:rPr>
              <a:t>국가와 시민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국가와 시민의 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바람직한 역할은 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xmlns="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561237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국가와 시민의 바람직한 관계를 설명할 수 있다</a:t>
            </a:r>
            <a:r>
              <a:rPr lang="en-US" altLang="ko-KR" sz="2800" b="1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xmlns="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사각형: 둥근 모서리 15">
            <a:extLst>
              <a:ext uri="{FF2B5EF4-FFF2-40B4-BE49-F238E27FC236}">
                <a16:creationId xmlns:a16="http://schemas.microsoft.com/office/drawing/2014/main" xmlns="" id="{429C8124-E36A-14C4-0A75-6EEA8AF670C6}"/>
              </a:ext>
            </a:extLst>
          </p:cNvPr>
          <p:cNvSpPr/>
          <p:nvPr/>
        </p:nvSpPr>
        <p:spPr>
          <a:xfrm>
            <a:off x="750162" y="2953123"/>
            <a:ext cx="10293350" cy="787400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xmlns="" id="{5C28D4DD-371F-4568-9198-B5D58BBCD7F3}"/>
              </a:ext>
            </a:extLst>
          </p:cNvPr>
          <p:cNvSpPr/>
          <p:nvPr/>
        </p:nvSpPr>
        <p:spPr>
          <a:xfrm>
            <a:off x="959712" y="3293375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1204394" y="2965689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국가와 시민의 역할을 제시할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380"/>
            <a:ext cx="11801476" cy="542462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4670" y="1510483"/>
            <a:ext cx="9477579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380"/>
            <a:ext cx="11801476" cy="542462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-10812" y="1846337"/>
            <a:ext cx="11821812" cy="5000625"/>
            <a:chOff x="-10812" y="1846337"/>
            <a:chExt cx="11821812" cy="500062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846337"/>
              <a:ext cx="11811000" cy="481695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-10812" y="6490644"/>
              <a:ext cx="11820525" cy="356318"/>
            </a:xfrm>
            <a:prstGeom prst="rect">
              <a:avLst/>
            </a:prstGeom>
            <a:solidFill>
              <a:srgbClr val="FEEF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33155" y="2780973"/>
            <a:ext cx="10293350" cy="3076363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4881" y="2789230"/>
            <a:ext cx="9784141" cy="2790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중학생도 몇 년 뒤에는 선거권을 지니고 자신의 의견을 대표하는 사람을 선출할 수 있어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그리고 청소년 의회에 참여하는 등 여러 가지 방법으로 정부나 의회에 의견을 낼 수 있어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이처럼 중학생도 시민으로서 국가 정책에 관심을 기울이고 적극적으로 의견을 낸다면 국가 정책과 사회도 변화할 수 있을 거야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다음 그림을 보고 내가 연우라면 주연이의 물음에 무엇이라고 답할지 써 보자</a:t>
            </a:r>
            <a:r>
              <a:rPr lang="en-US" altLang="ko-KR" sz="2000" b="1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746" y="1859585"/>
            <a:ext cx="10951925" cy="4232348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571662" y="1756072"/>
            <a:ext cx="76357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200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 (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가</a:t>
            </a:r>
            <a:r>
              <a:rPr lang="en-US" altLang="ko-KR" sz="2200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) </a:t>
            </a:r>
            <a:endParaRPr lang="ko-KR" altLang="en-US" sz="2200" spc="-15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68082" y="2231388"/>
            <a:ext cx="9635707" cy="35548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과거에 ○○국 정부는 잔혹한 인종 차별 정책을 시행하였다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먼저 ‘선거 분리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대표법’을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시행하여 백인 외의 다른 인종에게 주어졌던 선거권을 빼앗았다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그리고 이 법을 근거로 백인 외의 다른 인종의 의원들을 의회에서 몰아냈다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또한 백인과 다른 인종 사이의 결혼을 금지하는 법을 도입했고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‘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인구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등록법’을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시행하여 모든 국민을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인종별로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나누어 통제하였다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 모든 정책의 바탕에는 극단적인 백인 우월주의가 있었다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이원준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검은 대륙의 아버지 넬슨 </a:t>
            </a:r>
            <a:r>
              <a:rPr lang="ko-KR" altLang="en-US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만델라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746" y="1859585"/>
            <a:ext cx="10951925" cy="42323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1662" y="1756072"/>
            <a:ext cx="76357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(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 </a:t>
            </a:r>
            <a:endParaRPr lang="ko-KR" altLang="en-US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268082" y="2231645"/>
            <a:ext cx="9635707" cy="26314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△△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산에서 열린 벚꽃 축제에 전국 각지의 관광객들이 몰려들었다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꽃이 활짝 핀 벚나무를 따라 노점상이 줄지어 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길거리에는 나무젓가락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먹다 남은 음식 등 관광객들이 버린 각종 쓰레기가 가득하다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관광객들은 벚꽃을 보며 즐거워하지만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지역 주민들은 밤낮을 가리지 않고 생기는 소음과 산처럼 쌓인 쓰레기로 고통받고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있다</a:t>
            </a:r>
            <a:r>
              <a:rPr lang="en-US" altLang="ko-KR" sz="220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               </a:t>
            </a:r>
            <a:r>
              <a:rPr lang="en-US" altLang="ko-KR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연합뉴스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2023. 4. 1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14961" y="4863134"/>
            <a:ext cx="1607416" cy="201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559" y="1613414"/>
            <a:ext cx="8158637" cy="492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1. (</a:t>
            </a:r>
            <a:r>
              <a:rPr lang="ko-KR" altLang="en-US" sz="2000" b="1" dirty="0"/>
              <a:t>가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에서 ◯◯국의 정책이 시민에게 어떤 영향을 </a:t>
            </a:r>
            <a:r>
              <a:rPr lang="ko-KR" altLang="en-US" sz="2000" b="1" dirty="0" err="1"/>
              <a:t>미쳤을지</a:t>
            </a:r>
            <a:r>
              <a:rPr lang="ko-KR" altLang="en-US" sz="2000" b="1" dirty="0"/>
              <a:t>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88837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613" y="2437935"/>
            <a:ext cx="1001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백인 외의 다른 인종의 시민들은 인간다운 삶을 보장받지 못하여 고통스러울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또한 백인 외의 다른 인종의 시민들이 자신의 잠재력과 가능성을 충분히 발휘할 수 없다면 국가 발전이 저해되어 백인인 시민들에게도 그 피해가 돌아갈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436" y="1598462"/>
            <a:ext cx="1031452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2. (</a:t>
            </a:r>
            <a:r>
              <a:rPr lang="ko-KR" altLang="en-US" sz="2000" b="1" dirty="0"/>
              <a:t>나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에서 관광객들의 행동에는 어떤 문제가 있으며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이 행동이 다른 시민에게 </a:t>
            </a:r>
            <a:r>
              <a:rPr lang="ko-KR" altLang="en-US" sz="2000" b="1"/>
              <a:t>어떤 </a:t>
            </a:r>
            <a:r>
              <a:rPr lang="ko-KR" altLang="en-US" sz="2000" b="1" smtClean="0"/>
              <a:t>영향을 </a:t>
            </a:r>
            <a:r>
              <a:rPr lang="ko-KR" altLang="en-US" sz="2000" b="1" dirty="0" err="1"/>
              <a:t>미쳤을지</a:t>
            </a:r>
            <a:r>
              <a:rPr lang="ko-KR" altLang="en-US" sz="2000" b="1" dirty="0"/>
              <a:t> 써 보자</a:t>
            </a:r>
            <a:r>
              <a:rPr lang="en-US" altLang="ko-KR" sz="2000" b="1" dirty="0"/>
              <a:t>.</a:t>
            </a: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3094572"/>
            <a:ext cx="10251561" cy="311769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613" y="3104336"/>
            <a:ext cx="10011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관광객들은 자신의 행동이 다른 시민에게 미칠 영향을 고려하지 않고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길거리에 쓰레기를 버리고 시끄러운 소리를 내며 축제를 즐겼다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이러한 행동은 공공질서와 규칙에 어긋나고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다른 시민의 권리를 침해한다는 문제가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관광객들의 행동으로 생겨난 쓰레기 악취와 소음은 축제가 열리는 지역에 사는 시민들을 고통스럽게 한다는 문제가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8" name="그림 1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301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시민의 바람직한 관계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2056" y="1510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국가와 시민의 바람직한 관계</a:t>
            </a:r>
            <a:endParaRPr lang="en-US" altLang="ko-KR" sz="2500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+mn-ea"/>
              </a:rPr>
              <a:t>국가는 정의로운 사회 제도를 갖추는 등의 노력을 통해 정당한 권위를 확보하고</a:t>
            </a:r>
            <a:r>
              <a:rPr lang="en-US" altLang="ko-KR" sz="2400">
                <a:latin typeface="+mn-ea"/>
              </a:rPr>
              <a:t>, </a:t>
            </a:r>
            <a:r>
              <a:rPr lang="ko-KR" altLang="en-US" sz="2400">
                <a:latin typeface="+mn-ea"/>
              </a:rPr>
              <a:t>시민은 자기 이익만 추구하기보다는 국가 공동체 모두의 행복을 고려하여 행동할 때 국가와 시민은 바람직한 관계를 형성할 수 있음</a:t>
            </a:r>
            <a:r>
              <a:rPr lang="en-US" altLang="ko-KR" sz="240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44129"/>
            <a:ext cx="11792644" cy="4960187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314023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32947" y="2949778"/>
            <a:ext cx="10245292" cy="238134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947" y="1538627"/>
            <a:ext cx="8649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승하와 지우의 주장을 비교한 뒤 나는 누구의 주장에 동의하는지 써 보자</a:t>
            </a:r>
            <a:r>
              <a:rPr lang="en-US" altLang="ko-KR" sz="2000" b="1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3936" y="2236499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380004" y="223649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2947" y="2344309"/>
            <a:ext cx="3400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smtClean="0"/>
              <a:t>공통점</a:t>
            </a:r>
            <a:endParaRPr lang="ko-KR" alt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885225" y="2970225"/>
            <a:ext cx="9892679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승하와 지우는 공통적으로 국가는 시민이 안전하게 살 수 있도록 지켜 주어야 한다고 보았다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9" name="타원 28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6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32947" y="2949778"/>
            <a:ext cx="10245292" cy="238134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947" y="1538627"/>
            <a:ext cx="8649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승하와 지우의 주장을 비교한 뒤 나는 누구의 주장에 동의하는지 써 보자</a:t>
            </a:r>
            <a:r>
              <a:rPr lang="en-US" altLang="ko-KR" sz="2000" b="1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3936" y="2236499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380004" y="223649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2947" y="2344309"/>
            <a:ext cx="3400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smtClean="0"/>
              <a:t>차이점</a:t>
            </a:r>
            <a:endParaRPr lang="ko-KR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908700" y="2974767"/>
            <a:ext cx="97633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승하는 국가의 역할을 개인의 생활에 가능한 한 간섭하지 않고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개인의 자유를 최대한 보장하는 것으로 보았다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반면 지우는 국가의 역할을 개인의 삶에 적극적으로 개입하여 다양한 복지 혜택을 주고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모두가 일정한 수준의 삶을 누릴 수 있도록 하는 것으로 보았다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40" name="타원 39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15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2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32947" y="2949778"/>
            <a:ext cx="10245292" cy="238134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947" y="1538627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승하와 지우의 주장을 비교한 뒤 나는 누구의 주장에 동의하는지 써 보자</a:t>
            </a:r>
            <a:r>
              <a:rPr lang="en-US" altLang="ko-KR" sz="2000" b="1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5137" y="4042913"/>
            <a:ext cx="10129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</a:rPr>
              <a:t>국가가 개인의 생활에 지나치게 간섭하면 시민은 행복한 삶을 살수 없기 </a:t>
            </a:r>
            <a:endParaRPr lang="en-US" altLang="ko-KR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1754" y="2992738"/>
            <a:ext cx="10034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</a:t>
            </a:r>
            <a:r>
              <a:rPr lang="en-US" altLang="ko-KR" sz="2400" dirty="0" smtClean="0">
                <a:latin typeface="맑은 고딕" panose="020B0503020000020004" pitchFamily="50" charset="-127"/>
              </a:rPr>
              <a:t>__________________________________________________</a:t>
            </a:r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주장에 </a:t>
            </a:r>
            <a:r>
              <a:rPr lang="ko-KR" altLang="en-US" sz="2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동의한다</a:t>
            </a:r>
            <a:r>
              <a:rPr lang="en-US" altLang="ko-KR" sz="2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1754" y="3529618"/>
            <a:ext cx="10125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왜냐하면 </a:t>
            </a:r>
            <a:r>
              <a:rPr lang="en-US" altLang="ko-KR" sz="2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_________________________________________________________</a:t>
            </a:r>
            <a:r>
              <a:rPr lang="en-US" altLang="ko-KR" sz="2400" dirty="0" smtClean="0">
                <a:latin typeface="맑은 고딕" panose="020B0503020000020004" pitchFamily="50" charset="-127"/>
              </a:rPr>
              <a:t>_________</a:t>
            </a:r>
            <a:endParaRPr lang="en-US" altLang="ko-KR" sz="24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+mn-ea"/>
              </a:rPr>
              <a:t>__________________________________________________________________________</a:t>
            </a:r>
            <a:r>
              <a:rPr lang="en-US" altLang="ko-KR" sz="2400" dirty="0" smtClean="0">
                <a:latin typeface="맑은 고딕" panose="020B0503020000020004" pitchFamily="50" charset="-127"/>
              </a:rPr>
              <a:t>____________________________________________________________</a:t>
            </a:r>
            <a:r>
              <a:rPr lang="en-US" altLang="ko-KR" sz="2400" dirty="0">
                <a:latin typeface="맑은 고딕" panose="020B0503020000020004" pitchFamily="50" charset="-127"/>
              </a:rPr>
              <a:t>_</a:t>
            </a:r>
            <a:r>
              <a:rPr lang="en-US" altLang="ko-KR" sz="2400" dirty="0" smtClean="0">
                <a:latin typeface="맑은 고딕" panose="020B0503020000020004" pitchFamily="50" charset="-127"/>
              </a:rPr>
              <a:t>_______</a:t>
            </a:r>
            <a:r>
              <a:rPr lang="ko-KR" altLang="en-US" sz="2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때문이다</a:t>
            </a:r>
            <a:r>
              <a:rPr lang="en-US" altLang="ko-KR" sz="2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35176" y="5919861"/>
            <a:ext cx="56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grpSp>
        <p:nvGrpSpPr>
          <p:cNvPr id="51" name="그룹 50"/>
          <p:cNvGrpSpPr/>
          <p:nvPr/>
        </p:nvGrpSpPr>
        <p:grpSpPr>
          <a:xfrm>
            <a:off x="4012420" y="3079444"/>
            <a:ext cx="1871063" cy="340789"/>
            <a:chOff x="575678" y="5506866"/>
            <a:chExt cx="1871063" cy="340789"/>
          </a:xfrm>
        </p:grpSpPr>
        <p:sp>
          <p:nvSpPr>
            <p:cNvPr id="52" name="모서리가 둥근 직사각형 51"/>
            <p:cNvSpPr/>
            <p:nvPr/>
          </p:nvSpPr>
          <p:spPr>
            <a:xfrm>
              <a:off x="575678" y="5506866"/>
              <a:ext cx="725222" cy="340789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smtClean="0">
                  <a:solidFill>
                    <a:schemeClr val="tx1"/>
                  </a:solidFill>
                </a:rPr>
                <a:t>승하</a:t>
              </a:r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1721519" y="5506866"/>
              <a:ext cx="725222" cy="340789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smtClean="0">
                  <a:solidFill>
                    <a:schemeClr val="tx1"/>
                  </a:solidFill>
                </a:rPr>
                <a:t>지우</a:t>
              </a:r>
              <a:endParaRPr lang="ko-KR" altLang="en-US" sz="2000">
                <a:solidFill>
                  <a:schemeClr val="tx1"/>
                </a:solidFill>
              </a:endParaRPr>
            </a:p>
          </p:txBody>
        </p:sp>
        <p:cxnSp>
          <p:nvCxnSpPr>
            <p:cNvPr id="54" name="직선 연결선 53"/>
            <p:cNvCxnSpPr/>
            <p:nvPr/>
          </p:nvCxnSpPr>
          <p:spPr>
            <a:xfrm flipH="1">
              <a:off x="1431159" y="5506866"/>
              <a:ext cx="160102" cy="3407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타원 12"/>
          <p:cNvSpPr/>
          <p:nvPr/>
        </p:nvSpPr>
        <p:spPr>
          <a:xfrm>
            <a:off x="3879333" y="2993710"/>
            <a:ext cx="991395" cy="53091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3936" y="2236499"/>
            <a:ext cx="487174" cy="487174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380004" y="2236499"/>
            <a:ext cx="1087577" cy="495431"/>
            <a:chOff x="10075659" y="2003022"/>
            <a:chExt cx="1156006" cy="495431"/>
          </a:xfrm>
        </p:grpSpPr>
        <p:pic>
          <p:nvPicPr>
            <p:cNvPr id="57" name="그림 5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62" name="타원 61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hlinkClick r:id="rId7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06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5" grpId="2"/>
      <p:bldP spid="13" grpId="1" animBg="1"/>
      <p:bldP spid="13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국가의 역할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9" y="90736"/>
            <a:ext cx="570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2056" y="1510186"/>
            <a:ext cx="11028475" cy="459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인간다운 생활 보장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시민의 인간다운 생활을 보장해야 함</a:t>
            </a:r>
            <a:r>
              <a:rPr lang="en-US" altLang="ko-KR" sz="2400" dirty="0" smtClean="0">
                <a:latin typeface="+mn-ea"/>
              </a:rPr>
              <a:t>.</a:t>
            </a:r>
            <a:r>
              <a:rPr lang="ko-KR" altLang="en-US" sz="2400" dirty="0" smtClean="0">
                <a:latin typeface="+mn-ea"/>
              </a:rPr>
              <a:t> </a:t>
            </a:r>
            <a:endParaRPr lang="en-US" altLang="ko-KR" sz="2400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공정한 사회 제도와 질서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수립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공정한 사회 제도와 질서를 수립하여 다양한 갈등을 조정해야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보편적 가치 지향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자유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평등</a:t>
            </a: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등 </a:t>
            </a:r>
            <a:r>
              <a:rPr lang="ko-KR" altLang="en-US" sz="2400" dirty="0">
                <a:latin typeface="+mn-ea"/>
              </a:rPr>
              <a:t>보편적 가치를 </a:t>
            </a:r>
            <a:r>
              <a:rPr lang="ko-KR" altLang="en-US" sz="2400" dirty="0" smtClean="0">
                <a:latin typeface="+mn-ea"/>
              </a:rPr>
              <a:t>지향해야 </a:t>
            </a:r>
            <a:r>
              <a:rPr lang="ko-KR" altLang="en-US" sz="2400" dirty="0">
                <a:latin typeface="+mn-ea"/>
              </a:rPr>
              <a:t>함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476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16" y="1996576"/>
            <a:ext cx="11672977" cy="392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0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4568" y="936057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0360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위 가족은 시민으로서 어떤 권리와 의무를 다하지 않았는지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3026" y="2439788"/>
            <a:ext cx="100066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 가족은 시민의 권리인 참정권을 행사하지 않았고</a:t>
            </a:r>
            <a:r>
              <a:rPr lang="en-US" altLang="ko-KR" sz="2400" dirty="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시민의 의무인 준법 의무를 다하지 않았다</a:t>
            </a:r>
            <a:r>
              <a:rPr lang="en-US" altLang="ko-KR" sz="2400" dirty="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25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smtClean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01382"/>
            <a:ext cx="3251169" cy="33566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40018" y="1596520"/>
            <a:ext cx="86018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□□시에서 발생한 대형 산불로 어려움을 겪고 있는 이재민들에게 시민들의 따뜻한 손길이 이어지고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떡 가게를 운영하는 한 시민은 잠시 가게 문을 닫고 이재민들에게 도시락을 제공했고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칼국수 가게를 운영하는 또 다른 시민은 이재민들에게 식사를 제공하였다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밖에도 이재민들에게 이불과 옷을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가져다주거나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음료를 무료로 주는 등 시민들의 기부가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이어졌다</a:t>
            </a:r>
            <a:r>
              <a:rPr lang="en-US" altLang="ko-KR" sz="220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</a:t>
            </a:r>
            <a:r>
              <a:rPr lang="en-US" altLang="ko-KR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한겨레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2023. 4. 13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4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시민의 역할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12674" y="6054066"/>
            <a:ext cx="5530681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chemeClr val="accent6"/>
                </a:solidFill>
              </a:rPr>
              <a:t>연대 의식 </a:t>
            </a:r>
            <a:r>
              <a:rPr lang="ko-KR" altLang="en-US" sz="1600" dirty="0">
                <a:latin typeface="맑은 고딕" panose="020B0503020000020004" pitchFamily="50" charset="-127"/>
              </a:rPr>
              <a:t>공동체의 구성원이 서로 연결되어 있다는 생각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674" y="1431082"/>
            <a:ext cx="11028475" cy="459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권리와 의무 실행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자신의 </a:t>
            </a:r>
            <a:r>
              <a:rPr lang="ko-KR" altLang="en-US" sz="2400" dirty="0" smtClean="0">
                <a:latin typeface="+mn-ea"/>
              </a:rPr>
              <a:t>권리를 </a:t>
            </a:r>
            <a:r>
              <a:rPr lang="ko-KR" altLang="en-US" sz="2400" dirty="0">
                <a:latin typeface="+mn-ea"/>
              </a:rPr>
              <a:t>바르게 행사해야 하며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권리를 누리는 만큼 의무를 수행해야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연대 의식 발휘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연대 의식을 발휘하여 공동체의 문제도 자기 일처럼 여겨야 함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 참여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사회 문제에 관심을 두고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이를 해결하는 데 적극적으로 참여해야 함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2D7B1CBA-488F-932A-4141-D046A5A56C89}"/>
              </a:ext>
            </a:extLst>
          </p:cNvPr>
          <p:cNvSpPr/>
          <p:nvPr/>
        </p:nvSpPr>
        <p:spPr>
          <a:xfrm>
            <a:off x="612674" y="3793926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6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시민 불복종</a:t>
            </a:r>
            <a:r>
              <a:rPr lang="en-US" altLang="ko-KR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정의로운 사회를 가꾸기 위한 시민의 노력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14462" y="2128433"/>
            <a:ext cx="5443715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법은 시민의 권리와 의무를 규정하고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따라서 시민은 법을 존중하고 따르는 준법 의무를 다해야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그런데 법이 오히려 시민의 기본권을 침해하거나 공익을 해친다면 어떻게 해야 할까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이때 시민은 정의롭지 않은 법을 개정하고 공익을 실현하기 위해 시민 불복종을 선택할 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6285698" y="2017943"/>
            <a:ext cx="5536956" cy="4053248"/>
            <a:chOff x="5405272" y="2969712"/>
            <a:chExt cx="3766704" cy="2921016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96154" l="47917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48306"/>
            <a:stretch/>
          </p:blipFill>
          <p:spPr>
            <a:xfrm>
              <a:off x="5405272" y="2969712"/>
              <a:ext cx="3766704" cy="2921016"/>
            </a:xfrm>
            <a:prstGeom prst="rect">
              <a:avLst/>
            </a:prstGeom>
          </p:spPr>
        </p:pic>
        <p:sp>
          <p:nvSpPr>
            <p:cNvPr id="29" name="직사각형 28"/>
            <p:cNvSpPr/>
            <p:nvPr/>
          </p:nvSpPr>
          <p:spPr>
            <a:xfrm>
              <a:off x="5667558" y="3329623"/>
              <a:ext cx="3354987" cy="1896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  시민 </a:t>
              </a:r>
              <a:r>
                <a:rPr lang="ko-KR" altLang="en-US" sz="2200" dirty="0">
                  <a:latin typeface="굴림" panose="020B0600000101010101" pitchFamily="50" charset="-127"/>
                  <a:ea typeface="굴림" panose="020B0600000101010101" pitchFamily="50" charset="-127"/>
                </a:rPr>
                <a:t>불복종은 흔히 법이나 정부의 </a:t>
              </a:r>
              <a:r>
                <a:rPr lang="ko-KR" altLang="en-US" sz="22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정책에 변혁을 </a:t>
              </a:r>
              <a:r>
                <a:rPr lang="ko-KR" altLang="en-US" sz="2200" dirty="0">
                  <a:latin typeface="굴림" panose="020B0600000101010101" pitchFamily="50" charset="-127"/>
                  <a:ea typeface="굴림" panose="020B0600000101010101" pitchFamily="50" charset="-127"/>
                </a:rPr>
                <a:t>가져올 목적으로 행하는</a:t>
              </a:r>
              <a:r>
                <a:rPr lang="en-US" altLang="ko-KR" sz="2200" dirty="0"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22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공공적이고 </a:t>
              </a:r>
              <a:r>
                <a:rPr lang="ko-KR" altLang="en-US" sz="2200" dirty="0" err="1" smtClean="0">
                  <a:latin typeface="굴림" panose="020B0600000101010101" pitchFamily="50" charset="-127"/>
                  <a:ea typeface="굴림" panose="020B0600000101010101" pitchFamily="50" charset="-127"/>
                </a:rPr>
                <a:t>비폭력적이며</a:t>
              </a:r>
              <a:r>
                <a:rPr lang="ko-KR" altLang="en-US" sz="22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2200" dirty="0">
                  <a:latin typeface="굴림" panose="020B0600000101010101" pitchFamily="50" charset="-127"/>
                  <a:ea typeface="굴림" panose="020B0600000101010101" pitchFamily="50" charset="-127"/>
                </a:rPr>
                <a:t>양심적이긴 </a:t>
              </a:r>
              <a:r>
                <a:rPr lang="ko-KR" altLang="en-US" sz="22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하지만 </a:t>
              </a:r>
              <a:r>
                <a:rPr lang="ko-KR" altLang="en-US" sz="2200" dirty="0">
                  <a:latin typeface="굴림" panose="020B0600000101010101" pitchFamily="50" charset="-127"/>
                  <a:ea typeface="굴림" panose="020B0600000101010101" pitchFamily="50" charset="-127"/>
                </a:rPr>
                <a:t>법에 </a:t>
              </a:r>
              <a:r>
                <a:rPr lang="ko-KR" altLang="en-US" sz="22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반하는 </a:t>
              </a:r>
              <a:r>
                <a:rPr lang="ko-KR" altLang="en-US" sz="2200" dirty="0">
                  <a:latin typeface="굴림" panose="020B0600000101010101" pitchFamily="50" charset="-127"/>
                  <a:ea typeface="굴림" panose="020B0600000101010101" pitchFamily="50" charset="-127"/>
                </a:rPr>
                <a:t>정치적 행위이다</a:t>
              </a:r>
              <a:r>
                <a:rPr lang="en-US" altLang="ko-KR" sz="22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.                       </a:t>
              </a:r>
              <a:r>
                <a:rPr lang="en-US" altLang="ko-KR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- </a:t>
              </a:r>
              <a:r>
                <a:rPr lang="ko-KR" altLang="en-US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롤스</a:t>
              </a:r>
              <a:r>
                <a:rPr lang="en-US" altLang="ko-KR" dirty="0">
                  <a:latin typeface="굴림" panose="020B0600000101010101" pitchFamily="50" charset="-127"/>
                  <a:ea typeface="굴림" panose="020B0600000101010101" pitchFamily="50" charset="-127"/>
                </a:rPr>
                <a:t>, 《</a:t>
              </a:r>
              <a:r>
                <a:rPr lang="ko-KR" altLang="en-US" dirty="0">
                  <a:latin typeface="굴림" panose="020B0600000101010101" pitchFamily="50" charset="-127"/>
                  <a:ea typeface="굴림" panose="020B0600000101010101" pitchFamily="50" charset="-127"/>
                </a:rPr>
                <a:t>정의론</a:t>
              </a:r>
              <a:r>
                <a:rPr lang="en-US" altLang="ko-KR" dirty="0">
                  <a:latin typeface="굴림" panose="020B0600000101010101" pitchFamily="50" charset="-127"/>
                  <a:ea typeface="굴림" panose="020B0600000101010101" pitchFamily="50" charset="-127"/>
                </a:rPr>
                <a:t>》</a:t>
              </a:r>
              <a:endParaRPr lang="en-US" altLang="ko-KR" sz="12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8758" y="5044466"/>
            <a:ext cx="8190804" cy="1655614"/>
          </a:xfrm>
          <a:prstGeom prst="rect">
            <a:avLst/>
          </a:prstGeom>
        </p:spPr>
      </p:pic>
      <p:sp>
        <p:nvSpPr>
          <p:cNvPr id="6" name="한쪽 모서리가 둥근 사각형 5"/>
          <p:cNvSpPr/>
          <p:nvPr/>
        </p:nvSpPr>
        <p:spPr>
          <a:xfrm flipV="1">
            <a:off x="11583343" y="6210300"/>
            <a:ext cx="433388" cy="489780"/>
          </a:xfrm>
          <a:prstGeom prst="round1Rect">
            <a:avLst>
              <a:gd name="adj" fmla="val 43956"/>
            </a:avLst>
          </a:prstGeom>
          <a:solidFill>
            <a:srgbClr val="D8E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37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655704" y="2911972"/>
            <a:ext cx="10484403" cy="3103970"/>
            <a:chOff x="655704" y="2911972"/>
            <a:chExt cx="10786202" cy="310397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5704" y="2911972"/>
              <a:ext cx="10786202" cy="1918086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5704" y="4552359"/>
              <a:ext cx="10786202" cy="1463583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249336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28437" y="224107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4918630" y="3456209"/>
            <a:ext cx="5977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전국 곳곳에 골프장을 많이 지으면서 환경 파괴 문제가 심각해지고 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9743" y="3452668"/>
            <a:ext cx="3137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골프장 확대에 따른 환경 파괴 문제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757663" y="1579380"/>
            <a:ext cx="1038244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 indent="-263525" algn="just">
              <a:lnSpc>
                <a:spcPct val="150000"/>
              </a:lnSpc>
            </a:pPr>
            <a:r>
              <a:rPr lang="en-US" altLang="ko-KR" sz="2000" b="1" dirty="0"/>
              <a:t>1. </a:t>
            </a:r>
            <a:r>
              <a:rPr lang="ko-KR" altLang="en-US" sz="2000" b="1" dirty="0"/>
              <a:t>우리 사회에서 개선이 필요하다고 생각하는 문제와 그렇게 생각한 까닭을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76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45" grpId="0"/>
      <p:bldP spid="45" grpId="1"/>
      <p:bldP spid="35" grpId="0"/>
      <p:bldP spid="3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57661" y="3038435"/>
            <a:ext cx="10382445" cy="272134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249336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28437" y="224107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40033" y="1690435"/>
            <a:ext cx="91637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/>
              <a:t>2. 1</a:t>
            </a:r>
            <a:r>
              <a:rPr lang="ko-KR" altLang="en-US" sz="2000" b="1" dirty="0"/>
              <a:t>에서 찾은 문제에 관해 조사하고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 문제를 해결할 수 있는 방안을 써 보자</a:t>
            </a:r>
            <a:r>
              <a:rPr lang="en-US" altLang="ko-KR" sz="2000" b="1" dirty="0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662" y="2329366"/>
            <a:ext cx="2828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/>
              <a:t>문제가 발생한 까닭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978" y="3035676"/>
            <a:ext cx="9879981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골프장을 건설할 때 산림을 파괴하며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골프장의 잔디를 관리하기 위해 물과 농약 및 화학 비료를 과도하게 사용하기 때문에 환경 파괴 문제가 발생하였다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34" name="타원 33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rId7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57661" y="3038435"/>
            <a:ext cx="10382445" cy="272134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249336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28437" y="224107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7662" y="2329366"/>
            <a:ext cx="3965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/>
              <a:t>문제가 사회에 미치는 영향</a:t>
            </a:r>
          </a:p>
        </p:txBody>
      </p:sp>
      <p:sp>
        <p:nvSpPr>
          <p:cNvPr id="34" name="타원 33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007978" y="3035676"/>
            <a:ext cx="9879981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골프장 수가 늘어나면서 더 많은 산림이 파괴되고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물 낭비와 토양 및 수질 오염 문제도 더 심각해지고 있다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또한 골프장을 이용하는 소수의 사람 때문에 골프장을 이용하지 않는 사람들도 환경 파괴에 따른 피해를 감당해야 한다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40033" y="1690435"/>
            <a:ext cx="91637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/>
              <a:t>2. 1</a:t>
            </a:r>
            <a:r>
              <a:rPr lang="ko-KR" altLang="en-US" sz="2000" b="1" dirty="0"/>
              <a:t>에서 찾은 문제에 관해 조사하고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 문제를 해결할 수 있는 방안을 써 보자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71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57661" y="3038435"/>
            <a:ext cx="10382445" cy="272134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249336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28437" y="224107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7662" y="2329366"/>
            <a:ext cx="3965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/>
              <a:t>문제를 해결할 수 있는 방안</a:t>
            </a:r>
          </a:p>
        </p:txBody>
      </p:sp>
      <p:sp>
        <p:nvSpPr>
          <p:cNvPr id="34" name="타원 33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rId8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007978" y="3035676"/>
            <a:ext cx="9879981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첫째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골프장에서 물 사용을 최소화하고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친환경 농약을 사용하도록 하는 등 골프장과 관련한 법과 제도를 수립하고 재검토한다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둘째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사업자가 골프장 설치 및 운영에 따른 환경 파괴 문제의 대책을 마련하도록 의무화한다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40033" y="1690435"/>
            <a:ext cx="91637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/>
              <a:t>2. 1</a:t>
            </a:r>
            <a:r>
              <a:rPr lang="ko-KR" altLang="en-US" sz="2000" b="1" dirty="0"/>
              <a:t>에서 찾은 문제에 관해 조사하고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 문제를 해결할 수 있는 방안을 써 보자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28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3061" y="2191346"/>
            <a:ext cx="5495925" cy="39903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3625" y="2191346"/>
            <a:ext cx="4902602" cy="399037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44108" y="1686602"/>
            <a:ext cx="81808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>
                <a:latin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</a:rPr>
              <a:t>문제를 해결하기 위한 방안을 담은 정책 제안서를 써 보자</a:t>
            </a:r>
            <a:r>
              <a:rPr lang="en-US" altLang="ko-KR" sz="20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64924" y="3322275"/>
            <a:ext cx="85388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dirty="0" smtClean="0">
                <a:latin typeface="+mn-ea"/>
                <a:ea typeface="+mn-ea"/>
              </a:rPr>
              <a:t>  저는</a:t>
            </a:r>
            <a:r>
              <a:rPr lang="en-US" altLang="ko-KR" sz="2000" dirty="0" smtClean="0">
                <a:latin typeface="+mn-ea"/>
                <a:ea typeface="+mn-ea"/>
              </a:rPr>
              <a:t>_______________________________________________ </a:t>
            </a:r>
            <a:r>
              <a:rPr lang="ko-KR" altLang="en-US" sz="2000" dirty="0">
                <a:latin typeface="+mn-ea"/>
              </a:rPr>
              <a:t>문제를 해결하기 위해</a:t>
            </a:r>
            <a:endParaRPr lang="en-US" altLang="ko-KR" sz="2000" dirty="0">
              <a:latin typeface="+mn-ea"/>
            </a:endParaRPr>
          </a:p>
          <a:p>
            <a:pPr algn="just">
              <a:lnSpc>
                <a:spcPct val="20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__________________________________________________________________________________________________________________________________________________________________________________________________________________ </a:t>
            </a:r>
            <a:r>
              <a:rPr lang="ko-KR" altLang="en-US" sz="2000" dirty="0">
                <a:latin typeface="+mn-ea"/>
              </a:rPr>
              <a:t>정책을 제안합니다</a:t>
            </a:r>
            <a:r>
              <a:rPr lang="en-US" altLang="ko-KR" sz="2000" dirty="0">
                <a:latin typeface="+mn-ea"/>
              </a:rPr>
              <a:t>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5684" y="2855388"/>
            <a:ext cx="252307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  <a:ea typeface="+mn-ea"/>
              </a:rPr>
              <a:t>이름</a:t>
            </a:r>
            <a:r>
              <a:rPr lang="en-US" altLang="ko-KR" sz="2000" dirty="0" smtClean="0">
                <a:latin typeface="+mn-ea"/>
                <a:ea typeface="+mn-ea"/>
              </a:rPr>
              <a:t>:______________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8192" y="2751547"/>
            <a:ext cx="1233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 smtClean="0">
                <a:solidFill>
                  <a:srgbClr val="0070C0"/>
                </a:solidFill>
                <a:latin typeface="+mn-ea"/>
                <a:ea typeface="+mn-ea"/>
              </a:rPr>
              <a:t>김도덕</a:t>
            </a:r>
            <a:endParaRPr lang="ko-KR" altLang="en-US" sz="24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74680" y="3322275"/>
            <a:ext cx="4317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  <a:ea typeface="+mn-ea"/>
              </a:rPr>
              <a:t>골프장 확대에 따른 환경 파괴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4649" y="3932774"/>
            <a:ext cx="84384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골프장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관련 법과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제도를 수립하고 재검토하며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사업자가 골프장 설치 및 운영에 따른 환경 파괴 문제의 대책을 마련하게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하는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6" name="타원 55">
            <a:hlinkClick r:id="" action="ppaction://hlinkshowjump?jump=next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hlinkClick r:id="rId7" action="ppaction://hlinksldjump"/>
          </p:cNvPr>
          <p:cNvSpPr/>
          <p:nvPr/>
        </p:nvSpPr>
        <p:spPr>
          <a:xfrm>
            <a:off x="6034476" y="626343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hlinkClick r:id="rId8" action="ppaction://hlinksldjump"/>
          </p:cNvPr>
          <p:cNvSpPr/>
          <p:nvPr/>
        </p:nvSpPr>
        <p:spPr>
          <a:xfrm>
            <a:off x="6400784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hlinkClick r:id="rId9" action="ppaction://hlinksldjump"/>
          </p:cNvPr>
          <p:cNvSpPr/>
          <p:nvPr/>
        </p:nvSpPr>
        <p:spPr>
          <a:xfrm>
            <a:off x="6807196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5269468" y="6253901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5221612" y="2608046"/>
            <a:ext cx="195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latin typeface="+mn-ea"/>
                <a:ea typeface="+mn-ea"/>
              </a:rPr>
              <a:t>정책 제안서</a:t>
            </a:r>
            <a:endParaRPr lang="ko-KR" altLang="en-US" sz="2400" b="1" dirty="0">
              <a:latin typeface="+mn-ea"/>
              <a:ea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10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33" y="2941149"/>
            <a:ext cx="2436337" cy="383282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3100" y="1921413"/>
            <a:ext cx="1736725" cy="747547"/>
          </a:xfrm>
          <a:prstGeom prst="rect">
            <a:avLst/>
          </a:prstGeom>
        </p:spPr>
      </p:pic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9053" y="169591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8251" y="1695915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70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40" grpId="0"/>
      <p:bldP spid="40" grpId="1"/>
      <p:bldP spid="41" grpId="0"/>
      <p:bldP spid="4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3061" y="2191346"/>
            <a:ext cx="5495925" cy="399037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3625" y="2191346"/>
            <a:ext cx="4902602" cy="399037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44108" y="1686602"/>
            <a:ext cx="83808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>
                <a:latin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</a:rPr>
              <a:t>문제를 해결하기 위한 방안을 담은 정책 제안서를 써 보자</a:t>
            </a:r>
            <a:r>
              <a:rPr lang="en-US" altLang="ko-KR" sz="20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64924" y="3322275"/>
            <a:ext cx="85388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dirty="0" smtClean="0">
                <a:latin typeface="+mn-ea"/>
                <a:ea typeface="+mn-ea"/>
              </a:rPr>
              <a:t>  이 문제는 </a:t>
            </a:r>
            <a:r>
              <a:rPr lang="en-US" altLang="ko-KR" sz="2000" dirty="0" smtClean="0">
                <a:latin typeface="+mn-ea"/>
                <a:ea typeface="+mn-ea"/>
              </a:rPr>
              <a:t>________________________________________________________________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___________________________________________________________________________________________________________________________________________________________________________________________________________ </a:t>
            </a:r>
            <a:r>
              <a:rPr lang="ko-KR" altLang="en-US" sz="2000" dirty="0" smtClean="0">
                <a:latin typeface="+mn-ea"/>
              </a:rPr>
              <a:t>때문에 발생하고 있습니다</a:t>
            </a:r>
            <a:r>
              <a:rPr lang="en-US" altLang="ko-KR" sz="2000" dirty="0" smtClean="0"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51931" y="3347349"/>
            <a:ext cx="84384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              골프장을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건설할 때 산림을 파괴하고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골프장의 잔디 관리를 위해 물과 농약 및 화학 비료를 과도하게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사용하기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hlinkClick r:id="rId7" action="ppaction://hlinksldjump"/>
          </p:cNvPr>
          <p:cNvSpPr/>
          <p:nvPr/>
        </p:nvSpPr>
        <p:spPr>
          <a:xfrm>
            <a:off x="6034476" y="626343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hlinkClick r:id="rId8" action="ppaction://hlinksldjump"/>
          </p:cNvPr>
          <p:cNvSpPr/>
          <p:nvPr/>
        </p:nvSpPr>
        <p:spPr>
          <a:xfrm>
            <a:off x="6400784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hlinkClick r:id="rId9" action="ppaction://hlinksldjump"/>
          </p:cNvPr>
          <p:cNvSpPr/>
          <p:nvPr/>
        </p:nvSpPr>
        <p:spPr>
          <a:xfrm>
            <a:off x="6807196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hlinkClick r:id="rId10" action="ppaction://hlinksldjump"/>
          </p:cNvPr>
          <p:cNvSpPr/>
          <p:nvPr/>
        </p:nvSpPr>
        <p:spPr>
          <a:xfrm>
            <a:off x="5269468" y="6253901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33" y="2941149"/>
            <a:ext cx="2436337" cy="383282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21612" y="2608046"/>
            <a:ext cx="195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latin typeface="+mn-ea"/>
                <a:ea typeface="+mn-ea"/>
              </a:rPr>
              <a:t>정책 제안서</a:t>
            </a:r>
            <a:endParaRPr lang="ko-KR" altLang="en-US" sz="2400" b="1" dirty="0">
              <a:latin typeface="+mn-ea"/>
              <a:ea typeface="+mn-ea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3100" y="1921413"/>
            <a:ext cx="1736725" cy="747547"/>
          </a:xfrm>
          <a:prstGeom prst="rect">
            <a:avLst/>
          </a:prstGeom>
        </p:spPr>
      </p:pic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9053" y="169591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8251" y="1695915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118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3061" y="2191346"/>
            <a:ext cx="5495925" cy="3990379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3625" y="2191346"/>
            <a:ext cx="4902602" cy="399037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44108" y="1686602"/>
            <a:ext cx="77236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>
                <a:latin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</a:rPr>
              <a:t>문제를 해결하기 위한 방안을 담은 정책 제안서를 써 보자</a:t>
            </a:r>
            <a:r>
              <a:rPr lang="en-US" altLang="ko-KR" sz="20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64924" y="3322275"/>
            <a:ext cx="85388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dirty="0" smtClean="0">
                <a:latin typeface="+mn-ea"/>
                <a:ea typeface="+mn-ea"/>
              </a:rPr>
              <a:t>  </a:t>
            </a:r>
            <a:r>
              <a:rPr lang="ko-KR" altLang="en-US" sz="2000" dirty="0" smtClean="0">
                <a:latin typeface="+mn-ea"/>
              </a:rPr>
              <a:t>이러한 문제는 우리 사회에 </a:t>
            </a:r>
            <a:r>
              <a:rPr lang="en-US" altLang="ko-KR" sz="2000" dirty="0" smtClean="0">
                <a:latin typeface="+mn-ea"/>
              </a:rPr>
              <a:t>______________________________________________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>
                <a:latin typeface="+mn-ea"/>
              </a:rPr>
              <a:t>_____________________________________________________________________________________________________________________________________________________________________________________________________________ </a:t>
            </a:r>
            <a:r>
              <a:rPr lang="ko-KR" altLang="en-US" sz="2000" dirty="0" smtClean="0">
                <a:latin typeface="+mn-ea"/>
              </a:rPr>
              <a:t>영향을 미치고 있습니다</a:t>
            </a:r>
            <a:r>
              <a:rPr lang="en-US" altLang="ko-KR" sz="2000" dirty="0" smtClean="0"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48449" y="3331644"/>
            <a:ext cx="85106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pc="-130" dirty="0" smtClean="0">
                <a:solidFill>
                  <a:srgbClr val="0070C0"/>
                </a:solidFill>
                <a:latin typeface="+mn-ea"/>
              </a:rPr>
              <a:t>                                     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산림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파괴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물 낭비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토양 및 수질 오염 등 환경 파괴 문제를 심화시킬 뿐만 아니라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골프장을 이용하는 소수의 사람을 위해 모든 사람이 환경 파괴에 따른 피해를 감당하게 하는 등 부정적</a:t>
            </a:r>
          </a:p>
        </p:txBody>
      </p:sp>
      <p:sp>
        <p:nvSpPr>
          <p:cNvPr id="56" name="타원 55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6034476" y="6263436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hlinkClick r:id="rId8" action="ppaction://hlinksldjump"/>
          </p:cNvPr>
          <p:cNvSpPr/>
          <p:nvPr/>
        </p:nvSpPr>
        <p:spPr>
          <a:xfrm>
            <a:off x="6400784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hlinkClick r:id="rId9" action="ppaction://hlinksldjump"/>
          </p:cNvPr>
          <p:cNvSpPr/>
          <p:nvPr/>
        </p:nvSpPr>
        <p:spPr>
          <a:xfrm>
            <a:off x="6807196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hlinkClick r:id="rId10" action="ppaction://hlinksldjump"/>
          </p:cNvPr>
          <p:cNvSpPr/>
          <p:nvPr/>
        </p:nvSpPr>
        <p:spPr>
          <a:xfrm>
            <a:off x="5269468" y="6253901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33" y="2941149"/>
            <a:ext cx="2436337" cy="383282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221612" y="2608046"/>
            <a:ext cx="195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latin typeface="+mn-ea"/>
                <a:ea typeface="+mn-ea"/>
              </a:rPr>
              <a:t>정책 제안서</a:t>
            </a:r>
            <a:endParaRPr lang="ko-KR" altLang="en-US" sz="2400" b="1" dirty="0">
              <a:latin typeface="+mn-ea"/>
              <a:ea typeface="+mn-ea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3100" y="1921413"/>
            <a:ext cx="1736725" cy="747547"/>
          </a:xfrm>
          <a:prstGeom prst="rect">
            <a:avLst/>
          </a:prstGeom>
        </p:spPr>
      </p:pic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9053" y="169591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8251" y="1695915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18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3061" y="2191346"/>
            <a:ext cx="5495925" cy="3990379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3625" y="2191346"/>
            <a:ext cx="4902602" cy="399037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44108" y="1686602"/>
            <a:ext cx="83141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>
                <a:latin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</a:rPr>
              <a:t>문제를 해결하기 위한 방안을 담은 정책 제안서를 써 보자</a:t>
            </a:r>
            <a:r>
              <a:rPr lang="en-US" altLang="ko-KR" sz="20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64924" y="3322275"/>
            <a:ext cx="85388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dirty="0" smtClean="0">
                <a:latin typeface="+mn-ea"/>
                <a:ea typeface="+mn-ea"/>
              </a:rPr>
              <a:t>  </a:t>
            </a:r>
            <a:r>
              <a:rPr lang="ko-KR" altLang="en-US" sz="2000" dirty="0" smtClean="0">
                <a:latin typeface="+mn-ea"/>
              </a:rPr>
              <a:t>이를 해결하기 위해서는 </a:t>
            </a:r>
            <a:r>
              <a:rPr lang="en-US" altLang="ko-KR" sz="2000" dirty="0" smtClean="0">
                <a:latin typeface="+mn-ea"/>
              </a:rPr>
              <a:t>_________________________________________________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>
                <a:latin typeface="+mn-ea"/>
              </a:rPr>
              <a:t>____________________________________________________________________________________________________________________________________________________________________________________________________________________ </a:t>
            </a:r>
            <a:r>
              <a:rPr lang="ko-KR" altLang="en-US" sz="2000" dirty="0" smtClean="0">
                <a:latin typeface="+mn-ea"/>
              </a:rPr>
              <a:t>이</a:t>
            </a:r>
            <a:r>
              <a:rPr lang="en-US" altLang="ko-KR" sz="2000" dirty="0" smtClean="0">
                <a:latin typeface="+mn-ea"/>
              </a:rPr>
              <a:t>/</a:t>
            </a:r>
            <a:r>
              <a:rPr lang="ko-KR" altLang="en-US" sz="2000" dirty="0" smtClean="0">
                <a:latin typeface="+mn-ea"/>
              </a:rPr>
              <a:t>가 필요합니다</a:t>
            </a:r>
            <a:r>
              <a:rPr lang="en-US" altLang="ko-KR" sz="2000" dirty="0" smtClean="0"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48449" y="3339688"/>
            <a:ext cx="85106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                             골프장에서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사용하는 물에 누진세를 적용하는 등 골프장과 관련한 법과 제도를 수립하고 재검토하는 노력과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사업자가 골프장 설치 및 운영에 따른 환경 파괴 문제의 대책을 마련하도록 의무화하는 노력</a:t>
            </a:r>
          </a:p>
        </p:txBody>
      </p:sp>
      <p:sp>
        <p:nvSpPr>
          <p:cNvPr id="56" name="타원 55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hlinkClick r:id="rId8" action="ppaction://hlinksldjump"/>
          </p:cNvPr>
          <p:cNvSpPr/>
          <p:nvPr/>
        </p:nvSpPr>
        <p:spPr>
          <a:xfrm>
            <a:off x="6034476" y="626343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6400784" y="626299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hlinkClick r:id="rId9" action="ppaction://hlinksldjump"/>
          </p:cNvPr>
          <p:cNvSpPr/>
          <p:nvPr/>
        </p:nvSpPr>
        <p:spPr>
          <a:xfrm>
            <a:off x="6807196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hlinkClick r:id="rId10" action="ppaction://hlinksldjump"/>
          </p:cNvPr>
          <p:cNvSpPr/>
          <p:nvPr/>
        </p:nvSpPr>
        <p:spPr>
          <a:xfrm>
            <a:off x="5269468" y="6253901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33" y="2941149"/>
            <a:ext cx="2436337" cy="383282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221612" y="2608046"/>
            <a:ext cx="195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latin typeface="+mn-ea"/>
                <a:ea typeface="+mn-ea"/>
              </a:rPr>
              <a:t>정책 제안서</a:t>
            </a:r>
            <a:endParaRPr lang="ko-KR" altLang="en-US" sz="2400" b="1" dirty="0">
              <a:latin typeface="+mn-ea"/>
              <a:ea typeface="+mn-ea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3100" y="1921413"/>
            <a:ext cx="1736725" cy="747547"/>
          </a:xfrm>
          <a:prstGeom prst="rect">
            <a:avLst/>
          </a:prstGeom>
        </p:spPr>
      </p:pic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9053" y="169591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8251" y="1695915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80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3061" y="2191346"/>
            <a:ext cx="5495925" cy="3990379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3625" y="2191346"/>
            <a:ext cx="4902602" cy="399037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시민으로서 정책 제안하기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44108" y="1686602"/>
            <a:ext cx="75997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/>
            <a:r>
              <a:rPr lang="en-US" altLang="ko-KR" sz="2000" b="1" dirty="0">
                <a:latin typeface="맑은 고딕" panose="020B0503020000020004" pitchFamily="50" charset="-127"/>
              </a:rPr>
              <a:t>3. </a:t>
            </a:r>
            <a:r>
              <a:rPr lang="ko-KR" altLang="en-US" sz="2000" b="1" dirty="0">
                <a:latin typeface="맑은 고딕" panose="020B0503020000020004" pitchFamily="50" charset="-127"/>
              </a:rPr>
              <a:t>문제를 해결하기 위한 방안을 담은 정책 제안서를 써 보자</a:t>
            </a:r>
            <a:r>
              <a:rPr lang="en-US" altLang="ko-KR" sz="20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64924" y="3322275"/>
            <a:ext cx="85388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dirty="0" smtClean="0">
                <a:latin typeface="+mn-ea"/>
                <a:ea typeface="+mn-ea"/>
              </a:rPr>
              <a:t>  따라서 </a:t>
            </a:r>
            <a:r>
              <a:rPr lang="en-US" altLang="ko-KR" sz="2000" dirty="0" smtClean="0">
                <a:latin typeface="+mn-ea"/>
                <a:ea typeface="+mn-ea"/>
              </a:rPr>
              <a:t>_______________________</a:t>
            </a:r>
            <a:r>
              <a:rPr lang="en-US" altLang="ko-KR" sz="2000" dirty="0" smtClean="0">
                <a:latin typeface="+mn-ea"/>
              </a:rPr>
              <a:t>____________________________________________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>
                <a:latin typeface="+mn-ea"/>
              </a:rPr>
              <a:t>__________________________________________________________________________________________________________________________________________________________________________________________________________________ </a:t>
            </a:r>
            <a:r>
              <a:rPr lang="ko-KR" altLang="en-US" sz="2000" dirty="0" smtClean="0">
                <a:latin typeface="+mn-ea"/>
              </a:rPr>
              <a:t>할 것을 제안합니다</a:t>
            </a:r>
            <a:r>
              <a:rPr lang="en-US" altLang="ko-KR" sz="2000" dirty="0" smtClean="0"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48449" y="3339688"/>
            <a:ext cx="85106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           골프장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관련 법과 제도를 수립하고 재검토하며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사업자가 골프장 설치 및 운영에 따른 환경 파괴의 책임을 지게</a:t>
            </a:r>
          </a:p>
        </p:txBody>
      </p:sp>
      <p:sp>
        <p:nvSpPr>
          <p:cNvPr id="56" name="타원 55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hlinkClick r:id="rId8" action="ppaction://hlinksldjump"/>
          </p:cNvPr>
          <p:cNvSpPr/>
          <p:nvPr/>
        </p:nvSpPr>
        <p:spPr>
          <a:xfrm>
            <a:off x="6034476" y="626343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hlinkClick r:id="rId9" action="ppaction://hlinksldjump"/>
          </p:cNvPr>
          <p:cNvSpPr/>
          <p:nvPr/>
        </p:nvSpPr>
        <p:spPr>
          <a:xfrm>
            <a:off x="6400784" y="62629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6807196" y="626299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hlinkClick r:id="rId10" action="ppaction://hlinksldjump"/>
          </p:cNvPr>
          <p:cNvSpPr/>
          <p:nvPr/>
        </p:nvSpPr>
        <p:spPr>
          <a:xfrm>
            <a:off x="5269468" y="6253901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33" y="2941149"/>
            <a:ext cx="2436337" cy="383282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221612" y="2608046"/>
            <a:ext cx="195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latin typeface="+mn-ea"/>
                <a:ea typeface="+mn-ea"/>
              </a:rPr>
              <a:t>정책 제안서</a:t>
            </a:r>
            <a:endParaRPr lang="ko-KR" altLang="en-US" sz="2400" b="1" dirty="0">
              <a:latin typeface="+mn-ea"/>
              <a:ea typeface="+mn-ea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3100" y="1921413"/>
            <a:ext cx="1736725" cy="747547"/>
          </a:xfrm>
          <a:prstGeom prst="rect">
            <a:avLst/>
          </a:prstGeom>
        </p:spPr>
      </p:pic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9053" y="169591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8251" y="1695915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036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xmlns="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>
                <a:solidFill>
                  <a:srgbClr val="00B050"/>
                </a:solidFill>
                <a:latin typeface="+mn-ea"/>
              </a:rPr>
              <a:t>국가와 시민의 역할을 잘 이해했는지 </a:t>
            </a:r>
            <a:r>
              <a:rPr lang="en-US" altLang="ko-KR" sz="2200" b="1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>
                <a:solidFill>
                  <a:srgbClr val="00B050"/>
                </a:solidFill>
                <a:latin typeface="+mn-ea"/>
              </a:rPr>
              <a:t>바람직한 국가 공동체를 만들어 가기 위해 시민으로서 내가 노력할 점을 써 보자</a:t>
            </a:r>
            <a:r>
              <a:rPr lang="en-US" altLang="ko-KR" sz="2200" b="1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바람직한 국가 공동체를 만들어 가기 위해 시민으로서 사회 문제에 관심을 기울이고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청소년 의회에 참여하여 문제를 해결할 방법을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제안해야겠다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노력할 </a:t>
              </a: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791055" y="2776606"/>
            <a:ext cx="40854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국가의 역할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9961" y="2769386"/>
            <a:ext cx="40854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시민의 역할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91055" y="2840914"/>
            <a:ext cx="4085405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5219960" y="2835824"/>
            <a:ext cx="4085405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168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5854535" y="632819"/>
            <a:ext cx="602096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시민의 힘으로 우리 역사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영토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문화 바로 알리기</a:t>
            </a:r>
          </a:p>
        </p:txBody>
      </p:sp>
      <p:sp>
        <p:nvSpPr>
          <p:cNvPr id="6" name="직사각형 5"/>
          <p:cNvSpPr/>
          <p:nvPr/>
        </p:nvSpPr>
        <p:spPr>
          <a:xfrm flipV="1">
            <a:off x="0" y="3606023"/>
            <a:ext cx="11809562" cy="124494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635943" y="1587411"/>
            <a:ext cx="10858575" cy="2063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우리나라의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역사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영토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문화를 지키려면 시민 모두의 관심과 노력이 필요하다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반크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(VANK, Voluntary Agency Network of Korea)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전 세계에 우리나라를 바로 알리고자 설립된 민간단체로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우리나라에 관한 왜곡된 사실을 바로잡는 등 다양한 활동을 하고 있다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7" name="타원 26">
            <a:hlinkClick r:id="rId5" action="ppaction://hlinksldjump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6" action="ppaction://hlinksldjump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655685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26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3071230" y="1737686"/>
            <a:ext cx="8370676" cy="38075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81447" y="1791591"/>
            <a:ext cx="8033686" cy="36471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어떤 활동을 할까요</a:t>
            </a:r>
            <a:r>
              <a:rPr lang="en-US" altLang="ko-KR" sz="22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외국 교과서나 백과사전 등에는 우리나라의 역사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영토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문화와 관련하여 잘못된 내용이 실린 경우가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반크는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이를 바로잡고자 관련 내용을 올바르게 서술한 소개 자료를 제작하여 세계 곳곳에 배포하고 있다</a:t>
            </a:r>
            <a:r>
              <a:rPr lang="en-US" altLang="ko-KR" sz="220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또한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다른 나라의 세계 지도나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누리집에서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독도와 동해를 잘못 표기한 경우 이를 바로잡는 활동도 활발히 진행하고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5854535" y="632819"/>
            <a:ext cx="602096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시민의 힘으로 우리 역사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영토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문화 바로 알리기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5618" y="3174521"/>
            <a:ext cx="9681805" cy="368347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89" y="5424433"/>
            <a:ext cx="2009943" cy="724304"/>
          </a:xfrm>
          <a:prstGeom prst="rect">
            <a:avLst/>
          </a:prstGeom>
        </p:spPr>
      </p:pic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rId7" action="ppaction://hlinksldjump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8" action="ppaction://hlinksldjump"/>
          </p:cNvPr>
          <p:cNvSpPr/>
          <p:nvPr/>
        </p:nvSpPr>
        <p:spPr>
          <a:xfrm>
            <a:off x="655685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9" action="ppaction://hlinksldjump"/>
          </p:cNvPr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42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651679" y="1741809"/>
            <a:ext cx="10641632" cy="43201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77517" y="1747454"/>
            <a:ext cx="3329758" cy="5211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이런 활동도 하고 있어요</a:t>
            </a:r>
            <a:r>
              <a:rPr lang="en-US" altLang="ko-KR" sz="22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2088" y="2329132"/>
            <a:ext cx="6810375" cy="3522799"/>
          </a:xfrm>
          <a:prstGeom prst="roundRect">
            <a:avLst>
              <a:gd name="adj" fmla="val 564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71144" y="2329132"/>
            <a:ext cx="4762801" cy="3522799"/>
          </a:xfrm>
          <a:prstGeom prst="roundRect">
            <a:avLst>
              <a:gd name="adj" fmla="val 564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5854535" y="632819"/>
            <a:ext cx="602096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시민의 힘으로 우리 역사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영토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문화 바로 알리기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174393" y="4144618"/>
            <a:ext cx="9694890" cy="1536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반크는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2020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12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고등학교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중국어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교재에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파오차이’가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김치’로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잘못 번역된 사실을 발견하고 교재를 만든 출판사에 이를 바로잡을 것을 요구하였다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해당 출판사는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반크의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요청을 받은 뒤 이를 정정하였다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7493" y="2757369"/>
            <a:ext cx="6150634" cy="1512451"/>
          </a:xfrm>
          <a:prstGeom prst="rect">
            <a:avLst/>
          </a:prstGeom>
        </p:spPr>
      </p:pic>
      <p:sp>
        <p:nvSpPr>
          <p:cNvPr id="35" name="타원 34">
            <a:hlinkClick r:id="rId7" action="ppaction://hlinksldjump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8" action="ppaction://hlinksldjump"/>
          </p:cNvPr>
          <p:cNvSpPr/>
          <p:nvPr/>
        </p:nvSpPr>
        <p:spPr>
          <a:xfrm>
            <a:off x="655685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hlinkClick r:id="rId9" action="ppaction://hlinksldjump"/>
          </p:cNvPr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58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xmlns="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41852" y="2229798"/>
            <a:ext cx="8600114" cy="31057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모서리가 둥근 사각형 설명선 31"/>
          <p:cNvSpPr/>
          <p:nvPr/>
        </p:nvSpPr>
        <p:spPr>
          <a:xfrm>
            <a:off x="9419980" y="2229799"/>
            <a:ext cx="2151529" cy="1920338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인터넷에서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우리나라에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관한 잘못된 정보를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찾아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바로잡는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활동을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해 보자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pic>
        <p:nvPicPr>
          <p:cNvPr id="33" name="그림 32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xmlns="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5854535" y="632819"/>
            <a:ext cx="602096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시민의 힘으로 우리 역사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영토</a:t>
            </a:r>
            <a:r>
              <a:rPr lang="en-US" altLang="ko-KR" sz="2300" b="1" spc="-19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sz="2300" b="1" spc="-190">
                <a:solidFill>
                  <a:schemeClr val="tx2"/>
                </a:solidFill>
                <a:latin typeface="+mj-ea"/>
                <a:ea typeface="+mj-ea"/>
              </a:rPr>
              <a:t>문화 바로 알리기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556" y="2477026"/>
            <a:ext cx="801978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우리가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살아가면서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접하는 많은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분야에서 우리나라에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관한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왜곡된 서술을 발견할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수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반크는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인터넷을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통해 시민들이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다양한 분야에서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자유롭게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문제를 제기하고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의견을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낼 수 있도록 하고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통해 시민들은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문제의식을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공유하고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함께 해결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방안을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만들어 나가고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타원 36">
            <a:hlinkClick r:id="rId7" action="ppaction://hlinksldjump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" action="ppaction://hlinkshowjump?jump=previous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655685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hlinkClick r:id="rId8" action="ppaction://hlinksldjump"/>
          </p:cNvPr>
          <p:cNvSpPr/>
          <p:nvPr/>
        </p:nvSpPr>
        <p:spPr>
          <a:xfrm>
            <a:off x="537072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91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“3.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세계시민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– </a:t>
            </a:r>
          </a:p>
          <a:p>
            <a:pPr algn="ctr"/>
            <a:r>
              <a:rPr lang="en-US" altLang="ko-KR" sz="2800" b="1" spc="-110" dirty="0" smtClean="0">
                <a:solidFill>
                  <a:schemeClr val="tx1"/>
                </a:solidFill>
              </a:rPr>
              <a:t>01.</a:t>
            </a:r>
            <a:r>
              <a:rPr lang="ko-KR" altLang="en-US" sz="2800" b="1" spc="-110" dirty="0">
                <a:solidFill>
                  <a:schemeClr val="tx1"/>
                </a:solidFill>
              </a:rPr>
              <a:t> </a:t>
            </a:r>
            <a:r>
              <a:rPr lang="ko-KR" altLang="en-US" sz="2800" b="1" spc="-110" dirty="0" err="1" smtClean="0">
                <a:solidFill>
                  <a:schemeClr val="tx1"/>
                </a:solidFill>
              </a:rPr>
              <a:t>세계시민이</a:t>
            </a:r>
            <a:r>
              <a:rPr lang="ko-KR" altLang="en-US" sz="2800" b="1" spc="-110" dirty="0" smtClean="0">
                <a:solidFill>
                  <a:schemeClr val="tx1"/>
                </a:solidFill>
              </a:rPr>
              <a:t> 직면한 도덕 문제에는 무엇이 있을까</a:t>
            </a:r>
            <a:r>
              <a:rPr lang="en-US" altLang="ko-KR" sz="2800" b="1" spc="-110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spc="-110" dirty="0" smtClean="0">
                <a:solidFill>
                  <a:schemeClr val="tx1"/>
                </a:solidFill>
              </a:rPr>
              <a:t>를</a:t>
            </a:r>
            <a:endParaRPr lang="en-US" altLang="ko-KR" sz="2800" spc="-11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xmlns="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0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시민의 바람직한 관계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국가는 정의로운 사회 제도를 갖추는 등의 노력을 통해 정당한 권위를 확보하고, 시민은 자기 이익만 추구하기보다는 국가 공동체 모두의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행복 </a:t>
            </a:r>
            <a:r>
              <a:rPr sz="2400" b="0">
                <a:solidFill>
                  <a:srgbClr val="262626"/>
                </a:solidFill>
              </a:rPr>
              <a:t>을 고려하여 행동할 때 국가와 시민은 바람직한 관계를 형성할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공정한 법을 만드는 국가 + 세금을 성실히 내는 시민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국가는 정의로운 사회 제도를 갖추는 등의 노력을 통해 정당한 권위를 확보하고, 시민은 자기 이익만 추구하기보다는 국가 공동체 모두의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고려하여 행동할 때 국가와 시민은 바람직한 관계를 형성할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공정한 법을 만드는 국가 + 세금을 성실히 내는 시민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국가는 정의로운 사회 제도를 갖추는 등의 노력을 통해 정당한 권위를 확보하고, 시민은 자기 이익만 추구하기보다는 국가 공동체 모두의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고려하여 행동할 때 국가와 시민은 바람직한 관계를 형성할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공정한 법을 만드는 국가 + 세금을 성실히 내는 시민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국가의 역할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국가는 시민의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인간 </a:t>
            </a:r>
            <a:r>
              <a:rPr sz="2400" b="0">
                <a:solidFill>
                  <a:srgbClr val="262626"/>
                </a:solidFill>
              </a:rPr>
              <a:t>다운 생활을 보장해야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국가는 공정한 사회 제도와 질서를 수립해야 하며, 이를 바탕으로 다양한 갈등을 조정해야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재난 지원금, 공정한 법원, 인권 보장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국가는 자유, 평등, 정의, 평화, 복지, 인권 등 보편적 가치를 지향하여 시민이 더 나은 삶을 누릴 수 있는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토대 </a:t>
            </a:r>
            <a:r>
              <a:rPr sz="2400" b="0">
                <a:solidFill>
                  <a:srgbClr val="262626"/>
                </a:solidFill>
              </a:rPr>
              <a:t>를 마련해 주어야 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국가는 시민의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다운 생활을 보장해야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국가는 공정한 사회 제도와 질서를 수립해야 하며, 이를 바탕으로 다양한 갈등을 조정해야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재난 지원금, 공정한 법원, 인권 보장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국가는 자유, 평등, 정의, 평화, 복지, 인권 등 보편적 가치를 지향하여 시민이 더 나은 삶을 누릴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토대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마련해 주어야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국가는 시민의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다운 생활을 보장해야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국가는 공정한 사회 제도와 질서를 수립해야 하며, 이를 바탕으로 다양한 갈등을 조정해야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재난 지원금, 공정한 법원, 인권 보장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국가는 자유, 평등, 정의, 평화, 복지, 인권 등 보편적 가치를 지향하여 시민이 더 나은 삶을 누릴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토대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마련해 주어야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국가는 시민의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다운 생활을 보장해야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국가는 공정한 사회 제도와 질서를 수립해야 하며, 이를 바탕으로 다양한 갈등을 조정해야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재난 지원금, 공정한 법원, 인권 보장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국가는 자유, 평등, 정의, 평화, 복지, 인권 등 보편적 가치를 지향하여 시민이 더 나은 삶을 누릴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토대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마련해 주어야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시민의 역할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시민은 자신의 권리가 무엇인지 분명하게 알고 이를 바르게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행사 </a:t>
            </a:r>
            <a:r>
              <a:rPr sz="2400" b="0">
                <a:solidFill>
                  <a:srgbClr val="262626"/>
                </a:solidFill>
              </a:rPr>
              <a:t>해야 하며, 권리를 누리는 만큼 의무를 수행하는 등 그 역할을 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선거일에 투표하기, 세금과 법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시민은 공동체의 구성원으로서 연대 의식을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발휘 </a:t>
            </a:r>
            <a:r>
              <a:rPr sz="2400" b="0">
                <a:solidFill>
                  <a:srgbClr val="262626"/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시민은 사회 구성원으로서 주체적으로 행동해야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국가 공동체를 긍정적인 방향으로 이끌기 위해 사회 문제에 관심을 두고, 이를 해결하는 데 적극적으로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참여 </a:t>
            </a:r>
            <a:r>
              <a:rPr sz="2400" b="0">
                <a:solidFill>
                  <a:srgbClr val="262626"/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앞 위험한 횡단보도 개선을 구청에 건의하기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시민이 사회 문제를 해결하는 데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능동 </a:t>
            </a:r>
            <a:r>
              <a:rPr sz="2400" b="0">
                <a:solidFill>
                  <a:srgbClr val="262626"/>
                </a:solidFill>
              </a:rPr>
              <a:t>적으로 참여할 때 정의롭고 바람직한 국가 공동체를 만들어 나갈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시민은 자신의 권리가 무엇인지 분명하게 알고 이를 바르게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행사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하며, 권리를 누리는 만큼 의무를 수행하는 등 그 역할을 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선거일에 투표하기, 세금과 법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시민은 공동체의 구성원으로서 연대 의식을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시민은 사회 구성원으로서 주체적으로 행동해야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 공동체를 긍정적인 방향으로 이끌기 위해 사회 문제에 관심을 두고, 이를 해결하는 데 적극적으로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앞 위험한 횡단보도 개선을 구청에 건의하기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시민이 사회 문제를 해결하는 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참여할 때 정의롭고 바람직한 국가 공동체를 만들어 나갈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시민은 자신의 권리가 무엇인지 분명하게 알고 이를 바르게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하며, 권리를 누리는 만큼 의무를 수행하는 등 그 역할을 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선거일에 투표하기, 세금과 법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시민은 공동체의 구성원으로서 연대 의식을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시민은 사회 구성원으로서 주체적으로 행동해야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 공동체를 긍정적인 방향으로 이끌기 위해 사회 문제에 관심을 두고, 이를 해결하는 데 적극적으로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앞 위험한 횡단보도 개선을 구청에 건의하기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시민이 사회 문제를 해결하는 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참여할 때 정의롭고 바람직한 국가 공동체를 만들어 나갈 수 있음.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시민은 자신의 권리가 무엇인지 분명하게 알고 이를 바르게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하며, 권리를 누리는 만큼 의무를 수행하는 등 그 역할을 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선거일에 투표하기, 세금과 법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시민은 공동체의 구성원으로서 연대 의식을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발휘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시민은 사회 구성원으로서 주체적으로 행동해야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 공동체를 긍정적인 방향으로 이끌기 위해 사회 문제에 관심을 두고, 이를 해결하는 데 적극적으로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앞 위험한 횡단보도 개선을 구청에 건의하기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시민이 사회 문제를 해결하는 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참여할 때 정의롭고 바람직한 국가 공동체를 만들어 나갈 수 있음.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시민은 자신의 권리가 무엇인지 분명하게 알고 이를 바르게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하며, 권리를 누리는 만큼 의무를 수행하는 등 그 역할을 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선거일에 투표하기, 세금과 법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시민은 공동체의 구성원으로서 연대 의식을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시민은 사회 구성원으로서 주체적으로 행동해야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 공동체를 긍정적인 방향으로 이끌기 위해 사회 문제에 관심을 두고, 이를 해결하는 데 적극적으로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앞 위험한 횡단보도 개선을 구청에 건의하기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시민이 사회 문제를 해결하는 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참여할 때 정의롭고 바람직한 국가 공동체를 만들어 나갈 수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시민은 자신의 권리가 무엇인지 분명하게 알고 이를 바르게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하며, 권리를 누리는 만큼 의무를 수행하는 등 그 역할을 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선거일에 투표하기, 세금과 법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시민은 공동체의 구성원으로서 연대 의식을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시민은 사회 구성원으로서 주체적으로 행동해야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 공동체를 긍정적인 방향으로 이끌기 위해 사회 문제에 관심을 두고, 이를 해결하는 데 적극적으로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학교 앞 위험한 횡단보도 개선을 구청에 건의하기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시민이 사회 문제를 해결하는 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참여할 때 정의롭고 바람직한 국가 공동체를 만들어 나갈 수 있음.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시민은 자신의 권리가 무엇인지 분명하게 알고 이를 바르게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하며, 권리를 누리는 만큼 의무를 수행하는 등 그 역할을 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선거일에 투표하기, 세금과 법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시민은 공동체의 구성원으로서 연대 의식을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시민은 사회 구성원으로서 주체적으로 행동해야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 공동체를 긍정적인 방향으로 이끌기 위해 사회 문제에 관심을 두고, 이를 해결하는 데 적극적으로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앞 위험한 횡단보도 개선을 구청에 건의하기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시민이 사회 문제를 해결하는 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능동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참여할 때 정의롭고 바람직한 국가 공동체를 만들어 나갈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버스 좌석 하나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1955년 12월 1일 · 미국 몽고메리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그날 · 흑인 재봉사 로자 파크스가 백인에게 버스 자리를 비켜 주라는 요구를 거절했다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인종 분리법을 어겨 체포되고 벌금을 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이어진 일 · 흑인 시민들이 381일 동안 버스를 타지 않고 걸어 다녔다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끝 · 1956년 미국 연방 대법원이 버스 인종 분리를 위헌으로 판결했다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파크스는 왜 법을 어겼을까?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1955년 12월 1일 · 미국 몽고메리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그날 · 흑인 재봉사 로자 파크스가 백인에게 버스 자리를 비켜 주라는 요구를 거절했다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인종 분리법을 어겨 체포되고 벌금을 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이어진 일 · 흑인 시민들이 381일 동안 버스를 타지 않고 걸어 다녔다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끝 · 1956년 미국 연방 대법원이 버스 인종 분리를 위헌으로 판결했다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파크스는 왜 법을 어겼을까?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“먼저 인간이고, 그다음에 국민이어야 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소로, 「시민 불복종」(1849)의 뜻을 풀어 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노예 제도와 전쟁에 쓰이는 세금을 거부하고 감옥에서 하룻밤을 보냈다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국가가 정당한 권위를 확보하고, 시민은 국가 공동체 모두의 행복을 고려하여 행동할 때 국가와 시민은 바람직한 관계를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국가는 자유, 평등, 정의 등의 보편적 가치를 지양해야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시민은 공동체의 구성원으로서 연대 의식을 발휘해야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시민은 사회 구성원으로서 주체적이기보다는 수동적으로 행동해야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국가가 정당한 권위를 확보하고, 시민은 국가 공동체 모두의 행복을 고려하여 행동할 때 국가와 시민은 바람직한 관계를 형성할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국가는 자유, 평등, 정의 등의 보편적 가치를 지양해야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시민은 공동체의 구성원으로서 연대 의식을 발휘해야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사회 구성원으로서 주체적이기보다는 수동적으로 행동해야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국가가 정당한 권위를 확보하고, 시민은 국가 공동체 모두의 행복을 고려하여 행동할 때 국가와 시민은 바람직한 관계를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국가는 자유, 평등, 정의 등의 보편적 가치를 지양해야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시민은 공동체의 구성원으로서 연대 의식을 발휘해야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사회 구성원으로서 주체적이기보다는 수동적으로 행동해야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국가가 정당한 권위를 확보하고, 시민은 국가 공동체 모두의 행복을 고려하여 행동할 때 국가와 시민은 바람직한 관계를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국가는 자유, 평등, 정의 등의 보편적 가치를 지양해야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시민은 공동체의 구성원으로서 연대 의식을 발휘해야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사회 구성원으로서 주체적이기보다는 수동적으로 행동해야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국가가 정당한 권위를 확보하고, 시민은 국가 공동체 모두의 행복을 고려하여 행동할 때 국가와 시민은 바람직한 관계를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국가는 자유, 평등, 정의 등의 보편적 가치를 지양해야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시민은 공동체의 구성원으로서 연대 의식을 발휘해야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사회 구성원으로서 주체적이기보다는 수동적으로 행동해야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국가의 역할? 시민의 역할?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국가의 역할 · 시민의 역할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시민의 생명과 안전을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(인간다운 생활 보장)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공정한 법으로 갈등을 조정한다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(제도와 질서)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자유·평등·인권을 지향한다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(보편적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선거일에 투표한다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(권리 행사)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산불 이재민에게 도시락을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(연대 의식)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청소년 정책 동아리를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(사회 참여)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국가의 역할 · 시민의 역할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시민의 생명과 안전을 지킨다</a:t>
            </a:r>
            <a:r>
              <a:rPr sz="2300" b="1">
                <a:solidFill>
                  <a:srgbClr val="C0392B"/>
                </a:solidFill>
              </a:rPr>
              <a:t>   → 국가의 역할 (인간다운 생활 보장)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공정한 법으로 갈등을 조정한다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(제도와 질서)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자유·평등·인권을 지향한다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(보편적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선거일에 투표한다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(권리 행사)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산불 이재민에게 도시락을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(연대 의식)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청소년 정책 동아리를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(사회 참여)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국가의 역할 · 시민의 역할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시민의 생명과 안전을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(인간다운 생활 보장)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공정한 법으로 갈등을 조정한다</a:t>
            </a:r>
            <a:r>
              <a:rPr sz="2300" b="1">
                <a:solidFill>
                  <a:srgbClr val="C0392B"/>
                </a:solidFill>
              </a:rPr>
              <a:t>   → 국가의 역할 (제도와 질서)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자유·평등·인권을 지향한다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(보편적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선거일에 투표한다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(권리 행사)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산불 이재민에게 도시락을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(연대 의식)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청소년 정책 동아리를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(사회 참여)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국가의 역할 · 시민의 역할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시민의 생명과 안전을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(인간다운 생활 보장)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공정한 법으로 갈등을 조정한다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(제도와 질서)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자유·평등·인권을 지향한다</a:t>
            </a:r>
            <a:r>
              <a:rPr sz="2300" b="1">
                <a:solidFill>
                  <a:srgbClr val="C0392B"/>
                </a:solidFill>
              </a:rPr>
              <a:t>   → 국가의 역할 (보편적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선거일에 투표한다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(권리 행사)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산불 이재민에게 도시락을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(연대 의식)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청소년 정책 동아리를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(사회 참여)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국가의 역할 · 시민의 역할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시민의 생명과 안전을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(인간다운 생활 보장)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공정한 법으로 갈등을 조정한다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(제도와 질서)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자유·평등·인권을 지향한다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(보편적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선거일에 투표한다</a:t>
            </a:r>
            <a:r>
              <a:rPr sz="2300" b="1">
                <a:solidFill>
                  <a:srgbClr val="C0392B"/>
                </a:solidFill>
              </a:rPr>
              <a:t>   → 시민의 역할 (권리 행사)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산불 이재민에게 도시락을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(연대 의식)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청소년 정책 동아리를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(사회 참여)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국가의 역할 · 시민의 역할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시민의 생명과 안전을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(인간다운 생활 보장)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공정한 법으로 갈등을 조정한다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(제도와 질서)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자유·평등·인권을 지향한다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(보편적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선거일에 투표한다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(권리 행사)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산불 이재민에게 도시락을 나눈다</a:t>
            </a:r>
            <a:r>
              <a:rPr sz="2300" b="1">
                <a:solidFill>
                  <a:srgbClr val="C0392B"/>
                </a:solidFill>
              </a:rPr>
              <a:t>   → 시민의 역할 (연대 의식)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청소년 정책 동아리를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(사회 참여)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국가의 역할 · 시민의 역할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시민의 생명과 안전을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(인간다운 생활 보장)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공정한 법으로 갈등을 조정한다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(제도와 질서)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자유·평등·인권을 지향한다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국가의 역할 (보편적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선거일에 투표한다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(권리 행사)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산불 이재민에게 도시락을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시민의 역할 (연대 의식)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청소년 정책 동아리를 만든다</a:t>
            </a:r>
            <a:r>
              <a:rPr sz="2300" b="1">
                <a:solidFill>
                  <a:srgbClr val="C0392B"/>
                </a:solidFill>
              </a:rPr>
              <a:t>   → 시민의 역할 (사회 참여)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나는 누구 편?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승하 — 소극적 국가관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지우 — 적극적 국가관   ✋ ____ 명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간디의 소금 행진, 정당화될까?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국가와 시민의 바람직한 역할은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공익 실현을 목적으로 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인도인 모두를 괴롭히는 소금세를 없애려 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폭력을 사용했다.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걸어서 바닷가까지 가서 소금을 만들었을 뿐이다.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처음부터 법을 어겼다.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먼저 정중한 편지로 폐지를 요구했다 — 최후의 수단.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체포를 받아들였다.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법적 처벌을 감수했다.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공익 실현을 목적으로 했다.  ( ○ / ✕ )</a:t>
            </a:r>
            <a:r>
              <a:rPr sz="2300" b="1">
                <a:solidFill>
                  <a:srgbClr val="C0392B"/>
                </a:solidFill>
              </a:rPr>
              <a:t>   ○  인도인 모두를 괴롭히는 소금세를 없애려 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폭력을 사용했다.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걸어서 바닷가까지 가서 소금을 만들었을 뿐이다.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처음부터 법을 어겼다.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먼저 정중한 편지로 폐지를 요구했다 — 최후의 수단.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체포를 받아들였다.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법적 처벌을 감수했다.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공익 실현을 목적으로 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인도인 모두를 괴롭히는 소금세를 없애려 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폭력을 사용했다.  ( ○ / ✕ )</a:t>
            </a:r>
            <a:r>
              <a:rPr sz="2300" b="1">
                <a:solidFill>
                  <a:srgbClr val="C0392B"/>
                </a:solidFill>
              </a:rPr>
              <a:t>   ✕  걸어서 바닷가까지 가서 소금을 만들었을 뿐이다.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처음부터 법을 어겼다.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먼저 정중한 편지로 폐지를 요구했다 — 최후의 수단.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체포를 받아들였다.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법적 처벌을 감수했다.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공익 실현을 목적으로 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인도인 모두를 괴롭히는 소금세를 없애려 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폭력을 사용했다.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걸어서 바닷가까지 가서 소금을 만들었을 뿐이다.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처음부터 법을 어겼다.  ( ○ / ✕ )</a:t>
            </a:r>
            <a:r>
              <a:rPr sz="2300" b="1">
                <a:solidFill>
                  <a:srgbClr val="C0392B"/>
                </a:solidFill>
              </a:rPr>
              <a:t>   ✕  먼저 정중한 편지로 폐지를 요구했다 — 최후의 수단.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체포를 받아들였다.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법적 처벌을 감수했다.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공익 실현을 목적으로 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인도인 모두를 괴롭히는 소금세를 없애려 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폭력을 사용했다.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걸어서 바닷가까지 가서 소금을 만들었을 뿐이다.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처음부터 법을 어겼다.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먼저 정중한 편지로 폐지를 요구했다 — 최후의 수단.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체포를 받아들였다.  ( ○ / ✕ )</a:t>
            </a:r>
            <a:r>
              <a:rPr sz="2300" b="1">
                <a:solidFill>
                  <a:srgbClr val="C0392B"/>
                </a:solidFill>
              </a:rPr>
              <a:t>   ○  법적 처벌을 감수했다.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9118</TotalTime>
  <Words>2404</Words>
  <Application>Microsoft Office PowerPoint</Application>
  <PresentationFormat>와이드스크린</PresentationFormat>
  <Paragraphs>391</Paragraphs>
  <Slides>35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PC</cp:lastModifiedBy>
  <cp:revision>220</cp:revision>
  <cp:lastPrinted>2024-06-05T04:53:22Z</cp:lastPrinted>
  <dcterms:created xsi:type="dcterms:W3CDTF">2023-10-31T05:50:03Z</dcterms:created>
  <dcterms:modified xsi:type="dcterms:W3CDTF">2025-04-22T00:38:06Z</dcterms:modified>
</cp:coreProperties>
</file>