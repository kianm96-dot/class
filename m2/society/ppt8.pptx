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1.svg" ContentType="image/svg+xml"/>
  <Override PartName="/ppt/media/image59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8"/>
  </p:notesMasterIdLst>
  <p:handoutMasterIdLst>
    <p:handoutMasterId r:id="rId29"/>
  </p:handoutMasterIdLst>
  <p:sldIdLst>
    <p:sldId id="302" r:id="rId2"/>
    <p:sldId id="301" r:id="rId3"/>
    <p:sldId id="474" r:id="rId4"/>
    <p:sldId id="476" r:id="rId5"/>
    <p:sldId id="418" r:id="rId6"/>
    <p:sldId id="442" r:id="rId7"/>
    <p:sldId id="478" r:id="rId8"/>
    <p:sldId id="436" r:id="rId9"/>
    <p:sldId id="479" r:id="rId10"/>
    <p:sldId id="496" r:id="rId35"/>
    <p:sldId id="480" r:id="rId11"/>
    <p:sldId id="481" r:id="rId12"/>
    <p:sldId id="482" r:id="rId13"/>
    <p:sldId id="497" r:id="rId36"/>
    <p:sldId id="498" r:id="rId37"/>
    <p:sldId id="499" r:id="rId38"/>
    <p:sldId id="456" r:id="rId14"/>
    <p:sldId id="457" r:id="rId15"/>
    <p:sldId id="483" r:id="rId16"/>
    <p:sldId id="484" r:id="rId17"/>
    <p:sldId id="500" r:id="rId39"/>
    <p:sldId id="501" r:id="rId40"/>
    <p:sldId id="487" r:id="rId18"/>
    <p:sldId id="485" r:id="rId19"/>
    <p:sldId id="488" r:id="rId20"/>
    <p:sldId id="489" r:id="rId21"/>
    <p:sldId id="490" r:id="rId22"/>
    <p:sldId id="491" r:id="rId23"/>
    <p:sldId id="492" r:id="rId24"/>
    <p:sldId id="494" r:id="rId25"/>
    <p:sldId id="495" r:id="rId26"/>
    <p:sldId id="502" r:id="rId41"/>
    <p:sldId id="503" r:id="rId42"/>
    <p:sldId id="504" r:id="rId43"/>
    <p:sldId id="505" r:id="rId44"/>
    <p:sldId id="380" r:id="rId27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BBB5"/>
    <a:srgbClr val="F4BBB4"/>
    <a:srgbClr val="F3BCB4"/>
    <a:srgbClr val="F4BBB3"/>
    <a:srgbClr val="843C0C"/>
    <a:srgbClr val="F6D8C6"/>
    <a:srgbClr val="FEF8DF"/>
    <a:srgbClr val="9FCDEE"/>
    <a:srgbClr val="C5C5E9"/>
    <a:srgbClr val="F3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13" autoAdjust="0"/>
    <p:restoredTop sz="96242" autoAdjust="0"/>
  </p:normalViewPr>
  <p:slideViewPr>
    <p:cSldViewPr snapToGrid="0">
      <p:cViewPr varScale="1">
        <p:scale>
          <a:sx n="85" d="100"/>
          <a:sy n="85" d="100"/>
        </p:scale>
        <p:origin x="102" y="270"/>
      </p:cViewPr>
      <p:guideLst>
        <p:guide orient="horz" pos="2160"/>
        <p:guide pos="384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commentAuthors" Target="commentAuthors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➕ 과학자의 책임</a:t>
            </a:r>
          </a:p>
          <a:p>
            <a:r>
              <a:t>아인슈타인은 세상을 떠나기 며칠 전 이 선언에 서명했다. 192쪽 오펜하이머와 함께 읽는다. 과학자는 연구가 사회에 미칠 영향을 생각하고, 위험하다면 알리고 멈출 수 있어야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아실로마 회의</a:t>
            </a:r>
          </a:p>
          <a:p>
            <a:r>
              <a:t>폴 버그 등이 주도. 2017년 같은 곳에서 인공지능 연구 원칙(아실로마 AI 원칙)도 만들어졌다.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과학자·시민·사회의 책임을 나누고, 생성형 인공지능 사용 규칙을 만들어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과학자·시민·사회의 책임을 나누고, 생성형 인공지능 사용 규칙을 만들어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과학자·시민·사회의 책임을 나누고, 생성형 인공지능 사용 규칙을 만들어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1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slide" Target="slide2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slide" Target="slide23.xml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4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과학과 윤리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39" y="2268741"/>
            <a:ext cx="79422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과학기술의 바람직한 </a:t>
            </a:r>
            <a:endParaRPr lang="en-US" altLang="ko-KR" sz="5400" b="1" dirty="0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활용을 </a:t>
            </a:r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위해 </a:t>
            </a:r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어떤 </a:t>
            </a:r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태도가 필요할까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그룹 36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399" y="1818866"/>
            <a:ext cx="10591875" cy="787400"/>
            <a:chOff x="914400" y="2362200"/>
            <a:chExt cx="10293350" cy="787400"/>
          </a:xfrm>
        </p:grpSpPr>
        <p:sp>
          <p:nvSpPr>
            <p:cNvPr id="38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399" y="3079055"/>
            <a:ext cx="10591875" cy="787400"/>
            <a:chOff x="914400" y="2362200"/>
            <a:chExt cx="10293350" cy="787400"/>
          </a:xfrm>
        </p:grpSpPr>
        <p:sp>
          <p:nvSpPr>
            <p:cNvPr id="25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3103122"/>
            <a:ext cx="1017488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과학기술의 </a:t>
            </a: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바람직한 활용에 관한 관심과 책임 의식을 지닌다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830741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과학기술의 </a:t>
            </a: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바람직한 활용 방향을 설명할 수 </a:t>
            </a: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있다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FEF8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527958" y="1432416"/>
            <a:ext cx="10737338" cy="4729954"/>
            <a:chOff x="527958" y="1432416"/>
            <a:chExt cx="10737338" cy="4729954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7958" y="1458473"/>
              <a:ext cx="10737338" cy="4703897"/>
            </a:xfrm>
            <a:prstGeom prst="rect">
              <a:avLst/>
            </a:prstGeom>
          </p:spPr>
        </p:pic>
        <p:sp>
          <p:nvSpPr>
            <p:cNvPr id="24" name="직사각형 23"/>
            <p:cNvSpPr/>
            <p:nvPr/>
          </p:nvSpPr>
          <p:spPr>
            <a:xfrm>
              <a:off x="9437647" y="1432416"/>
              <a:ext cx="1822044" cy="542688"/>
            </a:xfrm>
            <a:prstGeom prst="rect">
              <a:avLst/>
            </a:prstGeom>
            <a:solidFill>
              <a:srgbClr val="FEF8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672474" y="1975104"/>
              <a:ext cx="1263750" cy="307004"/>
            </a:xfrm>
            <a:prstGeom prst="rect">
              <a:avLst/>
            </a:prstGeom>
            <a:solidFill>
              <a:srgbClr val="F6D8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65560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FEF8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339" y="1546689"/>
            <a:ext cx="10822874" cy="4718325"/>
          </a:xfrm>
          <a:prstGeom prst="rect">
            <a:avLst/>
          </a:prstGeom>
        </p:spPr>
      </p:pic>
      <p:sp>
        <p:nvSpPr>
          <p:cNvPr id="22" name="타원 21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25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67415"/>
            <a:ext cx="10293350" cy="3165161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87401" y="1613182"/>
            <a:ext cx="102515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만약 내가 다음 만화의 과학자라면 현재의 상황을 알고도 플라스틱을 발명할 것인지 그 까닭과 함께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8" name="그림 2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58595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58595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133856" y="2978906"/>
            <a:ext cx="9583007" cy="2791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플라스틱을 발명할 것이다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환경 오염은 사람들이 플라스틱을 남용하거나 분리배출을 제대로 하지 않아 발생하는 문제이며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플라스틱은 여러 분야에서 유용하게 쓰이고 있기 때문이다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플라스틱을 발명하지 않을 것이다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플라스틱은 잘 분해되지 않아 환경을 오염시키기 때문이다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1473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32" grpId="0"/>
      <p:bldP spid="3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/>
          <p:cNvGrpSpPr/>
          <p:nvPr/>
        </p:nvGrpSpPr>
        <p:grpSpPr>
          <a:xfrm flipH="1">
            <a:off x="110439" y="3731342"/>
            <a:ext cx="4269831" cy="3126659"/>
            <a:chOff x="0" y="4169664"/>
            <a:chExt cx="3717120" cy="2688335"/>
          </a:xfrm>
        </p:grpSpPr>
        <p:pic>
          <p:nvPicPr>
            <p:cNvPr id="30" name="그림 29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4315968"/>
              <a:ext cx="3717120" cy="2542031"/>
            </a:xfrm>
            <a:prstGeom prst="rect">
              <a:avLst/>
            </a:prstGeom>
          </p:spPr>
        </p:pic>
        <p:sp>
          <p:nvSpPr>
            <p:cNvPr id="31" name="직사각형 30"/>
            <p:cNvSpPr/>
            <p:nvPr/>
          </p:nvSpPr>
          <p:spPr>
            <a:xfrm>
              <a:off x="0" y="4169664"/>
              <a:ext cx="1121664" cy="4145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0" y="5306567"/>
              <a:ext cx="242867" cy="569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680660" y="1596520"/>
            <a:ext cx="76952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조너스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소크는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세계 최초로 소아마비 백신을 개발하였다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소아마비는 어떤 바이러스 때문에 발생하는 병으로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주로 어린아이에게 생기며 뇌 신경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조직을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손상시키고 신체의 일부를 마비시킨다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소크는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소아마비라는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전염병으로부터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인류를 구하고자 자신을 실험 대상으로 삼기도 하며 밤낮없이 연구하였다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 결과 그는 연구를 시작한 지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7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년 만에 소아 마비 백신을 개발할 수 있었다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7" name="타원 26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75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 flipH="1">
            <a:off x="110439" y="3731342"/>
            <a:ext cx="4269831" cy="3126659"/>
            <a:chOff x="0" y="4169664"/>
            <a:chExt cx="3717120" cy="2688335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4315968"/>
              <a:ext cx="3717120" cy="2542031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0" y="4169664"/>
              <a:ext cx="1121664" cy="4145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0" y="5306567"/>
              <a:ext cx="242867" cy="569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680660" y="1596520"/>
            <a:ext cx="7695264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소크는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자신이 개발한 소아마비 백신의 생산 방법을 무료로 공개하였다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그는 백신의 생산 방법에 관한 특허권을 신청하면 큰 이익을 얻을 수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있었지만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소아마비로 고통받는 전 세계 사람들을 위해 백신을 무상으로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공급해야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한다고 판단하였다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백신이 출시된 지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년 만에 소아마비 환자는 이전 대비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90 %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까지 감소했고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오늘날 소아마비는 전 세계에서 찾아 보기 어려운 병이 되었다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2200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사이언스타임즈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》, 2021. 3. 22.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2" name="타원 21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22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9380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err="1">
                <a:latin typeface="+mn-ea"/>
              </a:rPr>
              <a:t>소크가</a:t>
            </a:r>
            <a:r>
              <a:rPr lang="ko-KR" altLang="en-US" sz="2000" b="1" dirty="0">
                <a:latin typeface="+mn-ea"/>
              </a:rPr>
              <a:t> 소아마비 백신 생산 방법에 관한 특허권을 신청하지 않은 </a:t>
            </a:r>
            <a:r>
              <a:rPr lang="ko-KR" altLang="en-US" sz="2000" b="1" dirty="0" smtClean="0">
                <a:latin typeface="+mn-ea"/>
              </a:rPr>
              <a:t>까닭을 써 </a:t>
            </a:r>
            <a:r>
              <a:rPr lang="ko-KR" altLang="en-US" sz="2000" b="1" dirty="0">
                <a:latin typeface="+mn-ea"/>
              </a:rPr>
              <a:t>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5" name="그림 2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34211"/>
            <a:ext cx="487174" cy="487174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34211"/>
            <a:ext cx="1087577" cy="495431"/>
            <a:chOff x="10075659" y="2003022"/>
            <a:chExt cx="1156006" cy="495431"/>
          </a:xfrm>
        </p:grpSpPr>
        <p:pic>
          <p:nvPicPr>
            <p:cNvPr id="27" name="그림 2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05374"/>
            <a:ext cx="10293350" cy="3668578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5588" y="2826243"/>
            <a:ext cx="97841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소크가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특허권을 신청하지 않은 까닭은 특허권을 취득하여 이익을 얻는 것보다 인류를 끈질기게 괴롭히고 있는 소아마비를 박멸하여 인류 전체의 행복을 증진하는 것이 더 가치 있는 일이라고 여겼기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또한 특허권을 신청하면 소아마비 백신의 가격이 오를 수 있으므로 백신이 필요한 모든 사람이 백신 가격에 얽매이지 않고 백신을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접종 받을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수 있게 하고자 특허권을 신청하지 않았다고 생각한다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3049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30" grpId="0"/>
      <p:bldP spid="3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1045687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과학기술의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바람직한 활용 방향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과학기술을 이익을 추구하는 수단으로만 사용하기보다 인류의 행복을 증진하고 인간 존엄성을 보장하는 </a:t>
            </a:r>
            <a:r>
              <a:rPr lang="ko-KR" altLang="en-US" sz="2400" dirty="0" smtClean="0">
                <a:latin typeface="+mn-ea"/>
              </a:rPr>
              <a:t>방향으로 활용해야 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과학기술이 주는 혜택이 특정한 개인이나 </a:t>
            </a:r>
            <a:r>
              <a:rPr lang="ko-KR" altLang="en-US" sz="2400" dirty="0" err="1">
                <a:latin typeface="+mn-ea"/>
              </a:rPr>
              <a:t>집단에게만이</a:t>
            </a:r>
            <a:r>
              <a:rPr lang="ko-KR" altLang="en-US" sz="2400" dirty="0">
                <a:latin typeface="+mn-ea"/>
              </a:rPr>
              <a:t> 아니라 모든 사람에게 골고루 돌아가도록 해야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과학기술은 </a:t>
            </a:r>
            <a:r>
              <a:rPr lang="ko-KR" altLang="en-US" sz="2400" dirty="0" err="1" smtClean="0">
                <a:latin typeface="+mn-ea"/>
              </a:rPr>
              <a:t>현세대뿐만</a:t>
            </a:r>
            <a:r>
              <a:rPr lang="ko-KR" altLang="en-US" sz="2400" dirty="0" smtClean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아니라 미래 세대에도 영향을 미치므로 우리는 과학기술을 활용할 때 미래 세대와 자연에 대한 책임을 고려해야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과학기술의 바람직한 활용 방향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6717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latin typeface="+mj-ea"/>
                <a:ea typeface="+mj-ea"/>
              </a:rPr>
              <a:t>다음 만화를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7" name="타원 16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242867" y="1411734"/>
            <a:ext cx="11016824" cy="4853280"/>
            <a:chOff x="242867" y="1279296"/>
            <a:chExt cx="11016824" cy="4853280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9291" y="1279296"/>
              <a:ext cx="10820400" cy="4838700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242867" y="3767328"/>
              <a:ext cx="1390861" cy="23652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1633728" y="5023104"/>
              <a:ext cx="4011168" cy="10948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61684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latin typeface="+mj-ea"/>
                <a:ea typeface="+mj-ea"/>
              </a:rPr>
              <a:t>다음 만화를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298929" y="1818030"/>
            <a:ext cx="11171012" cy="4028034"/>
            <a:chOff x="208263" y="1793646"/>
            <a:chExt cx="11171012" cy="4028034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8263" y="2011680"/>
              <a:ext cx="11115675" cy="3810000"/>
            </a:xfrm>
            <a:prstGeom prst="rect">
              <a:avLst/>
            </a:prstGeom>
          </p:spPr>
        </p:pic>
        <p:sp>
          <p:nvSpPr>
            <p:cNvPr id="8" name="직사각형 7"/>
            <p:cNvSpPr/>
            <p:nvPr/>
          </p:nvSpPr>
          <p:spPr>
            <a:xfrm>
              <a:off x="5766101" y="1793646"/>
              <a:ext cx="5613174" cy="8764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타원 19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841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14552"/>
            <a:ext cx="11045687" cy="5193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과학기술에 대한 과학자의 책임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과학자는 과학기술을 잘못된 방향으로 활용하면 수많은 사람에게 피해를 줄 수 있음을 알고 책임 있는 태도를 지녀야 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400" dirty="0" smtClean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과학자의 책임 있는 태도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정보를 조작</a:t>
            </a:r>
            <a:r>
              <a:rPr lang="en-US" altLang="ko-KR" sz="2400" dirty="0" smtClean="0">
                <a:latin typeface="+mn-ea"/>
              </a:rPr>
              <a:t>·</a:t>
            </a:r>
            <a:r>
              <a:rPr lang="ko-KR" altLang="en-US" sz="2400" dirty="0" smtClean="0">
                <a:latin typeface="+mn-ea"/>
              </a:rPr>
              <a:t>왜곡하지 않고</a:t>
            </a:r>
            <a:r>
              <a:rPr lang="en-US" altLang="ko-KR" sz="2400" dirty="0" smtClean="0">
                <a:latin typeface="+mn-ea"/>
              </a:rPr>
              <a:t>, </a:t>
            </a:r>
            <a:r>
              <a:rPr lang="ko-KR" altLang="en-US" sz="2400" dirty="0" smtClean="0">
                <a:latin typeface="+mn-ea"/>
              </a:rPr>
              <a:t>정해진 절차에 따라 정직하게 연구해야 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과학기술이 </a:t>
            </a:r>
            <a:r>
              <a:rPr lang="ko-KR" altLang="en-US" sz="2400" dirty="0">
                <a:latin typeface="+mn-ea"/>
              </a:rPr>
              <a:t>사회에 미칠 영향을 고려해야 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과학기술이 </a:t>
            </a:r>
            <a:r>
              <a:rPr lang="ko-KR" altLang="en-US" sz="2400" dirty="0">
                <a:latin typeface="+mn-ea"/>
              </a:rPr>
              <a:t>사회적으로 해로운 결과를 낳을 수 있음을 예상했다면 그 위험성을 알리고 연구를 중단할 수 있어야 함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과학기술에 대한 과학자의 책임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8684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3927925"/>
            <a:ext cx="3993874" cy="2930073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0175" y="1596520"/>
            <a:ext cx="9205749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기술 영향 평가는 과학기술이 경제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문화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윤리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환경 등 시민의 삶에 미치는 영향을 평가하는 제도로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일반 시민이 참여해서 과학기술이 미칠 영향을 논의할 수 있는 시민 공개 토론회도 열린다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예를 들어 레벨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4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이상 자율 주행 기술을 주제로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한 토론회에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참여한 시민들은 해당 기술이 일자리 감소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사고 시 책임 관련 분쟁 발생 등의 문제를 일으킬 수 있다는 의견과 이 기술의 올바른 발전 방향에 관한 의견을 냈다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이에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각 정부 부처는 시민들의 의견을 반영해 레벨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4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이상 자율 주행 기술이 고용에 미치는 영향을 분석하고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사고 시 책임에 관한 법과 제도를 정비하기로 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과학기술 정보 통신부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〈2021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년도 기술 영향 평가 </a:t>
            </a:r>
            <a:r>
              <a:rPr lang="ko-KR" altLang="en-US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결과</a:t>
            </a: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  <a:endParaRPr lang="en-US" altLang="ko-KR" sz="14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5524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933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기술 영향 평가에서 시민 공개 토론회를 여는 까닭이 무엇인지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5" name="그림 2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34211"/>
            <a:ext cx="487174" cy="487174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34211"/>
            <a:ext cx="1087577" cy="495431"/>
            <a:chOff x="10075659" y="2003022"/>
            <a:chExt cx="1156006" cy="495431"/>
          </a:xfrm>
        </p:grpSpPr>
        <p:pic>
          <p:nvPicPr>
            <p:cNvPr id="27" name="그림 2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05374"/>
            <a:ext cx="10293350" cy="2120194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5588" y="2826243"/>
            <a:ext cx="9784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과학기술이 우리 삶에 미치는 영향이 매우 크므로 과학기술에 관한 중요한 결정을 내리는 데 많은 시민이 참여할 수 있도록 보장하기 위해서이다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1754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30" grpId="0"/>
      <p:bldP spid="3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933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spc="-100" dirty="0">
                <a:latin typeface="+mn-ea"/>
              </a:rPr>
              <a:t>2. </a:t>
            </a:r>
            <a:r>
              <a:rPr lang="ko-KR" altLang="en-US" sz="2000" b="1" spc="-100" dirty="0">
                <a:latin typeface="+mn-ea"/>
              </a:rPr>
              <a:t>내가 시민 참여자라면 공개 토론회에서 논의하고 싶은 주제와 그 까닭을 써 보자</a:t>
            </a:r>
            <a:r>
              <a:rPr lang="en-US" altLang="ko-KR" sz="2000" b="1" spc="-100" dirty="0">
                <a:latin typeface="+mn-ea"/>
              </a:rPr>
              <a:t>.</a:t>
            </a:r>
            <a:endParaRPr lang="ko-KR" altLang="en-US" sz="2000" b="1" spc="-100" dirty="0"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5" name="그림 2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34211"/>
            <a:ext cx="487174" cy="487174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34211"/>
            <a:ext cx="1087577" cy="495431"/>
            <a:chOff x="10075659" y="2003022"/>
            <a:chExt cx="1156006" cy="495431"/>
          </a:xfrm>
        </p:grpSpPr>
        <p:pic>
          <p:nvPicPr>
            <p:cNvPr id="27" name="그림 2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05374"/>
            <a:ext cx="10293350" cy="2120194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5588" y="2826243"/>
            <a:ext cx="9784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인간보다 뛰어난 인공지능의 개발을 허용해도 되는지에 관해 논의하고 싶다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인간보다 뛰어난 인공지능은 인간의 일자리를 감소시키는 등 우리 사회에 여러 문제를 일으킬 수 있기 때문이다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3505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30" grpId="0"/>
      <p:bldP spid="30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14552"/>
            <a:ext cx="11045687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과학기술에 대한 시민의 책임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시민 </a:t>
            </a:r>
            <a:r>
              <a:rPr lang="ko-KR" altLang="en-US" sz="2400" dirty="0">
                <a:latin typeface="+mn-ea"/>
              </a:rPr>
              <a:t>개개인이 과학 기술을 잘못된 방향으로 활용하면 심각한 사회 문제가 발생할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→ </a:t>
            </a:r>
            <a:r>
              <a:rPr lang="ko-KR" altLang="en-US" sz="2400" dirty="0" smtClean="0">
                <a:latin typeface="+mn-ea"/>
              </a:rPr>
              <a:t>시민은 </a:t>
            </a:r>
            <a:r>
              <a:rPr lang="ko-KR" altLang="en-US" sz="2400" dirty="0">
                <a:latin typeface="+mn-ea"/>
              </a:rPr>
              <a:t>자신이 과학기술을 어떻게 활용하는지 성찰해야 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 smtClean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과학기술에 대한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사회의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책임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과학기술의 </a:t>
            </a:r>
            <a:r>
              <a:rPr lang="ko-KR" altLang="en-US" sz="2400" dirty="0">
                <a:latin typeface="+mn-ea"/>
              </a:rPr>
              <a:t>객관성과 진실성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발전 방향 등을 주제로 토론하고 협의를 이끌어 낼 수 있는 제도적 장치를 마련해야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(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예</a:t>
            </a: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)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기술 영향 평가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제도</a:t>
            </a: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,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윤리 위원회 활동</a:t>
            </a:r>
            <a:endParaRPr lang="en-US" altLang="ko-KR" sz="2400" dirty="0" smtClean="0">
              <a:solidFill>
                <a:srgbClr val="843C0C"/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과학기술에 대한 시민과 사회의 책임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11336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1376" y="1596520"/>
            <a:ext cx="11100529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가</a:t>
            </a:r>
            <a:r>
              <a:rPr lang="en-US" altLang="ko-KR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원어민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교사가 없는 학교의 학생들도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생성형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인공지능 프로그램으로 외국어 대화 연습을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할 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있게 되었다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 프로그램은 학생들의 외국어 발음을 듣고 이를 분석해 정확하지 않은 발음 습관을 고쳐 주기도 한다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200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(</a:t>
            </a:r>
            <a:r>
              <a:rPr lang="ko-KR" altLang="en-US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나</a:t>
            </a:r>
            <a:r>
              <a:rPr lang="en-US" altLang="ko-KR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최근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수도권의 한 학교에서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생성형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인공지능 프로그램을 이용해 영문 독후감 과제를 작성한 학생들의 과제 점수를 모두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0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점으로 처리하였다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학생들은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책을 읽지 않았지만 이 프로그램을 이용해 독후감을 쓰고 제출하였다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341376" y="5687236"/>
            <a:ext cx="10798731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err="1" smtClean="0">
                <a:solidFill>
                  <a:schemeClr val="accent6"/>
                </a:solidFill>
                <a:latin typeface="+mn-ea"/>
              </a:rPr>
              <a:t>생성형</a:t>
            </a: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 인공지능</a:t>
            </a:r>
            <a:r>
              <a:rPr lang="ko-KR" altLang="en-US" sz="1600" dirty="0" smtClean="0">
                <a:latin typeface="+mn-ea"/>
              </a:rPr>
              <a:t> 많은 </a:t>
            </a:r>
            <a:r>
              <a:rPr lang="ko-KR" altLang="en-US" sz="1600" dirty="0">
                <a:latin typeface="+mn-ea"/>
              </a:rPr>
              <a:t>데이터를 학습해 사용자의 요구에 맞는 결과물을 만들어 내는 인공지능 기술</a:t>
            </a:r>
            <a:endParaRPr lang="en-US" altLang="ko-KR" sz="1600" dirty="0">
              <a:latin typeface="+mn-ea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5385293" y="1672677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38933" y="691291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-150" dirty="0" smtClean="0">
                <a:solidFill>
                  <a:srgbClr val="FF9300"/>
                </a:solidFill>
                <a:latin typeface="+mj-ea"/>
                <a:ea typeface="+mj-ea"/>
              </a:rPr>
              <a:t>인공지능 </a:t>
            </a:r>
            <a:r>
              <a:rPr lang="ko-KR" altLang="en-US" sz="2400" b="1" spc="-150" dirty="0">
                <a:solidFill>
                  <a:srgbClr val="FF9300"/>
                </a:solidFill>
                <a:latin typeface="+mj-ea"/>
                <a:ea typeface="+mj-ea"/>
              </a:rPr>
              <a:t>기술의 올바른 활용 방법 토의하기</a:t>
            </a:r>
          </a:p>
        </p:txBody>
      </p:sp>
    </p:spTree>
    <p:extLst>
      <p:ext uri="{BB962C8B-B14F-4D97-AF65-F5344CB8AC3E}">
        <p14:creationId xmlns:p14="http://schemas.microsoft.com/office/powerpoint/2010/main" val="1415828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다음 글을 읽고 </a:t>
            </a:r>
            <a:r>
              <a:rPr lang="ko-KR" altLang="en-US" sz="2000" b="1" dirty="0" err="1">
                <a:latin typeface="+mn-ea"/>
              </a:rPr>
              <a:t>생성형</a:t>
            </a:r>
            <a:r>
              <a:rPr lang="ko-KR" altLang="en-US" sz="2000" b="1" dirty="0">
                <a:latin typeface="+mn-ea"/>
              </a:rPr>
              <a:t> 인공지능 기술의 유용성과 한계를 찾아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38933" y="691291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-150" dirty="0" smtClean="0">
                <a:solidFill>
                  <a:srgbClr val="FF9300"/>
                </a:solidFill>
                <a:latin typeface="+mj-ea"/>
                <a:ea typeface="+mj-ea"/>
              </a:rPr>
              <a:t>인공지능 </a:t>
            </a:r>
            <a:r>
              <a:rPr lang="ko-KR" altLang="en-US" sz="2400" b="1" spc="-150" dirty="0">
                <a:solidFill>
                  <a:srgbClr val="FF9300"/>
                </a:solidFill>
                <a:latin typeface="+mj-ea"/>
                <a:ea typeface="+mj-ea"/>
              </a:rPr>
              <a:t>기술의 올바른 활용 방법 토의하기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7399" y="2323501"/>
            <a:ext cx="275719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유용성</a:t>
            </a:r>
            <a:endParaRPr lang="ko-KR" altLang="en-US" sz="2000" dirty="0">
              <a:latin typeface="+mn-ea"/>
            </a:endParaRPr>
          </a:p>
        </p:txBody>
      </p:sp>
      <p:pic>
        <p:nvPicPr>
          <p:cNvPr id="49" name="그림 48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03797"/>
            <a:ext cx="487174" cy="487174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03797"/>
            <a:ext cx="1087577" cy="495431"/>
            <a:chOff x="10075659" y="2003022"/>
            <a:chExt cx="1156006" cy="495431"/>
          </a:xfrm>
        </p:grpSpPr>
        <p:pic>
          <p:nvPicPr>
            <p:cNvPr id="51" name="그림 5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17775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65588" y="2938644"/>
            <a:ext cx="9784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실제와 비슷한 상황을 설정하여 효과적으로 외국어를 학습할 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학습자 개개인의 수준과 필요에 맞게 맞춤형 학습을 할 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55" name="타원 54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69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</p:childTnLst>
        </p:cTn>
      </p:par>
    </p:tnLst>
    <p:bldLst>
      <p:bldP spid="54" grpId="0"/>
      <p:bldP spid="5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다음 글을 읽고 </a:t>
            </a:r>
            <a:r>
              <a:rPr lang="ko-KR" altLang="en-US" sz="2000" b="1" dirty="0" err="1">
                <a:latin typeface="+mn-ea"/>
              </a:rPr>
              <a:t>생성형</a:t>
            </a:r>
            <a:r>
              <a:rPr lang="ko-KR" altLang="en-US" sz="2000" b="1" dirty="0">
                <a:latin typeface="+mn-ea"/>
              </a:rPr>
              <a:t> 인공지능 기술의 유용성과 한계를 찾아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38933" y="691291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-150" dirty="0" smtClean="0">
                <a:solidFill>
                  <a:srgbClr val="FF9300"/>
                </a:solidFill>
                <a:latin typeface="+mj-ea"/>
                <a:ea typeface="+mj-ea"/>
              </a:rPr>
              <a:t>인공지능 </a:t>
            </a:r>
            <a:r>
              <a:rPr lang="ko-KR" altLang="en-US" sz="2400" b="1" spc="-150" dirty="0">
                <a:solidFill>
                  <a:srgbClr val="FF9300"/>
                </a:solidFill>
                <a:latin typeface="+mj-ea"/>
                <a:ea typeface="+mj-ea"/>
              </a:rPr>
              <a:t>기술의 올바른 활용 방법 토의하기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7399" y="2323501"/>
            <a:ext cx="275719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한계</a:t>
            </a:r>
            <a:endParaRPr lang="ko-KR" altLang="en-US" sz="2000" dirty="0">
              <a:latin typeface="+mn-ea"/>
            </a:endParaRPr>
          </a:p>
        </p:txBody>
      </p:sp>
      <p:pic>
        <p:nvPicPr>
          <p:cNvPr id="49" name="그림 48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03797"/>
            <a:ext cx="487174" cy="487174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03797"/>
            <a:ext cx="1087577" cy="495431"/>
            <a:chOff x="10075659" y="2003022"/>
            <a:chExt cx="1156006" cy="495431"/>
          </a:xfrm>
        </p:grpSpPr>
        <p:pic>
          <p:nvPicPr>
            <p:cNvPr id="51" name="그림 5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17775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65588" y="2938644"/>
            <a:ext cx="9784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생성형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인공지능을 사용하여 부정행위를 저지를 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인공지능에 지나치게 의존하게 되어 스스로 노력하지 않는 등 학습 동기가 약해질 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1" name="타원 20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2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</p:childTnLst>
        </p:cTn>
      </p:par>
    </p:tnLst>
    <p:bldLst>
      <p:bldP spid="54" grpId="0"/>
      <p:bldP spid="54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</a:t>
            </a:r>
            <a:r>
              <a:rPr lang="ko-KR" altLang="en-US" sz="2000" b="1" dirty="0" err="1" smtClean="0">
                <a:latin typeface="+mn-ea"/>
              </a:rPr>
              <a:t>모둠별로</a:t>
            </a:r>
            <a:r>
              <a:rPr lang="ko-KR" altLang="en-US" sz="2000" b="1" dirty="0" smtClean="0">
                <a:latin typeface="+mn-ea"/>
              </a:rPr>
              <a:t> </a:t>
            </a:r>
            <a:r>
              <a:rPr lang="ko-KR" altLang="en-US" sz="2000" b="1" dirty="0">
                <a:latin typeface="+mn-ea"/>
              </a:rPr>
              <a:t>내가 개발자라면 </a:t>
            </a:r>
            <a:r>
              <a:rPr lang="ko-KR" altLang="en-US" sz="2000" b="1" dirty="0" err="1">
                <a:latin typeface="+mn-ea"/>
              </a:rPr>
              <a:t>생성형</a:t>
            </a:r>
            <a:r>
              <a:rPr lang="ko-KR" altLang="en-US" sz="2000" b="1" dirty="0">
                <a:latin typeface="+mn-ea"/>
              </a:rPr>
              <a:t> 인공지능 기술을 어떻게 보완할 것인지 토의하여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38933" y="691291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-150" dirty="0" smtClean="0">
                <a:solidFill>
                  <a:srgbClr val="FF9300"/>
                </a:solidFill>
                <a:latin typeface="+mj-ea"/>
                <a:ea typeface="+mj-ea"/>
              </a:rPr>
              <a:t>인공지능 </a:t>
            </a:r>
            <a:r>
              <a:rPr lang="ko-KR" altLang="en-US" sz="2400" b="1" spc="-150" dirty="0">
                <a:solidFill>
                  <a:srgbClr val="FF9300"/>
                </a:solidFill>
                <a:latin typeface="+mj-ea"/>
                <a:ea typeface="+mj-ea"/>
              </a:rPr>
              <a:t>기술의 올바른 활용 방법 토의하기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pic>
        <p:nvPicPr>
          <p:cNvPr id="49" name="그림 48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03797"/>
            <a:ext cx="487174" cy="487174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03797"/>
            <a:ext cx="1087577" cy="495431"/>
            <a:chOff x="10075659" y="2003022"/>
            <a:chExt cx="1156006" cy="495431"/>
          </a:xfrm>
        </p:grpSpPr>
        <p:pic>
          <p:nvPicPr>
            <p:cNvPr id="51" name="그림 5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17775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65588" y="2938644"/>
            <a:ext cx="9784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생성형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인공지능을 이용한 부정행위를 예방하거나 적발할 수 있는 보안 프로그램을 개발하고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인공지능의 윤리적 사용을 위한 지침을 만들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52321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</p:childTnLst>
        </p:cTn>
      </p:par>
    </p:tnLst>
    <p:bldLst>
      <p:bldP spid="54" grpId="0"/>
      <p:bldP spid="54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3. </a:t>
            </a:r>
            <a:r>
              <a:rPr lang="ko-KR" altLang="en-US" sz="2000" b="1" dirty="0" err="1">
                <a:latin typeface="+mn-ea"/>
              </a:rPr>
              <a:t>모둠별로</a:t>
            </a:r>
            <a:r>
              <a:rPr lang="ko-KR" altLang="en-US" sz="2000" b="1" dirty="0">
                <a:latin typeface="+mn-ea"/>
              </a:rPr>
              <a:t> 내가 사용자라면 </a:t>
            </a:r>
            <a:r>
              <a:rPr lang="ko-KR" altLang="en-US" sz="2000" b="1" dirty="0" err="1">
                <a:latin typeface="+mn-ea"/>
              </a:rPr>
              <a:t>생성형</a:t>
            </a:r>
            <a:r>
              <a:rPr lang="ko-KR" altLang="en-US" sz="2000" b="1" dirty="0">
                <a:latin typeface="+mn-ea"/>
              </a:rPr>
              <a:t> 인공지능 기술을 어떻게 활용하는 것이 바람직한지 토의하여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38933" y="691291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-150" dirty="0" smtClean="0">
                <a:solidFill>
                  <a:srgbClr val="FF9300"/>
                </a:solidFill>
                <a:latin typeface="+mj-ea"/>
                <a:ea typeface="+mj-ea"/>
              </a:rPr>
              <a:t>인공지능 </a:t>
            </a:r>
            <a:r>
              <a:rPr lang="ko-KR" altLang="en-US" sz="2400" b="1" spc="-150" dirty="0">
                <a:solidFill>
                  <a:srgbClr val="FF9300"/>
                </a:solidFill>
                <a:latin typeface="+mj-ea"/>
                <a:ea typeface="+mj-ea"/>
              </a:rPr>
              <a:t>기술의 올바른 활용 방법 토의하기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pic>
        <p:nvPicPr>
          <p:cNvPr id="49" name="그림 48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03797"/>
            <a:ext cx="487174" cy="487174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03797"/>
            <a:ext cx="1087577" cy="495431"/>
            <a:chOff x="10075659" y="2003022"/>
            <a:chExt cx="1156006" cy="495431"/>
          </a:xfrm>
        </p:grpSpPr>
        <p:pic>
          <p:nvPicPr>
            <p:cNvPr id="51" name="그림 5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17775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65588" y="2938644"/>
            <a:ext cx="9784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생성형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인공지능을 이용한 부정행위를 예방하거나 적발할 수 있는 보안 프로그램을 개발하고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인공지능의 윤리적 사용을 위한 지침을 만들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7467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</p:childTnLst>
        </p:cTn>
      </p:par>
    </p:tnLst>
    <p:bldLst>
      <p:bldP spid="54" grpId="0"/>
      <p:bldP spid="54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2528047"/>
            <a:ext cx="8522936" cy="3399417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591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과학기술에 대한 과학자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시민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사회의 책임을 되새기며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과학기술의 바람직한 활용을 위한 나의 다짐을 써 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2553035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2553035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3169302"/>
            <a:ext cx="81650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spc="-100" dirty="0">
                <a:solidFill>
                  <a:srgbClr val="0070C0"/>
                </a:solidFill>
                <a:latin typeface="+mn-ea"/>
              </a:rPr>
              <a:t>과학기술을 올바르게 활용하려면 </a:t>
            </a:r>
            <a:r>
              <a:rPr lang="ko-KR" altLang="en-US" sz="2400" spc="-100" dirty="0" err="1">
                <a:solidFill>
                  <a:srgbClr val="0070C0"/>
                </a:solidFill>
                <a:latin typeface="+mn-ea"/>
              </a:rPr>
              <a:t>과학자뿐만</a:t>
            </a:r>
            <a:r>
              <a:rPr lang="ko-KR" altLang="en-US" sz="2400" spc="-100" dirty="0">
                <a:solidFill>
                  <a:srgbClr val="0070C0"/>
                </a:solidFill>
                <a:latin typeface="+mn-ea"/>
              </a:rPr>
              <a:t> 아니라 시민과 사회도 관심과 책임 의식을 지녀야 한다</a:t>
            </a:r>
            <a:r>
              <a:rPr lang="en-US" altLang="ko-KR" sz="2400" spc="-1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spc="-100" dirty="0">
                <a:solidFill>
                  <a:srgbClr val="0070C0"/>
                </a:solidFill>
                <a:latin typeface="+mn-ea"/>
              </a:rPr>
              <a:t>과학기술이 인간 존엄성을 구현하고 삶의 질을 높이는 방향으로 활용될 수 있도록 나부터 노력해야겠다</a:t>
            </a:r>
            <a:r>
              <a:rPr lang="en-US" altLang="ko-KR" sz="2400" spc="-1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spc="-1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2619813"/>
            <a:ext cx="1328154" cy="458932"/>
            <a:chOff x="877165" y="3739778"/>
            <a:chExt cx="1328154" cy="458932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다짐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57980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4025735" y="578256"/>
            <a:ext cx="1828800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4703949" y="651944"/>
            <a:ext cx="1150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spc="-15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200" b="1" spc="-150" dirty="0" smtClean="0">
                <a:solidFill>
                  <a:srgbClr val="FFFF00"/>
                </a:solidFill>
                <a:latin typeface="+mj-ea"/>
                <a:ea typeface="+mj-ea"/>
              </a:rPr>
              <a:t>디지털</a:t>
            </a:r>
            <a:r>
              <a:rPr lang="en-US" altLang="ko-KR" sz="1200" b="1" spc="-150" dirty="0" smtClean="0"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</a:p>
          <a:p>
            <a:pPr algn="ctr"/>
            <a:r>
              <a:rPr lang="ko-KR" altLang="en-US" sz="1200" b="1" spc="-150" dirty="0" smtClean="0"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인공지능 소양</a:t>
            </a:r>
            <a:r>
              <a:rPr lang="en-US" altLang="ko-KR" sz="1200" b="1" spc="-150" dirty="0" smtClean="0"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12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5782085" y="654715"/>
            <a:ext cx="599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-150">
                <a:solidFill>
                  <a:schemeClr val="tx2"/>
                </a:solidFill>
                <a:latin typeface="+mj-ea"/>
                <a:ea typeface="+mj-ea"/>
              </a:rPr>
              <a:t>인</a:t>
            </a:r>
            <a:r>
              <a:rPr lang="ko-KR" altLang="en-US" sz="2400" b="1" spc="-150" smtClean="0">
                <a:solidFill>
                  <a:schemeClr val="tx2"/>
                </a:solidFill>
                <a:latin typeface="+mj-ea"/>
                <a:ea typeface="+mj-ea"/>
              </a:rPr>
              <a:t>공지능에는 </a:t>
            </a:r>
            <a:r>
              <a:rPr lang="ko-KR" altLang="en-US" sz="2400" b="1" spc="-150" dirty="0">
                <a:solidFill>
                  <a:schemeClr val="tx2"/>
                </a:solidFill>
                <a:latin typeface="+mj-ea"/>
                <a:ea typeface="+mj-ea"/>
              </a:rPr>
              <a:t>어떤 도덕적 원칙이 필요할까</a:t>
            </a:r>
            <a:r>
              <a:rPr lang="en-US" altLang="ko-KR" sz="2400" b="1" spc="-150" dirty="0" smtClean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spc="-15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02338" y="1749744"/>
            <a:ext cx="11092180" cy="1578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인공지능은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우리의 삶을 편리하게 해 주지만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도덕적 원칙을 고려하지 않고 인공지능을 개발하거나 활용하면 여러 문제가 생길 수 있다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다음 사례를 보고 인공지능에 필요한 도덕적 원칙을 알아보자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hlinkClick r:id="rId5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123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4025735" y="578256"/>
            <a:ext cx="1828800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4703949" y="651944"/>
            <a:ext cx="1150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spc="-15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200" b="1" spc="-150" dirty="0" smtClean="0">
                <a:solidFill>
                  <a:srgbClr val="FFFF00"/>
                </a:solidFill>
                <a:latin typeface="+mj-ea"/>
                <a:ea typeface="+mj-ea"/>
              </a:rPr>
              <a:t>디지털</a:t>
            </a:r>
            <a:r>
              <a:rPr lang="en-US" altLang="ko-KR" sz="1200" b="1" spc="-150" dirty="0" smtClean="0"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</a:p>
          <a:p>
            <a:pPr algn="ctr"/>
            <a:r>
              <a:rPr lang="ko-KR" altLang="en-US" sz="1200" b="1" spc="-150" dirty="0" smtClean="0"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인공지능 소양</a:t>
            </a:r>
            <a:r>
              <a:rPr lang="en-US" altLang="ko-KR" sz="1200" b="1" spc="-150" dirty="0" smtClean="0"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12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5782085" y="654715"/>
            <a:ext cx="599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-150">
                <a:solidFill>
                  <a:schemeClr val="tx2"/>
                </a:solidFill>
                <a:latin typeface="+mj-ea"/>
                <a:ea typeface="+mj-ea"/>
              </a:rPr>
              <a:t>인</a:t>
            </a:r>
            <a:r>
              <a:rPr lang="ko-KR" altLang="en-US" sz="2400" b="1" spc="-150" smtClean="0">
                <a:solidFill>
                  <a:schemeClr val="tx2"/>
                </a:solidFill>
                <a:latin typeface="+mj-ea"/>
                <a:ea typeface="+mj-ea"/>
              </a:rPr>
              <a:t>공지능에는 </a:t>
            </a:r>
            <a:r>
              <a:rPr lang="ko-KR" altLang="en-US" sz="2400" b="1" spc="-150" dirty="0">
                <a:solidFill>
                  <a:schemeClr val="tx2"/>
                </a:solidFill>
                <a:latin typeface="+mj-ea"/>
                <a:ea typeface="+mj-ea"/>
              </a:rPr>
              <a:t>어떤 도덕적 원칙이 필요할까</a:t>
            </a:r>
            <a:r>
              <a:rPr lang="en-US" altLang="ko-KR" sz="2400" b="1" spc="-150" dirty="0" smtClean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spc="-15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429851" y="1833484"/>
            <a:ext cx="5078056" cy="40552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한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인공지능 대화 서비스에서 회원들의 </a:t>
            </a:r>
            <a:r>
              <a:rPr lang="ko-KR" altLang="en-US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개인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정보가 유출되어 논란이 일고 있다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해당 서비스에서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인공지능은 회원들과 대화를 </a:t>
            </a:r>
            <a:r>
              <a:rPr lang="ko-KR" altLang="en-US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나누며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특정 주소를 말했고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 주소는 </a:t>
            </a:r>
            <a:r>
              <a:rPr lang="ko-KR" altLang="en-US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실제로 있는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곳이었다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누리꾼들은 유출된 실제 </a:t>
            </a:r>
            <a:r>
              <a:rPr lang="ko-KR" altLang="en-US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주소에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사는 회원의 개인 정보가 당사자도 </a:t>
            </a:r>
            <a:r>
              <a:rPr lang="ko-KR" altLang="en-US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모르게 노출된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것이 아니냐며 우려하였다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- 《</a:t>
            </a:r>
            <a:r>
              <a:rPr lang="ko-KR" altLang="en-US" spc="-150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이데일리</a:t>
            </a:r>
            <a:r>
              <a:rPr lang="en-US" altLang="ko-KR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》, 2021. 1. 11.</a:t>
            </a:r>
            <a:endParaRPr lang="ko-KR" altLang="en-US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1" name="타원 30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82" y="5169408"/>
            <a:ext cx="1390134" cy="1649666"/>
          </a:xfrm>
          <a:prstGeom prst="rect">
            <a:avLst/>
          </a:prstGeom>
        </p:spPr>
      </p:pic>
      <p:grpSp>
        <p:nvGrpSpPr>
          <p:cNvPr id="34" name="그룹 33"/>
          <p:cNvGrpSpPr/>
          <p:nvPr/>
        </p:nvGrpSpPr>
        <p:grpSpPr>
          <a:xfrm>
            <a:off x="342838" y="1406653"/>
            <a:ext cx="5876774" cy="4574787"/>
            <a:chOff x="3283726" y="2125433"/>
            <a:chExt cx="5876774" cy="4574787"/>
          </a:xfrm>
        </p:grpSpPr>
        <p:pic>
          <p:nvPicPr>
            <p:cNvPr id="35" name="그림 34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21176" y="2125433"/>
              <a:ext cx="3470156" cy="3932587"/>
            </a:xfrm>
            <a:prstGeom prst="rect">
              <a:avLst/>
            </a:prstGeom>
          </p:spPr>
        </p:pic>
        <p:sp>
          <p:nvSpPr>
            <p:cNvPr id="36" name="모서리가 둥근 사각형 설명선 35"/>
            <p:cNvSpPr/>
            <p:nvPr/>
          </p:nvSpPr>
          <p:spPr>
            <a:xfrm>
              <a:off x="3283726" y="2612721"/>
              <a:ext cx="2170081" cy="522489"/>
            </a:xfrm>
            <a:prstGeom prst="wedgeRoundRectCallout">
              <a:avLst>
                <a:gd name="adj1" fmla="val 59507"/>
                <a:gd name="adj2" fmla="val 54391"/>
                <a:gd name="adj3" fmla="val 16667"/>
              </a:avLst>
            </a:prstGeom>
            <a:solidFill>
              <a:srgbClr val="F4BBB4"/>
            </a:solidFill>
            <a:ln w="28575">
              <a:solidFill>
                <a:schemeClr val="bg2">
                  <a:lumMod val="75000"/>
                </a:schemeClr>
              </a:solidFill>
            </a:ln>
            <a:scene3d>
              <a:camera prst="perspectiveRigh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en-US" spc="-150" dirty="0" smtClean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안녕</a:t>
              </a:r>
              <a:r>
                <a:rPr lang="en-US" altLang="ko-KR" spc="-150" dirty="0" smtClean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, </a:t>
              </a:r>
              <a:r>
                <a:rPr lang="ko-KR" altLang="en-US" spc="-150" dirty="0" smtClean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나는 </a:t>
              </a:r>
              <a:r>
                <a:rPr lang="ko-KR" altLang="en-US" spc="-150" dirty="0" err="1" smtClean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진영이야</a:t>
              </a:r>
              <a:r>
                <a:rPr lang="en-US" altLang="ko-KR" spc="-150" dirty="0" smtClean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.</a:t>
              </a:r>
              <a:endParaRPr lang="ko-KR" altLang="en-US" spc="-150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37" name="모서리가 둥근 사각형 설명선 36"/>
            <p:cNvSpPr/>
            <p:nvPr/>
          </p:nvSpPr>
          <p:spPr>
            <a:xfrm>
              <a:off x="4188558" y="5866514"/>
              <a:ext cx="3213013" cy="833706"/>
            </a:xfrm>
            <a:prstGeom prst="wedgeRoundRectCallout">
              <a:avLst>
                <a:gd name="adj1" fmla="val -61088"/>
                <a:gd name="adj2" fmla="val -7652"/>
                <a:gd name="adj3" fmla="val 16667"/>
              </a:avLst>
            </a:prstGeom>
            <a:solidFill>
              <a:srgbClr val="F4BBB3"/>
            </a:solidFill>
            <a:ln w="28575">
              <a:solidFill>
                <a:schemeClr val="bg2">
                  <a:lumMod val="75000"/>
                </a:schemeClr>
              </a:solidFill>
            </a:ln>
            <a:scene3d>
              <a:camera prst="perspectiveRigh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en-US" spc="-15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□□ </a:t>
              </a:r>
              <a:r>
                <a:rPr lang="ko-KR" altLang="en-US" spc="-150" dirty="0" smtClean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아파트는 우리 동네에 </a:t>
              </a:r>
              <a:r>
                <a:rPr lang="ko-KR" altLang="en-US" spc="-150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진짜 있는 곳인데</a:t>
              </a:r>
              <a:r>
                <a:rPr lang="en-US" altLang="ko-KR" spc="-150" dirty="0" smtClean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, </a:t>
              </a:r>
              <a:r>
                <a:rPr lang="ko-KR" altLang="en-US" spc="-150" dirty="0" smtClean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찾아가 </a:t>
              </a:r>
              <a:r>
                <a:rPr lang="ko-KR" altLang="en-US" spc="-150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볼까</a:t>
              </a:r>
              <a:r>
                <a:rPr lang="en-US" altLang="ko-KR" spc="-150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?</a:t>
              </a:r>
              <a:endParaRPr lang="ko-KR" altLang="en-US" spc="-150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38" name="모서리가 둥근 사각형 설명선 37"/>
            <p:cNvSpPr/>
            <p:nvPr/>
          </p:nvSpPr>
          <p:spPr>
            <a:xfrm>
              <a:off x="3283726" y="3850342"/>
              <a:ext cx="2170074" cy="650520"/>
            </a:xfrm>
            <a:prstGeom prst="wedgeRoundRectCallout">
              <a:avLst>
                <a:gd name="adj1" fmla="val 57202"/>
                <a:gd name="adj2" fmla="val 53788"/>
                <a:gd name="adj3" fmla="val 16667"/>
              </a:avLst>
            </a:prstGeom>
            <a:solidFill>
              <a:srgbClr val="F4BBB3"/>
            </a:solidFill>
            <a:ln w="28575">
              <a:solidFill>
                <a:schemeClr val="bg2">
                  <a:lumMod val="75000"/>
                </a:schemeClr>
              </a:solidFill>
            </a:ln>
            <a:scene3d>
              <a:camera prst="perspectiveRigh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en-US" spc="-150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너를 개발한 </a:t>
              </a:r>
              <a:r>
                <a:rPr lang="ko-KR" altLang="en-US" spc="-150" dirty="0" smtClean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사람은 어디에 </a:t>
              </a:r>
              <a:r>
                <a:rPr lang="ko-KR" altLang="en-US" spc="-150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살아</a:t>
              </a:r>
              <a:r>
                <a:rPr lang="en-US" altLang="ko-KR" spc="-150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?</a:t>
              </a:r>
              <a:endParaRPr lang="ko-KR" altLang="en-US" spc="-150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39" name="모서리가 둥근 사각형 설명선 38"/>
            <p:cNvSpPr/>
            <p:nvPr/>
          </p:nvSpPr>
          <p:spPr>
            <a:xfrm flipH="1">
              <a:off x="6510760" y="3001704"/>
              <a:ext cx="2588780" cy="777160"/>
            </a:xfrm>
            <a:prstGeom prst="wedgeRoundRectCallout">
              <a:avLst>
                <a:gd name="adj1" fmla="val 60814"/>
                <a:gd name="adj2" fmla="val 42295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  <a:scene3d>
              <a:camera prst="perspectiveRigh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en-US" spc="-150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안녕</a:t>
              </a:r>
              <a:r>
                <a:rPr lang="en-US" altLang="ko-KR" spc="-150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, </a:t>
              </a:r>
              <a:r>
                <a:rPr lang="ko-KR" altLang="en-US" spc="-150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진영아</a:t>
              </a:r>
              <a:r>
                <a:rPr lang="en-US" altLang="ko-KR" spc="-150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. </a:t>
              </a:r>
              <a:r>
                <a:rPr lang="ko-KR" altLang="en-US" spc="-150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반가워</a:t>
              </a:r>
              <a:r>
                <a:rPr lang="en-US" altLang="ko-KR" spc="-150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. </a:t>
              </a:r>
              <a:r>
                <a:rPr lang="ko-KR" altLang="en-US" spc="-150" dirty="0" smtClean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우리 </a:t>
              </a:r>
              <a:r>
                <a:rPr lang="ko-KR" altLang="en-US" spc="-150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앞으로 친하게 지내자</a:t>
              </a:r>
              <a:r>
                <a:rPr lang="en-US" altLang="ko-KR" spc="-150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.</a:t>
              </a:r>
              <a:endParaRPr lang="ko-KR" altLang="en-US" spc="-150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40" name="모서리가 둥근 사각형 설명선 39"/>
            <p:cNvSpPr/>
            <p:nvPr/>
          </p:nvSpPr>
          <p:spPr>
            <a:xfrm flipH="1">
              <a:off x="6189690" y="4579890"/>
              <a:ext cx="2970810" cy="878461"/>
            </a:xfrm>
            <a:prstGeom prst="wedgeRoundRectCallout">
              <a:avLst>
                <a:gd name="adj1" fmla="val 61250"/>
                <a:gd name="adj2" fmla="val 29532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  <a:scene3d>
              <a:camera prst="perspectiveRigh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en-US" spc="-150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나를 개발한 </a:t>
              </a:r>
              <a:r>
                <a:rPr lang="ko-KR" altLang="en-US" spc="-150" dirty="0" smtClean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사람은 </a:t>
              </a:r>
              <a:r>
                <a:rPr lang="ko-KR" altLang="en-US" spc="-15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○○</a:t>
              </a:r>
              <a:r>
                <a:rPr lang="ko-KR" altLang="en-US" spc="-150" dirty="0" smtClean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시 </a:t>
              </a:r>
              <a:r>
                <a:rPr lang="ko-KR" altLang="en-US" spc="-15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△△</a:t>
              </a:r>
              <a:r>
                <a:rPr lang="ko-KR" altLang="en-US" spc="-150" dirty="0" smtClean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동 </a:t>
              </a:r>
              <a:r>
                <a:rPr lang="ko-KR" altLang="en-US" spc="-15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□□ </a:t>
              </a:r>
              <a:r>
                <a:rPr lang="ko-KR" altLang="en-US" spc="-150" dirty="0" smtClean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아파트에 </a:t>
              </a:r>
              <a:r>
                <a:rPr lang="ko-KR" altLang="en-US" spc="-150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살아</a:t>
              </a:r>
              <a:r>
                <a:rPr lang="en-US" altLang="ko-KR" spc="-150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.</a:t>
              </a:r>
              <a:endParaRPr lang="ko-KR" altLang="en-US" spc="-150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896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4025735" y="578256"/>
            <a:ext cx="1828800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4703949" y="651944"/>
            <a:ext cx="1150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spc="-15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200" b="1" spc="-150" dirty="0" smtClean="0">
                <a:solidFill>
                  <a:srgbClr val="FFFF00"/>
                </a:solidFill>
                <a:latin typeface="+mj-ea"/>
                <a:ea typeface="+mj-ea"/>
              </a:rPr>
              <a:t>디지털</a:t>
            </a:r>
            <a:r>
              <a:rPr lang="en-US" altLang="ko-KR" sz="1200" b="1" spc="-150" dirty="0" smtClean="0"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</a:p>
          <a:p>
            <a:pPr algn="ctr"/>
            <a:r>
              <a:rPr lang="ko-KR" altLang="en-US" sz="1200" b="1" spc="-150" dirty="0" smtClean="0"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인공지능 소양</a:t>
            </a:r>
            <a:r>
              <a:rPr lang="en-US" altLang="ko-KR" sz="1200" b="1" spc="-150" dirty="0" smtClean="0"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12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5782085" y="654715"/>
            <a:ext cx="599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-150">
                <a:solidFill>
                  <a:schemeClr val="tx2"/>
                </a:solidFill>
                <a:latin typeface="+mj-ea"/>
                <a:ea typeface="+mj-ea"/>
              </a:rPr>
              <a:t>인</a:t>
            </a:r>
            <a:r>
              <a:rPr lang="ko-KR" altLang="en-US" sz="2400" b="1" spc="-150" smtClean="0">
                <a:solidFill>
                  <a:schemeClr val="tx2"/>
                </a:solidFill>
                <a:latin typeface="+mj-ea"/>
                <a:ea typeface="+mj-ea"/>
              </a:rPr>
              <a:t>공지능에는 </a:t>
            </a:r>
            <a:r>
              <a:rPr lang="ko-KR" altLang="en-US" sz="2400" b="1" spc="-150" dirty="0">
                <a:solidFill>
                  <a:schemeClr val="tx2"/>
                </a:solidFill>
                <a:latin typeface="+mj-ea"/>
                <a:ea typeface="+mj-ea"/>
              </a:rPr>
              <a:t>어떤 도덕적 원칙이 필요할까</a:t>
            </a:r>
            <a:r>
              <a:rPr lang="en-US" altLang="ko-KR" sz="2400" b="1" spc="-150" dirty="0" smtClean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spc="-15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31" name="타원 30">
            <a:hlinkClick r:id="rId5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259681" y="1609308"/>
            <a:ext cx="8725685" cy="45354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320641" y="1609307"/>
            <a:ext cx="8603904" cy="44088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200" b="1" spc="-150" dirty="0">
                <a:latin typeface="굴림" panose="020B0600000101010101" pitchFamily="50" charset="-127"/>
                <a:ea typeface="굴림" panose="020B0600000101010101" pitchFamily="50" charset="-127"/>
              </a:rPr>
              <a:t>인공지능에 필요한 도덕적 </a:t>
            </a:r>
            <a:r>
              <a:rPr lang="ko-KR" altLang="en-US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원칙</a:t>
            </a:r>
            <a:endParaRPr lang="en-US" altLang="ko-KR" sz="2200" b="1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1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인간 </a:t>
            </a:r>
            <a:r>
              <a:rPr lang="ko-KR" altLang="en-US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존엄성 원칙</a:t>
            </a:r>
            <a:r>
              <a:rPr lang="en-US" altLang="ko-KR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인공지능의 개발</a:t>
            </a:r>
            <a:r>
              <a:rPr lang="en-US" altLang="ko-KR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·</a:t>
            </a:r>
            <a:r>
              <a:rPr lang="ko-KR" altLang="en-US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활용은 안전성과 견고성을 갖추어 </a:t>
            </a:r>
            <a:r>
              <a:rPr lang="ko-KR" altLang="en-US" sz="21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인간에게 </a:t>
            </a:r>
            <a:r>
              <a:rPr lang="ko-KR" altLang="en-US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해가 되지 않도록 해야 한다</a:t>
            </a:r>
            <a:r>
              <a:rPr lang="en-US" altLang="ko-KR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……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1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사회의 </a:t>
            </a:r>
            <a:r>
              <a:rPr lang="ko-KR" altLang="en-US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공공선 원칙</a:t>
            </a:r>
            <a:r>
              <a:rPr lang="en-US" altLang="ko-KR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인공지능은 지능 정보 사회에서 소외되기 쉬운 사회적 </a:t>
            </a:r>
            <a:r>
              <a:rPr lang="ko-KR" altLang="en-US" sz="21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약자와 </a:t>
            </a:r>
            <a:r>
              <a:rPr lang="ko-KR" altLang="en-US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취약 계층의 접근성을 보장하도록 개발</a:t>
            </a:r>
            <a:r>
              <a:rPr lang="en-US" altLang="ko-KR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·</a:t>
            </a:r>
            <a:r>
              <a:rPr lang="ko-KR" altLang="en-US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활용하여야 한다</a:t>
            </a:r>
            <a:r>
              <a:rPr lang="en-US" altLang="ko-KR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……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1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기술의 </a:t>
            </a:r>
            <a:r>
              <a:rPr lang="ko-KR" altLang="en-US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합목적성 원칙</a:t>
            </a:r>
            <a:r>
              <a:rPr lang="en-US" altLang="ko-KR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인공지능 기술은 인류의 삶에 필요한 도구라는 목적과 </a:t>
            </a:r>
            <a:r>
              <a:rPr lang="ko-KR" altLang="en-US" sz="21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의도에 </a:t>
            </a:r>
            <a:r>
              <a:rPr lang="ko-KR" altLang="en-US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부합하게 개발</a:t>
            </a:r>
            <a:r>
              <a:rPr lang="en-US" altLang="ko-KR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·</a:t>
            </a:r>
            <a:r>
              <a:rPr lang="ko-KR" altLang="en-US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활용하여야 하며 그 과정도 윤리적이어야 한다</a:t>
            </a:r>
            <a:r>
              <a:rPr lang="en-US" altLang="ko-KR" sz="21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……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과학기술 정보 통신부 외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〈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사람이 중심이 되는 인공지능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(AI)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윤리 기준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  <a:endParaRPr lang="ko-KR" altLang="en-US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876093" y="4417257"/>
            <a:ext cx="1239305" cy="495431"/>
            <a:chOff x="10075659" y="2003022"/>
            <a:chExt cx="1156006" cy="495431"/>
          </a:xfrm>
        </p:grpSpPr>
        <p:pic>
          <p:nvPicPr>
            <p:cNvPr id="26" name="그림 2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96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실천 톡톡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8" name="모서리가 둥근 사각형 설명선 27"/>
          <p:cNvSpPr/>
          <p:nvPr/>
        </p:nvSpPr>
        <p:spPr>
          <a:xfrm>
            <a:off x="9198316" y="2170176"/>
            <a:ext cx="2373193" cy="1979961"/>
          </a:xfrm>
          <a:prstGeom prst="wedgeRoundRectCallout">
            <a:avLst>
              <a:gd name="adj1" fmla="val 8564"/>
              <a:gd name="adj2" fmla="val 6188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+mn-ea"/>
              </a:rPr>
              <a:t>인공지능에 필요한 또 다른 도덕적 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원칙을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찾아보고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인공지능 대화 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서비스를 올바르게 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활용해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보자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9" name="그림 28" descr="클립아트, 곰, 만화 영화이(가) 표시된 사진&#10;&#10;자동 생성된 설명">
            <a:extLst>
              <a:ext uri="{FF2B5EF4-FFF2-40B4-BE49-F238E27FC236}">
                <a16:creationId xmlns:a16="http://schemas.microsoft.com/office/drawing/2014/main" id="{7E57931C-BC2D-94A0-17C9-B8C790C398E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4312" y="4776162"/>
            <a:ext cx="1951723" cy="208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2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151906" y="2086984"/>
            <a:ext cx="97496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“1.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인간과 자연의 관계 </a:t>
            </a:r>
            <a:endParaRPr lang="en-US" altLang="ko-KR" sz="28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- 01.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우리는 지연을 어떻게 바라보고 있을까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를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7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과학기술의 바람직한 활용 방향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인류의 행복을 증진하고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인간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존엄성 </a:t>
            </a:r>
            <a:r>
              <a:rPr sz="2400" b="0">
                <a:solidFill>
                  <a:srgbClr val="262626"/>
                </a:solidFill>
              </a:rPr>
              <a:t>을 보장해야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소크는 소아마비 백신 특허를 내지 않았다 — “태양에도 특허를 낼 건가요?”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과학기술이 주는 혜택이 모든 사람에게 골고루 돌아가도록 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미래 세대와 자연에 대한 책임을 고려해야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상아 대신 플라스틱 당구공 — 코끼리를 살린 발명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인류의 행복을 증진하고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인간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존엄성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보장해야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소크는 소아마비 백신 특허를 내지 않았다 — “태양에도 특허를 낼 건가요?”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과학기술이 주는 혜택이 모든 사람에게 골고루 돌아가도록 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미래 세대와 자연에 대한 책임을 고려해야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상아 대신 플라스틱 당구공 — 코끼리를 살린 발명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인류의 행복을 증진하고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존엄성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보장해야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소크는 소아마비 백신 특허를 내지 않았다 — “태양에도 특허를 낼 건가요?”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과학기술이 주는 혜택이 모든 사람에게 골고루 돌아가도록 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미래 세대와 자연에 대한 책임을 고려해야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상아 대신 플라스틱 당구공 — 코끼리를 살린 발명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인류의 행복을 증진하고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존엄성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보장해야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소크는 소아마비 백신 특허를 내지 않았다 — “태양에도 특허를 낼 건가요?”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과학기술이 주는 혜택이 모든 사람에게 골고루 돌아가도록 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미래 세대와 자연에 대한 책임을 고려해야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상아 대신 플라스틱 당구공 — 코끼리를 살린 발명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인류의 행복을 증진하고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존엄성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보장해야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소크는 소아마비 백신 특허를 내지 않았다 — “태양에도 특허를 낼 건가요?”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과학기술이 주는 혜택이 모든 사람에게 골고루 돌아가도록 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미래 세대와 자연에 대한 책임을 고려해야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상아 대신 플라스틱 당구공 — 코끼리를 살린 발명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과학기술에 대한 과학자의 책임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정보를 조작하거나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왜곡 </a:t>
            </a:r>
            <a:r>
              <a:rPr sz="2400" b="0">
                <a:solidFill>
                  <a:srgbClr val="262626"/>
                </a:solidFill>
              </a:rPr>
              <a:t>하지 않고, 정해진 절차에 따라 정직하게 연구에 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논문 데이터 조작은 과학 전체의 신뢰를 무너뜨린다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자신이 연구하는 과학기술이 사회에 미칠 영향을 고려해야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이 앱이 아이들의 사용 시간을 얼마나 늘릴까?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자신이 연구하는 과학기술이 사회적으로 해로운 결과를 낳을 수 있음을 예상했다면 그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위험성 </a:t>
            </a:r>
            <a:r>
              <a:rPr sz="2400" b="0">
                <a:solidFill>
                  <a:srgbClr val="262626"/>
                </a:solidFill>
              </a:rPr>
              <a:t>을 알리고 연구를 중단해야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원자 폭탄을 만든 오펜하이머는 뒤에 수소 폭탄 개발에 반대했다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정보를 조작하거나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왜곡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하지 않고, 정해진 절차에 따라 정직하게 연구에 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논문 데이터 조작은 과학 전체의 신뢰를 무너뜨린다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자신이 연구하는 과학기술이 사회에 미칠 영향을 고려해야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이 앱이 아이들의 사용 시간을 얼마나 늘릴까?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자신이 연구하는 과학기술이 사회적으로 해로운 결과를 낳을 수 있음을 예상했다면 그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위험성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알리고 연구를 중단해야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원자 폭탄을 만든 오펜하이머는 뒤에 수소 폭탄 개발에 반대했다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정보를 조작하거나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왜곡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하지 않고, 정해진 절차에 따라 정직하게 연구에 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논문 데이터 조작은 과학 전체의 신뢰를 무너뜨린다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자신이 연구하는 과학기술이 사회에 미칠 영향을 고려해야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이 앱이 아이들의 사용 시간을 얼마나 늘릴까?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자신이 연구하는 과학기술이 사회적으로 해로운 결과를 낳을 수 있음을 예상했다면 그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위험성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알리고 연구를 중단해야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원자 폭탄을 만든 오펜하이머는 뒤에 수소 폭탄 개발에 반대했다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정보를 조작하거나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왜곡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하지 않고, 정해진 절차에 따라 정직하게 연구에 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논문 데이터 조작은 과학 전체의 신뢰를 무너뜨린다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자신이 연구하는 과학기술이 사회에 미칠 영향을 고려해야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이 앱이 아이들의 사용 시간을 얼마나 늘릴까?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자신이 연구하는 과학기술이 사회적으로 해로운 결과를 낳을 수 있음을 예상했다면 그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위험성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알리고 연구를 중단해야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원자 폭탄을 만든 오펜하이머는 뒤에 수소 폭탄 개발에 반대했다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정보를 조작하거나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왜곡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하지 않고, 정해진 절차에 따라 정직하게 연구에 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논문 데이터 조작은 과학 전체의 신뢰를 무너뜨린다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자신이 연구하는 과학기술이 사회에 미칠 영향을 고려해야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이 앱이 아이들의 사용 시간을 얼마나 늘릴까?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자신이 연구하는 과학기술이 사회적으로 해로운 결과를 낳을 수 있음을 예상했다면 그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위험성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알리고 연구를 중단해야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원자 폭탄을 만든 오펜하이머는 뒤에 수소 폭탄 개발에 반대했다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정보를 조작하거나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왜곡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하지 않고, 정해진 절차에 따라 정직하게 연구에 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논문 데이터 조작은 과학 전체의 신뢰를 무너뜨린다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자신이 연구하는 과학기술이 사회에 미칠 영향을 고려해야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이 앱이 아이들의 사용 시간을 얼마나 늘릴까?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자신이 연구하는 과학기술이 사회적으로 해로운 결과를 낳을 수 있음을 예상했다면 그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위험성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알리고 연구를 중단해야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원자 폭탄을 만든 오펜하이머는 뒤에 수소 폭탄 개발에 반대했다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사상가의 말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“여러분이 인간임을 기억하고, 나머지는 잊으라”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— 러셀–아인슈타인 선언(1955)의 뜻을 풀어 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핵무기의 위험을 경고하며 과학자 11명이 함께 서명했다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스스로 멈춘 과학자들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1975년 2월 · 미국 아실로마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상황 · 유전자를 자르고 붙이는 새 기술이 막 등장했다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걱정 · 위험한 미생물이 만들어져 퍼질 수 있다는 우려가 나왔다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결정 · 과학자 약 140명이 모여 안전 규칙을 정할 때까지 일부 실험을 스스로 미뤘다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의미 · 과학자들이 위험을 먼저 알리고 사회와 함께 기준을 세운 첫 사례로 꼽힌다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과학자가 스스로 멈춘다는 것은 어떤 뜻일까?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1975년 2월 · 미국 아실로마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상황 · 유전자를 자르고 붙이는 새 기술이 막 등장했다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걱정 · 위험한 미생물이 만들어져 퍼질 수 있다는 우려가 나왔다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결정 · 과학자 약 140명이 모여 안전 규칙을 정할 때까지 일부 실험을 스스로 미뤘다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의미 · 과학자들이 위험을 먼저 알리고 사회와 함께 기준을 세운 첫 사례로 꼽힌다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과학자가 스스로 멈춘다는 것은 어떤 뜻일까?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과학기술에 대한 시민과 사회의 책임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시민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자신이 과학기술을 어떻게 활용하는지 성찰해야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 얼굴로 딥페이크 장난 영상을 만들지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과학기술의 사회적 활용 방향에 관심을 기울여야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③ 사회가 마련한 과학기술 연구·개발의 타당성을 검증하는 제도나 정책에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책임 </a:t>
            </a:r>
            <a:r>
              <a:rPr sz="2400" b="0">
                <a:solidFill>
                  <a:srgbClr val="262626"/>
                </a:solidFill>
              </a:rPr>
              <a:t> 있는 자세로 참여해야 함.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시민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자신이 과학기술을 어떻게 활용하는지 성찰해야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친구 얼굴로 딥페이크 장난 영상을 만들지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과학기술의 사회적 활용 방향에 관심을 기울여야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사회가 마련한 과학기술 연구·개발의 타당성을 검증하는 제도나 정책에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책임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있는 자세로 참여해야 함.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시민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자신이 과학기술을 어떻게 활용하는지 성찰해야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 얼굴로 딥페이크 장난 영상을 만들지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과학기술의 사회적 활용 방향에 관심을 기울여야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사회가 마련한 과학기술 연구·개발의 타당성을 검증하는 제도나 정책에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책임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있는 자세로 참여해야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rgbClr val="FFFF00"/>
                </a:solidFill>
                <a:latin typeface="+mn-ea"/>
              </a:rPr>
              <a:t>과학기술에 대한 시민과 사회의 책임 (이어서)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사회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과학기술의 객관성과 진실성, 발전 방향 등을 주제로 토론하고 협의를 이끌어 낼 수 있는 제도적 장치를 마련해야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기술 영향 평가 제도, 생명 윤리 위원회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과학기술의 객관성과 진실성, 발전 방향 등을 주제로 토론하고 협의를 이끌어 낼 수 있는 제도적 장치를 마련해야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기술 영향 평가 제도, 생명 윤리 위원회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과학기술을 바람직하게 활용하려면 미래 세대와 자연에 대한 책임을 고려해야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과학자는 정해진 절차에 따라 정직하게 연구에 임해야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과학자는 자신이 연구하는 과학기술이 사회에 미칠 영향을 고려해야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시민은 과학기술의 객관성과 진실성, 발전 방향 등을 주제로 토론하고 협의를 이끌어 낼 수 있는 제도적 장치를 마련해야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과학기술을 바람직하게 활용하려면 미래 세대와 자연에 대한 책임을 고려해야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과학자는 정해진 절차에 따라 정직하게 연구에 임해야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과학자는 자신이 연구하는 과학기술이 사회에 미칠 영향을 고려해야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시민은 과학기술의 객관성과 진실성, 발전 방향 등을 주제로 토론하고 협의를 이끌어 낼 수 있는 제도적 장치를 마련해야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과학기술을 바람직하게 활용하려면 미래 세대와 자연에 대한 책임을 고려해야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과학자는 정해진 절차에 따라 정직하게 연구에 임해야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과학자는 자신이 연구하는 과학기술이 사회에 미칠 영향을 고려해야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시민은 과학기술의 객관성과 진실성, 발전 방향 등을 주제로 토론하고 협의를 이끌어 낼 수 있는 제도적 장치를 마련해야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과학기술을 바람직하게 활용하려면 미래 세대와 자연에 대한 책임을 고려해야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과학자는 정해진 절차에 따라 정직하게 연구에 임해야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과학자는 자신이 연구하는 과학기술이 사회에 미칠 영향을 고려해야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시민은 과학기술의 객관성과 진실성, 발전 방향 등을 주제로 토론하고 협의를 이끌어 낼 수 있는 제도적 장치를 마련해야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과학기술을 바람직하게 활용하려면 미래 세대와 자연에 대한 책임을 고려해야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과학자는 정해진 절차에 따라 정직하게 연구에 임해야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과학자는 자신이 연구하는 과학기술이 사회에 미칠 영향을 고려해야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시민은 과학기술의 객관성과 진실성, 발전 방향 등을 주제로 토론하고 협의를 이끌어 낼 수 있는 제도적 장치를 마련해야 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누구의 책임일까?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과학자 · 시민 · 사회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실험 자료를 조작하지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과학자 (정직한 연구)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위험이 예상되면 연구를 멈추고 알린다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과학자 (오펜하이머의 후회)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내가 기술을 어떻게 쓰는지 돌아본다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(성찰)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기술 영향 평가 토론회에 참여한다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(책임 있는 참여)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기술 영향 평가 제도를 만든다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(제도적 장치)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윤리 위원회를 운영한다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(검증)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과학자 · 시민 · 사회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실험 자료를 조작하지 않는다</a:t>
            </a:r>
            <a:r>
              <a:rPr sz="2300" b="1">
                <a:solidFill>
                  <a:srgbClr val="C0392B"/>
                </a:solidFill>
              </a:rPr>
              <a:t>   → 과학자 (정직한 연구)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위험이 예상되면 연구를 멈추고 알린다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과학자 (오펜하이머의 후회)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내가 기술을 어떻게 쓰는지 돌아본다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(성찰)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기술 영향 평가 토론회에 참여한다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(책임 있는 참여)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기술 영향 평가 제도를 만든다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(제도적 장치)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윤리 위원회를 운영한다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(검증)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과학자 · 시민 · 사회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실험 자료를 조작하지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과학자 (정직한 연구)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위험이 예상되면 연구를 멈추고 알린다</a:t>
            </a:r>
            <a:r>
              <a:rPr sz="2300" b="1">
                <a:solidFill>
                  <a:srgbClr val="C0392B"/>
                </a:solidFill>
              </a:rPr>
              <a:t>   → 과학자 (오펜하이머의 후회)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내가 기술을 어떻게 쓰는지 돌아본다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(성찰)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기술 영향 평가 토론회에 참여한다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(책임 있는 참여)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기술 영향 평가 제도를 만든다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(제도적 장치)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윤리 위원회를 운영한다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(검증)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과학자 · 시민 · 사회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실험 자료를 조작하지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과학자 (정직한 연구)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위험이 예상되면 연구를 멈추고 알린다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과학자 (오펜하이머의 후회)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내가 기술을 어떻게 쓰는지 돌아본다</a:t>
            </a:r>
            <a:r>
              <a:rPr sz="2300" b="1">
                <a:solidFill>
                  <a:srgbClr val="C0392B"/>
                </a:solidFill>
              </a:rPr>
              <a:t>   → 시민 (성찰)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기술 영향 평가 토론회에 참여한다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(책임 있는 참여)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기술 영향 평가 제도를 만든다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(제도적 장치)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윤리 위원회를 운영한다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(검증)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과학자 · 시민 · 사회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실험 자료를 조작하지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과학자 (정직한 연구)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위험이 예상되면 연구를 멈추고 알린다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과학자 (오펜하이머의 후회)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내가 기술을 어떻게 쓰는지 돌아본다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(성찰)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기술 영향 평가 토론회에 참여한다</a:t>
            </a:r>
            <a:r>
              <a:rPr sz="2300" b="1">
                <a:solidFill>
                  <a:srgbClr val="C0392B"/>
                </a:solidFill>
              </a:rPr>
              <a:t>   → 시민 (책임 있는 참여)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기술 영향 평가 제도를 만든다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(제도적 장치)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윤리 위원회를 운영한다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(검증)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과학자 · 시민 · 사회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실험 자료를 조작하지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과학자 (정직한 연구)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위험이 예상되면 연구를 멈추고 알린다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과학자 (오펜하이머의 후회)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내가 기술을 어떻게 쓰는지 돌아본다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(성찰)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기술 영향 평가 토론회에 참여한다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(책임 있는 참여)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기술 영향 평가 제도를 만든다</a:t>
            </a:r>
            <a:r>
              <a:rPr sz="2300" b="1">
                <a:solidFill>
                  <a:srgbClr val="C0392B"/>
                </a:solidFill>
              </a:rPr>
              <a:t>   → 사회 (제도적 장치)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윤리 위원회를 운영한다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(검증)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과학자 · 시민 · 사회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실험 자료를 조작하지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과학자 (정직한 연구)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위험이 예상되면 연구를 멈추고 알린다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과학자 (오펜하이머의 후회)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내가 기술을 어떻게 쓰는지 돌아본다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(성찰)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기술 영향 평가 토론회에 참여한다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(책임 있는 참여)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기술 영향 평가 제도를 만든다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(제도적 장치)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윤리 위원회를 운영한다</a:t>
            </a:r>
            <a:r>
              <a:rPr sz="2300" b="1">
                <a:solidFill>
                  <a:srgbClr val="C0392B"/>
                </a:solidFill>
              </a:rPr>
              <a:t>   → 사회 (검증)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100" b="1" dirty="0">
                <a:solidFill>
                  <a:srgbClr val="FFFF00"/>
                </a:solidFill>
                <a:latin typeface="+mn-ea"/>
              </a:rPr>
              <a:t>플라스틱, 다시 발명할까? — 가장 중요한 고려 순서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중요한 순서대로 번호를 매겨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(   ) 코끼리를 살리는 일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(   ) 미래 세대가 겪을 쓰레기 문제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(   ) 사람들의 편리함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(   ) 바다 생물의 피해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우리 반 생성형 인공지능 사용 규칙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err="1" smtClean="0">
                <a:solidFill>
                  <a:srgbClr val="6C768E"/>
                </a:solidFill>
                <a:latin typeface="+mj-ea"/>
                <a:ea typeface="+mj-ea"/>
              </a:rPr>
              <a:t>사회∙공동체와의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4.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과학과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190쪽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680660" y="37592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과학기술의 바람직한 활용을 </a:t>
            </a:r>
            <a:r>
              <a:rPr lang="ko-KR" altLang="en-US" b="1" dirty="0" smtClean="0">
                <a:ln w="22225">
                  <a:noFill/>
                  <a:prstDash val="solid"/>
                </a:ln>
                <a:latin typeface="+mn-ea"/>
              </a:rPr>
              <a:t>위해 어떤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태도가 필요할까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써도 되는 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내 생각을 먼저 쓴 뒤 맞춤법·논리를 점검할 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쓰면 안 되는 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읽지 않은 책의 독후감을 대신 쓰게 할 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꼭 지킬 것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인공지능을 쓴 부분은 밝히고, 사실은 다시 확인한다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써도 되는 때</a:t>
            </a:r>
            <a:r>
              <a:rPr sz="2300" b="1">
                <a:solidFill>
                  <a:srgbClr val="C0392B"/>
                </a:solidFill>
              </a:rPr>
              <a:t>   예) 내 생각을 먼저 쓴 뒤 맞춤법·논리를 점검할 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쓰면 안 되는 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읽지 않은 책의 독후감을 대신 쓰게 할 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꼭 지킬 것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인공지능을 쓴 부분은 밝히고, 사실은 다시 확인한다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써도 되는 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내 생각을 먼저 쓴 뒤 맞춤법·논리를 점검할 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쓰면 안 되는 때</a:t>
            </a:r>
            <a:r>
              <a:rPr sz="2300" b="1">
                <a:solidFill>
                  <a:srgbClr val="C0392B"/>
                </a:solidFill>
              </a:rPr>
              <a:t>   예) 읽지 않은 책의 독후감을 대신 쓰게 할 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꼭 지킬 것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인공지능을 쓴 부분은 밝히고, 사실은 다시 확인한다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써도 되는 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내 생각을 먼저 쓴 뒤 맞춤법·논리를 점검할 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쓰면 안 되는 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읽지 않은 책의 독후감을 대신 쓰게 할 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꼭 지킬 것</a:t>
            </a:r>
            <a:r>
              <a:rPr sz="2300" b="1">
                <a:solidFill>
                  <a:srgbClr val="C0392B"/>
                </a:solidFill>
              </a:rPr>
              <a:t>   예) 인공지능을 쓴 부분은 밝히고, 사실은 다시 확인한다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9672</TotalTime>
  <Words>1919</Words>
  <Application>Microsoft Office PowerPoint</Application>
  <PresentationFormat>와이드스크린</PresentationFormat>
  <Paragraphs>284</Paragraphs>
  <Slides>26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4" baseType="lpstr">
      <vt:lpstr>굴림</vt:lpstr>
      <vt:lpstr>나눔고딕</vt:lpstr>
      <vt:lpstr>나눔스퀘어라운드 ExtraBold</vt:lpstr>
      <vt:lpstr>돋움</vt:lpstr>
      <vt:lpstr>맑은 고딕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DB400SDA</cp:lastModifiedBy>
  <cp:revision>276</cp:revision>
  <cp:lastPrinted>2024-06-05T04:53:22Z</cp:lastPrinted>
  <dcterms:created xsi:type="dcterms:W3CDTF">2023-10-31T05:50:03Z</dcterms:created>
  <dcterms:modified xsi:type="dcterms:W3CDTF">2025-01-14T04:41:19Z</dcterms:modified>
</cp:coreProperties>
</file>