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media/image59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4"/>
  </p:notesMasterIdLst>
  <p:handoutMasterIdLst>
    <p:handoutMasterId r:id="rId25"/>
  </p:handoutMasterIdLst>
  <p:sldIdLst>
    <p:sldId id="302" r:id="rId2"/>
    <p:sldId id="301" r:id="rId3"/>
    <p:sldId id="418" r:id="rId4"/>
    <p:sldId id="455" r:id="rId5"/>
    <p:sldId id="442" r:id="rId6"/>
    <p:sldId id="436" r:id="rId7"/>
    <p:sldId id="456" r:id="rId8"/>
    <p:sldId id="457" r:id="rId9"/>
    <p:sldId id="458" r:id="rId10"/>
    <p:sldId id="459" r:id="rId11"/>
    <p:sldId id="460" r:id="rId12"/>
    <p:sldId id="461" r:id="rId13"/>
    <p:sldId id="479" r:id="rId36"/>
    <p:sldId id="465" r:id="rId14"/>
    <p:sldId id="466" r:id="rId15"/>
    <p:sldId id="462" r:id="rId16"/>
    <p:sldId id="474" r:id="rId31"/>
    <p:sldId id="475" r:id="rId32"/>
    <p:sldId id="435" r:id="rId17"/>
    <p:sldId id="467" r:id="rId18"/>
    <p:sldId id="468" r:id="rId19"/>
    <p:sldId id="471" r:id="rId20"/>
    <p:sldId id="472" r:id="rId21"/>
    <p:sldId id="476" r:id="rId33"/>
    <p:sldId id="477" r:id="rId34"/>
    <p:sldId id="478" r:id="rId35"/>
    <p:sldId id="473" r:id="rId22"/>
    <p:sldId id="480" r:id="rId37"/>
    <p:sldId id="481" r:id="rId38"/>
    <p:sldId id="482" r:id="rId39"/>
    <p:sldId id="483" r:id="rId40"/>
    <p:sldId id="380" r:id="rId23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3C0C"/>
    <a:srgbClr val="9FCDEE"/>
    <a:srgbClr val="C5C5E9"/>
    <a:srgbClr val="F3F2FF"/>
    <a:srgbClr val="F9C4C9"/>
    <a:srgbClr val="F0F9E8"/>
    <a:srgbClr val="ABE3F2"/>
    <a:srgbClr val="D4EEC8"/>
    <a:srgbClr val="87D272"/>
    <a:srgbClr val="FFF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13" autoAdjust="0"/>
    <p:restoredTop sz="96242" autoAdjust="0"/>
  </p:normalViewPr>
  <p:slideViewPr>
    <p:cSldViewPr snapToGrid="0">
      <p:cViewPr varScale="1">
        <p:scale>
          <a:sx n="111" d="100"/>
          <a:sy n="111" d="100"/>
        </p:scale>
        <p:origin x="576" y="102"/>
      </p:cViewPr>
      <p:guideLst>
        <p:guide orient="horz" pos="2160"/>
        <p:guide pos="3840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commentAuthors" Target="commentAuthor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773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307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과학만능주의 (189쪽)</a:t>
            </a:r>
          </a:p>
          <a:p>
            <a:r>
              <a:t>과학으로 모든 문제를 풀 수 있다는 태도를 경계해야 한다. 나의 성찰: 윤리적 쟁점을 말할 수 있는가? 유용성과 한계를 설명할 수 있는가?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189쪽 · 과학만능주의</a:t>
            </a:r>
          </a:p>
          <a:p>
            <a:r>
              <a:t>과학을 거부하자는 것이 아니라, 과학이 답할 수 없는 “무엇이 옳은가”의 질문이 남아 있다는 것. 그래서 도덕 시간에 과학기술을 다룬다.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➕ 모럴 머신</a:t>
            </a:r>
          </a:p>
          <a:p>
            <a:r>
              <a:t>MIT의 ‘모럴 머신’ 실험에는 233개 나라와 지역에서 4천만 건이 넘는 선택이 모였다(《Nature》, 2018). 나라마다 답이 달랐다. 정답보다 “누가 정해야 하나(개발자·탑승자·법)”를 묻는 것이 이 장의 핵심 — 193쪽 기술 영향 평가로 이어진다.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편향성과 차별 (교과서 189쪽)</a:t>
            </a:r>
          </a:p>
          <a:p>
            <a:r>
              <a:t>로이터 통신(2018.10.10) 보도. 치우친 자료를 학습한 인공지능은 그 치우침을 그대로 따라 한다. 186쪽 인공지능 면접 기사와 연결: 결정 기준이 불투명하고 책임이 누구에게 있는지 묻기 어렵다.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과학기술의 유용성과 한계를 가려내고, 생명 공학 쟁점에 대한 내 입장을 정해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과학기술의 유용성과 한계를 가려내고, 생명 공학 쟁점에 대한 내 입장을 정해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과학기술의 유용성과 한계를 가려내고, 생명 공학 쟁점에 대한 내 입장을 정해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xmlns="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xmlns="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xmlns="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xmlns="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xmlns="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xmlns="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xmlns="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xmlns="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xmlns="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xmlns="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2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3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5" Type="http://schemas.openxmlformats.org/officeDocument/2006/relationships/image" Target="../media/image590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slide" Target="slide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slide" Target="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5" Type="http://schemas.openxmlformats.org/officeDocument/2006/relationships/image" Target="../media/image590.sv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3.png"/><Relationship Id="rId4" Type="http://schemas.openxmlformats.org/officeDocument/2006/relationships/image" Target="../media/image24.png"/><Relationship Id="rId5" Type="http://schemas.openxmlformats.org/officeDocument/2006/relationships/image" Target="../media/image590.sv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slide" Target="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slide" Target="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1.sv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3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01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4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과학과 윤리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39" y="2268741"/>
            <a:ext cx="67554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과학기술의 유용성과 </a:t>
            </a:r>
            <a:endParaRPr lang="en-US" altLang="ko-KR" sz="5400" b="1" dirty="0" smtClean="0">
              <a:ln w="22225">
                <a:noFill/>
                <a:prstDash val="solid"/>
              </a:ln>
              <a:latin typeface="+mj-ea"/>
              <a:ea typeface="+mj-ea"/>
            </a:endParaRPr>
          </a:p>
          <a:p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한계는 </a:t>
            </a:r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무엇일까</a:t>
            </a:r>
            <a:r>
              <a:rPr lang="en-US" altLang="ko-KR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xmlns="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xmlns="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유용성과 한계는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무엇일까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xmlns="" id="{323387F2-F0F2-2F6D-DB56-EE32593EA49E}"/>
              </a:ext>
            </a:extLst>
          </p:cNvPr>
          <p:cNvGrpSpPr/>
          <p:nvPr/>
        </p:nvGrpSpPr>
        <p:grpSpPr>
          <a:xfrm>
            <a:off x="787400" y="1818866"/>
            <a:ext cx="10293350" cy="787400"/>
            <a:chOff x="914400" y="2362200"/>
            <a:chExt cx="10293350" cy="787400"/>
          </a:xfrm>
        </p:grpSpPr>
        <p:sp>
          <p:nvSpPr>
            <p:cNvPr id="38" name="사각형: 둥근 모서리 15">
              <a:extLst>
                <a:ext uri="{FF2B5EF4-FFF2-40B4-BE49-F238E27FC236}">
                  <a16:creationId xmlns:a16="http://schemas.microsoft.com/office/drawing/2014/main" xmlns="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xmlns="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27938193-A932-45B4-4A78-75A57E0BE7EA}"/>
              </a:ext>
            </a:extLst>
          </p:cNvPr>
          <p:cNvSpPr txBox="1"/>
          <p:nvPr/>
        </p:nvSpPr>
        <p:spPr>
          <a:xfrm>
            <a:off x="1204394" y="1830741"/>
            <a:ext cx="92286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  <a:latin typeface="+mn-ea"/>
              </a:rPr>
              <a:t>현대 </a:t>
            </a: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과학기술과 관련된 윤리적 쟁점을 말할 수 있다</a:t>
            </a:r>
            <a:r>
              <a:rPr lang="en-US" altLang="ko-KR" sz="2800" b="1" dirty="0" smtClean="0">
                <a:solidFill>
                  <a:prstClr val="black"/>
                </a:solidFill>
                <a:latin typeface="+mn-ea"/>
              </a:rPr>
              <a:t>. 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xmlns="" id="{323387F2-F0F2-2F6D-DB56-EE32593EA49E}"/>
              </a:ext>
            </a:extLst>
          </p:cNvPr>
          <p:cNvGrpSpPr/>
          <p:nvPr/>
        </p:nvGrpSpPr>
        <p:grpSpPr>
          <a:xfrm>
            <a:off x="787400" y="3079055"/>
            <a:ext cx="10293350" cy="787400"/>
            <a:chOff x="914400" y="2362200"/>
            <a:chExt cx="10293350" cy="787400"/>
          </a:xfrm>
        </p:grpSpPr>
        <p:sp>
          <p:nvSpPr>
            <p:cNvPr id="25" name="사각형: 둥근 모서리 15">
              <a:extLst>
                <a:ext uri="{FF2B5EF4-FFF2-40B4-BE49-F238E27FC236}">
                  <a16:creationId xmlns:a16="http://schemas.microsoft.com/office/drawing/2014/main" xmlns="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xmlns="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27938193-A932-45B4-4A78-75A57E0BE7EA}"/>
              </a:ext>
            </a:extLst>
          </p:cNvPr>
          <p:cNvSpPr txBox="1"/>
          <p:nvPr/>
        </p:nvSpPr>
        <p:spPr>
          <a:xfrm>
            <a:off x="1204394" y="3090930"/>
            <a:ext cx="92286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  <a:latin typeface="+mn-ea"/>
              </a:rPr>
              <a:t>과학기술의 </a:t>
            </a: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유용성과 한계를 설명할 수 있다</a:t>
            </a:r>
            <a:r>
              <a:rPr lang="en-US" altLang="ko-KR" sz="2800" b="1" dirty="0" smtClean="0">
                <a:solidFill>
                  <a:prstClr val="black"/>
                </a:solidFill>
                <a:latin typeface="+mn-ea"/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6933" y="2619963"/>
            <a:ext cx="6677569" cy="3534193"/>
          </a:xfrm>
          <a:prstGeom prst="rect">
            <a:avLst/>
          </a:prstGeom>
        </p:spPr>
      </p:pic>
      <p:sp>
        <p:nvSpPr>
          <p:cNvPr id="8" name="모서리가 둥근 사각형 설명선 7"/>
          <p:cNvSpPr/>
          <p:nvPr/>
        </p:nvSpPr>
        <p:spPr>
          <a:xfrm>
            <a:off x="6693408" y="2377243"/>
            <a:ext cx="4446699" cy="3598857"/>
          </a:xfrm>
          <a:prstGeom prst="wedgeRoundRectCallout">
            <a:avLst>
              <a:gd name="adj1" fmla="val -72379"/>
              <a:gd name="adj2" fmla="val -359"/>
              <a:gd name="adj3" fmla="val 16667"/>
            </a:avLst>
          </a:prstGeom>
          <a:solidFill>
            <a:schemeClr val="bg1"/>
          </a:solidFill>
          <a:ln>
            <a:solidFill>
              <a:srgbClr val="C5C5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chemeClr val="tx1"/>
                </a:solidFill>
                <a:latin typeface="+mn-ea"/>
              </a:rPr>
              <a:t>맞아</a:t>
            </a:r>
            <a:r>
              <a:rPr lang="en-US" altLang="ko-KR" sz="2400" dirty="0" smtClean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2400" dirty="0" smtClean="0">
                <a:solidFill>
                  <a:schemeClr val="tx1"/>
                </a:solidFill>
                <a:latin typeface="+mn-ea"/>
              </a:rPr>
              <a:t>하지만</a:t>
            </a:r>
            <a:endParaRPr lang="en-US" altLang="ko-KR" sz="2400" dirty="0" smtClean="0">
              <a:solidFill>
                <a:schemeClr val="tx1"/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400" dirty="0">
              <a:solidFill>
                <a:schemeClr val="tx1"/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400" dirty="0" smtClean="0">
              <a:solidFill>
                <a:schemeClr val="tx1"/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400" dirty="0">
              <a:solidFill>
                <a:schemeClr val="tx1"/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400" dirty="0" smtClean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 smtClean="0">
                <a:solidFill>
                  <a:schemeClr val="tx1"/>
                </a:solidFill>
                <a:latin typeface="+mn-ea"/>
              </a:rPr>
              <a:t>과</a:t>
            </a:r>
            <a:r>
              <a:rPr lang="en-US" altLang="ko-KR" sz="2400" dirty="0" smtClean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2400" dirty="0" smtClean="0">
                <a:solidFill>
                  <a:schemeClr val="tx1"/>
                </a:solidFill>
                <a:latin typeface="+mn-ea"/>
              </a:rPr>
              <a:t>와 같은 한계가 있어</a:t>
            </a:r>
            <a:r>
              <a:rPr lang="en-US" altLang="ko-KR" sz="24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24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xmlns="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유용성과 한계는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무엇일까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787401" y="1613182"/>
            <a:ext cx="65643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smtClean="0">
                <a:latin typeface="+mn-ea"/>
              </a:rPr>
              <a:t>다음 </a:t>
            </a:r>
            <a:r>
              <a:rPr lang="ko-KR" altLang="en-US" sz="2000" b="1" dirty="0">
                <a:latin typeface="+mn-ea"/>
              </a:rPr>
              <a:t>만화를 보고 빈칸에 들어갈 말을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28" name="그림 27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722147"/>
            <a:ext cx="487174" cy="48717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34311" y="1722147"/>
            <a:ext cx="1087577" cy="495431"/>
            <a:chOff x="10075659" y="2003022"/>
            <a:chExt cx="1156006" cy="495431"/>
          </a:xfrm>
        </p:grpSpPr>
        <p:pic>
          <p:nvPicPr>
            <p:cNvPr id="30" name="그림 2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" name="모서리가 둥근 사각형 설명선 4"/>
          <p:cNvSpPr/>
          <p:nvPr/>
        </p:nvSpPr>
        <p:spPr>
          <a:xfrm>
            <a:off x="759977" y="2965598"/>
            <a:ext cx="2465791" cy="1146732"/>
          </a:xfrm>
          <a:prstGeom prst="wedgeRoundRectCallout">
            <a:avLst>
              <a:gd name="adj1" fmla="val 38052"/>
              <a:gd name="adj2" fmla="val 67903"/>
              <a:gd name="adj3" fmla="val 16667"/>
            </a:avLst>
          </a:prstGeom>
          <a:solidFill>
            <a:srgbClr val="F9C4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971" y="3059847"/>
            <a:ext cx="1883802" cy="958234"/>
          </a:xfrm>
          <a:prstGeom prst="rect">
            <a:avLst/>
          </a:prstGeom>
        </p:spPr>
      </p:pic>
      <p:sp>
        <p:nvSpPr>
          <p:cNvPr id="43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6839713" y="3194026"/>
            <a:ext cx="4199248" cy="2024149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39713" y="3092150"/>
            <a:ext cx="4199248" cy="168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spc="-100" dirty="0">
                <a:solidFill>
                  <a:srgbClr val="0070C0"/>
                </a:solidFill>
                <a:latin typeface="+mn-ea"/>
              </a:rPr>
              <a:t>일상생활에서 스마트폰에 </a:t>
            </a:r>
            <a:r>
              <a:rPr lang="ko-KR" altLang="en-US" sz="2400" spc="-100" dirty="0" smtClean="0">
                <a:solidFill>
                  <a:srgbClr val="0070C0"/>
                </a:solidFill>
                <a:latin typeface="+mn-ea"/>
              </a:rPr>
              <a:t>지나</a:t>
            </a:r>
            <a:r>
              <a:rPr lang="ko-KR" altLang="en-US" sz="2400" spc="-100" dirty="0">
                <a:solidFill>
                  <a:srgbClr val="0070C0"/>
                </a:solidFill>
                <a:latin typeface="+mn-ea"/>
              </a:rPr>
              <a:t>치게 의존하면 사이버 중독에 빠질 수 있다는 </a:t>
            </a:r>
            <a:r>
              <a:rPr lang="ko-KR" altLang="en-US" sz="2400" spc="-100" dirty="0" smtClean="0">
                <a:solidFill>
                  <a:srgbClr val="0070C0"/>
                </a:solidFill>
                <a:latin typeface="+mn-ea"/>
              </a:rPr>
              <a:t>점</a:t>
            </a:r>
            <a:endParaRPr lang="en-US" altLang="ko-KR" sz="2400" spc="-100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14732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32" grpId="0"/>
      <p:bldP spid="3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6511" y="2836629"/>
            <a:ext cx="4938437" cy="3139471"/>
          </a:xfrm>
          <a:prstGeom prst="rect">
            <a:avLst/>
          </a:prstGeom>
        </p:spPr>
      </p:pic>
      <p:sp>
        <p:nvSpPr>
          <p:cNvPr id="8" name="모서리가 둥근 사각형 설명선 7"/>
          <p:cNvSpPr/>
          <p:nvPr/>
        </p:nvSpPr>
        <p:spPr>
          <a:xfrm>
            <a:off x="711423" y="2377243"/>
            <a:ext cx="4446699" cy="3598857"/>
          </a:xfrm>
          <a:prstGeom prst="wedgeRoundRectCallout">
            <a:avLst>
              <a:gd name="adj1" fmla="val 65260"/>
              <a:gd name="adj2" fmla="val -6796"/>
              <a:gd name="adj3" fmla="val 16667"/>
            </a:avLst>
          </a:prstGeom>
          <a:solidFill>
            <a:schemeClr val="bg1"/>
          </a:solidFill>
          <a:ln>
            <a:solidFill>
              <a:srgbClr val="C5C5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ko-KR" altLang="en-US" sz="2400" dirty="0" err="1" smtClean="0">
                <a:solidFill>
                  <a:schemeClr val="tx1"/>
                </a:solidFill>
                <a:latin typeface="+mn-ea"/>
              </a:rPr>
              <a:t>드론으로</a:t>
            </a:r>
            <a:endParaRPr lang="en-US" altLang="ko-KR" sz="2400" dirty="0" smtClean="0">
              <a:solidFill>
                <a:schemeClr val="tx1"/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400" dirty="0">
              <a:solidFill>
                <a:schemeClr val="tx1"/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400" dirty="0" smtClean="0">
              <a:solidFill>
                <a:schemeClr val="tx1"/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400" dirty="0">
              <a:solidFill>
                <a:schemeClr val="tx1"/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400" dirty="0" smtClean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 smtClean="0">
                <a:solidFill>
                  <a:schemeClr val="tx1"/>
                </a:solidFill>
                <a:latin typeface="+mn-ea"/>
              </a:rPr>
              <a:t>할 수 있어서 유용해</a:t>
            </a:r>
            <a:r>
              <a:rPr lang="en-US" altLang="ko-KR" sz="24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24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xmlns="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유용성과 한계는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무엇일까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87401" y="1613182"/>
            <a:ext cx="65643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smtClean="0">
                <a:latin typeface="+mn-ea"/>
              </a:rPr>
              <a:t>다음 </a:t>
            </a:r>
            <a:r>
              <a:rPr lang="ko-KR" altLang="en-US" sz="2000" b="1" dirty="0">
                <a:latin typeface="+mn-ea"/>
              </a:rPr>
              <a:t>만화를 보고 빈칸에 들어갈 말을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28" name="그림 27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722147"/>
            <a:ext cx="487174" cy="48717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34311" y="1722147"/>
            <a:ext cx="1087577" cy="495431"/>
            <a:chOff x="10075659" y="2003022"/>
            <a:chExt cx="1156006" cy="495431"/>
          </a:xfrm>
        </p:grpSpPr>
        <p:pic>
          <p:nvPicPr>
            <p:cNvPr id="30" name="그림 2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" name="모서리가 둥근 사각형 설명선 4"/>
          <p:cNvSpPr/>
          <p:nvPr/>
        </p:nvSpPr>
        <p:spPr>
          <a:xfrm>
            <a:off x="8251787" y="2377243"/>
            <a:ext cx="2787174" cy="1306397"/>
          </a:xfrm>
          <a:prstGeom prst="wedgeRoundRectCallout">
            <a:avLst>
              <a:gd name="adj1" fmla="val -62548"/>
              <a:gd name="adj2" fmla="val 102433"/>
              <a:gd name="adj3" fmla="val 16667"/>
            </a:avLst>
          </a:prstGeom>
          <a:solidFill>
            <a:srgbClr val="9FCD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837525" y="3146665"/>
            <a:ext cx="4199248" cy="2121661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8361" y="3034701"/>
            <a:ext cx="42255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사람이 직접 활동하기 어려운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위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험한 환경에서도 정보를 수집할 수 있고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소량의 화물을 빠르게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운송</a:t>
            </a:r>
            <a:endParaRPr lang="en-US" altLang="ko-KR" sz="2400" dirty="0">
              <a:solidFill>
                <a:srgbClr val="0070C0"/>
              </a:solidFill>
              <a:latin typeface="+mn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42668" y="2579049"/>
            <a:ext cx="2605411" cy="959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783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32" grpId="0"/>
      <p:bldP spid="3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654636" y="1733444"/>
            <a:ext cx="1071701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○○ 씨는 인공지능을 활용한 입사 면접에서 두 차례 탈락하였다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그는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면접관의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얼굴도 보지 못하고 알고리즘에 따라 불합격했다는 사실을 받아들이기 어려웠다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인공지능 면접은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면접관의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주관적 판단과 채용 비리를 방지할 수 있지만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합격과 불합격을 결정하는 기준은 불투명하다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전문가들은 인공지능 기술을 중요한 결정에 사용할 경우 그 결정의 과정과 근거를 충분히 설명할 수 있어야 한다고 지적한다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r">
              <a:lnSpc>
                <a:spcPct val="150000"/>
              </a:lnSpc>
            </a:pP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- 《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한국일보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》, 2023. 4. 18.</a:t>
            </a: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유용성과 한계는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무엇일까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6DDEFC0A-ECEA-44C9-A48A-4E7115B80B96}"/>
              </a:ext>
            </a:extLst>
          </p:cNvPr>
          <p:cNvSpPr txBox="1"/>
          <p:nvPr/>
        </p:nvSpPr>
        <p:spPr>
          <a:xfrm>
            <a:off x="654636" y="5241181"/>
            <a:ext cx="871136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인공지능</a:t>
            </a:r>
            <a:r>
              <a:rPr lang="ko-KR" altLang="en-US" sz="1600" dirty="0">
                <a:latin typeface="+mn-ea"/>
              </a:rPr>
              <a:t> </a:t>
            </a:r>
            <a:r>
              <a:rPr lang="ko-KR" altLang="en-US" sz="1600" dirty="0" smtClean="0">
                <a:latin typeface="+mn-ea"/>
              </a:rPr>
              <a:t>인간의 </a:t>
            </a:r>
            <a:r>
              <a:rPr lang="ko-KR" altLang="en-US" sz="1600" dirty="0">
                <a:latin typeface="+mn-ea"/>
              </a:rPr>
              <a:t>사고 능력을 컴퓨터 프로그램으로 구현하는 </a:t>
            </a:r>
            <a:r>
              <a:rPr lang="ko-KR" altLang="en-US" sz="1600" dirty="0" smtClean="0">
                <a:latin typeface="+mn-ea"/>
              </a:rPr>
              <a:t>기술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xmlns="" id="{2D7B1CBA-488F-932A-4141-D046A5A56C89}"/>
              </a:ext>
            </a:extLst>
          </p:cNvPr>
          <p:cNvSpPr/>
          <p:nvPr/>
        </p:nvSpPr>
        <p:spPr>
          <a:xfrm>
            <a:off x="2067996" y="1798449"/>
            <a:ext cx="130011" cy="130011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8753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4658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기사에 나타난 문제를 </a:t>
            </a:r>
            <a:r>
              <a:rPr lang="ko-KR" altLang="en-US" sz="2000" b="1" dirty="0" smtClean="0">
                <a:latin typeface="+mn-ea"/>
              </a:rPr>
              <a:t>찾고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이를 통해 알 수 있는 </a:t>
            </a:r>
            <a:r>
              <a:rPr lang="ko-KR" altLang="en-US" sz="2000" b="1" dirty="0" smtClean="0">
                <a:latin typeface="+mn-ea"/>
              </a:rPr>
              <a:t>인공지능에 </a:t>
            </a:r>
            <a:r>
              <a:rPr lang="ko-KR" altLang="en-US" sz="2000" b="1" dirty="0">
                <a:latin typeface="+mn-ea"/>
              </a:rPr>
              <a:t>관한 윤리적 쟁점을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25" name="그림 2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34211"/>
            <a:ext cx="487174" cy="487174"/>
          </a:xfrm>
          <a:prstGeom prst="rect">
            <a:avLst/>
          </a:prstGeom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34311" y="2234211"/>
            <a:ext cx="1087577" cy="495431"/>
            <a:chOff x="10075659" y="2003022"/>
            <a:chExt cx="1156006" cy="495431"/>
          </a:xfrm>
        </p:grpSpPr>
        <p:pic>
          <p:nvPicPr>
            <p:cNvPr id="27" name="그림 2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9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87400" y="2805374"/>
            <a:ext cx="10293350" cy="3668578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65588" y="2826243"/>
            <a:ext cx="97841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인공지능이 합격과 불합격을 결정하는 기준과 그 처리 과정을 투명하게 알 수 없다는 문제가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또한 인공지능의 결정이 잘못되었음이 드러나도 그 결정에 대한 책임이 누구에게 있는지 밝히기 어렵다는 문제도 나타난다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이처럼 투명성과 책임성에 관한 문제가 있는 인공지능 기술을 중요한 결정을 내리는 데 활용해도 되는가에 관한 윤리적 쟁점이 나타난다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유용성과 한계는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무엇일까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30495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30" grpId="0"/>
      <p:bldP spid="30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70363" y="1668944"/>
            <a:ext cx="10789328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□□ 씨는 한 인터넷 사이트를 보던 중 깜짝 놀랐다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해당 사이트에 뜬금없이 공기 청정기 제품 광고 창이 보여 눌러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보니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이전에 자신이 검색했던 바로 그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제품이었다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이러한 맞춤형 광고는 빅데이터 기술 등으로 수집한 대량의 개인 정보를 토대로 특정 소비자에게 적합한 제품을 소개한다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맞춤형 광고는 기업의 광고 효과를 높이고 소비자에게 편리함을 제공하지만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개인 정보를 침해한다는 논란이 있다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유용성과 한계는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무엇일까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6DDEFC0A-ECEA-44C9-A48A-4E7115B80B96}"/>
              </a:ext>
            </a:extLst>
          </p:cNvPr>
          <p:cNvSpPr txBox="1"/>
          <p:nvPr/>
        </p:nvSpPr>
        <p:spPr>
          <a:xfrm>
            <a:off x="2548327" y="5605048"/>
            <a:ext cx="8711364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빅데이터</a:t>
            </a:r>
            <a:r>
              <a:rPr lang="ko-KR" altLang="en-US" sz="1600" dirty="0">
                <a:latin typeface="+mn-ea"/>
              </a:rPr>
              <a:t> </a:t>
            </a:r>
            <a:r>
              <a:rPr lang="ko-KR" altLang="en-US" sz="1600" dirty="0" smtClean="0">
                <a:latin typeface="+mn-ea"/>
              </a:rPr>
              <a:t>대량의 </a:t>
            </a:r>
            <a:r>
              <a:rPr lang="ko-KR" altLang="en-US" sz="1600" dirty="0">
                <a:latin typeface="+mn-ea"/>
              </a:rPr>
              <a:t>자료를 수집하고 분석하여 가치 있는 정보를 찾아내는 </a:t>
            </a:r>
            <a:r>
              <a:rPr lang="ko-KR" altLang="en-US" sz="1600" dirty="0" smtClean="0">
                <a:latin typeface="+mn-ea"/>
              </a:rPr>
              <a:t>기술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xmlns="" id="{2D7B1CBA-488F-932A-4141-D046A5A56C89}"/>
              </a:ext>
            </a:extLst>
          </p:cNvPr>
          <p:cNvSpPr/>
          <p:nvPr/>
        </p:nvSpPr>
        <p:spPr>
          <a:xfrm>
            <a:off x="1091403" y="2755918"/>
            <a:ext cx="130011" cy="130011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5524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933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spc="-100" dirty="0" err="1">
                <a:latin typeface="+mn-ea"/>
              </a:rPr>
              <a:t>모둠별로</a:t>
            </a:r>
            <a:r>
              <a:rPr lang="ko-KR" altLang="en-US" sz="2000" b="1" spc="-100" dirty="0">
                <a:latin typeface="+mn-ea"/>
              </a:rPr>
              <a:t> 빅데이터의 활용에 따른 개인 정보 침해 문제를 예방하는 방안에 관해 토의하여 써 보자</a:t>
            </a:r>
            <a:r>
              <a:rPr lang="en-US" altLang="ko-KR" sz="2000" b="1" spc="-100" dirty="0">
                <a:latin typeface="+mn-ea"/>
              </a:rPr>
              <a:t>.</a:t>
            </a:r>
            <a:endParaRPr lang="ko-KR" altLang="en-US" sz="2000" b="1" spc="-100" dirty="0"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25" name="그림 2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34211"/>
            <a:ext cx="487174" cy="487174"/>
          </a:xfrm>
          <a:prstGeom prst="rect">
            <a:avLst/>
          </a:prstGeom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34311" y="2234211"/>
            <a:ext cx="1087577" cy="495431"/>
            <a:chOff x="10075659" y="2003022"/>
            <a:chExt cx="1156006" cy="495431"/>
          </a:xfrm>
        </p:grpSpPr>
        <p:pic>
          <p:nvPicPr>
            <p:cNvPr id="27" name="그림 2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9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87400" y="2805374"/>
            <a:ext cx="10293350" cy="3107746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65588" y="2826243"/>
            <a:ext cx="978414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빅데이터를 사용하는 사람들에게 개인 정보 보호 교육을 시행하여 개인 정보 활용에 관한 올바른 인식을 심어 준다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또한 개인 식별이 가능한 정보 수집을 제한하고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그러한 정보를 수집해야 하는 경우 반드시 명확한 동의를 받도록 하며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필요하지 않은 정보는 안전하게 삭제하도록 한다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유용성과 한계는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무엇일까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1754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30" grpId="0"/>
      <p:bldP spid="30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539246" y="1711350"/>
            <a:ext cx="1053916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유전병을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앓고 있는 부모는 자녀가 그 병을 물려받을까 봐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걱정하곤 한다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수정란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상태에서 유전자를 변형해 태어날 아이의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질병을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미리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없앨 수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있다면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많은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부모가 그 방법을 선택할 것이다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더 나아가 자신의 아이에게 어떤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능력이나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특징이 있기를 바라는 부모는 아이가 그런 유전자를 가지고 태어나도록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아이의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유전자를 변형할 수도 있을 것이다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하지만 태어날 아이가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그런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능력을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원할지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 아이가 살아갈 미래에도 그 특징이 아이의 삶에 유리할지는 알 수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없는 일이다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200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유용성과 한계는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무엇일까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35795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93350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spc="-100" dirty="0" smtClean="0">
                <a:latin typeface="+mn-ea"/>
              </a:rPr>
              <a:t>1. </a:t>
            </a:r>
            <a:r>
              <a:rPr lang="ko-KR" altLang="en-US" sz="2000" b="1" spc="-100" dirty="0" err="1">
                <a:latin typeface="+mn-ea"/>
              </a:rPr>
              <a:t>모둠별로</a:t>
            </a:r>
            <a:r>
              <a:rPr lang="ko-KR" altLang="en-US" sz="2000" b="1" spc="-100" dirty="0">
                <a:latin typeface="+mn-ea"/>
              </a:rPr>
              <a:t> 유전자 변형 기술을 활용하여 태어날 아이의 능력을 </a:t>
            </a:r>
            <a:r>
              <a:rPr lang="ko-KR" altLang="en-US" sz="2000" b="1" spc="-100" dirty="0" smtClean="0">
                <a:latin typeface="+mn-ea"/>
              </a:rPr>
              <a:t>향상해도 </a:t>
            </a:r>
            <a:r>
              <a:rPr lang="ko-KR" altLang="en-US" sz="2000" b="1" spc="-100" dirty="0">
                <a:latin typeface="+mn-ea"/>
              </a:rPr>
              <a:t>되는지에 관해 토론해 보자</a:t>
            </a:r>
            <a:r>
              <a:rPr lang="en-US" altLang="ko-KR" sz="2000" b="1" spc="-100" dirty="0">
                <a:latin typeface="+mn-ea"/>
              </a:rPr>
              <a:t>.</a:t>
            </a:r>
            <a:endParaRPr lang="ko-KR" altLang="en-US" sz="2000" b="1" spc="-100" dirty="0"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25" name="그림 2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648739"/>
            <a:ext cx="487174" cy="487174"/>
          </a:xfrm>
          <a:prstGeom prst="rect">
            <a:avLst/>
          </a:prstGeom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34311" y="2648739"/>
            <a:ext cx="1087577" cy="495431"/>
            <a:chOff x="10075659" y="2003022"/>
            <a:chExt cx="1156006" cy="495431"/>
          </a:xfrm>
        </p:grpSpPr>
        <p:pic>
          <p:nvPicPr>
            <p:cNvPr id="27" name="그림 2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9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87400" y="3232094"/>
            <a:ext cx="10293350" cy="2883191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65588" y="3252963"/>
            <a:ext cx="978414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spc="-100" dirty="0">
                <a:solidFill>
                  <a:srgbClr val="0070C0"/>
                </a:solidFill>
                <a:latin typeface="+mn-ea"/>
              </a:rPr>
              <a:t>부모는 풍부한 인생 경험을 바탕으로 신중하게 판단하여 아이가 자신의 노력만으로 해결하기 어려운 문제를 쉽게 해결할 수 있도록 아이의 능력을 </a:t>
            </a:r>
            <a:r>
              <a:rPr lang="ko-KR" altLang="en-US" sz="2400" spc="-100" dirty="0" smtClean="0">
                <a:solidFill>
                  <a:srgbClr val="0070C0"/>
                </a:solidFill>
                <a:latin typeface="+mn-ea"/>
              </a:rPr>
              <a:t>키워 줄 </a:t>
            </a:r>
            <a:r>
              <a:rPr lang="ko-KR" altLang="en-US" sz="2400" spc="-100" dirty="0">
                <a:solidFill>
                  <a:srgbClr val="0070C0"/>
                </a:solidFill>
                <a:latin typeface="+mn-ea"/>
              </a:rPr>
              <a:t>수 있다</a:t>
            </a:r>
            <a:r>
              <a:rPr lang="en-US" altLang="ko-KR" sz="2400" spc="-1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spc="-100" dirty="0">
                <a:solidFill>
                  <a:srgbClr val="0070C0"/>
                </a:solidFill>
                <a:latin typeface="+mn-ea"/>
              </a:rPr>
              <a:t>또한 아이도 이에 대해 부모에게 고마움을 느낄 수 있다</a:t>
            </a:r>
            <a:r>
              <a:rPr lang="en-US" altLang="ko-KR" sz="2400" spc="-1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spc="-100" dirty="0">
                <a:solidFill>
                  <a:srgbClr val="0070C0"/>
                </a:solidFill>
                <a:latin typeface="+mn-ea"/>
              </a:rPr>
              <a:t>따라서 유전자 변형 기술을 활용하여 태어날 아이의 능력을 향상해도 된다</a:t>
            </a:r>
            <a:r>
              <a:rPr lang="en-US" altLang="ko-KR" sz="2400" spc="-1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유용성과 한계는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무엇일까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7399" y="2652685"/>
            <a:ext cx="2757191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+mn-ea"/>
              </a:rPr>
              <a:t>찬성하는 입장</a:t>
            </a:r>
            <a:endParaRPr lang="ko-KR" altLang="en-US" sz="2000" dirty="0">
              <a:latin typeface="+mn-ea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113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30" grpId="0"/>
      <p:bldP spid="30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93350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spc="-100" dirty="0" smtClean="0">
                <a:latin typeface="+mn-ea"/>
              </a:rPr>
              <a:t>1. </a:t>
            </a:r>
            <a:r>
              <a:rPr lang="ko-KR" altLang="en-US" sz="2000" b="1" spc="-100" dirty="0" err="1">
                <a:latin typeface="+mn-ea"/>
              </a:rPr>
              <a:t>모둠별로</a:t>
            </a:r>
            <a:r>
              <a:rPr lang="ko-KR" altLang="en-US" sz="2000" b="1" spc="-100" dirty="0">
                <a:latin typeface="+mn-ea"/>
              </a:rPr>
              <a:t> 유전자 변형 기술을 활용하여 태어날 아이의 능력을 </a:t>
            </a:r>
            <a:r>
              <a:rPr lang="ko-KR" altLang="en-US" sz="2000" b="1" spc="-100" dirty="0" smtClean="0">
                <a:latin typeface="+mn-ea"/>
              </a:rPr>
              <a:t>향상해도 </a:t>
            </a:r>
            <a:r>
              <a:rPr lang="ko-KR" altLang="en-US" sz="2000" b="1" spc="-100" dirty="0">
                <a:latin typeface="+mn-ea"/>
              </a:rPr>
              <a:t>되는지에 관해 토론해 보자</a:t>
            </a:r>
            <a:r>
              <a:rPr lang="en-US" altLang="ko-KR" sz="2000" b="1" spc="-100" dirty="0">
                <a:latin typeface="+mn-ea"/>
              </a:rPr>
              <a:t>.</a:t>
            </a:r>
            <a:endParaRPr lang="ko-KR" altLang="en-US" sz="2000" b="1" spc="-100" dirty="0"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25" name="그림 2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648739"/>
            <a:ext cx="487174" cy="487174"/>
          </a:xfrm>
          <a:prstGeom prst="rect">
            <a:avLst/>
          </a:prstGeom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34311" y="2648739"/>
            <a:ext cx="1087577" cy="495431"/>
            <a:chOff x="10075659" y="2003022"/>
            <a:chExt cx="1156006" cy="495431"/>
          </a:xfrm>
        </p:grpSpPr>
        <p:pic>
          <p:nvPicPr>
            <p:cNvPr id="27" name="그림 2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9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87400" y="3232094"/>
            <a:ext cx="10293350" cy="2883191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65588" y="3252963"/>
            <a:ext cx="97841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spc="-100" dirty="0">
                <a:solidFill>
                  <a:srgbClr val="0070C0"/>
                </a:solidFill>
                <a:latin typeface="+mn-ea"/>
              </a:rPr>
              <a:t>태어날 아이 본인의 의사와 관계없이 부모의 판단으로 아이의 능력을 향상하는 것은 아이가 자신의 삶을 주체적으로 살아갈 권리를 침해하는 것이다</a:t>
            </a:r>
            <a:r>
              <a:rPr lang="en-US" altLang="ko-KR" sz="2400" spc="-1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spc="-100" dirty="0">
                <a:solidFill>
                  <a:srgbClr val="0070C0"/>
                </a:solidFill>
                <a:latin typeface="+mn-ea"/>
              </a:rPr>
              <a:t>따라서 유전자 변형 기술을 활용하여 태어날 아이의 능력을 향상해서는 안 된다</a:t>
            </a:r>
            <a:r>
              <a:rPr lang="en-US" altLang="ko-KR" sz="2400" spc="-1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spc="-1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유용성과 한계는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무엇일까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7399" y="2652685"/>
            <a:ext cx="27571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+mn-ea"/>
              </a:rPr>
              <a:t>반대하는 입장</a:t>
            </a:r>
            <a:endParaRPr lang="ko-KR" altLang="en-US" sz="2000" dirty="0">
              <a:latin typeface="+mn-ea"/>
            </a:endParaRPr>
          </a:p>
        </p:txBody>
      </p:sp>
      <p:sp>
        <p:nvSpPr>
          <p:cNvPr id="31" name="타원 30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3567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30" grpId="0"/>
      <p:bldP spid="30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933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2. </a:t>
            </a:r>
            <a:r>
              <a:rPr lang="ko-KR" altLang="en-US" sz="2000" b="1" dirty="0">
                <a:latin typeface="+mn-ea"/>
              </a:rPr>
              <a:t>이 밖에도 생명 공학과 관련하여 나타날 수 있는 또 다른 윤리적 쟁점을 예측하여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25" name="그림 2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58595"/>
            <a:ext cx="487174" cy="487174"/>
          </a:xfrm>
          <a:prstGeom prst="rect">
            <a:avLst/>
          </a:prstGeom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34311" y="2258595"/>
            <a:ext cx="1087577" cy="495431"/>
            <a:chOff x="10075659" y="2003022"/>
            <a:chExt cx="1156006" cy="495431"/>
          </a:xfrm>
        </p:grpSpPr>
        <p:pic>
          <p:nvPicPr>
            <p:cNvPr id="27" name="그림 2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9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87400" y="2841950"/>
            <a:ext cx="10293350" cy="2883191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65588" y="2862819"/>
            <a:ext cx="97841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인간의 이익을 위해 동물을 대상으로 생명 공학 실험을 하는 것이 옳은지에 대한 윤리적 쟁점이 나타날 수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인간의 생명을 다루는 생명 공학 기술을 기업의 이익 창출을 위한 수단으로 사용해도 되는가에 관한 윤리적 쟁점이 나타날 수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유용성과 한계는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무엇일까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38129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30" grpId="0"/>
      <p:bldP spid="30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438936"/>
            <a:ext cx="11045687" cy="2885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인공지능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smtClean="0">
                <a:latin typeface="+mn-ea"/>
              </a:rPr>
              <a:t>뜻</a:t>
            </a:r>
            <a:r>
              <a:rPr lang="en-US" altLang="ko-KR" sz="2400" b="1" dirty="0" smtClean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인간의 사고 능력을 컴퓨터 프로그램으로 구현하는 </a:t>
            </a:r>
            <a:r>
              <a:rPr lang="ko-KR" altLang="en-US" sz="2400" dirty="0" smtClean="0">
                <a:latin typeface="+mn-ea"/>
              </a:rPr>
              <a:t>기술</a:t>
            </a:r>
            <a:endParaRPr lang="en-US" altLang="ko-KR" sz="2400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smtClean="0">
                <a:latin typeface="+mn-ea"/>
              </a:rPr>
              <a:t>윤리적 쟁점</a:t>
            </a:r>
            <a:r>
              <a:rPr lang="en-US" altLang="ko-KR" sz="2400" b="1" dirty="0" smtClean="0">
                <a:latin typeface="+mn-ea"/>
              </a:rPr>
              <a:t>: </a:t>
            </a:r>
            <a:r>
              <a:rPr lang="ko-KR" altLang="en-US" sz="2400" dirty="0" smtClean="0">
                <a:latin typeface="+mn-ea"/>
              </a:rPr>
              <a:t>인공지능이 </a:t>
            </a:r>
            <a:r>
              <a:rPr lang="ko-KR" altLang="en-US" sz="2400" dirty="0">
                <a:latin typeface="+mn-ea"/>
              </a:rPr>
              <a:t>결정을 내리는 기준과 그 처리 과정을 투명하게 설명할 </a:t>
            </a:r>
            <a:r>
              <a:rPr lang="ko-KR" altLang="en-US" sz="2400" dirty="0" smtClean="0">
                <a:latin typeface="+mn-ea"/>
              </a:rPr>
              <a:t>수 </a:t>
            </a:r>
            <a:r>
              <a:rPr lang="ko-KR" altLang="en-US" sz="2400" dirty="0">
                <a:latin typeface="+mn-ea"/>
              </a:rPr>
              <a:t>없고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그 결정의 책임이 누구에게 있는지 밝히기 </a:t>
            </a:r>
            <a:r>
              <a:rPr lang="ko-KR" altLang="en-US" sz="2400" dirty="0" smtClean="0">
                <a:latin typeface="+mn-ea"/>
              </a:rPr>
              <a:t>어려움</a:t>
            </a:r>
            <a:r>
              <a:rPr lang="en-US" altLang="ko-KR" sz="2400" dirty="0" smtClean="0">
                <a:latin typeface="+mn-ea"/>
              </a:rPr>
              <a:t>. </a:t>
            </a:r>
            <a:br>
              <a:rPr lang="en-US" altLang="ko-KR" sz="2400" dirty="0" smtClean="0">
                <a:latin typeface="+mn-ea"/>
              </a:rPr>
            </a:br>
            <a:r>
              <a:rPr lang="en-US" altLang="ko-KR" sz="2400" dirty="0" smtClean="0">
                <a:ea typeface="맑은 고딕" pitchFamily="50" charset="-127"/>
              </a:rPr>
              <a:t>→ </a:t>
            </a:r>
            <a:r>
              <a:rPr lang="ko-KR" altLang="en-US" sz="2400" dirty="0" smtClean="0">
                <a:ea typeface="맑은 고딕" pitchFamily="50" charset="-127"/>
              </a:rPr>
              <a:t>인</a:t>
            </a:r>
            <a:r>
              <a:rPr lang="ko-KR" altLang="en-US" sz="2400" dirty="0" smtClean="0"/>
              <a:t>공지능을 중요한 </a:t>
            </a:r>
            <a:r>
              <a:rPr lang="ko-KR" altLang="en-US" sz="2400" dirty="0"/>
              <a:t>결정을 내리는 데 활용해도 </a:t>
            </a:r>
            <a:r>
              <a:rPr lang="ko-KR" altLang="en-US" sz="2400" dirty="0" smtClean="0"/>
              <a:t>되는가</a:t>
            </a:r>
            <a:r>
              <a:rPr lang="en-US" altLang="ko-KR" sz="2400" dirty="0" smtClean="0"/>
              <a:t>?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과학기술과 관련된 윤리적 쟁점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유용성과 한계는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무엇일까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hlinkClick r:id="" action="ppaction://hlinkshowjump?jump=next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hlinkClick r:id="rId5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8458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438936"/>
            <a:ext cx="11045687" cy="4824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빅데이터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뜻</a:t>
            </a:r>
            <a:r>
              <a:rPr lang="en-US" altLang="ko-KR" sz="2400" b="1" dirty="0">
                <a:latin typeface="+mn-ea"/>
              </a:rPr>
              <a:t>: </a:t>
            </a:r>
            <a:r>
              <a:rPr lang="ko-KR" altLang="en-US" sz="2400" dirty="0" smtClean="0">
                <a:latin typeface="+mn-ea"/>
              </a:rPr>
              <a:t>대량의 </a:t>
            </a:r>
            <a:r>
              <a:rPr lang="ko-KR" altLang="en-US" sz="2400" dirty="0">
                <a:latin typeface="+mn-ea"/>
              </a:rPr>
              <a:t>자료를 수집하고 분석하여 가치 있는 정보를 찾아내는 </a:t>
            </a:r>
            <a:r>
              <a:rPr lang="ko-KR" altLang="en-US" sz="2400" dirty="0" smtClean="0">
                <a:latin typeface="+mn-ea"/>
              </a:rPr>
              <a:t>기술</a:t>
            </a:r>
            <a:endParaRPr lang="en-US" altLang="ko-KR" sz="2400" dirty="0"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윤리적 쟁점</a:t>
            </a:r>
            <a:r>
              <a:rPr lang="en-US" altLang="ko-KR" sz="2400" b="1" dirty="0">
                <a:latin typeface="+mn-ea"/>
              </a:rPr>
              <a:t>: </a:t>
            </a:r>
            <a:r>
              <a:rPr lang="ko-KR" altLang="en-US" sz="2400" dirty="0" smtClean="0">
                <a:latin typeface="+mn-ea"/>
              </a:rPr>
              <a:t>빅데이터 </a:t>
            </a:r>
            <a:r>
              <a:rPr lang="ko-KR" altLang="en-US" sz="2400" dirty="0">
                <a:latin typeface="+mn-ea"/>
              </a:rPr>
              <a:t>기술을 활용하는 데 개인의 사적인 정보까지 수집해도 </a:t>
            </a:r>
            <a:r>
              <a:rPr lang="ko-KR" altLang="en-US" sz="2400" dirty="0" smtClean="0">
                <a:latin typeface="+mn-ea"/>
              </a:rPr>
              <a:t>되는가</a:t>
            </a:r>
            <a:r>
              <a:rPr lang="en-US" altLang="ko-KR" sz="2400" dirty="0" smtClean="0">
                <a:latin typeface="+mn-ea"/>
              </a:rPr>
              <a:t>?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endParaRPr lang="en-US" altLang="ko-KR" sz="1100" dirty="0"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생명 공학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뜻</a:t>
            </a:r>
            <a:r>
              <a:rPr lang="en-US" altLang="ko-KR" sz="2400" b="1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생물의 유전 정보와 성장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번식을 통제하고 조작하는 기술</a:t>
            </a:r>
            <a:endParaRPr lang="en-US" altLang="ko-KR" sz="2400" dirty="0"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윤리적 쟁점</a:t>
            </a:r>
            <a:r>
              <a:rPr lang="en-US" altLang="ko-KR" sz="2400" b="1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인간 향상을 위해 당사자의 동의 없이 유전자를 변형하는 것이 정당한가</a:t>
            </a:r>
            <a:r>
              <a:rPr lang="en-US" altLang="ko-KR" sz="2400" dirty="0" smtClean="0">
                <a:latin typeface="+mn-ea"/>
              </a:rPr>
              <a:t>?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과학기술과 관련된 윤리적 쟁점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유용성과 한계는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무엇일까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타원 16">
            <a:hlinkClick r:id="" action="ppaction://hlinkshowjump?jump=previousslide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hlinkClick r:id="" action="ppaction://hlinkshowjump?jump=nextslide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62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7" y="1438936"/>
            <a:ext cx="10757218" cy="4547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유전자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변형 식품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smtClean="0">
                <a:latin typeface="+mn-ea"/>
              </a:rPr>
              <a:t>뜻</a:t>
            </a:r>
            <a:r>
              <a:rPr lang="en-US" altLang="ko-KR" sz="2400" b="1" dirty="0" smtClean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생물체의 </a:t>
            </a:r>
            <a:r>
              <a:rPr lang="ko-KR" altLang="en-US" sz="2400" dirty="0" smtClean="0">
                <a:latin typeface="+mn-ea"/>
              </a:rPr>
              <a:t>유전자 </a:t>
            </a:r>
            <a:r>
              <a:rPr lang="ko-KR" altLang="en-US" sz="2400" dirty="0">
                <a:latin typeface="+mn-ea"/>
              </a:rPr>
              <a:t>중에 유용한 것을 </a:t>
            </a:r>
            <a:r>
              <a:rPr lang="ko-KR" altLang="en-US" sz="2400" dirty="0" smtClean="0">
                <a:latin typeface="+mn-ea"/>
              </a:rPr>
              <a:t>뽑아서 </a:t>
            </a:r>
            <a:r>
              <a:rPr lang="ko-KR" altLang="en-US" sz="2400" dirty="0">
                <a:latin typeface="+mn-ea"/>
              </a:rPr>
              <a:t>그 유전자가 없는 다른 </a:t>
            </a:r>
            <a:r>
              <a:rPr lang="ko-KR" altLang="en-US" sz="2400" dirty="0" err="1" smtClean="0">
                <a:latin typeface="+mn-ea"/>
              </a:rPr>
              <a:t>생물체에게</a:t>
            </a:r>
            <a:r>
              <a:rPr lang="ko-KR" altLang="en-US" sz="2400" dirty="0" smtClean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삽입해 변형시킨 </a:t>
            </a:r>
            <a:r>
              <a:rPr lang="ko-KR" altLang="en-US" sz="2400" dirty="0" smtClean="0">
                <a:latin typeface="+mn-ea"/>
              </a:rPr>
              <a:t>농산물 </a:t>
            </a:r>
            <a:r>
              <a:rPr lang="ko-KR" altLang="en-US" sz="2400" dirty="0">
                <a:latin typeface="+mn-ea"/>
              </a:rPr>
              <a:t>등으로 제조하거나 </a:t>
            </a:r>
            <a:r>
              <a:rPr lang="ko-KR" altLang="en-US" sz="2400" dirty="0" smtClean="0">
                <a:latin typeface="+mn-ea"/>
              </a:rPr>
              <a:t>가공한 식품</a:t>
            </a:r>
            <a:endParaRPr lang="en-US" altLang="ko-KR" sz="2400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smtClean="0">
                <a:latin typeface="+mn-ea"/>
              </a:rPr>
              <a:t>윤리적 </a:t>
            </a:r>
            <a:r>
              <a:rPr lang="ko-KR" altLang="en-US" sz="2400" b="1" dirty="0">
                <a:latin typeface="+mn-ea"/>
              </a:rPr>
              <a:t>쟁점</a:t>
            </a:r>
            <a:r>
              <a:rPr lang="en-US" altLang="ko-KR" sz="2400" b="1" dirty="0">
                <a:latin typeface="+mn-ea"/>
              </a:rPr>
              <a:t>: </a:t>
            </a:r>
            <a:r>
              <a:rPr lang="ko-KR" altLang="en-US" sz="2400" dirty="0" smtClean="0">
                <a:latin typeface="+mn-ea"/>
              </a:rPr>
              <a:t>유전자 </a:t>
            </a:r>
            <a:r>
              <a:rPr lang="ko-KR" altLang="en-US" sz="2400" dirty="0">
                <a:latin typeface="+mn-ea"/>
              </a:rPr>
              <a:t>변형 식품은 </a:t>
            </a:r>
            <a:r>
              <a:rPr lang="ko-KR" altLang="en-US" sz="2400" dirty="0" smtClean="0">
                <a:latin typeface="+mn-ea"/>
              </a:rPr>
              <a:t>식량 </a:t>
            </a:r>
            <a:r>
              <a:rPr lang="ko-KR" altLang="en-US" sz="2400" dirty="0">
                <a:latin typeface="+mn-ea"/>
              </a:rPr>
              <a:t>부족 문제를 해결하는 데 도움이 </a:t>
            </a:r>
            <a:r>
              <a:rPr lang="ko-KR" altLang="en-US" sz="2400" dirty="0" smtClean="0">
                <a:latin typeface="+mn-ea"/>
              </a:rPr>
              <a:t>되지만</a:t>
            </a:r>
            <a:r>
              <a:rPr lang="en-US" altLang="ko-KR" sz="2400" dirty="0" smtClean="0">
                <a:latin typeface="+mn-ea"/>
              </a:rPr>
              <a:t>, </a:t>
            </a:r>
            <a:r>
              <a:rPr lang="ko-KR" altLang="en-US" sz="2400" dirty="0" smtClean="0">
                <a:latin typeface="+mn-ea"/>
              </a:rPr>
              <a:t>그 </a:t>
            </a:r>
            <a:r>
              <a:rPr lang="ko-KR" altLang="en-US" sz="2400" dirty="0">
                <a:latin typeface="+mn-ea"/>
              </a:rPr>
              <a:t>안전성이 증명되지 않아 </a:t>
            </a:r>
            <a:r>
              <a:rPr lang="ko-KR" altLang="en-US" sz="2400" dirty="0" smtClean="0">
                <a:latin typeface="+mn-ea"/>
              </a:rPr>
              <a:t>인간의 </a:t>
            </a:r>
            <a:r>
              <a:rPr lang="ko-KR" altLang="en-US" sz="2400" dirty="0">
                <a:latin typeface="+mn-ea"/>
              </a:rPr>
              <a:t>건강과 생태계에 예상치 못한 영향을 줄 수 </a:t>
            </a:r>
            <a:r>
              <a:rPr lang="ko-KR" altLang="en-US" sz="2400" dirty="0" smtClean="0">
                <a:latin typeface="+mn-ea"/>
              </a:rPr>
              <a:t>있음</a:t>
            </a:r>
            <a:r>
              <a:rPr lang="en-US" altLang="ko-KR" sz="2400" dirty="0" smtClean="0">
                <a:latin typeface="+mn-ea"/>
              </a:rPr>
              <a:t>. </a:t>
            </a:r>
            <a:br>
              <a:rPr lang="en-US" altLang="ko-KR" sz="2400" dirty="0" smtClean="0">
                <a:latin typeface="+mn-ea"/>
              </a:rPr>
            </a:b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→ </a:t>
            </a:r>
            <a:r>
              <a:rPr lang="ko-KR" altLang="en-US" sz="2400" dirty="0" smtClean="0">
                <a:latin typeface="+mn-ea"/>
              </a:rPr>
              <a:t>이러한 </a:t>
            </a:r>
            <a:r>
              <a:rPr lang="ko-KR" altLang="en-US" sz="2400" dirty="0">
                <a:latin typeface="+mn-ea"/>
              </a:rPr>
              <a:t>문제점이 </a:t>
            </a:r>
            <a:r>
              <a:rPr lang="ko-KR" altLang="en-US" sz="2400" dirty="0" smtClean="0">
                <a:latin typeface="+mn-ea"/>
              </a:rPr>
              <a:t>있는데도 </a:t>
            </a:r>
            <a:r>
              <a:rPr lang="ko-KR" altLang="en-US" sz="2400" dirty="0">
                <a:latin typeface="+mn-ea"/>
              </a:rPr>
              <a:t>자연에 인위적으로 개입하여 유전자 변형 식품을 만드는 것이 </a:t>
            </a:r>
            <a:r>
              <a:rPr lang="ko-KR" altLang="en-US" sz="2400" dirty="0" smtClean="0">
                <a:latin typeface="+mn-ea"/>
              </a:rPr>
              <a:t>옳은가</a:t>
            </a:r>
            <a:r>
              <a:rPr lang="en-US" altLang="ko-KR" sz="2400" dirty="0" smtClean="0">
                <a:latin typeface="+mn-ea"/>
              </a:rPr>
              <a:t>?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과학기술과 관련된 윤리적 쟁점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유용성과 한계는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무엇일까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7" name="타원 26">
            <a:hlinkClick r:id="rId5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hlinkClick r:id="" action="ppaction://hlinkshowjump?jump=previous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9663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550023" y="1401756"/>
            <a:ext cx="7891881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○○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씨는 혼자 사는 노인으로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인공지능 스피커 통합 돌봄 대상자이다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어느 날 그는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갑자기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몸에 마비 증상이 나타나 집 안에 설치되어 있던 인공지능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스피커에게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“△△야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살려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줘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.”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라고 외쳤다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인공지능 스피커는 즉시 구조 요청을 했고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그는 곧바로 출동한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구급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대원의 도움을 받아 무사히 병원에 갈 수 있었다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endParaRPr lang="en-US" altLang="ko-KR" sz="2200" spc="-15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□□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시에서는 ○○ 씨처럼 혼자 살면서 경제적으로 어렵고 건강 상태가 좋지 않은 사람에게 인공지능 스피커를 보급해 보살피고 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돌봄 대상자가 일정 시간 이상 인공지능 스피커를 쓰지 않으면 담당자가 대상자에게 전화를 걸거나 집에 방문해 상태를 확인한다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endParaRPr lang="en-US" altLang="ko-KR" sz="2200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읽</a:t>
            </a:r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글을 읽어 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유용성과 한계는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무엇일까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069" y="3237510"/>
            <a:ext cx="2430654" cy="1620436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0447" y="1500117"/>
            <a:ext cx="2066922" cy="2133099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1392" y="4857946"/>
            <a:ext cx="1984350" cy="1924246"/>
          </a:xfrm>
          <a:prstGeom prst="rect">
            <a:avLst/>
          </a:prstGeom>
        </p:spPr>
      </p:pic>
      <p:sp>
        <p:nvSpPr>
          <p:cNvPr id="27" name="타원 26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27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069" y="3237510"/>
            <a:ext cx="2430654" cy="16204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50024" y="1522780"/>
            <a:ext cx="7891881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이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밖에도 인공지능 스피커는 노래를 들려주거나 지역 소식과 날씨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약 복용 시간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등을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알려 주며 대상자의 말벗이 되기도 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endParaRPr lang="en-US" altLang="ko-KR" sz="2200" spc="-15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《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연합뉴스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》, 2023. 4. 10.</a:t>
            </a:r>
            <a:endParaRPr lang="en-US" altLang="ko-KR" sz="1400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읽</a:t>
            </a:r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글을 읽어 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유용성과 한계는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무엇일까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0447" y="1500117"/>
            <a:ext cx="2066922" cy="213309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1392" y="4857946"/>
            <a:ext cx="1984350" cy="1924246"/>
          </a:xfrm>
          <a:prstGeom prst="rect">
            <a:avLst/>
          </a:prstGeom>
        </p:spPr>
      </p:pic>
      <p:sp>
        <p:nvSpPr>
          <p:cNvPr id="14" name="타원 13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5982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211" y="1317016"/>
            <a:ext cx="11571181" cy="4547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과학기술의 유용성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생활 </a:t>
            </a:r>
            <a:r>
              <a:rPr lang="ko-KR" altLang="en-US" sz="2400" b="1" dirty="0" smtClean="0">
                <a:latin typeface="+mn-ea"/>
              </a:rPr>
              <a:t>편리</a:t>
            </a:r>
            <a:r>
              <a:rPr lang="en-US" altLang="ko-KR" sz="2400" b="1" dirty="0" smtClean="0">
                <a:latin typeface="+mn-ea"/>
              </a:rPr>
              <a:t>: </a:t>
            </a:r>
            <a:r>
              <a:rPr lang="ko-KR" altLang="en-US" sz="2400" dirty="0" smtClean="0">
                <a:latin typeface="+mn-ea"/>
              </a:rPr>
              <a:t>인간의 </a:t>
            </a:r>
            <a:r>
              <a:rPr lang="ko-KR" altLang="en-US" sz="2400" dirty="0">
                <a:latin typeface="+mn-ea"/>
              </a:rPr>
              <a:t>생활을 편리하게 해 </a:t>
            </a:r>
            <a:r>
              <a:rPr lang="ko-KR" altLang="en-US" sz="2400" dirty="0" smtClean="0">
                <a:latin typeface="+mn-ea"/>
              </a:rPr>
              <a:t>줌</a:t>
            </a:r>
            <a:r>
              <a:rPr lang="en-US" altLang="ko-KR" sz="2400" dirty="0" smtClean="0">
                <a:latin typeface="+mn-ea"/>
              </a:rPr>
              <a:t>. </a:t>
            </a:r>
            <a:br>
              <a:rPr lang="en-US" altLang="ko-KR" sz="2400" dirty="0" smtClean="0">
                <a:latin typeface="+mn-ea"/>
              </a:rPr>
            </a:br>
            <a:r>
              <a:rPr lang="en-US" altLang="ko-KR" sz="2400" dirty="0" smtClean="0">
                <a:solidFill>
                  <a:srgbClr val="843C0C"/>
                </a:solidFill>
                <a:latin typeface="+mn-ea"/>
              </a:rPr>
              <a:t>(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</a:rPr>
              <a:t>예</a:t>
            </a:r>
            <a:r>
              <a:rPr lang="en-US" altLang="ko-KR" sz="2400" dirty="0" smtClean="0">
                <a:solidFill>
                  <a:srgbClr val="843C0C"/>
                </a:solidFill>
                <a:latin typeface="+mn-ea"/>
              </a:rPr>
              <a:t>) 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</a:rPr>
              <a:t>인공지능</a:t>
            </a:r>
            <a:r>
              <a:rPr lang="en-US" altLang="ko-KR" sz="2400" dirty="0" smtClean="0">
                <a:solidFill>
                  <a:srgbClr val="843C0C"/>
                </a:solidFill>
                <a:latin typeface="+mn-ea"/>
              </a:rPr>
              <a:t>,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</a:rPr>
              <a:t> 로봇은 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인간이 하기 어려운 반복적이고 힘든 일을 대신 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</a:rPr>
              <a:t>수행함</a:t>
            </a:r>
            <a:r>
              <a:rPr lang="en-US" altLang="ko-KR" sz="2400" dirty="0" smtClean="0">
                <a:solidFill>
                  <a:srgbClr val="843C0C"/>
                </a:solidFill>
                <a:latin typeface="+mn-ea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생명 연장 및 건강 </a:t>
            </a:r>
            <a:r>
              <a:rPr lang="ko-KR" altLang="en-US" sz="2400" b="1" dirty="0" smtClean="0">
                <a:latin typeface="+mn-ea"/>
              </a:rPr>
              <a:t>증진</a:t>
            </a:r>
            <a:r>
              <a:rPr lang="en-US" altLang="ko-KR" sz="2400" b="1" dirty="0" smtClean="0">
                <a:latin typeface="+mn-ea"/>
              </a:rPr>
              <a:t>: </a:t>
            </a:r>
            <a:r>
              <a:rPr lang="ko-KR" altLang="en-US" sz="2400" dirty="0" smtClean="0">
                <a:latin typeface="+mn-ea"/>
              </a:rPr>
              <a:t>여러 </a:t>
            </a:r>
            <a:r>
              <a:rPr lang="ko-KR" altLang="en-US" sz="2400" dirty="0">
                <a:latin typeface="+mn-ea"/>
              </a:rPr>
              <a:t>질병의 발생 원인과 치료법 및 예방법을 찾아 수명을 </a:t>
            </a:r>
            <a:r>
              <a:rPr lang="ko-KR" altLang="en-US" sz="2400" dirty="0" smtClean="0">
                <a:latin typeface="+mn-ea"/>
              </a:rPr>
              <a:t>연장할 수 있음</a:t>
            </a:r>
            <a:r>
              <a:rPr lang="en-US" altLang="ko-KR" sz="2400" dirty="0" smtClean="0">
                <a:latin typeface="+mn-ea"/>
              </a:rPr>
              <a:t>. </a:t>
            </a:r>
            <a:br>
              <a:rPr lang="en-US" altLang="ko-KR" sz="2400" dirty="0" smtClean="0">
                <a:latin typeface="+mn-ea"/>
              </a:rPr>
            </a:br>
            <a:r>
              <a:rPr lang="en-US" altLang="ko-KR" sz="2400" dirty="0" smtClean="0">
                <a:solidFill>
                  <a:srgbClr val="843C0C"/>
                </a:solidFill>
                <a:latin typeface="+mn-ea"/>
              </a:rPr>
              <a:t>(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</a:rPr>
              <a:t>예</a:t>
            </a:r>
            <a:r>
              <a:rPr lang="en-US" altLang="ko-KR" sz="2400" dirty="0" smtClean="0">
                <a:solidFill>
                  <a:srgbClr val="843C0C"/>
                </a:solidFill>
                <a:latin typeface="+mn-ea"/>
              </a:rPr>
              <a:t>) 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</a:rPr>
              <a:t>생명 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공학 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</a:rPr>
              <a:t>기술의 발전으로 여러 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질병을 극복하고 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</a:rPr>
              <a:t>있음</a:t>
            </a:r>
            <a:r>
              <a:rPr lang="en-US" altLang="ko-KR" sz="2400" dirty="0" smtClean="0">
                <a:solidFill>
                  <a:srgbClr val="843C0C"/>
                </a:solidFill>
                <a:latin typeface="+mn-ea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사회 문제 개선</a:t>
            </a:r>
            <a:r>
              <a:rPr lang="en-US" altLang="ko-KR" sz="2400" b="1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도움이 필요한 사람을 위해 유용하게 쓰이며 우리 사회가 안고 있는 문제를 개선하는 데 도움이 됨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400" dirty="0">
              <a:solidFill>
                <a:srgbClr val="843C0C"/>
              </a:solidFill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과학기술의 유용성과 한계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유용성과 한계는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무엇일까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hlinkClick r:id="" action="ppaction://hlinkshowjump?jump=next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hlinkClick r:id="rId5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28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211" y="1317016"/>
            <a:ext cx="11571181" cy="5101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과학기술의 한계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smtClean="0">
                <a:latin typeface="+mn-ea"/>
              </a:rPr>
              <a:t>양극화</a:t>
            </a:r>
            <a:r>
              <a:rPr lang="en-US" altLang="ko-KR" sz="2400" b="1" dirty="0" smtClean="0">
                <a:latin typeface="+mn-ea"/>
              </a:rPr>
              <a:t>: </a:t>
            </a:r>
            <a:r>
              <a:rPr lang="ko-KR" altLang="en-US" sz="2400" dirty="0" smtClean="0">
                <a:latin typeface="+mn-ea"/>
              </a:rPr>
              <a:t>인공지능 </a:t>
            </a:r>
            <a:r>
              <a:rPr lang="ko-KR" altLang="en-US" sz="2400" dirty="0">
                <a:latin typeface="+mn-ea"/>
              </a:rPr>
              <a:t>기술을 잘 활용해서 이익을 얻는 </a:t>
            </a:r>
            <a:r>
              <a:rPr lang="ko-KR" altLang="en-US" sz="2400" dirty="0" smtClean="0">
                <a:latin typeface="+mn-ea"/>
              </a:rPr>
              <a:t>사람도 </a:t>
            </a:r>
            <a:r>
              <a:rPr lang="ko-KR" altLang="en-US" sz="2400" dirty="0">
                <a:latin typeface="+mn-ea"/>
              </a:rPr>
              <a:t>있지만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인공지능이 인간의 노동을 대체하면서 일자리를 잃는 사람도 </a:t>
            </a:r>
            <a:r>
              <a:rPr lang="ko-KR" altLang="en-US" sz="2400" dirty="0" smtClean="0">
                <a:latin typeface="+mn-ea"/>
              </a:rPr>
              <a:t>생길 수 있음</a:t>
            </a:r>
            <a:r>
              <a:rPr lang="en-US" altLang="ko-KR" sz="2400" dirty="0" smtClean="0">
                <a:latin typeface="+mn-ea"/>
              </a:rPr>
              <a:t>.</a:t>
            </a:r>
            <a:endParaRPr lang="ko-KR" altLang="en-US" sz="2400" dirty="0"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편향성과 </a:t>
            </a:r>
            <a:r>
              <a:rPr lang="ko-KR" altLang="en-US" sz="2400" b="1" dirty="0" smtClean="0">
                <a:latin typeface="+mn-ea"/>
              </a:rPr>
              <a:t>차별</a:t>
            </a:r>
            <a:r>
              <a:rPr lang="en-US" altLang="ko-KR" sz="2400" b="1" dirty="0" smtClean="0">
                <a:latin typeface="+mn-ea"/>
              </a:rPr>
              <a:t>: </a:t>
            </a:r>
            <a:r>
              <a:rPr lang="ko-KR" altLang="en-US" sz="2400" dirty="0" err="1" smtClean="0">
                <a:latin typeface="+mn-ea"/>
              </a:rPr>
              <a:t>빅데이터</a:t>
            </a:r>
            <a:r>
              <a:rPr lang="ko-KR" altLang="en-US" sz="2400" dirty="0" smtClean="0">
                <a:latin typeface="+mn-ea"/>
              </a:rPr>
              <a:t> 기술 활용 시 한쪽으로 치우친 </a:t>
            </a:r>
            <a:r>
              <a:rPr lang="ko-KR" altLang="en-US" sz="2400" dirty="0">
                <a:latin typeface="+mn-ea"/>
              </a:rPr>
              <a:t>정보를 수집할 수 있으며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 smtClean="0">
                <a:latin typeface="+mn-ea"/>
              </a:rPr>
              <a:t>편향된 </a:t>
            </a:r>
            <a:r>
              <a:rPr lang="ko-KR" altLang="en-US" sz="2400" dirty="0">
                <a:latin typeface="+mn-ea"/>
              </a:rPr>
              <a:t>정보를 학습한 인공지능은 </a:t>
            </a:r>
            <a:r>
              <a:rPr lang="ko-KR" altLang="en-US" sz="2400" dirty="0" smtClean="0">
                <a:latin typeface="+mn-ea"/>
              </a:rPr>
              <a:t>사용자에게 차별적 </a:t>
            </a:r>
            <a:r>
              <a:rPr lang="ko-KR" altLang="en-US" sz="2400" dirty="0">
                <a:latin typeface="+mn-ea"/>
              </a:rPr>
              <a:t>정보를 제공할 수 </a:t>
            </a:r>
            <a:r>
              <a:rPr lang="ko-KR" altLang="en-US" sz="2400" dirty="0" smtClean="0">
                <a:latin typeface="+mn-ea"/>
              </a:rPr>
              <a:t>있음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smtClean="0">
                <a:latin typeface="+mn-ea"/>
              </a:rPr>
              <a:t>사생활 침해</a:t>
            </a:r>
            <a:r>
              <a:rPr lang="en-US" altLang="ko-KR" sz="2400" b="1" dirty="0" smtClean="0">
                <a:latin typeface="+mn-ea"/>
              </a:rPr>
              <a:t>: </a:t>
            </a:r>
            <a:r>
              <a:rPr lang="ko-KR" altLang="en-US" sz="2400" dirty="0" err="1" smtClean="0">
                <a:latin typeface="+mn-ea"/>
              </a:rPr>
              <a:t>드론</a:t>
            </a:r>
            <a:r>
              <a:rPr lang="en-US" altLang="ko-KR" sz="2400" dirty="0" smtClean="0">
                <a:latin typeface="+mn-ea"/>
              </a:rPr>
              <a:t>,</a:t>
            </a:r>
            <a:r>
              <a:rPr lang="ko-KR" altLang="en-US" sz="2400" dirty="0" smtClean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전자 장비로 </a:t>
            </a:r>
            <a:r>
              <a:rPr lang="ko-KR" altLang="en-US" sz="2400" dirty="0" smtClean="0">
                <a:latin typeface="+mn-ea"/>
              </a:rPr>
              <a:t>쉽게 수집한 개인 정보 유출</a:t>
            </a:r>
            <a:r>
              <a:rPr lang="en-US" altLang="ko-KR" sz="2400" dirty="0" smtClean="0">
                <a:latin typeface="+mn-ea"/>
              </a:rPr>
              <a:t>,</a:t>
            </a:r>
            <a:r>
              <a:rPr lang="ko-KR" altLang="en-US" sz="2400" dirty="0" smtClean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시민에 대한 감시와 통제 강화 </a:t>
            </a:r>
            <a:r>
              <a:rPr lang="ko-KR" altLang="en-US" sz="2400" dirty="0" smtClean="0">
                <a:latin typeface="+mn-ea"/>
              </a:rPr>
              <a:t>등의 문제가 생길 수 있음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smtClean="0">
                <a:latin typeface="+mn-ea"/>
              </a:rPr>
              <a:t>기타</a:t>
            </a:r>
            <a:r>
              <a:rPr lang="en-US" altLang="ko-KR" sz="2400" b="1" dirty="0" smtClean="0">
                <a:latin typeface="+mn-ea"/>
              </a:rPr>
              <a:t>: </a:t>
            </a:r>
            <a:r>
              <a:rPr lang="ko-KR" altLang="en-US" sz="2400" dirty="0" smtClean="0">
                <a:latin typeface="+mn-ea"/>
              </a:rPr>
              <a:t>생태계 파괴</a:t>
            </a:r>
            <a:r>
              <a:rPr lang="en-US" altLang="ko-KR" sz="2400" dirty="0" smtClean="0">
                <a:latin typeface="+mn-ea"/>
              </a:rPr>
              <a:t>,</a:t>
            </a:r>
            <a:r>
              <a:rPr lang="ko-KR" altLang="en-US" sz="2400" dirty="0" smtClean="0">
                <a:latin typeface="+mn-ea"/>
              </a:rPr>
              <a:t> 무기 개발로 인한 인류의 </a:t>
            </a:r>
            <a:r>
              <a:rPr lang="ko-KR" altLang="en-US" sz="2400" dirty="0">
                <a:latin typeface="+mn-ea"/>
              </a:rPr>
              <a:t>평화와 </a:t>
            </a:r>
            <a:r>
              <a:rPr lang="ko-KR" altLang="en-US" sz="2400" dirty="0" smtClean="0">
                <a:latin typeface="+mn-ea"/>
              </a:rPr>
              <a:t>안전 위협</a:t>
            </a:r>
            <a:r>
              <a:rPr lang="en-US" altLang="ko-KR" sz="2400" dirty="0" smtClean="0">
                <a:latin typeface="+mn-ea"/>
              </a:rPr>
              <a:t>, </a:t>
            </a:r>
            <a:r>
              <a:rPr lang="ko-KR" altLang="en-US" sz="2400" dirty="0" smtClean="0">
                <a:latin typeface="+mn-ea"/>
              </a:rPr>
              <a:t>생명의 존엄성 훼손</a:t>
            </a:r>
            <a:r>
              <a:rPr lang="en-US" altLang="ko-KR" sz="2400" dirty="0" smtClean="0">
                <a:latin typeface="+mn-ea"/>
              </a:rPr>
              <a:t>, </a:t>
            </a:r>
            <a:r>
              <a:rPr lang="ko-KR" altLang="en-US" sz="2400" dirty="0" smtClean="0">
                <a:latin typeface="+mn-ea"/>
              </a:rPr>
              <a:t>인간의 주체성 상실 등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과학기술의 유용성과 한계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유용성과 한계는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무엇일까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타원 18">
            <a:hlinkClick r:id="" action="ppaction://hlinkshowjump?jump=previousslide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/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hlinkClick r:id="" action="ppaction://hlinkshowjump?jump=nextslide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812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211" y="1317016"/>
            <a:ext cx="11571181" cy="2331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과학만능주의 경계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과학기술은 올바르게 사용하면 인류의 행복에 이바지하지만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잘못 </a:t>
            </a:r>
            <a:r>
              <a:rPr lang="ko-KR" altLang="en-US" sz="2400" dirty="0" smtClean="0">
                <a:latin typeface="+mn-ea"/>
              </a:rPr>
              <a:t>사용하면 여러 </a:t>
            </a:r>
            <a:r>
              <a:rPr lang="ko-KR" altLang="en-US" sz="2400" dirty="0">
                <a:latin typeface="+mn-ea"/>
              </a:rPr>
              <a:t>문제를 낳을 수 </a:t>
            </a:r>
            <a:r>
              <a:rPr lang="ko-KR" altLang="en-US" sz="2400" dirty="0" smtClean="0">
                <a:latin typeface="+mn-ea"/>
              </a:rPr>
              <a:t>있음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→</a:t>
            </a:r>
            <a:r>
              <a:rPr lang="ko-KR" altLang="en-US" sz="2400" dirty="0" smtClean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과학기술의 유용성과 한계를 인식하며 </a:t>
            </a:r>
            <a:r>
              <a:rPr lang="ko-KR" altLang="en-US" sz="2400" dirty="0" smtClean="0">
                <a:latin typeface="+mn-ea"/>
              </a:rPr>
              <a:t>과학만능주의를 </a:t>
            </a:r>
            <a:r>
              <a:rPr lang="ko-KR" altLang="en-US" sz="2400" dirty="0">
                <a:latin typeface="+mn-ea"/>
              </a:rPr>
              <a:t>경계해야 </a:t>
            </a:r>
            <a:r>
              <a:rPr lang="ko-KR" altLang="en-US" sz="2400" dirty="0" smtClean="0">
                <a:latin typeface="+mn-ea"/>
              </a:rPr>
              <a:t>함</a:t>
            </a:r>
            <a:r>
              <a:rPr lang="en-US" altLang="ko-KR" sz="2400" dirty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과학기술의 유용성과 한계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유용성과 한계는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무엇일까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6DDEFC0A-ECEA-44C9-A48A-4E7115B80B96}"/>
              </a:ext>
            </a:extLst>
          </p:cNvPr>
          <p:cNvSpPr txBox="1"/>
          <p:nvPr/>
        </p:nvSpPr>
        <p:spPr>
          <a:xfrm>
            <a:off x="328211" y="4117281"/>
            <a:ext cx="1125418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과학만능주의</a:t>
            </a:r>
            <a:r>
              <a:rPr lang="ko-KR" altLang="en-US" sz="1600" dirty="0" smtClean="0">
                <a:latin typeface="+mn-ea"/>
              </a:rPr>
              <a:t> 과학으로 인간이 </a:t>
            </a:r>
            <a:r>
              <a:rPr lang="ko-KR" altLang="en-US" sz="1600" dirty="0">
                <a:latin typeface="+mn-ea"/>
              </a:rPr>
              <a:t>직면하는 모든 문제를 </a:t>
            </a:r>
            <a:r>
              <a:rPr lang="ko-KR" altLang="en-US" sz="1600" dirty="0" smtClean="0">
                <a:latin typeface="+mn-ea"/>
              </a:rPr>
              <a:t>해결할 </a:t>
            </a:r>
            <a:r>
              <a:rPr lang="ko-KR" altLang="en-US" sz="1600" dirty="0">
                <a:latin typeface="+mn-ea"/>
              </a:rPr>
              <a:t>수 있다고 생각하는 </a:t>
            </a:r>
            <a:r>
              <a:rPr lang="ko-KR" altLang="en-US" sz="1600" dirty="0" smtClean="0">
                <a:latin typeface="+mn-ea"/>
              </a:rPr>
              <a:t>태도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xmlns="" id="{2D7B1CBA-488F-932A-4141-D046A5A56C89}"/>
              </a:ext>
            </a:extLst>
          </p:cNvPr>
          <p:cNvSpPr/>
          <p:nvPr/>
        </p:nvSpPr>
        <p:spPr>
          <a:xfrm>
            <a:off x="6033716" y="3066136"/>
            <a:ext cx="130011" cy="130011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hlinkClick r:id="rId5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hlinkClick r:id="" action="ppaction://hlinkshowjump?jump=previous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24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xmlns="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xmlns="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다음 물음에 답하며 자신의 모습을 성찰해 보자</a:t>
            </a:r>
            <a:r>
              <a:rPr lang="en-US" altLang="ko-KR" sz="2200" b="1" dirty="0" smtClean="0">
                <a:solidFill>
                  <a:srgbClr val="00B050"/>
                </a:solidFill>
                <a:latin typeface="+mn-ea"/>
              </a:rPr>
              <a:t>.</a:t>
            </a:r>
            <a:endParaRPr lang="ko-KR" altLang="en-US" sz="2200" b="1" dirty="0">
              <a:solidFill>
                <a:srgbClr val="00B050"/>
              </a:solidFill>
              <a:latin typeface="+mn-ea"/>
            </a:endParaRPr>
          </a:p>
        </p:txBody>
      </p: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87400" y="2374242"/>
            <a:ext cx="10293350" cy="116069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40188" y="2445911"/>
            <a:ext cx="9809541" cy="943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현대 과학기술과 관련된 윤리적 쟁점을 말할 수 있는가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과학기술의 유용성과 한계를 설명할 수 있는가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45" name="그림 4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930020"/>
            <a:ext cx="487174" cy="487174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535457" y="3930019"/>
            <a:ext cx="1087577" cy="495431"/>
            <a:chOff x="10075659" y="2003022"/>
            <a:chExt cx="1156006" cy="495431"/>
          </a:xfrm>
        </p:grpSpPr>
        <p:pic>
          <p:nvPicPr>
            <p:cNvPr id="47" name="그림 4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935915" y="4546283"/>
            <a:ext cx="81650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현대 과학기술과 관련된 윤리적 쟁점에 관심을 두고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과학기술의 유용성과 한계를 인식하여 과학기술을 올바르게 사용하도록 노력해야겠다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936087" y="3953767"/>
            <a:ext cx="1328154" cy="507831"/>
            <a:chOff x="877165" y="3739778"/>
            <a:chExt cx="1328154" cy="507831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48928" y="3739778"/>
              <a:ext cx="122411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나의 성찰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유용성과 한계는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무엇일까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77363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50" grpId="0"/>
      <p:bldP spid="50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151906" y="2086984"/>
            <a:ext cx="97496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“02.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과학기술의 바람직한 활용을 위해 </a:t>
            </a:r>
            <a:endParaRPr lang="en-US" altLang="ko-KR" sz="2800" b="1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어떤 태도가 필요할까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를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28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xmlns="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273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과학기술과 관련된 윤리적 쟁점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유용성과 한계는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무엇일까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인공지능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① 의미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인간의 사고 능력을 컴퓨터 프로그램으로 구현하는 기술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② 관련된 윤리적 쟁점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인공지능을 중요한 결정을 내리는 데 활용해도 되는가?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AI 면접관이 나를 떨어뜨렸다 — 이유를 물을 수 있을까?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빅데이터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① 의미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대량 </a:t>
            </a:r>
            <a:r>
              <a:rPr sz="2400" b="0">
                <a:solidFill>
                  <a:srgbClr val="262626"/>
                </a:solidFill>
              </a:rPr>
              <a:t>의 자료를 수집하고 분석하여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가치 </a:t>
            </a:r>
            <a:r>
              <a:rPr sz="2400" b="0">
                <a:solidFill>
                  <a:srgbClr val="262626"/>
                </a:solidFill>
              </a:rPr>
              <a:t> 있는 정보를 찾아내는 기술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내 검색 기록으로 광고가 따라다닌다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인공지능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인간의 사고 능력을 컴퓨터 프로그램으로 구현하는 기술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관련된 윤리적 쟁점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인공지능을 중요한 결정을 내리는 데 활용해도 되는가?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AI 면접관이 나를 떨어뜨렸다 — 이유를 물을 수 있을까?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빅데이터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대량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자료를 수집하고 분석하여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가치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있는 정보를 찾아내는 기술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내 검색 기록으로 광고가 따라다닌다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인공지능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인간의 사고 능력을 컴퓨터 프로그램으로 구현하는 기술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관련된 윤리적 쟁점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인공지능을 중요한 결정을 내리는 데 활용해도 되는가?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AI 면접관이 나를 떨어뜨렸다 — 이유를 물을 수 있을까?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빅데이터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대량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자료를 수집하고 분석하여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가치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있는 정보를 찾아내는 기술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내 검색 기록으로 광고가 따라다닌다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인공지능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인간의 사고 능력을 컴퓨터 프로그램으로 구현하는 기술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관련된 윤리적 쟁점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인공지능을 중요한 결정을 내리는 데 활용해도 되는가?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AI 면접관이 나를 떨어뜨렸다 — 이유를 물을 수 있을까?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빅데이터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대량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자료를 수집하고 분석하여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가치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있는 정보를 찾아내는 기술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내 검색 기록으로 광고가 따라다닌다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인공지능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인간의 사고 능력을 컴퓨터 프로그램으로 구현하는 기술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관련된 윤리적 쟁점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인공지능을 중요한 결정을 내리는 데 활용해도 되는가?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AI 면접관이 나를 떨어뜨렸다 — 이유를 물을 수 있을까?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빅데이터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대량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자료를 수집하고 분석하여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가치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있는 정보를 찾아내는 기술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내 검색 기록으로 광고가 따라다닌다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700" b="1" dirty="0">
                <a:solidFill>
                  <a:srgbClr val="FFFF00"/>
                </a:solidFill>
                <a:latin typeface="+mn-ea"/>
              </a:rPr>
              <a:t>과학기술과 관련된 윤리적 쟁점 (이어서)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유용성과 한계는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무엇일까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② 관련된 윤리적 쟁점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빅데이터 기술을 활용하는 데 개인의 사적인 정보까지 수집해도 되는가?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내 검색 기록으로 광고가 따라다닌다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생명 공학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① 의미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생물의 유전 정보와 성장, 번식을 통제하고 조작하는 기술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② 관련된 윤리적 쟁점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인간 </a:t>
            </a:r>
            <a:r>
              <a:rPr sz="2400" b="0">
                <a:solidFill>
                  <a:srgbClr val="262626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향상 </a:t>
            </a:r>
            <a:r>
              <a:rPr sz="2400" b="0">
                <a:solidFill>
                  <a:srgbClr val="262626"/>
                </a:solidFill>
              </a:rPr>
              <a:t>을 위해 당사자의 동의 없이 유전자를 변형하는 것이 정당한가?, 자연에 인위적으로 개입하여 유전자 변형 식품을 만드는 것이 옳은가?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관련된 윤리적 쟁점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빅데이터 기술을 활용하는 데 개인의 사적인 정보까지 수집해도 되는가?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내 검색 기록으로 광고가 따라다닌다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생명 공학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생물의 유전 정보와 성장, 번식을 통제하고 조작하는 기술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관련된 윤리적 쟁점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향상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위해 당사자의 동의 없이 유전자를 변형하는 것이 정당한가?, 자연에 인위적으로 개입하여 유전자 변형 식품을 만드는 것이 옳은가?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관련된 윤리적 쟁점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빅데이터 기술을 활용하는 데 개인의 사적인 정보까지 수집해도 되는가?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내 검색 기록으로 광고가 따라다닌다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생명 공학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생물의 유전 정보와 성장, 번식을 통제하고 조작하는 기술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관련된 윤리적 쟁점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인간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향상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위해 당사자의 동의 없이 유전자를 변형하는 것이 정당한가?, 자연에 인위적으로 개입하여 유전자 변형 식품을 만드는 것이 옳은가?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관련된 윤리적 쟁점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빅데이터 기술을 활용하는 데 개인의 사적인 정보까지 수집해도 되는가?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내 검색 기록으로 광고가 따라다닌다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생명 공학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생물의 유전 정보와 성장, 번식을 통제하고 조작하는 기술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관련된 윤리적 쟁점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향상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위해 당사자의 동의 없이 유전자를 변형하는 것이 정당한가?, 자연에 인위적으로 개입하여 유전자 변형 식품을 만드는 것이 옳은가?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과학기술의 유용성과 한계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유용성과 한계는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무엇일까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188쪽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유용성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생활을 편리하게 해 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생명 연장과 건강 증진에 이바지함.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혼자 사는 어르신의 안부를 살피는 AI 스피커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③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사회 </a:t>
            </a:r>
            <a:r>
              <a:rPr sz="2400" b="0">
                <a:solidFill>
                  <a:srgbClr val="262626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문제 </a:t>
            </a:r>
            <a:r>
              <a:rPr sz="2400" b="0">
                <a:solidFill>
                  <a:srgbClr val="262626"/>
                </a:solidFill>
              </a:rPr>
              <a:t> 개선에 도움을 줌.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유용성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생활을 편리하게 해 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생명 연장과 건강 증진에 이바지함.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혼자 사는 어르신의 안부를 살피는 AI 스피커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③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사회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문제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개선에 도움을 줌.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유용성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생활을 편리하게 해 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생명 연장과 건강 증진에 이바지함.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혼자 사는 어르신의 안부를 살피는 AI 스피커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③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사회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문제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개선에 도움을 줌.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유용성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생활을 편리하게 해 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생명 연장과 건강 증진에 이바지함.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혼자 사는 어르신의 안부를 살피는 AI 스피커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③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사회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문제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개선에 도움을 줌.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과학기술의 유용성과 한계 (이어서)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유용성과 한계는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무엇일까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188쪽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한계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양극화 문제가 나타날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</a:t>
            </a:r>
            <a:r>
              <a:rPr sz="1439" b="1">
                <a:solidFill>
                  <a:srgbClr val="2F6FD0"/>
                </a:solidFill>
              </a:rPr>
              <a:t>⑦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편향성 </a:t>
            </a:r>
            <a:r>
              <a:rPr sz="2400" b="0">
                <a:solidFill>
                  <a:srgbClr val="262626"/>
                </a:solidFill>
              </a:rPr>
              <a:t>이나 차별 문제가 생겨날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한쪽 자료만 배운 AI가 특정 성별 지원자를 탈락시켰다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③ 사생활 침해 문제가 발생할 수 있음.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한계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양극화 문제가 나타날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/>
                </a:solidFill>
              </a:rPr>
              <a:t> 편향성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이나 차별 문제가 생겨날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한쪽 자료만 배운 AI가 특정 성별 지원자를 탈락시켰다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③ 사생활 침해 문제가 발생할 수 있음.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한계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양극화 문제가 나타날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편향성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이나 차별 문제가 생겨날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한쪽 자료만 배운 AI가 특정 성별 지원자를 탈락시켰다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③ 사생활 침해 문제가 발생할 수 있음.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딜레마 · 나라면?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유용성과 한계는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무엇일까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188쪽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브레이크가 고장 난 자율 주행 차. 그대로 가면 보행자 다섯, 핸들을 꺾으면 탑승자 한 명이 다친다.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A — 그대로 간다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B — 핸들을 꺾는다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이 결정은 누가 미리 정해야 할까?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브레이크가 고장 난 자율 주행 차. 그대로 가면 보행자 다섯, 핸들을 꺾으면 탑승자 한 명이 다친다.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A — 그대로 간다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B — 핸들을 꺾는다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이 결정은 누가 미리 정해야 할까?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여자를 싫어한 인공지능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유용성과 한계는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무엇일까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2014~2017년 · 미국 아마존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목표 · 지원서를 읽고 뛰어난 사람을 골라 주는 인공지능을 만들었다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학습 · 지난 10년 동안의 지원서로 배웠는데, 대부분 남성의 것이었다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문제 · ‘여성’이라는 낱말이 들어간 지원서에 점수를 깎았다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결과 · 고치려 했지만 공정하다고 장담할 수 없어 개발을 접었다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인공지능은 왜 차별을 배웠을까?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2014~2017년 · 미국 아마존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목표 · 지원서를 읽고 뛰어난 사람을 골라 주는 인공지능을 만들었다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학습 · 지난 10년 동안의 지원서로 배웠는데, 대부분 남성의 것이었다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문제 · ‘여성’이라는 낱말이 들어간 지원서에 점수를 깎았다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결과 · 고치려 했지만 공정하다고 장담할 수 없어 개발을 접었다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인공지능은 왜 차별을 배웠을까?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유용성과 한계는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무엇일까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인공지능은 인간의 사고 능력을 컴퓨터 프로그램으로 구현하는 기술이다.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빅데이터 기술을 활용하는 데 공적인 정보를 수집해도 되는가에 관한 윤리적 쟁점이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과학기술은 생명 단축과 건강 악화에 이바지한다.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과학기술은 사생활 침해 문제를 일으키지 않는다.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인공지능은 인간의 사고 능력을 컴퓨터 프로그램으로 구현하는 기술이다.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빅데이터 기술을 활용하는 데 공적인 정보를 수집해도 되는가에 관한 윤리적 쟁점이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과학기술은 생명 단축과 건강 악화에 이바지한다.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과학기술은 사생활 침해 문제를 일으키지 않는다.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인공지능은 인간의 사고 능력을 컴퓨터 프로그램으로 구현하는 기술이다.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빅데이터 기술을 활용하는 데 공적인 정보를 수집해도 되는가에 관한 윤리적 쟁점이 있다.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과학기술은 생명 단축과 건강 악화에 이바지한다.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과학기술은 사생활 침해 문제를 일으키지 않는다.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인공지능은 인간의 사고 능력을 컴퓨터 프로그램으로 구현하는 기술이다.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빅데이터 기술을 활용하는 데 공적인 정보를 수집해도 되는가에 관한 윤리적 쟁점이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과학기술은 생명 단축과 건강 악화에 이바지한다.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과학기술은 사생활 침해 문제를 일으키지 않는다.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인공지능은 인간의 사고 능력을 컴퓨터 프로그램으로 구현하는 기술이다.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빅데이터 기술을 활용하는 데 공적인 정보를 수집해도 되는가에 관한 윤리적 쟁점이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과학기술은 생명 단축과 건강 악화에 이바지한다.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과학기술은 사생활 침해 문제를 일으키지 않는다.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유용성일까, 한계일까?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유용성과 한계는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무엇일까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유용성 · 한계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인공지능 스피커가 위급한 노인의 구조를 요청했다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유용성 (사회 문제 개선)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로봇이 힘든 반복 작업을 대신한다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유용성 (생활 편리)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새 치료법으로 수명이 늘었다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유용성 (생명 연장)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인공지능에 일자리를 잃은 사람이 생겼다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한계 (양극화)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치우친 자료로 배운 인공지능이 차별했다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한계 (편향성과 차별)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6. 드론이 남의 집을 몰래 찍었다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한계 (사생활 침해)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유용성 · 한계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인공지능 스피커가 위급한 노인의 구조를 요청했다</a:t>
            </a:r>
            <a:r>
              <a:rPr sz="2300" b="1">
                <a:solidFill>
                  <a:srgbClr val="C0392B"/>
                </a:solidFill>
              </a:rPr>
              <a:t>   → 유용성 (사회 문제 개선)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로봇이 힘든 반복 작업을 대신한다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유용성 (생활 편리)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새 치료법으로 수명이 늘었다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유용성 (생명 연장)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인공지능에 일자리를 잃은 사람이 생겼다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한계 (양극화)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치우친 자료로 배운 인공지능이 차별했다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한계 (편향성과 차별)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드론이 남의 집을 몰래 찍었다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한계 (사생활 침해)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유용성 · 한계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인공지능 스피커가 위급한 노인의 구조를 요청했다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유용성 (사회 문제 개선)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로봇이 힘든 반복 작업을 대신한다</a:t>
            </a:r>
            <a:r>
              <a:rPr sz="2300" b="1">
                <a:solidFill>
                  <a:srgbClr val="C0392B"/>
                </a:solidFill>
              </a:rPr>
              <a:t>   → 유용성 (생활 편리)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새 치료법으로 수명이 늘었다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유용성 (생명 연장)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인공지능에 일자리를 잃은 사람이 생겼다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한계 (양극화)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치우친 자료로 배운 인공지능이 차별했다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한계 (편향성과 차별)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드론이 남의 집을 몰래 찍었다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한계 (사생활 침해)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유용성 · 한계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인공지능 스피커가 위급한 노인의 구조를 요청했다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유용성 (사회 문제 개선)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로봇이 힘든 반복 작업을 대신한다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유용성 (생활 편리)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새 치료법으로 수명이 늘었다</a:t>
            </a:r>
            <a:r>
              <a:rPr sz="2300" b="1">
                <a:solidFill>
                  <a:srgbClr val="C0392B"/>
                </a:solidFill>
              </a:rPr>
              <a:t>   → 유용성 (생명 연장)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인공지능에 일자리를 잃은 사람이 생겼다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한계 (양극화)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치우친 자료로 배운 인공지능이 차별했다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한계 (편향성과 차별)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드론이 남의 집을 몰래 찍었다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한계 (사생활 침해)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유용성 · 한계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인공지능 스피커가 위급한 노인의 구조를 요청했다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유용성 (사회 문제 개선)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로봇이 힘든 반복 작업을 대신한다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유용성 (생활 편리)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새 치료법으로 수명이 늘었다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유용성 (생명 연장)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인공지능에 일자리를 잃은 사람이 생겼다</a:t>
            </a:r>
            <a:r>
              <a:rPr sz="2300" b="1">
                <a:solidFill>
                  <a:srgbClr val="C0392B"/>
                </a:solidFill>
              </a:rPr>
              <a:t>   → 한계 (양극화)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치우친 자료로 배운 인공지능이 차별했다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한계 (편향성과 차별)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드론이 남의 집을 몰래 찍었다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한계 (사생활 침해)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유용성 · 한계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인공지능 스피커가 위급한 노인의 구조를 요청했다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유용성 (사회 문제 개선)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로봇이 힘든 반복 작업을 대신한다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유용성 (생활 편리)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새 치료법으로 수명이 늘었다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유용성 (생명 연장)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인공지능에 일자리를 잃은 사람이 생겼다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한계 (양극화)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치우친 자료로 배운 인공지능이 차별했다</a:t>
            </a:r>
            <a:r>
              <a:rPr sz="2300" b="1">
                <a:solidFill>
                  <a:srgbClr val="C0392B"/>
                </a:solidFill>
              </a:rPr>
              <a:t>   → 한계 (편향성과 차별)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드론이 남의 집을 몰래 찍었다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한계 (사생활 침해)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유용성 · 한계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인공지능 스피커가 위급한 노인의 구조를 요청했다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유용성 (사회 문제 개선)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로봇이 힘든 반복 작업을 대신한다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유용성 (생활 편리)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새 치료법으로 수명이 늘었다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유용성 (생명 연장)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인공지능에 일자리를 잃은 사람이 생겼다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한계 (양극화)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치우친 자료로 배운 인공지능이 차별했다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한계 (편향성과 차별)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드론이 남의 집을 몰래 찍었다</a:t>
            </a:r>
            <a:r>
              <a:rPr sz="2300" b="1">
                <a:solidFill>
                  <a:srgbClr val="C0392B"/>
                </a:solidFill>
              </a:rPr>
              <a:t>   → 한계 (사생활 침해)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나의 입장은?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유용성과 한계는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무엇일까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나의 생각은 어디쯤? 동의하는 정도에 서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“인공지능이 입학 면접의 합격·불합격을 결정해도 된다”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“맞춤형 광고를 위해 내 검색 기록을 모아도 된다”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“유전병을 없애려고 수정란의 유전자를 바꿔도 된다”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“키나 지능을 높이려고 유전자를 바꿔도 된다”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안 된다  ① ── ② ── ③ ── ④ ── ⑤  된다   (교실 앞 줄에 서 보기)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스마트폰의 한계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유용성과 한계는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무엇일까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스마트폰은 정보를 쉽게 얻게 해 주지만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거짓 정보도 빠르게 퍼지고, 오래 쓰면 잠과 집중을 빼앗는다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스마트폰은 정보를 쉽게 얻게 해 주지만</a:t>
            </a:r>
            <a:r>
              <a:rPr sz="2300" b="1">
                <a:solidFill>
                  <a:srgbClr val="C0392B"/>
                </a:solidFill>
              </a:rPr>
              <a:t>   예) 거짓 정보도 빠르게 퍼지고, 오래 쓰면 잠과 집중을 빼앗는다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9524</TotalTime>
  <Words>1570</Words>
  <Application>Microsoft Office PowerPoint</Application>
  <PresentationFormat>와이드스크린</PresentationFormat>
  <Paragraphs>241</Paragraphs>
  <Slides>22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0" baseType="lpstr">
      <vt:lpstr>굴림</vt:lpstr>
      <vt:lpstr>나눔고딕</vt:lpstr>
      <vt:lpstr>나눔스퀘어라운드 ExtraBold</vt:lpstr>
      <vt:lpstr>돋움</vt:lpstr>
      <vt:lpstr>맑은 고딕</vt:lpstr>
      <vt:lpstr>Arial</vt:lpstr>
      <vt:lpstr>Wingdings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PC</cp:lastModifiedBy>
  <cp:revision>263</cp:revision>
  <cp:lastPrinted>2024-06-05T04:53:22Z</cp:lastPrinted>
  <dcterms:created xsi:type="dcterms:W3CDTF">2023-10-31T05:50:03Z</dcterms:created>
  <dcterms:modified xsi:type="dcterms:W3CDTF">2025-04-22T00:56:03Z</dcterms:modified>
</cp:coreProperties>
</file>