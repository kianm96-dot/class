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1"/>
  </p:notesMasterIdLst>
  <p:handoutMasterIdLst>
    <p:handoutMasterId r:id="rId22"/>
  </p:handoutMasterIdLst>
  <p:sldIdLst>
    <p:sldId id="302" r:id="rId2"/>
    <p:sldId id="301" r:id="rId3"/>
    <p:sldId id="258" r:id="rId4"/>
    <p:sldId id="304" r:id="rId5"/>
    <p:sldId id="305" r:id="rId6"/>
    <p:sldId id="393" r:id="rId7"/>
    <p:sldId id="394" r:id="rId8"/>
    <p:sldId id="404" r:id="rId34"/>
    <p:sldId id="391" r:id="rId9"/>
    <p:sldId id="395" r:id="rId10"/>
    <p:sldId id="398" r:id="rId28"/>
    <p:sldId id="399" r:id="rId29"/>
    <p:sldId id="306" r:id="rId11"/>
    <p:sldId id="270" r:id="rId12"/>
    <p:sldId id="387" r:id="rId13"/>
    <p:sldId id="388" r:id="rId14"/>
    <p:sldId id="396" r:id="rId15"/>
    <p:sldId id="389" r:id="rId16"/>
    <p:sldId id="397" r:id="rId17"/>
    <p:sldId id="313" r:id="rId18"/>
    <p:sldId id="400" r:id="rId30"/>
    <p:sldId id="401" r:id="rId31"/>
    <p:sldId id="402" r:id="rId32"/>
    <p:sldId id="403" r:id="rId33"/>
    <p:sldId id="291" r:id="rId19"/>
    <p:sldId id="405" r:id="rId35"/>
    <p:sldId id="406" r:id="rId36"/>
    <p:sldId id="407" r:id="rId37"/>
    <p:sldId id="408" r:id="rId38"/>
    <p:sldId id="348" r:id="rId20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0B6"/>
    <a:srgbClr val="FECE7A"/>
    <a:srgbClr val="A3DDF2"/>
    <a:srgbClr val="FFC000"/>
    <a:srgbClr val="FF9300"/>
    <a:srgbClr val="FFFF00"/>
    <a:srgbClr val="D9E1E9"/>
    <a:srgbClr val="E8F6FD"/>
    <a:srgbClr val="F0FFF6"/>
    <a:srgbClr val="019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0" autoAdjust="0"/>
    <p:restoredTop sz="96400" autoAdjust="0"/>
  </p:normalViewPr>
  <p:slideViewPr>
    <p:cSldViewPr snapToGrid="0">
      <p:cViewPr varScale="1">
        <p:scale>
          <a:sx n="84" d="100"/>
          <a:sy n="84" d="100"/>
        </p:scale>
        <p:origin x="114" y="390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56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나의 성찰 (156쪽)</a:t>
            </a:r>
          </a:p>
          <a:p>
            <a:r>
              <a:t>국가와 시민의 삶이 밀접한 관련이 있음을 설명할 수 있는가? 국가와 시민 사이의 윤리적 쟁점을 제시할 수 있는가? 활동 화면 3의 쟁점 수직선.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➕ 질서와 자유</a:t>
            </a:r>
          </a:p>
          <a:p>
            <a:r>
              <a:t>155쪽 집회 신고와 같은 구조의 쟁점: 사회 질서(안전) vs 시민의 자유(사생활). 정답보다 각자의 우선순위와 그 까닭을 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단원 여는 글 (교과서 152쪽)</a:t>
            </a:r>
          </a:p>
          <a:p>
            <a:r>
              <a:t>데이브 에거스, 『시민은 무엇을 할 수 있을까요?』의 뜻을 풀어 씀. 시민은 국가가 하는 대로 따르기만 하는 사람이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마음 열기</a:t>
            </a:r>
          </a:p>
          <a:p>
            <a:r>
              <a:t>국가와 시민의 삶은 생각보다 훨씬 가깝다.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쟁점마다 국가와 시민이 중시하는 가치를 찾고, 나의 입장을 정해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쟁점마다 국가와 시민이 중시하는 가치를 찾고, 나의 입장을 정해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쟁점마다 국가와 시민이 중시하는 가치를 찾고, 나의 입장을 정해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smtClean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sz="2800" b="1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800" b="1" smtClean="0">
                <a:solidFill>
                  <a:schemeClr val="bg1"/>
                </a:solidFill>
                <a:latin typeface="+mj-ea"/>
                <a:ea typeface="+mj-ea"/>
              </a:rPr>
              <a:t>국가와 시민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국가와 시민 사이의 </a:t>
            </a:r>
            <a:endParaRPr lang="en-US" altLang="ko-KR" sz="5400" b="1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윤리적 쟁점은 </a:t>
            </a:r>
            <a:endParaRPr lang="en-US" altLang="ko-KR" sz="5400" b="1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무엇일까</a:t>
            </a:r>
            <a:r>
              <a:rPr lang="en-US" altLang="ko-KR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5612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국가와 시민의 삶이 밀접한 관련이 있음을 설명할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18" name="사각형: 둥근 모서리 15">
            <a:extLst>
              <a:ext uri="{FF2B5EF4-FFF2-40B4-BE49-F238E27FC236}">
                <a16:creationId xmlns:a16="http://schemas.microsoft.com/office/drawing/2014/main" id="{429C8124-E36A-14C4-0A75-6EEA8AF670C6}"/>
              </a:ext>
            </a:extLst>
          </p:cNvPr>
          <p:cNvSpPr/>
          <p:nvPr/>
        </p:nvSpPr>
        <p:spPr>
          <a:xfrm>
            <a:off x="750162" y="2953123"/>
            <a:ext cx="10293350" cy="787400"/>
          </a:xfrm>
          <a:prstGeom prst="roundRect">
            <a:avLst/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5C28D4DD-371F-4568-9198-B5D58BBCD7F3}"/>
              </a:ext>
            </a:extLst>
          </p:cNvPr>
          <p:cNvSpPr/>
          <p:nvPr/>
        </p:nvSpPr>
        <p:spPr>
          <a:xfrm>
            <a:off x="959712" y="3293375"/>
            <a:ext cx="106897" cy="106897"/>
          </a:xfrm>
          <a:prstGeom prst="ellipse">
            <a:avLst/>
          </a:prstGeom>
          <a:solidFill>
            <a:srgbClr val="8D7F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3181"/>
            <a:ext cx="9629759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국가와 시민 사이의 윤리적 쟁점을 제시할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3380"/>
            <a:ext cx="11801476" cy="542462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8314" y="2162831"/>
            <a:ext cx="11798172" cy="4695169"/>
            <a:chOff x="8314" y="2162831"/>
            <a:chExt cx="11798172" cy="469516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314" y="2162831"/>
              <a:ext cx="11798172" cy="3943237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314" y="5852160"/>
              <a:ext cx="11798172" cy="1005840"/>
            </a:xfrm>
            <a:prstGeom prst="rect">
              <a:avLst/>
            </a:prstGeom>
          </p:spPr>
        </p:pic>
      </p:grpSp>
      <p:sp>
        <p:nvSpPr>
          <p:cNvPr id="33" name="타원 3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3380"/>
            <a:ext cx="11801476" cy="542462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1123949" y="1554768"/>
            <a:ext cx="9688746" cy="5303232"/>
            <a:chOff x="1123949" y="1554768"/>
            <a:chExt cx="9688746" cy="5303232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6" cstate="email">
              <a:clrChange>
                <a:clrFrom>
                  <a:srgbClr val="FEEFD2"/>
                </a:clrFrom>
                <a:clrTo>
                  <a:srgbClr val="FEEF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2843" y="1581615"/>
              <a:ext cx="9619852" cy="5276385"/>
            </a:xfrm>
            <a:prstGeom prst="rect">
              <a:avLst/>
            </a:prstGeom>
          </p:spPr>
        </p:pic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3949" y="1554768"/>
              <a:ext cx="9688746" cy="241968"/>
            </a:xfrm>
            <a:prstGeom prst="rect">
              <a:avLst/>
            </a:prstGeom>
          </p:spPr>
        </p:pic>
        <p:sp>
          <p:nvSpPr>
            <p:cNvPr id="7" name="순서도: 지연 6"/>
            <p:cNvSpPr/>
            <p:nvPr/>
          </p:nvSpPr>
          <p:spPr>
            <a:xfrm rot="16200000">
              <a:off x="2577886" y="693306"/>
              <a:ext cx="321307" cy="2286199"/>
            </a:xfrm>
            <a:prstGeom prst="flowChartDelay">
              <a:avLst/>
            </a:prstGeom>
            <a:solidFill>
              <a:srgbClr val="A3DD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순서도: 지연 20"/>
            <p:cNvSpPr/>
            <p:nvPr/>
          </p:nvSpPr>
          <p:spPr>
            <a:xfrm rot="16200000">
              <a:off x="9086853" y="744171"/>
              <a:ext cx="209649" cy="2138256"/>
            </a:xfrm>
            <a:prstGeom prst="flowChartDelay">
              <a:avLst/>
            </a:prstGeom>
            <a:solidFill>
              <a:srgbClr val="FECE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타원 2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17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5057" y="2351450"/>
            <a:ext cx="10293350" cy="3587437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2247" y="2375809"/>
            <a:ext cx="99340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국가는 땅에 묻힌 문화유산이 존재하는 것으로 인정되는 지역을 보호하고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문화유산을 훼손하지 않도록 공사를 중단해야 한다고 본다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반면 시민은 공사가 중단되면 아파트 완공 시기가 늦어져 이사 계획이 틀어지는 등 재산권 행사가 제한되어 여러 가지 어려움을 겪게 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이처럼 국가는 문화유산 보존을 중시하는 반면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시민은 재산권 행사를 중시하기 때문에 갈등이 발생하고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1" y="1613182"/>
            <a:ext cx="84980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다음 그림을 보고 국가와 시민 사이에 갈등이 발생하는 까닭을 써 보자</a:t>
            </a:r>
            <a:r>
              <a:rPr lang="en-US" altLang="ko-KR" sz="2000" b="1"/>
              <a:t>.</a:t>
            </a: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30" y="1613182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78154" y="1613182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smtClean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만화를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643" y="5088608"/>
            <a:ext cx="108088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① ◯◯국 정부는 기후 문제 해결에 시민의 의견을 적극적으로 반영하고자 ‘기후 시민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의회’를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구성했고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기후 시민 의회는 온실가스 배출량을 줄이는 방법을 논의하였다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6660" y="1408882"/>
            <a:ext cx="10886839" cy="3679005"/>
          </a:xfrm>
          <a:prstGeom prst="rect">
            <a:avLst/>
          </a:prstGeom>
        </p:spPr>
      </p:pic>
      <p:sp>
        <p:nvSpPr>
          <p:cNvPr id="24" name="타원 2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34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smtClean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만화를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8149" y="5085077"/>
            <a:ext cx="5564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② 기후 시민 의회에 참여한 시민들은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위와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같은 다양한 제안을 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41279" y="5085739"/>
            <a:ext cx="50411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③ ◯◯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국은 온실가스 배출량을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줄이기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위한 법을 만들었다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6" name="타원 25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867" y="1698556"/>
            <a:ext cx="5759902" cy="344560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6625" y="1316864"/>
            <a:ext cx="4892650" cy="392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38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국가와 시민의 삶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2056" y="1367311"/>
            <a:ext cx="110284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국가의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의미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일정한 영토와 그곳에 사는 국민으로 구성된 주권을 지닌 집단</a:t>
            </a:r>
            <a:endParaRPr lang="en-US" altLang="ko-KR" sz="2400" dirty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시민의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의미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국가 공동체의 주인으로서 헌법이 보장하는 모든 권리와 의무를 지는 자유로운 사람</a:t>
            </a:r>
            <a:endParaRPr lang="en-US" altLang="ko-KR" sz="2400" dirty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국가와 시민의 삶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>
                <a:latin typeface="+mn-ea"/>
              </a:rPr>
              <a:t>국가와 </a:t>
            </a:r>
            <a:r>
              <a:rPr lang="ko-KR" altLang="en-US" sz="2400" smtClean="0">
                <a:latin typeface="+mn-ea"/>
              </a:rPr>
              <a:t>시민의 삶은 서로 밀접한 관계가 있음</a:t>
            </a:r>
            <a:r>
              <a:rPr lang="en-US" altLang="ko-KR" sz="2400" smtClean="0">
                <a:latin typeface="+mn-ea"/>
              </a:rPr>
              <a:t>. </a:t>
            </a:r>
            <a:endParaRPr lang="ko-KR" altLang="en-US" sz="2400" dirty="0">
              <a:latin typeface="+mn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93282" y="6090539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</a:t>
              </a:r>
              <a:r>
                <a:rPr lang="ko-KR" altLang="en-US" b="1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알아보기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0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92" y="-38689"/>
            <a:ext cx="12192000" cy="6858000"/>
          </a:xfrm>
          <a:prstGeom prst="rect">
            <a:avLst/>
          </a:prstGeom>
        </p:spPr>
      </p:pic>
      <p:sp>
        <p:nvSpPr>
          <p:cNvPr id="36" name="Google Shape;229;p6"/>
          <p:cNvSpPr/>
          <p:nvPr/>
        </p:nvSpPr>
        <p:spPr>
          <a:xfrm>
            <a:off x="-73818" y="0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800" y="1293369"/>
            <a:ext cx="1167383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국가의 의미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>
                <a:latin typeface="+mn-ea"/>
              </a:rPr>
              <a:t>일정한 영토와 그곳에 사는 국민으로 구성된 주권을 지닌 </a:t>
            </a:r>
            <a:r>
              <a:rPr lang="ko-KR" altLang="en-US" sz="2400" smtClean="0">
                <a:latin typeface="+mn-ea"/>
              </a:rPr>
              <a:t>집단</a:t>
            </a:r>
            <a:endParaRPr lang="en-US" altLang="ko-KR" sz="2400" smtClean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시민의 의미</a:t>
            </a:r>
            <a:endParaRPr lang="en-US" altLang="ko-KR" sz="2500" b="1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>
                <a:latin typeface="+mn-ea"/>
              </a:rPr>
              <a:t>국가 공동체의 주인으로서 헌법이 보장하는 모든 권리와 의무를 지는 자유로운 </a:t>
            </a:r>
            <a:r>
              <a:rPr lang="ko-KR" altLang="en-US" sz="2400" smtClean="0">
                <a:latin typeface="+mn-ea"/>
              </a:rPr>
              <a:t>사람</a:t>
            </a:r>
            <a:endParaRPr lang="en-US" altLang="ko-KR" sz="2400" smtClean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500" b="1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국가와 시민의 삶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smtClean="0">
                <a:latin typeface="Arial Rounded MT Bold" panose="020F0704030504030204" pitchFamily="34" charset="0"/>
              </a:rPr>
              <a:t> 국가와 </a:t>
            </a:r>
            <a:r>
              <a:rPr lang="ko-KR" altLang="en-US" sz="2400">
                <a:latin typeface="Arial Rounded MT Bold" panose="020F0704030504030204" pitchFamily="34" charset="0"/>
              </a:rPr>
              <a:t>시민은 서로 영향을 주고받음</a:t>
            </a:r>
            <a:r>
              <a:rPr lang="en-US" altLang="ko-KR" sz="2400">
                <a:latin typeface="Arial Rounded MT Bold" panose="020F07040305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smtClean="0">
                <a:latin typeface="Arial Rounded MT Bold" panose="020F0704030504030204" pitchFamily="34" charset="0"/>
              </a:rPr>
              <a:t> 국가와 </a:t>
            </a:r>
            <a:r>
              <a:rPr lang="ko-KR" altLang="en-US" sz="2400">
                <a:latin typeface="Arial Rounded MT Bold" panose="020F0704030504030204" pitchFamily="34" charset="0"/>
              </a:rPr>
              <a:t>시민의 삶은 서로 밀접한 관계가 있음</a:t>
            </a:r>
            <a:r>
              <a:rPr lang="en-US" altLang="ko-KR" sz="2400">
                <a:latin typeface="Arial Rounded MT Bold" panose="020F0704030504030204" pitchFamily="34" charset="0"/>
              </a:rPr>
              <a:t>.</a:t>
            </a:r>
            <a:endParaRPr lang="en-US" altLang="ko-KR" sz="2400" dirty="0">
              <a:latin typeface="Arial Rounded MT Bold" panose="020F07040305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국가와 시민의 삶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</a:t>
              </a:r>
              <a:r>
                <a:rPr lang="ko-KR" altLang="en-US" b="1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알아보기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174349" y="696459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시민이란 특정 도시에 사는 사</a:t>
            </a:r>
          </a:p>
          <a:p>
            <a:pPr algn="ctr"/>
            <a:r>
              <a:rPr lang="ko-KR" altLang="en-US"/>
              <a:t>람을 지칭하기도 하지만</a:t>
            </a:r>
            <a:r>
              <a:rPr lang="en-US" altLang="ko-KR"/>
              <a:t>, </a:t>
            </a:r>
            <a:r>
              <a:rPr lang="ko-KR" altLang="en-US"/>
              <a:t>주로 </a:t>
            </a:r>
          </a:p>
          <a:p>
            <a:pPr algn="ctr"/>
            <a:r>
              <a:rPr lang="ko-KR" altLang="en-US"/>
              <a:t>사회 구성원을 뜻한다</a:t>
            </a:r>
            <a:r>
              <a:rPr lang="en-US" altLang="ko-KR"/>
              <a:t>. </a:t>
            </a:r>
            <a:r>
              <a:rPr lang="ko-KR" altLang="en-US"/>
              <a:t>또한 국</a:t>
            </a:r>
          </a:p>
          <a:p>
            <a:pPr algn="ctr"/>
            <a:r>
              <a:rPr lang="ko-KR" altLang="en-US"/>
              <a:t>민이라는 단어와 동의어로 쓰</a:t>
            </a:r>
          </a:p>
          <a:p>
            <a:pPr algn="ctr"/>
            <a:r>
              <a:rPr lang="ko-KR" altLang="en-US"/>
              <a:t>이기도 한다</a:t>
            </a:r>
            <a:r>
              <a:rPr lang="en-US" altLang="ko-KR"/>
              <a:t>.</a:t>
            </a:r>
            <a:endParaRPr lang="ko-KR" altLang="en-US" dirty="0"/>
          </a:p>
        </p:txBody>
      </p:sp>
      <p:pic>
        <p:nvPicPr>
          <p:cNvPr id="30" name="그림 29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76171" y="824114"/>
            <a:ext cx="473351" cy="473351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622056" y="1194899"/>
            <a:ext cx="1944697" cy="492328"/>
            <a:chOff x="377032" y="923820"/>
            <a:chExt cx="1944697" cy="492328"/>
          </a:xfrm>
        </p:grpSpPr>
        <p:pic>
          <p:nvPicPr>
            <p:cNvPr id="32" name="그림 31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657698" y="1133260"/>
            <a:ext cx="7874038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시민의 개념</a:t>
            </a:r>
            <a:endParaRPr lang="en-US" altLang="ko-KR" sz="22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38333" y="1839029"/>
            <a:ext cx="10501774" cy="943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시민이란 특정 도시에 사는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사람을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지칭하기도 하지만, 주로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사회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구성원을 뜻한다. 또한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국민이라는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단어와 동의어로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쓰이기도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한다.</a:t>
            </a:r>
          </a:p>
        </p:txBody>
      </p:sp>
    </p:spTree>
    <p:extLst>
      <p:ext uri="{BB962C8B-B14F-4D97-AF65-F5344CB8AC3E}">
        <p14:creationId xmlns:p14="http://schemas.microsoft.com/office/powerpoint/2010/main" val="122823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155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851" y="1549542"/>
            <a:ext cx="101115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 한 시민 단체가 </a:t>
            </a:r>
            <a:r>
              <a:rPr lang="ko-KR" altLang="en-US" sz="2200" u="wavy" dirty="0">
                <a:latin typeface="굴림" panose="020B0600000101010101" pitchFamily="50" charset="-127"/>
                <a:ea typeface="굴림" panose="020B0600000101010101" pitchFamily="50" charset="-127"/>
              </a:rPr>
              <a:t>건물 바깥에서 하는 모든 집회를 빠짐없이 신고하도록 하는 법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 집회의 자유를 지나치게 침해한다며 문제를 제기하였다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국가 기관은 “안전하고 평화로운 집회를 보장하고 사회 질서를 유지하려면 집회의 규모와 장소를 미리 파악할 수 있도록 신고가 꼭 필요하다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라고 주장하였다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반면 시민 단체는 안전과 관련한 위험이 거의 없는 집회조차 사전에 신고해야 하는 규정은 표현의 자유를 과도하게 침해한다고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주장하였다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                  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연합뉴스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》, 2021. 6. 22.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074184"/>
            <a:ext cx="5095009" cy="17845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966851" y="4791013"/>
            <a:ext cx="737852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>
                <a:solidFill>
                  <a:schemeClr val="accent6"/>
                </a:solidFill>
                <a:latin typeface="+mn-ea"/>
              </a:rPr>
              <a:t>집회 </a:t>
            </a:r>
            <a:r>
              <a:rPr lang="ko-KR" altLang="en-US" sz="1600" dirty="0">
                <a:latin typeface="+mn-ea"/>
              </a:rPr>
              <a:t>여러 사람이 어떤 목적을 위해 일시적으로 모이는 것  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>
            <a:off x="9261987" y="4862945"/>
            <a:ext cx="2541230" cy="198743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399648">
            <a:off x="3466234" y="5372794"/>
            <a:ext cx="687305" cy="435769"/>
          </a:xfrm>
          <a:prstGeom prst="rect">
            <a:avLst/>
          </a:prstGeom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6354572" y="1625253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88837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0613" y="2437935"/>
            <a:ext cx="100116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국가가 사전에 집회의 규모와 장소 등을 파악해야 집회 장소에 사람들이 지나치게 몰리는 것을 제한할 수 있고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집회에 따른 교통 불편을 해소할 수 있으며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집회 장소 주변에 사는 주민들의 피해를 막을 수 있기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이를 통해 안전한 집회를 보장하고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사회 질서를 유지할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155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7401" y="1613182"/>
            <a:ext cx="8594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/>
              <a:t>1. </a:t>
            </a:r>
            <a:r>
              <a:rPr lang="ko-KR" altLang="en-US" sz="2000" b="1"/>
              <a:t>국가가 건물 바깥에서 하는 모든 집회를 신고하도록 한 까닭을 써 보자</a:t>
            </a:r>
            <a:r>
              <a:rPr lang="en-US" altLang="ko-KR" sz="2000" b="1" smtClean="0"/>
              <a:t>.</a:t>
            </a:r>
            <a:endParaRPr lang="en-US" altLang="ko-KR" sz="2000" b="1"/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88837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947652" y="2439788"/>
            <a:ext cx="99835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건물 바깥에서 하는 모든 집회를 빠짐없이 신고하도록 하는 것은 국가가 공공질서 유지를 명목으로 집회 방식을 선택할 수 있는 자유를 제한하는 것이기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155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7401" y="1613182"/>
            <a:ext cx="63016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/>
              <a:t>2. </a:t>
            </a:r>
            <a:r>
              <a:rPr lang="ko-KR" altLang="en-US" sz="2000" b="1"/>
              <a:t>시민 단체가 밑줄 친 법에 반대한 까닭을 써 보자</a:t>
            </a:r>
            <a:r>
              <a:rPr lang="en-US" altLang="ko-KR" sz="2000" b="1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301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0018" y="1596520"/>
            <a:ext cx="8601887" cy="306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 전 세계에서 유행하던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감염병을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예방하기 위해 정부는 여러 가지 방역 정책을 펼쳤다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식당에 특정 인원 이상의 사람이 모일 수 없도록 했고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정해진 시간 이후에는 식당 영업을 할 수 없도록 제한하였다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또 예식장에 입장할 수 있는 하객 수를 제한하기도 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이러한 정책은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감염병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확산에 따른 피해를 최소화하기 위한 목적으로 시행됐지만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시민들은 해당 정책이 사익을 침해한다고 주장하였다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709" y="4231178"/>
            <a:ext cx="2776803" cy="262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30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0018" y="1596520"/>
            <a:ext cx="8601887" cy="2552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정부의 정책이 자유로운 영업을 제한하는 바람에 자영업자의 수익이 감소하여 생계가 어려워졌고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정부가 제한한 하객 수가 예식장 업체와 계약한 하객 수보다 훨씬 적어 결혼식에 참석할 수 없는 하객의 식사 비용까지 지불하게 되어 예비부부가 손해를 보았다는 것이다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6" name="타원 25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709" y="4231178"/>
            <a:ext cx="2776803" cy="262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981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37760" y="2892654"/>
            <a:ext cx="10293350" cy="311716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79701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위 기사에서 국가와 시민의 입장이 어떻게 대립하고 있는지 써 보자</a:t>
            </a:r>
            <a:r>
              <a:rPr lang="en-US" altLang="ko-KR" sz="2000" b="1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0468" y="2176261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62992" y="2176261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7398" y="2313284"/>
            <a:ext cx="3400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dirty="0" smtClean="0"/>
              <a:t>국가의 입장</a:t>
            </a:r>
            <a:endParaRPr lang="ko-KR" altLang="en-US"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1039914" y="2892654"/>
            <a:ext cx="9784141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Arial Rounded MT Bold" panose="020F0704030504030204" pitchFamily="34" charset="0"/>
              </a:rPr>
              <a:t>국가는 시민의 건강을 보호하려는 공익을 목적으로 감염병 확산을 막는 정책을 시행해야 한다고 보았다</a:t>
            </a:r>
            <a:r>
              <a:rPr lang="en-US" altLang="ko-KR" sz="240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>
                <a:solidFill>
                  <a:srgbClr val="0070C0"/>
                </a:solidFill>
                <a:latin typeface="Arial Rounded MT Bold" panose="020F0704030504030204" pitchFamily="34" charset="0"/>
              </a:rPr>
              <a:t>즉 공익을 위해 식당의 모임 인원과 영업시간을 제한하고 예식장의 하객 인원을 제한했다는 입장이다</a:t>
            </a:r>
            <a:r>
              <a:rPr lang="en-US" altLang="ko-KR" sz="240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23" name="타원 2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25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37760" y="2893105"/>
            <a:ext cx="10293350" cy="311716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79701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위 기사에서 국가와 시민의 입장이 어떻게 대립하고 있는지 써 보자</a:t>
            </a:r>
            <a:r>
              <a:rPr lang="en-US" altLang="ko-KR" sz="2000" b="1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0468" y="2176261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62992" y="2176261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2949" y="2313284"/>
            <a:ext cx="3400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dirty="0" smtClean="0"/>
              <a:t>시민의 입장</a:t>
            </a:r>
            <a:endParaRPr lang="ko-KR" alt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1039914" y="2892654"/>
            <a:ext cx="9784141" cy="2790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맑은 고딕" panose="020B0503020000020004" pitchFamily="50" charset="-127"/>
              </a:rPr>
              <a:t>시민은 식당의 모임 인원 및 영업시간 제한 정책이 자영업자의 자유로운 영업을 제한하여 자영업자의 수익이 감소하고</a:t>
            </a:r>
            <a:r>
              <a:rPr lang="en-US" altLang="ko-KR" sz="2400">
                <a:solidFill>
                  <a:srgbClr val="0070C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400">
                <a:solidFill>
                  <a:srgbClr val="0070C0"/>
                </a:solidFill>
                <a:latin typeface="맑은 고딕" panose="020B0503020000020004" pitchFamily="50" charset="-127"/>
              </a:rPr>
              <a:t>예식장의 하객 인원 제한 정책으로 결혼식에 참석할 수 없는 하객의 식사 비용까지 지불하게 되어 예비부부가 손해를 보았다고 주장하였다</a:t>
            </a:r>
            <a:r>
              <a:rPr lang="en-US" altLang="ko-KR" sz="2400">
                <a:solidFill>
                  <a:srgbClr val="0070C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2400">
                <a:solidFill>
                  <a:srgbClr val="0070C0"/>
                </a:solidFill>
                <a:latin typeface="맑은 고딕" panose="020B0503020000020004" pitchFamily="50" charset="-127"/>
              </a:rPr>
              <a:t>이는 공익을 목적으로 사익을 지나치게 제한하는 것이라는 입장이다</a:t>
            </a:r>
            <a:r>
              <a:rPr lang="en-US" altLang="ko-KR" sz="2400">
                <a:solidFill>
                  <a:srgbClr val="0070C0"/>
                </a:solidFill>
                <a:latin typeface="맑은 고딕" panose="020B0503020000020004" pitchFamily="50" charset="-127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타원 22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81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2" grpId="0"/>
      <p:bldP spid="2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사회 질서 유지와 시민의 자유의 충돌</a:t>
            </a: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Arial Rounded MT Bold" panose="020F0704030504030204" pitchFamily="34" charset="0"/>
              </a:rPr>
              <a:t>‘사회 질서 유지를 위해 국가가 시민의 자유를 제한해도 되는가</a:t>
            </a:r>
            <a:r>
              <a:rPr lang="en-US" altLang="ko-KR" sz="2400" dirty="0">
                <a:latin typeface="+mn-ea"/>
              </a:rPr>
              <a:t>?’</a:t>
            </a:r>
            <a:r>
              <a:rPr lang="ko-KR" altLang="en-US" sz="2400" dirty="0">
                <a:latin typeface="Arial Rounded MT Bold" panose="020F0704030504030204" pitchFamily="34" charset="0"/>
              </a:rPr>
              <a:t>와 같은 윤리적 쟁점이 발생할 수 있음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 smtClean="0">
              <a:latin typeface="Arial Rounded MT Bold" panose="020F07040305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공익과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사익의 충돌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Arial Rounded MT Bold" panose="020F0704030504030204" pitchFamily="34" charset="0"/>
              </a:rPr>
              <a:t>‘공익을 증진하기 위해 사익을 제한해도 되는가</a:t>
            </a:r>
            <a:r>
              <a:rPr lang="en-US" altLang="ko-KR" sz="2400" dirty="0">
                <a:latin typeface="+mn-ea"/>
              </a:rPr>
              <a:t>?’</a:t>
            </a:r>
            <a:r>
              <a:rPr lang="ko-KR" altLang="en-US" sz="2400" dirty="0">
                <a:latin typeface="Arial Rounded MT Bold" panose="020F0704030504030204" pitchFamily="34" charset="0"/>
              </a:rPr>
              <a:t>와 같은 윤리적 쟁점이 발생할 수 </a:t>
            </a:r>
            <a:r>
              <a:rPr lang="ko-KR" altLang="en-US" sz="2400" dirty="0" smtClean="0">
                <a:latin typeface="Arial Rounded MT Bold" panose="020F0704030504030204" pitchFamily="34" charset="0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Arial Rounded MT Bold" panose="020F0704030504030204" pitchFamily="34" charset="0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국가와 시민 사이의 윤리적 쟁점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6007669"/>
            <a:ext cx="3525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쟁점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서로 다투는 중심이 되는 점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595719" y="2752466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10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물음에 답하며 자신의 모습을 성찰해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74242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445911"/>
            <a:ext cx="98095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국가와 시민의 삶이 밀접한 관련이 있음을 설명할 수 있는가</a:t>
            </a: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국가와 시민 사이의 윤리적 쟁점을 제시할 수 있는가</a:t>
            </a: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6087" y="4502160"/>
            <a:ext cx="8165055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Arial Rounded MT Bold" panose="020F0704030504030204" pitchFamily="34" charset="0"/>
              </a:rPr>
              <a:t>국가와 시민의 삶이 밀접한 관련이 </a:t>
            </a:r>
            <a:r>
              <a:rPr lang="ko-KR" altLang="en-US" sz="240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있음을 고려하여 국가와 </a:t>
            </a:r>
            <a:r>
              <a:rPr lang="ko-KR" altLang="en-US" sz="2400">
                <a:solidFill>
                  <a:srgbClr val="0070C0"/>
                </a:solidFill>
                <a:latin typeface="Arial Rounded MT Bold" panose="020F0704030504030204" pitchFamily="34" charset="0"/>
              </a:rPr>
              <a:t>시민 사이에서 발생하는 여러 가지 </a:t>
            </a:r>
            <a:r>
              <a:rPr lang="ko-KR" altLang="en-US" sz="240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윤리적 </a:t>
            </a:r>
            <a:r>
              <a:rPr lang="ko-KR" altLang="en-US" sz="2400">
                <a:solidFill>
                  <a:srgbClr val="0070C0"/>
                </a:solidFill>
                <a:latin typeface="Arial Rounded MT Bold" panose="020F0704030504030204" pitchFamily="34" charset="0"/>
              </a:rPr>
              <a:t>쟁점을 올바르게 이해하고</a:t>
            </a:r>
            <a:r>
              <a:rPr lang="en-US" altLang="ko-KR" sz="240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>
                <a:solidFill>
                  <a:srgbClr val="0070C0"/>
                </a:solidFill>
                <a:latin typeface="Arial Rounded MT Bold" panose="020F0704030504030204" pitchFamily="34" charset="0"/>
              </a:rPr>
              <a:t>이를 해결해 나가기 위해 노력할 것이다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373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“02</a:t>
            </a:r>
            <a:r>
              <a:rPr lang="en-US" altLang="ko-KR" sz="2800" b="1" smtClean="0">
                <a:solidFill>
                  <a:schemeClr val="tx1"/>
                </a:solidFill>
              </a:rPr>
              <a:t>. </a:t>
            </a:r>
            <a:r>
              <a:rPr lang="ko-KR" altLang="en-US" sz="2800" b="1" smtClean="0">
                <a:solidFill>
                  <a:schemeClr val="tx1"/>
                </a:solidFill>
              </a:rPr>
              <a:t>국가와 시민의 바람직한 역할은 무엇일까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국가와 시민의 삶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93282" y="6090539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</a:t>
              </a:r>
              <a:r>
                <a:rPr lang="ko-KR" altLang="en-US" b="1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알아보기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국가란 일정한 영토와 그곳에 사는 국민으로 구성된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주권 </a:t>
            </a:r>
            <a:r>
              <a:rPr sz="2400" b="0">
                <a:solidFill>
                  <a:srgbClr val="262626"/>
                </a:solidFill>
              </a:rPr>
              <a:t>을 지닌 집단을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대한민국: 한반도와 부속 도서, 5천만 국민, 스스로 결정하는 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시민이란 국가 공동체의 주인으로서 헌법이 보장하는 모든 권리와 의무를 지는 자유로운 사람을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투표하고, 세금 내고, 의견을 말하는 우리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국가와 시민의 삶의 관계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국가가 무상 급식을 정하면 내 점심이 바뀐다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국가는 시민의 의견을 반영해 정책과 법을 만들고, 이러한 정책과 법은 시민의 삶에 많은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영향 </a:t>
            </a:r>
            <a:r>
              <a:rPr sz="2400" b="0">
                <a:solidFill>
                  <a:srgbClr val="262626"/>
                </a:solidFill>
              </a:rPr>
              <a:t>을 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국가란 일정한 영토와 그곳에 사는 국민으로 구성된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주권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지닌 집단을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대한민국: 한반도와 부속 도서, 5천만 국민, 스스로 결정하는 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시민이란 국가 공동체의 주인으로서 헌법이 보장하는 모든 권리와 의무를 지는 자유로운 사람을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투표하고, 세금 내고, 의견을 말하는 우리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국가와 시민의 삶의 관계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국가가 무상 급식을 정하면 내 점심이 바뀐다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국가는 시민의 의견을 반영해 정책과 법을 만들고, 이러한 정책과 법은 시민의 삶에 많은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영향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줌.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국가란 일정한 영토와 그곳에 사는 국민으로 구성된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주권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지닌 집단을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대한민국: 한반도와 부속 도서, 5천만 국민, 스스로 결정하는 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시민이란 국가 공동체의 주인으로서 헌법이 보장하는 모든 권리와 의무를 지는 자유로운 사람을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투표하고, 세금 내고, 의견을 말하는 우리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국가와 시민의 삶의 관계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국가가 무상 급식을 정하면 내 점심이 바뀐다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국가는 시민의 의견을 반영해 정책과 법을 만들고, 이러한 정책과 법은 시민의 삶에 많은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영향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줌.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국가란 일정한 영토와 그곳에 사는 국민으로 구성된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주권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지닌 집단을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대한민국: 한반도와 부속 도서, 5천만 국민, 스스로 결정하는 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시민이란 국가 공동체의 주인으로서 헌법이 보장하는 모든 권리와 의무를 지는 자유로운 사람을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투표하고, 세금 내고, 의견을 말하는 우리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국가와 시민의 삶의 관계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국가가 무상 급식을 정하면 내 점심이 바뀐다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국가는 시민의 의견을 반영해 정책과 법을 만들고, 이러한 정책과 법은 시민의 삶에 많은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영향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국가란 일정한 영토와 그곳에 사는 국민으로 구성된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주권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지닌 집단을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대한민국: 한반도와 부속 도서, 5천만 국민, 스스로 결정하는 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시민이란 국가 공동체의 주인으로서 헌법이 보장하는 모든 권리와 의무를 지는 자유로운 사람을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투표하고, 세금 내고, 의견을 말하는 우리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국가와 시민의 삶의 관계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국가가 무상 급식을 정하면 내 점심이 바뀐다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국가는 시민의 의견을 반영해 정책과 법을 만들고, 이러한 정책과 법은 시민의 삶에 많은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영향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줌.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국가란 일정한 영토와 그곳에 사는 국민으로 구성된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주권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지닌 집단을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대한민국: 한반도와 부속 도서, 5천만 국민, 스스로 결정하는 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시민이란 국가 공동체의 주인으로서 헌법이 보장하는 모든 권리와 의무를 지는 자유로운 사람을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투표하고, 세금 내고, 의견을 말하는 우리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국가와 시민의 삶의 관계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국가가 무상 급식을 정하면 내 점심이 바뀐다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국가는 시민의 의견을 반영해 정책과 법을 만들고, 이러한 정책과 법은 시민의 삶에 많은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영향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국가와 시민의 삶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93282" y="6090539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</a:t>
              </a:r>
              <a:r>
                <a:rPr lang="ko-KR" altLang="en-US" b="1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알아보기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시민은 국가의 여러 문제를 해결하는 데 능동적으로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참여 </a:t>
            </a:r>
            <a:r>
              <a:rPr sz="2400" b="0">
                <a:solidFill>
                  <a:srgbClr val="262626"/>
                </a:solidFill>
              </a:rPr>
              <a:t>하여 국가의 발전을 이끌고자 노력함.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국가와 시민은 함께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발전 </a:t>
            </a:r>
            <a:r>
              <a:rPr sz="2400" b="0">
                <a:solidFill>
                  <a:srgbClr val="262626"/>
                </a:solidFill>
              </a:rPr>
              <a:t>하는 운명 공동체로 서로 영향을 주고받음.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나라 경제가 어려우면 우리 집 장바구니도 가벼워진다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시민은 국가의 여러 문제를 해결하는 데 능동적으로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참여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하여 국가의 발전을 이끌고자 노력함.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국가와 시민은 함께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발전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운명 공동체로 서로 영향을 주고받음.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나라 경제가 어려우면 우리 집 장바구니도 가벼워진다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시민은 국가의 여러 문제를 해결하는 데 능동적으로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참여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하여 국가의 발전을 이끌고자 노력함.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국가와 시민은 함께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발전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운명 공동체로 서로 영향을 주고받음.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나라 경제가 어려우면 우리 집 장바구니도 가벼워진다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시민은 국가의 여러 문제를 해결하는 데 능동적으로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참여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하여 국가의 발전을 이끌고자 노력함.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국가와 시민은 함께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발전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운명 공동체로 서로 영향을 주고받음.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나라 경제가 어려우면 우리 집 장바구니도 가벼워진다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국가와 시민 사이의 윤리적 쟁점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93282" y="6090539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</a:t>
              </a:r>
              <a:r>
                <a:rPr lang="ko-KR" altLang="en-US" b="1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알아보기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사회 질서 유지와 시민의 자유의 충돌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집회는 허용하되 시간과 장소를 정하는 것은 정당할까?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국가는 안전, 평화, 사회 질서 등의 가치를 중시하고, 시민은 자유 등의 가치를 중시할 때 어떤 가치가 우선하는지에 관한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견해 </a:t>
            </a:r>
            <a:r>
              <a:rPr sz="2400" b="0">
                <a:solidFill>
                  <a:srgbClr val="262626"/>
                </a:solidFill>
              </a:rPr>
              <a:t> 차이로 충돌하기도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'사회 질서 유지를 위해 국가가 시민의 자유를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제한 </a:t>
            </a:r>
            <a:r>
              <a:rPr sz="2400" b="0">
                <a:solidFill>
                  <a:srgbClr val="262626"/>
                </a:solidFill>
              </a:rPr>
              <a:t>해도 되는가?'와 같은 윤리적 쟁점이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공익과 사익의 충돌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국가는 대개 공익을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증진 </a:t>
            </a:r>
            <a:r>
              <a:rPr sz="2400" b="0">
                <a:solidFill>
                  <a:srgbClr val="262626"/>
                </a:solidFill>
              </a:rPr>
              <a:t>하는 데 목적을 두고 정책을 만들고 집행하며 그 과정에서 시민의 사익을 제한하기도 함.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 질서 유지와 시민의 자유의 충돌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집회는 허용하되 시간과 장소를 정하는 것은 정당할까?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국가는 안전, 평화, 사회 질서 등의 가치를 중시하고, 시민은 자유 등의 가치를 중시할 때 어떤 가치가 우선하는지에 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견해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차이로 충돌하기도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'사회 질서 유지를 위해 국가가 시민의 자유를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제한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해도 되는가?'와 같은 윤리적 쟁점이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공익과 사익의 충돌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국가는 대개 공익을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증진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데 목적을 두고 정책을 만들고 집행하며 그 과정에서 시민의 사익을 제한하기도 함.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 질서 유지와 시민의 자유의 충돌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집회는 허용하되 시간과 장소를 정하는 것은 정당할까?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국가는 안전, 평화, 사회 질서 등의 가치를 중시하고, 시민은 자유 등의 가치를 중시할 때 어떤 가치가 우선하는지에 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견해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차이로 충돌하기도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'사회 질서 유지를 위해 국가가 시민의 자유를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제한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해도 되는가?'와 같은 윤리적 쟁점이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공익과 사익의 충돌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국가는 대개 공익을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증진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데 목적을 두고 정책을 만들고 집행하며 그 과정에서 시민의 사익을 제한하기도 함.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 질서 유지와 시민의 자유의 충돌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집회는 허용하되 시간과 장소를 정하는 것은 정당할까?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국가는 안전, 평화, 사회 질서 등의 가치를 중시하고, 시민은 자유 등의 가치를 중시할 때 어떤 가치가 우선하는지에 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견해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차이로 충돌하기도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'사회 질서 유지를 위해 국가가 시민의 자유를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제한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해도 되는가?'와 같은 윤리적 쟁점이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공익과 사익의 충돌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국가는 대개 공익을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증진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데 목적을 두고 정책을 만들고 집행하며 그 과정에서 시민의 사익을 제한하기도 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 질서 유지와 시민의 자유의 충돌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집회는 허용하되 시간과 장소를 정하는 것은 정당할까?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국가는 안전, 평화, 사회 질서 등의 가치를 중시하고, 시민은 자유 등의 가치를 중시할 때 어떤 가치가 우선하는지에 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견해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차이로 충돌하기도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'사회 질서 유지를 위해 국가가 시민의 자유를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제한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해도 되는가?'와 같은 윤리적 쟁점이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공익과 사익의 충돌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국가는 대개 공익을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증진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데 목적을 두고 정책을 만들고 집행하며 그 과정에서 시민의 사익을 제한하기도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00" b="1" smtClean="0">
                <a:solidFill>
                  <a:srgbClr val="FFFF00"/>
                </a:solidFill>
                <a:latin typeface="+mn-ea"/>
              </a:rPr>
              <a:t>국가와 시민 사이의 윤리적 쟁점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93282" y="6090539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</a:t>
              </a:r>
              <a:r>
                <a:rPr lang="ko-KR" altLang="en-US" b="1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알아보기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'공익을 증진하기 위해 사익을 제한해도 되는가?'와 같은 윤리적 쟁점이 발생할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제한한다면 손해를 본 사람에게 어떤 보상이 필요할까?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'공익을 증진하기 위해 사익을 제한해도 되는가?'와 같은 윤리적 쟁점이 발생할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제한한다면 손해를 본 사람에게 어떤 보상이 필요할까?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딜레마 · 나라면?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93282" y="6090539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</a:t>
              </a:r>
              <a:r>
                <a:rPr lang="ko-KR" altLang="en-US" b="1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알아보기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골목마다 CCTV를 달면 범죄가 줄어든다. 하지만 내가 어디에 가는지 모두 찍힌다.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A — 안전을 위해 더 달자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B — 사생활을 위해 줄이자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국가는 어디까지 지켜보아도 될까?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골목마다 CCTV를 달면 범죄가 줄어든다. 하지만 내가 어디에 가는지 모두 찍힌다.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 — 안전을 위해 더 달자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 — 사생활을 위해 줄이자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국가는 어디까지 지켜보아도 될까?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시민은 무엇을 할 수 있을까?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93282" y="6090539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</a:t>
              </a:r>
              <a:r>
                <a:rPr lang="ko-KR" altLang="en-US" b="1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알아보기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관심 · 주의 깊게 들여다보기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바로잡기 · 잘못을 고치기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만들기 · 무언가를 새로 만들고 지켜 내기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오늘 아침부터 만난 국가의 규칙은?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93282" y="6090539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</a:t>
              </a:r>
              <a:r>
                <a:rPr lang="ko-KR" altLang="en-US" b="1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알아보기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🚦 · 등굣길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🍱 · 급식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📚 · 교실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93282" y="6090539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</a:t>
              </a:r>
              <a:r>
                <a:rPr lang="ko-KR" altLang="en-US" b="1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알아보기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시민이란 헌법이 보장하는 모든 권리와 의무를 지는 자유로운 사람을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국가와 시민은 서로 어떠한 영향도 주고받지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국가와 시민 사이에서 사회 질서 유지와 시민의 자유의 충돌과 관련된 윤리적 쟁점이 발생할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국가와 시민 사이에서 공익과 사익의 충돌과 관련된 윤리적 쟁점은 발생하지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시민이란 헌법이 보장하는 모든 권리와 의무를 지는 자유로운 사람을 의미한다.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국가와 시민은 서로 어떠한 영향도 주고받지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국가와 시민 사이에서 사회 질서 유지와 시민의 자유의 충돌과 관련된 윤리적 쟁점이 발생할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국가와 시민 사이에서 공익과 사익의 충돌과 관련된 윤리적 쟁점은 발생하지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시민이란 헌법이 보장하는 모든 권리와 의무를 지는 자유로운 사람을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국가와 시민은 서로 어떠한 영향도 주고받지 않는다.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국가와 시민 사이에서 사회 질서 유지와 시민의 자유의 충돌과 관련된 윤리적 쟁점이 발생할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국가와 시민 사이에서 공익과 사익의 충돌과 관련된 윤리적 쟁점은 발생하지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시민이란 헌법이 보장하는 모든 권리와 의무를 지는 자유로운 사람을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국가와 시민은 서로 어떠한 영향도 주고받지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국가와 시민 사이에서 사회 질서 유지와 시민의 자유의 충돌과 관련된 윤리적 쟁점이 발생할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국가와 시민 사이에서 공익과 사익의 충돌과 관련된 윤리적 쟁점은 발생하지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시민이란 헌법이 보장하는 모든 권리와 의무를 지는 자유로운 사람을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국가와 시민은 서로 어떠한 영향도 주고받지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국가와 시민 사이에서 사회 질서 유지와 시민의 자유의 충돌과 관련된 윤리적 쟁점이 발생할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국가와 시민 사이에서 공익과 사익의 충돌과 관련된 윤리적 쟁점은 발생하지 않는다.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누가 중시한 가치일까?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93282" y="6090539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</a:t>
              </a:r>
              <a:r>
                <a:rPr lang="ko-KR" altLang="en-US" b="1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알아보기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국가 · 시민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사회 질서 유지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(집회 신고)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표현의 자유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(시민 단체)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감염병 피해를 줄이는 공익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(방역 정책)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자유로운 영업과 재산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(사익)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문화유산 보존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(153쪽)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예정대로 이사하기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(입주 예정자)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국가 · 시민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사회 질서 유지</a:t>
            </a:r>
            <a:r>
              <a:rPr sz="2300" b="1">
                <a:solidFill>
                  <a:srgbClr val="C0392B"/>
                </a:solidFill>
              </a:rPr>
              <a:t>   → 국가 (집회 신고)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표현의 자유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(시민 단체)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감염병 피해를 줄이는 공익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(방역 정책)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자유로운 영업과 재산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(사익)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문화유산 보존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(153쪽)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예정대로 이사하기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(입주 예정자)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국가 · 시민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사회 질서 유지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(집회 신고)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표현의 자유</a:t>
            </a:r>
            <a:r>
              <a:rPr sz="2300" b="1">
                <a:solidFill>
                  <a:srgbClr val="C0392B"/>
                </a:solidFill>
              </a:rPr>
              <a:t>   → 시민 (시민 단체)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감염병 피해를 줄이는 공익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(방역 정책)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자유로운 영업과 재산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(사익)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문화유산 보존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(153쪽)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예정대로 이사하기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(입주 예정자)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국가 · 시민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사회 질서 유지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(집회 신고)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표현의 자유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(시민 단체)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감염병 피해를 줄이는 공익</a:t>
            </a:r>
            <a:r>
              <a:rPr sz="2300" b="1">
                <a:solidFill>
                  <a:srgbClr val="C0392B"/>
                </a:solidFill>
              </a:rPr>
              <a:t>   → 국가 (방역 정책)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자유로운 영업과 재산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(사익)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문화유산 보존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(153쪽)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예정대로 이사하기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(입주 예정자)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국가 · 시민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사회 질서 유지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(집회 신고)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표현의 자유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(시민 단체)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감염병 피해를 줄이는 공익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(방역 정책)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자유로운 영업과 재산</a:t>
            </a:r>
            <a:r>
              <a:rPr sz="2300" b="1">
                <a:solidFill>
                  <a:srgbClr val="C0392B"/>
                </a:solidFill>
              </a:rPr>
              <a:t>   → 시민 (사익)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문화유산 보존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(153쪽)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예정대로 이사하기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(입주 예정자)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국가 · 시민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사회 질서 유지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(집회 신고)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표현의 자유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(시민 단체)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감염병 피해를 줄이는 공익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(방역 정책)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자유로운 영업과 재산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(사익)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문화유산 보존</a:t>
            </a:r>
            <a:r>
              <a:rPr sz="2300" b="1">
                <a:solidFill>
                  <a:srgbClr val="C0392B"/>
                </a:solidFill>
              </a:rPr>
              <a:t>   → 국가 (153쪽)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예정대로 이사하기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(입주 예정자)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국가 · 시민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사회 질서 유지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(집회 신고)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표현의 자유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(시민 단체)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감염병 피해를 줄이는 공익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(방역 정책)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자유로운 영업과 재산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시민 (사익)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문화유산 보존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 (153쪽)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예정대로 이사하기</a:t>
            </a:r>
            <a:r>
              <a:rPr sz="2300" b="1">
                <a:solidFill>
                  <a:srgbClr val="C0392B"/>
                </a:solidFill>
              </a:rPr>
              <a:t>   → 시민 (입주 예정자)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나의 저울은 어느 쪽으로?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93282" y="6090539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</a:t>
              </a:r>
              <a:r>
                <a:rPr lang="ko-KR" altLang="en-US" b="1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알아보기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나의 생각은 어디쯤? 동의하는 정도에 서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“위험이 거의 없는 집회도 미리 신고해야 한다”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“감염병이 돌 때 식당 영업시간을 제한해도 된다”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“문화유산 발굴이 끝날 때까지 아파트 공사를 멈춰야 한다”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“범죄를 줄이기 위해 골목마다 CCTV를 달아야 한다”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시민의 자유·사익  ① ── ② ── ③ ── ④ ── ⑤  사회 질서·공익   (교실 앞 줄에 서 보기)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쟁점 하나를 골라 나의 생각 쓰기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153쪽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국가와 시민 사이의 윤리적 쟁점은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사회∙공동체와의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국가와 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93282" y="6090539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</a:t>
              </a:r>
              <a:r>
                <a:rPr lang="ko-KR" altLang="en-US" b="1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알아보기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고른 쟁점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공익을 위해 사익을 제한해도 되는가?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나의 입장과 까닭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생명이 걸린 일이면 제한할 수 있다. 하지만 피해를 본 사람에게는 보상이 따라야 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고른 쟁점</a:t>
            </a:r>
            <a:r>
              <a:rPr sz="2300" b="1">
                <a:solidFill>
                  <a:srgbClr val="C0392B"/>
                </a:solidFill>
              </a:rPr>
              <a:t>   예) 공익을 위해 사익을 제한해도 되는가?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나의 입장과 까닭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생명이 걸린 일이면 제한할 수 있다. 하지만 피해를 본 사람에게는 보상이 따라야 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고른 쟁점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공익을 위해 사익을 제한해도 되는가?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나의 입장과 까닭</a:t>
            </a:r>
            <a:r>
              <a:rPr sz="2300" b="1">
                <a:solidFill>
                  <a:srgbClr val="C0392B"/>
                </a:solidFill>
              </a:rPr>
              <a:t>   예) 생명이 걸린 일이면 제한할 수 있다. 하지만 피해를 본 사람에게는 보상이 따라야 한다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8541</TotalTime>
  <Words>1236</Words>
  <Application>Microsoft Office PowerPoint</Application>
  <PresentationFormat>와이드스크린</PresentationFormat>
  <Paragraphs>208</Paragraphs>
  <Slides>19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9" baseType="lpstr">
      <vt:lpstr>AppleSDGothicNeoB00</vt:lpstr>
      <vt:lpstr>굴림</vt:lpstr>
      <vt:lpstr>나눔스퀘어라운드 ExtraBold</vt:lpstr>
      <vt:lpstr>돋움</vt:lpstr>
      <vt:lpstr>Malgun Gothic</vt:lpstr>
      <vt:lpstr>Malgun Gothic</vt:lpstr>
      <vt:lpstr>Arial</vt:lpstr>
      <vt:lpstr>Arial Rounded MT Bold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186</cp:revision>
  <cp:lastPrinted>2024-06-05T04:53:22Z</cp:lastPrinted>
  <dcterms:created xsi:type="dcterms:W3CDTF">2023-10-31T05:50:03Z</dcterms:created>
  <dcterms:modified xsi:type="dcterms:W3CDTF">2025-01-14T04:39:14Z</dcterms:modified>
</cp:coreProperties>
</file>