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4"/>
  </p:notesMasterIdLst>
  <p:handoutMasterIdLst>
    <p:handoutMasterId r:id="rId25"/>
  </p:handoutMasterIdLst>
  <p:sldIdLst>
    <p:sldId id="302" r:id="rId2"/>
    <p:sldId id="301" r:id="rId3"/>
    <p:sldId id="258" r:id="rId4"/>
    <p:sldId id="305" r:id="rId5"/>
    <p:sldId id="398" r:id="rId6"/>
    <p:sldId id="399" r:id="rId7"/>
    <p:sldId id="260" r:id="rId8"/>
    <p:sldId id="411" r:id="rId31"/>
    <p:sldId id="400" r:id="rId9"/>
    <p:sldId id="403" r:id="rId10"/>
    <p:sldId id="401" r:id="rId11"/>
    <p:sldId id="402" r:id="rId12"/>
    <p:sldId id="404" r:id="rId13"/>
    <p:sldId id="412" r:id="rId32"/>
    <p:sldId id="413" r:id="rId33"/>
    <p:sldId id="414" r:id="rId34"/>
    <p:sldId id="387" r:id="rId14"/>
    <p:sldId id="405" r:id="rId15"/>
    <p:sldId id="306" r:id="rId16"/>
    <p:sldId id="270" r:id="rId17"/>
    <p:sldId id="410" r:id="rId18"/>
    <p:sldId id="406" r:id="rId19"/>
    <p:sldId id="407" r:id="rId20"/>
    <p:sldId id="408" r:id="rId21"/>
    <p:sldId id="409" r:id="rId22"/>
    <p:sldId id="415" r:id="rId35"/>
    <p:sldId id="416" r:id="rId36"/>
    <p:sldId id="417" r:id="rId37"/>
    <p:sldId id="418" r:id="rId38"/>
    <p:sldId id="348" r:id="rId23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FF00"/>
    <a:srgbClr val="D9E1E9"/>
    <a:srgbClr val="E8F6FD"/>
    <a:srgbClr val="F0FFF6"/>
    <a:srgbClr val="019BFF"/>
    <a:srgbClr val="FFF7EE"/>
    <a:srgbClr val="FFC000"/>
    <a:srgbClr val="FFF2CC"/>
    <a:srgbClr val="BD4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84" d="100"/>
          <a:sy n="84" d="100"/>
        </p:scale>
        <p:origin x="114" y="294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880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부패와 청렴 (145쪽)</a:t>
            </a:r>
          </a:p>
          <a:p>
            <a:r>
              <a:t>부패: 공정한 절차를 무시하고 부당하게 이익을 챙기는 행위. 공직자의 부패는 국민 전체의 이익을 해친다.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무지의 베일</a:t>
            </a:r>
          </a:p>
          <a:p>
            <a:r>
              <a:t>규칙을 정하는 사람들이 자기의 지위·재능·성별 등을 모른다고 가정하면, 자기에게만 유리한 규칙을 고를 수 없다. 그래서 가장 불리한 처지가 될 수도 있음을 생각해 약자를 배려하는 원칙에 합의하게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분배 기준을 비교해 장학금을 나누고, 차등 벌금 제도를 토론해 보자.</a:t>
            </a:r>
          </a:p>
          <a:p>
            <a:r>
              <a:t>⏱ 모둠 찬반 토론 5분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분배 기준을 비교해 장학금을 나누고, 차등 벌금 제도를 토론해 보자.</a:t>
            </a:r>
          </a:p>
          <a:p>
            <a:r>
              <a:t>⏱ 모둠 찬반 토론 5분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분배 기준을 비교해 장학금을 나누고, 차등 벌금 제도를 토론해 보자.</a:t>
            </a:r>
          </a:p>
          <a:p>
            <a:r>
              <a:t>⏱ 모둠 찬반 토론 5분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21.xml"/><Relationship Id="rId6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2.emf"/><Relationship Id="rId6" Type="http://schemas.openxmlformats.org/officeDocument/2006/relationships/image" Target="../media/image4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9.xml"/><Relationship Id="rId6" Type="http://schemas.openxmlformats.org/officeDocument/2006/relationships/image" Target="../media/image42.emf"/><Relationship Id="rId7" Type="http://schemas.openxmlformats.org/officeDocument/2006/relationships/image" Target="../media/image4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1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정의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77030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정의의 원칙을 제시할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6561203-5AD4-D0C1-BA20-A7201ACE3939}"/>
              </a:ext>
            </a:extLst>
          </p:cNvPr>
          <p:cNvSpPr/>
          <p:nvPr/>
        </p:nvSpPr>
        <p:spPr>
          <a:xfrm>
            <a:off x="787400" y="2933699"/>
            <a:ext cx="10293350" cy="848947"/>
          </a:xfrm>
          <a:prstGeom prst="roundRect">
            <a:avLst/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7425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정의로운 사회를 실현하는 데 필요한 제도를 설명할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5C28D4DD-371F-4568-9198-B5D58BBCD7F3}"/>
              </a:ext>
            </a:extLst>
          </p:cNvPr>
          <p:cNvSpPr/>
          <p:nvPr/>
        </p:nvSpPr>
        <p:spPr>
          <a:xfrm>
            <a:off x="1041954" y="3304723"/>
            <a:ext cx="106897" cy="106897"/>
          </a:xfrm>
          <a:prstGeom prst="ellipse">
            <a:avLst/>
          </a:prstGeom>
          <a:solidFill>
            <a:srgbClr val="8D7F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6607" y="1765803"/>
            <a:ext cx="6735250" cy="463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1587332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0282" y="2966915"/>
            <a:ext cx="9859447" cy="1417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키가 큰 사람이 위 칸을 쓰고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키가 작은 사람이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아래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칸을 쓰도록 하는 방법이 가장 정의롭다고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생각한다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그래야 우리 학급 구성원이 겪게 될 불편함과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사물함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배정에 따른 불만을 최소화할 수 있기 때문이다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0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사물함 자리를 정하는 방법에 관한 의견 중 가장 정의롭다고 생각하는 것을 고르고</a:t>
            </a:r>
            <a:r>
              <a:rPr lang="en-US" altLang="ko-KR" sz="2000" b="1" dirty="0"/>
              <a:t>, </a:t>
            </a:r>
            <a:r>
              <a:rPr lang="ko-KR" altLang="en-US" sz="2000" b="1" dirty="0" smtClean="0"/>
              <a:t>그 까닭을 </a:t>
            </a:r>
            <a:r>
              <a:rPr lang="ko-KR" altLang="en-US" sz="2000" b="1" dirty="0"/>
              <a:t>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5527" y="2293227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348051" y="2293227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4" grpId="2"/>
      <p:bldP spid="24" grpId="3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333" y="2282279"/>
            <a:ext cx="10990592" cy="33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97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위 그림 속 오늘날의 채용 공고와 비교할 때 과거의 채용 공고에서 </a:t>
            </a:r>
            <a:r>
              <a:rPr lang="ko-KR" altLang="en-US" sz="2000" b="1" dirty="0" smtClean="0"/>
              <a:t>정의롭지 </a:t>
            </a:r>
            <a:r>
              <a:rPr lang="ko-KR" altLang="en-US" sz="2000" b="1" dirty="0"/>
              <a:t>않은 부분을 찾아 그 까닭과 함께 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6030" y="2203370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388554" y="2203370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789857"/>
            <a:ext cx="10293350" cy="349880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810726"/>
            <a:ext cx="9784141" cy="334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과거의 채용 공고는 나이가 만 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18~30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세이거나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성별이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남성인 경우에만 사무직에 지원할 자격을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주었기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때문에 모두에게 균등하게 기회를 주지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않는다는 점에서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정의롭지 않다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또 오늘날의 채용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공고에는 장애인을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별도로 채용함을 밝히고 있지만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과거의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채용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공고는 신체가 건강한 사람에게만 지원 자격을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주어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장애인과 같은 사회적 약자에 대한 배려가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보이지 않아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정의롭다고 하기 어렵다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957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1" grpId="2"/>
      <p:bldP spid="41" grpId="3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501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기회균등의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원칙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구성원 모두가 사회적 </a:t>
            </a:r>
            <a:r>
              <a:rPr lang="ko-KR" altLang="en-US" sz="2400" dirty="0" smtClean="0">
                <a:latin typeface="+mn-ea"/>
              </a:rPr>
              <a:t>지위나 자원을 </a:t>
            </a:r>
            <a:r>
              <a:rPr lang="ko-KR" altLang="en-US" sz="2400" dirty="0">
                <a:latin typeface="+mn-ea"/>
              </a:rPr>
              <a:t>얻을 기회를 균등하게 보장받아야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10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사회적 약자 배려의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원칙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spc="-150" dirty="0">
                <a:latin typeface="+mn-ea"/>
              </a:rPr>
              <a:t>사회적 약자도 </a:t>
            </a:r>
            <a:r>
              <a:rPr lang="ko-KR" altLang="en-US" sz="2400" spc="-150" dirty="0" smtClean="0">
                <a:latin typeface="+mn-ea"/>
              </a:rPr>
              <a:t>최소한의 인간다운 </a:t>
            </a:r>
            <a:r>
              <a:rPr lang="ko-KR" altLang="en-US" sz="2400" spc="-150" dirty="0">
                <a:latin typeface="+mn-ea"/>
              </a:rPr>
              <a:t>삶을 살 수 있도록 배려해야 함</a:t>
            </a:r>
            <a:r>
              <a:rPr lang="en-US" altLang="ko-KR" sz="2400" spc="-15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1000" spc="-150" dirty="0" smtClean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공정한 분배의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원칙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spc="-150" dirty="0">
                <a:latin typeface="+mn-ea"/>
              </a:rPr>
              <a:t>사회적 지위나 자원을 </a:t>
            </a:r>
            <a:r>
              <a:rPr lang="ko-KR" altLang="en-US" sz="2400" spc="-150" dirty="0" smtClean="0">
                <a:latin typeface="+mn-ea"/>
              </a:rPr>
              <a:t>공정하게 </a:t>
            </a:r>
            <a:r>
              <a:rPr lang="ko-KR" altLang="en-US" sz="2400" spc="-150" dirty="0">
                <a:latin typeface="+mn-ea"/>
              </a:rPr>
              <a:t>분배하여 구성원 각자가 정당한 몫을 </a:t>
            </a:r>
            <a:r>
              <a:rPr lang="ko-KR" altLang="en-US" sz="2400" spc="-150" dirty="0" smtClean="0">
                <a:latin typeface="+mn-ea"/>
              </a:rPr>
              <a:t>누리며 살 </a:t>
            </a:r>
            <a:r>
              <a:rPr lang="ko-KR" altLang="en-US" sz="2400" spc="-150" dirty="0">
                <a:latin typeface="+mn-ea"/>
              </a:rPr>
              <a:t>수 있어야 함</a:t>
            </a:r>
            <a:r>
              <a:rPr lang="en-US" altLang="ko-KR" sz="2400" spc="-150" dirty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정의의 원칙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정의로운 분배의 기준에 관해 토의하기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5239" y="2363639"/>
            <a:ext cx="7848027" cy="3717838"/>
          </a:xfrm>
          <a:prstGeom prst="rect">
            <a:avLst/>
          </a:prstGeom>
        </p:spPr>
      </p:pic>
      <p:sp>
        <p:nvSpPr>
          <p:cNvPr id="29" name="타원 28">
            <a:hlinkClick r:id="" action="ppaction://hlinkshowjump?jump=nextslide"/>
          </p:cNvPr>
          <p:cNvSpPr/>
          <p:nvPr/>
        </p:nvSpPr>
        <p:spPr>
          <a:xfrm>
            <a:off x="6050774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5643895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787400" y="1475162"/>
            <a:ext cx="102391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n-ea"/>
              </a:rPr>
              <a:t>다음은 분배의 기준인 업적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능력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필요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절대적 평등의 장단점을 분석한 것이다</a:t>
            </a:r>
            <a:r>
              <a:rPr lang="en-US" altLang="ko-KR" sz="2000" b="1" dirty="0">
                <a:latin typeface="+mn-ea"/>
              </a:rPr>
              <a:t>. </a:t>
            </a:r>
            <a:r>
              <a:rPr lang="ko-KR" altLang="en-US" sz="2000" b="1" dirty="0">
                <a:latin typeface="+mn-ea"/>
              </a:rPr>
              <a:t>이를 참고하여 </a:t>
            </a:r>
            <a:r>
              <a:rPr lang="ko-KR" altLang="en-US" sz="2000" b="1" dirty="0" smtClean="0">
                <a:latin typeface="+mn-ea"/>
              </a:rPr>
              <a:t>장학금을 </a:t>
            </a:r>
            <a:r>
              <a:rPr lang="ko-KR" altLang="en-US" sz="2000" b="1" dirty="0">
                <a:latin typeface="+mn-ea"/>
              </a:rPr>
              <a:t>어떻게 분배하는 것이 가장 정의로운지 민주적인 방식으로 토의해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9166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정의로운 분배의 기준에 관해 토의하기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타원 21">
            <a:hlinkClick r:id="" action="ppaction://hlinkshowjump?jump=previousslide"/>
          </p:cNvPr>
          <p:cNvSpPr/>
          <p:nvPr/>
        </p:nvSpPr>
        <p:spPr>
          <a:xfrm>
            <a:off x="5689340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6058111" y="6258302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1294" y="1931771"/>
            <a:ext cx="9389427" cy="405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675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장학금 분배 기준에 관한 학생들의 의견 중 내가 동의하는 것을 고르고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그 까닭을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7" name="그림 2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172455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172455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정의로운 분배의 기준에 관해 토의하기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44972"/>
            <a:ext cx="10293350" cy="2399888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65588" y="2865841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필요를 기준으로 하여 경제적 형편이 어려운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학생에게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장학금을 주는 것이 옳다고 생각한다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왜냐하면 가정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형편이 어려운 학생과 같은 사회적 약자도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희망을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잃지 않고 열심히 공부하도록 돕는 것이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정의를 실현하는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길이라고 생각하기 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4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36" grpId="0"/>
      <p:bldP spid="3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 err="1">
                <a:latin typeface="+mn-ea"/>
              </a:rPr>
              <a:t>모둠별로</a:t>
            </a:r>
            <a:r>
              <a:rPr lang="ko-KR" altLang="en-US" sz="2000" b="1" dirty="0">
                <a:latin typeface="+mn-ea"/>
              </a:rPr>
              <a:t> 어떤 기준에 따라 장학금을 분배하는 것이 가장 정의로운지 토의하고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그 결과를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7399" y="2601733"/>
            <a:ext cx="3318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우리 </a:t>
            </a:r>
            <a:r>
              <a:rPr lang="ko-KR" altLang="en-US" sz="2000" dirty="0" err="1">
                <a:latin typeface="+mn-ea"/>
              </a:rPr>
              <a:t>모둠이</a:t>
            </a:r>
            <a:r>
              <a:rPr lang="ko-KR" altLang="en-US" sz="2000" dirty="0">
                <a:latin typeface="+mn-ea"/>
              </a:rPr>
              <a:t> 고른 기준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4" name="그림 5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52737"/>
            <a:ext cx="487174" cy="487174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52737"/>
            <a:ext cx="1087577" cy="495431"/>
            <a:chOff x="10075659" y="2003022"/>
            <a:chExt cx="1156006" cy="495431"/>
          </a:xfrm>
        </p:grpSpPr>
        <p:pic>
          <p:nvPicPr>
            <p:cNvPr id="56" name="그림 5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155525"/>
            <a:ext cx="10293350" cy="1278458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65588" y="3202271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업적을 기준으로 하여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각종 대회에서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상을 받아 학교 이름을 빛낸 학생에게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장학금을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주는 것이 가장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정의롭다</a:t>
            </a:r>
            <a:r>
              <a:rPr lang="en-US" altLang="ko-KR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</a:rPr>
              <a:t>정의로운 분배의 기준에 관해 토의하기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93153" y="4462159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고른 까닭</a:t>
            </a:r>
          </a:p>
        </p:txBody>
      </p:sp>
      <p:sp>
        <p:nvSpPr>
          <p:cNvPr id="3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93154" y="5015951"/>
            <a:ext cx="10293350" cy="1278458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71342" y="5062697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달성한 일의 객관적 평가와 측정이 쉽고</a:t>
            </a:r>
            <a:r>
              <a:rPr lang="en-US" altLang="ko-KR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다른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학생들도 더 열심히 공부하도록 동기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부여를 할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수 있기 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84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59" grpId="0"/>
      <p:bldP spid="59" grpId="1"/>
      <p:bldP spid="34" grpId="0"/>
      <p:bldP spid="3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93" y="-5485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679237"/>
            <a:ext cx="110284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사회 복지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제도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모든 사람이 최소한의 </a:t>
            </a:r>
            <a:r>
              <a:rPr lang="ko-KR" altLang="en-US" sz="2400" dirty="0" smtClean="0">
                <a:latin typeface="+mn-ea"/>
              </a:rPr>
              <a:t>인간다운 삶을 </a:t>
            </a:r>
            <a:r>
              <a:rPr lang="ko-KR" altLang="en-US" sz="2400" dirty="0">
                <a:latin typeface="+mn-ea"/>
              </a:rPr>
              <a:t>누리도록 지원하는 </a:t>
            </a:r>
            <a:r>
              <a:rPr lang="ko-KR" altLang="en-US" sz="2400" dirty="0" smtClean="0">
                <a:latin typeface="+mn-ea"/>
              </a:rPr>
              <a:t>제도 </a:t>
            </a:r>
            <a:endParaRPr lang="en-US" altLang="ko-KR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예</a:t>
            </a:r>
            <a:r>
              <a:rPr lang="en-US" altLang="ko-KR" sz="2400" dirty="0" smtClean="0">
                <a:latin typeface="+mn-ea"/>
              </a:rPr>
              <a:t>) </a:t>
            </a:r>
            <a:r>
              <a:rPr lang="ko-KR" altLang="en-US" sz="2400" dirty="0" smtClean="0"/>
              <a:t>국민 </a:t>
            </a:r>
            <a:r>
              <a:rPr lang="ko-KR" altLang="en-US" sz="2400" dirty="0"/>
              <a:t>건강 </a:t>
            </a:r>
            <a:r>
              <a:rPr lang="ko-KR" altLang="en-US" sz="2400" dirty="0" smtClean="0"/>
              <a:t>보험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국민 연금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국민 기초 생활 </a:t>
            </a:r>
            <a:r>
              <a:rPr lang="ko-KR" altLang="en-US" sz="2400" dirty="0"/>
              <a:t>보장 </a:t>
            </a:r>
            <a:r>
              <a:rPr lang="ko-KR" altLang="en-US" sz="2400" dirty="0" smtClean="0"/>
              <a:t>제도</a:t>
            </a:r>
            <a:endParaRPr lang="en-US" altLang="ko-KR" sz="2400" dirty="0" smtClean="0"/>
          </a:p>
          <a:p>
            <a:pPr>
              <a:lnSpc>
                <a:spcPct val="150000"/>
              </a:lnSpc>
            </a:pPr>
            <a:endParaRPr lang="en-US" altLang="ko-KR" sz="1000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적극적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우대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조치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spc="-150" dirty="0">
                <a:latin typeface="+mn-ea"/>
              </a:rPr>
              <a:t>사회적 </a:t>
            </a:r>
            <a:r>
              <a:rPr lang="ko-KR" altLang="en-US" sz="2400" spc="-150" dirty="0" smtClean="0">
                <a:latin typeface="+mn-ea"/>
              </a:rPr>
              <a:t>약자들이 입시나 </a:t>
            </a:r>
            <a:r>
              <a:rPr lang="ko-KR" altLang="en-US" sz="2400" spc="-150" dirty="0">
                <a:latin typeface="+mn-ea"/>
              </a:rPr>
              <a:t>취업에서 소외되거나 </a:t>
            </a:r>
            <a:r>
              <a:rPr lang="ko-KR" altLang="en-US" sz="2400" spc="-150" dirty="0" err="1">
                <a:latin typeface="+mn-ea"/>
              </a:rPr>
              <a:t>차별받지</a:t>
            </a:r>
            <a:r>
              <a:rPr lang="ko-KR" altLang="en-US" sz="2400" spc="-150" dirty="0">
                <a:latin typeface="+mn-ea"/>
              </a:rPr>
              <a:t> 않도록 </a:t>
            </a:r>
            <a:r>
              <a:rPr lang="ko-KR" altLang="en-US" sz="2400" spc="-150" dirty="0" err="1">
                <a:latin typeface="+mn-ea"/>
              </a:rPr>
              <a:t>가산점을</a:t>
            </a:r>
            <a:r>
              <a:rPr lang="ko-KR" altLang="en-US" sz="2400" spc="-150" dirty="0">
                <a:latin typeface="+mn-ea"/>
              </a:rPr>
              <a:t> 주거나 별도의 정원을 </a:t>
            </a:r>
            <a:r>
              <a:rPr lang="ko-KR" altLang="en-US" sz="2400" spc="-150" dirty="0" smtClean="0">
                <a:latin typeface="+mn-ea"/>
              </a:rPr>
              <a:t>마련하는 </a:t>
            </a:r>
            <a:r>
              <a:rPr lang="ko-KR" altLang="en-US" sz="2400" spc="-150" dirty="0">
                <a:latin typeface="+mn-ea"/>
              </a:rPr>
              <a:t>등 혜택을 주는 </a:t>
            </a:r>
            <a:r>
              <a:rPr lang="ko-KR" altLang="en-US" sz="2400" spc="-150" dirty="0" smtClean="0">
                <a:latin typeface="+mn-ea"/>
              </a:rPr>
              <a:t>제도</a:t>
            </a:r>
            <a:endParaRPr lang="en-US" altLang="ko-KR" sz="2400" spc="-15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spc="-150" dirty="0" smtClean="0">
                <a:latin typeface="+mn-ea"/>
              </a:rPr>
              <a:t>예</a:t>
            </a:r>
            <a:r>
              <a:rPr lang="en-US" altLang="ko-KR" sz="2400" spc="-150" dirty="0" smtClean="0">
                <a:latin typeface="+mn-ea"/>
              </a:rPr>
              <a:t>) </a:t>
            </a:r>
            <a:r>
              <a:rPr lang="ko-KR" altLang="en-US" sz="2400" dirty="0" smtClean="0"/>
              <a:t>장애인 </a:t>
            </a:r>
            <a:r>
              <a:rPr lang="ko-KR" altLang="en-US" sz="2400" dirty="0"/>
              <a:t>의무 고용 </a:t>
            </a:r>
            <a:r>
              <a:rPr lang="ko-KR" altLang="en-US" sz="2400" dirty="0" smtClean="0"/>
              <a:t>제도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지역 </a:t>
            </a:r>
            <a:r>
              <a:rPr lang="ko-KR" altLang="en-US" sz="2400" dirty="0"/>
              <a:t>균형 선발 </a:t>
            </a:r>
            <a:r>
              <a:rPr lang="ko-KR" altLang="en-US" sz="2400" dirty="0" smtClean="0"/>
              <a:t>제도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정의로운 사회 실현을 위한 제도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1033282" y="4760513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622056" y="5816485"/>
            <a:ext cx="6096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정원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일정한 규정에 </a:t>
            </a:r>
            <a:r>
              <a:rPr lang="ko-KR" altLang="en-US" dirty="0" smtClean="0">
                <a:latin typeface="+mn-ea"/>
              </a:rPr>
              <a:t>의하여 정한 </a:t>
            </a:r>
            <a:r>
              <a:rPr lang="ko-KR" altLang="en-US" dirty="0">
                <a:latin typeface="+mn-ea"/>
              </a:rPr>
              <a:t>인원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1855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85" y="-77637"/>
            <a:ext cx="12192000" cy="69356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부패를 예방하고 정의로운 사회를 실현하기 위한 노력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35370" y="2011639"/>
            <a:ext cx="1105289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정의로운 사회 실현을 방해하는 것 중 하나가 부패이다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개개인의 부패도 문제이지만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공직자의 부패는 국민 전체의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이익까지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해치므로 더 심각한 문제가 될 수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부패 없는 정의로운 사회를 실현하려면 사회 구성원 모두가 청렴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의식을 지니고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자신이 맡은 일을 공정하게 처리하고자 노력해야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5964286" y="6198765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359661" y="619876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535370" y="4001610"/>
            <a:ext cx="11052892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또한 부패를 예방하고 감시할 수 있는 여러 법과 제도를 마련해야 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이를 위해 우리나라에서는 「부정 청탁 및 금품 등 수수의 금지에 관한 법률」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「공직자의 이해 충돌 방지법」과 같은 법을 만들어 시행하고 있다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4839310" y="3084203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535370" y="5904391"/>
            <a:ext cx="443395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청렴</a:t>
            </a:r>
            <a:r>
              <a:rPr lang="ko-KR" altLang="en-US" sz="1600" dirty="0">
                <a:latin typeface="+mn-ea"/>
              </a:rPr>
              <a:t> 성품과 행실이 높고 맑으며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탐욕이 없음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5996810" y="2078195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535370" y="5593518"/>
            <a:ext cx="848786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부패</a:t>
            </a:r>
            <a:r>
              <a:rPr lang="ko-KR" altLang="en-US" sz="1600" dirty="0">
                <a:latin typeface="+mn-ea"/>
              </a:rPr>
              <a:t> 개인이나 집단이 </a:t>
            </a:r>
            <a:r>
              <a:rPr lang="ko-KR" altLang="en-US" sz="1600" dirty="0" smtClean="0">
                <a:latin typeface="+mn-ea"/>
              </a:rPr>
              <a:t>공정한 </a:t>
            </a:r>
            <a:r>
              <a:rPr lang="ko-KR" altLang="en-US" sz="1600" dirty="0">
                <a:latin typeface="+mn-ea"/>
              </a:rPr>
              <a:t>절차를 무시하고 </a:t>
            </a:r>
            <a:r>
              <a:rPr lang="ko-KR" altLang="en-US" sz="1600" dirty="0" smtClean="0">
                <a:latin typeface="+mn-ea"/>
              </a:rPr>
              <a:t>부당한 방법으로 </a:t>
            </a:r>
            <a:r>
              <a:rPr lang="ko-KR" altLang="en-US" sz="1600" dirty="0">
                <a:latin typeface="+mn-ea"/>
              </a:rPr>
              <a:t>이익을 챙기는 행위</a:t>
            </a:r>
            <a:endParaRPr lang="en-US" altLang="ko-KR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0335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0385"/>
            <a:ext cx="12192000" cy="69183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부패를 예방하고 정의로운 사회를 실현하기 위한 노력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394164" y="6159772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previousslide"/>
          </p:cNvPr>
          <p:cNvSpPr/>
          <p:nvPr/>
        </p:nvSpPr>
        <p:spPr>
          <a:xfrm>
            <a:off x="5968242" y="6159772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1713" y="2153409"/>
            <a:ext cx="7243742" cy="391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0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40018" y="1956028"/>
            <a:ext cx="8601887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장애인이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사회 구성원으로 역할을 하며 살아가려면 장기적 일자리 대책을 마련해야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독일은 장애인 고용권이 잘 보장되어 ‘일할 자유’를 누리는 장애인이 많다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나라는 구직부터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퇴직에 이르는 전 과정에서 장애인들이 불편하고 부당한 일을 겪지 않도록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장애인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지원 제도를 촘촘하게 설계하였다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이러한 제도로는 장애인 특수 학교와 사업장을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연결하는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고용 프로그램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일하는 장애인을 대상으로 하는 개별 면담 제도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장애인 고용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기업에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대한 인건비 지원 제도 등이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 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한국일보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》, 2023. 4. 20.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        </a:t>
            </a:r>
            <a:endParaRPr lang="en-US" altLang="ko-KR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448" y="2078966"/>
            <a:ext cx="2625562" cy="358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윗글을 참고하여 </a:t>
            </a:r>
            <a:r>
              <a:rPr lang="ko-KR" altLang="en-US" sz="2000" b="1" dirty="0" err="1"/>
              <a:t>모둠별로</a:t>
            </a:r>
            <a:r>
              <a:rPr lang="ko-KR" altLang="en-US" sz="2000" b="1" dirty="0"/>
              <a:t> 정의를 존중하는 사회를 실현하기 위해 </a:t>
            </a:r>
            <a:r>
              <a:rPr lang="ko-KR" altLang="en-US" sz="2000" b="1" dirty="0" smtClean="0"/>
              <a:t>사회적 약자를 </a:t>
            </a:r>
            <a:r>
              <a:rPr lang="ko-KR" altLang="en-US" sz="2000" b="1" dirty="0"/>
              <a:t>지원하는 제도를 구상하여 제안해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8588" y="2383010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1112" y="2383010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4719804" y="2547018"/>
            <a:ext cx="2733420" cy="54040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808933" y="2547018"/>
            <a:ext cx="26442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미혼모</a:t>
            </a:r>
            <a:endParaRPr lang="ko-KR" altLang="en-US" sz="20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3341" y="2569341"/>
            <a:ext cx="39956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우리 </a:t>
            </a:r>
            <a:r>
              <a:rPr lang="ko-KR" altLang="en-US" sz="2000" dirty="0" err="1">
                <a:latin typeface="+mn-ea"/>
              </a:rPr>
              <a:t>모둠이</a:t>
            </a:r>
            <a:r>
              <a:rPr lang="ko-KR" altLang="en-US" sz="2000" dirty="0">
                <a:latin typeface="+mn-ea"/>
              </a:rPr>
              <a:t> </a:t>
            </a:r>
            <a:r>
              <a:rPr lang="ko-KR" altLang="en-US" sz="2000" dirty="0" smtClean="0">
                <a:latin typeface="+mn-ea"/>
              </a:rPr>
              <a:t>고른 사회적 약자</a:t>
            </a:r>
            <a:r>
              <a:rPr lang="en-US" altLang="ko-KR" sz="2000" dirty="0" smtClean="0">
                <a:latin typeface="+mn-ea"/>
              </a:rPr>
              <a:t>: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933426" y="3641425"/>
            <a:ext cx="4872151" cy="286232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2556" y="3641425"/>
            <a:ext cx="46311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미혼모에게 일정 기간 아이를 마음 </a:t>
            </a: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놓고 </a:t>
            </a: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키울 수 있는 보호 시설을 제공하고</a:t>
            </a:r>
            <a:r>
              <a:rPr lang="en-US" altLang="ko-KR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보호 </a:t>
            </a: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시설에서 </a:t>
            </a: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나온 뒤에도 취업 및 양육에 관한 상담과 </a:t>
            </a: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경제적 </a:t>
            </a: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지원을 하는 제도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342" y="3117082"/>
            <a:ext cx="18908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구상한 제도</a:t>
            </a:r>
            <a:r>
              <a:rPr lang="en-US" altLang="ko-KR" sz="2000" dirty="0" smtClean="0">
                <a:latin typeface="+mn-ea"/>
              </a:rPr>
              <a:t>: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6115018" y="3655799"/>
            <a:ext cx="5260907" cy="286232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04148" y="3655799"/>
            <a:ext cx="50006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미혼모에 대한 부정적인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인식이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강하지만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혼자서라도 아이를 키우겠다는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결정을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내린 미혼모들도 일정 수준의 삶을 유지할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수 있도록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따뜻하게 배려하는 것이 정의를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존중하는 사회의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모습이라고 생각하기 때문이다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0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64933" y="3131456"/>
            <a:ext cx="31359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제도를 제안하는 까닭</a:t>
            </a:r>
            <a:r>
              <a:rPr lang="en-US" altLang="ko-KR" sz="2000" dirty="0" smtClean="0">
                <a:latin typeface="+mn-ea"/>
              </a:rPr>
              <a:t>:</a:t>
            </a:r>
            <a:endParaRPr lang="ko-KR" altLang="en-US" sz="2000" dirty="0">
              <a:latin typeface="+mn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7885686" y="2373090"/>
            <a:ext cx="1483109" cy="534822"/>
            <a:chOff x="9736397" y="2003022"/>
            <a:chExt cx="1576424" cy="495431"/>
          </a:xfrm>
        </p:grpSpPr>
        <p:pic>
          <p:nvPicPr>
            <p:cNvPr id="44" name="그림 4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36397" y="2003022"/>
              <a:ext cx="1576424" cy="495431"/>
            </a:xfrm>
            <a:prstGeom prst="rect">
              <a:avLst/>
            </a:prstGeom>
          </p:spPr>
        </p:pic>
        <p:sp>
          <p:nvSpPr>
            <p:cNvPr id="45" name="TextBox 4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9817561" y="2052992"/>
              <a:ext cx="14775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23" grpId="0"/>
      <p:bldP spid="23" grpId="1"/>
      <p:bldP spid="26" grpId="0"/>
      <p:bldP spid="26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윗글을 참고하여 </a:t>
            </a:r>
            <a:r>
              <a:rPr lang="ko-KR" altLang="en-US" sz="2000" b="1" dirty="0" err="1"/>
              <a:t>모둠별로</a:t>
            </a:r>
            <a:r>
              <a:rPr lang="ko-KR" altLang="en-US" sz="2000" b="1" dirty="0"/>
              <a:t> 정의를 존중하는 사회를 실현하기 위해 </a:t>
            </a:r>
            <a:r>
              <a:rPr lang="ko-KR" altLang="en-US" sz="2000" b="1" dirty="0" smtClean="0"/>
              <a:t>사회적 약자를 </a:t>
            </a:r>
            <a:r>
              <a:rPr lang="ko-KR" altLang="en-US" sz="2000" b="1" dirty="0"/>
              <a:t>지원하는 제도를 구상하여 제안해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8588" y="2383010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1112" y="2383010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4719804" y="2547018"/>
            <a:ext cx="2733420" cy="54040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808933" y="2547018"/>
            <a:ext cx="26442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미혼모</a:t>
            </a:r>
            <a:endParaRPr lang="ko-KR" altLang="en-US" sz="20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3341" y="2569341"/>
            <a:ext cx="39956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우리 </a:t>
            </a:r>
            <a:r>
              <a:rPr lang="ko-KR" altLang="en-US" sz="2000" dirty="0" err="1">
                <a:latin typeface="+mn-ea"/>
              </a:rPr>
              <a:t>모둠이</a:t>
            </a:r>
            <a:r>
              <a:rPr lang="ko-KR" altLang="en-US" sz="2000" dirty="0">
                <a:latin typeface="+mn-ea"/>
              </a:rPr>
              <a:t> </a:t>
            </a:r>
            <a:r>
              <a:rPr lang="ko-KR" altLang="en-US" sz="2000" dirty="0" smtClean="0">
                <a:latin typeface="+mn-ea"/>
              </a:rPr>
              <a:t>고른 사회적 약자</a:t>
            </a:r>
            <a:r>
              <a:rPr lang="en-US" altLang="ko-KR" sz="2000" dirty="0" smtClean="0">
                <a:latin typeface="+mn-ea"/>
              </a:rPr>
              <a:t>: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933426" y="3641425"/>
            <a:ext cx="4872151" cy="286232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2556" y="3641425"/>
            <a:ext cx="46311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미혼모에게 일정 기간 아이를 마음 </a:t>
            </a: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놓고 </a:t>
            </a: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키울 수 있는 보호 시설을 제공하고</a:t>
            </a:r>
            <a:r>
              <a:rPr lang="en-US" altLang="ko-KR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보호 </a:t>
            </a: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시설에서 </a:t>
            </a: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나온 뒤에도 취업 및 양육에 관한 상담과 </a:t>
            </a: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경제적 </a:t>
            </a: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지원을 하는 제도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342" y="3117082"/>
            <a:ext cx="18908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구상한 제도</a:t>
            </a:r>
            <a:r>
              <a:rPr lang="en-US" altLang="ko-KR" sz="2000" dirty="0" smtClean="0">
                <a:latin typeface="+mn-ea"/>
              </a:rPr>
              <a:t>: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6115018" y="3655799"/>
            <a:ext cx="5260907" cy="286232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04148" y="3655799"/>
            <a:ext cx="50006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미혼모에 대한 부정적인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인식이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강하지만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혼자서라도 아이를 키우겠다는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결정을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내린 미혼모들도 일정 수준의 삶을 유지할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수 있도록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따뜻하게 배려하는 것이 정의를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존중하는 사회의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모습이라고 생각하기 때문이다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0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64933" y="3131456"/>
            <a:ext cx="31359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제도를 제안하는 까닭</a:t>
            </a:r>
            <a:r>
              <a:rPr lang="en-US" altLang="ko-KR" sz="2000" dirty="0" smtClean="0">
                <a:latin typeface="+mn-ea"/>
              </a:rPr>
              <a:t>:</a:t>
            </a:r>
            <a:endParaRPr lang="ko-KR" altLang="en-US" sz="2000" dirty="0">
              <a:latin typeface="+mn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7885686" y="2373090"/>
            <a:ext cx="1483109" cy="495431"/>
            <a:chOff x="9736397" y="2003022"/>
            <a:chExt cx="1576424" cy="495431"/>
          </a:xfrm>
        </p:grpSpPr>
        <p:pic>
          <p:nvPicPr>
            <p:cNvPr id="44" name="그림 4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36397" y="2003022"/>
              <a:ext cx="1576424" cy="495431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9817561" y="2052992"/>
              <a:ext cx="14775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9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81178" y="1758939"/>
            <a:ext cx="10913340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사회적 약자로는 이주 노동자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북한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이탈 주민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장애인 등이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있어요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5" y="1188983"/>
            <a:ext cx="1445941" cy="495431"/>
            <a:chOff x="10075659" y="2003022"/>
            <a:chExt cx="1156006" cy="495431"/>
          </a:xfrm>
        </p:grpSpPr>
        <p:pic>
          <p:nvPicPr>
            <p:cNvPr id="48" name="그림 4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031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23" grpId="0"/>
      <p:bldP spid="23" grpId="1"/>
      <p:bldP spid="26" grpId="0"/>
      <p:bldP spid="2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다음 개념을 잘 이해했는지 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V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표를 하며 점검하고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 err="1">
                <a:solidFill>
                  <a:srgbClr val="00B050"/>
                </a:solidFill>
                <a:latin typeface="+mn-ea"/>
              </a:rPr>
              <a:t>그중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 하나를 골라 구체적인 예를 들어서 그 의미를 설명해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5" y="4546283"/>
            <a:ext cx="8165055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사회적 약자 배려의 원칙은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장애인과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같이 불리한 처지에 있는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사회적 약자도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최소한의 인간다운 삶을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살 수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있도록 배려해야 한다는 것이다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설명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54762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3786996" y="2854762"/>
            <a:ext cx="3577833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604964" y="2854762"/>
            <a:ext cx="3400802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5915" y="2781066"/>
            <a:ext cx="2603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기회균등의 원칙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56003" y="2791824"/>
            <a:ext cx="3485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사회적 약자 배려의 원칙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87494" y="2783912"/>
            <a:ext cx="29781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공정한 분배의 원칙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9646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2720364" y="5024060"/>
            <a:ext cx="808171" cy="704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분배의 기준을 </a:t>
            </a:r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정하기 어려울 </a:t>
            </a:r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때는 어떻게 해야 할까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rId5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0570" y="1621998"/>
            <a:ext cx="9535061" cy="463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5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분배의 기준을 </a:t>
            </a:r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정하기 어려울 </a:t>
            </a:r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때는 어떻게 해야 할까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47172" y="2409942"/>
            <a:ext cx="7517405" cy="2044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분배의 기준을 정하기가 어려운 경우가 많습니다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어떤 기준에 따라 분배해도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불만이 생길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수 있고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특정한 기준에 따라 분배했을 때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분배받지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못하는 사람이 생길 수도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있습니다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그게 만일 나라면 정말 속상하겠지요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sp>
        <p:nvSpPr>
          <p:cNvPr id="28" name="타원 27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372" y="1517660"/>
            <a:ext cx="2890800" cy="7326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2527875"/>
            <a:ext cx="3485072" cy="433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5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분배의 기준을 </a:t>
            </a:r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정하기 어려울 </a:t>
            </a:r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때는 어떻게 해야 할까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742286" y="2404083"/>
            <a:ext cx="75174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이러한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경우 우리는 분배의 기준을 세우는 것보다 분배의 과정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즉 ‘절차’가 공정한지에 관심을 둘 수 있습니다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사회 구성원들이 합의하여 원칙을 세우고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공정한 절차에 따라 분배하면 그 결과도 정의롭다고 보는 것이지요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예를 들어 케이크를 자른 사람이 마지막 조각을 가져간다는 데 합의하고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 합의에 따라 케이크를 나눈다면 정의로운 분배가 이루어진 것으로 볼 수 있습니다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6" name="타원 15">
            <a:hlinkClick r:id="rId5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372" y="1517660"/>
            <a:ext cx="2890800" cy="73260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2527875"/>
            <a:ext cx="3485072" cy="433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88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“2.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국가와 시민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– </a:t>
            </a:r>
            <a:r>
              <a:rPr lang="en-US" altLang="ko-KR" sz="2800" b="1" dirty="0">
                <a:solidFill>
                  <a:schemeClr val="tx1"/>
                </a:solidFill>
              </a:rPr>
              <a:t>01.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국가와 시민 사이의 윤리적 쟁점</a:t>
            </a:r>
            <a:endParaRPr lang="en-US" altLang="ko-KR" sz="2800" b="1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b="1" dirty="0" smtClean="0">
                <a:solidFill>
                  <a:schemeClr val="tx1"/>
                </a:solidFill>
              </a:rPr>
              <a:t>은 무엇일까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 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정의의 원칙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기회균등 </a:t>
            </a:r>
            <a:r>
              <a:rPr sz="2400" b="1">
                <a:solidFill>
                  <a:srgbClr val="843C0C"/>
                </a:solidFill>
              </a:rPr>
              <a:t>의 원칙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구성원 모두가 사회적 지위나 자원을 얻을 기회를 균등하게 보장받아야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누구나 같은 시험지로 같은 시간에 입학시험을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사회적 약자 배려의 원칙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사회적 약자도 최소한의 인간다운 삶을 살 수 있도록 배려해야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시각 장애 학생에게 점자 시험지를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공정한 분배의 원칙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①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사회적 지위나 자원을 공정하게 분배하여 구성원 각자가 정당한 몫을 누리며 살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성과급(업적), 국가 장학금(필요), 투표권 1인 1표(절대적 평등)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② 분배의 기준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업적 </a:t>
            </a:r>
            <a:r>
              <a:rPr sz="2400" b="0">
                <a:solidFill>
                  <a:srgbClr val="262626"/>
                </a:solidFill>
              </a:rPr>
              <a:t>, 능력, 필요, 절대적 평등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기회균등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원칙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구성원 모두가 사회적 지위나 자원을 얻을 기회를 균등하게 보장받아야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누구나 같은 시험지로 같은 시간에 입학시험을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사회적 약자 배려의 원칙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약자도 최소한의 인간다운 삶을 살 수 있도록 배려해야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시각 장애 학생에게 점자 시험지를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공정한 분배의 원칙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지위나 자원을 공정하게 분배하여 구성원 각자가 정당한 몫을 누리며 살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성과급(업적), 국가 장학금(필요), 투표권 1인 1표(절대적 평등)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분배의 기준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업적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, 능력, 필요, 절대적 평등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기회균등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원칙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구성원 모두가 사회적 지위나 자원을 얻을 기회를 균등하게 보장받아야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누구나 같은 시험지로 같은 시간에 입학시험을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사회적 약자 배려의 원칙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약자도 최소한의 인간다운 삶을 살 수 있도록 배려해야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시각 장애 학생에게 점자 시험지를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공정한 분배의 원칙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지위나 자원을 공정하게 분배하여 구성원 각자가 정당한 몫을 누리며 살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성과급(업적), 국가 장학금(필요), 투표권 1인 1표(절대적 평등)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분배의 기준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업적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, 능력, 필요, 절대적 평등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기회균등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원칙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구성원 모두가 사회적 지위나 자원을 얻을 기회를 균등하게 보장받아야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누구나 같은 시험지로 같은 시간에 입학시험을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사회적 약자 배려의 원칙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약자도 최소한의 인간다운 삶을 살 수 있도록 배려해야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시각 장애 학생에게 점자 시험지를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공정한 분배의 원칙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지위나 자원을 공정하게 분배하여 구성원 각자가 정당한 몫을 누리며 살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성과급(업적), 국가 장학금(필요), 투표권 1인 1표(절대적 평등)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분배의 기준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업적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, 능력, 필요, 절대적 평등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기회균등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원칙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구성원 모두가 사회적 지위나 자원을 얻을 기회를 균등하게 보장받아야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누구나 같은 시험지로 같은 시간에 입학시험을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사회적 약자 배려의 원칙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약자도 최소한의 인간다운 삶을 살 수 있도록 배려해야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시각 장애 학생에게 점자 시험지를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공정한 분배의 원칙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지위나 자원을 공정하게 분배하여 구성원 각자가 정당한 몫을 누리며 살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성과급(업적), 국가 장학금(필요), 투표권 1인 1표(절대적 평등)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분배의 기준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업적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, 능력, 필요, 절대적 평등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기회균등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원칙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구성원 모두가 사회적 지위나 자원을 얻을 기회를 균등하게 보장받아야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누구나 같은 시험지로 같은 시간에 입학시험을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사회적 약자 배려의 원칙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약자도 최소한의 인간다운 삶을 살 수 있도록 배려해야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시각 장애 학생에게 점자 시험지를 주기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공정한 분배의 원칙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지위나 자원을 공정하게 분배하여 구성원 각자가 정당한 몫을 누리며 살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성과급(업적), 국가 장학금(필요), 투표권 1인 1표(절대적 평등)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분배의 기준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업적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, 능력, 필요, 절대적 평등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정의로운 사회 실현을 위한 제도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사회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복지 </a:t>
            </a:r>
            <a:r>
              <a:rPr sz="2400" b="1">
                <a:solidFill>
                  <a:srgbClr val="843C0C"/>
                </a:solidFill>
              </a:rPr>
              <a:t> 제도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모든 사람이 최소한의 인간다운 삶을 누리도록 지원하는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국민 건강 보험, 국민 연금, 국민 기초 생활 보장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① 국민 건강 보험, 국민 연금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국가가 국민의 건강과 소득을 보장하기 위한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② 국민 기초 생활 보장 제도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생활을 유지할 능력이 없거나 생활이 어려운 국민의 최저 생활 보장 및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자립 </a:t>
            </a:r>
            <a:r>
              <a:rPr sz="2400" b="0">
                <a:solidFill>
                  <a:srgbClr val="262626"/>
                </a:solidFill>
              </a:rPr>
              <a:t>을 지원하는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적극적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우대 </a:t>
            </a:r>
            <a:r>
              <a:rPr sz="2400" b="1">
                <a:solidFill>
                  <a:srgbClr val="843C0C"/>
                </a:solidFill>
              </a:rPr>
              <a:t> 조치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사회적 약자들이 소외되거나 차별받지 않도록 혜택을 제공하는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장애인 의무 고용 제도, 지역 균형 선발 제도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복지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사람이 최소한의 인간다운 삶을 누리도록 지원하는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국민 건강 보험, 국민 연금, 국민 기초 생활 보장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국민 건강 보험, 국민 연금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국가가 국민의 건강과 소득을 보장하기 위한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국민 기초 생활 보장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생활을 유지할 능력이 없거나 생활이 어려운 국민의 최저 생활 보장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자립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지원하는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적극적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우대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조치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약자들이 소외되거나 차별받지 않도록 혜택을 제공하는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장애인 의무 고용 제도, 지역 균형 선발 제도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사람이 최소한의 인간다운 삶을 누리도록 지원하는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국민 건강 보험, 국민 연금, 국민 기초 생활 보장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국민 건강 보험, 국민 연금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국가가 국민의 건강과 소득을 보장하기 위한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국민 기초 생활 보장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생활을 유지할 능력이 없거나 생활이 어려운 국민의 최저 생활 보장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자립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지원하는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적극적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우대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조치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약자들이 소외되거나 차별받지 않도록 혜택을 제공하는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장애인 의무 고용 제도, 지역 균형 선발 제도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사람이 최소한의 인간다운 삶을 누리도록 지원하는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국민 건강 보험, 국민 연금, 국민 기초 생활 보장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국민 건강 보험, 국민 연금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국가가 국민의 건강과 소득을 보장하기 위한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국민 기초 생활 보장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생활을 유지할 능력이 없거나 생활이 어려운 국민의 최저 생활 보장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자립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지원하는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적극적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우대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조치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약자들이 소외되거나 차별받지 않도록 혜택을 제공하는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장애인 의무 고용 제도, 지역 균형 선발 제도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사람이 최소한의 인간다운 삶을 누리도록 지원하는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국민 건강 보험, 국민 연금, 국민 기초 생활 보장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국민 건강 보험, 국민 연금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국가가 국민의 건강과 소득을 보장하기 위한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국민 기초 생활 보장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생활을 유지할 능력이 없거나 생활이 어려운 국민의 최저 생활 보장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자립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지원하는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적극적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우대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조치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약자들이 소외되거나 차별받지 않도록 혜택을 제공하는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장애인 의무 고용 제도, 지역 균형 선발 제도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모든 사람이 최소한의 인간다운 삶을 누리도록 지원하는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국민 건강 보험, 국민 연금, 국민 기초 생활 보장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국민 건강 보험, 국민 연금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국가가 국민의 건강과 소득을 보장하기 위한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국민 기초 생활 보장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생활을 유지할 능력이 없거나 생활이 어려운 국민의 최저 생활 보장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자립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지원하는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적극적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우대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조치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 약자들이 소외되거나 차별받지 않도록 혜택을 제공하는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장애인 의무 고용 제도, 지역 균형 선발 제도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00" b="1" dirty="0" smtClean="0">
                <a:solidFill>
                  <a:srgbClr val="FFFF00"/>
                </a:solidFill>
                <a:latin typeface="+mn-ea"/>
              </a:rPr>
              <a:t>정의로운 사회 실현을 위한 제도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① 장애인 의무 고용 제도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기업이 의무적으로 장애인을 일정 비율 이상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고용 </a:t>
            </a:r>
            <a:r>
              <a:rPr sz="2400" b="0">
                <a:solidFill>
                  <a:srgbClr val="262626"/>
                </a:solidFill>
              </a:rPr>
              <a:t>하도록 하는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② 지역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균형 </a:t>
            </a:r>
            <a:r>
              <a:rPr sz="2400" b="1">
                <a:solidFill>
                  <a:srgbClr val="843C0C"/>
                </a:solidFill>
              </a:rPr>
              <a:t> 선발 제도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대학 입시에서 지역 간 불균형 현상을 바로잡기 위해 특정 지역에 혜택을 주는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대학이 여러 지역 학생을 고르게 뽑도록 따로 정원을 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장애인 의무 고용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기업이 의무적으로 장애인을 일정 비율 이상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고용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하도록 하는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지역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균형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선발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대학 입시에서 지역 간 불균형 현상을 바로잡기 위해 특정 지역에 혜택을 주는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대학이 여러 지역 학생을 고르게 뽑도록 따로 정원을 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장애인 의무 고용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기업이 의무적으로 장애인을 일정 비율 이상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고용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하도록 하는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지역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균형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선발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대학 입시에서 지역 간 불균형 현상을 바로잡기 위해 특정 지역에 혜택을 주는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대학이 여러 지역 학생을 고르게 뽑도록 따로 정원을 둔다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장애인 의무 고용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기업이 의무적으로 장애인을 일정 비율 이상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고용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하도록 하는 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지역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균형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선발 제도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대학 입시에서 지역 간 불균형 현상을 바로잡기 위해 특정 지역에 혜택을 주는 제도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대학이 여러 지역 학생을 고르게 뽑도록 따로 정원을 둔다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사상가의 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“내가 누가 될지 모른다면, 어떤 규칙을 고를까?”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롤스 『정의론』의 ‘무지의 베일’을 풀어 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부자일지 가난할지, 건강할지 아플지 모르는 채로 규칙을 정한다면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사회적 약자도 최소한의 인간다운 삶을 살 수 있도록 배려할 때 정의로운 사회가 이루어질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사회적 지위나 자원을 특정한 사람에게 더 많이 분배할 때 갈등을 예방하고, 구성원 각자가 정당한 몫을 누리며 살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사회 복지 제도에는 국가가 국민의 건강과 소득을 보장하기 위한 제도인 ‘국민 건강 보험’, ‘국민 연금’ 등이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사회적 약자도 최소한의 인간다운 삶을 살 수 있도록 배려할 때 정의로운 사회가 이루어질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사회적 지위나 자원을 특정한 사람에게 더 많이 분배할 때 갈등을 예방하고, 구성원 각자가 정당한 몫을 누리며 살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사회 복지 제도에는 국가가 국민의 건강과 소득을 보장하기 위한 제도인 ‘국민 건강 보험’, ‘국민 연금’ 등이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사회적 약자도 최소한의 인간다운 삶을 살 수 있도록 배려할 때 정의로운 사회가 이루어질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사회적 지위나 자원을 특정한 사람에게 더 많이 분배할 때 갈등을 예방하고, 구성원 각자가 정당한 몫을 누리며 살 수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사회 복지 제도에는 국가가 국민의 건강과 소득을 보장하기 위한 제도인 ‘국민 건강 보험’, ‘국민 연금’ 등이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사회적 약자도 최소한의 인간다운 삶을 살 수 있도록 배려할 때 정의로운 사회가 이루어질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사회적 지위나 자원을 특정한 사람에게 더 많이 분배할 때 갈등을 예방하고, 구성원 각자가 정당한 몫을 누리며 살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사회 복지 제도에는 국가가 국민의 건강과 소득을 보장하기 위한 제도인 ‘국민 건강 보험’, ‘국민 연금’ 등이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어떤 정의의 원칙일까?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기회균등 · 약자 배려 · 공정한 분배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채용 공고에서 ‘남성만’을 지웠다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기회균등 (누구나 지원할 기회)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기업이 장애인을 일정 비율 이상 고용한다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약자 배려 (적극적 우대 조치)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국민 기초 생활 보장 제도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약자 배려 (최소한의 인간다운 삶)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한정된 장학금을 모두가 받아들일 기준으로 나눈다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공정한 분배 (분배의 원칙)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성별·나이와 상관없이 시험을 볼 수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기회균등 (기회균등)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기회균등 · 약자 배려 · 공정한 분배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채용 공고에서 ‘남성만’을 지웠다</a:t>
            </a:r>
            <a:r>
              <a:rPr sz="2300" b="1">
                <a:solidFill>
                  <a:srgbClr val="C0392B"/>
                </a:solidFill>
              </a:rPr>
              <a:t>   → 기회균등 (누구나 지원할 기회)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기업이 장애인을 일정 비율 이상 고용한다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약자 배려 (적극적 우대 조치)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국민 기초 생활 보장 제도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약자 배려 (최소한의 인간다운 삶)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한정된 장학금을 모두가 받아들일 기준으로 나눈다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공정한 분배 (분배의 원칙)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성별·나이와 상관없이 시험을 볼 수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기회균등 (기회균등)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기회균등 · 약자 배려 · 공정한 분배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채용 공고에서 ‘남성만’을 지웠다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기회균등 (누구나 지원할 기회)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기업이 장애인을 일정 비율 이상 고용한다</a:t>
            </a:r>
            <a:r>
              <a:rPr sz="2300" b="1">
                <a:solidFill>
                  <a:srgbClr val="C0392B"/>
                </a:solidFill>
              </a:rPr>
              <a:t>   → 약자 배려 (적극적 우대 조치)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국민 기초 생활 보장 제도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약자 배려 (최소한의 인간다운 삶)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한정된 장학금을 모두가 받아들일 기준으로 나눈다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공정한 분배 (분배의 원칙)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성별·나이와 상관없이 시험을 볼 수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기회균등 (기회균등)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기회균등 · 약자 배려 · 공정한 분배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채용 공고에서 ‘남성만’을 지웠다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기회균등 (누구나 지원할 기회)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기업이 장애인을 일정 비율 이상 고용한다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약자 배려 (적극적 우대 조치)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국민 기초 생활 보장 제도</a:t>
            </a:r>
            <a:r>
              <a:rPr sz="2300" b="1">
                <a:solidFill>
                  <a:srgbClr val="C0392B"/>
                </a:solidFill>
              </a:rPr>
              <a:t>   → 약자 배려 (최소한의 인간다운 삶)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한정된 장학금을 모두가 받아들일 기준으로 나눈다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공정한 분배 (분배의 원칙)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성별·나이와 상관없이 시험을 볼 수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기회균등 (기회균등)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기회균등 · 약자 배려 · 공정한 분배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채용 공고에서 ‘남성만’을 지웠다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기회균등 (누구나 지원할 기회)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기업이 장애인을 일정 비율 이상 고용한다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약자 배려 (적극적 우대 조치)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국민 기초 생활 보장 제도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약자 배려 (최소한의 인간다운 삶)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한정된 장학금을 모두가 받아들일 기준으로 나눈다</a:t>
            </a:r>
            <a:r>
              <a:rPr sz="2300" b="1">
                <a:solidFill>
                  <a:srgbClr val="C0392B"/>
                </a:solidFill>
              </a:rPr>
              <a:t>   → 공정한 분배 (분배의 원칙)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성별·나이와 상관없이 시험을 볼 수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기회균등 (기회균등)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기회균등 · 약자 배려 · 공정한 분배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채용 공고에서 ‘남성만’을 지웠다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기회균등 (누구나 지원할 기회)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기업이 장애인을 일정 비율 이상 고용한다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약자 배려 (적극적 우대 조치)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국민 기초 생활 보장 제도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약자 배려 (최소한의 인간다운 삶)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한정된 장학금을 모두가 받아들일 기준으로 나눈다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공정한 분배 (분배의 원칙)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성별·나이와 상관없이 시험을 볼 수 있다</a:t>
            </a:r>
            <a:r>
              <a:rPr sz="2300" b="1">
                <a:solidFill>
                  <a:srgbClr val="C0392B"/>
                </a:solidFill>
              </a:rPr>
              <a:t>   → 기회균등 (기회균등)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장학금, 어떤 기준으로?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손을 들어 투표해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업적 — 대회 수상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능력 — 성장 가능성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필요 — 경제적 형편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절대적 평등 — 모두 똑같이   ✋ ____ 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우리 모둠의 결론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사회〮공동체와의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정의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정의로운 사회를 위한 원칙과 제도는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고른 기준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필요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고른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장학금은 공부를 이어 가기 어려운 학생을 돕는 것이 목적이기 때문이다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그 기준의 약점을 보완하는 방법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성적이 오른 학생에게 작은 상을 더해 동기도 살린다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고른 기준</a:t>
            </a:r>
            <a:r>
              <a:rPr sz="2300" b="1">
                <a:solidFill>
                  <a:srgbClr val="C0392B"/>
                </a:solidFill>
              </a:rPr>
              <a:t>   예) 필요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고른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장학금은 공부를 이어 가기 어려운 학생을 돕는 것이 목적이기 때문이다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 기준의 약점을 보완하는 방법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성적이 오른 학생에게 작은 상을 더해 동기도 살린다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고른 기준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필요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고른 까닭</a:t>
            </a:r>
            <a:r>
              <a:rPr sz="2300" b="1">
                <a:solidFill>
                  <a:srgbClr val="C0392B"/>
                </a:solidFill>
              </a:rPr>
              <a:t>   예) 장학금은 공부를 이어 가기 어려운 학생을 돕는 것이 목적이기 때문이다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 기준의 약점을 보완하는 방법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성적이 오른 학생에게 작은 상을 더해 동기도 살린다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고른 기준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필요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고른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장학금은 공부를 이어 가기 어려운 학생을 돕는 것이 목적이기 때문이다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 기준의 약점을 보완하는 방법</a:t>
            </a:r>
            <a:r>
              <a:rPr sz="2300" b="1">
                <a:solidFill>
                  <a:srgbClr val="C0392B"/>
                </a:solidFill>
              </a:rPr>
              <a:t>   예) 성적이 오른 학생에게 작은 상을 더해 동기도 살린다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8800</TotalTime>
  <Words>1531</Words>
  <Application>Microsoft Office PowerPoint</Application>
  <PresentationFormat>와이드스크린</PresentationFormat>
  <Paragraphs>236</Paragraphs>
  <Slides>22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AppleSDGothicNeoB00</vt:lpstr>
      <vt:lpstr>굴림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209</cp:revision>
  <cp:lastPrinted>2024-06-05T04:53:22Z</cp:lastPrinted>
  <dcterms:created xsi:type="dcterms:W3CDTF">2023-10-31T05:50:03Z</dcterms:created>
  <dcterms:modified xsi:type="dcterms:W3CDTF">2025-01-14T04:38:49Z</dcterms:modified>
</cp:coreProperties>
</file>