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5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01" r:id="rId1"/>
  </p:sldMasterIdLst>
  <p:notesMasterIdLst>
    <p:notesMasterId r:id="rId20"/>
  </p:notesMasterIdLst>
  <p:handoutMasterIdLst>
    <p:handoutMasterId r:id="rId21"/>
  </p:handoutMasterIdLst>
  <p:sldIdLst>
    <p:sldId id="302" r:id="rId2"/>
    <p:sldId id="301" r:id="rId3"/>
    <p:sldId id="258" r:id="rId4"/>
    <p:sldId id="305" r:id="rId5"/>
    <p:sldId id="402" r:id="rId31"/>
    <p:sldId id="403" r:id="rId32"/>
    <p:sldId id="260" r:id="rId6"/>
    <p:sldId id="398" r:id="rId27"/>
    <p:sldId id="388" r:id="rId7"/>
    <p:sldId id="387" r:id="rId8"/>
    <p:sldId id="306" r:id="rId9"/>
    <p:sldId id="270" r:id="rId10"/>
    <p:sldId id="397" r:id="rId11"/>
    <p:sldId id="399" r:id="rId28"/>
    <p:sldId id="391" r:id="rId12"/>
    <p:sldId id="392" r:id="rId13"/>
    <p:sldId id="390" r:id="rId14"/>
    <p:sldId id="400" r:id="rId29"/>
    <p:sldId id="401" r:id="rId30"/>
    <p:sldId id="393" r:id="rId15"/>
    <p:sldId id="394" r:id="rId16"/>
    <p:sldId id="396" r:id="rId17"/>
    <p:sldId id="291" r:id="rId18"/>
    <p:sldId id="404" r:id="rId33"/>
    <p:sldId id="405" r:id="rId34"/>
    <p:sldId id="406" r:id="rId35"/>
    <p:sldId id="407" r:id="rId36"/>
    <p:sldId id="348" r:id="rId19"/>
  </p:sldIdLst>
  <p:sldSz cx="12192000" cy="6858000"/>
  <p:notesSz cx="6769100" cy="9906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5" clrIdx="0">
    <p:extLst>
      <p:ext uri="{19B8F6BF-5375-455C-9EA6-DF929625EA0E}">
        <p15:presenceInfo xmlns:p15="http://schemas.microsoft.com/office/powerpoint/2012/main" userId="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300"/>
    <a:srgbClr val="FFFF00"/>
    <a:srgbClr val="D9E1E9"/>
    <a:srgbClr val="E8F6FD"/>
    <a:srgbClr val="F0FFF6"/>
    <a:srgbClr val="019BFF"/>
    <a:srgbClr val="FFF7EE"/>
    <a:srgbClr val="FFC000"/>
    <a:srgbClr val="FFF2CC"/>
    <a:srgbClr val="BD4D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98" autoAdjust="0"/>
    <p:restoredTop sz="96242" autoAdjust="0"/>
  </p:normalViewPr>
  <p:slideViewPr>
    <p:cSldViewPr snapToGrid="0">
      <p:cViewPr varScale="1">
        <p:scale>
          <a:sx n="111" d="100"/>
          <a:sy n="111" d="100"/>
        </p:scale>
        <p:origin x="534" y="102"/>
      </p:cViewPr>
      <p:guideLst/>
    </p:cSldViewPr>
  </p:slideViewPr>
  <p:outlineViewPr>
    <p:cViewPr>
      <p:scale>
        <a:sx n="50" d="100"/>
        <a:sy n="50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8" d="100"/>
          <a:sy n="78" d="100"/>
        </p:scale>
        <p:origin x="5130" y="9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handoutMaster" Target="handoutMasters/handoutMaster1.xml"/><Relationship Id="rId22" Type="http://schemas.openxmlformats.org/officeDocument/2006/relationships/commentAuthors" Target="commentAuthors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36" Type="http://schemas.openxmlformats.org/officeDocument/2006/relationships/slide" Target="slides/slide28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34014" cy="497359"/>
          </a:xfrm>
          <a:prstGeom prst="rect">
            <a:avLst/>
          </a:prstGeom>
        </p:spPr>
        <p:txBody>
          <a:bodyPr vert="horz" lIns="91157" tIns="45578" rIns="91157" bIns="45578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33505" y="1"/>
            <a:ext cx="2934014" cy="497359"/>
          </a:xfrm>
          <a:prstGeom prst="rect">
            <a:avLst/>
          </a:prstGeom>
        </p:spPr>
        <p:txBody>
          <a:bodyPr vert="horz" lIns="91157" tIns="45578" rIns="91157" bIns="45578" rtlCol="0"/>
          <a:lstStyle>
            <a:lvl1pPr algn="r">
              <a:defRPr sz="1200"/>
            </a:lvl1pPr>
          </a:lstStyle>
          <a:p>
            <a:fld id="{4031DAFB-1D56-441C-96DA-9355E83DC247}" type="datetimeFigureOut">
              <a:rPr lang="ko-KR" altLang="en-US" smtClean="0"/>
              <a:t>2025-04-22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08641"/>
            <a:ext cx="2934014" cy="497359"/>
          </a:xfrm>
          <a:prstGeom prst="rect">
            <a:avLst/>
          </a:prstGeom>
        </p:spPr>
        <p:txBody>
          <a:bodyPr vert="horz" lIns="91157" tIns="45578" rIns="91157" bIns="45578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33505" y="9408641"/>
            <a:ext cx="2934014" cy="497359"/>
          </a:xfrm>
          <a:prstGeom prst="rect">
            <a:avLst/>
          </a:prstGeom>
        </p:spPr>
        <p:txBody>
          <a:bodyPr vert="horz" lIns="91157" tIns="45578" rIns="91157" bIns="45578" rtlCol="0" anchor="b"/>
          <a:lstStyle>
            <a:lvl1pPr algn="r">
              <a:defRPr sz="1200"/>
            </a:lvl1pPr>
          </a:lstStyle>
          <a:p>
            <a:fld id="{67252717-B9B0-4DA0-94D8-A5D10BBAAF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945133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33277" cy="497020"/>
          </a:xfrm>
          <a:prstGeom prst="rect">
            <a:avLst/>
          </a:prstGeom>
        </p:spPr>
        <p:txBody>
          <a:bodyPr vert="horz" lIns="91157" tIns="45578" rIns="91157" bIns="45578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34257" y="0"/>
            <a:ext cx="2933277" cy="497020"/>
          </a:xfrm>
          <a:prstGeom prst="rect">
            <a:avLst/>
          </a:prstGeom>
        </p:spPr>
        <p:txBody>
          <a:bodyPr vert="horz" lIns="91157" tIns="45578" rIns="91157" bIns="45578" rtlCol="0"/>
          <a:lstStyle>
            <a:lvl1pPr algn="r">
              <a:defRPr sz="1200"/>
            </a:lvl1pPr>
          </a:lstStyle>
          <a:p>
            <a:fld id="{81693682-E3F2-4B9F-9BFF-73488D9CBB0F}" type="datetimeFigureOut">
              <a:rPr lang="ko-KR" altLang="en-US" smtClean="0"/>
              <a:t>2025-04-22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12750" y="1238250"/>
            <a:ext cx="5943600" cy="3343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157" tIns="45578" rIns="91157" bIns="45578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6910" y="4767263"/>
            <a:ext cx="5415280" cy="3900488"/>
          </a:xfrm>
          <a:prstGeom prst="rect">
            <a:avLst/>
          </a:prstGeom>
        </p:spPr>
        <p:txBody>
          <a:bodyPr vert="horz" lIns="91157" tIns="45578" rIns="91157" bIns="45578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08981"/>
            <a:ext cx="2933277" cy="497019"/>
          </a:xfrm>
          <a:prstGeom prst="rect">
            <a:avLst/>
          </a:prstGeom>
        </p:spPr>
        <p:txBody>
          <a:bodyPr vert="horz" lIns="91157" tIns="45578" rIns="91157" bIns="45578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34257" y="9408981"/>
            <a:ext cx="2933277" cy="497019"/>
          </a:xfrm>
          <a:prstGeom prst="rect">
            <a:avLst/>
          </a:prstGeom>
        </p:spPr>
        <p:txBody>
          <a:bodyPr vert="horz" lIns="91157" tIns="45578" rIns="91157" bIns="45578" rtlCol="0" anchor="b"/>
          <a:lstStyle>
            <a:lvl1pPr algn="r">
              <a:defRPr sz="1200"/>
            </a:lvl1pPr>
          </a:lstStyle>
          <a:p>
            <a:fld id="{19946026-7D4E-45C0-8CA9-CA07BC8C2A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50878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946026-7D4E-45C0-8CA9-CA07BC8C2A9E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25528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946026-7D4E-45C0-8CA9-CA07BC8C2A9E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33525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교과서 138쪽 자료</a:t>
            </a:r>
          </a:p>
          <a:p>
            <a:r>
              <a:t>그리스의 정의의 여신 디케 → 로마의 유스티티아 → 영어 justice. 우리나라 대법원의 정의의 여신상은 눈을 뜨고 칼 대신 법전을 들고 있다(덧붙이는 이야기).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분배의 감각</a:t>
            </a:r>
          </a:p>
          <a:p>
            <a:r>
              <a:t>다음 차시의 분배 기준(업적·능력·필요·절대적 평등)으로 이어지는 맛보기. 손을 들게만 하고 까닭은 짧게.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마음 열기</a:t>
            </a:r>
          </a:p>
          <a:p>
            <a:r>
              <a:t>포스트잇에 하나씩. 공통점을 묶어 보면 “같은 대우를 받지 못했다”, “규칙을 어긴 사람이 이득을 봤다”로 모인다 — 오늘 배울 정의의 모습.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불공정에 대한 감각</a:t>
            </a:r>
          </a:p>
          <a:p>
            <a:r>
              <a:t>S. Brosnan &amp; F. de Waal, 《Nature》 425(2003). 똑같은 일을 했는데 대가가 다르면 동물도 불공정을 느낀다. 정의감은 사람에게 아주 깊이 뿌리내린 감정이다.</a:t>
            </a:r>
          </a:p>
          <a:p>
            <a:r>
              <a:t>영상: “Two Monkeys Were Paid Unequally”(TED, 프란스 드 발) 1분.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학생들이 손으로 ○(머리 위 동그라미) / ✕(팔 엇갈리기)를 먼저 표시한 뒤 클릭해 정답을 보여 준다. ✕ 문장은 어디를 고치면 맞는지 묻는다.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불공정한 장면을 가려내고, 내가 꿈꾸는 정의로운 사회를 연설문으로 써 보자.</a:t>
            </a:r>
          </a:p>
          <a:p>
            <a:r>
              <a:t>수업실 활동 화면(act.html)과 같은 활동입니다.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불공정한 장면을 가려내고, 내가 꿈꾸는 정의로운 사회를 연설문으로 써 보자.</a:t>
            </a:r>
          </a:p>
          <a:p>
            <a:r>
              <a:t>수업실 활동 화면(act.html)과 같은 활동입니다.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불공정한 장면을 가려내고, 내가 꿈꾸는 정의로운 사회를 연설문으로 써 보자.</a:t>
            </a:r>
          </a:p>
          <a:p>
            <a:r>
              <a:t>수업실 활동 화면(act.html)과 같은 활동입니다.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2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2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2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2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2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2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2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2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2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2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2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2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2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2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22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22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2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22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22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22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22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22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22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22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22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22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2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22.pn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 descr="만화 영화, 텍스트, 일러스트레이션, 포유류이(가) 표시된 사진&#10;&#10;자동 생성된 설명">
            <a:extLst>
              <a:ext uri="{FF2B5EF4-FFF2-40B4-BE49-F238E27FC236}">
                <a16:creationId xmlns:a16="http://schemas.microsoft.com/office/drawing/2014/main" xmlns="" id="{4B6BE20C-39D1-CD7C-E6AE-85543EB964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4EDAF0A1-DD83-C282-7B69-306F2FA4B16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7664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만화 영화, 텍스트, 포유류, 일러스트레이션이(가) 표시된 사진&#10;&#10;자동 생성된 설명">
            <a:extLst>
              <a:ext uri="{FF2B5EF4-FFF2-40B4-BE49-F238E27FC236}">
                <a16:creationId xmlns:a16="http://schemas.microsoft.com/office/drawing/2014/main" xmlns="" id="{1D5D7313-2547-35A2-9A0C-E713FE3E35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xmlns="" id="{3E690F88-2FCC-757F-E2DA-8D2FA80F21D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8189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xmlns="" id="{79DDE397-4B9A-7897-391B-8E92072A32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5BFE4D07-CAE6-9F34-2516-D03E4E4C435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15799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xmlns="" id="{9D20E117-DECD-BF3E-BC98-6F809E44A2D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D670C504-4605-8B32-EDB9-F844853CB75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9691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xmlns="" id="{659D6BB8-E0AE-AE23-C373-77D47EBD833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DF0B5473-2474-9855-1573-0667AF55F6B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86325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xmlns="" id="{8740350C-D289-4CE1-8E48-DC571612E57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1303ABB4-7B2F-BF45-33F2-C5BC9D1DA5D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27038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xmlns="" id="{7C97BFE2-A6A5-FD1B-5DFD-73870C4903B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032B914E-FCBF-B5E8-A986-151AECB9C92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32534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직사각형, 편지이(가) 표시된 사진&#10;&#10;자동 생성된 설명">
            <a:extLst>
              <a:ext uri="{FF2B5EF4-FFF2-40B4-BE49-F238E27FC236}">
                <a16:creationId xmlns:a16="http://schemas.microsoft.com/office/drawing/2014/main" xmlns="" id="{53D5CF97-6651-838A-72B8-007C02DADB5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4AAC559D-9351-FFDC-5FD6-6905153F0A0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5815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xmlns="" id="{F4685491-DC39-99F5-D745-97CF8C22C89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A22E88B3-C40D-D6C8-98E5-A3189E28050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2108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xmlns="" id="{85113FE1-C9FE-FBBC-67CD-6318A096D6D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A09A6E09-1A97-707B-809A-4014FB600AB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00968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xmlns="" id="{3545844E-DF85-75D7-BD93-B244F6CCE31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96F3A95A-8DF2-5BD2-C723-37F5B88913D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792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xmlns="" id="{383D412D-11D3-7C78-81CE-45FBA6AF138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9DAE5A3B-581F-5ABD-B276-44FF935D9CB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18499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그린, 직사각형, 텍스트이(가) 표시된 사진&#10;&#10;자동 생성된 설명">
            <a:extLst>
              <a:ext uri="{FF2B5EF4-FFF2-40B4-BE49-F238E27FC236}">
                <a16:creationId xmlns:a16="http://schemas.microsoft.com/office/drawing/2014/main" xmlns="" id="{4EA3FE09-D6BA-136A-4614-F32BD02E7CF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FCF7EF85-DB54-CAFB-66DE-9A1E8C8D11A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06975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디자인, 일러스트레이션이(가) 표시된 사진&#10;&#10;자동 생성된 설명">
            <a:extLst>
              <a:ext uri="{FF2B5EF4-FFF2-40B4-BE49-F238E27FC236}">
                <a16:creationId xmlns:a16="http://schemas.microsoft.com/office/drawing/2014/main" xmlns="" id="{4C8F362E-E92D-8BCC-BE3A-84258DFF758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5AEBDB76-96FD-D187-6815-00DF30C6FC9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4859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xmlns="" id="{7A207987-66DB-1CC6-1E04-1F3F589736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2355D5F3-8D5E-8C2C-C199-F5CF6FD2A07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2211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xmlns="" id="{1417BE16-BB63-7967-43D4-86741AF1E9F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DA044351-A890-FDB9-7583-855AA966220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36348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xmlns="" id="{6AF4659C-0939-651C-D60E-92EB6EF3291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860B628C-30B2-64DF-AE3D-6AC220FF494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471070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xmlns="" id="{4F055596-133C-DA30-8333-779395D2BB2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F940701D-0BE2-313E-ECB1-2FAB4145B86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11007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xmlns="" id="{5EA4F655-79D0-CD56-82D5-E56187D3F27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84A60459-9AFE-1727-9FA4-8443B465226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649728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xmlns="" id="{4C242F4D-242B-8EBD-16CC-7F491FD74E2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051C989B-C2C9-705D-6E3D-ED2498B8DB6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701990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 descr="만화 영화, 텍스트, 일러스트레이션, 포유류이(가) 표시된 사진&#10;&#10;자동 생성된 설명">
            <a:extLst>
              <a:ext uri="{FF2B5EF4-FFF2-40B4-BE49-F238E27FC236}">
                <a16:creationId xmlns:a16="http://schemas.microsoft.com/office/drawing/2014/main" xmlns="" id="{4B6BE20C-39D1-CD7C-E6AE-85543EB964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xmlns="" id="{CF26D681-0427-A46A-FB07-4635D86A39F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87411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5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만화 영화, 텍스트, 포유류, 일러스트레이션이(가) 표시된 사진&#10;&#10;자동 생성된 설명">
            <a:extLst>
              <a:ext uri="{FF2B5EF4-FFF2-40B4-BE49-F238E27FC236}">
                <a16:creationId xmlns:a16="http://schemas.microsoft.com/office/drawing/2014/main" xmlns="" id="{1D5D7313-2547-35A2-9A0C-E713FE3E35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594BDA34-CB2D-A4C2-695C-5CF0D15043E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377085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xmlns="" id="{79DDE397-4B9A-7897-391B-8E92072A32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xmlns="" id="{B0147B04-464C-C263-A341-A9E3D894008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553851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xmlns="" id="{9D20E117-DECD-BF3E-BC98-6F809E44A2D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416A7924-5F72-A178-CE74-5BA94F1D36A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063318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xmlns="" id="{659D6BB8-E0AE-AE23-C373-77D47EBD833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C7148CF2-87A1-852E-8851-487689A1D13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49815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xmlns="" id="{8740350C-D289-4CE1-8E48-DC571612E57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A407CE18-8E61-BD22-A4B4-14BC057B1CB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84126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xmlns="" id="{7C97BFE2-A6A5-FD1B-5DFD-73870C4903B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76690AC3-366D-8DED-8E19-B69A9C5BCB8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892133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직사각형, 편지이(가) 표시된 사진&#10;&#10;자동 생성된 설명">
            <a:extLst>
              <a:ext uri="{FF2B5EF4-FFF2-40B4-BE49-F238E27FC236}">
                <a16:creationId xmlns:a16="http://schemas.microsoft.com/office/drawing/2014/main" xmlns="" id="{53D5CF97-6651-838A-72B8-007C02DADB5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4A0B80FF-DFAD-059A-EFDB-5199DA791CF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80527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xmlns="" id="{F4685491-DC39-99F5-D745-97CF8C22C89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9D24D40A-7A2F-4736-9669-037893A669E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552556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xmlns="" id="{85113FE1-C9FE-FBBC-67CD-6318A096D6D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0F1719C5-84A3-9062-D9DC-011A2C13FF6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31183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xmlns="" id="{3545844E-DF85-75D7-BD93-B244F6CCE31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FA43C997-8030-A24C-CB73-83FFDB6B2DF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81306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xmlns="" id="{383D412D-11D3-7C78-81CE-45FBA6AF138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FC62A8BF-7776-ABF3-5D4F-63DA1360206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09033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그린, 직사각형, 텍스트이(가) 표시된 사진&#10;&#10;자동 생성된 설명">
            <a:extLst>
              <a:ext uri="{FF2B5EF4-FFF2-40B4-BE49-F238E27FC236}">
                <a16:creationId xmlns:a16="http://schemas.microsoft.com/office/drawing/2014/main" xmlns="" id="{4EA3FE09-D6BA-136A-4614-F32BD02E7CF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9004CC13-82C5-BFF5-BEA3-0EF25E4770D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430833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디자인, 일러스트레이션이(가) 표시된 사진&#10;&#10;자동 생성된 설명">
            <a:extLst>
              <a:ext uri="{FF2B5EF4-FFF2-40B4-BE49-F238E27FC236}">
                <a16:creationId xmlns:a16="http://schemas.microsoft.com/office/drawing/2014/main" xmlns="" id="{4C8F362E-E92D-8BCC-BE3A-84258DFF758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D74EF235-5FCA-E393-B8F0-A1061E50A23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407847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xmlns="" id="{7A207987-66DB-1CC6-1E04-1F3F589736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FEF8C82B-8BA1-D7E8-16F5-FB62D53795D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39259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xmlns="" id="{1417BE16-BB63-7967-43D4-86741AF1E9F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7BA12DC2-8E79-5EC9-8E60-4590D3D6B63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04267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xmlns="" id="{6AF4659C-0939-651C-D60E-92EB6EF3291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9ED340FE-29D6-73B5-718A-E0615034111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935853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xmlns="" id="{4F055596-133C-DA30-8333-779395D2BB2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A02B221C-1CD0-46E3-C97D-C75B3317C07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731692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xmlns="" id="{5EA4F655-79D0-CD56-82D5-E56187D3F27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83C37260-237C-BAA9-FEC9-761C152F749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67949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xmlns="" id="{4C242F4D-242B-8EBD-16CC-7F491FD74E2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7FB96BD6-518D-021D-8011-D8023B8A3C4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064912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xmlns="" id="{818DC526-1BA8-4DD2-8992-988C88BE151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402510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2392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02" r:id="rId1"/>
    <p:sldLayoutId id="2147484094" r:id="rId2"/>
    <p:sldLayoutId id="2147484073" r:id="rId3"/>
    <p:sldLayoutId id="2147484074" r:id="rId4"/>
    <p:sldLayoutId id="2147484075" r:id="rId5"/>
    <p:sldLayoutId id="2147484076" r:id="rId6"/>
    <p:sldLayoutId id="2147484089" r:id="rId7"/>
    <p:sldLayoutId id="2147484091" r:id="rId8"/>
    <p:sldLayoutId id="2147484078" r:id="rId9"/>
    <p:sldLayoutId id="2147484079" r:id="rId10"/>
    <p:sldLayoutId id="2147484092" r:id="rId11"/>
    <p:sldLayoutId id="2147484093" r:id="rId12"/>
    <p:sldLayoutId id="2147484086" r:id="rId13"/>
    <p:sldLayoutId id="2147484081" r:id="rId14"/>
    <p:sldLayoutId id="2147484087" r:id="rId15"/>
    <p:sldLayoutId id="2147484082" r:id="rId16"/>
    <p:sldLayoutId id="2147484088" r:id="rId17"/>
    <p:sldLayoutId id="2147484084" r:id="rId18"/>
    <p:sldLayoutId id="2147484090" r:id="rId19"/>
    <p:sldLayoutId id="2147484085" r:id="rId20"/>
    <p:sldLayoutId id="2147484095" r:id="rId21"/>
    <p:sldLayoutId id="2147484096" r:id="rId22"/>
    <p:sldLayoutId id="2147484097" r:id="rId23"/>
    <p:sldLayoutId id="2147484098" r:id="rId24"/>
    <p:sldLayoutId id="2147484099" r:id="rId25"/>
    <p:sldLayoutId id="2147484100" r:id="rId26"/>
    <p:sldLayoutId id="2147484101" r:id="rId27"/>
    <p:sldLayoutId id="2147484102" r:id="rId28"/>
    <p:sldLayoutId id="2147484103" r:id="rId29"/>
    <p:sldLayoutId id="2147484104" r:id="rId30"/>
    <p:sldLayoutId id="2147484105" r:id="rId31"/>
    <p:sldLayoutId id="2147484106" r:id="rId32"/>
    <p:sldLayoutId id="2147484107" r:id="rId33"/>
    <p:sldLayoutId id="2147484108" r:id="rId34"/>
    <p:sldLayoutId id="2147484109" r:id="rId35"/>
    <p:sldLayoutId id="2147484110" r:id="rId36"/>
    <p:sldLayoutId id="2147484111" r:id="rId37"/>
    <p:sldLayoutId id="2147484112" r:id="rId38"/>
    <p:sldLayoutId id="2147484113" r:id="rId39"/>
    <p:sldLayoutId id="2147484114" r:id="rId40"/>
    <p:sldLayoutId id="2147484050" r:id="rId4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image" Target="../media/image24.png"/><Relationship Id="rId3" Type="http://schemas.openxmlformats.org/officeDocument/2006/relationships/image" Target="../media/image59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2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26.png"/><Relationship Id="rId6" Type="http://schemas.openxmlformats.org/officeDocument/2006/relationships/image" Target="../media/image2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24.png"/><Relationship Id="rId3" Type="http://schemas.openxmlformats.org/officeDocument/2006/relationships/image" Target="../media/image59.svg"/><Relationship Id="rId4" Type="http://schemas.openxmlformats.org/officeDocument/2006/relationships/image" Target="../media/image28.png"/><Relationship Id="rId5" Type="http://schemas.openxmlformats.org/officeDocument/2006/relationships/image" Target="../media/image2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0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31.em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0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32.em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image" Target="../media/image24.png"/><Relationship Id="rId3" Type="http://schemas.openxmlformats.org/officeDocument/2006/relationships/image" Target="../media/image59.svg"/><Relationship Id="rId4" Type="http://schemas.openxmlformats.org/officeDocument/2006/relationships/image" Target="../media/image28.png"/><Relationship Id="rId5" Type="http://schemas.openxmlformats.org/officeDocument/2006/relationships/image" Target="../media/image2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0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33.em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image" Target="../media/image24.png"/><Relationship Id="rId3" Type="http://schemas.openxmlformats.org/officeDocument/2006/relationships/image" Target="../media/image59.svg"/><Relationship Id="rId4" Type="http://schemas.openxmlformats.org/officeDocument/2006/relationships/image" Target="../media/image28.png"/><Relationship Id="rId5" Type="http://schemas.openxmlformats.org/officeDocument/2006/relationships/image" Target="../media/image2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0.png"/><Relationship Id="rId4" Type="http://schemas.openxmlformats.org/officeDocument/2006/relationships/image" Target="../media/image24.png"/><Relationship Id="rId5" Type="http://schemas.openxmlformats.org/officeDocument/2006/relationships/image" Target="../media/image59.sv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28.png"/><Relationship Id="rId6" Type="http://schemas.openxmlformats.org/officeDocument/2006/relationships/image" Target="../media/image2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28.png"/><Relationship Id="rId6" Type="http://schemas.openxmlformats.org/officeDocument/2006/relationships/image" Target="../media/image29.png"/><Relationship Id="rId7" Type="http://schemas.openxmlformats.org/officeDocument/2006/relationships/image" Target="../media/image34.emf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image" Target="../media/image24.png"/><Relationship Id="rId3" Type="http://schemas.openxmlformats.org/officeDocument/2006/relationships/image" Target="../media/image59.svg"/><Relationship Id="rId4" Type="http://schemas.openxmlformats.org/officeDocument/2006/relationships/image" Target="../media/image28.png"/><Relationship Id="rId5" Type="http://schemas.openxmlformats.org/officeDocument/2006/relationships/image" Target="../media/image2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image" Target="../media/image3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0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0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0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0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4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0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5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0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0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0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8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0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9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0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944324" y="2059691"/>
            <a:ext cx="1492716" cy="144655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8800" b="1" dirty="0">
                <a:ln w="22225">
                  <a:noFill/>
                  <a:prstDash val="solid"/>
                </a:ln>
                <a:solidFill>
                  <a:srgbClr val="EC4C79"/>
                </a:solidFill>
                <a:latin typeface="+mj-ea"/>
                <a:ea typeface="+mj-ea"/>
              </a:rPr>
              <a:t>01</a:t>
            </a:r>
            <a:endParaRPr lang="ko-KR" altLang="en-US" sz="8800" b="1" dirty="0">
              <a:ln w="22225">
                <a:noFill/>
                <a:prstDash val="solid"/>
              </a:ln>
              <a:solidFill>
                <a:srgbClr val="EC4C79"/>
              </a:solidFill>
              <a:latin typeface="+mj-ea"/>
              <a:ea typeface="+mj-ea"/>
            </a:endParaRPr>
          </a:p>
        </p:txBody>
      </p:sp>
      <p:pic>
        <p:nvPicPr>
          <p:cNvPr id="14" name="그래픽 13">
            <a:extLst>
              <a:ext uri="{FF2B5EF4-FFF2-40B4-BE49-F238E27FC236}">
                <a16:creationId xmlns:a16="http://schemas.microsoft.com/office/drawing/2014/main" xmlns="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사회〮공동체와의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정의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72269B94-2C83-35BC-C956-FDFEF072477E}"/>
              </a:ext>
            </a:extLst>
          </p:cNvPr>
          <p:cNvSpPr txBox="1"/>
          <p:nvPr/>
        </p:nvSpPr>
        <p:spPr>
          <a:xfrm>
            <a:off x="382725" y="703659"/>
            <a:ext cx="28015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b="1" dirty="0" smtClean="0">
                <a:solidFill>
                  <a:schemeClr val="bg1"/>
                </a:solidFill>
                <a:latin typeface="+mj-ea"/>
                <a:ea typeface="+mj-ea"/>
              </a:rPr>
              <a:t>1 </a:t>
            </a:r>
            <a:r>
              <a:rPr lang="ko-KR" altLang="en-US" sz="2800" b="1" dirty="0" smtClean="0">
                <a:solidFill>
                  <a:schemeClr val="bg1"/>
                </a:solidFill>
                <a:latin typeface="+mj-ea"/>
                <a:ea typeface="+mj-ea"/>
              </a:rPr>
              <a:t>정의</a:t>
            </a:r>
            <a:endParaRPr lang="ko-KR" altLang="en-US" sz="28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137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437040" y="2268741"/>
            <a:ext cx="693366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b="1" dirty="0">
                <a:ln w="22225">
                  <a:noFill/>
                  <a:prstDash val="solid"/>
                </a:ln>
                <a:latin typeface="+mj-ea"/>
                <a:ea typeface="+mj-ea"/>
              </a:rPr>
              <a:t>정의가 실현되는 사회는 어떤 모습일까</a:t>
            </a:r>
            <a:r>
              <a:rPr lang="en-US" altLang="ko-KR" sz="5400" b="1" dirty="0">
                <a:ln w="22225">
                  <a:noFill/>
                  <a:prstDash val="solid"/>
                </a:ln>
                <a:latin typeface="+mj-ea"/>
                <a:ea typeface="+mj-ea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260975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래픽 11">
            <a:extLst>
              <a:ext uri="{FF2B5EF4-FFF2-40B4-BE49-F238E27FC236}">
                <a16:creationId xmlns:a16="http://schemas.microsoft.com/office/drawing/2014/main" xmlns="" id="{B49DEA9B-1154-3815-CBC5-0CC2A6AB517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466BC039-4F7A-8EFF-34FB-19EC1D406140}"/>
              </a:ext>
            </a:extLst>
          </p:cNvPr>
          <p:cNvSpPr txBox="1"/>
          <p:nvPr/>
        </p:nvSpPr>
        <p:spPr>
          <a:xfrm>
            <a:off x="1033314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 목표</a:t>
            </a: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xmlns="" id="{323387F2-F0F2-2F6D-DB56-EE32593EA49E}"/>
              </a:ext>
            </a:extLst>
          </p:cNvPr>
          <p:cNvGrpSpPr/>
          <p:nvPr/>
        </p:nvGrpSpPr>
        <p:grpSpPr>
          <a:xfrm>
            <a:off x="787400" y="1765300"/>
            <a:ext cx="10293350" cy="787400"/>
            <a:chOff x="914400" y="2362200"/>
            <a:chExt cx="10293350" cy="787400"/>
          </a:xfrm>
        </p:grpSpPr>
        <p:sp>
          <p:nvSpPr>
            <p:cNvPr id="16" name="사각형: 둥근 모서리 15">
              <a:extLst>
                <a:ext uri="{FF2B5EF4-FFF2-40B4-BE49-F238E27FC236}">
                  <a16:creationId xmlns:a16="http://schemas.microsoft.com/office/drawing/2014/main" xmlns="" id="{429C8124-E36A-14C4-0A75-6EEA8AF670C6}"/>
                </a:ext>
              </a:extLst>
            </p:cNvPr>
            <p:cNvSpPr/>
            <p:nvPr/>
          </p:nvSpPr>
          <p:spPr>
            <a:xfrm>
              <a:off x="914400" y="2362200"/>
              <a:ext cx="10293350" cy="787400"/>
            </a:xfrm>
            <a:prstGeom prst="roundRect">
              <a:avLst/>
            </a:prstGeom>
            <a:solidFill>
              <a:srgbClr val="F3F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xmlns="" id="{5C28D4DD-371F-4568-9198-B5D58BBCD7F3}"/>
                </a:ext>
              </a:extLst>
            </p:cNvPr>
            <p:cNvSpPr/>
            <p:nvPr/>
          </p:nvSpPr>
          <p:spPr>
            <a:xfrm>
              <a:off x="1123950" y="2702452"/>
              <a:ext cx="106897" cy="106897"/>
            </a:xfrm>
            <a:prstGeom prst="ellipse">
              <a:avLst/>
            </a:prstGeom>
            <a:solidFill>
              <a:srgbClr val="8D7FE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27938193-A932-45B4-4A78-75A57E0BE7EA}"/>
              </a:ext>
            </a:extLst>
          </p:cNvPr>
          <p:cNvSpPr txBox="1"/>
          <p:nvPr/>
        </p:nvSpPr>
        <p:spPr>
          <a:xfrm>
            <a:off x="1204394" y="1786422"/>
            <a:ext cx="9629759" cy="6553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800" b="1" dirty="0">
                <a:solidFill>
                  <a:prstClr val="black"/>
                </a:solidFill>
                <a:latin typeface="+mn-ea"/>
              </a:rPr>
              <a:t>정의의 의미와 정의로운 사회의 필요성을 설명할 수 있다</a:t>
            </a:r>
            <a:r>
              <a:rPr lang="en-US" altLang="ko-KR" sz="2800" b="1" dirty="0">
                <a:solidFill>
                  <a:prstClr val="black"/>
                </a:solidFill>
                <a:latin typeface="+mn-ea"/>
              </a:rPr>
              <a:t>.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xmlns="" id="{D6561203-5AD4-D0C1-BA20-A7201ACE3939}"/>
              </a:ext>
            </a:extLst>
          </p:cNvPr>
          <p:cNvSpPr/>
          <p:nvPr/>
        </p:nvSpPr>
        <p:spPr>
          <a:xfrm>
            <a:off x="787400" y="2933699"/>
            <a:ext cx="10293350" cy="848947"/>
          </a:xfrm>
          <a:prstGeom prst="roundRect">
            <a:avLst/>
          </a:prstGeom>
          <a:solidFill>
            <a:srgbClr val="F3F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6DDEFC0A-ECEA-44C9-A48A-4E7115B80B96}"/>
              </a:ext>
            </a:extLst>
          </p:cNvPr>
          <p:cNvSpPr txBox="1"/>
          <p:nvPr/>
        </p:nvSpPr>
        <p:spPr>
          <a:xfrm>
            <a:off x="1204394" y="2975356"/>
            <a:ext cx="9629759" cy="6553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800" b="1" dirty="0">
                <a:solidFill>
                  <a:prstClr val="black"/>
                </a:solidFill>
                <a:latin typeface="+mn-ea"/>
              </a:rPr>
              <a:t>정의로운 사회의 모습을 상상하여 표현할 수 있다</a:t>
            </a:r>
            <a:r>
              <a:rPr lang="en-US" altLang="ko-KR" sz="2800" b="1" dirty="0">
                <a:solidFill>
                  <a:prstClr val="black"/>
                </a:solidFill>
                <a:latin typeface="+mn-ea"/>
              </a:rPr>
              <a:t>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xmlns="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>
                <a:latin typeface="+mj-ea"/>
                <a:ea typeface="+mj-ea"/>
              </a:rPr>
              <a:t>정의가 실현되는 사회는 어떤 모습일까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xmlns="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xmlns="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137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pic>
        <p:nvPicPr>
          <p:cNvPr id="33" name="그림 32" descr="만화 영화, 곰, 클립아트, 동물 피규어이(가) 표시된 사진&#10;&#10;자동 생성된 설명">
            <a:extLst>
              <a:ext uri="{FF2B5EF4-FFF2-40B4-BE49-F238E27FC236}">
                <a16:creationId xmlns:a16="http://schemas.microsoft.com/office/drawing/2014/main" xmlns="" id="{E0F4FC48-0C07-EF74-A58A-2F6632EE2F62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10071099" y="5101659"/>
            <a:ext cx="1582391" cy="1762827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사회〮공동체와의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xmlns="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정의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xmlns="" id="{5C28D4DD-371F-4568-9198-B5D58BBCD7F3}"/>
              </a:ext>
            </a:extLst>
          </p:cNvPr>
          <p:cNvSpPr/>
          <p:nvPr/>
        </p:nvSpPr>
        <p:spPr>
          <a:xfrm>
            <a:off x="1041954" y="3304723"/>
            <a:ext cx="106897" cy="106897"/>
          </a:xfrm>
          <a:prstGeom prst="ellipse">
            <a:avLst/>
          </a:prstGeom>
          <a:solidFill>
            <a:srgbClr val="8D7F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1087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래픽 14">
            <a:extLst>
              <a:ext uri="{FF2B5EF4-FFF2-40B4-BE49-F238E27FC236}">
                <a16:creationId xmlns:a16="http://schemas.microsoft.com/office/drawing/2014/main" xmlns="" id="{98FD0005-EE86-B4E6-6D8C-80A7BEFF3B3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B9B0FF09-FBC7-1FCE-CA23-911B6BD983E3}"/>
              </a:ext>
            </a:extLst>
          </p:cNvPr>
          <p:cNvSpPr txBox="1"/>
          <p:nvPr/>
        </p:nvSpPr>
        <p:spPr>
          <a:xfrm>
            <a:off x="990282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생각 열기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90560433-7D7D-E53F-75DC-9920154898C5}"/>
              </a:ext>
            </a:extLst>
          </p:cNvPr>
          <p:cNvSpPr txBox="1"/>
          <p:nvPr/>
        </p:nvSpPr>
        <p:spPr>
          <a:xfrm>
            <a:off x="10161353" y="942681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만화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C768E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137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xmlns="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>
                <a:latin typeface="+mj-ea"/>
                <a:ea typeface="+mj-ea"/>
              </a:rPr>
              <a:t>정의가 실현되는 사회는 어떤 모습일까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사회〮공동체와의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정의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655" y="2438401"/>
            <a:ext cx="5797121" cy="2981614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60729" y="2438401"/>
            <a:ext cx="5514497" cy="2998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9623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래픽 14">
            <a:extLst>
              <a:ext uri="{FF2B5EF4-FFF2-40B4-BE49-F238E27FC236}">
                <a16:creationId xmlns:a16="http://schemas.microsoft.com/office/drawing/2014/main" xmlns="" id="{98FD0005-EE86-B4E6-6D8C-80A7BEFF3B3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B9B0FF09-FBC7-1FCE-CA23-911B6BD983E3}"/>
              </a:ext>
            </a:extLst>
          </p:cNvPr>
          <p:cNvSpPr txBox="1"/>
          <p:nvPr/>
        </p:nvSpPr>
        <p:spPr>
          <a:xfrm>
            <a:off x="990282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생각 열기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90560433-7D7D-E53F-75DC-9920154898C5}"/>
              </a:ext>
            </a:extLst>
          </p:cNvPr>
          <p:cNvSpPr txBox="1"/>
          <p:nvPr/>
        </p:nvSpPr>
        <p:spPr>
          <a:xfrm>
            <a:off x="10161353" y="942681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만화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137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xmlns="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>
                <a:latin typeface="+mj-ea"/>
                <a:ea typeface="+mj-ea"/>
              </a:rPr>
              <a:t>정의가 실현되는 사회는 어떤 모습일까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3" name="사각형: 둥근 모서리 29">
            <a:extLst>
              <a:ext uri="{FF2B5EF4-FFF2-40B4-BE49-F238E27FC236}">
                <a16:creationId xmlns:a16="http://schemas.microsoft.com/office/drawing/2014/main" xmlns="" id="{C631BC03-B762-9123-7FD1-0A60290B94EB}"/>
              </a:ext>
            </a:extLst>
          </p:cNvPr>
          <p:cNvSpPr/>
          <p:nvPr/>
        </p:nvSpPr>
        <p:spPr>
          <a:xfrm>
            <a:off x="787400" y="2967415"/>
            <a:ext cx="10293350" cy="2861822"/>
          </a:xfrm>
          <a:prstGeom prst="roundRect">
            <a:avLst>
              <a:gd name="adj" fmla="val 8608"/>
            </a:avLst>
          </a:prstGeom>
          <a:solidFill>
            <a:srgbClr val="F3F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90282" y="2966915"/>
            <a:ext cx="985944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000" dirty="0">
                <a:solidFill>
                  <a:srgbClr val="0070C0"/>
                </a:solidFill>
                <a:latin typeface="+mn-ea"/>
              </a:rPr>
              <a:t>첫 번째 그림에 등장하는 학생은 인터넷에 </a:t>
            </a:r>
            <a:r>
              <a:rPr lang="ko-KR" altLang="en-US" sz="2000" dirty="0" smtClean="0">
                <a:solidFill>
                  <a:srgbClr val="0070C0"/>
                </a:solidFill>
                <a:latin typeface="+mn-ea"/>
              </a:rPr>
              <a:t>올라온 내용을 </a:t>
            </a:r>
            <a:r>
              <a:rPr lang="ko-KR" altLang="en-US" sz="2000" dirty="0">
                <a:solidFill>
                  <a:srgbClr val="0070C0"/>
                </a:solidFill>
                <a:latin typeface="+mn-ea"/>
              </a:rPr>
              <a:t>그대로 베껴서 과제를 제출하는 </a:t>
            </a:r>
            <a:r>
              <a:rPr lang="ko-KR" altLang="en-US" sz="2000" dirty="0" smtClean="0">
                <a:solidFill>
                  <a:srgbClr val="0070C0"/>
                </a:solidFill>
                <a:latin typeface="+mn-ea"/>
              </a:rPr>
              <a:t>부정행위를 했음에도 </a:t>
            </a:r>
            <a:r>
              <a:rPr lang="ko-KR" altLang="en-US" sz="2000" dirty="0">
                <a:solidFill>
                  <a:srgbClr val="0070C0"/>
                </a:solidFill>
                <a:latin typeface="+mn-ea"/>
              </a:rPr>
              <a:t>처벌받지 않고 오히려 스스로 열심히 </a:t>
            </a:r>
            <a:r>
              <a:rPr lang="ko-KR" altLang="en-US" sz="2000" dirty="0" smtClean="0">
                <a:solidFill>
                  <a:srgbClr val="0070C0"/>
                </a:solidFill>
                <a:latin typeface="+mn-ea"/>
              </a:rPr>
              <a:t>과제를 </a:t>
            </a:r>
            <a:r>
              <a:rPr lang="ko-KR" altLang="en-US" sz="2000" dirty="0">
                <a:solidFill>
                  <a:srgbClr val="0070C0"/>
                </a:solidFill>
                <a:latin typeface="+mn-ea"/>
              </a:rPr>
              <a:t>작성하여 제출한 학생보다 좋은 성적을 받았다</a:t>
            </a:r>
            <a:r>
              <a:rPr lang="en-US" altLang="ko-KR" sz="2000" dirty="0" smtClean="0">
                <a:solidFill>
                  <a:srgbClr val="0070C0"/>
                </a:solidFill>
                <a:latin typeface="+mn-ea"/>
              </a:rPr>
              <a:t>. </a:t>
            </a:r>
            <a:r>
              <a:rPr lang="ko-KR" altLang="en-US" sz="2000" dirty="0" smtClean="0">
                <a:solidFill>
                  <a:srgbClr val="0070C0"/>
                </a:solidFill>
                <a:latin typeface="+mn-ea"/>
              </a:rPr>
              <a:t>두 </a:t>
            </a:r>
            <a:r>
              <a:rPr lang="ko-KR" altLang="en-US" sz="2000" dirty="0">
                <a:solidFill>
                  <a:srgbClr val="0070C0"/>
                </a:solidFill>
                <a:latin typeface="+mn-ea"/>
              </a:rPr>
              <a:t>번째 그림에는 정해진 채용 기준에 따라서가 </a:t>
            </a:r>
            <a:r>
              <a:rPr lang="ko-KR" altLang="en-US" sz="2000" dirty="0" smtClean="0">
                <a:solidFill>
                  <a:srgbClr val="0070C0"/>
                </a:solidFill>
                <a:latin typeface="+mn-ea"/>
              </a:rPr>
              <a:t>아니라 </a:t>
            </a:r>
            <a:r>
              <a:rPr lang="ko-KR" altLang="en-US" sz="2000" dirty="0">
                <a:solidFill>
                  <a:srgbClr val="0070C0"/>
                </a:solidFill>
                <a:latin typeface="+mn-ea"/>
              </a:rPr>
              <a:t>인맥을 통해 취직에 성공한 사람이 등장한다</a:t>
            </a:r>
            <a:r>
              <a:rPr lang="en-US" altLang="ko-KR" sz="2000" dirty="0">
                <a:solidFill>
                  <a:srgbClr val="0070C0"/>
                </a:solidFill>
                <a:latin typeface="+mn-ea"/>
              </a:rPr>
              <a:t>. </a:t>
            </a:r>
            <a:r>
              <a:rPr lang="ko-KR" altLang="en-US" sz="2000" dirty="0" smtClean="0">
                <a:solidFill>
                  <a:srgbClr val="0070C0"/>
                </a:solidFill>
                <a:latin typeface="+mn-ea"/>
              </a:rPr>
              <a:t>두 상황 </a:t>
            </a:r>
            <a:r>
              <a:rPr lang="ko-KR" altLang="en-US" sz="2000" dirty="0">
                <a:solidFill>
                  <a:srgbClr val="0070C0"/>
                </a:solidFill>
                <a:latin typeface="+mn-ea"/>
              </a:rPr>
              <a:t>속 인물은 잘못을 저질렀음에도 처벌받지 않고</a:t>
            </a:r>
            <a:r>
              <a:rPr lang="en-US" altLang="ko-KR" sz="2000" dirty="0" smtClean="0">
                <a:solidFill>
                  <a:srgbClr val="0070C0"/>
                </a:solidFill>
                <a:latin typeface="+mn-ea"/>
              </a:rPr>
              <a:t>, </a:t>
            </a:r>
            <a:r>
              <a:rPr lang="ko-KR" altLang="en-US" sz="2000" dirty="0" smtClean="0">
                <a:solidFill>
                  <a:srgbClr val="0070C0"/>
                </a:solidFill>
                <a:latin typeface="+mn-ea"/>
              </a:rPr>
              <a:t>다른 </a:t>
            </a:r>
            <a:r>
              <a:rPr lang="ko-KR" altLang="en-US" sz="2000" dirty="0">
                <a:solidFill>
                  <a:srgbClr val="0070C0"/>
                </a:solidFill>
                <a:latin typeface="+mn-ea"/>
              </a:rPr>
              <a:t>사람들과는 다른 유리한 조건에 따라 특혜를 </a:t>
            </a:r>
            <a:r>
              <a:rPr lang="ko-KR" altLang="en-US" sz="2000" dirty="0" smtClean="0">
                <a:solidFill>
                  <a:srgbClr val="0070C0"/>
                </a:solidFill>
                <a:latin typeface="+mn-ea"/>
              </a:rPr>
              <a:t>받는 </a:t>
            </a:r>
            <a:r>
              <a:rPr lang="ko-KR" altLang="en-US" sz="2000" dirty="0">
                <a:solidFill>
                  <a:srgbClr val="0070C0"/>
                </a:solidFill>
                <a:latin typeface="+mn-ea"/>
              </a:rPr>
              <a:t>등 혜택과 부담의 분배가 공정하게 이루어지지 </a:t>
            </a:r>
            <a:r>
              <a:rPr lang="ko-KR" altLang="en-US" sz="2000" dirty="0" smtClean="0">
                <a:solidFill>
                  <a:srgbClr val="0070C0"/>
                </a:solidFill>
                <a:latin typeface="+mn-ea"/>
              </a:rPr>
              <a:t>않았기 </a:t>
            </a:r>
            <a:r>
              <a:rPr lang="ko-KR" altLang="en-US" sz="2000" dirty="0">
                <a:solidFill>
                  <a:srgbClr val="0070C0"/>
                </a:solidFill>
                <a:latin typeface="+mn-ea"/>
              </a:rPr>
              <a:t>때문에 우리는 불편함을 느낀다</a:t>
            </a:r>
            <a:r>
              <a:rPr lang="en-US" altLang="ko-KR" sz="2000" dirty="0">
                <a:solidFill>
                  <a:srgbClr val="0070C0"/>
                </a:solidFill>
                <a:latin typeface="+mn-ea"/>
              </a:rPr>
              <a:t>.</a:t>
            </a:r>
            <a:endParaRPr lang="ko-KR" altLang="en-US" sz="2000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87400" y="1613182"/>
            <a:ext cx="1023910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000" b="1" dirty="0"/>
              <a:t>다음 그림과 같은 상황에서 우리가 불편함을 느끼는 까닭은 무엇인지 써 </a:t>
            </a:r>
            <a:r>
              <a:rPr lang="ko-KR" altLang="en-US" sz="2000" b="1" dirty="0" smtClean="0"/>
              <a:t>보자</a:t>
            </a:r>
            <a:r>
              <a:rPr lang="en-US" altLang="ko-KR" sz="2000" b="1" dirty="0" smtClean="0"/>
              <a:t>.</a:t>
            </a:r>
            <a:endParaRPr lang="ko-KR" altLang="en-US" sz="2000" b="1" dirty="0"/>
          </a:p>
        </p:txBody>
      </p:sp>
      <p:pic>
        <p:nvPicPr>
          <p:cNvPr id="26" name="그림 25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xmlns="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787" y="2379489"/>
            <a:ext cx="487174" cy="487174"/>
          </a:xfrm>
          <a:prstGeom prst="rect">
            <a:avLst/>
          </a:prstGeom>
        </p:spPr>
      </p:pic>
      <p:grpSp>
        <p:nvGrpSpPr>
          <p:cNvPr id="27" name="그룹 26">
            <a:extLst>
              <a:ext uri="{FF2B5EF4-FFF2-40B4-BE49-F238E27FC236}">
                <a16:creationId xmlns:a16="http://schemas.microsoft.com/office/drawing/2014/main" xmlns="" id="{BD8F7919-81BA-4F6C-659C-1ECE98A49C77}"/>
              </a:ext>
            </a:extLst>
          </p:cNvPr>
          <p:cNvGrpSpPr/>
          <p:nvPr/>
        </p:nvGrpSpPr>
        <p:grpSpPr>
          <a:xfrm>
            <a:off x="9434311" y="2379489"/>
            <a:ext cx="1087577" cy="495431"/>
            <a:chOff x="10075659" y="2003022"/>
            <a:chExt cx="1156006" cy="495431"/>
          </a:xfrm>
        </p:grpSpPr>
        <p:pic>
          <p:nvPicPr>
            <p:cNvPr id="31" name="그림 30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xmlns="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xmlns="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33" name="TextBox 32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사회〮공동체와의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xmlns="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정의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329333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xit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</p:childTnLst>
        </p:cTn>
      </p:par>
    </p:tnLst>
    <p:bldLst>
      <p:bldP spid="24" grpId="0"/>
      <p:bldP spid="24" grpId="1"/>
      <p:bldP spid="24" grpId="2"/>
      <p:bldP spid="24" grpId="3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xmlns="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학습하기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2056" y="1510186"/>
            <a:ext cx="11028475" cy="29084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정의의 </a:t>
            </a:r>
            <a:r>
              <a:rPr lang="ko-KR" altLang="en-US" sz="2500" b="1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의미 </a:t>
            </a:r>
            <a:endParaRPr lang="en-US" altLang="ko-KR" sz="2500" b="1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algn="just">
              <a:lnSpc>
                <a:spcPct val="150000"/>
              </a:lnSpc>
            </a:pPr>
            <a:r>
              <a:rPr lang="ko-KR" altLang="en-US" sz="2400" dirty="0">
                <a:latin typeface="+mn-ea"/>
              </a:rPr>
              <a:t>사람과 사람 사이에 지켜야 할 </a:t>
            </a:r>
            <a:r>
              <a:rPr lang="ko-KR" altLang="en-US" sz="2400" dirty="0" smtClean="0">
                <a:latin typeface="+mn-ea"/>
              </a:rPr>
              <a:t>도리이자 </a:t>
            </a:r>
            <a:r>
              <a:rPr lang="ko-KR" altLang="en-US" sz="2400" dirty="0">
                <a:latin typeface="+mn-ea"/>
              </a:rPr>
              <a:t>사회를 구성하고 유지하는 공정한 </a:t>
            </a:r>
            <a:r>
              <a:rPr lang="ko-KR" altLang="en-US" sz="2400" dirty="0" smtClean="0">
                <a:latin typeface="+mn-ea"/>
              </a:rPr>
              <a:t>도리</a:t>
            </a:r>
            <a:endParaRPr lang="en-US" altLang="ko-KR" sz="2400" dirty="0" smtClean="0">
              <a:latin typeface="+mn-ea"/>
            </a:endParaRPr>
          </a:p>
          <a:p>
            <a:pPr algn="just">
              <a:lnSpc>
                <a:spcPct val="150000"/>
              </a:lnSpc>
            </a:pPr>
            <a:endParaRPr lang="en-US" altLang="ko-KR" sz="2400" b="1" dirty="0" smtClean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정의의 </a:t>
            </a:r>
            <a:r>
              <a:rPr lang="ko-KR" altLang="en-US" sz="2500" b="1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역할</a:t>
            </a:r>
            <a:endParaRPr lang="en-US" altLang="ko-KR" sz="2500" b="1" dirty="0" smtClean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algn="dist">
              <a:lnSpc>
                <a:spcPct val="150000"/>
              </a:lnSpc>
            </a:pPr>
            <a:r>
              <a:rPr lang="ko-KR" altLang="en-US" sz="2400" spc="-150" dirty="0">
                <a:latin typeface="+mn-ea"/>
              </a:rPr>
              <a:t>각자에게 정당한 몫을 나누어 </a:t>
            </a:r>
            <a:r>
              <a:rPr lang="ko-KR" altLang="en-US" sz="2400" spc="-150" dirty="0" smtClean="0">
                <a:latin typeface="+mn-ea"/>
              </a:rPr>
              <a:t>줌으로써 </a:t>
            </a:r>
            <a:r>
              <a:rPr lang="ko-KR" altLang="en-US" sz="2400" spc="-150" dirty="0">
                <a:latin typeface="+mn-ea"/>
              </a:rPr>
              <a:t>사회를 공정하게 구성하고 유지할 수 있음</a:t>
            </a:r>
            <a:r>
              <a:rPr lang="en-US" altLang="ko-KR" sz="2400" dirty="0">
                <a:latin typeface="+mn-ea"/>
              </a:rPr>
              <a:t>.</a:t>
            </a:r>
            <a:endParaRPr lang="en-US" altLang="ko-KR" sz="2400" dirty="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xmlns="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정의의 의미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138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>
                <a:latin typeface="+mj-ea"/>
                <a:ea typeface="+mj-ea"/>
              </a:rPr>
              <a:t>정의가 실현되는 사회는 어떤 모습일까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사회〮공동체와의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정의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8454817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래픽 2">
            <a:extLst>
              <a:ext uri="{FF2B5EF4-FFF2-40B4-BE49-F238E27FC236}">
                <a16:creationId xmlns:a16="http://schemas.microsoft.com/office/drawing/2014/main" xmlns="" id="{F7FC7077-6FC2-8E57-EAED-0BADF0605DE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mtClean="0">
                <a:solidFill>
                  <a:schemeClr val="bg1"/>
                </a:solidFill>
                <a:latin typeface="+mj-ea"/>
                <a:ea typeface="+mj-ea"/>
              </a:rPr>
              <a:t>읽어 보기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138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661580" y="732169"/>
            <a:ext cx="91262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2000" b="1" dirty="0" smtClean="0">
                <a:latin typeface="+mj-ea"/>
                <a:ea typeface="+mj-ea"/>
              </a:rPr>
              <a:t>다음 만화를 살펴보자</a:t>
            </a:r>
            <a:r>
              <a:rPr lang="en-US" altLang="ko-KR" sz="2000" b="1" dirty="0" smtClean="0">
                <a:latin typeface="+mj-ea"/>
                <a:ea typeface="+mj-ea"/>
              </a:rPr>
              <a:t>.</a:t>
            </a:r>
            <a:endParaRPr lang="ko-KR" altLang="en-US" sz="2000" b="1" dirty="0">
              <a:latin typeface="+mj-ea"/>
              <a:ea typeface="+mj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>
                <a:latin typeface="+mj-ea"/>
                <a:ea typeface="+mj-ea"/>
              </a:rPr>
              <a:t>정의가 실현되는 사회는 어떤 모습일까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사회〮공동체와의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정의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59877" y="2394578"/>
            <a:ext cx="8606474" cy="3900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80439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xmlns="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 smtClean="0">
                <a:solidFill>
                  <a:srgbClr val="FFFF00"/>
                </a:solidFill>
                <a:latin typeface="+mj-ea"/>
                <a:ea typeface="+mj-ea"/>
              </a:rPr>
              <a:t>자료</a:t>
            </a:r>
            <a:r>
              <a:rPr lang="en-US" altLang="ko-KR" sz="2400" b="1" dirty="0" smtClean="0">
                <a:solidFill>
                  <a:srgbClr val="FFFF00"/>
                </a:solidFill>
                <a:latin typeface="+mj-ea"/>
                <a:ea typeface="+mj-ea"/>
              </a:rPr>
              <a:t>+</a:t>
            </a:r>
            <a:endParaRPr lang="ko-KR" altLang="en-US" sz="2400" b="1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xmlns="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138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22729" y="1223040"/>
            <a:ext cx="11499925" cy="6381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800" b="1" dirty="0">
                <a:ln>
                  <a:solidFill>
                    <a:schemeClr val="tx1"/>
                  </a:solidFill>
                </a:ln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굴림" panose="020B0600000101010101" pitchFamily="50" charset="-127"/>
                <a:ea typeface="굴림" panose="020B0600000101010101" pitchFamily="50" charset="-127"/>
              </a:rPr>
              <a:t>정의의 여신상이 상징하는 의미</a:t>
            </a:r>
            <a:endParaRPr lang="en-US" altLang="ko-KR" sz="2800" b="1" dirty="0">
              <a:ln>
                <a:solidFill>
                  <a:schemeClr val="tx1"/>
                </a:solidFill>
              </a:ln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474984" y="1947521"/>
            <a:ext cx="11347669" cy="3647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  그리스 신화에 나오는 정의의 여신 </a:t>
            </a:r>
            <a:r>
              <a:rPr lang="ko-KR" altLang="en-US" sz="2200" spc="-150" dirty="0" err="1">
                <a:latin typeface="굴림" panose="020B0600000101010101" pitchFamily="50" charset="-127"/>
                <a:ea typeface="굴림" panose="020B0600000101010101" pitchFamily="50" charset="-127"/>
              </a:rPr>
              <a:t>디케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(Dike)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는 로마 시대에 ‘</a:t>
            </a:r>
            <a:r>
              <a:rPr lang="ko-KR" altLang="en-US" sz="2200" spc="-150" dirty="0" err="1">
                <a:latin typeface="굴림" panose="020B0600000101010101" pitchFamily="50" charset="-127"/>
                <a:ea typeface="굴림" panose="020B0600000101010101" pitchFamily="50" charset="-127"/>
              </a:rPr>
              <a:t>유스티티아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(Justitia)’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라고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불렸다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이로부터 오늘날 정의를 의미하는 영어 단어인 ‘</a:t>
            </a:r>
            <a:r>
              <a:rPr lang="ko-KR" altLang="en-US" sz="2200" spc="-150" dirty="0" err="1">
                <a:latin typeface="굴림" panose="020B0600000101010101" pitchFamily="50" charset="-127"/>
                <a:ea typeface="굴림" panose="020B0600000101010101" pitchFamily="50" charset="-127"/>
              </a:rPr>
              <a:t>저스티스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(Justice)’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가 생겨났다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세계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각국에서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볼 수 있는 정의의 여신상은 정의를 지키고 보호하는 이 여신의 모습을 형상화한 것으로</a:t>
            </a:r>
            <a:r>
              <a:rPr lang="en-US" altLang="ko-KR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대개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한 손에는 저울을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다른 한 손에는 칼을 쥐고 있다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저울은 엄격하고 바른 정의의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기준을 의미하고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칼은 그러한 기준에 근거한 판정에 따라 정의를 실현하려면 힘이 있어야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한다는 것을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뜻한다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또한 정의의 여신상의 눈은 대개 감고 있거나 천으로 가려져 있는데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이는 정의를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실현하려면 어느 쪽에도 기울지 않는 공평한 자세를 지녀야 함을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의미한다</a:t>
            </a:r>
            <a:r>
              <a:rPr lang="en-US" altLang="ko-KR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.           </a:t>
            </a:r>
            <a:r>
              <a:rPr lang="en-US" altLang="ko-KR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- </a:t>
            </a:r>
            <a:r>
              <a:rPr lang="en-US" altLang="ko-KR" spc="-150" dirty="0">
                <a:latin typeface="굴림" panose="020B0600000101010101" pitchFamily="50" charset="-127"/>
                <a:ea typeface="굴림" panose="020B0600000101010101" pitchFamily="50" charset="-127"/>
              </a:rPr>
              <a:t>《</a:t>
            </a:r>
            <a:r>
              <a:rPr lang="ko-KR" altLang="en-US" spc="-150" dirty="0">
                <a:latin typeface="굴림" panose="020B0600000101010101" pitchFamily="50" charset="-127"/>
                <a:ea typeface="굴림" panose="020B0600000101010101" pitchFamily="50" charset="-127"/>
              </a:rPr>
              <a:t>법률신문</a:t>
            </a:r>
            <a:r>
              <a:rPr lang="en-US" altLang="ko-KR" spc="-150" dirty="0">
                <a:latin typeface="굴림" panose="020B0600000101010101" pitchFamily="50" charset="-127"/>
                <a:ea typeface="굴림" panose="020B0600000101010101" pitchFamily="50" charset="-127"/>
              </a:rPr>
              <a:t>》, 2020. 11. </a:t>
            </a:r>
            <a:r>
              <a:rPr lang="en-US" altLang="ko-KR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19.</a:t>
            </a:r>
            <a:endParaRPr lang="en-US" altLang="ko-KR" spc="-15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>
                <a:latin typeface="+mj-ea"/>
                <a:ea typeface="+mj-ea"/>
              </a:rPr>
              <a:t>정의가 실현되는 사회는 어떤 모습일까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정의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사회〮공동체와의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</p:spTree>
    <p:extLst>
      <p:ext uri="{BB962C8B-B14F-4D97-AF65-F5344CB8AC3E}">
        <p14:creationId xmlns:p14="http://schemas.microsoft.com/office/powerpoint/2010/main" val="470335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2840018" y="1956028"/>
            <a:ext cx="8601887" cy="46628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  영국의 산업 혁명 시대에 태어나 고아로 자란 </a:t>
            </a:r>
            <a:r>
              <a:rPr lang="ko-KR" altLang="en-US" sz="2200" spc="-150" dirty="0" err="1">
                <a:latin typeface="굴림" panose="020B0600000101010101" pitchFamily="50" charset="-127"/>
                <a:ea typeface="굴림" panose="020B0600000101010101" pitchFamily="50" charset="-127"/>
              </a:rPr>
              <a:t>올리버는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 빈민 </a:t>
            </a:r>
            <a:r>
              <a:rPr lang="ko-KR" altLang="en-US" sz="2200" spc="-150" dirty="0" err="1">
                <a:latin typeface="굴림" panose="020B0600000101010101" pitchFamily="50" charset="-127"/>
                <a:ea typeface="굴림" panose="020B0600000101010101" pitchFamily="50" charset="-127"/>
              </a:rPr>
              <a:t>구제소에서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 생활하며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어린아이인데도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학교에 가지 못하고 고된 노동을 해야만 하였다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어느 날 </a:t>
            </a:r>
            <a:r>
              <a:rPr lang="ko-KR" altLang="en-US" sz="2200" spc="-150" dirty="0" err="1">
                <a:latin typeface="굴림" panose="020B0600000101010101" pitchFamily="50" charset="-127"/>
                <a:ea typeface="굴림" panose="020B0600000101010101" pitchFamily="50" charset="-127"/>
              </a:rPr>
              <a:t>올리버와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 함께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빈민 </a:t>
            </a:r>
            <a:r>
              <a:rPr lang="ko-KR" altLang="en-US" sz="2200" spc="-150" dirty="0" err="1">
                <a:latin typeface="굴림" panose="020B0600000101010101" pitchFamily="50" charset="-127"/>
                <a:ea typeface="굴림" panose="020B0600000101010101" pitchFamily="50" charset="-127"/>
              </a:rPr>
              <a:t>구제소에서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 지내던 소년들은 형편없는 식사량 때문에 </a:t>
            </a:r>
            <a:r>
              <a:rPr lang="ko-KR" altLang="en-US" sz="2200" spc="-150" dirty="0" err="1">
                <a:latin typeface="굴림" panose="020B0600000101010101" pitchFamily="50" charset="-127"/>
                <a:ea typeface="굴림" panose="020B0600000101010101" pitchFamily="50" charset="-127"/>
              </a:rPr>
              <a:t>제비뽑기를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 하여 음식을 더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달라고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청하기로 했고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그 결과 </a:t>
            </a:r>
            <a:r>
              <a:rPr lang="ko-KR" altLang="en-US" sz="2200" spc="-150" dirty="0" err="1">
                <a:latin typeface="굴림" panose="020B0600000101010101" pitchFamily="50" charset="-127"/>
                <a:ea typeface="굴림" panose="020B0600000101010101" pitchFamily="50" charset="-127"/>
              </a:rPr>
              <a:t>올리버가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 뽑혔다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그는 관리자에게 “죽을 조금만 더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주세요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.”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라고 말했다가 매를 맞고 다락방에 갇힌다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이 사건으로 관리자들의 미움을 산 </a:t>
            </a:r>
            <a:r>
              <a:rPr lang="ko-KR" altLang="en-US" sz="2200" spc="-150" dirty="0" err="1" smtClean="0">
                <a:latin typeface="굴림" panose="020B0600000101010101" pitchFamily="50" charset="-127"/>
                <a:ea typeface="굴림" panose="020B0600000101010101" pitchFamily="50" charset="-127"/>
              </a:rPr>
              <a:t>올리버는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다른 집으로 팔려 가고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그곳에서도 학대를 당하자 혼자 런던으로 도망친다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하지만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런던에서 아이들에게 범죄를 지시하여 돈을 버는 악당을 만나 더 큰 위기에 처한다</a:t>
            </a:r>
            <a:r>
              <a:rPr lang="en-US" altLang="ko-KR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.                                    </a:t>
            </a:r>
            <a:r>
              <a:rPr lang="en-US" altLang="ko-KR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- </a:t>
            </a:r>
            <a:r>
              <a:rPr lang="ko-KR" altLang="en-US" spc="-150" dirty="0" err="1">
                <a:latin typeface="굴림" panose="020B0600000101010101" pitchFamily="50" charset="-127"/>
                <a:ea typeface="굴림" panose="020B0600000101010101" pitchFamily="50" charset="-127"/>
              </a:rPr>
              <a:t>찰스</a:t>
            </a:r>
            <a:r>
              <a:rPr lang="ko-KR" altLang="en-US" spc="-150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ko-KR" altLang="en-US" spc="-150" dirty="0" err="1">
                <a:latin typeface="굴림" panose="020B0600000101010101" pitchFamily="50" charset="-127"/>
                <a:ea typeface="굴림" panose="020B0600000101010101" pitchFamily="50" charset="-127"/>
              </a:rPr>
              <a:t>디킨스</a:t>
            </a:r>
            <a:r>
              <a:rPr lang="en-US" altLang="ko-KR" spc="-150" dirty="0">
                <a:latin typeface="굴림" panose="020B0600000101010101" pitchFamily="50" charset="-127"/>
                <a:ea typeface="굴림" panose="020B0600000101010101" pitchFamily="50" charset="-127"/>
              </a:rPr>
              <a:t>, 《</a:t>
            </a:r>
            <a:r>
              <a:rPr lang="ko-KR" altLang="en-US" spc="-150" dirty="0" err="1">
                <a:latin typeface="굴림" panose="020B0600000101010101" pitchFamily="50" charset="-127"/>
                <a:ea typeface="굴림" panose="020B0600000101010101" pitchFamily="50" charset="-127"/>
              </a:rPr>
              <a:t>올리버</a:t>
            </a:r>
            <a:r>
              <a:rPr lang="ko-KR" altLang="en-US" spc="-150" dirty="0">
                <a:latin typeface="굴림" panose="020B0600000101010101" pitchFamily="50" charset="-127"/>
                <a:ea typeface="굴림" panose="020B0600000101010101" pitchFamily="50" charset="-127"/>
              </a:rPr>
              <a:t> 트위스트</a:t>
            </a:r>
            <a:r>
              <a:rPr lang="en-US" altLang="ko-KR" spc="-150" dirty="0">
                <a:latin typeface="굴림" panose="020B0600000101010101" pitchFamily="50" charset="-127"/>
                <a:ea typeface="굴림" panose="020B0600000101010101" pitchFamily="50" charset="-127"/>
              </a:rPr>
              <a:t>》</a:t>
            </a:r>
            <a:endParaRPr lang="en-US" altLang="ko-KR" spc="-150" dirty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pic>
        <p:nvPicPr>
          <p:cNvPr id="3" name="그래픽 2">
            <a:extLst>
              <a:ext uri="{FF2B5EF4-FFF2-40B4-BE49-F238E27FC236}">
                <a16:creationId xmlns:a16="http://schemas.microsoft.com/office/drawing/2014/main" xmlns="" id="{F7FC7077-6FC2-8E57-EAED-0BADF0605DE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탐구하기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139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xmlns="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rgbClr val="FFFF00"/>
                </a:solidFill>
                <a:latin typeface="+mj-ea"/>
                <a:ea typeface="+mj-ea"/>
              </a:rPr>
              <a:t>제시문</a:t>
            </a:r>
            <a:endParaRPr lang="ko-KR" altLang="en-US" sz="1600" b="1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xmlns="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C768E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>
                <a:latin typeface="+mj-ea"/>
                <a:ea typeface="+mj-ea"/>
              </a:rPr>
              <a:t>정의가 실현되는 사회는 어떤 모습일까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사회〮공동체와의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정의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8480" y="1719384"/>
            <a:ext cx="2304270" cy="4995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9369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래픽 2">
            <a:extLst>
              <a:ext uri="{FF2B5EF4-FFF2-40B4-BE49-F238E27FC236}">
                <a16:creationId xmlns:a16="http://schemas.microsoft.com/office/drawing/2014/main" xmlns="" id="{F695BB44-4BBC-7E52-5610-8BC39FA9714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xmlns="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탐구하기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xmlns="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제시문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xmlns="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7400" y="1613182"/>
            <a:ext cx="10239105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000" b="1" dirty="0"/>
              <a:t>윗글의 </a:t>
            </a:r>
            <a:r>
              <a:rPr lang="ko-KR" altLang="en-US" sz="2000" b="1" dirty="0" err="1"/>
              <a:t>올리버는</a:t>
            </a:r>
            <a:r>
              <a:rPr lang="ko-KR" altLang="en-US" sz="2000" b="1" dirty="0"/>
              <a:t> 어떤 어려움을 겪었는지 써 보자</a:t>
            </a:r>
            <a:r>
              <a:rPr lang="en-US" altLang="ko-KR" sz="2000" b="1" dirty="0"/>
              <a:t>.</a:t>
            </a:r>
            <a:endParaRPr lang="ko-KR" altLang="en-US" sz="2000" b="1" dirty="0"/>
          </a:p>
        </p:txBody>
      </p:sp>
      <p:pic>
        <p:nvPicPr>
          <p:cNvPr id="36" name="그림 35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xmlns="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787" y="1680238"/>
            <a:ext cx="487174" cy="487174"/>
          </a:xfrm>
          <a:prstGeom prst="rect">
            <a:avLst/>
          </a:prstGeom>
        </p:spPr>
      </p:pic>
      <p:grpSp>
        <p:nvGrpSpPr>
          <p:cNvPr id="37" name="그룹 36">
            <a:extLst>
              <a:ext uri="{FF2B5EF4-FFF2-40B4-BE49-F238E27FC236}">
                <a16:creationId xmlns:a16="http://schemas.microsoft.com/office/drawing/2014/main" xmlns="" id="{BD8F7919-81BA-4F6C-659C-1ECE98A49C77}"/>
              </a:ext>
            </a:extLst>
          </p:cNvPr>
          <p:cNvGrpSpPr/>
          <p:nvPr/>
        </p:nvGrpSpPr>
        <p:grpSpPr>
          <a:xfrm>
            <a:off x="9434311" y="1680238"/>
            <a:ext cx="1087577" cy="495431"/>
            <a:chOff x="10075659" y="2003022"/>
            <a:chExt cx="1156006" cy="495431"/>
          </a:xfrm>
        </p:grpSpPr>
        <p:pic>
          <p:nvPicPr>
            <p:cNvPr id="38" name="그림 37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xmlns="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xmlns="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40" name="사각형: 둥근 모서리 29">
            <a:extLst>
              <a:ext uri="{FF2B5EF4-FFF2-40B4-BE49-F238E27FC236}">
                <a16:creationId xmlns:a16="http://schemas.microsoft.com/office/drawing/2014/main" xmlns="" id="{C631BC03-B762-9123-7FD1-0A60290B94EB}"/>
              </a:ext>
            </a:extLst>
          </p:cNvPr>
          <p:cNvSpPr/>
          <p:nvPr/>
        </p:nvSpPr>
        <p:spPr>
          <a:xfrm>
            <a:off x="787400" y="2418919"/>
            <a:ext cx="10293350" cy="2473512"/>
          </a:xfrm>
          <a:prstGeom prst="roundRect">
            <a:avLst>
              <a:gd name="adj" fmla="val 8608"/>
            </a:avLst>
          </a:prstGeom>
          <a:solidFill>
            <a:srgbClr val="FFF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065588" y="2439788"/>
            <a:ext cx="978414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 err="1">
                <a:solidFill>
                  <a:srgbClr val="0070C0"/>
                </a:solidFill>
                <a:latin typeface="Arial Rounded MT Bold" panose="020F0704030504030204" pitchFamily="34" charset="0"/>
              </a:rPr>
              <a:t>올리버는</a:t>
            </a: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 어린아이임에도 교육받을 권리를 </a:t>
            </a:r>
            <a:r>
              <a:rPr lang="ko-KR" altLang="en-US" sz="2400" dirty="0" smtClean="0">
                <a:solidFill>
                  <a:srgbClr val="0070C0"/>
                </a:solidFill>
                <a:latin typeface="Arial Rounded MT Bold" panose="020F0704030504030204" pitchFamily="34" charset="0"/>
              </a:rPr>
              <a:t>누리지 못했고</a:t>
            </a:r>
            <a:r>
              <a:rPr lang="en-US" altLang="ko-KR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, </a:t>
            </a: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고된 노동을 하면서도 제대로 된 식사를 </a:t>
            </a:r>
            <a:r>
              <a:rPr lang="ko-KR" altLang="en-US" sz="2400" dirty="0" smtClean="0">
                <a:solidFill>
                  <a:srgbClr val="0070C0"/>
                </a:solidFill>
                <a:latin typeface="Arial Rounded MT Bold" panose="020F0704030504030204" pitchFamily="34" charset="0"/>
              </a:rPr>
              <a:t>할 수도 </a:t>
            </a: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없었다</a:t>
            </a:r>
            <a:r>
              <a:rPr lang="en-US" altLang="ko-KR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. </a:t>
            </a: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또한 부당한 이유로 매를 맞는 등 </a:t>
            </a:r>
            <a:r>
              <a:rPr lang="ko-KR" altLang="en-US" sz="2400" dirty="0" smtClean="0">
                <a:solidFill>
                  <a:srgbClr val="0070C0"/>
                </a:solidFill>
                <a:latin typeface="Arial Rounded MT Bold" panose="020F0704030504030204" pitchFamily="34" charset="0"/>
              </a:rPr>
              <a:t>비인간적인 </a:t>
            </a: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대우를 받았고</a:t>
            </a:r>
            <a:r>
              <a:rPr lang="en-US" altLang="ko-KR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, </a:t>
            </a: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억울한 일을 당해도 </a:t>
            </a:r>
            <a:r>
              <a:rPr lang="ko-KR" altLang="en-US" sz="2400" dirty="0" smtClean="0">
                <a:solidFill>
                  <a:srgbClr val="0070C0"/>
                </a:solidFill>
                <a:latin typeface="Arial Rounded MT Bold" panose="020F0704030504030204" pitchFamily="34" charset="0"/>
              </a:rPr>
              <a:t>도움을 청할 </a:t>
            </a: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곳이 없었다</a:t>
            </a:r>
            <a:r>
              <a:rPr lang="en-US" altLang="ko-KR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.</a:t>
            </a:r>
            <a:endParaRPr lang="ko-KR" altLang="en-US" sz="2400" dirty="0">
              <a:solidFill>
                <a:srgbClr val="0070C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xmlns="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xmlns="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139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>
                <a:latin typeface="+mj-ea"/>
                <a:ea typeface="+mj-ea"/>
              </a:rPr>
              <a:t>정의가 실현되는 사회는 어떤 모습일까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사회〮공동체와의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정의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731241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xit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</p:childTnLst>
        </p:cTn>
      </p:par>
    </p:tnLst>
    <p:bldLst>
      <p:bldP spid="41" grpId="0"/>
      <p:bldP spid="41" grpId="1"/>
      <p:bldP spid="41" grpId="2"/>
      <p:bldP spid="41" grpId="3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xmlns="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학습하기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2056" y="1510186"/>
            <a:ext cx="11028475" cy="45704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인간다운 삶을 보장받기 위해</a:t>
            </a:r>
            <a:endParaRPr lang="en-US" altLang="ko-KR" sz="2500" b="1" dirty="0" smtClean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algn="just">
              <a:lnSpc>
                <a:spcPct val="150000"/>
              </a:lnSpc>
            </a:pPr>
            <a:r>
              <a:rPr lang="ko-KR" altLang="en-US" sz="2400" dirty="0" smtClean="0">
                <a:latin typeface="+mn-ea"/>
              </a:rPr>
              <a:t>정의롭지 않은 </a:t>
            </a:r>
            <a:r>
              <a:rPr lang="ko-KR" altLang="en-US" sz="2400" dirty="0">
                <a:latin typeface="+mn-ea"/>
              </a:rPr>
              <a:t>사회에서는 구성원들이 인간답게 살지 못하는 경우가 </a:t>
            </a:r>
            <a:r>
              <a:rPr lang="ko-KR" altLang="en-US" sz="2400" dirty="0" smtClean="0">
                <a:latin typeface="+mn-ea"/>
              </a:rPr>
              <a:t>생기므로 모두가 </a:t>
            </a:r>
            <a:r>
              <a:rPr lang="ko-KR" altLang="en-US" sz="2400" dirty="0">
                <a:latin typeface="+mn-ea"/>
              </a:rPr>
              <a:t>인간다운 삶을 보장받기 위해 정의로운 사회가 </a:t>
            </a:r>
            <a:r>
              <a:rPr lang="ko-KR" altLang="en-US" sz="2400" dirty="0" smtClean="0">
                <a:latin typeface="+mn-ea"/>
              </a:rPr>
              <a:t>필요함</a:t>
            </a:r>
            <a:r>
              <a:rPr lang="en-US" altLang="ko-KR" sz="2400" dirty="0" smtClean="0">
                <a:latin typeface="+mn-ea"/>
              </a:rPr>
              <a:t>.</a:t>
            </a:r>
          </a:p>
          <a:p>
            <a:pPr algn="just">
              <a:lnSpc>
                <a:spcPct val="150000"/>
              </a:lnSpc>
            </a:pPr>
            <a:endParaRPr lang="en-US" altLang="ko-KR" sz="2400" b="1" dirty="0" smtClean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신뢰하고 협력하는 공동체를 만들기 위해</a:t>
            </a:r>
            <a:endParaRPr lang="en-US" altLang="ko-KR" sz="2500" b="1" dirty="0" smtClean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algn="just">
              <a:lnSpc>
                <a:spcPct val="150000"/>
              </a:lnSpc>
            </a:pPr>
            <a:r>
              <a:rPr lang="ko-KR" altLang="en-US" sz="2400" dirty="0" smtClean="0">
                <a:latin typeface="+mn-ea"/>
              </a:rPr>
              <a:t>정의롭지 않은 사회에서는 </a:t>
            </a:r>
            <a:r>
              <a:rPr lang="ko-KR" altLang="en-US" sz="2400" dirty="0">
                <a:latin typeface="+mn-ea"/>
              </a:rPr>
              <a:t>구성원들이 </a:t>
            </a:r>
            <a:r>
              <a:rPr lang="ko-KR" altLang="en-US" sz="2400" dirty="0" smtClean="0">
                <a:latin typeface="+mn-ea"/>
              </a:rPr>
              <a:t>서로 </a:t>
            </a:r>
            <a:r>
              <a:rPr lang="ko-KR" altLang="en-US" sz="2400" dirty="0">
                <a:latin typeface="+mn-ea"/>
              </a:rPr>
              <a:t>신뢰하지 못하여 공동의 문제를 해결하기 위해 협력하기 </a:t>
            </a:r>
            <a:r>
              <a:rPr lang="ko-KR" altLang="en-US" sz="2400" dirty="0" smtClean="0">
                <a:latin typeface="+mn-ea"/>
              </a:rPr>
              <a:t>어려우므로 개인의 행복과 사회의 발전을 위해 </a:t>
            </a:r>
            <a:r>
              <a:rPr lang="ko-KR" altLang="en-US" sz="2400" dirty="0">
                <a:latin typeface="+mn-ea"/>
              </a:rPr>
              <a:t>정의로운 사회를 </a:t>
            </a:r>
            <a:r>
              <a:rPr lang="ko-KR" altLang="en-US" sz="2400" dirty="0" smtClean="0">
                <a:latin typeface="+mn-ea"/>
              </a:rPr>
              <a:t>추구해야 함</a:t>
            </a:r>
            <a:r>
              <a:rPr lang="en-US" altLang="ko-KR" sz="2400" dirty="0" smtClean="0">
                <a:latin typeface="+mn-ea"/>
              </a:rPr>
              <a:t>. </a:t>
            </a:r>
            <a:endParaRPr lang="en-US" altLang="ko-KR" sz="2400" dirty="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xmlns="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정의로운 사회의 필요성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139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>
                <a:latin typeface="+mj-ea"/>
                <a:ea typeface="+mj-ea"/>
              </a:rPr>
              <a:t>정의가 실현되는 사회는 어떤 모습일까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사회〮공동체와의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정의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0432797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래픽 2">
            <a:extLst>
              <a:ext uri="{FF2B5EF4-FFF2-40B4-BE49-F238E27FC236}">
                <a16:creationId xmlns:a16="http://schemas.microsoft.com/office/drawing/2014/main" xmlns="" id="{F7FC7077-6FC2-8E57-EAED-0BADF0605DE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생각하기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140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xmlns="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rgbClr val="FFFF00"/>
                </a:solidFill>
                <a:latin typeface="+mj-ea"/>
                <a:ea typeface="+mj-ea"/>
              </a:rPr>
              <a:t>만화</a:t>
            </a:r>
            <a:endParaRPr lang="ko-KR" altLang="en-US" sz="1600" b="1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xmlns="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C768E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>
                <a:latin typeface="+mj-ea"/>
                <a:ea typeface="+mj-ea"/>
              </a:rPr>
              <a:t>정의가 실현되는 사회는 어떤 모습일까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사회〮공동체와의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정의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8301" y="1532197"/>
            <a:ext cx="10550106" cy="4574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13254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래픽 2">
            <a:extLst>
              <a:ext uri="{FF2B5EF4-FFF2-40B4-BE49-F238E27FC236}">
                <a16:creationId xmlns:a16="http://schemas.microsoft.com/office/drawing/2014/main" xmlns="" id="{F695BB44-4BBC-7E52-5610-8BC39FA9714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xmlns="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생각하기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xmlns="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만화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xmlns="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7400" y="1613182"/>
            <a:ext cx="10239105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000" b="1" dirty="0"/>
              <a:t>위와 같은 사회를 정의로운 사회라고 할 수 없는 까닭을 써 보자</a:t>
            </a:r>
            <a:r>
              <a:rPr lang="en-US" altLang="ko-KR" sz="2000" b="1" dirty="0"/>
              <a:t>.</a:t>
            </a:r>
            <a:endParaRPr lang="ko-KR" altLang="en-US" sz="2000" b="1" dirty="0"/>
          </a:p>
        </p:txBody>
      </p:sp>
      <p:pic>
        <p:nvPicPr>
          <p:cNvPr id="36" name="그림 35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xmlns="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787" y="1680238"/>
            <a:ext cx="487174" cy="487174"/>
          </a:xfrm>
          <a:prstGeom prst="rect">
            <a:avLst/>
          </a:prstGeom>
        </p:spPr>
      </p:pic>
      <p:grpSp>
        <p:nvGrpSpPr>
          <p:cNvPr id="37" name="그룹 36">
            <a:extLst>
              <a:ext uri="{FF2B5EF4-FFF2-40B4-BE49-F238E27FC236}">
                <a16:creationId xmlns:a16="http://schemas.microsoft.com/office/drawing/2014/main" xmlns="" id="{BD8F7919-81BA-4F6C-659C-1ECE98A49C77}"/>
              </a:ext>
            </a:extLst>
          </p:cNvPr>
          <p:cNvGrpSpPr/>
          <p:nvPr/>
        </p:nvGrpSpPr>
        <p:grpSpPr>
          <a:xfrm>
            <a:off x="9434311" y="1680238"/>
            <a:ext cx="1087577" cy="495431"/>
            <a:chOff x="10075659" y="2003022"/>
            <a:chExt cx="1156006" cy="495431"/>
          </a:xfrm>
        </p:grpSpPr>
        <p:pic>
          <p:nvPicPr>
            <p:cNvPr id="38" name="그림 37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xmlns="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xmlns="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40" name="사각형: 둥근 모서리 29">
            <a:extLst>
              <a:ext uri="{FF2B5EF4-FFF2-40B4-BE49-F238E27FC236}">
                <a16:creationId xmlns:a16="http://schemas.microsoft.com/office/drawing/2014/main" xmlns="" id="{C631BC03-B762-9123-7FD1-0A60290B94EB}"/>
              </a:ext>
            </a:extLst>
          </p:cNvPr>
          <p:cNvSpPr/>
          <p:nvPr/>
        </p:nvSpPr>
        <p:spPr>
          <a:xfrm>
            <a:off x="787400" y="2418919"/>
            <a:ext cx="10293350" cy="2883191"/>
          </a:xfrm>
          <a:prstGeom prst="roundRect">
            <a:avLst>
              <a:gd name="adj" fmla="val 8608"/>
            </a:avLst>
          </a:prstGeom>
          <a:solidFill>
            <a:srgbClr val="FFF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065588" y="2439788"/>
            <a:ext cx="978414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정의로운 사회는 불리한 조건에 있는 사람들을 </a:t>
            </a:r>
            <a:r>
              <a:rPr lang="ko-KR" altLang="en-US" sz="2400" dirty="0" smtClean="0">
                <a:solidFill>
                  <a:srgbClr val="0070C0"/>
                </a:solidFill>
                <a:latin typeface="Arial Rounded MT Bold" panose="020F0704030504030204" pitchFamily="34" charset="0"/>
              </a:rPr>
              <a:t>배려하여 </a:t>
            </a: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모두가 인간답게 살 수 있도록 혜택이나 </a:t>
            </a:r>
            <a:r>
              <a:rPr lang="ko-KR" altLang="en-US" sz="2400" dirty="0" smtClean="0">
                <a:solidFill>
                  <a:srgbClr val="0070C0"/>
                </a:solidFill>
                <a:latin typeface="Arial Rounded MT Bold" panose="020F0704030504030204" pitchFamily="34" charset="0"/>
              </a:rPr>
              <a:t>부담을 </a:t>
            </a: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공정하게 분배하는 사회이다</a:t>
            </a:r>
            <a:r>
              <a:rPr lang="en-US" altLang="ko-KR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. </a:t>
            </a: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그림에 제시된 </a:t>
            </a:r>
            <a:r>
              <a:rPr lang="ko-KR" altLang="en-US" sz="2400" dirty="0" smtClean="0">
                <a:solidFill>
                  <a:srgbClr val="0070C0"/>
                </a:solidFill>
                <a:latin typeface="Arial Rounded MT Bold" panose="020F0704030504030204" pitchFamily="34" charset="0"/>
              </a:rPr>
              <a:t>것처럼 </a:t>
            </a: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성별이나 장애를 이유로 차별하는 사회는 모든 </a:t>
            </a:r>
            <a:r>
              <a:rPr lang="ko-KR" altLang="en-US" sz="2400" dirty="0" smtClean="0">
                <a:solidFill>
                  <a:srgbClr val="0070C0"/>
                </a:solidFill>
                <a:latin typeface="Arial Rounded MT Bold" panose="020F0704030504030204" pitchFamily="34" charset="0"/>
              </a:rPr>
              <a:t>사회 </a:t>
            </a: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구성원이 최소한의 인간다운 삶을 살기 </a:t>
            </a:r>
            <a:r>
              <a:rPr lang="ko-KR" altLang="en-US" sz="2400" dirty="0" smtClean="0">
                <a:solidFill>
                  <a:srgbClr val="0070C0"/>
                </a:solidFill>
                <a:latin typeface="Arial Rounded MT Bold" panose="020F0704030504030204" pitchFamily="34" charset="0"/>
              </a:rPr>
              <a:t>어려우므로 </a:t>
            </a: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정의로운 사회라고 할 수 없다</a:t>
            </a:r>
            <a:r>
              <a:rPr lang="en-US" altLang="ko-KR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.</a:t>
            </a:r>
            <a:endParaRPr lang="ko-KR" altLang="en-US" sz="2400" dirty="0">
              <a:solidFill>
                <a:srgbClr val="0070C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xmlns="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xmlns="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140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>
                <a:latin typeface="+mj-ea"/>
                <a:ea typeface="+mj-ea"/>
              </a:rPr>
              <a:t>정의가 실현되는 사회는 어떤 모습일까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사회〮공동체와의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정의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64825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</p:childTnLst>
        </p:cTn>
      </p:par>
    </p:tnLst>
    <p:bldLst>
      <p:bldP spid="41" grpId="0"/>
      <p:bldP spid="41" grpId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xmlns="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학습하기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2056" y="1510186"/>
            <a:ext cx="11028475" cy="4824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기본적 권리를 동등하게 보장하는 </a:t>
            </a:r>
            <a:r>
              <a:rPr lang="ko-KR" altLang="en-US" sz="2500" b="1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사회</a:t>
            </a:r>
            <a:endParaRPr lang="en-US" altLang="ko-KR" sz="2500" b="1" dirty="0" smtClean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algn="just">
              <a:lnSpc>
                <a:spcPct val="150000"/>
              </a:lnSpc>
            </a:pPr>
            <a:r>
              <a:rPr lang="ko-KR" altLang="en-US" sz="2400" dirty="0">
                <a:latin typeface="+mn-ea"/>
              </a:rPr>
              <a:t>인종</a:t>
            </a:r>
            <a:r>
              <a:rPr lang="en-US" altLang="ko-KR" sz="2400" dirty="0">
                <a:latin typeface="+mn-ea"/>
              </a:rPr>
              <a:t>, </a:t>
            </a:r>
            <a:r>
              <a:rPr lang="ko-KR" altLang="en-US" sz="2400" dirty="0">
                <a:latin typeface="+mn-ea"/>
              </a:rPr>
              <a:t>성별</a:t>
            </a:r>
            <a:r>
              <a:rPr lang="en-US" altLang="ko-KR" sz="2400" dirty="0">
                <a:latin typeface="+mn-ea"/>
              </a:rPr>
              <a:t>, </a:t>
            </a:r>
            <a:r>
              <a:rPr lang="ko-KR" altLang="en-US" sz="2400" dirty="0">
                <a:latin typeface="+mn-ea"/>
              </a:rPr>
              <a:t>나이</a:t>
            </a:r>
            <a:r>
              <a:rPr lang="en-US" altLang="ko-KR" sz="2400" dirty="0">
                <a:latin typeface="+mn-ea"/>
              </a:rPr>
              <a:t>, </a:t>
            </a:r>
            <a:r>
              <a:rPr lang="ko-KR" altLang="en-US" sz="2400" dirty="0">
                <a:latin typeface="+mn-ea"/>
              </a:rPr>
              <a:t>외모</a:t>
            </a:r>
            <a:r>
              <a:rPr lang="en-US" altLang="ko-KR" sz="2400" dirty="0">
                <a:latin typeface="+mn-ea"/>
              </a:rPr>
              <a:t>, </a:t>
            </a:r>
            <a:r>
              <a:rPr lang="ko-KR" altLang="en-US" sz="2400" dirty="0">
                <a:latin typeface="+mn-ea"/>
              </a:rPr>
              <a:t>장애 등에 상관없이 자유권</a:t>
            </a:r>
            <a:r>
              <a:rPr lang="en-US" altLang="ko-KR" sz="2400" dirty="0">
                <a:latin typeface="+mn-ea"/>
              </a:rPr>
              <a:t>, </a:t>
            </a:r>
            <a:r>
              <a:rPr lang="ko-KR" altLang="en-US" sz="2400" dirty="0">
                <a:latin typeface="+mn-ea"/>
              </a:rPr>
              <a:t>평등권 등의 기본적 권리를 보장받는 </a:t>
            </a:r>
            <a:r>
              <a:rPr lang="ko-KR" altLang="en-US" sz="2400" dirty="0" smtClean="0">
                <a:latin typeface="+mn-ea"/>
              </a:rPr>
              <a:t>사회</a:t>
            </a:r>
            <a:endParaRPr lang="en-US" altLang="ko-KR" sz="2400" dirty="0">
              <a:latin typeface="+mn-ea"/>
            </a:endParaRPr>
          </a:p>
          <a:p>
            <a:pPr algn="just">
              <a:lnSpc>
                <a:spcPct val="150000"/>
              </a:lnSpc>
            </a:pPr>
            <a:endParaRPr lang="en-US" altLang="ko-KR" sz="500" dirty="0">
              <a:latin typeface="+mn-ea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공정한 </a:t>
            </a:r>
            <a:r>
              <a:rPr lang="ko-KR" altLang="en-US" sz="2500" b="1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분배가 이루어지는 </a:t>
            </a:r>
            <a:r>
              <a:rPr lang="ko-KR" altLang="en-US" sz="2500" b="1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사회</a:t>
            </a:r>
            <a:endParaRPr lang="en-US" altLang="ko-KR" sz="2500" b="1" dirty="0" smtClean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algn="just">
              <a:lnSpc>
                <a:spcPct val="150000"/>
              </a:lnSpc>
            </a:pPr>
            <a:r>
              <a:rPr lang="ko-KR" altLang="en-US" sz="2400" dirty="0">
                <a:latin typeface="+mn-ea"/>
              </a:rPr>
              <a:t>사회 구성원들에게 혜택이나 부담을 공정하게 분배하는 </a:t>
            </a:r>
            <a:r>
              <a:rPr lang="ko-KR" altLang="en-US" sz="2400" dirty="0" smtClean="0">
                <a:latin typeface="+mn-ea"/>
              </a:rPr>
              <a:t>사회</a:t>
            </a:r>
            <a:endParaRPr lang="en-US" altLang="ko-KR" sz="2400" dirty="0" smtClean="0">
              <a:latin typeface="+mn-ea"/>
            </a:endParaRPr>
          </a:p>
          <a:p>
            <a:pPr algn="just">
              <a:lnSpc>
                <a:spcPct val="150000"/>
              </a:lnSpc>
            </a:pPr>
            <a:endParaRPr lang="en-US" altLang="ko-KR" sz="500" dirty="0">
              <a:latin typeface="+mn-ea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절차나 규칙을 준수하는 사회</a:t>
            </a:r>
            <a:endParaRPr lang="en-US" altLang="ko-KR" sz="2500" b="1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algn="just">
              <a:lnSpc>
                <a:spcPct val="150000"/>
              </a:lnSpc>
            </a:pPr>
            <a:r>
              <a:rPr lang="ko-KR" altLang="en-US" sz="2400" dirty="0" smtClean="0">
                <a:latin typeface="+mn-ea"/>
              </a:rPr>
              <a:t>사회 구성원 </a:t>
            </a:r>
            <a:r>
              <a:rPr lang="ko-KR" altLang="en-US" sz="2400" dirty="0">
                <a:latin typeface="+mn-ea"/>
              </a:rPr>
              <a:t>모두가 합의한 절차나 </a:t>
            </a:r>
            <a:r>
              <a:rPr lang="ko-KR" altLang="en-US" sz="2400" dirty="0" smtClean="0">
                <a:latin typeface="+mn-ea"/>
              </a:rPr>
              <a:t>규칙을 약속으로 </a:t>
            </a:r>
            <a:r>
              <a:rPr lang="ko-KR" altLang="en-US" sz="2400" dirty="0">
                <a:latin typeface="+mn-ea"/>
              </a:rPr>
              <a:t>여기고</a:t>
            </a:r>
            <a:r>
              <a:rPr lang="en-US" altLang="ko-KR" sz="2400" dirty="0">
                <a:latin typeface="+mn-ea"/>
              </a:rPr>
              <a:t>, </a:t>
            </a:r>
            <a:r>
              <a:rPr lang="ko-KR" altLang="en-US" sz="2400" dirty="0">
                <a:latin typeface="+mn-ea"/>
              </a:rPr>
              <a:t>이를 </a:t>
            </a:r>
            <a:r>
              <a:rPr lang="ko-KR" altLang="en-US" sz="2400" dirty="0" smtClean="0">
                <a:latin typeface="+mn-ea"/>
              </a:rPr>
              <a:t>잘 지켜 나가는 사회</a:t>
            </a:r>
            <a:endParaRPr lang="en-US" altLang="ko-KR" sz="2400" dirty="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xmlns="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정의로운 사회의 모습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140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>
                <a:latin typeface="+mj-ea"/>
                <a:ea typeface="+mj-ea"/>
              </a:rPr>
              <a:t>정의가 실현되는 사회는 어떤 모습일까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사회〮공동체와의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정의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592115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순서도: 수행의 시작/종료 23">
            <a:extLst>
              <a:ext uri="{FF2B5EF4-FFF2-40B4-BE49-F238E27FC236}">
                <a16:creationId xmlns:a16="http://schemas.microsoft.com/office/drawing/2014/main" xmlns="" id="{9DFB822A-B6F1-2298-D387-61BD7FE98B43}"/>
              </a:ext>
            </a:extLst>
          </p:cNvPr>
          <p:cNvSpPr/>
          <p:nvPr/>
        </p:nvSpPr>
        <p:spPr>
          <a:xfrm>
            <a:off x="1764504" y="582930"/>
            <a:ext cx="1775115" cy="585788"/>
          </a:xfrm>
          <a:prstGeom prst="flowChartTerminator">
            <a:avLst/>
          </a:prstGeom>
          <a:solidFill>
            <a:srgbClr val="FF9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3" name="그래픽 2">
            <a:extLst>
              <a:ext uri="{FF2B5EF4-FFF2-40B4-BE49-F238E27FC236}">
                <a16:creationId xmlns:a16="http://schemas.microsoft.com/office/drawing/2014/main" xmlns="" id="{61E84F19-921F-B3E1-20CD-7403BD2ED1A8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3C67A572-5929-17A2-D60C-4C11D984771C}"/>
              </a:ext>
            </a:extLst>
          </p:cNvPr>
          <p:cNvSpPr txBox="1"/>
          <p:nvPr/>
        </p:nvSpPr>
        <p:spPr>
          <a:xfrm>
            <a:off x="979524" y="671335"/>
            <a:ext cx="23839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pc="-150" dirty="0">
                <a:solidFill>
                  <a:schemeClr val="bg1"/>
                </a:solidFill>
                <a:latin typeface="+mj-ea"/>
                <a:ea typeface="+mj-ea"/>
              </a:rPr>
              <a:t>더 깊이 생각하기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141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69344" y="2364272"/>
            <a:ext cx="10872562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  나에게는 꿈이 있습니다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언젠가는 </a:t>
            </a:r>
            <a:r>
              <a:rPr lang="ko-KR" altLang="en-US" sz="2200" spc="-150" dirty="0" err="1">
                <a:latin typeface="굴림" panose="020B0600000101010101" pitchFamily="50" charset="-127"/>
                <a:ea typeface="굴림" panose="020B0600000101010101" pitchFamily="50" charset="-127"/>
              </a:rPr>
              <a:t>조지아주의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 붉은 언덕에서 노예의 후손들과 노예 주인의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후손들이 형제처럼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손을 맞잡고 나란히 앉게 되는 날이 오리라는 꿈입니다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 언젠가는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이글거리는 불의와 억압이 존재하는 미시시피주가 자유와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정의의 오아시스가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될 것이라는 꿈입니다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 언젠가는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나의 아이들이 피부색이 아니라 인격에 따라 </a:t>
            </a:r>
            <a:r>
              <a:rPr lang="ko-KR" altLang="en-US" sz="2200" spc="-150" dirty="0" err="1">
                <a:latin typeface="굴림" panose="020B0600000101010101" pitchFamily="50" charset="-127"/>
                <a:ea typeface="굴림" panose="020B0600000101010101" pitchFamily="50" charset="-127"/>
              </a:rPr>
              <a:t>평가받는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 그런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나라에서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살아가는 날이 오리라는 꿈입니다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algn="r">
              <a:lnSpc>
                <a:spcPct val="150000"/>
              </a:lnSpc>
            </a:pPr>
            <a:r>
              <a:rPr lang="en-US" altLang="ko-KR" spc="-150" dirty="0">
                <a:latin typeface="굴림" panose="020B0600000101010101" pitchFamily="50" charset="-127"/>
                <a:ea typeface="굴림" panose="020B0600000101010101" pitchFamily="50" charset="-127"/>
              </a:rPr>
              <a:t>- </a:t>
            </a:r>
            <a:r>
              <a:rPr lang="ko-KR" altLang="en-US" spc="-150" dirty="0" err="1" smtClean="0">
                <a:latin typeface="굴림" panose="020B0600000101010101" pitchFamily="50" charset="-127"/>
                <a:ea typeface="굴림" panose="020B0600000101010101" pitchFamily="50" charset="-127"/>
              </a:rPr>
              <a:t>마틴</a:t>
            </a:r>
            <a:r>
              <a:rPr lang="ko-KR" altLang="en-US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ko-KR" altLang="en-US" spc="-150" dirty="0" err="1" smtClean="0">
                <a:latin typeface="굴림" panose="020B0600000101010101" pitchFamily="50" charset="-127"/>
                <a:ea typeface="굴림" panose="020B0600000101010101" pitchFamily="50" charset="-127"/>
              </a:rPr>
              <a:t>루서</a:t>
            </a:r>
            <a:r>
              <a:rPr lang="ko-KR" altLang="en-US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킹</a:t>
            </a:r>
            <a:r>
              <a:rPr lang="en-US" altLang="ko-KR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, &lt;</a:t>
            </a:r>
            <a:r>
              <a:rPr lang="ko-KR" altLang="en-US" spc="-150" dirty="0">
                <a:latin typeface="굴림" panose="020B0600000101010101" pitchFamily="50" charset="-127"/>
                <a:ea typeface="굴림" panose="020B0600000101010101" pitchFamily="50" charset="-127"/>
              </a:rPr>
              <a:t>나에게는 꿈이 있습니다</a:t>
            </a:r>
            <a:r>
              <a:rPr lang="en-US" altLang="ko-KR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&gt; </a:t>
            </a:r>
            <a:r>
              <a:rPr lang="ko-KR" altLang="en-US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연설문</a:t>
            </a:r>
            <a:endParaRPr lang="en-US" altLang="ko-KR" sz="2200" spc="-15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E154A385-B13F-711E-8062-D58E9EE68096}"/>
              </a:ext>
            </a:extLst>
          </p:cNvPr>
          <p:cNvSpPr txBox="1"/>
          <p:nvPr/>
        </p:nvSpPr>
        <p:spPr>
          <a:xfrm>
            <a:off x="3528813" y="697845"/>
            <a:ext cx="64843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solidFill>
                  <a:srgbClr val="FF9300"/>
                </a:solidFill>
                <a:latin typeface="+mj-ea"/>
                <a:ea typeface="+mj-ea"/>
              </a:rPr>
              <a:t>‘내가 상상하는 정의로운 사회’</a:t>
            </a:r>
            <a:r>
              <a:rPr lang="ko-KR" altLang="en-US" sz="2000" b="1" dirty="0" err="1">
                <a:solidFill>
                  <a:srgbClr val="FF9300"/>
                </a:solidFill>
                <a:latin typeface="+mj-ea"/>
                <a:ea typeface="+mj-ea"/>
              </a:rPr>
              <a:t>를</a:t>
            </a:r>
            <a:r>
              <a:rPr lang="ko-KR" altLang="en-US" sz="2000" b="1" dirty="0">
                <a:solidFill>
                  <a:srgbClr val="FF9300"/>
                </a:solidFill>
                <a:latin typeface="+mj-ea"/>
                <a:ea typeface="+mj-ea"/>
              </a:rPr>
              <a:t> 나타내는 연설문 쓰기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rgbClr val="FFFF00"/>
                </a:solidFill>
                <a:latin typeface="+mj-ea"/>
                <a:ea typeface="+mj-ea"/>
              </a:rPr>
              <a:t>제시문</a:t>
            </a:r>
            <a:endParaRPr lang="ko-KR" altLang="en-US" sz="1600" b="1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C768E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xmlns="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>
                <a:latin typeface="+mj-ea"/>
                <a:ea typeface="+mj-ea"/>
              </a:rPr>
              <a:t>정의가 실현되는 사회는 어떤 모습일까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사회〮공동체와의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xmlns="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정의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39302" y="1620842"/>
            <a:ext cx="10239105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000" b="1" dirty="0">
                <a:latin typeface="+mn-ea"/>
              </a:rPr>
              <a:t>다음 물음에 답하며 정의로운 사회의 모습을 상상해 보자</a:t>
            </a:r>
            <a:r>
              <a:rPr lang="en-US" altLang="ko-KR" sz="2000" b="1" dirty="0">
                <a:latin typeface="+mn-ea"/>
              </a:rPr>
              <a:t>.</a:t>
            </a:r>
            <a:endParaRPr lang="ko-KR" altLang="en-US" sz="20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4231432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순서도: 수행의 시작/종료 23">
            <a:extLst>
              <a:ext uri="{FF2B5EF4-FFF2-40B4-BE49-F238E27FC236}">
                <a16:creationId xmlns:a16="http://schemas.microsoft.com/office/drawing/2014/main" xmlns="" id="{9DFB822A-B6F1-2298-D387-61BD7FE98B43}"/>
              </a:ext>
            </a:extLst>
          </p:cNvPr>
          <p:cNvSpPr/>
          <p:nvPr/>
        </p:nvSpPr>
        <p:spPr>
          <a:xfrm>
            <a:off x="1764504" y="582930"/>
            <a:ext cx="1775115" cy="585788"/>
          </a:xfrm>
          <a:prstGeom prst="flowChartTerminator">
            <a:avLst/>
          </a:prstGeom>
          <a:solidFill>
            <a:srgbClr val="FF9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3" name="그래픽 2">
            <a:extLst>
              <a:ext uri="{FF2B5EF4-FFF2-40B4-BE49-F238E27FC236}">
                <a16:creationId xmlns:a16="http://schemas.microsoft.com/office/drawing/2014/main" xmlns="" id="{61E84F19-921F-B3E1-20CD-7403BD2ED1A8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3C67A572-5929-17A2-D60C-4C11D984771C}"/>
              </a:ext>
            </a:extLst>
          </p:cNvPr>
          <p:cNvSpPr txBox="1"/>
          <p:nvPr/>
        </p:nvSpPr>
        <p:spPr>
          <a:xfrm>
            <a:off x="979524" y="671335"/>
            <a:ext cx="23839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pc="-150" dirty="0">
                <a:solidFill>
                  <a:schemeClr val="bg1"/>
                </a:solidFill>
                <a:latin typeface="+mj-ea"/>
                <a:ea typeface="+mj-ea"/>
              </a:rPr>
              <a:t>더 깊이 생각하기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141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87400" y="1613182"/>
            <a:ext cx="10239105" cy="9561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2000" b="1" dirty="0" smtClean="0">
                <a:latin typeface="+mn-ea"/>
              </a:rPr>
              <a:t>1. </a:t>
            </a:r>
            <a:r>
              <a:rPr lang="ko-KR" altLang="en-US" sz="2000" b="1" dirty="0">
                <a:latin typeface="+mn-ea"/>
              </a:rPr>
              <a:t>다음은 미국의 흑인 해방 운동가인 </a:t>
            </a:r>
            <a:r>
              <a:rPr lang="ko-KR" altLang="en-US" sz="2000" b="1" dirty="0" err="1">
                <a:latin typeface="+mn-ea"/>
              </a:rPr>
              <a:t>마틴</a:t>
            </a:r>
            <a:r>
              <a:rPr lang="ko-KR" altLang="en-US" sz="2000" b="1" dirty="0">
                <a:latin typeface="+mn-ea"/>
              </a:rPr>
              <a:t> </a:t>
            </a:r>
            <a:r>
              <a:rPr lang="ko-KR" altLang="en-US" sz="2000" b="1" dirty="0" err="1">
                <a:latin typeface="+mn-ea"/>
              </a:rPr>
              <a:t>루서</a:t>
            </a:r>
            <a:r>
              <a:rPr lang="ko-KR" altLang="en-US" sz="2000" b="1" dirty="0">
                <a:latin typeface="+mn-ea"/>
              </a:rPr>
              <a:t> 킹의 연설문이다</a:t>
            </a:r>
            <a:r>
              <a:rPr lang="en-US" altLang="ko-KR" sz="2000" b="1" dirty="0">
                <a:latin typeface="+mn-ea"/>
              </a:rPr>
              <a:t>. </a:t>
            </a:r>
            <a:r>
              <a:rPr lang="ko-KR" altLang="en-US" sz="2000" b="1" dirty="0">
                <a:latin typeface="+mn-ea"/>
              </a:rPr>
              <a:t>연설문을 읽고 그가 꿈꾸던 </a:t>
            </a:r>
            <a:r>
              <a:rPr lang="ko-KR" altLang="en-US" sz="2000" b="1" dirty="0" smtClean="0">
                <a:latin typeface="+mn-ea"/>
              </a:rPr>
              <a:t>정의로운 </a:t>
            </a:r>
            <a:r>
              <a:rPr lang="ko-KR" altLang="en-US" sz="2000" b="1" dirty="0">
                <a:latin typeface="+mn-ea"/>
              </a:rPr>
              <a:t>사회는 어떤 모습인지 써 보자</a:t>
            </a:r>
            <a:r>
              <a:rPr lang="en-US" altLang="ko-KR" sz="2000" b="1" dirty="0">
                <a:latin typeface="+mn-ea"/>
              </a:rPr>
              <a:t>.</a:t>
            </a:r>
            <a:endParaRPr lang="ko-KR" altLang="en-US" sz="2000" b="1" dirty="0">
              <a:latin typeface="+mn-ea"/>
            </a:endParaRPr>
          </a:p>
        </p:txBody>
      </p:sp>
      <p:pic>
        <p:nvPicPr>
          <p:cNvPr id="27" name="그림 26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xmlns="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787" y="2379489"/>
            <a:ext cx="487174" cy="487174"/>
          </a:xfrm>
          <a:prstGeom prst="rect">
            <a:avLst/>
          </a:prstGeom>
        </p:spPr>
      </p:pic>
      <p:grpSp>
        <p:nvGrpSpPr>
          <p:cNvPr id="29" name="그룹 28">
            <a:extLst>
              <a:ext uri="{FF2B5EF4-FFF2-40B4-BE49-F238E27FC236}">
                <a16:creationId xmlns:a16="http://schemas.microsoft.com/office/drawing/2014/main" xmlns="" id="{BD8F7919-81BA-4F6C-659C-1ECE98A49C77}"/>
              </a:ext>
            </a:extLst>
          </p:cNvPr>
          <p:cNvGrpSpPr/>
          <p:nvPr/>
        </p:nvGrpSpPr>
        <p:grpSpPr>
          <a:xfrm>
            <a:off x="9434311" y="2379489"/>
            <a:ext cx="1087577" cy="495431"/>
            <a:chOff x="10075659" y="2003022"/>
            <a:chExt cx="1156006" cy="495431"/>
          </a:xfrm>
        </p:grpSpPr>
        <p:pic>
          <p:nvPicPr>
            <p:cNvPr id="33" name="그림 32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xmlns="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xmlns="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xmlns="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제시문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xmlns="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xmlns="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>
                <a:latin typeface="+mj-ea"/>
                <a:ea typeface="+mj-ea"/>
              </a:rPr>
              <a:t>정의가 실현되는 사회는 어떤 모습일까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사회〮공동체와의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xmlns="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정의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xmlns="" id="{E154A385-B13F-711E-8062-D58E9EE68096}"/>
              </a:ext>
            </a:extLst>
          </p:cNvPr>
          <p:cNvSpPr txBox="1"/>
          <p:nvPr/>
        </p:nvSpPr>
        <p:spPr>
          <a:xfrm>
            <a:off x="3528813" y="697845"/>
            <a:ext cx="64843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solidFill>
                  <a:srgbClr val="FF9300"/>
                </a:solidFill>
                <a:latin typeface="+mj-ea"/>
                <a:ea typeface="+mj-ea"/>
              </a:rPr>
              <a:t>‘내가 상상하는 정의로운 사회’</a:t>
            </a:r>
            <a:r>
              <a:rPr lang="ko-KR" altLang="en-US" sz="2000" b="1" dirty="0" err="1">
                <a:solidFill>
                  <a:srgbClr val="FF9300"/>
                </a:solidFill>
                <a:latin typeface="+mj-ea"/>
                <a:ea typeface="+mj-ea"/>
              </a:rPr>
              <a:t>를</a:t>
            </a:r>
            <a:r>
              <a:rPr lang="ko-KR" altLang="en-US" sz="2000" b="1" dirty="0">
                <a:solidFill>
                  <a:srgbClr val="FF9300"/>
                </a:solidFill>
                <a:latin typeface="+mj-ea"/>
                <a:ea typeface="+mj-ea"/>
              </a:rPr>
              <a:t> 나타내는 연설문 쓰기</a:t>
            </a:r>
          </a:p>
        </p:txBody>
      </p:sp>
      <p:sp>
        <p:nvSpPr>
          <p:cNvPr id="35" name="사각형: 둥근 모서리 29">
            <a:extLst>
              <a:ext uri="{FF2B5EF4-FFF2-40B4-BE49-F238E27FC236}">
                <a16:creationId xmlns:a16="http://schemas.microsoft.com/office/drawing/2014/main" xmlns="" id="{C631BC03-B762-9123-7FD1-0A60290B94EB}"/>
              </a:ext>
            </a:extLst>
          </p:cNvPr>
          <p:cNvSpPr/>
          <p:nvPr/>
        </p:nvSpPr>
        <p:spPr>
          <a:xfrm>
            <a:off x="787400" y="3146894"/>
            <a:ext cx="10293350" cy="1347470"/>
          </a:xfrm>
          <a:prstGeom prst="roundRect">
            <a:avLst>
              <a:gd name="adj" fmla="val 8608"/>
            </a:avLst>
          </a:prstGeom>
          <a:solidFill>
            <a:srgbClr val="FFF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1065588" y="3193640"/>
            <a:ext cx="9784141" cy="1129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피부색에 따른 차별이나 억압이 존재하지 않고</a:t>
            </a:r>
            <a:r>
              <a:rPr lang="en-US" altLang="ko-KR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, </a:t>
            </a:r>
            <a:r>
              <a:rPr lang="ko-KR" altLang="en-US" sz="2400" dirty="0" smtClean="0">
                <a:solidFill>
                  <a:srgbClr val="0070C0"/>
                </a:solidFill>
                <a:latin typeface="Arial Rounded MT Bold" panose="020F0704030504030204" pitchFamily="34" charset="0"/>
              </a:rPr>
              <a:t>사회 </a:t>
            </a: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구성원 모두가 자유권과 평등권 등의 기본적 </a:t>
            </a:r>
            <a:r>
              <a:rPr lang="ko-KR" altLang="en-US" sz="2400" dirty="0" smtClean="0">
                <a:solidFill>
                  <a:srgbClr val="0070C0"/>
                </a:solidFill>
                <a:latin typeface="Arial Rounded MT Bold" panose="020F0704030504030204" pitchFamily="34" charset="0"/>
              </a:rPr>
              <a:t>권리를 </a:t>
            </a: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동등하게 보장받는 사회이다</a:t>
            </a:r>
            <a:r>
              <a:rPr lang="en-US" altLang="ko-KR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.</a:t>
            </a:r>
            <a:endParaRPr lang="ko-KR" altLang="en-US" sz="2400" dirty="0">
              <a:solidFill>
                <a:srgbClr val="0070C0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9278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9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</p:childTnLst>
        </p:cTn>
      </p:par>
    </p:tnLst>
    <p:bldLst>
      <p:bldP spid="36" grpId="0"/>
      <p:bldP spid="36" grpId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순서도: 수행의 시작/종료 23">
            <a:extLst>
              <a:ext uri="{FF2B5EF4-FFF2-40B4-BE49-F238E27FC236}">
                <a16:creationId xmlns:a16="http://schemas.microsoft.com/office/drawing/2014/main" xmlns="" id="{9DFB822A-B6F1-2298-D387-61BD7FE98B43}"/>
              </a:ext>
            </a:extLst>
          </p:cNvPr>
          <p:cNvSpPr/>
          <p:nvPr/>
        </p:nvSpPr>
        <p:spPr>
          <a:xfrm>
            <a:off x="1764504" y="582930"/>
            <a:ext cx="1775115" cy="585788"/>
          </a:xfrm>
          <a:prstGeom prst="flowChartTerminator">
            <a:avLst/>
          </a:prstGeom>
          <a:solidFill>
            <a:srgbClr val="FF9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3" name="그래픽 2">
            <a:extLst>
              <a:ext uri="{FF2B5EF4-FFF2-40B4-BE49-F238E27FC236}">
                <a16:creationId xmlns:a16="http://schemas.microsoft.com/office/drawing/2014/main" xmlns="" id="{61E84F19-921F-B3E1-20CD-7403BD2ED1A8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3C67A572-5929-17A2-D60C-4C11D984771C}"/>
              </a:ext>
            </a:extLst>
          </p:cNvPr>
          <p:cNvSpPr txBox="1"/>
          <p:nvPr/>
        </p:nvSpPr>
        <p:spPr>
          <a:xfrm>
            <a:off x="979524" y="671335"/>
            <a:ext cx="23839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pc="-150" dirty="0">
                <a:solidFill>
                  <a:schemeClr val="bg1"/>
                </a:solidFill>
                <a:latin typeface="+mj-ea"/>
                <a:ea typeface="+mj-ea"/>
              </a:rPr>
              <a:t>더 깊이 생각하기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141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87400" y="1613182"/>
            <a:ext cx="1023910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2000" b="1" dirty="0" smtClean="0">
                <a:latin typeface="+mn-ea"/>
              </a:rPr>
              <a:t>2. </a:t>
            </a:r>
            <a:r>
              <a:rPr lang="ko-KR" altLang="en-US" sz="2000" b="1" dirty="0">
                <a:latin typeface="+mn-ea"/>
              </a:rPr>
              <a:t>위 연설문을 참고하여 ‘내가 상상하는 정의로운 사회’를 나타내는 연설문을 쓰고</a:t>
            </a:r>
            <a:r>
              <a:rPr lang="en-US" altLang="ko-KR" sz="2000" b="1" dirty="0">
                <a:latin typeface="+mn-ea"/>
              </a:rPr>
              <a:t>, </a:t>
            </a:r>
            <a:r>
              <a:rPr lang="ko-KR" altLang="en-US" sz="2000" b="1" dirty="0">
                <a:latin typeface="+mn-ea"/>
              </a:rPr>
              <a:t>발표해 보자</a:t>
            </a:r>
            <a:r>
              <a:rPr lang="en-US" altLang="ko-KR" sz="2000" b="1" dirty="0">
                <a:latin typeface="+mn-ea"/>
              </a:rPr>
              <a:t>.</a:t>
            </a:r>
            <a:endParaRPr lang="ko-KR" altLang="en-US" sz="2000" b="1" dirty="0">
              <a:latin typeface="+mn-ea"/>
            </a:endParaRPr>
          </a:p>
        </p:txBody>
      </p:sp>
      <p:pic>
        <p:nvPicPr>
          <p:cNvPr id="27" name="그림 26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xmlns="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08657" y="2250085"/>
            <a:ext cx="487174" cy="487174"/>
          </a:xfrm>
          <a:prstGeom prst="rect">
            <a:avLst/>
          </a:prstGeom>
        </p:spPr>
      </p:pic>
      <p:grpSp>
        <p:nvGrpSpPr>
          <p:cNvPr id="29" name="그룹 28">
            <a:extLst>
              <a:ext uri="{FF2B5EF4-FFF2-40B4-BE49-F238E27FC236}">
                <a16:creationId xmlns:a16="http://schemas.microsoft.com/office/drawing/2014/main" xmlns="" id="{BD8F7919-81BA-4F6C-659C-1ECE98A49C77}"/>
              </a:ext>
            </a:extLst>
          </p:cNvPr>
          <p:cNvGrpSpPr/>
          <p:nvPr/>
        </p:nvGrpSpPr>
        <p:grpSpPr>
          <a:xfrm>
            <a:off x="9391181" y="2250085"/>
            <a:ext cx="1087577" cy="495431"/>
            <a:chOff x="10075659" y="2003022"/>
            <a:chExt cx="1156006" cy="495431"/>
          </a:xfrm>
        </p:grpSpPr>
        <p:pic>
          <p:nvPicPr>
            <p:cNvPr id="33" name="그림 32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xmlns="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xmlns="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xmlns="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제시문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xmlns="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xmlns="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>
                <a:latin typeface="+mj-ea"/>
                <a:ea typeface="+mj-ea"/>
              </a:rPr>
              <a:t>정의가 실현되는 사회는 어떤 모습일까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사회〮공동체와의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xmlns="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정의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xmlns="" id="{E154A385-B13F-711E-8062-D58E9EE68096}"/>
              </a:ext>
            </a:extLst>
          </p:cNvPr>
          <p:cNvSpPr txBox="1"/>
          <p:nvPr/>
        </p:nvSpPr>
        <p:spPr>
          <a:xfrm>
            <a:off x="3528813" y="697845"/>
            <a:ext cx="64843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solidFill>
                  <a:srgbClr val="FF9300"/>
                </a:solidFill>
                <a:latin typeface="+mj-ea"/>
                <a:ea typeface="+mj-ea"/>
              </a:rPr>
              <a:t>‘내가 상상하는 정의로운 사회’</a:t>
            </a:r>
            <a:r>
              <a:rPr lang="ko-KR" altLang="en-US" sz="2000" b="1" dirty="0" err="1">
                <a:solidFill>
                  <a:srgbClr val="FF9300"/>
                </a:solidFill>
                <a:latin typeface="+mj-ea"/>
                <a:ea typeface="+mj-ea"/>
              </a:rPr>
              <a:t>를</a:t>
            </a:r>
            <a:r>
              <a:rPr lang="ko-KR" altLang="en-US" sz="2000" b="1" dirty="0">
                <a:solidFill>
                  <a:srgbClr val="FF9300"/>
                </a:solidFill>
                <a:latin typeface="+mj-ea"/>
                <a:ea typeface="+mj-ea"/>
              </a:rPr>
              <a:t> 나타내는 연설문 쓰기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6026" y="2871668"/>
            <a:ext cx="10302901" cy="3753417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2336754" y="3482097"/>
            <a:ext cx="854744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0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성적에 상관없이 모든 학생이 자신이 </a:t>
            </a:r>
            <a:r>
              <a:rPr lang="ko-KR" altLang="en-US" sz="2000" dirty="0" smtClean="0">
                <a:solidFill>
                  <a:srgbClr val="0070C0"/>
                </a:solidFill>
                <a:latin typeface="Arial Rounded MT Bold" panose="020F0704030504030204" pitchFamily="34" charset="0"/>
              </a:rPr>
              <a:t>원하는 </a:t>
            </a:r>
            <a:r>
              <a:rPr lang="ko-KR" altLang="en-US" sz="20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꿈을 </a:t>
            </a:r>
            <a:r>
              <a:rPr lang="ko-KR" altLang="en-US" sz="2000" dirty="0" err="1" smtClean="0">
                <a:solidFill>
                  <a:srgbClr val="0070C0"/>
                </a:solidFill>
                <a:latin typeface="Arial Rounded MT Bold" panose="020F0704030504030204" pitchFamily="34" charset="0"/>
              </a:rPr>
              <a:t>존중받는</a:t>
            </a:r>
            <a:r>
              <a:rPr lang="ko-KR" altLang="en-US" sz="2000" dirty="0" smtClean="0">
                <a:solidFill>
                  <a:srgbClr val="0070C0"/>
                </a:solidFill>
                <a:latin typeface="Arial Rounded MT Bold" panose="020F0704030504030204" pitchFamily="34" charset="0"/>
              </a:rPr>
              <a:t> </a:t>
            </a:r>
            <a:endParaRPr lang="ko-KR" altLang="en-US" sz="2000" dirty="0">
              <a:solidFill>
                <a:srgbClr val="0070C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256556" y="4340467"/>
            <a:ext cx="854744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0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외모에 상관없이 모든 학생이 내면의 </a:t>
            </a:r>
            <a:r>
              <a:rPr lang="ko-KR" altLang="en-US" sz="2000" dirty="0" smtClean="0">
                <a:solidFill>
                  <a:srgbClr val="0070C0"/>
                </a:solidFill>
                <a:latin typeface="Arial Rounded MT Bold" panose="020F0704030504030204" pitchFamily="34" charset="0"/>
              </a:rPr>
              <a:t>아름다움으로 </a:t>
            </a:r>
            <a:r>
              <a:rPr lang="ko-KR" altLang="en-US" sz="2000" dirty="0" err="1">
                <a:solidFill>
                  <a:srgbClr val="0070C0"/>
                </a:solidFill>
                <a:latin typeface="Arial Rounded MT Bold" panose="020F0704030504030204" pitchFamily="34" charset="0"/>
              </a:rPr>
              <a:t>평가받는</a:t>
            </a:r>
            <a:r>
              <a:rPr lang="ko-KR" altLang="en-US" sz="20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 나라가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09107" y="5054060"/>
            <a:ext cx="71948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20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가정의 경제적 형편에 </a:t>
            </a:r>
            <a:r>
              <a:rPr lang="ko-KR" altLang="en-US" sz="2000" dirty="0" smtClean="0">
                <a:solidFill>
                  <a:srgbClr val="0070C0"/>
                </a:solidFill>
                <a:latin typeface="Arial Rounded MT Bold" panose="020F0704030504030204" pitchFamily="34" charset="0"/>
              </a:rPr>
              <a:t>상관없이 </a:t>
            </a:r>
            <a:r>
              <a:rPr lang="ko-KR" altLang="en-US" sz="20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자신의 꿈을 이루는 데 필요한 교육을 </a:t>
            </a:r>
            <a:r>
              <a:rPr lang="ko-KR" altLang="en-US" sz="2000" dirty="0" smtClean="0">
                <a:solidFill>
                  <a:srgbClr val="0070C0"/>
                </a:solidFill>
                <a:latin typeface="Arial Rounded MT Bold" panose="020F0704030504030204" pitchFamily="34" charset="0"/>
              </a:rPr>
              <a:t>받을 수 </a:t>
            </a:r>
            <a:r>
              <a:rPr lang="ko-KR" altLang="en-US" sz="20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있는</a:t>
            </a:r>
          </a:p>
        </p:txBody>
      </p:sp>
    </p:spTree>
    <p:extLst>
      <p:ext uri="{BB962C8B-B14F-4D97-AF65-F5344CB8AC3E}">
        <p14:creationId xmlns:p14="http://schemas.microsoft.com/office/powerpoint/2010/main" val="1719932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9"/>
                  </p:tgtEl>
                </p:cond>
              </p:nextCondLst>
            </p:seq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</p:childTnLst>
        </p:cTn>
      </p:par>
    </p:tnLst>
    <p:bldLst>
      <p:bldP spid="36" grpId="0"/>
      <p:bldP spid="36" grpId="1"/>
      <p:bldP spid="21" grpId="0"/>
      <p:bldP spid="21" grpId="1"/>
      <p:bldP spid="22" grpId="0"/>
      <p:bldP spid="22" grpId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사각형: 둥근 모서리 29">
            <a:extLst>
              <a:ext uri="{FF2B5EF4-FFF2-40B4-BE49-F238E27FC236}">
                <a16:creationId xmlns:a16="http://schemas.microsoft.com/office/drawing/2014/main" xmlns="" id="{C631BC03-B762-9123-7FD1-0A60290B94EB}"/>
              </a:ext>
            </a:extLst>
          </p:cNvPr>
          <p:cNvSpPr/>
          <p:nvPr/>
        </p:nvSpPr>
        <p:spPr>
          <a:xfrm>
            <a:off x="782429" y="3926200"/>
            <a:ext cx="8522936" cy="2550288"/>
          </a:xfrm>
          <a:prstGeom prst="roundRect">
            <a:avLst>
              <a:gd name="adj" fmla="val 8608"/>
            </a:avLst>
          </a:prstGeom>
          <a:solidFill>
            <a:schemeClr val="accent6">
              <a:lumMod val="20000"/>
              <a:lumOff val="80000"/>
            </a:schemeClr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14" name="순서도: 수행의 시작/종료 13">
            <a:extLst>
              <a:ext uri="{FF2B5EF4-FFF2-40B4-BE49-F238E27FC236}">
                <a16:creationId xmlns:a16="http://schemas.microsoft.com/office/drawing/2014/main" xmlns="" id="{0C9572D1-DE61-A840-0F97-7BDF6B8F4F4A}"/>
              </a:ext>
            </a:extLst>
          </p:cNvPr>
          <p:cNvSpPr/>
          <p:nvPr/>
        </p:nvSpPr>
        <p:spPr>
          <a:xfrm>
            <a:off x="1764504" y="582930"/>
            <a:ext cx="1775115" cy="585788"/>
          </a:xfrm>
          <a:prstGeom prst="flowChartTerminator">
            <a:avLst/>
          </a:prstGeom>
          <a:solidFill>
            <a:srgbClr val="04CB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5" name="그래픽 14">
            <a:extLst>
              <a:ext uri="{FF2B5EF4-FFF2-40B4-BE49-F238E27FC236}">
                <a16:creationId xmlns:a16="http://schemas.microsoft.com/office/drawing/2014/main" xmlns="" id="{B44B34C4-36B3-18D5-1B79-4D677D4EDBBD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E06FC953-457F-63EC-153E-F835BABE4C1D}"/>
              </a:ext>
            </a:extLst>
          </p:cNvPr>
          <p:cNvSpPr txBox="1"/>
          <p:nvPr/>
        </p:nvSpPr>
        <p:spPr>
          <a:xfrm>
            <a:off x="1040188" y="671335"/>
            <a:ext cx="24481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스스로 성찰하기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xmlns="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xmlns="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141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87400" y="1613182"/>
            <a:ext cx="1023910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2200" b="1" dirty="0">
                <a:solidFill>
                  <a:srgbClr val="00B050"/>
                </a:solidFill>
                <a:latin typeface="+mn-ea"/>
              </a:rPr>
              <a:t>다음 물음에 답하면서 배운 내용을 점검하고</a:t>
            </a:r>
            <a:r>
              <a:rPr lang="en-US" altLang="ko-KR" sz="2200" b="1" dirty="0">
                <a:solidFill>
                  <a:srgbClr val="00B050"/>
                </a:solidFill>
                <a:latin typeface="+mn-ea"/>
              </a:rPr>
              <a:t>, </a:t>
            </a:r>
            <a:r>
              <a:rPr lang="ko-KR" altLang="en-US" sz="2200" b="1" dirty="0">
                <a:solidFill>
                  <a:srgbClr val="00B050"/>
                </a:solidFill>
                <a:latin typeface="+mn-ea"/>
              </a:rPr>
              <a:t>정의를 실현하기 위한 </a:t>
            </a:r>
            <a:r>
              <a:rPr lang="ko-KR" altLang="en-US" sz="2200" b="1" dirty="0" smtClean="0">
                <a:solidFill>
                  <a:srgbClr val="00B050"/>
                </a:solidFill>
                <a:latin typeface="+mn-ea"/>
              </a:rPr>
              <a:t>나의 </a:t>
            </a:r>
            <a:r>
              <a:rPr lang="ko-KR" altLang="en-US" sz="2200" b="1" dirty="0">
                <a:solidFill>
                  <a:srgbClr val="00B050"/>
                </a:solidFill>
                <a:latin typeface="+mn-ea"/>
              </a:rPr>
              <a:t>다짐을 써 보자</a:t>
            </a:r>
            <a:r>
              <a:rPr lang="en-US" altLang="ko-KR" sz="2200" b="1" dirty="0">
                <a:solidFill>
                  <a:srgbClr val="00B050"/>
                </a:solidFill>
                <a:latin typeface="+mn-ea"/>
              </a:rPr>
              <a:t>.</a:t>
            </a:r>
            <a:endParaRPr lang="ko-KR" altLang="en-US" sz="2200" b="1" dirty="0">
              <a:solidFill>
                <a:srgbClr val="00B050"/>
              </a:solidFill>
              <a:latin typeface="+mn-ea"/>
            </a:endParaRPr>
          </a:p>
        </p:txBody>
      </p:sp>
      <p:sp>
        <p:nvSpPr>
          <p:cNvPr id="40" name="사각형: 둥근 모서리 29">
            <a:extLst>
              <a:ext uri="{FF2B5EF4-FFF2-40B4-BE49-F238E27FC236}">
                <a16:creationId xmlns:a16="http://schemas.microsoft.com/office/drawing/2014/main" xmlns="" id="{C631BC03-B762-9123-7FD1-0A60290B94EB}"/>
              </a:ext>
            </a:extLst>
          </p:cNvPr>
          <p:cNvSpPr/>
          <p:nvPr/>
        </p:nvSpPr>
        <p:spPr>
          <a:xfrm>
            <a:off x="787400" y="2451876"/>
            <a:ext cx="10293350" cy="1160691"/>
          </a:xfrm>
          <a:prstGeom prst="roundRect">
            <a:avLst>
              <a:gd name="adj" fmla="val 8608"/>
            </a:avLst>
          </a:prstGeom>
          <a:noFill/>
          <a:ln w="571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040188" y="2523545"/>
            <a:ext cx="980954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굴림" panose="020B0600000101010101" pitchFamily="50" charset="-127"/>
                <a:ea typeface="굴림" panose="020B0600000101010101" pitchFamily="50" charset="-127"/>
              </a:rPr>
              <a:t>정의의 의미와 정의로운 사회의 필요성을 설명할 수 있는가</a:t>
            </a:r>
            <a:r>
              <a:rPr lang="en-US" altLang="ko-KR" sz="20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?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굴림" panose="020B0600000101010101" pitchFamily="50" charset="-127"/>
                <a:ea typeface="굴림" panose="020B0600000101010101" pitchFamily="50" charset="-127"/>
              </a:rPr>
              <a:t>정의로운 사회의 모습을 상상하여 표현할 수 있는가</a:t>
            </a:r>
            <a:r>
              <a:rPr lang="en-US" altLang="ko-KR" sz="2000" dirty="0">
                <a:latin typeface="굴림" panose="020B0600000101010101" pitchFamily="50" charset="-127"/>
                <a:ea typeface="굴림" panose="020B0600000101010101" pitchFamily="50" charset="-127"/>
              </a:rPr>
              <a:t>?</a:t>
            </a:r>
            <a:endParaRPr lang="ko-KR" altLang="en-US" sz="20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pic>
        <p:nvPicPr>
          <p:cNvPr id="45" name="그림 44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xmlns="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52933" y="3930020"/>
            <a:ext cx="487174" cy="487174"/>
          </a:xfrm>
          <a:prstGeom prst="rect">
            <a:avLst/>
          </a:prstGeom>
        </p:spPr>
      </p:pic>
      <p:grpSp>
        <p:nvGrpSpPr>
          <p:cNvPr id="46" name="그룹 45">
            <a:extLst>
              <a:ext uri="{FF2B5EF4-FFF2-40B4-BE49-F238E27FC236}">
                <a16:creationId xmlns:a16="http://schemas.microsoft.com/office/drawing/2014/main" xmlns="" id="{BD8F7919-81BA-4F6C-659C-1ECE98A49C77}"/>
              </a:ext>
            </a:extLst>
          </p:cNvPr>
          <p:cNvGrpSpPr/>
          <p:nvPr/>
        </p:nvGrpSpPr>
        <p:grpSpPr>
          <a:xfrm>
            <a:off x="9535457" y="3930019"/>
            <a:ext cx="1087577" cy="495431"/>
            <a:chOff x="10075659" y="2003022"/>
            <a:chExt cx="1156006" cy="495431"/>
          </a:xfrm>
        </p:grpSpPr>
        <p:pic>
          <p:nvPicPr>
            <p:cNvPr id="47" name="그림 46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xmlns="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xmlns="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50" name="TextBox 49"/>
          <p:cNvSpPr txBox="1"/>
          <p:nvPr/>
        </p:nvSpPr>
        <p:spPr>
          <a:xfrm>
            <a:off x="935915" y="4546283"/>
            <a:ext cx="8165055" cy="1129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구성원 모두가 서로 신뢰하고 협력하는 </a:t>
            </a:r>
            <a:r>
              <a:rPr lang="ko-KR" altLang="en-US" sz="2400" dirty="0" smtClean="0">
                <a:solidFill>
                  <a:srgbClr val="0070C0"/>
                </a:solidFill>
                <a:latin typeface="Arial Rounded MT Bold" panose="020F0704030504030204" pitchFamily="34" charset="0"/>
              </a:rPr>
              <a:t>정의로운 </a:t>
            </a: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공동체를 만들기 위해 합의한 </a:t>
            </a:r>
            <a:r>
              <a:rPr lang="ko-KR" altLang="en-US" sz="2400" dirty="0" smtClean="0">
                <a:solidFill>
                  <a:srgbClr val="0070C0"/>
                </a:solidFill>
                <a:latin typeface="Arial Rounded MT Bold" panose="020F0704030504030204" pitchFamily="34" charset="0"/>
              </a:rPr>
              <a:t>절차나 규칙을 </a:t>
            </a: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잘 지켜야겠다</a:t>
            </a:r>
            <a:r>
              <a:rPr lang="en-US" altLang="ko-KR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.</a:t>
            </a:r>
            <a:endParaRPr lang="ko-KR" altLang="en-US" sz="2400" dirty="0">
              <a:solidFill>
                <a:srgbClr val="0070C0"/>
              </a:solidFill>
              <a:latin typeface="Arial Rounded MT Bold" panose="020F0704030504030204" pitchFamily="34" charset="0"/>
            </a:endParaRPr>
          </a:p>
        </p:txBody>
      </p:sp>
      <p:grpSp>
        <p:nvGrpSpPr>
          <p:cNvPr id="3" name="그룹 2"/>
          <p:cNvGrpSpPr/>
          <p:nvPr/>
        </p:nvGrpSpPr>
        <p:grpSpPr>
          <a:xfrm>
            <a:off x="936087" y="3953767"/>
            <a:ext cx="1328154" cy="507831"/>
            <a:chOff x="877165" y="3739778"/>
            <a:chExt cx="1328154" cy="507831"/>
          </a:xfrm>
        </p:grpSpPr>
        <p:sp>
          <p:nvSpPr>
            <p:cNvPr id="2" name="모서리가 둥근 직사각형 1"/>
            <p:cNvSpPr/>
            <p:nvPr/>
          </p:nvSpPr>
          <p:spPr>
            <a:xfrm>
              <a:off x="877165" y="4040219"/>
              <a:ext cx="1328154" cy="1584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948928" y="3739778"/>
              <a:ext cx="1224117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ko-KR" altLang="en-US" b="1" dirty="0" smtClean="0">
                  <a:solidFill>
                    <a:schemeClr val="accent6">
                      <a:lumMod val="50000"/>
                    </a:schemeClr>
                  </a:solidFill>
                  <a:latin typeface="돋움" panose="020B0600000101010101" pitchFamily="50" charset="-127"/>
                  <a:ea typeface="돋움" panose="020B0600000101010101" pitchFamily="50" charset="-127"/>
                </a:rPr>
                <a:t>나의 다짐</a:t>
              </a:r>
              <a:endParaRPr lang="ko-KR" altLang="en-US" b="1" dirty="0">
                <a:solidFill>
                  <a:schemeClr val="accent6">
                    <a:lumMod val="50000"/>
                  </a:schemeClr>
                </a:solidFill>
                <a:latin typeface="돋움" panose="020B0600000101010101" pitchFamily="50" charset="-127"/>
                <a:ea typeface="돋움" panose="020B0600000101010101" pitchFamily="50" charset="-127"/>
              </a:endParaRP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>
                <a:latin typeface="+mj-ea"/>
                <a:ea typeface="+mj-ea"/>
              </a:rPr>
              <a:t>정의가 실현되는 사회는 어떤 모습일까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사회〮공동체와의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xmlns="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정의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7737362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6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5"/>
                  </p:tgtEl>
                </p:cond>
              </p:nextCondLst>
            </p:seq>
          </p:childTnLst>
        </p:cTn>
      </p:par>
    </p:tnLst>
    <p:bldLst>
      <p:bldP spid="50" grpId="0"/>
      <p:bldP spid="50" grpId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모서리가 둥근 직사각형 2"/>
          <p:cNvSpPr/>
          <p:nvPr/>
        </p:nvSpPr>
        <p:spPr>
          <a:xfrm>
            <a:off x="1271238" y="2086984"/>
            <a:ext cx="9523142" cy="4173967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 dirty="0" smtClean="0">
                <a:solidFill>
                  <a:schemeClr val="tx1"/>
                </a:solidFill>
              </a:rPr>
              <a:t>다음 시간에는</a:t>
            </a:r>
            <a:endParaRPr lang="en-US" altLang="ko-KR" sz="2800" dirty="0" smtClean="0">
              <a:solidFill>
                <a:schemeClr val="tx1"/>
              </a:solidFill>
            </a:endParaRPr>
          </a:p>
          <a:p>
            <a:pPr algn="ctr"/>
            <a:endParaRPr lang="en-US" altLang="ko-KR" sz="2800" dirty="0">
              <a:solidFill>
                <a:schemeClr val="tx1"/>
              </a:solidFill>
            </a:endParaRPr>
          </a:p>
          <a:p>
            <a:pPr algn="ctr"/>
            <a:r>
              <a:rPr lang="en-US" altLang="ko-KR" sz="2800" b="1" dirty="0" smtClean="0">
                <a:solidFill>
                  <a:schemeClr val="tx1"/>
                </a:solidFill>
              </a:rPr>
              <a:t>“02. </a:t>
            </a:r>
            <a:r>
              <a:rPr lang="ko-KR" altLang="en-US" sz="2800" b="1" dirty="0">
                <a:solidFill>
                  <a:schemeClr val="tx1"/>
                </a:solidFill>
              </a:rPr>
              <a:t>정의로운 사회를 위한 원칙과 제도는 무엇일까</a:t>
            </a:r>
            <a:r>
              <a:rPr lang="en-US" altLang="ko-KR" sz="2800" b="1" dirty="0">
                <a:solidFill>
                  <a:schemeClr val="tx1"/>
                </a:solidFill>
              </a:rPr>
              <a:t>?”</a:t>
            </a:r>
            <a:r>
              <a:rPr lang="ko-KR" altLang="en-US" sz="2800" dirty="0" smtClean="0">
                <a:solidFill>
                  <a:schemeClr val="tx1"/>
                </a:solidFill>
              </a:rPr>
              <a:t>를</a:t>
            </a:r>
            <a:endParaRPr lang="en-US" altLang="ko-KR" sz="2800" dirty="0" smtClean="0">
              <a:solidFill>
                <a:schemeClr val="tx1"/>
              </a:solidFill>
            </a:endParaRPr>
          </a:p>
          <a:p>
            <a:pPr algn="ctr"/>
            <a:endParaRPr lang="en-US" altLang="ko-KR" sz="2800" dirty="0">
              <a:solidFill>
                <a:schemeClr val="tx1"/>
              </a:solidFill>
            </a:endParaRPr>
          </a:p>
          <a:p>
            <a:pPr algn="ctr"/>
            <a:r>
              <a:rPr lang="ko-KR" altLang="en-US" sz="2800" dirty="0" smtClean="0">
                <a:solidFill>
                  <a:schemeClr val="tx1"/>
                </a:solidFill>
              </a:rPr>
              <a:t>배워 보아요</a:t>
            </a:r>
            <a:r>
              <a:rPr lang="en-US" altLang="ko-KR" sz="2800" dirty="0" smtClean="0">
                <a:solidFill>
                  <a:schemeClr val="tx1"/>
                </a:solidFill>
              </a:rPr>
              <a:t>.</a:t>
            </a:r>
            <a:endParaRPr lang="ko-KR" altLang="en-US" sz="2800" dirty="0">
              <a:solidFill>
                <a:schemeClr val="tx1"/>
              </a:solidFill>
            </a:endParaRPr>
          </a:p>
        </p:txBody>
      </p:sp>
      <p:pic>
        <p:nvPicPr>
          <p:cNvPr id="2" name="그림 1" descr="동물 피규어, 곰, 클립아트, 만화 영화이(가) 표시된 사진&#10;&#10;자동 생성된 설명">
            <a:extLst>
              <a:ext uri="{FF2B5EF4-FFF2-40B4-BE49-F238E27FC236}">
                <a16:creationId xmlns:a16="http://schemas.microsoft.com/office/drawing/2014/main" xmlns="" id="{D69624B4-0050-04C5-8DBB-1467BBABF8D7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41833" y="571002"/>
            <a:ext cx="1743521" cy="1617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02214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xmlns="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빈칸 채우기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xmlns="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정의의 의미의 역할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138쪽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>
                <a:latin typeface="+mj-ea"/>
                <a:ea typeface="+mj-ea"/>
              </a:rPr>
              <a:t>정의가 실현되는 사회는 어떤 모습일까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사회〮공동체와의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정의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/>
                </a:solidFill>
              </a:rPr>
              <a:t>(1) 정의의 의미</a:t>
            </a:r>
            <a:r>
              <a:rPr sz="2400" b="1">
                <a:solidFill>
                  <a:srgbClr val="843C0C"/>
                </a:solidFill>
              </a:rPr>
              <a:t> : </a:t>
            </a:r>
            <a:r>
              <a:rPr sz="2400" b="0">
                <a:solidFill>
                  <a:srgbClr val="262626"/>
                </a:solidFill>
              </a:rPr>
              <a:t>사람과 사람 사이에 지켜야 할 </a:t>
            </a:r>
            <a:r>
              <a:rPr sz="1439" b="1">
                <a:solidFill>
                  <a:srgbClr val="2F6FD0"/>
                </a:solidFill>
              </a:rPr>
              <a:t>①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도리 </a:t>
            </a:r>
            <a:r>
              <a:rPr sz="2400" b="0">
                <a:solidFill>
                  <a:srgbClr val="262626"/>
                </a:solidFill>
              </a:rPr>
              <a:t>이자 사회를 구성하고 유지하는 공정한 도리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청소 당번을 번호 순서대로 공평하게 돌리기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/>
                </a:solidFill>
              </a:rPr>
              <a:t>(2) 정의의 역할</a:t>
            </a:r>
            <a:r>
              <a:rPr sz="2400" b="1">
                <a:solidFill>
                  <a:srgbClr val="843C0C"/>
                </a:solidFill>
              </a:rPr>
              <a:t> : </a:t>
            </a:r>
            <a:r>
              <a:rPr sz="2400" b="0">
                <a:solidFill>
                  <a:srgbClr val="262626"/>
                </a:solidFill>
              </a:rPr>
              <a:t>각자에게 정당한 몫을 나누어 줌으로써 사회를 </a:t>
            </a:r>
            <a:r>
              <a:rPr sz="1439" b="1">
                <a:solidFill>
                  <a:srgbClr val="2F6FD0"/>
                </a:solidFill>
              </a:rPr>
              <a:t>②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공정 </a:t>
            </a:r>
            <a:r>
              <a:rPr sz="2400" b="0">
                <a:solidFill>
                  <a:srgbClr val="262626"/>
                </a:solidFill>
              </a:rPr>
              <a:t>하게 구성하고 유지할 수 있음.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정의의 의미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사람과 사람 사이에 지켜야 할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①</a:t>
            </a:r>
            <a:r>
              <a:rPr sz="2400" b="1">
                <a:solidFill>
                  <a:srgbClr val="C0392B"/>
                </a:solidFill>
              </a:rPr>
              <a:t> 도리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이자 사회를 구성하고 유지하는 공정한 도리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청소 당번을 번호 순서대로 공평하게 돌리기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정의의 역할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각자에게 정당한 몫을 나누어 줌으로써 사회를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②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공정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하게 구성하고 유지할 수 있음.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정의의 의미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사람과 사람 사이에 지켜야 할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①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도리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이자 사회를 구성하고 유지하는 공정한 도리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청소 당번을 번호 순서대로 공평하게 돌리기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정의의 역할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각자에게 정당한 몫을 나누어 줌으로써 사회를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②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공정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하게 구성하고 유지할 수 있음.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정의의 의미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사람과 사람 사이에 지켜야 할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①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도리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이자 사회를 구성하고 유지하는 공정한 도리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청소 당번을 번호 순서대로 공평하게 돌리기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정의의 역할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각자에게 정당한 몫을 나누어 줌으로써 사회를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②</a:t>
            </a:r>
            <a:r>
              <a:rPr sz="2400" b="1">
                <a:solidFill>
                  <a:srgbClr val="C0392B"/>
                </a:solidFill>
              </a:rPr>
              <a:t> 공정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하게 구성하고 유지할 수 있음.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  <p:bldP spid="22" grpId="0"/>
    </p:bld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xmlns="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빈칸 채우기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xmlns="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정의로운 사회의 필요성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140쪽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>
                <a:latin typeface="+mj-ea"/>
                <a:ea typeface="+mj-ea"/>
              </a:rPr>
              <a:t>정의가 실현되는 사회는 어떤 모습일까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사회〮공동체와의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정의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/>
                </a:solidFill>
              </a:rPr>
              <a:t>(1) 모두의 </a:t>
            </a:r>
            <a:r>
              <a:rPr sz="1439" b="1">
                <a:solidFill>
                  <a:srgbClr val="2F6FD0"/>
                </a:solidFill>
              </a:rPr>
              <a:t>③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인간다운 </a:t>
            </a:r>
            <a:r>
              <a:rPr sz="2400" b="1">
                <a:solidFill>
                  <a:srgbClr val="843C0C"/>
                </a:solidFill>
              </a:rPr>
              <a:t> 삶 보장</a:t>
            </a:r>
            <a:r>
              <a:rPr sz="2400" b="1">
                <a:solidFill>
                  <a:srgbClr val="843C0C"/>
                </a:solidFill>
              </a:rPr>
              <a:t> : </a:t>
            </a:r>
            <a:r>
              <a:rPr sz="2400" b="0">
                <a:solidFill>
                  <a:srgbClr val="262626"/>
                </a:solidFill>
              </a:rPr>
              <a:t>정의롭지 않은 사회에서는 구성원들이 인간답게 살지 못하는 경우가 생기므로 모두가 인간다운 삶을 보장받기 위해 정의로운 사회가 필요함.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돈이 없어 치료도, 배움도 포기해야 하는 사회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/>
                </a:solidFill>
              </a:rPr>
              <a:t>(2) 신뢰하고 협력하는 공동체 조성</a:t>
            </a:r>
            <a:r>
              <a:rPr sz="2400" b="1">
                <a:solidFill>
                  <a:srgbClr val="843C0C"/>
                </a:solidFill>
              </a:rPr>
              <a:t> : </a:t>
            </a:r>
            <a:r>
              <a:rPr sz="2400" b="0">
                <a:solidFill>
                  <a:srgbClr val="262626"/>
                </a:solidFill>
              </a:rPr>
              <a:t>특정 구성원에게만 유리한 조건이 주어지는 사회에서는 여러 가지 갈등이 발생할 수 있으므로 서로 신뢰하고 협력하는 공동체를 만들기 위해 정의로운 사회가 필요함.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모두의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③</a:t>
            </a:r>
            <a:r>
              <a:rPr sz="2400" b="1">
                <a:solidFill>
                  <a:srgbClr val="C0392B"/>
                </a:solidFill>
              </a:rPr>
              <a:t> 인간다운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삶 보장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정의롭지 않은 사회에서는 구성원들이 인간답게 살지 못하는 경우가 생기므로 모두가 인간다운 삶을 보장받기 위해 정의로운 사회가 필요함.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돈이 없어 치료도, 배움도 포기해야 하는 사회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신뢰하고 협력하는 공동체 조성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특정 구성원에게만 유리한 조건이 주어지는 사회에서는 여러 가지 갈등이 발생할 수 있으므로 서로 신뢰하고 협력하는 공동체를 만들기 위해 정의로운 사회가 필요함.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모두의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③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인간다운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삶 보장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정의롭지 않은 사회에서는 구성원들이 인간답게 살지 못하는 경우가 생기므로 모두가 인간다운 삶을 보장받기 위해 정의로운 사회가 필요함.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돈이 없어 치료도, 배움도 포기해야 하는 사회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신뢰하고 협력하는 공동체 조성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특정 구성원에게만 유리한 조건이 주어지는 사회에서는 여러 가지 갈등이 발생할 수 있으므로 서로 신뢰하고 협력하는 공동체를 만들기 위해 정의로운 사회가 필요함.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</p:bld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xmlns="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빈칸 채우기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xmlns="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정의로운 사회의 모습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140쪽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>
                <a:latin typeface="+mj-ea"/>
                <a:ea typeface="+mj-ea"/>
              </a:rPr>
              <a:t>정의가 실현되는 사회는 어떤 모습일까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사회〮공동체와의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정의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/>
                </a:solidFill>
              </a:rPr>
              <a:t>(1) 기본적 권리를 동등하게 </a:t>
            </a:r>
            <a:r>
              <a:rPr sz="1439" b="1">
                <a:solidFill>
                  <a:srgbClr val="2F6FD0"/>
                </a:solidFill>
              </a:rPr>
              <a:t>④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보장 </a:t>
            </a:r>
            <a:r>
              <a:rPr sz="2400" b="1">
                <a:solidFill>
                  <a:srgbClr val="843C0C"/>
                </a:solidFill>
              </a:rPr>
              <a:t>하는 사회</a:t>
            </a:r>
            <a:r>
              <a:rPr sz="2400" b="1">
                <a:solidFill>
                  <a:srgbClr val="843C0C"/>
                </a:solidFill>
              </a:rPr>
              <a:t> : </a:t>
            </a:r>
            <a:r>
              <a:rPr sz="2400" b="0">
                <a:solidFill>
                  <a:srgbClr val="262626"/>
                </a:solidFill>
              </a:rPr>
              <a:t>인종, 성별, 나이, 외모, 장애 등과 관계없이 모든 구성원이 자유권, 평등권 등의 기본적 권리를 보장받는 사회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휠체어를 탄 학생도 수학여행에 함께 간다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/>
                </a:solidFill>
              </a:rPr>
              <a:t>(2) 공정한 </a:t>
            </a:r>
            <a:r>
              <a:rPr sz="1439" b="1">
                <a:solidFill>
                  <a:srgbClr val="2F6FD0"/>
                </a:solidFill>
              </a:rPr>
              <a:t>⑤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분배 </a:t>
            </a:r>
            <a:r>
              <a:rPr sz="2400" b="1">
                <a:solidFill>
                  <a:srgbClr val="843C0C"/>
                </a:solidFill>
              </a:rPr>
              <a:t>가 이루어지는 사회</a:t>
            </a:r>
            <a:r>
              <a:rPr sz="2400" b="1">
                <a:solidFill>
                  <a:srgbClr val="843C0C"/>
                </a:solidFill>
              </a:rPr>
              <a:t> : </a:t>
            </a:r>
            <a:r>
              <a:rPr sz="2400" b="0">
                <a:solidFill>
                  <a:srgbClr val="262626"/>
                </a:solidFill>
              </a:rPr>
              <a:t>구성원들 모두가 받아들일 수 있는 분배의 </a:t>
            </a:r>
            <a:r>
              <a:rPr sz="1439" b="1">
                <a:solidFill>
                  <a:srgbClr val="2F6FD0"/>
                </a:solidFill>
              </a:rPr>
              <a:t>⑥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원칙 </a:t>
            </a:r>
            <a:r>
              <a:rPr sz="2400" b="0">
                <a:solidFill>
                  <a:srgbClr val="262626"/>
                </a:solidFill>
              </a:rPr>
              <a:t>을 세우고, 불리한 조건에 있는 구성원도 최소한의 인간다운 삶을 살 수 있도록 배려하는 사회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세금은 많이 버는 사람이 더 많이 낸다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/>
                </a:solidFill>
              </a:rPr>
              <a:t>(3) 구성원이 합의한 절차나 규칙을 준수하는 사회</a:t>
            </a:r>
            <a:r>
              <a:rPr sz="2400" b="1">
                <a:solidFill>
                  <a:srgbClr val="843C0C"/>
                </a:solidFill>
              </a:rPr>
              <a:t> : </a:t>
            </a:r>
            <a:r>
              <a:rPr sz="2400" b="0">
                <a:solidFill>
                  <a:srgbClr val="262626"/>
                </a:solidFill>
              </a:rPr>
              <a:t>모든 사회 구성원이 합의한 절차나 규칙을 </a:t>
            </a:r>
            <a:r>
              <a:rPr sz="1439" b="1">
                <a:solidFill>
                  <a:srgbClr val="2F6FD0"/>
                </a:solidFill>
              </a:rPr>
              <a:t>⑦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약속 </a:t>
            </a:r>
            <a:r>
              <a:rPr sz="2400" b="0">
                <a:solidFill>
                  <a:srgbClr val="262626"/>
                </a:solidFill>
              </a:rPr>
              <a:t>으로 여기고, 이를 지켜 나가는 사회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기본적 권리를 동등하게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/>
                </a:solidFill>
              </a:rPr>
              <a:t> 보장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하는 사회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인종, 성별, 나이, 외모, 장애 등과 관계없이 모든 구성원이 자유권, 평등권 등의 기본적 권리를 보장받는 사회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휠체어를 탄 학생도 수학여행에 함께 간다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공정한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분배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가 이루어지는 사회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구성원들 모두가 받아들일 수 있는 분배의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⑥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원칙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을 세우고, 불리한 조건에 있는 구성원도 최소한의 인간다운 삶을 살 수 있도록 배려하는 사회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세금은 많이 버는 사람이 더 많이 낸다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(3) 구성원이 합의한 절차나 규칙을 준수하는 사회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모든 사회 구성원이 합의한 절차나 규칙을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⑦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약속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으로 여기고, 이를 지켜 나가는 사회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기본적 권리를 동등하게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보장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하는 사회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인종, 성별, 나이, 외모, 장애 등과 관계없이 모든 구성원이 자유권, 평등권 등의 기본적 권리를 보장받는 사회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휠체어를 탄 학생도 수학여행에 함께 간다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공정한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분배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가 이루어지는 사회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구성원들 모두가 받아들일 수 있는 분배의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⑥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원칙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을 세우고, 불리한 조건에 있는 구성원도 최소한의 인간다운 삶을 살 수 있도록 배려하는 사회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세금은 많이 버는 사람이 더 많이 낸다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(3) 구성원이 합의한 절차나 규칙을 준수하는 사회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모든 사회 구성원이 합의한 절차나 규칙을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⑦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약속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으로 여기고, 이를 지켜 나가는 사회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기본적 권리를 동등하게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보장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하는 사회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인종, 성별, 나이, 외모, 장애 등과 관계없이 모든 구성원이 자유권, 평등권 등의 기본적 권리를 보장받는 사회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휠체어를 탄 학생도 수학여행에 함께 간다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공정한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400" b="1">
                <a:solidFill>
                  <a:srgbClr val="C0392B"/>
                </a:solidFill>
              </a:rPr>
              <a:t> 분배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가 이루어지는 사회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구성원들 모두가 받아들일 수 있는 분배의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⑥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원칙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을 세우고, 불리한 조건에 있는 구성원도 최소한의 인간다운 삶을 살 수 있도록 배려하는 사회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세금은 많이 버는 사람이 더 많이 낸다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(3) 구성원이 합의한 절차나 규칙을 준수하는 사회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모든 사회 구성원이 합의한 절차나 규칙을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⑦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약속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으로 여기고, 이를 지켜 나가는 사회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기본적 권리를 동등하게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보장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하는 사회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인종, 성별, 나이, 외모, 장애 등과 관계없이 모든 구성원이 자유권, 평등권 등의 기본적 권리를 보장받는 사회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휠체어를 탄 학생도 수학여행에 함께 간다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공정한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분배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가 이루어지는 사회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구성원들 모두가 받아들일 수 있는 분배의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⑥</a:t>
            </a:r>
            <a:r>
              <a:rPr sz="2400" b="1">
                <a:solidFill>
                  <a:srgbClr val="C0392B"/>
                </a:solidFill>
              </a:rPr>
              <a:t> 원칙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을 세우고, 불리한 조건에 있는 구성원도 최소한의 인간다운 삶을 살 수 있도록 배려하는 사회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세금은 많이 버는 사람이 더 많이 낸다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(3) 구성원이 합의한 절차나 규칙을 준수하는 사회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모든 사회 구성원이 합의한 절차나 규칙을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⑦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약속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으로 여기고, 이를 지켜 나가는 사회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기본적 권리를 동등하게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보장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하는 사회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인종, 성별, 나이, 외모, 장애 등과 관계없이 모든 구성원이 자유권, 평등권 등의 기본적 권리를 보장받는 사회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휠체어를 탄 학생도 수학여행에 함께 간다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공정한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분배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가 이루어지는 사회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구성원들 모두가 받아들일 수 있는 분배의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⑥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원칙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을 세우고, 불리한 조건에 있는 구성원도 최소한의 인간다운 삶을 살 수 있도록 배려하는 사회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세금은 많이 버는 사람이 더 많이 낸다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(3) 구성원이 합의한 절차나 규칙을 준수하는 사회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모든 사회 구성원이 합의한 절차나 규칙을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⑦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약속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으로 여기고, 이를 지켜 나가는 사회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기본적 권리를 동등하게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보장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하는 사회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인종, 성별, 나이, 외모, 장애 등과 관계없이 모든 구성원이 자유권, 평등권 등의 기본적 권리를 보장받는 사회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휠체어를 탄 학생도 수학여행에 함께 간다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공정한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분배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가 이루어지는 사회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구성원들 모두가 받아들일 수 있는 분배의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⑥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원칙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을 세우고, 불리한 조건에 있는 구성원도 최소한의 인간다운 삶을 살 수 있도록 배려하는 사회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세금은 많이 버는 사람이 더 많이 낸다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(3) 구성원이 합의한 절차나 규칙을 준수하는 사회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모든 사회 구성원이 합의한 절차나 규칙을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⑦</a:t>
            </a:r>
            <a:r>
              <a:rPr sz="2400" b="1">
                <a:solidFill>
                  <a:srgbClr val="C0392B"/>
                </a:solidFill>
              </a:rPr>
              <a:t> 약속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으로 여기고, 이를 지켜 나가는 사회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  <p:bldP spid="22" grpId="0"/>
      <p:bldP spid="23" grpId="0"/>
      <p:bldP spid="24" grpId="0"/>
      <p:bldP spid="25" grpId="0"/>
    </p:bld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xmlns="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더해 보기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xmlns="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딜레마 · 나라면?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140쪽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>
                <a:latin typeface="+mj-ea"/>
                <a:ea typeface="+mj-ea"/>
              </a:rPr>
              <a:t>정의가 실현되는 사회는 어떤 모습일까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사회〮공동체와의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정의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/>
                </a:solidFill>
              </a:rPr>
              <a:t>모둠 과제를 한 사람이 거의 다 했다. 나머지 셋은 이름만 올렸다.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A — 모두 같은 점수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B — 한 일만큼 다른 점수</a:t>
            </a:r>
          </a:p>
          <a:p>
            <a:pPr>
              <a:lnSpc>
                <a:spcPct val="130000"/>
              </a:lnSpc>
              <a:spcBef>
                <a:spcPts val="1200"/>
              </a:spcBef>
            </a:pPr>
            <a:r>
              <a:rPr sz="2400" b="1">
                <a:solidFill>
                  <a:srgbClr val="2F6FD0">
                    <a:alpha val="0"/>
                  </a:srgbClr>
                </a:solidFill>
              </a:rPr>
              <a:t>❓ 어느 쪽이 정의로울까? 왜?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모둠 과제를 한 사람이 거의 다 했다. 나머지 셋은 이름만 올렸다.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A — 모두 같은 점수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B — 한 일만큼 다른 점수</a:t>
            </a:r>
          </a:p>
          <a:p>
            <a:pPr>
              <a:lnSpc>
                <a:spcPct val="130000"/>
              </a:lnSpc>
              <a:spcBef>
                <a:spcPts val="1200"/>
              </a:spcBef>
            </a:pPr>
            <a:r>
              <a:rPr sz="2400" b="1">
                <a:solidFill>
                  <a:srgbClr val="2F6FD0"/>
                </a:solidFill>
              </a:rPr>
              <a:t>❓ 어느 쪽이 정의로울까? 왜?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xmlns="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더해 보기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xmlns="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이건 불공평해! 내가 느낀 순간은?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137쪽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>
                <a:latin typeface="+mj-ea"/>
                <a:ea typeface="+mj-ea"/>
              </a:rPr>
              <a:t>정의가 실현되는 사회는 어떤 모습일까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사회〮공동체와의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정의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🏫 · 학교에서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🏠 · 집에서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📱 · 뉴스에서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xmlns="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더해 보기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xmlns="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오이를 던진 원숭이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137쪽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>
                <a:latin typeface="+mj-ea"/>
                <a:ea typeface="+mj-ea"/>
              </a:rPr>
              <a:t>정의가 실현되는 사회는 어떤 모습일까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사회〮공동체와의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정의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/>
                </a:solidFill>
              </a:rPr>
              <a:t>2003년 · 미국 에머리 대학교 · 프란스 드 발 연구팀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실험 · 꼬리감는원숭이 두 마리에게 돌을 건네면 먹이를 주었다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처음 · 둘 다 오이를 받자 둘 다 잘 받아먹었다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바꿈 · 옆 원숭이에게만 더 좋아하는 포도를 주었다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결과 · 오이를 받은 원숭이는 오이를 집어 던지고 돌도 건네지 않았다</a:t>
            </a:r>
          </a:p>
          <a:p>
            <a:pPr>
              <a:lnSpc>
                <a:spcPct val="130000"/>
              </a:lnSpc>
              <a:spcBef>
                <a:spcPts val="1200"/>
              </a:spcBef>
            </a:pPr>
            <a:r>
              <a:rPr sz="2400" b="1">
                <a:solidFill>
                  <a:srgbClr val="2F6FD0">
                    <a:alpha val="0"/>
                  </a:srgbClr>
                </a:solidFill>
              </a:rPr>
              <a:t>❓ 원숭이는 왜 화가 났을까?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2003년 · 미국 에머리 대학교 · 프란스 드 발 연구팀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실험 · 꼬리감는원숭이 두 마리에게 돌을 건네면 먹이를 주었다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처음 · 둘 다 오이를 받자 둘 다 잘 받아먹었다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바꿈 · 옆 원숭이에게만 더 좋아하는 포도를 주었다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결과 · 오이를 받은 원숭이는 오이를 집어 던지고 돌도 건네지 않았다</a:t>
            </a:r>
          </a:p>
          <a:p>
            <a:pPr>
              <a:lnSpc>
                <a:spcPct val="130000"/>
              </a:lnSpc>
              <a:spcBef>
                <a:spcPts val="1200"/>
              </a:spcBef>
            </a:pPr>
            <a:r>
              <a:rPr sz="2400" b="1">
                <a:solidFill>
                  <a:srgbClr val="2F6FD0"/>
                </a:solidFill>
              </a:rPr>
              <a:t>❓ 원숭이는 왜 화가 났을까?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xmlns="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1분 체크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xmlns="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학습지 1분 체크 · 맞으면 ○, 틀리면 ✕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137쪽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>
                <a:latin typeface="+mj-ea"/>
                <a:ea typeface="+mj-ea"/>
              </a:rPr>
              <a:t>정의가 실현되는 사회는 어떤 모습일까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사회〮공동체와의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정의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1. 정의는 사람과 사람 사이에 지켜야 할 도리이자 사회를 구성하고 유지하는 공정한 도리이다.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2. 정의롭지 않은 사회에서는 구성원들이 인간답게 살지 못하는 경우가 생기므로 소수만이 인간다운 삶을 보장받기 위해 정의로운 사회가 필요하다.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3. 정의로운 사회에서는 인종, 성별, 나이, 외모, 장애 등과 관계없이 모든 구성원이 자유권, 평등권 등의 기본적 권리를 보장받는다.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정의는 사람과 사람 사이에 지켜야 할 도리이자 사회를 구성하고 유지하는 공정한 도리이다.  ( ○ / ✕ )</a:t>
            </a:r>
            <a:r>
              <a:rPr sz="2300" b="1">
                <a:solidFill>
                  <a:srgbClr val="C0392B"/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정의롭지 않은 사회에서는 구성원들이 인간답게 살지 못하는 경우가 생기므로 소수만이 인간다운 삶을 보장받기 위해 정의로운 사회가 필요하다.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정의로운 사회에서는 인종, 성별, 나이, 외모, 장애 등과 관계없이 모든 구성원이 자유권, 평등권 등의 기본적 권리를 보장받는다.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정의는 사람과 사람 사이에 지켜야 할 도리이자 사회를 구성하고 유지하는 공정한 도리이다.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정의롭지 않은 사회에서는 구성원들이 인간답게 살지 못하는 경우가 생기므로 소수만이 인간다운 삶을 보장받기 위해 정의로운 사회가 필요하다.  ( ○ / ✕ )</a:t>
            </a:r>
            <a:r>
              <a:rPr sz="2300" b="1">
                <a:solidFill>
                  <a:srgbClr val="C0392B"/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정의로운 사회에서는 인종, 성별, 나이, 외모, 장애 등과 관계없이 모든 구성원이 자유권, 평등권 등의 기본적 권리를 보장받는다.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정의는 사람과 사람 사이에 지켜야 할 도리이자 사회를 구성하고 유지하는 공정한 도리이다.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정의롭지 않은 사회에서는 구성원들이 인간답게 살지 못하는 경우가 생기므로 소수만이 인간다운 삶을 보장받기 위해 정의로운 사회가 필요하다.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정의로운 사회에서는 인종, 성별, 나이, 외모, 장애 등과 관계없이 모든 구성원이 자유권, 평등권 등의 기본적 권리를 보장받는다.  ( ○ / ✕ )</a:t>
            </a:r>
            <a:r>
              <a:rPr sz="2300" b="1">
                <a:solidFill>
                  <a:srgbClr val="C0392B"/>
                </a:solidFill>
              </a:rPr>
              <a:t>   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  <p:bldP spid="22" grpId="0"/>
    </p:bld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xmlns="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함께 해 보기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xmlns="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이건 정의로울까?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137쪽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>
                <a:latin typeface="+mj-ea"/>
                <a:ea typeface="+mj-ea"/>
              </a:rPr>
              <a:t>정의가 실현되는 사회는 어떤 모습일까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사회〮공동체와의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정의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/>
                </a:solidFill>
              </a:rPr>
              <a:t>맞으면 ○, 틀리면 ✕ — 손으로 먼저 표시해 보자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1. 남의 물건을 훔친 사람이 죄에 걸맞은 벌을 받았다.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  잘못에 맞는 벌 — 정의가 실현되었다고 여긴다.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2. 장애가 있다는 이유만으로 채용하지 않았다.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  기본적 권리는 장애로 제한될 수 없다.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3. 모두가 합의한 규칙을 어긴 사람이 오히려 이득을 봤다.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  합의한 절차를 지키지 않으면 신뢰가 무너진다.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4. 형편이 어려운 사람도 최소한의 인간다운 삶을 누리도록 돕는다.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  공정한 분배와 약자 배려.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맞으면 ○, 틀리면 ✕ — 손으로 먼저 표시해 보자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남의 물건을 훔친 사람이 죄에 걸맞은 벌을 받았다.  ( ○ / ✕ )</a:t>
            </a:r>
            <a:r>
              <a:rPr sz="2300" b="1">
                <a:solidFill>
                  <a:srgbClr val="C0392B"/>
                </a:solidFill>
              </a:rPr>
              <a:t>   ○  잘못에 맞는 벌 — 정의가 실현되었다고 여긴다.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장애가 있다는 이유만으로 채용하지 않았다.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  기본적 권리는 장애로 제한될 수 없다.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모두가 합의한 규칙을 어긴 사람이 오히려 이득을 봤다.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  합의한 절차를 지키지 않으면 신뢰가 무너진다.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형편이 어려운 사람도 최소한의 인간다운 삶을 누리도록 돕는다.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  공정한 분배와 약자 배려.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맞으면 ○, 틀리면 ✕ — 손으로 먼저 표시해 보자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남의 물건을 훔친 사람이 죄에 걸맞은 벌을 받았다.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  잘못에 맞는 벌 — 정의가 실현되었다고 여긴다.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장애가 있다는 이유만으로 채용하지 않았다.  ( ○ / ✕ )</a:t>
            </a:r>
            <a:r>
              <a:rPr sz="2300" b="1">
                <a:solidFill>
                  <a:srgbClr val="C0392B"/>
                </a:solidFill>
              </a:rPr>
              <a:t>   ✕  기본적 권리는 장애로 제한될 수 없다.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모두가 합의한 규칙을 어긴 사람이 오히려 이득을 봤다.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  합의한 절차를 지키지 않으면 신뢰가 무너진다.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형편이 어려운 사람도 최소한의 인간다운 삶을 누리도록 돕는다.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  공정한 분배와 약자 배려.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맞으면 ○, 틀리면 ✕ — 손으로 먼저 표시해 보자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남의 물건을 훔친 사람이 죄에 걸맞은 벌을 받았다.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  잘못에 맞는 벌 — 정의가 실현되었다고 여긴다.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장애가 있다는 이유만으로 채용하지 않았다.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  기본적 권리는 장애로 제한될 수 없다.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모두가 합의한 규칙을 어긴 사람이 오히려 이득을 봤다.  ( ○ / ✕ )</a:t>
            </a:r>
            <a:r>
              <a:rPr sz="2300" b="1">
                <a:solidFill>
                  <a:srgbClr val="C0392B"/>
                </a:solidFill>
              </a:rPr>
              <a:t>   ✕  합의한 절차를 지키지 않으면 신뢰가 무너진다.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형편이 어려운 사람도 최소한의 인간다운 삶을 누리도록 돕는다.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  공정한 분배와 약자 배려.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맞으면 ○, 틀리면 ✕ — 손으로 먼저 표시해 보자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남의 물건을 훔친 사람이 죄에 걸맞은 벌을 받았다.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  잘못에 맞는 벌 — 정의가 실현되었다고 여긴다.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장애가 있다는 이유만으로 채용하지 않았다.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  기본적 권리는 장애로 제한될 수 없다.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모두가 합의한 규칙을 어긴 사람이 오히려 이득을 봤다.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  합의한 절차를 지키지 않으면 신뢰가 무너진다.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형편이 어려운 사람도 최소한의 인간다운 삶을 누리도록 돕는다.  ( ○ / ✕ )</a:t>
            </a:r>
            <a:r>
              <a:rPr sz="2300" b="1">
                <a:solidFill>
                  <a:srgbClr val="C0392B"/>
                </a:solidFill>
              </a:rPr>
              <a:t>   ○  공정한 분배와 약자 배려.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  <p:bldP spid="22" grpId="0"/>
      <p:bldP spid="23" grpId="0"/>
    </p:bld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xmlns="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함께 해 보기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xmlns="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정의의 여신상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137쪽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>
                <a:latin typeface="+mj-ea"/>
                <a:ea typeface="+mj-ea"/>
              </a:rPr>
              <a:t>정의가 실현되는 사회는 어떤 모습일까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사회〮공동체와의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정의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/>
                </a:solidFill>
              </a:rPr>
              <a:t>카드를 뒤집으면?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🃏 저울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엄격하고 바른 정의의 기준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🃏 칼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기준에 따른 판정을 실현하는 힘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🃏 가린 눈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어느 쪽에도 기울지 않는 공평함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카드를 뒤집으면?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🃏 저울</a:t>
            </a:r>
            <a:r>
              <a:rPr sz="2300" b="1">
                <a:solidFill>
                  <a:srgbClr val="C0392B"/>
                </a:solidFill>
              </a:rPr>
              <a:t>   → 엄격하고 바른 정의의 기준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🃏 칼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기준에 따른 판정을 실현하는 힘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🃏 가린 눈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어느 쪽에도 기울지 않는 공평함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카드를 뒤집으면?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🃏 저울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엄격하고 바른 정의의 기준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🃏 칼</a:t>
            </a:r>
            <a:r>
              <a:rPr sz="2300" b="1">
                <a:solidFill>
                  <a:srgbClr val="C0392B"/>
                </a:solidFill>
              </a:rPr>
              <a:t>   → 기준에 따른 판정을 실현하는 힘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🃏 가린 눈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어느 쪽에도 기울지 않는 공평함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카드를 뒤집으면?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🃏 저울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엄격하고 바른 정의의 기준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🃏 칼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기준에 따른 판정을 실현하는 힘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🃏 가린 눈</a:t>
            </a:r>
            <a:r>
              <a:rPr sz="2300" b="1">
                <a:solidFill>
                  <a:srgbClr val="C0392B"/>
                </a:solidFill>
              </a:rPr>
              <a:t>   → 어느 쪽에도 기울지 않는 공평함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  <p:bldP spid="22" grpId="0"/>
    </p:bld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xmlns="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함께 해 보기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xmlns="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나에게는 꿈이 있습니다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137쪽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>
                <a:latin typeface="+mj-ea"/>
                <a:ea typeface="+mj-ea"/>
              </a:rPr>
              <a:t>정의가 실현되는 사회는 어떤 모습일까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사회〮공동체와의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정의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/>
                </a:solidFill>
              </a:rPr>
              <a:t>빈칸을 채워 문장을 완성해 보자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✍️ 언젠가는 ___ 날이 오리라는 꿈입니다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휠체어를 탄 친구도 계단 걱정 없이 어느 교실이든 들어가는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✍️ 언젠가는 ___ 될 것이라는 꿈입니다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우리 학교가 누구도 놀림받지 않는 안전한 곳이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✍️ 언젠가는 나의 아이들이 ___ 나라에서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성별이 아니라 노력과 인격으로 평가받는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빈칸을 채워 문장을 완성해 보자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언젠가는 ___ 날이 오리라는 꿈입니다</a:t>
            </a:r>
            <a:r>
              <a:rPr sz="2300" b="1">
                <a:solidFill>
                  <a:srgbClr val="C0392B"/>
                </a:solidFill>
              </a:rPr>
              <a:t>   예) 휠체어를 탄 친구도 계단 걱정 없이 어느 교실이든 들어가는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언젠가는 ___ 될 것이라는 꿈입니다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우리 학교가 누구도 놀림받지 않는 안전한 곳이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언젠가는 나의 아이들이 ___ 나라에서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성별이 아니라 노력과 인격으로 평가받는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빈칸을 채워 문장을 완성해 보자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언젠가는 ___ 날이 오리라는 꿈입니다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휠체어를 탄 친구도 계단 걱정 없이 어느 교실이든 들어가는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언젠가는 ___ 될 것이라는 꿈입니다</a:t>
            </a:r>
            <a:r>
              <a:rPr sz="2300" b="1">
                <a:solidFill>
                  <a:srgbClr val="C0392B"/>
                </a:solidFill>
              </a:rPr>
              <a:t>   예) 우리 학교가 누구도 놀림받지 않는 안전한 곳이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언젠가는 나의 아이들이 ___ 나라에서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성별이 아니라 노력과 인격으로 평가받는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빈칸을 채워 문장을 완성해 보자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언젠가는 ___ 날이 오리라는 꿈입니다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휠체어를 탄 친구도 계단 걱정 없이 어느 교실이든 들어가는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언젠가는 ___ 될 것이라는 꿈입니다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우리 학교가 누구도 놀림받지 않는 안전한 곳이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언젠가는 나의 아이들이 ___ 나라에서</a:t>
            </a:r>
            <a:r>
              <a:rPr sz="2300" b="1">
                <a:solidFill>
                  <a:srgbClr val="C0392B"/>
                </a:solidFill>
              </a:rPr>
              <a:t>   예) 성별이 아니라 노력과 인격으로 평가받는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  <p:bldP spid="22" grpId="0"/>
    </p:bldLst>
  </p:timing>
</p:sld>
</file>

<file path=ppt/theme/theme1.xml><?xml version="1.0" encoding="utf-8"?>
<a:theme xmlns:a="http://schemas.openxmlformats.org/drawingml/2006/main" name="2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6">
            <a:lumMod val="20000"/>
            <a:lumOff val="80000"/>
          </a:schemeClr>
        </a:solidFill>
        <a:ln>
          <a:solidFill>
            <a:srgbClr val="00A746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8601</TotalTime>
  <Words>1219</Words>
  <Application>Microsoft Office PowerPoint</Application>
  <PresentationFormat>와이드스크린</PresentationFormat>
  <Paragraphs>187</Paragraphs>
  <Slides>18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6" baseType="lpstr">
      <vt:lpstr>굴림</vt:lpstr>
      <vt:lpstr>나눔스퀘어라운드 ExtraBold</vt:lpstr>
      <vt:lpstr>돋움</vt:lpstr>
      <vt:lpstr>맑은 고딕</vt:lpstr>
      <vt:lpstr>Arial</vt:lpstr>
      <vt:lpstr>Arial Rounded MT Bold</vt:lpstr>
      <vt:lpstr>Wingdings</vt:lpstr>
      <vt:lpstr>2_Office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PC</cp:lastModifiedBy>
  <cp:revision>176</cp:revision>
  <cp:lastPrinted>2024-06-05T04:53:22Z</cp:lastPrinted>
  <dcterms:created xsi:type="dcterms:W3CDTF">2023-10-31T05:50:03Z</dcterms:created>
  <dcterms:modified xsi:type="dcterms:W3CDTF">2025-04-22T00:34:40Z</dcterms:modified>
</cp:coreProperties>
</file>